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9" r:id="rId2"/>
    <p:sldId id="411" r:id="rId3"/>
    <p:sldId id="415" r:id="rId4"/>
    <p:sldId id="417" r:id="rId5"/>
    <p:sldId id="412" r:id="rId6"/>
    <p:sldId id="413" r:id="rId7"/>
    <p:sldId id="414" r:id="rId8"/>
    <p:sldId id="268" r:id="rId9"/>
    <p:sldId id="418" r:id="rId10"/>
    <p:sldId id="273" r:id="rId11"/>
    <p:sldId id="419" r:id="rId12"/>
    <p:sldId id="275" r:id="rId13"/>
    <p:sldId id="420" r:id="rId14"/>
    <p:sldId id="277" r:id="rId15"/>
    <p:sldId id="422" r:id="rId16"/>
    <p:sldId id="421" r:id="rId17"/>
    <p:sldId id="362" r:id="rId18"/>
    <p:sldId id="423" r:id="rId19"/>
    <p:sldId id="424" r:id="rId20"/>
    <p:sldId id="426" r:id="rId21"/>
    <p:sldId id="425" r:id="rId22"/>
    <p:sldId id="427" r:id="rId23"/>
    <p:sldId id="428" r:id="rId24"/>
    <p:sldId id="429" r:id="rId25"/>
    <p:sldId id="430" r:id="rId26"/>
    <p:sldId id="431" r:id="rId27"/>
    <p:sldId id="433" r:id="rId28"/>
    <p:sldId id="435" r:id="rId29"/>
    <p:sldId id="299" r:id="rId30"/>
    <p:sldId id="436" r:id="rId31"/>
    <p:sldId id="437" r:id="rId32"/>
    <p:sldId id="438" r:id="rId33"/>
    <p:sldId id="303" r:id="rId34"/>
    <p:sldId id="369" r:id="rId35"/>
    <p:sldId id="439" r:id="rId36"/>
    <p:sldId id="440" r:id="rId37"/>
    <p:sldId id="441" r:id="rId38"/>
    <p:sldId id="442" r:id="rId39"/>
    <p:sldId id="443" r:id="rId40"/>
    <p:sldId id="444" r:id="rId41"/>
    <p:sldId id="445" r:id="rId42"/>
    <p:sldId id="446" r:id="rId43"/>
    <p:sldId id="447" r:id="rId44"/>
    <p:sldId id="307" r:id="rId45"/>
    <p:sldId id="308" r:id="rId46"/>
    <p:sldId id="309" r:id="rId47"/>
    <p:sldId id="310" r:id="rId48"/>
    <p:sldId id="311" r:id="rId49"/>
    <p:sldId id="448" r:id="rId50"/>
    <p:sldId id="371" r:id="rId51"/>
    <p:sldId id="372" r:id="rId52"/>
    <p:sldId id="449" r:id="rId53"/>
    <p:sldId id="330" r:id="rId54"/>
    <p:sldId id="374" r:id="rId55"/>
    <p:sldId id="332" r:id="rId56"/>
    <p:sldId id="333" r:id="rId57"/>
    <p:sldId id="334" r:id="rId58"/>
    <p:sldId id="335" r:id="rId59"/>
    <p:sldId id="336" r:id="rId60"/>
    <p:sldId id="337" r:id="rId61"/>
    <p:sldId id="338" r:id="rId62"/>
    <p:sldId id="340" r:id="rId63"/>
    <p:sldId id="339" r:id="rId64"/>
    <p:sldId id="341" r:id="rId65"/>
    <p:sldId id="342" r:id="rId66"/>
    <p:sldId id="343" r:id="rId67"/>
    <p:sldId id="344" r:id="rId68"/>
    <p:sldId id="346" r:id="rId6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303"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3E4B5A-F0DA-45DB-8057-EA84829C2A07}" type="datetimeFigureOut">
              <a:rPr lang="zh-CN" altLang="en-US" smtClean="0"/>
              <a:t>2025/10/16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3F6518-B1A6-4D8A-B838-759C894BA8CF}" type="slidenum">
              <a:rPr lang="zh-CN" altLang="en-US" smtClean="0"/>
              <a:t>‹#›</a:t>
            </a:fld>
            <a:endParaRPr lang="zh-CN" altLang="en-US"/>
          </a:p>
        </p:txBody>
      </p:sp>
    </p:spTree>
    <p:extLst>
      <p:ext uri="{BB962C8B-B14F-4D97-AF65-F5344CB8AC3E}">
        <p14:creationId xmlns:p14="http://schemas.microsoft.com/office/powerpoint/2010/main" val="471445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29</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7A98F-20E3-015D-2EDB-2DFDBB62A6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5F2F8E-A05C-39E6-84C4-EE4F8A484878}"/>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A78587E6-DFCF-026D-361D-EAC999A7067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444DC43-C218-6508-3F4E-FC33EDD0ADB9}"/>
              </a:ext>
            </a:extLst>
          </p:cNvPr>
          <p:cNvSpPr>
            <a:spLocks noGrp="1"/>
          </p:cNvSpPr>
          <p:nvPr>
            <p:ph type="sldNum" sz="quarter" idx="10"/>
          </p:nvPr>
        </p:nvSpPr>
        <p:spPr/>
        <p:txBody>
          <a:bodyPr/>
          <a:lstStyle/>
          <a:p>
            <a:fld id="{4B3F6518-B1A6-4D8A-B838-759C894BA8CF}" type="slidenum">
              <a:rPr lang="zh-CN" altLang="en-US" smtClean="0"/>
              <a:t>30</a:t>
            </a:fld>
            <a:endParaRPr lang="zh-CN" altLang="en-US"/>
          </a:p>
        </p:txBody>
      </p:sp>
    </p:spTree>
    <p:extLst>
      <p:ext uri="{BB962C8B-B14F-4D97-AF65-F5344CB8AC3E}">
        <p14:creationId xmlns:p14="http://schemas.microsoft.com/office/powerpoint/2010/main" val="1855358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B7611-E3F9-6139-E321-DF0762A30C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CE1CF7-79C9-F05E-923F-52F1E849AFF3}"/>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EC3D0C09-D5E0-17F5-E310-FF50B0BD1B9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AF9B768-9988-44FC-850B-0CBE5F8F771E}"/>
              </a:ext>
            </a:extLst>
          </p:cNvPr>
          <p:cNvSpPr>
            <a:spLocks noGrp="1"/>
          </p:cNvSpPr>
          <p:nvPr>
            <p:ph type="sldNum" sz="quarter" idx="10"/>
          </p:nvPr>
        </p:nvSpPr>
        <p:spPr/>
        <p:txBody>
          <a:bodyPr/>
          <a:lstStyle/>
          <a:p>
            <a:fld id="{4B3F6518-B1A6-4D8A-B838-759C894BA8CF}" type="slidenum">
              <a:rPr lang="zh-CN" altLang="en-US" smtClean="0"/>
              <a:t>31</a:t>
            </a:fld>
            <a:endParaRPr lang="zh-CN" altLang="en-US"/>
          </a:p>
        </p:txBody>
      </p:sp>
    </p:spTree>
    <p:extLst>
      <p:ext uri="{BB962C8B-B14F-4D97-AF65-F5344CB8AC3E}">
        <p14:creationId xmlns:p14="http://schemas.microsoft.com/office/powerpoint/2010/main" val="2046220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B6BE2-02E3-9EBA-4FD5-A247FF8C45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C04395-AFE8-3AC6-0268-E967851C93AE}"/>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900A7485-C2BD-B9AF-A4FF-71280F56153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4975035-0CB5-3C5C-5287-464A828FE1D5}"/>
              </a:ext>
            </a:extLst>
          </p:cNvPr>
          <p:cNvSpPr>
            <a:spLocks noGrp="1"/>
          </p:cNvSpPr>
          <p:nvPr>
            <p:ph type="sldNum" sz="quarter" idx="10"/>
          </p:nvPr>
        </p:nvSpPr>
        <p:spPr/>
        <p:txBody>
          <a:bodyPr/>
          <a:lstStyle/>
          <a:p>
            <a:fld id="{4B3F6518-B1A6-4D8A-B838-759C894BA8CF}" type="slidenum">
              <a:rPr lang="zh-CN" altLang="en-US" smtClean="0"/>
              <a:t>32</a:t>
            </a:fld>
            <a:endParaRPr lang="zh-CN" altLang="en-US"/>
          </a:p>
        </p:txBody>
      </p:sp>
    </p:spTree>
    <p:extLst>
      <p:ext uri="{BB962C8B-B14F-4D97-AF65-F5344CB8AC3E}">
        <p14:creationId xmlns:p14="http://schemas.microsoft.com/office/powerpoint/2010/main" val="140700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33</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34</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14E5A-658B-D2B6-11AE-CD2127E2E2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870A50-AE41-2C95-86CB-80D9A69B3D93}"/>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5DF8FB27-3C34-8807-3A3D-8714D40F3A1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A6930DC-B6D6-92DD-7A9B-CE17FBB46EC0}"/>
              </a:ext>
            </a:extLst>
          </p:cNvPr>
          <p:cNvSpPr>
            <a:spLocks noGrp="1"/>
          </p:cNvSpPr>
          <p:nvPr>
            <p:ph type="sldNum" sz="quarter" idx="10"/>
          </p:nvPr>
        </p:nvSpPr>
        <p:spPr/>
        <p:txBody>
          <a:bodyPr/>
          <a:lstStyle/>
          <a:p>
            <a:fld id="{4B3F6518-B1A6-4D8A-B838-759C894BA8CF}" type="slidenum">
              <a:rPr lang="zh-CN" altLang="en-US" smtClean="0"/>
              <a:t>35</a:t>
            </a:fld>
            <a:endParaRPr lang="zh-CN" altLang="en-US"/>
          </a:p>
        </p:txBody>
      </p:sp>
    </p:spTree>
    <p:extLst>
      <p:ext uri="{BB962C8B-B14F-4D97-AF65-F5344CB8AC3E}">
        <p14:creationId xmlns:p14="http://schemas.microsoft.com/office/powerpoint/2010/main" val="3627455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53254-C783-ABC1-A784-A826BD39F9B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32E838-EED3-48BA-B6D2-D33411644AC5}"/>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0ABDBA4B-A4AE-97A5-D78B-24E2DC13183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3BB803-45EE-C010-3250-9AF84F21E488}"/>
              </a:ext>
            </a:extLst>
          </p:cNvPr>
          <p:cNvSpPr>
            <a:spLocks noGrp="1"/>
          </p:cNvSpPr>
          <p:nvPr>
            <p:ph type="sldNum" sz="quarter" idx="10"/>
          </p:nvPr>
        </p:nvSpPr>
        <p:spPr/>
        <p:txBody>
          <a:bodyPr/>
          <a:lstStyle/>
          <a:p>
            <a:fld id="{4B3F6518-B1A6-4D8A-B838-759C894BA8CF}" type="slidenum">
              <a:rPr lang="zh-CN" altLang="en-US" smtClean="0"/>
              <a:t>36</a:t>
            </a:fld>
            <a:endParaRPr lang="zh-CN" altLang="en-US"/>
          </a:p>
        </p:txBody>
      </p:sp>
    </p:spTree>
    <p:extLst>
      <p:ext uri="{BB962C8B-B14F-4D97-AF65-F5344CB8AC3E}">
        <p14:creationId xmlns:p14="http://schemas.microsoft.com/office/powerpoint/2010/main" val="3520512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D6353-6C09-2011-C3AC-35B700BF56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BB1602-AEA6-382F-BD5F-7B59F9197C42}"/>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9C6AAF5D-A4B5-A6E6-ECA3-74CFD30438E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0EBBB86-50FC-75ED-6C75-9A64148C10F6}"/>
              </a:ext>
            </a:extLst>
          </p:cNvPr>
          <p:cNvSpPr>
            <a:spLocks noGrp="1"/>
          </p:cNvSpPr>
          <p:nvPr>
            <p:ph type="sldNum" sz="quarter" idx="10"/>
          </p:nvPr>
        </p:nvSpPr>
        <p:spPr/>
        <p:txBody>
          <a:bodyPr/>
          <a:lstStyle/>
          <a:p>
            <a:fld id="{4B3F6518-B1A6-4D8A-B838-759C894BA8CF}" type="slidenum">
              <a:rPr lang="zh-CN" altLang="en-US" smtClean="0"/>
              <a:t>37</a:t>
            </a:fld>
            <a:endParaRPr lang="zh-CN" altLang="en-US"/>
          </a:p>
        </p:txBody>
      </p:sp>
    </p:spTree>
    <p:extLst>
      <p:ext uri="{BB962C8B-B14F-4D97-AF65-F5344CB8AC3E}">
        <p14:creationId xmlns:p14="http://schemas.microsoft.com/office/powerpoint/2010/main" val="2888878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F8663-E233-07D3-18DB-580B593548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DEB641-B5FE-9D3E-FAC1-6FE78B73B55C}"/>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01CF2290-DC2C-0E55-4540-C3C9ED4DE79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4E685DD-96D5-D3A5-8AD0-4353B4B9F4CD}"/>
              </a:ext>
            </a:extLst>
          </p:cNvPr>
          <p:cNvSpPr>
            <a:spLocks noGrp="1"/>
          </p:cNvSpPr>
          <p:nvPr>
            <p:ph type="sldNum" sz="quarter" idx="10"/>
          </p:nvPr>
        </p:nvSpPr>
        <p:spPr/>
        <p:txBody>
          <a:bodyPr/>
          <a:lstStyle/>
          <a:p>
            <a:fld id="{4B3F6518-B1A6-4D8A-B838-759C894BA8CF}" type="slidenum">
              <a:rPr lang="zh-CN" altLang="en-US" smtClean="0"/>
              <a:t>38</a:t>
            </a:fld>
            <a:endParaRPr lang="zh-CN" altLang="en-US"/>
          </a:p>
        </p:txBody>
      </p:sp>
    </p:spTree>
    <p:extLst>
      <p:ext uri="{BB962C8B-B14F-4D97-AF65-F5344CB8AC3E}">
        <p14:creationId xmlns:p14="http://schemas.microsoft.com/office/powerpoint/2010/main" val="1256540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DD3AC-0BCD-554E-0004-90054C8B66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88E54A-9F22-0B82-0F50-B056C70309C4}"/>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7295EEB0-5F47-143D-6B53-0E921214587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38F41DD-9EDA-4394-82BC-0FAB5DF94F87}"/>
              </a:ext>
            </a:extLst>
          </p:cNvPr>
          <p:cNvSpPr>
            <a:spLocks noGrp="1"/>
          </p:cNvSpPr>
          <p:nvPr>
            <p:ph type="sldNum" sz="quarter" idx="10"/>
          </p:nvPr>
        </p:nvSpPr>
        <p:spPr/>
        <p:txBody>
          <a:bodyPr/>
          <a:lstStyle/>
          <a:p>
            <a:fld id="{4B3F6518-B1A6-4D8A-B838-759C894BA8CF}" type="slidenum">
              <a:rPr lang="zh-CN" altLang="en-US" smtClean="0"/>
              <a:t>39</a:t>
            </a:fld>
            <a:endParaRPr lang="zh-CN" altLang="en-US"/>
          </a:p>
        </p:txBody>
      </p:sp>
    </p:spTree>
    <p:extLst>
      <p:ext uri="{BB962C8B-B14F-4D97-AF65-F5344CB8AC3E}">
        <p14:creationId xmlns:p14="http://schemas.microsoft.com/office/powerpoint/2010/main" val="1407814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67C7A-80EA-935C-D621-1321C695B9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763328-C0F0-E496-8017-20F2CFD7D734}"/>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430DCC89-B75F-A6C4-178C-01356B317A4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BA1721D-09BC-4993-B5FF-90FBD30376A7}"/>
              </a:ext>
            </a:extLst>
          </p:cNvPr>
          <p:cNvSpPr>
            <a:spLocks noGrp="1"/>
          </p:cNvSpPr>
          <p:nvPr>
            <p:ph type="sldNum" sz="quarter" idx="10"/>
          </p:nvPr>
        </p:nvSpPr>
        <p:spPr/>
        <p:txBody>
          <a:bodyPr/>
          <a:lstStyle/>
          <a:p>
            <a:fld id="{4B3F6518-B1A6-4D8A-B838-759C894BA8CF}" type="slidenum">
              <a:rPr lang="zh-CN" altLang="en-US" smtClean="0"/>
              <a:t>40</a:t>
            </a:fld>
            <a:endParaRPr lang="zh-CN" altLang="en-US"/>
          </a:p>
        </p:txBody>
      </p:sp>
    </p:spTree>
    <p:extLst>
      <p:ext uri="{BB962C8B-B14F-4D97-AF65-F5344CB8AC3E}">
        <p14:creationId xmlns:p14="http://schemas.microsoft.com/office/powerpoint/2010/main" val="2618666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544B2-FDAF-328A-A9E1-7D1A26D3EA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E5C6C7-040A-7CCB-B0A7-EBF775891163}"/>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569775FC-9264-52E8-363E-151B17C5F50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F678D85-7248-7CB7-B240-8B94B3BB094A}"/>
              </a:ext>
            </a:extLst>
          </p:cNvPr>
          <p:cNvSpPr>
            <a:spLocks noGrp="1"/>
          </p:cNvSpPr>
          <p:nvPr>
            <p:ph type="sldNum" sz="quarter" idx="10"/>
          </p:nvPr>
        </p:nvSpPr>
        <p:spPr/>
        <p:txBody>
          <a:bodyPr/>
          <a:lstStyle/>
          <a:p>
            <a:fld id="{4B3F6518-B1A6-4D8A-B838-759C894BA8CF}" type="slidenum">
              <a:rPr lang="zh-CN" altLang="en-US" smtClean="0"/>
              <a:t>41</a:t>
            </a:fld>
            <a:endParaRPr lang="zh-CN" altLang="en-US"/>
          </a:p>
        </p:txBody>
      </p:sp>
    </p:spTree>
    <p:extLst>
      <p:ext uri="{BB962C8B-B14F-4D97-AF65-F5344CB8AC3E}">
        <p14:creationId xmlns:p14="http://schemas.microsoft.com/office/powerpoint/2010/main" val="3091051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1073D-37C9-6FC4-D4CE-E26E3CCB68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D04D5E-7ABB-09FB-EB06-32D0A8084633}"/>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530019EE-3A0D-636B-CD7C-18AD110E103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531E283-F3C2-814A-DB99-CEA42716C36F}"/>
              </a:ext>
            </a:extLst>
          </p:cNvPr>
          <p:cNvSpPr>
            <a:spLocks noGrp="1"/>
          </p:cNvSpPr>
          <p:nvPr>
            <p:ph type="sldNum" sz="quarter" idx="10"/>
          </p:nvPr>
        </p:nvSpPr>
        <p:spPr/>
        <p:txBody>
          <a:bodyPr/>
          <a:lstStyle/>
          <a:p>
            <a:fld id="{4B3F6518-B1A6-4D8A-B838-759C894BA8CF}" type="slidenum">
              <a:rPr lang="zh-CN" altLang="en-US" smtClean="0"/>
              <a:t>42</a:t>
            </a:fld>
            <a:endParaRPr lang="zh-CN" altLang="en-US"/>
          </a:p>
        </p:txBody>
      </p:sp>
    </p:spTree>
    <p:extLst>
      <p:ext uri="{BB962C8B-B14F-4D97-AF65-F5344CB8AC3E}">
        <p14:creationId xmlns:p14="http://schemas.microsoft.com/office/powerpoint/2010/main" val="1796474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E3A7F-6CBE-B866-112F-48279D679B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D65EA2-B2EC-E200-B22C-13EFEF576790}"/>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9D734A6E-CD04-3FD4-D810-36444131F95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7D0083C-CDD9-CFA5-9407-C884C19D9939}"/>
              </a:ext>
            </a:extLst>
          </p:cNvPr>
          <p:cNvSpPr>
            <a:spLocks noGrp="1"/>
          </p:cNvSpPr>
          <p:nvPr>
            <p:ph type="sldNum" sz="quarter" idx="10"/>
          </p:nvPr>
        </p:nvSpPr>
        <p:spPr/>
        <p:txBody>
          <a:bodyPr/>
          <a:lstStyle/>
          <a:p>
            <a:fld id="{4B3F6518-B1A6-4D8A-B838-759C894BA8CF}" type="slidenum">
              <a:rPr lang="zh-CN" altLang="en-US" smtClean="0"/>
              <a:t>43</a:t>
            </a:fld>
            <a:endParaRPr lang="zh-CN" altLang="en-US"/>
          </a:p>
        </p:txBody>
      </p:sp>
    </p:spTree>
    <p:extLst>
      <p:ext uri="{BB962C8B-B14F-4D97-AF65-F5344CB8AC3E}">
        <p14:creationId xmlns:p14="http://schemas.microsoft.com/office/powerpoint/2010/main" val="2180736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44</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45</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46</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47</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48</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F0A9F-0813-A71E-10EF-7DEB4BB41B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B59BE5-416F-D331-B6B4-9DD2118CF80B}"/>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A28F8A08-145D-4017-8C3D-956EE3E32B3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2EAE076-D783-9AE5-EB90-6AD59DD93365}"/>
              </a:ext>
            </a:extLst>
          </p:cNvPr>
          <p:cNvSpPr>
            <a:spLocks noGrp="1"/>
          </p:cNvSpPr>
          <p:nvPr>
            <p:ph type="sldNum" sz="quarter" idx="10"/>
          </p:nvPr>
        </p:nvSpPr>
        <p:spPr/>
        <p:txBody>
          <a:bodyPr/>
          <a:lstStyle/>
          <a:p>
            <a:fld id="{4B3F6518-B1A6-4D8A-B838-759C894BA8CF}" type="slidenum">
              <a:rPr lang="zh-CN" altLang="en-US" smtClean="0"/>
              <a:t>49</a:t>
            </a:fld>
            <a:endParaRPr lang="zh-CN" altLang="en-US"/>
          </a:p>
        </p:txBody>
      </p:sp>
    </p:spTree>
    <p:extLst>
      <p:ext uri="{BB962C8B-B14F-4D97-AF65-F5344CB8AC3E}">
        <p14:creationId xmlns:p14="http://schemas.microsoft.com/office/powerpoint/2010/main" val="1687362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50</a:t>
            </a:fld>
            <a:endParaRPr lang="zh-CN" altLang="en-US"/>
          </a:p>
        </p:txBody>
      </p:sp>
    </p:spTree>
    <p:extLst>
      <p:ext uri="{BB962C8B-B14F-4D97-AF65-F5344CB8AC3E}">
        <p14:creationId xmlns:p14="http://schemas.microsoft.com/office/powerpoint/2010/main" val="9723117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51</a:t>
            </a:fld>
            <a:endParaRPr lang="zh-CN" altLang="en-US"/>
          </a:p>
        </p:txBody>
      </p:sp>
    </p:spTree>
    <p:extLst>
      <p:ext uri="{BB962C8B-B14F-4D97-AF65-F5344CB8AC3E}">
        <p14:creationId xmlns:p14="http://schemas.microsoft.com/office/powerpoint/2010/main" val="24959719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28CC0-C7FC-59DC-0A32-38DEA22B8B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6D876C-EBFA-6792-F673-EB51EBAC17E3}"/>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5300149B-FE59-5E7A-F0DA-A17785B6DCF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3AB8E0E-8398-0A34-C330-AB4E4E37DE99}"/>
              </a:ext>
            </a:extLst>
          </p:cNvPr>
          <p:cNvSpPr>
            <a:spLocks noGrp="1"/>
          </p:cNvSpPr>
          <p:nvPr>
            <p:ph type="sldNum" sz="quarter" idx="10"/>
          </p:nvPr>
        </p:nvSpPr>
        <p:spPr/>
        <p:txBody>
          <a:bodyPr/>
          <a:lstStyle/>
          <a:p>
            <a:fld id="{4B3F6518-B1A6-4D8A-B838-759C894BA8CF}" type="slidenum">
              <a:rPr lang="zh-CN" altLang="en-US" smtClean="0"/>
              <a:t>52</a:t>
            </a:fld>
            <a:endParaRPr lang="zh-CN" altLang="en-US"/>
          </a:p>
        </p:txBody>
      </p:sp>
    </p:spTree>
    <p:extLst>
      <p:ext uri="{BB962C8B-B14F-4D97-AF65-F5344CB8AC3E}">
        <p14:creationId xmlns:p14="http://schemas.microsoft.com/office/powerpoint/2010/main" val="6078942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53</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54</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55</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56</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57</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58</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59</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60</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61</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62</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63</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64</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65</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66</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67</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3F6518-B1A6-4D8A-B838-759C894BA8CF}" type="slidenum">
              <a:rPr lang="zh-CN" altLang="en-US" smtClean="0"/>
              <a:t>68</a:t>
            </a:fld>
            <a:endParaRPr lang="zh-CN" altLang="en-US"/>
          </a:p>
        </p:txBody>
      </p:sp>
    </p:spTree>
    <p:extLst>
      <p:ext uri="{BB962C8B-B14F-4D97-AF65-F5344CB8AC3E}">
        <p14:creationId xmlns:p14="http://schemas.microsoft.com/office/powerpoint/2010/main" val="2374710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2840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385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05572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2025/10/16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081129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55B11C4-7618-49BA-A742-440409CFAB34}" type="datetimeFigureOut">
              <a:rPr lang="zh-CN" altLang="en-US" smtClean="0"/>
              <a:t>2025/10/16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247008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55B11C4-7618-49BA-A742-440409CFAB34}" type="datetimeFigureOut">
              <a:rPr lang="zh-CN" altLang="en-US" smtClean="0"/>
              <a:t>2025/10/16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68786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55B11C4-7618-49BA-A742-440409CFAB34}" type="datetimeFigureOut">
              <a:rPr lang="zh-CN" altLang="en-US" smtClean="0"/>
              <a:t>2025/10/16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909344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2025/10/16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24973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2025/10/16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88314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156022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4046055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B11C4-7618-49BA-A742-440409CFAB34}" type="datetimeFigureOut">
              <a:rPr lang="zh-CN" altLang="en-US" smtClean="0"/>
              <a:t>2025/10/16</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1293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3.gif"/><Relationship Id="rId1" Type="http://schemas.openxmlformats.org/officeDocument/2006/relationships/slideLayout" Target="../slideLayouts/slideLayout1.xml"/><Relationship Id="rId4" Type="http://schemas.openxmlformats.org/officeDocument/2006/relationships/image" Target="../media/image4.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a:cxnSpLocks/>
          </p:cNvCxnSpPr>
          <p:nvPr/>
        </p:nvCxnSpPr>
        <p:spPr>
          <a:xfrm>
            <a:off x="0" y="141277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Rectangle 2"/>
          <p:cNvSpPr txBox="1">
            <a:spLocks noChangeArrowheads="1"/>
          </p:cNvSpPr>
          <p:nvPr/>
        </p:nvSpPr>
        <p:spPr>
          <a:xfrm>
            <a:off x="1631504" y="383177"/>
            <a:ext cx="8784976" cy="92528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5400" b="1" dirty="0">
                <a:latin typeface="黑体" pitchFamily="49" charset="-122"/>
                <a:ea typeface="黑体" pitchFamily="49" charset="-122"/>
                <a:cs typeface="+mn-cs"/>
              </a:rPr>
              <a:t>第</a:t>
            </a:r>
            <a:r>
              <a:rPr lang="en-US" altLang="zh-CN" sz="5400" b="1" dirty="0">
                <a:latin typeface="黑体" pitchFamily="49" charset="-122"/>
                <a:ea typeface="黑体" pitchFamily="49" charset="-122"/>
                <a:cs typeface="+mn-cs"/>
              </a:rPr>
              <a:t>6</a:t>
            </a:r>
            <a:r>
              <a:rPr lang="zh-CN" altLang="en-US" sz="5400" b="1" dirty="0">
                <a:latin typeface="黑体" pitchFamily="49" charset="-122"/>
                <a:ea typeface="黑体" pitchFamily="49" charset="-122"/>
                <a:cs typeface="+mn-cs"/>
              </a:rPr>
              <a:t>章 数组和广义表</a:t>
            </a:r>
            <a:endParaRPr lang="en-US" altLang="zh-CN" sz="5400" dirty="0"/>
          </a:p>
        </p:txBody>
      </p:sp>
      <p:sp>
        <p:nvSpPr>
          <p:cNvPr id="14" name="矩形 13"/>
          <p:cNvSpPr/>
          <p:nvPr/>
        </p:nvSpPr>
        <p:spPr>
          <a:xfrm>
            <a:off x="4446787" y="2348881"/>
            <a:ext cx="3154408"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marL="0" lvl="1"/>
            <a:r>
              <a:rPr lang="en-US" altLang="zh-CN" sz="3200" dirty="0">
                <a:latin typeface="微软雅黑" pitchFamily="34" charset="-122"/>
                <a:ea typeface="微软雅黑" pitchFamily="34" charset="-122"/>
              </a:rPr>
              <a:t>6</a:t>
            </a:r>
            <a:r>
              <a:rPr lang="zh-CN" altLang="en-US" sz="3200" dirty="0">
                <a:latin typeface="微软雅黑" pitchFamily="34" charset="-122"/>
                <a:ea typeface="微软雅黑" pitchFamily="34" charset="-122"/>
              </a:rPr>
              <a:t>.1 数组</a:t>
            </a:r>
          </a:p>
        </p:txBody>
      </p:sp>
      <p:sp>
        <p:nvSpPr>
          <p:cNvPr id="15" name="矩形 14"/>
          <p:cNvSpPr/>
          <p:nvPr/>
        </p:nvSpPr>
        <p:spPr>
          <a:xfrm>
            <a:off x="4446787" y="3356993"/>
            <a:ext cx="3154408"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marL="0" lvl="1"/>
            <a:r>
              <a:rPr lang="en-US" altLang="zh-CN" sz="3200" dirty="0">
                <a:latin typeface="微软雅黑" pitchFamily="34" charset="-122"/>
                <a:ea typeface="微软雅黑" pitchFamily="34" charset="-122"/>
              </a:rPr>
              <a:t>6</a:t>
            </a:r>
            <a:r>
              <a:rPr lang="zh-CN" altLang="en-US" sz="3200" dirty="0">
                <a:latin typeface="微软雅黑" pitchFamily="34" charset="-122"/>
                <a:ea typeface="微软雅黑" pitchFamily="34" charset="-122"/>
              </a:rPr>
              <a:t>.2 稀疏矩阵</a:t>
            </a:r>
          </a:p>
        </p:txBody>
      </p:sp>
      <p:sp>
        <p:nvSpPr>
          <p:cNvPr id="2" name="矩形 1">
            <a:extLst>
              <a:ext uri="{FF2B5EF4-FFF2-40B4-BE49-F238E27FC236}">
                <a16:creationId xmlns:a16="http://schemas.microsoft.com/office/drawing/2014/main" id="{09FDF162-C271-7FE1-B93A-0A68499E08E8}"/>
              </a:ext>
            </a:extLst>
          </p:cNvPr>
          <p:cNvSpPr/>
          <p:nvPr/>
        </p:nvSpPr>
        <p:spPr>
          <a:xfrm>
            <a:off x="4478350" y="4365105"/>
            <a:ext cx="3154408" cy="58477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marL="0" lvl="1"/>
            <a:r>
              <a:rPr lang="en-US" altLang="zh-CN" sz="3200" dirty="0">
                <a:latin typeface="微软雅黑" pitchFamily="34" charset="-122"/>
                <a:ea typeface="微软雅黑" pitchFamily="34" charset="-122"/>
              </a:rPr>
              <a:t>6</a:t>
            </a:r>
            <a:r>
              <a:rPr lang="zh-CN" altLang="en-US" sz="3200" dirty="0">
                <a:latin typeface="微软雅黑" pitchFamily="34" charset="-122"/>
                <a:ea typeface="微软雅黑" pitchFamily="34" charset="-122"/>
              </a:rPr>
              <a:t>.</a:t>
            </a:r>
            <a:r>
              <a:rPr lang="en-US" altLang="zh-CN" sz="3200" dirty="0">
                <a:latin typeface="微软雅黑" pitchFamily="34" charset="-122"/>
                <a:ea typeface="微软雅黑" pitchFamily="34" charset="-122"/>
              </a:rPr>
              <a:t>3</a:t>
            </a:r>
            <a:r>
              <a:rPr lang="zh-CN" altLang="en-US" sz="3200" dirty="0">
                <a:latin typeface="微软雅黑" pitchFamily="34" charset="-122"/>
                <a:ea typeface="微软雅黑" pitchFamily="34" charset="-122"/>
              </a:rPr>
              <a:t> 广义表</a:t>
            </a:r>
          </a:p>
        </p:txBody>
      </p:sp>
    </p:spTree>
    <p:extLst>
      <p:ext uri="{BB962C8B-B14F-4D97-AF65-F5344CB8AC3E}">
        <p14:creationId xmlns:p14="http://schemas.microsoft.com/office/powerpoint/2010/main" val="3019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AED35-55DA-5E56-34BD-2B22F3C19D94}"/>
            </a:ext>
          </a:extLst>
        </p:cNvPr>
        <p:cNvGrpSpPr/>
        <p:nvPr/>
      </p:nvGrpSpPr>
      <p:grpSpPr>
        <a:xfrm>
          <a:off x="0" y="0"/>
          <a:ext cx="0" cy="0"/>
          <a:chOff x="0" y="0"/>
          <a:chExt cx="0" cy="0"/>
        </a:xfrm>
      </p:grpSpPr>
      <p:sp>
        <p:nvSpPr>
          <p:cNvPr id="13" name="Rectangle 3">
            <a:extLst>
              <a:ext uri="{FF2B5EF4-FFF2-40B4-BE49-F238E27FC236}">
                <a16:creationId xmlns:a16="http://schemas.microsoft.com/office/drawing/2014/main" id="{A5B793AD-B5CC-D81A-4E9A-7C507E18E5BF}"/>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6.1.1 </a:t>
            </a:r>
            <a:r>
              <a:rPr lang="zh-CN" altLang="en-US" sz="2800" b="1" dirty="0">
                <a:solidFill>
                  <a:schemeClr val="bg1"/>
                </a:solidFill>
                <a:latin typeface="经典粗黑简" pitchFamily="49" charset="-122"/>
                <a:ea typeface="经典粗黑简" pitchFamily="49" charset="-122"/>
                <a:cs typeface="经典粗黑简" pitchFamily="49" charset="-122"/>
              </a:rPr>
              <a:t>数组的基本概念</a:t>
            </a:r>
          </a:p>
        </p:txBody>
      </p:sp>
      <p:sp>
        <p:nvSpPr>
          <p:cNvPr id="7" name="Rectangle 2">
            <a:extLst>
              <a:ext uri="{FF2B5EF4-FFF2-40B4-BE49-F238E27FC236}">
                <a16:creationId xmlns:a16="http://schemas.microsoft.com/office/drawing/2014/main" id="{CCBB3DF2-6B41-43E7-BA01-72AFE3020391}"/>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29" name="直接连接符 28">
            <a:extLst>
              <a:ext uri="{FF2B5EF4-FFF2-40B4-BE49-F238E27FC236}">
                <a16:creationId xmlns:a16="http://schemas.microsoft.com/office/drawing/2014/main" id="{1F7AABD3-33F0-7EB3-B5EE-48DAD367F976}"/>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3">
            <a:extLst>
              <a:ext uri="{FF2B5EF4-FFF2-40B4-BE49-F238E27FC236}">
                <a16:creationId xmlns:a16="http://schemas.microsoft.com/office/drawing/2014/main" id="{FCC7031C-B72F-6CA4-8B4D-DFF5A14D1750}"/>
              </a:ext>
            </a:extLst>
          </p:cNvPr>
          <p:cNvSpPr txBox="1">
            <a:spLocks noChangeArrowheads="1"/>
          </p:cNvSpPr>
          <p:nvPr/>
        </p:nvSpPr>
        <p:spPr bwMode="auto">
          <a:xfrm>
            <a:off x="1199456" y="2204864"/>
            <a:ext cx="10225136" cy="2013052"/>
          </a:xfrm>
          <a:prstGeom prst="rect">
            <a:avLst/>
          </a:prstGeom>
          <a:noFill/>
          <a:ln w="9525">
            <a:noFill/>
            <a:miter lim="800000"/>
            <a:headEnd/>
            <a:tailEnd/>
          </a:ln>
          <a:effectLst/>
        </p:spPr>
        <p:txBody>
          <a:bodyPr wrap="square">
            <a:spAutoFit/>
          </a:bodyPr>
          <a:lstStyle/>
          <a:p>
            <a:pPr algn="l">
              <a:lnSpc>
                <a:spcPct val="130000"/>
              </a:lnSpc>
            </a:pPr>
            <a:r>
              <a:rPr kumimoji="1" lang="en-US" altLang="zh-CN" sz="2000" dirty="0">
                <a:latin typeface="Consolas" pitchFamily="49" charset="0"/>
                <a:ea typeface="楷体" pitchFamily="49" charset="-122"/>
                <a:cs typeface="Consolas" pitchFamily="49" charset="0"/>
              </a:rPr>
              <a:t>   </a:t>
            </a:r>
            <a:r>
              <a:rPr lang="zh-CN" altLang="en-US" sz="2000" dirty="0">
                <a:latin typeface="黑体" pitchFamily="49" charset="-122"/>
                <a:ea typeface="黑体" pitchFamily="49" charset="-122"/>
              </a:rPr>
              <a:t>从逻辑结构上看，</a:t>
            </a:r>
            <a:r>
              <a:rPr lang="zh-CN" altLang="en-US" sz="2000" dirty="0">
                <a:solidFill>
                  <a:srgbClr val="FF0000"/>
                </a:solidFill>
                <a:latin typeface="黑体" pitchFamily="49" charset="-122"/>
                <a:ea typeface="黑体" pitchFamily="49" charset="-122"/>
              </a:rPr>
              <a:t>一维数组</a:t>
            </a:r>
            <a:r>
              <a:rPr lang="en-US" altLang="zh-CN" sz="2000" dirty="0">
                <a:latin typeface="黑体" pitchFamily="49" charset="-122"/>
                <a:ea typeface="黑体" pitchFamily="49" charset="-122"/>
              </a:rPr>
              <a:t>A</a:t>
            </a:r>
            <a:r>
              <a:rPr lang="zh-CN" altLang="en-US" sz="2000" dirty="0">
                <a:latin typeface="黑体" pitchFamily="49" charset="-122"/>
                <a:ea typeface="黑体" pitchFamily="49" charset="-122"/>
              </a:rPr>
              <a:t>是</a:t>
            </a:r>
            <a:r>
              <a:rPr lang="en-US" altLang="zh-CN" sz="2000" dirty="0">
                <a:latin typeface="黑体" pitchFamily="49" charset="-122"/>
                <a:ea typeface="黑体" pitchFamily="49" charset="-122"/>
              </a:rPr>
              <a:t>n</a:t>
            </a:r>
            <a:r>
              <a:rPr lang="zh-CN" altLang="en-US" sz="2000" dirty="0">
                <a:latin typeface="黑体" pitchFamily="49" charset="-122"/>
                <a:ea typeface="黑体" pitchFamily="49" charset="-122"/>
              </a:rPr>
              <a:t>（</a:t>
            </a:r>
            <a:r>
              <a:rPr lang="en-US" altLang="zh-CN" sz="2000" dirty="0">
                <a:latin typeface="黑体" pitchFamily="49" charset="-122"/>
                <a:ea typeface="黑体" pitchFamily="49" charset="-122"/>
              </a:rPr>
              <a:t>n</a:t>
            </a:r>
            <a:r>
              <a:rPr lang="zh-CN" altLang="en-US" sz="2000" dirty="0">
                <a:latin typeface="黑体" pitchFamily="49" charset="-122"/>
                <a:ea typeface="黑体" pitchFamily="49" charset="-122"/>
              </a:rPr>
              <a:t>＞</a:t>
            </a:r>
            <a:r>
              <a:rPr lang="en-US" altLang="zh-CN" sz="2000" dirty="0">
                <a:latin typeface="黑体" pitchFamily="49" charset="-122"/>
                <a:ea typeface="黑体" pitchFamily="49" charset="-122"/>
              </a:rPr>
              <a:t>1</a:t>
            </a:r>
            <a:r>
              <a:rPr lang="zh-CN" altLang="en-US" sz="2000" dirty="0">
                <a:latin typeface="黑体" pitchFamily="49" charset="-122"/>
                <a:ea typeface="黑体" pitchFamily="49" charset="-122"/>
              </a:rPr>
              <a:t>）个相同类型数据元素</a:t>
            </a:r>
            <a:r>
              <a:rPr lang="en-US" altLang="zh-CN" sz="2000" dirty="0">
                <a:latin typeface="黑体" pitchFamily="49" charset="-122"/>
                <a:ea typeface="黑体" pitchFamily="49" charset="-122"/>
              </a:rPr>
              <a:t>a</a:t>
            </a:r>
            <a:r>
              <a:rPr lang="en-US" altLang="zh-CN" sz="2000" baseline="-25000" dirty="0">
                <a:latin typeface="黑体" pitchFamily="49" charset="-122"/>
                <a:ea typeface="黑体" pitchFamily="49" charset="-122"/>
              </a:rPr>
              <a:t>1</a:t>
            </a:r>
            <a:r>
              <a:rPr lang="zh-CN" altLang="en-US" sz="2000" dirty="0">
                <a:latin typeface="黑体" pitchFamily="49" charset="-122"/>
                <a:ea typeface="黑体" pitchFamily="49" charset="-122"/>
              </a:rPr>
              <a:t>、</a:t>
            </a:r>
            <a:r>
              <a:rPr lang="en-US" altLang="zh-CN" sz="2000" dirty="0">
                <a:latin typeface="黑体" pitchFamily="49" charset="-122"/>
                <a:ea typeface="黑体" pitchFamily="49" charset="-122"/>
              </a:rPr>
              <a:t>a</a:t>
            </a:r>
            <a:r>
              <a:rPr lang="en-US" altLang="zh-CN" sz="2000" baseline="-25000" dirty="0">
                <a:latin typeface="黑体" pitchFamily="49" charset="-122"/>
                <a:ea typeface="黑体" pitchFamily="49" charset="-122"/>
              </a:rPr>
              <a:t>2</a:t>
            </a:r>
            <a:r>
              <a:rPr lang="zh-CN" altLang="en-US" sz="2000" dirty="0">
                <a:latin typeface="黑体" pitchFamily="49" charset="-122"/>
                <a:ea typeface="黑体" pitchFamily="49" charset="-122"/>
              </a:rPr>
              <a:t>、</a:t>
            </a:r>
            <a:r>
              <a:rPr lang="en-US" altLang="zh-CN" sz="2000" dirty="0">
                <a:latin typeface="黑体" pitchFamily="49" charset="-122"/>
                <a:ea typeface="黑体" pitchFamily="49" charset="-122"/>
              </a:rPr>
              <a:t>…</a:t>
            </a:r>
            <a:r>
              <a:rPr lang="zh-CN" altLang="en-US" sz="2000" dirty="0">
                <a:latin typeface="黑体" pitchFamily="49" charset="-122"/>
                <a:ea typeface="黑体" pitchFamily="49" charset="-122"/>
              </a:rPr>
              <a:t>、</a:t>
            </a:r>
            <a:r>
              <a:rPr lang="en-US" altLang="zh-CN" sz="2000" dirty="0">
                <a:latin typeface="黑体" pitchFamily="49" charset="-122"/>
                <a:ea typeface="黑体" pitchFamily="49" charset="-122"/>
              </a:rPr>
              <a:t>a</a:t>
            </a:r>
            <a:r>
              <a:rPr lang="en-US" altLang="zh-CN" sz="2000" baseline="-25000" dirty="0">
                <a:latin typeface="黑体" pitchFamily="49" charset="-122"/>
                <a:ea typeface="黑体" pitchFamily="49" charset="-122"/>
              </a:rPr>
              <a:t>n</a:t>
            </a:r>
            <a:r>
              <a:rPr lang="zh-CN" altLang="en-US" sz="2000" dirty="0">
                <a:latin typeface="黑体" pitchFamily="49" charset="-122"/>
                <a:ea typeface="黑体" pitchFamily="49" charset="-122"/>
              </a:rPr>
              <a:t>构成的有限序列，其逻辑表示为：</a:t>
            </a:r>
            <a:endParaRPr lang="zh-CN" altLang="pt-BR" sz="2000" dirty="0">
              <a:latin typeface="黑体" pitchFamily="49" charset="-122"/>
              <a:ea typeface="黑体" pitchFamily="49" charset="-122"/>
            </a:endParaRPr>
          </a:p>
          <a:p>
            <a:pPr algn="l">
              <a:lnSpc>
                <a:spcPct val="200000"/>
              </a:lnSpc>
            </a:pPr>
            <a:r>
              <a:rPr lang="pt-BR" altLang="zh-CN" sz="2000" dirty="0">
                <a:latin typeface="黑体" pitchFamily="49" charset="-122"/>
                <a:ea typeface="黑体" pitchFamily="49" charset="-122"/>
              </a:rPr>
              <a:t>           A=</a:t>
            </a:r>
            <a:r>
              <a:rPr lang="zh-CN" altLang="pt-BR" sz="2000" dirty="0">
                <a:latin typeface="黑体" pitchFamily="49" charset="-122"/>
                <a:ea typeface="黑体" pitchFamily="49" charset="-122"/>
              </a:rPr>
              <a:t>（</a:t>
            </a:r>
            <a:r>
              <a:rPr lang="pt-BR" altLang="zh-CN" sz="2000" dirty="0">
                <a:latin typeface="黑体" pitchFamily="49" charset="-122"/>
                <a:ea typeface="黑体" pitchFamily="49" charset="-122"/>
              </a:rPr>
              <a:t>a</a:t>
            </a:r>
            <a:r>
              <a:rPr lang="pt-BR" altLang="zh-CN" sz="2000" baseline="-25000" dirty="0">
                <a:latin typeface="黑体" pitchFamily="49" charset="-122"/>
                <a:ea typeface="黑体" pitchFamily="49" charset="-122"/>
              </a:rPr>
              <a:t>1</a:t>
            </a:r>
            <a:r>
              <a:rPr lang="zh-CN" altLang="pt-BR" sz="2000" dirty="0">
                <a:latin typeface="黑体" pitchFamily="49" charset="-122"/>
                <a:ea typeface="黑体" pitchFamily="49" charset="-122"/>
              </a:rPr>
              <a:t>，</a:t>
            </a:r>
            <a:r>
              <a:rPr lang="pt-BR" altLang="zh-CN" sz="2000" dirty="0">
                <a:latin typeface="黑体" pitchFamily="49" charset="-122"/>
                <a:ea typeface="黑体" pitchFamily="49" charset="-122"/>
              </a:rPr>
              <a:t>a</a:t>
            </a:r>
            <a:r>
              <a:rPr lang="pt-BR" altLang="zh-CN" sz="2000" baseline="-25000" dirty="0">
                <a:latin typeface="黑体" pitchFamily="49" charset="-122"/>
                <a:ea typeface="黑体" pitchFamily="49" charset="-122"/>
              </a:rPr>
              <a:t>2</a:t>
            </a:r>
            <a:r>
              <a:rPr lang="zh-CN" altLang="pt-BR" sz="2000" dirty="0">
                <a:latin typeface="黑体" pitchFamily="49" charset="-122"/>
                <a:ea typeface="黑体" pitchFamily="49" charset="-122"/>
              </a:rPr>
              <a:t>，</a:t>
            </a:r>
            <a:r>
              <a:rPr lang="pt-BR" altLang="zh-CN" sz="2000" dirty="0">
                <a:latin typeface="黑体" pitchFamily="49" charset="-122"/>
                <a:ea typeface="黑体" pitchFamily="49" charset="-122"/>
              </a:rPr>
              <a:t>…</a:t>
            </a:r>
            <a:r>
              <a:rPr lang="zh-CN" altLang="pt-BR" sz="2000" dirty="0">
                <a:latin typeface="黑体" pitchFamily="49" charset="-122"/>
                <a:ea typeface="黑体" pitchFamily="49" charset="-122"/>
              </a:rPr>
              <a:t>，</a:t>
            </a:r>
            <a:r>
              <a:rPr lang="pt-BR" altLang="zh-CN" sz="2000" dirty="0">
                <a:latin typeface="黑体" pitchFamily="49" charset="-122"/>
                <a:ea typeface="黑体" pitchFamily="49" charset="-122"/>
              </a:rPr>
              <a:t>a</a:t>
            </a:r>
            <a:r>
              <a:rPr lang="pt-BR" altLang="zh-CN" sz="2000" baseline="-25000" dirty="0">
                <a:latin typeface="黑体" pitchFamily="49" charset="-122"/>
                <a:ea typeface="黑体" pitchFamily="49" charset="-122"/>
              </a:rPr>
              <a:t>n</a:t>
            </a:r>
            <a:r>
              <a:rPr lang="zh-CN" altLang="pt-BR" sz="2000" dirty="0">
                <a:latin typeface="黑体" pitchFamily="49" charset="-122"/>
                <a:ea typeface="黑体" pitchFamily="49" charset="-122"/>
              </a:rPr>
              <a:t>）</a:t>
            </a:r>
          </a:p>
          <a:p>
            <a:pPr algn="l">
              <a:lnSpc>
                <a:spcPct val="200000"/>
              </a:lnSpc>
            </a:pPr>
            <a:r>
              <a:rPr lang="zh-CN" altLang="pt-BR" sz="2000" dirty="0">
                <a:latin typeface="黑体" pitchFamily="49" charset="-122"/>
                <a:ea typeface="黑体" pitchFamily="49" charset="-122"/>
              </a:rPr>
              <a:t>其中，</a:t>
            </a:r>
            <a:r>
              <a:rPr lang="pt-BR" altLang="zh-CN" sz="2000" dirty="0">
                <a:latin typeface="黑体" pitchFamily="49" charset="-122"/>
                <a:ea typeface="黑体" pitchFamily="49" charset="-122"/>
              </a:rPr>
              <a:t>a</a:t>
            </a:r>
            <a:r>
              <a:rPr lang="pt-BR" altLang="zh-CN" sz="2000" baseline="-25000" dirty="0">
                <a:latin typeface="黑体" pitchFamily="49" charset="-122"/>
                <a:ea typeface="黑体" pitchFamily="49" charset="-122"/>
              </a:rPr>
              <a:t>i</a:t>
            </a:r>
            <a:r>
              <a:rPr lang="zh-CN" altLang="pt-BR" sz="2000" dirty="0">
                <a:latin typeface="黑体" pitchFamily="49" charset="-122"/>
                <a:ea typeface="黑体" pitchFamily="49" charset="-122"/>
              </a:rPr>
              <a:t>（</a:t>
            </a:r>
            <a:r>
              <a:rPr lang="pt-BR" altLang="zh-CN" sz="2000" dirty="0">
                <a:latin typeface="黑体" pitchFamily="49" charset="-122"/>
                <a:ea typeface="黑体" pitchFamily="49" charset="-122"/>
              </a:rPr>
              <a:t>1≤i≤n</a:t>
            </a:r>
            <a:r>
              <a:rPr lang="zh-CN" altLang="pt-BR" sz="2000" dirty="0">
                <a:latin typeface="黑体" pitchFamily="49" charset="-122"/>
                <a:ea typeface="黑体" pitchFamily="49" charset="-122"/>
              </a:rPr>
              <a:t>）表示数组</a:t>
            </a:r>
            <a:r>
              <a:rPr lang="pt-BR" altLang="zh-CN" sz="2000" dirty="0">
                <a:latin typeface="黑体" pitchFamily="49" charset="-122"/>
                <a:ea typeface="黑体" pitchFamily="49" charset="-122"/>
              </a:rPr>
              <a:t>A</a:t>
            </a:r>
            <a:r>
              <a:rPr lang="zh-CN" altLang="pt-BR" sz="2000" dirty="0">
                <a:latin typeface="黑体" pitchFamily="49" charset="-122"/>
                <a:ea typeface="黑体" pitchFamily="49" charset="-122"/>
              </a:rPr>
              <a:t>的第</a:t>
            </a:r>
            <a:r>
              <a:rPr lang="pt-BR" altLang="zh-CN" sz="2000" dirty="0">
                <a:latin typeface="黑体" pitchFamily="49" charset="-122"/>
                <a:ea typeface="黑体" pitchFamily="49" charset="-122"/>
              </a:rPr>
              <a:t>i</a:t>
            </a:r>
            <a:r>
              <a:rPr lang="zh-CN" altLang="pt-BR" sz="2000" dirty="0">
                <a:latin typeface="黑体" pitchFamily="49" charset="-122"/>
                <a:ea typeface="黑体" pitchFamily="49" charset="-122"/>
              </a:rPr>
              <a:t>个元素。</a:t>
            </a:r>
            <a:endParaRPr lang="zh-CN" altLang="en-US" sz="2000" dirty="0">
              <a:latin typeface="黑体" pitchFamily="49" charset="-122"/>
              <a:ea typeface="黑体" pitchFamily="49" charset="-122"/>
            </a:endParaRPr>
          </a:p>
        </p:txBody>
      </p:sp>
    </p:spTree>
    <p:extLst>
      <p:ext uri="{BB962C8B-B14F-4D97-AF65-F5344CB8AC3E}">
        <p14:creationId xmlns:p14="http://schemas.microsoft.com/office/powerpoint/2010/main" val="917410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036BD-A857-EFF1-0ED1-50D1B9D950C3}"/>
            </a:ext>
          </a:extLst>
        </p:cNvPr>
        <p:cNvGrpSpPr/>
        <p:nvPr/>
      </p:nvGrpSpPr>
      <p:grpSpPr>
        <a:xfrm>
          <a:off x="0" y="0"/>
          <a:ext cx="0" cy="0"/>
          <a:chOff x="0" y="0"/>
          <a:chExt cx="0" cy="0"/>
        </a:xfrm>
      </p:grpSpPr>
      <p:sp>
        <p:nvSpPr>
          <p:cNvPr id="13" name="Rectangle 3">
            <a:extLst>
              <a:ext uri="{FF2B5EF4-FFF2-40B4-BE49-F238E27FC236}">
                <a16:creationId xmlns:a16="http://schemas.microsoft.com/office/drawing/2014/main" id="{56C594C6-9C9E-C9A3-CA0F-47F0AE29D889}"/>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6.1.1 </a:t>
            </a:r>
            <a:r>
              <a:rPr lang="zh-CN" altLang="en-US" sz="2800" b="1" dirty="0">
                <a:solidFill>
                  <a:schemeClr val="bg1"/>
                </a:solidFill>
                <a:latin typeface="经典粗黑简" pitchFamily="49" charset="-122"/>
                <a:ea typeface="经典粗黑简" pitchFamily="49" charset="-122"/>
                <a:cs typeface="经典粗黑简" pitchFamily="49" charset="-122"/>
              </a:rPr>
              <a:t>数组的基本概念</a:t>
            </a:r>
          </a:p>
        </p:txBody>
      </p:sp>
      <p:sp>
        <p:nvSpPr>
          <p:cNvPr id="7" name="Rectangle 2">
            <a:extLst>
              <a:ext uri="{FF2B5EF4-FFF2-40B4-BE49-F238E27FC236}">
                <a16:creationId xmlns:a16="http://schemas.microsoft.com/office/drawing/2014/main" id="{67CA04D3-9818-2D0E-06FF-08F23DBE215F}"/>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grpSp>
        <p:nvGrpSpPr>
          <p:cNvPr id="18" name="组合 17">
            <a:extLst>
              <a:ext uri="{FF2B5EF4-FFF2-40B4-BE49-F238E27FC236}">
                <a16:creationId xmlns:a16="http://schemas.microsoft.com/office/drawing/2014/main" id="{980A2046-D50E-F7F7-2364-CAA96FBDF324}"/>
              </a:ext>
            </a:extLst>
          </p:cNvPr>
          <p:cNvGrpSpPr/>
          <p:nvPr/>
        </p:nvGrpSpPr>
        <p:grpSpPr>
          <a:xfrm>
            <a:off x="2471278" y="3254753"/>
            <a:ext cx="2854069" cy="2462606"/>
            <a:chOff x="1822873" y="3916542"/>
            <a:chExt cx="2854069" cy="2462606"/>
          </a:xfrm>
        </p:grpSpPr>
        <p:sp>
          <p:nvSpPr>
            <p:cNvPr id="19" name="Rectangle 5">
              <a:extLst>
                <a:ext uri="{FF2B5EF4-FFF2-40B4-BE49-F238E27FC236}">
                  <a16:creationId xmlns:a16="http://schemas.microsoft.com/office/drawing/2014/main" id="{9DC9E666-E584-5767-A58B-18ECE701B8F4}"/>
                </a:ext>
              </a:extLst>
            </p:cNvPr>
            <p:cNvSpPr>
              <a:spLocks noChangeArrowheads="1"/>
            </p:cNvSpPr>
            <p:nvPr/>
          </p:nvSpPr>
          <p:spPr bwMode="auto">
            <a:xfrm>
              <a:off x="1895264" y="3916542"/>
              <a:ext cx="2781678" cy="2462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11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1n</a:t>
              </a: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21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2n</a:t>
              </a:r>
            </a:p>
            <a:p>
              <a:pPr algn="l">
                <a:spcBef>
                  <a:spcPct val="50000"/>
                </a:spcBef>
                <a:buClr>
                  <a:schemeClr val="folHlink"/>
                </a:buClr>
                <a:buSzPct val="60000"/>
                <a:buFont typeface="Wingdings" pitchFamily="2" charset="2"/>
                <a:buNone/>
              </a:pP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10000" dirty="0" err="1">
                  <a:latin typeface="Tahoma" pitchFamily="34" charset="0"/>
                  <a:ea typeface="楷体_GB2312" pitchFamily="49" charset="-122"/>
                </a:rPr>
                <a:t>ij</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endParaRPr kumimoji="1" lang="en-US" altLang="zh-CN" sz="2800" dirty="0">
                <a:latin typeface="Tahoma" pitchFamily="34" charset="0"/>
                <a:ea typeface="楷体_GB2312" pitchFamily="49" charset="-122"/>
              </a:endParaRP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10000" dirty="0">
                  <a:latin typeface="Tahoma" pitchFamily="34" charset="0"/>
                  <a:ea typeface="楷体_GB2312" pitchFamily="49" charset="-122"/>
                </a:rPr>
                <a:t>m</a:t>
              </a:r>
              <a:r>
                <a:rPr kumimoji="1" lang="en-US" altLang="zh-CN" sz="2800" baseline="-20000" dirty="0">
                  <a:latin typeface="Tahoma" pitchFamily="34" charset="0"/>
                  <a:ea typeface="楷体_GB2312" pitchFamily="49" charset="-122"/>
                </a:rPr>
                <a:t>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m2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20000" dirty="0" err="1">
                  <a:latin typeface="Tahoma" pitchFamily="34" charset="0"/>
                  <a:ea typeface="楷体_GB2312" pitchFamily="49" charset="-122"/>
                </a:rPr>
                <a:t>mn</a:t>
              </a:r>
              <a:endParaRPr kumimoji="1" lang="en-US" altLang="zh-CN" sz="2800" baseline="-20000" dirty="0">
                <a:latin typeface="Tahoma" pitchFamily="34" charset="0"/>
                <a:ea typeface="楷体_GB2312" pitchFamily="49" charset="-122"/>
              </a:endParaRPr>
            </a:p>
          </p:txBody>
        </p:sp>
        <p:grpSp>
          <p:nvGrpSpPr>
            <p:cNvPr id="20" name="组合 19">
              <a:extLst>
                <a:ext uri="{FF2B5EF4-FFF2-40B4-BE49-F238E27FC236}">
                  <a16:creationId xmlns:a16="http://schemas.microsoft.com/office/drawing/2014/main" id="{3D8F127A-EDBA-8D06-5081-4614B011475D}"/>
                </a:ext>
              </a:extLst>
            </p:cNvPr>
            <p:cNvGrpSpPr/>
            <p:nvPr/>
          </p:nvGrpSpPr>
          <p:grpSpPr>
            <a:xfrm>
              <a:off x="1822873" y="3973445"/>
              <a:ext cx="144780" cy="2380468"/>
              <a:chOff x="1822873" y="3921191"/>
              <a:chExt cx="144780" cy="2380468"/>
            </a:xfrm>
          </p:grpSpPr>
          <p:sp>
            <p:nvSpPr>
              <p:cNvPr id="25" name="Line 6">
                <a:extLst>
                  <a:ext uri="{FF2B5EF4-FFF2-40B4-BE49-F238E27FC236}">
                    <a16:creationId xmlns:a16="http://schemas.microsoft.com/office/drawing/2014/main" id="{FC21F24F-A96D-38B8-DBAE-6B2080F008BE}"/>
                  </a:ext>
                </a:extLst>
              </p:cNvPr>
              <p:cNvSpPr>
                <a:spLocks noChangeShapeType="1"/>
              </p:cNvSpPr>
              <p:nvPr/>
            </p:nvSpPr>
            <p:spPr bwMode="auto">
              <a:xfrm>
                <a:off x="1822873" y="392119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7">
                <a:extLst>
                  <a:ext uri="{FF2B5EF4-FFF2-40B4-BE49-F238E27FC236}">
                    <a16:creationId xmlns:a16="http://schemas.microsoft.com/office/drawing/2014/main" id="{C15FFFAC-ACD9-2647-415F-F78BB53EDE35}"/>
                  </a:ext>
                </a:extLst>
              </p:cNvPr>
              <p:cNvSpPr>
                <a:spLocks noChangeShapeType="1"/>
              </p:cNvSpPr>
              <p:nvPr/>
            </p:nvSpPr>
            <p:spPr bwMode="auto">
              <a:xfrm>
                <a:off x="1822873" y="630165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 name="Line 8">
                <a:extLst>
                  <a:ext uri="{FF2B5EF4-FFF2-40B4-BE49-F238E27FC236}">
                    <a16:creationId xmlns:a16="http://schemas.microsoft.com/office/drawing/2014/main" id="{D396C355-C76E-3CAB-69B8-F131B038D69A}"/>
                  </a:ext>
                </a:extLst>
              </p:cNvPr>
              <p:cNvSpPr>
                <a:spLocks noChangeShapeType="1"/>
              </p:cNvSpPr>
              <p:nvPr/>
            </p:nvSpPr>
            <p:spPr bwMode="auto">
              <a:xfrm>
                <a:off x="1822873" y="392119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1" name="组合 20">
              <a:extLst>
                <a:ext uri="{FF2B5EF4-FFF2-40B4-BE49-F238E27FC236}">
                  <a16:creationId xmlns:a16="http://schemas.microsoft.com/office/drawing/2014/main" id="{7FB70EE7-08E0-0822-F35F-1A96A8DA597B}"/>
                </a:ext>
              </a:extLst>
            </p:cNvPr>
            <p:cNvGrpSpPr/>
            <p:nvPr/>
          </p:nvGrpSpPr>
          <p:grpSpPr>
            <a:xfrm>
              <a:off x="4532161" y="3983738"/>
              <a:ext cx="144780" cy="2380468"/>
              <a:chOff x="4758595" y="3957611"/>
              <a:chExt cx="144780" cy="2380468"/>
            </a:xfrm>
          </p:grpSpPr>
          <p:sp>
            <p:nvSpPr>
              <p:cNvPr id="22" name="Line 9">
                <a:extLst>
                  <a:ext uri="{FF2B5EF4-FFF2-40B4-BE49-F238E27FC236}">
                    <a16:creationId xmlns:a16="http://schemas.microsoft.com/office/drawing/2014/main" id="{E9E98E13-C8CE-A78F-7E47-862E490D842A}"/>
                  </a:ext>
                </a:extLst>
              </p:cNvPr>
              <p:cNvSpPr>
                <a:spLocks noChangeShapeType="1"/>
              </p:cNvSpPr>
              <p:nvPr/>
            </p:nvSpPr>
            <p:spPr bwMode="auto">
              <a:xfrm>
                <a:off x="4903375" y="395761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10">
                <a:extLst>
                  <a:ext uri="{FF2B5EF4-FFF2-40B4-BE49-F238E27FC236}">
                    <a16:creationId xmlns:a16="http://schemas.microsoft.com/office/drawing/2014/main" id="{2851E0BD-9091-D6C9-E409-86E4780E688A}"/>
                  </a:ext>
                </a:extLst>
              </p:cNvPr>
              <p:cNvSpPr>
                <a:spLocks noChangeShapeType="1"/>
              </p:cNvSpPr>
              <p:nvPr/>
            </p:nvSpPr>
            <p:spPr bwMode="auto">
              <a:xfrm>
                <a:off x="4758595" y="633807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11">
                <a:extLst>
                  <a:ext uri="{FF2B5EF4-FFF2-40B4-BE49-F238E27FC236}">
                    <a16:creationId xmlns:a16="http://schemas.microsoft.com/office/drawing/2014/main" id="{1F87ED0A-AB5B-5419-29DC-D79EB3A18131}"/>
                  </a:ext>
                </a:extLst>
              </p:cNvPr>
              <p:cNvSpPr>
                <a:spLocks noChangeShapeType="1"/>
              </p:cNvSpPr>
              <p:nvPr/>
            </p:nvSpPr>
            <p:spPr bwMode="auto">
              <a:xfrm>
                <a:off x="4758595" y="395761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aphicFrame>
        <p:nvGraphicFramePr>
          <p:cNvPr id="28" name="表格 27">
            <a:extLst>
              <a:ext uri="{FF2B5EF4-FFF2-40B4-BE49-F238E27FC236}">
                <a16:creationId xmlns:a16="http://schemas.microsoft.com/office/drawing/2014/main" id="{C7CE7392-26B9-015E-BF52-13277DED4ABB}"/>
              </a:ext>
            </a:extLst>
          </p:cNvPr>
          <p:cNvGraphicFramePr>
            <a:graphicFrameLocks noGrp="1"/>
          </p:cNvGraphicFramePr>
          <p:nvPr/>
        </p:nvGraphicFramePr>
        <p:xfrm>
          <a:off x="5325346" y="3321949"/>
          <a:ext cx="624840" cy="2429690"/>
        </p:xfrm>
        <a:graphic>
          <a:graphicData uri="http://schemas.openxmlformats.org/drawingml/2006/table">
            <a:tbl>
              <a:tblPr firstRow="1" bandRow="1">
                <a:tableStyleId>{2D5ABB26-0587-4C30-8999-92F81FD0307C}</a:tableStyleId>
              </a:tblPr>
              <a:tblGrid>
                <a:gridCol w="624840">
                  <a:extLst>
                    <a:ext uri="{9D8B030D-6E8A-4147-A177-3AD203B41FA5}">
                      <a16:colId xmlns:a16="http://schemas.microsoft.com/office/drawing/2014/main" val="20000"/>
                    </a:ext>
                  </a:extLst>
                </a:gridCol>
              </a:tblGrid>
              <a:tr h="661851">
                <a:tc>
                  <a:txBody>
                    <a:bodyPr/>
                    <a:lstStyle/>
                    <a:p>
                      <a:pPr algn="ctr"/>
                      <a:r>
                        <a:rPr lang="el-GR" altLang="zh-CN" sz="1800" dirty="0"/>
                        <a:t>α</a:t>
                      </a:r>
                      <a:r>
                        <a:rPr lang="en-US" altLang="zh-CN" sz="1800" baseline="-25000" dirty="0"/>
                        <a:t>1</a:t>
                      </a:r>
                      <a:endParaRPr lang="zh-CN" altLang="en-US" dirty="0"/>
                    </a:p>
                  </a:txBody>
                  <a:tcPr/>
                </a:tc>
                <a:extLst>
                  <a:ext uri="{0D108BD9-81ED-4DB2-BD59-A6C34878D82A}">
                    <a16:rowId xmlns:a16="http://schemas.microsoft.com/office/drawing/2014/main" val="10000"/>
                  </a:ext>
                </a:extLst>
              </a:tr>
              <a:tr h="566058">
                <a:tc>
                  <a:txBody>
                    <a:bodyPr/>
                    <a:lstStyle/>
                    <a:p>
                      <a:pPr algn="ctr"/>
                      <a:r>
                        <a:rPr lang="el-GR" altLang="zh-CN" sz="1800" dirty="0"/>
                        <a:t>α</a:t>
                      </a:r>
                      <a:r>
                        <a:rPr lang="en-US" altLang="zh-CN" sz="1800" baseline="-25000" dirty="0"/>
                        <a:t>2</a:t>
                      </a:r>
                      <a:endParaRPr lang="zh-CN" altLang="en-US" dirty="0"/>
                    </a:p>
                  </a:txBody>
                  <a:tcPr/>
                </a:tc>
                <a:extLst>
                  <a:ext uri="{0D108BD9-81ED-4DB2-BD59-A6C34878D82A}">
                    <a16:rowId xmlns:a16="http://schemas.microsoft.com/office/drawing/2014/main" val="10001"/>
                  </a:ext>
                </a:extLst>
              </a:tr>
              <a:tr h="792479">
                <a:tc>
                  <a:txBody>
                    <a:bodyPr/>
                    <a:lstStyle/>
                    <a:p>
                      <a:pPr algn="ctr"/>
                      <a:r>
                        <a:rPr lang="en-US" altLang="zh-CN" sz="1800" dirty="0"/>
                        <a:t>…</a:t>
                      </a:r>
                      <a:endParaRPr lang="zh-CN" altLang="en-US" dirty="0"/>
                    </a:p>
                  </a:txBody>
                  <a:tcPr/>
                </a:tc>
                <a:extLst>
                  <a:ext uri="{0D108BD9-81ED-4DB2-BD59-A6C34878D82A}">
                    <a16:rowId xmlns:a16="http://schemas.microsoft.com/office/drawing/2014/main" val="10002"/>
                  </a:ext>
                </a:extLst>
              </a:tr>
              <a:tr h="409302">
                <a:tc>
                  <a:txBody>
                    <a:bodyPr/>
                    <a:lstStyle/>
                    <a:p>
                      <a:pPr algn="ctr"/>
                      <a:r>
                        <a:rPr lang="el-GR" altLang="zh-CN" sz="1800" dirty="0"/>
                        <a:t>α</a:t>
                      </a:r>
                      <a:r>
                        <a:rPr lang="en-US" altLang="zh-CN" sz="1800" baseline="-25000" dirty="0"/>
                        <a:t>m</a:t>
                      </a:r>
                      <a:endParaRPr lang="zh-CN" altLang="en-US" dirty="0"/>
                    </a:p>
                  </a:txBody>
                  <a:tcPr/>
                </a:tc>
                <a:extLst>
                  <a:ext uri="{0D108BD9-81ED-4DB2-BD59-A6C34878D82A}">
                    <a16:rowId xmlns:a16="http://schemas.microsoft.com/office/drawing/2014/main" val="10003"/>
                  </a:ext>
                </a:extLst>
              </a:tr>
            </a:tbl>
          </a:graphicData>
        </a:graphic>
      </p:graphicFrame>
      <p:sp>
        <p:nvSpPr>
          <p:cNvPr id="33" name="Text Box 12">
            <a:extLst>
              <a:ext uri="{FF2B5EF4-FFF2-40B4-BE49-F238E27FC236}">
                <a16:creationId xmlns:a16="http://schemas.microsoft.com/office/drawing/2014/main" id="{FA6AAF68-8A1B-31B9-11F0-D5D4AD9697CC}"/>
              </a:ext>
            </a:extLst>
          </p:cNvPr>
          <p:cNvSpPr txBox="1">
            <a:spLocks noChangeArrowheads="1"/>
          </p:cNvSpPr>
          <p:nvPr/>
        </p:nvSpPr>
        <p:spPr bwMode="auto">
          <a:xfrm>
            <a:off x="1743865" y="4235342"/>
            <a:ext cx="727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50000"/>
              </a:spcBef>
            </a:pPr>
            <a:r>
              <a:rPr kumimoji="1" lang="en-US" altLang="zh-CN" sz="2800" dirty="0">
                <a:latin typeface="Tahoma" pitchFamily="34" charset="0"/>
                <a:ea typeface="楷体_GB2312" pitchFamily="49" charset="-122"/>
              </a:rPr>
              <a:t>A=</a:t>
            </a:r>
            <a:endParaRPr kumimoji="1" lang="en-US" altLang="zh-CN" sz="2800" baseline="-25000" dirty="0">
              <a:latin typeface="Tahoma" pitchFamily="34" charset="0"/>
              <a:ea typeface="楷体_GB2312" pitchFamily="49" charset="-122"/>
            </a:endParaRPr>
          </a:p>
        </p:txBody>
      </p:sp>
      <p:sp>
        <p:nvSpPr>
          <p:cNvPr id="34" name="矩形 33">
            <a:extLst>
              <a:ext uri="{FF2B5EF4-FFF2-40B4-BE49-F238E27FC236}">
                <a16:creationId xmlns:a16="http://schemas.microsoft.com/office/drawing/2014/main" id="{4F9C93A0-5FA8-5C1D-A4D4-F483CFDAA5AA}"/>
              </a:ext>
            </a:extLst>
          </p:cNvPr>
          <p:cNvSpPr/>
          <p:nvPr/>
        </p:nvSpPr>
        <p:spPr>
          <a:xfrm>
            <a:off x="1127448" y="1814833"/>
            <a:ext cx="9649072" cy="830997"/>
          </a:xfrm>
          <a:prstGeom prst="rect">
            <a:avLst/>
          </a:prstGeom>
        </p:spPr>
        <p:txBody>
          <a:bodyPr wrap="square">
            <a:spAutoFit/>
          </a:bodyPr>
          <a:lstStyle/>
          <a:p>
            <a:pPr>
              <a:spcBef>
                <a:spcPct val="20000"/>
              </a:spcBef>
              <a:buClr>
                <a:schemeClr val="folHlink"/>
              </a:buClr>
              <a:buSzPct val="80000"/>
            </a:pPr>
            <a:r>
              <a:rPr lang="en-US" altLang="zh-CN" sz="2400" dirty="0">
                <a:latin typeface="微软雅黑" pitchFamily="34" charset="-122"/>
                <a:ea typeface="微软雅黑" pitchFamily="34" charset="-122"/>
                <a:cs typeface="经典粗黑简" pitchFamily="49" charset="-122"/>
              </a:rPr>
              <a:t>m ╳ n</a:t>
            </a:r>
            <a:r>
              <a:rPr lang="zh-CN" altLang="en-US" sz="2400" dirty="0">
                <a:latin typeface="微软雅黑" pitchFamily="34" charset="-122"/>
                <a:ea typeface="微软雅黑" pitchFamily="34" charset="-122"/>
                <a:cs typeface="经典粗黑简" pitchFamily="49" charset="-122"/>
              </a:rPr>
              <a:t>的二维数组（矩阵）</a:t>
            </a:r>
            <a:r>
              <a:rPr lang="en-US" altLang="zh-CN" sz="2400" dirty="0">
                <a:latin typeface="微软雅黑" pitchFamily="34" charset="-122"/>
                <a:ea typeface="微软雅黑" pitchFamily="34" charset="-122"/>
                <a:cs typeface="经典粗黑简" pitchFamily="49" charset="-122"/>
              </a:rPr>
              <a:t>A</a:t>
            </a:r>
            <a:r>
              <a:rPr lang="zh-CN" altLang="en-US" sz="2400" dirty="0">
                <a:latin typeface="微软雅黑" pitchFamily="34" charset="-122"/>
                <a:ea typeface="微软雅黑" pitchFamily="34" charset="-122"/>
                <a:cs typeface="经典粗黑简" pitchFamily="49" charset="-122"/>
              </a:rPr>
              <a:t>可以看成是由</a:t>
            </a:r>
            <a:r>
              <a:rPr lang="en-US" altLang="zh-CN" sz="2400" dirty="0">
                <a:latin typeface="微软雅黑" pitchFamily="34" charset="-122"/>
                <a:ea typeface="微软雅黑" pitchFamily="34" charset="-122"/>
                <a:cs typeface="经典粗黑简" pitchFamily="49" charset="-122"/>
              </a:rPr>
              <a:t>m</a:t>
            </a:r>
            <a:r>
              <a:rPr lang="zh-CN" altLang="en-US" sz="2400" dirty="0">
                <a:latin typeface="微软雅黑" pitchFamily="34" charset="-122"/>
                <a:ea typeface="微软雅黑" pitchFamily="34" charset="-122"/>
                <a:cs typeface="经典粗黑简" pitchFamily="49" charset="-122"/>
              </a:rPr>
              <a:t>个行向量组成的向量，也可以看成是</a:t>
            </a:r>
            <a:r>
              <a:rPr lang="en-US" altLang="zh-CN" sz="2400" dirty="0">
                <a:latin typeface="微软雅黑" pitchFamily="34" charset="-122"/>
                <a:ea typeface="微软雅黑" pitchFamily="34" charset="-122"/>
                <a:cs typeface="经典粗黑简" pitchFamily="49" charset="-122"/>
              </a:rPr>
              <a:t>n</a:t>
            </a:r>
            <a:r>
              <a:rPr lang="zh-CN" altLang="en-US" sz="2400" dirty="0">
                <a:latin typeface="微软雅黑" pitchFamily="34" charset="-122"/>
                <a:ea typeface="微软雅黑" pitchFamily="34" charset="-122"/>
                <a:cs typeface="经典粗黑简" pitchFamily="49" charset="-122"/>
              </a:rPr>
              <a:t>个列向量组成的向量。</a:t>
            </a:r>
          </a:p>
        </p:txBody>
      </p:sp>
      <p:sp>
        <p:nvSpPr>
          <p:cNvPr id="35" name="Text Box 12">
            <a:extLst>
              <a:ext uri="{FF2B5EF4-FFF2-40B4-BE49-F238E27FC236}">
                <a16:creationId xmlns:a16="http://schemas.microsoft.com/office/drawing/2014/main" id="{894163DF-2DDF-E4FE-2622-7E3913F56591}"/>
              </a:ext>
            </a:extLst>
          </p:cNvPr>
          <p:cNvSpPr txBox="1">
            <a:spLocks noChangeArrowheads="1"/>
          </p:cNvSpPr>
          <p:nvPr/>
        </p:nvSpPr>
        <p:spPr bwMode="auto">
          <a:xfrm>
            <a:off x="6006067" y="4120522"/>
            <a:ext cx="39994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800" dirty="0">
                <a:latin typeface="Tahoma" pitchFamily="34" charset="0"/>
                <a:ea typeface="楷体_GB2312" pitchFamily="49" charset="-122"/>
              </a:rPr>
              <a:t>A=(</a:t>
            </a:r>
            <a:r>
              <a:rPr lang="el-GR" altLang="zh-CN" sz="2800" dirty="0"/>
              <a:t>α</a:t>
            </a:r>
            <a:r>
              <a:rPr lang="en-US" altLang="zh-CN" sz="2800" baseline="-25000" dirty="0"/>
              <a:t>1,</a:t>
            </a:r>
            <a:r>
              <a:rPr lang="el-GR" altLang="zh-CN" sz="2800" dirty="0"/>
              <a:t> α</a:t>
            </a:r>
            <a:r>
              <a:rPr lang="en-US" altLang="zh-CN" sz="2800" baseline="-25000" dirty="0"/>
              <a:t>2,</a:t>
            </a:r>
            <a:r>
              <a:rPr lang="el-GR" altLang="zh-CN" sz="2800" dirty="0"/>
              <a:t> </a:t>
            </a:r>
            <a:r>
              <a:rPr lang="en-US" altLang="zh-CN" sz="2800" dirty="0"/>
              <a:t>…,</a:t>
            </a:r>
            <a:r>
              <a:rPr lang="el-GR" altLang="zh-CN" sz="2800" dirty="0"/>
              <a:t>α</a:t>
            </a:r>
            <a:r>
              <a:rPr lang="en-US" altLang="zh-CN" sz="2800" baseline="-25000" dirty="0"/>
              <a:t>i,</a:t>
            </a:r>
            <a:r>
              <a:rPr lang="el-GR" altLang="zh-CN" sz="2800" dirty="0"/>
              <a:t> </a:t>
            </a:r>
            <a:r>
              <a:rPr lang="en-US" altLang="zh-CN" sz="2800" dirty="0"/>
              <a:t>…, </a:t>
            </a:r>
            <a:r>
              <a:rPr lang="el-GR" altLang="zh-CN" sz="2800" dirty="0"/>
              <a:t>α</a:t>
            </a:r>
            <a:r>
              <a:rPr lang="en-US" altLang="zh-CN" sz="2800" baseline="-25000" dirty="0"/>
              <a:t>m</a:t>
            </a:r>
            <a:r>
              <a:rPr kumimoji="1" lang="en-US" altLang="zh-CN" sz="2800" dirty="0">
                <a:latin typeface="Tahoma" pitchFamily="34" charset="0"/>
                <a:ea typeface="楷体_GB2312" pitchFamily="49" charset="-122"/>
              </a:rPr>
              <a:t>)</a:t>
            </a:r>
            <a:endParaRPr kumimoji="1" lang="en-US" altLang="zh-CN" sz="2800" baseline="-25000" dirty="0">
              <a:latin typeface="Tahoma" pitchFamily="34" charset="0"/>
              <a:ea typeface="楷体_GB2312" pitchFamily="49" charset="-122"/>
            </a:endParaRPr>
          </a:p>
        </p:txBody>
      </p:sp>
      <p:sp>
        <p:nvSpPr>
          <p:cNvPr id="36" name="Text Box 12">
            <a:extLst>
              <a:ext uri="{FF2B5EF4-FFF2-40B4-BE49-F238E27FC236}">
                <a16:creationId xmlns:a16="http://schemas.microsoft.com/office/drawing/2014/main" id="{5322FF4B-0F6E-AB60-421C-AE49B43F9118}"/>
              </a:ext>
            </a:extLst>
          </p:cNvPr>
          <p:cNvSpPr txBox="1">
            <a:spLocks noChangeArrowheads="1"/>
          </p:cNvSpPr>
          <p:nvPr/>
        </p:nvSpPr>
        <p:spPr bwMode="auto">
          <a:xfrm>
            <a:off x="7407342" y="5247976"/>
            <a:ext cx="31674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l-GR" altLang="zh-CN" sz="2800" dirty="0"/>
              <a:t>α</a:t>
            </a:r>
            <a:r>
              <a:rPr lang="en-US" altLang="zh-CN" sz="2800" baseline="-25000" dirty="0"/>
              <a:t>i </a:t>
            </a: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i1, </a:t>
            </a: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i2, </a:t>
            </a:r>
            <a:r>
              <a:rPr lang="en-US" altLang="zh-CN" sz="2800" dirty="0"/>
              <a:t>…, </a:t>
            </a:r>
            <a:r>
              <a:rPr kumimoji="1" lang="en-US" altLang="zh-CN" sz="2800" dirty="0" err="1">
                <a:latin typeface="Tahoma" pitchFamily="34" charset="0"/>
                <a:ea typeface="楷体_GB2312" pitchFamily="49" charset="-122"/>
              </a:rPr>
              <a:t>a</a:t>
            </a:r>
            <a:r>
              <a:rPr kumimoji="1" lang="en-US" altLang="zh-CN" sz="2800" baseline="-20000" dirty="0" err="1">
                <a:latin typeface="Tahoma" pitchFamily="34" charset="0"/>
                <a:ea typeface="楷体_GB2312" pitchFamily="49" charset="-122"/>
              </a:rPr>
              <a:t>in</a:t>
            </a:r>
            <a:r>
              <a:rPr kumimoji="1" lang="en-US" altLang="zh-CN" sz="2800" baseline="-20000" dirty="0">
                <a:latin typeface="Tahoma" pitchFamily="34" charset="0"/>
                <a:ea typeface="楷体_GB2312" pitchFamily="49" charset="-122"/>
              </a:rPr>
              <a:t> </a:t>
            </a:r>
            <a:r>
              <a:rPr kumimoji="1" lang="en-US" altLang="zh-CN" sz="2800" dirty="0">
                <a:latin typeface="Tahoma" pitchFamily="34" charset="0"/>
                <a:ea typeface="楷体_GB2312" pitchFamily="49" charset="-122"/>
              </a:rPr>
              <a:t>)</a:t>
            </a:r>
            <a:endParaRPr kumimoji="1" lang="en-US" altLang="zh-CN" sz="2800" baseline="-25000" dirty="0">
              <a:latin typeface="Tahoma" pitchFamily="34" charset="0"/>
              <a:ea typeface="楷体_GB2312" pitchFamily="49" charset="-122"/>
            </a:endParaRPr>
          </a:p>
        </p:txBody>
      </p:sp>
      <p:sp>
        <p:nvSpPr>
          <p:cNvPr id="37" name="Text Box 12">
            <a:extLst>
              <a:ext uri="{FF2B5EF4-FFF2-40B4-BE49-F238E27FC236}">
                <a16:creationId xmlns:a16="http://schemas.microsoft.com/office/drawing/2014/main" id="{CA36820A-438F-7E5D-58EB-36D9A6661B6A}"/>
              </a:ext>
            </a:extLst>
          </p:cNvPr>
          <p:cNvSpPr txBox="1">
            <a:spLocks noChangeArrowheads="1"/>
          </p:cNvSpPr>
          <p:nvPr/>
        </p:nvSpPr>
        <p:spPr bwMode="auto">
          <a:xfrm>
            <a:off x="6596447" y="4761179"/>
            <a:ext cx="31674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其中：</a:t>
            </a:r>
            <a:r>
              <a:rPr lang="en-US" altLang="zh-CN" sz="2400" dirty="0"/>
              <a:t>1</a:t>
            </a:r>
            <a:r>
              <a:rPr lang="en-US" altLang="zh-CN" sz="2400" dirty="0">
                <a:latin typeface="微软雅黑" pitchFamily="34" charset="-122"/>
                <a:ea typeface="微软雅黑" pitchFamily="34" charset="-122"/>
                <a:cs typeface="经典粗黑简" pitchFamily="49" charset="-122"/>
              </a:rPr>
              <a:t>≤ </a:t>
            </a:r>
            <a:r>
              <a:rPr lang="en-US" altLang="zh-CN" sz="2400" dirty="0"/>
              <a:t>i</a:t>
            </a:r>
            <a:r>
              <a:rPr lang="en-US" altLang="zh-CN" sz="2400" dirty="0">
                <a:latin typeface="微软雅黑" pitchFamily="34" charset="-122"/>
                <a:ea typeface="微软雅黑" pitchFamily="34" charset="-122"/>
                <a:cs typeface="经典粗黑简" pitchFamily="49" charset="-122"/>
              </a:rPr>
              <a:t> ≤m</a:t>
            </a:r>
            <a:endParaRPr kumimoji="1" lang="en-US" altLang="zh-CN" sz="2400" baseline="-25000" dirty="0">
              <a:latin typeface="Tahoma" pitchFamily="34" charset="0"/>
              <a:ea typeface="楷体_GB2312" pitchFamily="49" charset="-122"/>
            </a:endParaRPr>
          </a:p>
        </p:txBody>
      </p:sp>
      <p:sp>
        <p:nvSpPr>
          <p:cNvPr id="42" name="椭圆 41">
            <a:extLst>
              <a:ext uri="{FF2B5EF4-FFF2-40B4-BE49-F238E27FC236}">
                <a16:creationId xmlns:a16="http://schemas.microsoft.com/office/drawing/2014/main" id="{E75CD259-5A14-26E7-2993-29E7622493B8}"/>
              </a:ext>
            </a:extLst>
          </p:cNvPr>
          <p:cNvSpPr/>
          <p:nvPr/>
        </p:nvSpPr>
        <p:spPr>
          <a:xfrm>
            <a:off x="2350931" y="3311656"/>
            <a:ext cx="3095897" cy="5273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68AEFDFB-4E90-B367-EDE8-8F14795B3F09}"/>
              </a:ext>
            </a:extLst>
          </p:cNvPr>
          <p:cNvSpPr/>
          <p:nvPr/>
        </p:nvSpPr>
        <p:spPr>
          <a:xfrm>
            <a:off x="2350931" y="3958754"/>
            <a:ext cx="3095897" cy="5273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04D10C2B-9120-7941-6752-9AADEBAF35CA}"/>
              </a:ext>
            </a:extLst>
          </p:cNvPr>
          <p:cNvSpPr/>
          <p:nvPr/>
        </p:nvSpPr>
        <p:spPr>
          <a:xfrm>
            <a:off x="2350931" y="5217262"/>
            <a:ext cx="3095897" cy="5273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679B37A8-12EC-04D3-0B54-57EA6D2A5542}"/>
              </a:ext>
            </a:extLst>
          </p:cNvPr>
          <p:cNvSpPr/>
          <p:nvPr/>
        </p:nvSpPr>
        <p:spPr>
          <a:xfrm>
            <a:off x="2350931" y="4598954"/>
            <a:ext cx="3095897" cy="5273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A66CCE35-12E7-9DA4-7192-3804A8FCA8A2}"/>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5">
            <a:extLst>
              <a:ext uri="{FF2B5EF4-FFF2-40B4-BE49-F238E27FC236}">
                <a16:creationId xmlns:a16="http://schemas.microsoft.com/office/drawing/2014/main" id="{561EC9F1-715A-CA4D-A1B8-35B93CE42E2E}"/>
              </a:ext>
            </a:extLst>
          </p:cNvPr>
          <p:cNvSpPr txBox="1">
            <a:spLocks noChangeArrowheads="1"/>
          </p:cNvSpPr>
          <p:nvPr/>
        </p:nvSpPr>
        <p:spPr bwMode="auto">
          <a:xfrm>
            <a:off x="5932256" y="6093296"/>
            <a:ext cx="5196933" cy="525657"/>
          </a:xfrm>
          <a:prstGeom prst="rect">
            <a:avLst/>
          </a:prstGeom>
          <a:noFill/>
          <a:ln w="9525">
            <a:noFill/>
            <a:miter lim="800000"/>
            <a:headEnd/>
            <a:tailEnd/>
          </a:ln>
          <a:effectLst/>
        </p:spPr>
        <p:txBody>
          <a:bodyPr wrap="square">
            <a:spAutoFit/>
          </a:bodyPr>
          <a:lstStyle/>
          <a:p>
            <a:pPr algn="l">
              <a:lnSpc>
                <a:spcPct val="130000"/>
              </a:lnSpc>
            </a:pPr>
            <a:r>
              <a:rPr lang="zh-CN" altLang="en-US" sz="2400" dirty="0">
                <a:latin typeface="微软雅黑" pitchFamily="34" charset="-122"/>
                <a:ea typeface="微软雅黑" pitchFamily="34" charset="-122"/>
                <a:cs typeface="经典粗黑简" pitchFamily="49" charset="-122"/>
              </a:rPr>
              <a:t>由此看出，多维数组是线性表的推广。</a:t>
            </a:r>
          </a:p>
        </p:txBody>
      </p:sp>
    </p:spTree>
    <p:extLst>
      <p:ext uri="{BB962C8B-B14F-4D97-AF65-F5344CB8AC3E}">
        <p14:creationId xmlns:p14="http://schemas.microsoft.com/office/powerpoint/2010/main" val="3412119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7" grpId="0"/>
      <p:bldP spid="42" grpId="0" animBg="1"/>
      <p:bldP spid="43" grpId="0" animBg="1"/>
      <p:bldP spid="44" grpId="0" animBg="1"/>
      <p:bldP spid="45"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91C30-A651-2A48-6EB6-4E2B3ED38510}"/>
            </a:ext>
          </a:extLst>
        </p:cNvPr>
        <p:cNvGrpSpPr/>
        <p:nvPr/>
      </p:nvGrpSpPr>
      <p:grpSpPr>
        <a:xfrm>
          <a:off x="0" y="0"/>
          <a:ext cx="0" cy="0"/>
          <a:chOff x="0" y="0"/>
          <a:chExt cx="0" cy="0"/>
        </a:xfrm>
      </p:grpSpPr>
      <p:sp>
        <p:nvSpPr>
          <p:cNvPr id="13" name="Rectangle 3">
            <a:extLst>
              <a:ext uri="{FF2B5EF4-FFF2-40B4-BE49-F238E27FC236}">
                <a16:creationId xmlns:a16="http://schemas.microsoft.com/office/drawing/2014/main" id="{54C9490C-CAF2-8196-1AED-266002258382}"/>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6.1.1 </a:t>
            </a:r>
            <a:r>
              <a:rPr lang="zh-CN" altLang="en-US" sz="2800" b="1" dirty="0">
                <a:solidFill>
                  <a:schemeClr val="bg1"/>
                </a:solidFill>
                <a:latin typeface="经典粗黑简" pitchFamily="49" charset="-122"/>
                <a:ea typeface="经典粗黑简" pitchFamily="49" charset="-122"/>
                <a:cs typeface="经典粗黑简" pitchFamily="49" charset="-122"/>
              </a:rPr>
              <a:t>数组的基本概念</a:t>
            </a:r>
          </a:p>
        </p:txBody>
      </p:sp>
      <p:sp>
        <p:nvSpPr>
          <p:cNvPr id="7" name="Rectangle 2">
            <a:extLst>
              <a:ext uri="{FF2B5EF4-FFF2-40B4-BE49-F238E27FC236}">
                <a16:creationId xmlns:a16="http://schemas.microsoft.com/office/drawing/2014/main" id="{2D2AAA4E-BB40-E119-6B19-14F568D61673}"/>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29" name="直接连接符 28">
            <a:extLst>
              <a:ext uri="{FF2B5EF4-FFF2-40B4-BE49-F238E27FC236}">
                <a16:creationId xmlns:a16="http://schemas.microsoft.com/office/drawing/2014/main" id="{5BB2B288-A181-5D75-4025-58E1C6E2E10C}"/>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C526111C-5574-D5BE-938E-2CEC48049AEF}"/>
              </a:ext>
            </a:extLst>
          </p:cNvPr>
          <p:cNvGrpSpPr/>
          <p:nvPr/>
        </p:nvGrpSpPr>
        <p:grpSpPr>
          <a:xfrm>
            <a:off x="2495601" y="3334438"/>
            <a:ext cx="2854069" cy="2462606"/>
            <a:chOff x="1822873" y="3916542"/>
            <a:chExt cx="2854069" cy="2462606"/>
          </a:xfrm>
        </p:grpSpPr>
        <p:sp>
          <p:nvSpPr>
            <p:cNvPr id="3" name="Rectangle 5">
              <a:extLst>
                <a:ext uri="{FF2B5EF4-FFF2-40B4-BE49-F238E27FC236}">
                  <a16:creationId xmlns:a16="http://schemas.microsoft.com/office/drawing/2014/main" id="{61877EB6-B51D-B3F1-708A-A156DAE701F4}"/>
                </a:ext>
              </a:extLst>
            </p:cNvPr>
            <p:cNvSpPr>
              <a:spLocks noChangeArrowheads="1"/>
            </p:cNvSpPr>
            <p:nvPr/>
          </p:nvSpPr>
          <p:spPr bwMode="auto">
            <a:xfrm>
              <a:off x="1895264" y="3916542"/>
              <a:ext cx="2781678" cy="2462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11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1n</a:t>
              </a: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21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2n</a:t>
              </a:r>
            </a:p>
            <a:p>
              <a:pPr algn="l">
                <a:spcBef>
                  <a:spcPct val="50000"/>
                </a:spcBef>
                <a:buClr>
                  <a:schemeClr val="folHlink"/>
                </a:buClr>
                <a:buSzPct val="60000"/>
                <a:buFont typeface="Wingdings" pitchFamily="2" charset="2"/>
                <a:buNone/>
              </a:pP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10000" dirty="0" err="1">
                  <a:latin typeface="Tahoma" pitchFamily="34" charset="0"/>
                  <a:ea typeface="楷体_GB2312" pitchFamily="49" charset="-122"/>
                </a:rPr>
                <a:t>ij</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endParaRPr kumimoji="1" lang="en-US" altLang="zh-CN" sz="2800" dirty="0">
                <a:latin typeface="Tahoma" pitchFamily="34" charset="0"/>
                <a:ea typeface="楷体_GB2312" pitchFamily="49" charset="-122"/>
              </a:endParaRP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10000" dirty="0">
                  <a:latin typeface="Tahoma" pitchFamily="34" charset="0"/>
                  <a:ea typeface="楷体_GB2312" pitchFamily="49" charset="-122"/>
                </a:rPr>
                <a:t>m</a:t>
              </a:r>
              <a:r>
                <a:rPr kumimoji="1" lang="en-US" altLang="zh-CN" sz="2800" baseline="-20000" dirty="0">
                  <a:latin typeface="Tahoma" pitchFamily="34" charset="0"/>
                  <a:ea typeface="楷体_GB2312" pitchFamily="49" charset="-122"/>
                </a:rPr>
                <a:t>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m2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20000" dirty="0" err="1">
                  <a:latin typeface="Tahoma" pitchFamily="34" charset="0"/>
                  <a:ea typeface="楷体_GB2312" pitchFamily="49" charset="-122"/>
                </a:rPr>
                <a:t>mn</a:t>
              </a:r>
              <a:endParaRPr kumimoji="1" lang="en-US" altLang="zh-CN" sz="2800" baseline="-20000" dirty="0">
                <a:latin typeface="Tahoma" pitchFamily="34" charset="0"/>
                <a:ea typeface="楷体_GB2312" pitchFamily="49" charset="-122"/>
              </a:endParaRPr>
            </a:p>
          </p:txBody>
        </p:sp>
        <p:grpSp>
          <p:nvGrpSpPr>
            <p:cNvPr id="4" name="组合 3">
              <a:extLst>
                <a:ext uri="{FF2B5EF4-FFF2-40B4-BE49-F238E27FC236}">
                  <a16:creationId xmlns:a16="http://schemas.microsoft.com/office/drawing/2014/main" id="{CE2306E6-F637-D773-0B5A-384F22283F69}"/>
                </a:ext>
              </a:extLst>
            </p:cNvPr>
            <p:cNvGrpSpPr/>
            <p:nvPr/>
          </p:nvGrpSpPr>
          <p:grpSpPr>
            <a:xfrm>
              <a:off x="1822873" y="3973445"/>
              <a:ext cx="144780" cy="2380468"/>
              <a:chOff x="1822873" y="3921191"/>
              <a:chExt cx="144780" cy="2380468"/>
            </a:xfrm>
          </p:grpSpPr>
          <p:sp>
            <p:nvSpPr>
              <p:cNvPr id="10" name="Line 6">
                <a:extLst>
                  <a:ext uri="{FF2B5EF4-FFF2-40B4-BE49-F238E27FC236}">
                    <a16:creationId xmlns:a16="http://schemas.microsoft.com/office/drawing/2014/main" id="{4332EF7A-CCA4-F3D7-2E99-AF6E25CFC8DD}"/>
                  </a:ext>
                </a:extLst>
              </p:cNvPr>
              <p:cNvSpPr>
                <a:spLocks noChangeShapeType="1"/>
              </p:cNvSpPr>
              <p:nvPr/>
            </p:nvSpPr>
            <p:spPr bwMode="auto">
              <a:xfrm>
                <a:off x="1822873" y="392119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 name="Line 7">
                <a:extLst>
                  <a:ext uri="{FF2B5EF4-FFF2-40B4-BE49-F238E27FC236}">
                    <a16:creationId xmlns:a16="http://schemas.microsoft.com/office/drawing/2014/main" id="{78E3BFB1-B20C-DE9E-1B11-250774FD98E0}"/>
                  </a:ext>
                </a:extLst>
              </p:cNvPr>
              <p:cNvSpPr>
                <a:spLocks noChangeShapeType="1"/>
              </p:cNvSpPr>
              <p:nvPr/>
            </p:nvSpPr>
            <p:spPr bwMode="auto">
              <a:xfrm>
                <a:off x="1822873" y="630165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 name="Line 8">
                <a:extLst>
                  <a:ext uri="{FF2B5EF4-FFF2-40B4-BE49-F238E27FC236}">
                    <a16:creationId xmlns:a16="http://schemas.microsoft.com/office/drawing/2014/main" id="{5D5B6CBC-2D19-8E38-6A02-1C7BF3D1AE92}"/>
                  </a:ext>
                </a:extLst>
              </p:cNvPr>
              <p:cNvSpPr>
                <a:spLocks noChangeShapeType="1"/>
              </p:cNvSpPr>
              <p:nvPr/>
            </p:nvSpPr>
            <p:spPr bwMode="auto">
              <a:xfrm>
                <a:off x="1822873" y="392119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 name="组合 4">
              <a:extLst>
                <a:ext uri="{FF2B5EF4-FFF2-40B4-BE49-F238E27FC236}">
                  <a16:creationId xmlns:a16="http://schemas.microsoft.com/office/drawing/2014/main" id="{5EF93EB8-F391-0EC9-5D6E-F25E675B1567}"/>
                </a:ext>
              </a:extLst>
            </p:cNvPr>
            <p:cNvGrpSpPr/>
            <p:nvPr/>
          </p:nvGrpSpPr>
          <p:grpSpPr>
            <a:xfrm>
              <a:off x="4532161" y="3983738"/>
              <a:ext cx="144780" cy="2380468"/>
              <a:chOff x="4758595" y="3957611"/>
              <a:chExt cx="144780" cy="2380468"/>
            </a:xfrm>
          </p:grpSpPr>
          <p:sp>
            <p:nvSpPr>
              <p:cNvPr id="6" name="Line 9">
                <a:extLst>
                  <a:ext uri="{FF2B5EF4-FFF2-40B4-BE49-F238E27FC236}">
                    <a16:creationId xmlns:a16="http://schemas.microsoft.com/office/drawing/2014/main" id="{A822F9FE-358E-FA95-B2B7-211C20B5187E}"/>
                  </a:ext>
                </a:extLst>
              </p:cNvPr>
              <p:cNvSpPr>
                <a:spLocks noChangeShapeType="1"/>
              </p:cNvSpPr>
              <p:nvPr/>
            </p:nvSpPr>
            <p:spPr bwMode="auto">
              <a:xfrm>
                <a:off x="4903375" y="395761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 name="Line 10">
                <a:extLst>
                  <a:ext uri="{FF2B5EF4-FFF2-40B4-BE49-F238E27FC236}">
                    <a16:creationId xmlns:a16="http://schemas.microsoft.com/office/drawing/2014/main" id="{165FD95F-F8E5-893B-7178-60CC20AA47DF}"/>
                  </a:ext>
                </a:extLst>
              </p:cNvPr>
              <p:cNvSpPr>
                <a:spLocks noChangeShapeType="1"/>
              </p:cNvSpPr>
              <p:nvPr/>
            </p:nvSpPr>
            <p:spPr bwMode="auto">
              <a:xfrm>
                <a:off x="4758595" y="633807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 name="Line 11">
                <a:extLst>
                  <a:ext uri="{FF2B5EF4-FFF2-40B4-BE49-F238E27FC236}">
                    <a16:creationId xmlns:a16="http://schemas.microsoft.com/office/drawing/2014/main" id="{97A420EF-9757-CF03-1A58-615E5971E194}"/>
                  </a:ext>
                </a:extLst>
              </p:cNvPr>
              <p:cNvSpPr>
                <a:spLocks noChangeShapeType="1"/>
              </p:cNvSpPr>
              <p:nvPr/>
            </p:nvSpPr>
            <p:spPr bwMode="auto">
              <a:xfrm>
                <a:off x="4758595" y="395761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4" name="Text Box 12">
            <a:extLst>
              <a:ext uri="{FF2B5EF4-FFF2-40B4-BE49-F238E27FC236}">
                <a16:creationId xmlns:a16="http://schemas.microsoft.com/office/drawing/2014/main" id="{3497D480-A4E1-285F-FDE3-AB1BCF3106CB}"/>
              </a:ext>
            </a:extLst>
          </p:cNvPr>
          <p:cNvSpPr txBox="1">
            <a:spLocks noChangeArrowheads="1"/>
          </p:cNvSpPr>
          <p:nvPr/>
        </p:nvSpPr>
        <p:spPr bwMode="auto">
          <a:xfrm>
            <a:off x="1768188" y="4315027"/>
            <a:ext cx="727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50000"/>
              </a:spcBef>
            </a:pPr>
            <a:r>
              <a:rPr kumimoji="1" lang="en-US" altLang="zh-CN" sz="2800" dirty="0">
                <a:latin typeface="Tahoma" pitchFamily="34" charset="0"/>
                <a:ea typeface="楷体_GB2312" pitchFamily="49" charset="-122"/>
              </a:rPr>
              <a:t>A=</a:t>
            </a:r>
            <a:endParaRPr kumimoji="1" lang="en-US" altLang="zh-CN" sz="2800" baseline="-25000" dirty="0">
              <a:latin typeface="Tahoma" pitchFamily="34" charset="0"/>
              <a:ea typeface="楷体_GB2312" pitchFamily="49" charset="-122"/>
            </a:endParaRPr>
          </a:p>
        </p:txBody>
      </p:sp>
      <p:graphicFrame>
        <p:nvGraphicFramePr>
          <p:cNvPr id="15" name="表格 14">
            <a:extLst>
              <a:ext uri="{FF2B5EF4-FFF2-40B4-BE49-F238E27FC236}">
                <a16:creationId xmlns:a16="http://schemas.microsoft.com/office/drawing/2014/main" id="{2B66A16C-6E42-1743-848F-3504A975966B}"/>
              </a:ext>
            </a:extLst>
          </p:cNvPr>
          <p:cNvGraphicFramePr>
            <a:graphicFrameLocks noGrp="1"/>
          </p:cNvGraphicFramePr>
          <p:nvPr/>
        </p:nvGraphicFramePr>
        <p:xfrm>
          <a:off x="2501525" y="2818222"/>
          <a:ext cx="2781680" cy="370840"/>
        </p:xfrm>
        <a:graphic>
          <a:graphicData uri="http://schemas.openxmlformats.org/drawingml/2006/table">
            <a:tbl>
              <a:tblPr firstRow="1" bandRow="1">
                <a:tableStyleId>{2D5ABB26-0587-4C30-8999-92F81FD0307C}</a:tableStyleId>
              </a:tblPr>
              <a:tblGrid>
                <a:gridCol w="663758">
                  <a:extLst>
                    <a:ext uri="{9D8B030D-6E8A-4147-A177-3AD203B41FA5}">
                      <a16:colId xmlns:a16="http://schemas.microsoft.com/office/drawing/2014/main" val="20000"/>
                    </a:ext>
                  </a:extLst>
                </a:gridCol>
                <a:gridCol w="741129">
                  <a:extLst>
                    <a:ext uri="{9D8B030D-6E8A-4147-A177-3AD203B41FA5}">
                      <a16:colId xmlns:a16="http://schemas.microsoft.com/office/drawing/2014/main" val="20001"/>
                    </a:ext>
                  </a:extLst>
                </a:gridCol>
                <a:gridCol w="603986">
                  <a:extLst>
                    <a:ext uri="{9D8B030D-6E8A-4147-A177-3AD203B41FA5}">
                      <a16:colId xmlns:a16="http://schemas.microsoft.com/office/drawing/2014/main" val="20002"/>
                    </a:ext>
                  </a:extLst>
                </a:gridCol>
                <a:gridCol w="772807">
                  <a:extLst>
                    <a:ext uri="{9D8B030D-6E8A-4147-A177-3AD203B41FA5}">
                      <a16:colId xmlns:a16="http://schemas.microsoft.com/office/drawing/2014/main" val="20003"/>
                    </a:ext>
                  </a:extLst>
                </a:gridCol>
              </a:tblGrid>
              <a:tr h="370840">
                <a:tc>
                  <a:txBody>
                    <a:bodyPr/>
                    <a:lstStyle/>
                    <a:p>
                      <a:pPr algn="ctr"/>
                      <a:r>
                        <a:rPr lang="el-GR" altLang="zh-CN" dirty="0"/>
                        <a:t>β</a:t>
                      </a:r>
                      <a:r>
                        <a:rPr lang="en-US" altLang="zh-CN" baseline="-25000" dirty="0"/>
                        <a:t>1</a:t>
                      </a:r>
                      <a:endParaRPr lang="zh-CN" altLang="en-US"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dirty="0"/>
                        <a:t>β</a:t>
                      </a:r>
                      <a:r>
                        <a:rPr lang="en-US" altLang="zh-CN" baseline="-25000" dirty="0"/>
                        <a:t>2</a:t>
                      </a:r>
                      <a:endParaRPr lang="zh-CN" altLang="en-US" baseline="-25000" dirty="0"/>
                    </a:p>
                  </a:txBody>
                  <a:tcPr/>
                </a:tc>
                <a:tc>
                  <a:txBody>
                    <a:bodyPr/>
                    <a:lstStyle/>
                    <a:p>
                      <a:pPr algn="ctr"/>
                      <a:endParaRPr lang="zh-CN"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dirty="0"/>
                        <a:t>β</a:t>
                      </a:r>
                      <a:r>
                        <a:rPr lang="en-US" altLang="zh-CN" baseline="-25000" dirty="0"/>
                        <a:t>n</a:t>
                      </a:r>
                      <a:endParaRPr lang="zh-CN" altLang="en-US" baseline="-25000" dirty="0"/>
                    </a:p>
                  </a:txBody>
                  <a:tcPr/>
                </a:tc>
                <a:extLst>
                  <a:ext uri="{0D108BD9-81ED-4DB2-BD59-A6C34878D82A}">
                    <a16:rowId xmlns:a16="http://schemas.microsoft.com/office/drawing/2014/main" val="10000"/>
                  </a:ext>
                </a:extLst>
              </a:tr>
            </a:tbl>
          </a:graphicData>
        </a:graphic>
      </p:graphicFrame>
      <p:sp>
        <p:nvSpPr>
          <p:cNvPr id="16" name="Text Box 12">
            <a:extLst>
              <a:ext uri="{FF2B5EF4-FFF2-40B4-BE49-F238E27FC236}">
                <a16:creationId xmlns:a16="http://schemas.microsoft.com/office/drawing/2014/main" id="{C755328B-B2E3-1527-8DA6-E92578E75B9E}"/>
              </a:ext>
            </a:extLst>
          </p:cNvPr>
          <p:cNvSpPr txBox="1">
            <a:spLocks noChangeArrowheads="1"/>
          </p:cNvSpPr>
          <p:nvPr/>
        </p:nvSpPr>
        <p:spPr bwMode="auto">
          <a:xfrm>
            <a:off x="5858981" y="3868692"/>
            <a:ext cx="39994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800" dirty="0">
                <a:latin typeface="Tahoma" pitchFamily="34" charset="0"/>
                <a:ea typeface="楷体_GB2312" pitchFamily="49" charset="-122"/>
              </a:rPr>
              <a:t>A=(</a:t>
            </a:r>
            <a:r>
              <a:rPr lang="el-GR" altLang="zh-CN" sz="2800" dirty="0"/>
              <a:t>β</a:t>
            </a:r>
            <a:r>
              <a:rPr lang="en-US" altLang="zh-CN" sz="2800" baseline="-25000" dirty="0"/>
              <a:t>1,</a:t>
            </a:r>
            <a:r>
              <a:rPr lang="el-GR" altLang="zh-CN" sz="2800" dirty="0"/>
              <a:t> β</a:t>
            </a:r>
            <a:r>
              <a:rPr lang="en-US" altLang="zh-CN" sz="2800" baseline="-25000" dirty="0"/>
              <a:t>2,</a:t>
            </a:r>
            <a:r>
              <a:rPr lang="el-GR" altLang="zh-CN" sz="2800" dirty="0"/>
              <a:t> </a:t>
            </a:r>
            <a:r>
              <a:rPr lang="en-US" altLang="zh-CN" sz="2800" dirty="0"/>
              <a:t>…,</a:t>
            </a:r>
            <a:r>
              <a:rPr lang="el-GR" altLang="zh-CN" sz="2800" dirty="0"/>
              <a:t> β</a:t>
            </a:r>
            <a:r>
              <a:rPr lang="en-US" altLang="zh-CN" sz="2800" baseline="-25000" dirty="0"/>
              <a:t>j,</a:t>
            </a:r>
            <a:r>
              <a:rPr lang="el-GR" altLang="zh-CN" sz="2800" dirty="0"/>
              <a:t> </a:t>
            </a:r>
            <a:r>
              <a:rPr lang="en-US" altLang="zh-CN" sz="2800" dirty="0"/>
              <a:t>…, </a:t>
            </a:r>
            <a:r>
              <a:rPr lang="el-GR" altLang="zh-CN" sz="2800" dirty="0"/>
              <a:t>β</a:t>
            </a:r>
            <a:r>
              <a:rPr lang="en-US" altLang="zh-CN" sz="2800" baseline="-25000" dirty="0"/>
              <a:t>n</a:t>
            </a:r>
            <a:r>
              <a:rPr kumimoji="1" lang="en-US" altLang="zh-CN" sz="2800" dirty="0">
                <a:latin typeface="Tahoma" pitchFamily="34" charset="0"/>
                <a:ea typeface="楷体_GB2312" pitchFamily="49" charset="-122"/>
              </a:rPr>
              <a:t>)</a:t>
            </a:r>
            <a:endParaRPr kumimoji="1" lang="en-US" altLang="zh-CN" sz="2800" baseline="-25000" dirty="0">
              <a:latin typeface="Tahoma" pitchFamily="34" charset="0"/>
              <a:ea typeface="楷体_GB2312" pitchFamily="49" charset="-122"/>
            </a:endParaRPr>
          </a:p>
        </p:txBody>
      </p:sp>
      <p:sp>
        <p:nvSpPr>
          <p:cNvPr id="17" name="Text Box 12">
            <a:extLst>
              <a:ext uri="{FF2B5EF4-FFF2-40B4-BE49-F238E27FC236}">
                <a16:creationId xmlns:a16="http://schemas.microsoft.com/office/drawing/2014/main" id="{51079D59-6030-FE4E-5390-C97F2670DABC}"/>
              </a:ext>
            </a:extLst>
          </p:cNvPr>
          <p:cNvSpPr txBox="1">
            <a:spLocks noChangeArrowheads="1"/>
          </p:cNvSpPr>
          <p:nvPr/>
        </p:nvSpPr>
        <p:spPr bwMode="auto">
          <a:xfrm>
            <a:off x="7234364" y="4994012"/>
            <a:ext cx="31674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l-GR" altLang="zh-CN" sz="2800" dirty="0"/>
              <a:t>β</a:t>
            </a:r>
            <a:r>
              <a:rPr lang="en-US" altLang="zh-CN" sz="2800" baseline="-25000" dirty="0"/>
              <a:t>j </a:t>
            </a: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1j, </a:t>
            </a: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2j, </a:t>
            </a:r>
            <a:r>
              <a:rPr lang="en-US" altLang="zh-CN" sz="2800" dirty="0"/>
              <a:t>…, </a:t>
            </a:r>
            <a:r>
              <a:rPr kumimoji="1" lang="en-US" altLang="zh-CN" sz="2800" dirty="0" err="1">
                <a:latin typeface="Tahoma" pitchFamily="34" charset="0"/>
                <a:ea typeface="楷体_GB2312" pitchFamily="49" charset="-122"/>
              </a:rPr>
              <a:t>a</a:t>
            </a:r>
            <a:r>
              <a:rPr kumimoji="1" lang="en-US" altLang="zh-CN" sz="2800" baseline="-20000" dirty="0" err="1">
                <a:latin typeface="Tahoma" pitchFamily="34" charset="0"/>
                <a:ea typeface="楷体_GB2312" pitchFamily="49" charset="-122"/>
              </a:rPr>
              <a:t>mj</a:t>
            </a:r>
            <a:r>
              <a:rPr kumimoji="1" lang="en-US" altLang="zh-CN" sz="2800" baseline="-20000" dirty="0">
                <a:latin typeface="Tahoma" pitchFamily="34" charset="0"/>
                <a:ea typeface="楷体_GB2312" pitchFamily="49" charset="-122"/>
              </a:rPr>
              <a:t> </a:t>
            </a:r>
            <a:r>
              <a:rPr kumimoji="1" lang="en-US" altLang="zh-CN" sz="2800" dirty="0">
                <a:latin typeface="Tahoma" pitchFamily="34" charset="0"/>
                <a:ea typeface="楷体_GB2312" pitchFamily="49" charset="-122"/>
              </a:rPr>
              <a:t>)</a:t>
            </a:r>
            <a:endParaRPr kumimoji="1" lang="en-US" altLang="zh-CN" sz="2800" baseline="-25000" dirty="0">
              <a:latin typeface="Tahoma" pitchFamily="34" charset="0"/>
              <a:ea typeface="楷体_GB2312" pitchFamily="49" charset="-122"/>
            </a:endParaRPr>
          </a:p>
        </p:txBody>
      </p:sp>
      <p:sp>
        <p:nvSpPr>
          <p:cNvPr id="30" name="Text Box 12">
            <a:extLst>
              <a:ext uri="{FF2B5EF4-FFF2-40B4-BE49-F238E27FC236}">
                <a16:creationId xmlns:a16="http://schemas.microsoft.com/office/drawing/2014/main" id="{0E2D3E74-5425-77D4-671D-7B2FAE6F02CD}"/>
              </a:ext>
            </a:extLst>
          </p:cNvPr>
          <p:cNvSpPr txBox="1">
            <a:spLocks noChangeArrowheads="1"/>
          </p:cNvSpPr>
          <p:nvPr/>
        </p:nvSpPr>
        <p:spPr bwMode="auto">
          <a:xfrm>
            <a:off x="6441279" y="4519394"/>
            <a:ext cx="31674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其中：</a:t>
            </a:r>
            <a:r>
              <a:rPr lang="en-US" altLang="zh-CN" sz="2400" dirty="0"/>
              <a:t>1</a:t>
            </a:r>
            <a:r>
              <a:rPr lang="en-US" altLang="zh-CN" sz="2400" dirty="0">
                <a:latin typeface="微软雅黑" pitchFamily="34" charset="-122"/>
                <a:ea typeface="微软雅黑" pitchFamily="34" charset="-122"/>
                <a:cs typeface="经典粗黑简" pitchFamily="49" charset="-122"/>
              </a:rPr>
              <a:t>≤ j ≤n</a:t>
            </a:r>
            <a:endParaRPr kumimoji="1" lang="en-US" altLang="zh-CN" sz="2400" baseline="-25000" dirty="0">
              <a:latin typeface="Tahoma" pitchFamily="34" charset="0"/>
              <a:ea typeface="楷体_GB2312" pitchFamily="49" charset="-122"/>
            </a:endParaRPr>
          </a:p>
        </p:txBody>
      </p:sp>
      <p:sp>
        <p:nvSpPr>
          <p:cNvPr id="31" name="椭圆 30">
            <a:extLst>
              <a:ext uri="{FF2B5EF4-FFF2-40B4-BE49-F238E27FC236}">
                <a16:creationId xmlns:a16="http://schemas.microsoft.com/office/drawing/2014/main" id="{90903648-CDD9-5D3B-5F56-1EB8424880C2}"/>
              </a:ext>
            </a:extLst>
          </p:cNvPr>
          <p:cNvSpPr/>
          <p:nvPr/>
        </p:nvSpPr>
        <p:spPr>
          <a:xfrm rot="5400000">
            <a:off x="1410897" y="4273930"/>
            <a:ext cx="2909994" cy="7287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ADB3D938-6115-FC25-C01A-712F9BA28ADE}"/>
              </a:ext>
            </a:extLst>
          </p:cNvPr>
          <p:cNvSpPr/>
          <p:nvPr/>
        </p:nvSpPr>
        <p:spPr>
          <a:xfrm rot="5400000">
            <a:off x="2148343" y="4273930"/>
            <a:ext cx="2909994" cy="7287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19D0C388-10EF-60D6-252D-FBAD8ADA71F8}"/>
              </a:ext>
            </a:extLst>
          </p:cNvPr>
          <p:cNvSpPr/>
          <p:nvPr/>
        </p:nvSpPr>
        <p:spPr>
          <a:xfrm rot="5400000">
            <a:off x="3403298" y="4273930"/>
            <a:ext cx="2909994" cy="7287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57873A3A-D9D4-0162-1B69-5C2EF86D0F11}"/>
              </a:ext>
            </a:extLst>
          </p:cNvPr>
          <p:cNvSpPr/>
          <p:nvPr/>
        </p:nvSpPr>
        <p:spPr>
          <a:xfrm>
            <a:off x="1127448" y="1814833"/>
            <a:ext cx="9649072" cy="830997"/>
          </a:xfrm>
          <a:prstGeom prst="rect">
            <a:avLst/>
          </a:prstGeom>
        </p:spPr>
        <p:txBody>
          <a:bodyPr wrap="square">
            <a:spAutoFit/>
          </a:bodyPr>
          <a:lstStyle/>
          <a:p>
            <a:pPr>
              <a:spcBef>
                <a:spcPct val="20000"/>
              </a:spcBef>
              <a:buClr>
                <a:schemeClr val="folHlink"/>
              </a:buClr>
              <a:buSzPct val="80000"/>
            </a:pPr>
            <a:r>
              <a:rPr lang="en-US" altLang="zh-CN" sz="2400" dirty="0">
                <a:latin typeface="微软雅黑" pitchFamily="34" charset="-122"/>
                <a:ea typeface="微软雅黑" pitchFamily="34" charset="-122"/>
                <a:cs typeface="经典粗黑简" pitchFamily="49" charset="-122"/>
              </a:rPr>
              <a:t>m ╳ n</a:t>
            </a:r>
            <a:r>
              <a:rPr lang="zh-CN" altLang="en-US" sz="2400" dirty="0">
                <a:latin typeface="微软雅黑" pitchFamily="34" charset="-122"/>
                <a:ea typeface="微软雅黑" pitchFamily="34" charset="-122"/>
                <a:cs typeface="经典粗黑简" pitchFamily="49" charset="-122"/>
              </a:rPr>
              <a:t>的二维数组（矩阵）</a:t>
            </a:r>
            <a:r>
              <a:rPr lang="en-US" altLang="zh-CN" sz="2400" dirty="0">
                <a:latin typeface="微软雅黑" pitchFamily="34" charset="-122"/>
                <a:ea typeface="微软雅黑" pitchFamily="34" charset="-122"/>
                <a:cs typeface="经典粗黑简" pitchFamily="49" charset="-122"/>
              </a:rPr>
              <a:t>A</a:t>
            </a:r>
            <a:r>
              <a:rPr lang="zh-CN" altLang="en-US" sz="2400" dirty="0">
                <a:latin typeface="微软雅黑" pitchFamily="34" charset="-122"/>
                <a:ea typeface="微软雅黑" pitchFamily="34" charset="-122"/>
                <a:cs typeface="经典粗黑简" pitchFamily="49" charset="-122"/>
              </a:rPr>
              <a:t>可以看成是由</a:t>
            </a:r>
            <a:r>
              <a:rPr lang="en-US" altLang="zh-CN" sz="2400" dirty="0">
                <a:latin typeface="微软雅黑" pitchFamily="34" charset="-122"/>
                <a:ea typeface="微软雅黑" pitchFamily="34" charset="-122"/>
                <a:cs typeface="经典粗黑简" pitchFamily="49" charset="-122"/>
              </a:rPr>
              <a:t>m</a:t>
            </a:r>
            <a:r>
              <a:rPr lang="zh-CN" altLang="en-US" sz="2400" dirty="0">
                <a:latin typeface="微软雅黑" pitchFamily="34" charset="-122"/>
                <a:ea typeface="微软雅黑" pitchFamily="34" charset="-122"/>
                <a:cs typeface="经典粗黑简" pitchFamily="49" charset="-122"/>
              </a:rPr>
              <a:t>个行向量组成的向量，也可以看成是</a:t>
            </a:r>
            <a:r>
              <a:rPr lang="en-US" altLang="zh-CN" sz="2400" dirty="0">
                <a:latin typeface="微软雅黑" pitchFamily="34" charset="-122"/>
                <a:ea typeface="微软雅黑" pitchFamily="34" charset="-122"/>
                <a:cs typeface="经典粗黑简" pitchFamily="49" charset="-122"/>
              </a:rPr>
              <a:t>n</a:t>
            </a:r>
            <a:r>
              <a:rPr lang="zh-CN" altLang="en-US" sz="2400" dirty="0">
                <a:latin typeface="微软雅黑" pitchFamily="34" charset="-122"/>
                <a:ea typeface="微软雅黑" pitchFamily="34" charset="-122"/>
                <a:cs typeface="经典粗黑简" pitchFamily="49" charset="-122"/>
              </a:rPr>
              <a:t>个列向量组成的向量。</a:t>
            </a:r>
          </a:p>
        </p:txBody>
      </p:sp>
      <p:sp>
        <p:nvSpPr>
          <p:cNvPr id="40" name="Text Box 5">
            <a:extLst>
              <a:ext uri="{FF2B5EF4-FFF2-40B4-BE49-F238E27FC236}">
                <a16:creationId xmlns:a16="http://schemas.microsoft.com/office/drawing/2014/main" id="{32F9180C-AC83-AC68-08B9-3DB23FC39152}"/>
              </a:ext>
            </a:extLst>
          </p:cNvPr>
          <p:cNvSpPr txBox="1">
            <a:spLocks noChangeArrowheads="1"/>
          </p:cNvSpPr>
          <p:nvPr/>
        </p:nvSpPr>
        <p:spPr bwMode="auto">
          <a:xfrm>
            <a:off x="5932256" y="6093296"/>
            <a:ext cx="5196933" cy="525657"/>
          </a:xfrm>
          <a:prstGeom prst="rect">
            <a:avLst/>
          </a:prstGeom>
          <a:noFill/>
          <a:ln w="9525">
            <a:noFill/>
            <a:miter lim="800000"/>
            <a:headEnd/>
            <a:tailEnd/>
          </a:ln>
          <a:effectLst/>
        </p:spPr>
        <p:txBody>
          <a:bodyPr wrap="square">
            <a:spAutoFit/>
          </a:bodyPr>
          <a:lstStyle/>
          <a:p>
            <a:pPr algn="l">
              <a:lnSpc>
                <a:spcPct val="130000"/>
              </a:lnSpc>
            </a:pPr>
            <a:r>
              <a:rPr lang="zh-CN" altLang="en-US" sz="2400" dirty="0">
                <a:latin typeface="微软雅黑" pitchFamily="34" charset="-122"/>
                <a:ea typeface="微软雅黑" pitchFamily="34" charset="-122"/>
                <a:cs typeface="经典粗黑简" pitchFamily="49" charset="-122"/>
              </a:rPr>
              <a:t>由此看出，多维数组是线性表的推广。</a:t>
            </a:r>
          </a:p>
        </p:txBody>
      </p:sp>
    </p:spTree>
    <p:extLst>
      <p:ext uri="{BB962C8B-B14F-4D97-AF65-F5344CB8AC3E}">
        <p14:creationId xmlns:p14="http://schemas.microsoft.com/office/powerpoint/2010/main" val="22574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30" grpId="0"/>
      <p:bldP spid="31" grpId="0" animBg="1"/>
      <p:bldP spid="32" grpId="0" animBg="1"/>
      <p:bldP spid="38" grpId="0" animBg="1"/>
      <p:bldP spid="39" grpId="0"/>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43384-E341-8BA9-922F-7DC7970D6035}"/>
            </a:ext>
          </a:extLst>
        </p:cNvPr>
        <p:cNvGrpSpPr/>
        <p:nvPr/>
      </p:nvGrpSpPr>
      <p:grpSpPr>
        <a:xfrm>
          <a:off x="0" y="0"/>
          <a:ext cx="0" cy="0"/>
          <a:chOff x="0" y="0"/>
          <a:chExt cx="0" cy="0"/>
        </a:xfrm>
      </p:grpSpPr>
      <p:sp>
        <p:nvSpPr>
          <p:cNvPr id="13" name="Rectangle 3">
            <a:extLst>
              <a:ext uri="{FF2B5EF4-FFF2-40B4-BE49-F238E27FC236}">
                <a16:creationId xmlns:a16="http://schemas.microsoft.com/office/drawing/2014/main" id="{2792B91F-9B39-E99C-0D20-B2DBAC6CFEC4}"/>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6.1.1 </a:t>
            </a:r>
            <a:r>
              <a:rPr lang="zh-CN" altLang="en-US" sz="2800" b="1" dirty="0">
                <a:solidFill>
                  <a:schemeClr val="bg1"/>
                </a:solidFill>
                <a:latin typeface="经典粗黑简" pitchFamily="49" charset="-122"/>
                <a:ea typeface="经典粗黑简" pitchFamily="49" charset="-122"/>
                <a:cs typeface="经典粗黑简" pitchFamily="49" charset="-122"/>
              </a:rPr>
              <a:t>数组的基本概念</a:t>
            </a:r>
          </a:p>
        </p:txBody>
      </p:sp>
      <p:sp>
        <p:nvSpPr>
          <p:cNvPr id="7" name="Rectangle 2">
            <a:extLst>
              <a:ext uri="{FF2B5EF4-FFF2-40B4-BE49-F238E27FC236}">
                <a16:creationId xmlns:a16="http://schemas.microsoft.com/office/drawing/2014/main" id="{EF0AE0C4-4D48-639D-A82B-638E42251B2B}"/>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29" name="直接连接符 28">
            <a:extLst>
              <a:ext uri="{FF2B5EF4-FFF2-40B4-BE49-F238E27FC236}">
                <a16:creationId xmlns:a16="http://schemas.microsoft.com/office/drawing/2014/main" id="{91ECB9E6-FB77-1362-DB28-4FDB4CFC4AC8}"/>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BD61740F-2B30-CE0E-5341-BD99AD3B3EFC}"/>
              </a:ext>
            </a:extLst>
          </p:cNvPr>
          <p:cNvSpPr txBox="1"/>
          <p:nvPr/>
        </p:nvSpPr>
        <p:spPr>
          <a:xfrm>
            <a:off x="1055440" y="1844824"/>
            <a:ext cx="3744416" cy="461665"/>
          </a:xfrm>
          <a:prstGeom prst="rect">
            <a:avLst/>
          </a:prstGeom>
          <a:noFill/>
        </p:spPr>
        <p:txBody>
          <a:bodyPr wrap="square">
            <a:spAutoFit/>
          </a:bodyPr>
          <a:lstStyle/>
          <a:p>
            <a:pPr algn="l">
              <a:spcBef>
                <a:spcPct val="50000"/>
              </a:spcBef>
            </a:pPr>
            <a:r>
              <a:rPr lang="zh-CN" altLang="en-US" sz="2400" dirty="0">
                <a:latin typeface="微软雅黑" pitchFamily="34" charset="-122"/>
                <a:ea typeface="微软雅黑" pitchFamily="34" charset="-122"/>
                <a:cs typeface="经典粗黑简" pitchFamily="49" charset="-122"/>
              </a:rPr>
              <a:t>数组的基本运算如下：</a:t>
            </a:r>
          </a:p>
        </p:txBody>
      </p:sp>
      <p:sp>
        <p:nvSpPr>
          <p:cNvPr id="6" name="文本框 5">
            <a:extLst>
              <a:ext uri="{FF2B5EF4-FFF2-40B4-BE49-F238E27FC236}">
                <a16:creationId xmlns:a16="http://schemas.microsoft.com/office/drawing/2014/main" id="{69F4DD65-6053-A0EF-E329-81474FC7772A}"/>
              </a:ext>
            </a:extLst>
          </p:cNvPr>
          <p:cNvSpPr txBox="1"/>
          <p:nvPr/>
        </p:nvSpPr>
        <p:spPr>
          <a:xfrm>
            <a:off x="1055440" y="2436177"/>
            <a:ext cx="9793088" cy="2797048"/>
          </a:xfrm>
          <a:prstGeom prst="rect">
            <a:avLst/>
          </a:prstGeom>
          <a:noFill/>
        </p:spPr>
        <p:txBody>
          <a:bodyPr wrap="square">
            <a:spAutoFit/>
          </a:bodyPr>
          <a:lstStyle/>
          <a:p>
            <a:pPr marL="457200" indent="-457200" algn="l">
              <a:lnSpc>
                <a:spcPct val="150000"/>
              </a:lnSpc>
            </a:pPr>
            <a:r>
              <a:rPr lang="en-US" altLang="zh-CN" sz="1800" dirty="0">
                <a:solidFill>
                  <a:srgbClr val="FF0000"/>
                </a:solidFill>
                <a:latin typeface="Consolas" pitchFamily="49" charset="0"/>
                <a:ea typeface="楷体" pitchFamily="49" charset="-122"/>
                <a:cs typeface="Consolas" pitchFamily="49" charset="0"/>
                <a:sym typeface="Wingdings"/>
              </a:rPr>
              <a:t> </a:t>
            </a:r>
            <a:r>
              <a:rPr lang="en-US" altLang="zh-CN" sz="1800" dirty="0">
                <a:solidFill>
                  <a:srgbClr val="FF0000"/>
                </a:solidFill>
                <a:latin typeface="Consolas" pitchFamily="49" charset="0"/>
                <a:ea typeface="楷体" pitchFamily="49" charset="-122"/>
                <a:cs typeface="Consolas" pitchFamily="49" charset="0"/>
              </a:rPr>
              <a:t>Value(</a:t>
            </a:r>
            <a:r>
              <a:rPr lang="en-US" altLang="zh-CN" sz="1800" i="1" dirty="0">
                <a:solidFill>
                  <a:srgbClr val="FF0000"/>
                </a:solidFill>
                <a:latin typeface="Consolas" pitchFamily="49" charset="0"/>
                <a:ea typeface="楷体" pitchFamily="49" charset="-122"/>
                <a:cs typeface="Consolas" pitchFamily="49" charset="0"/>
              </a:rPr>
              <a:t>A</a:t>
            </a:r>
            <a:r>
              <a:rPr lang="en-US" altLang="zh-CN" sz="1800" dirty="0">
                <a:solidFill>
                  <a:srgbClr val="FF0000"/>
                </a:solidFill>
                <a:latin typeface="Consolas" pitchFamily="49" charset="0"/>
                <a:ea typeface="楷体" pitchFamily="49" charset="-122"/>
                <a:cs typeface="Consolas" pitchFamily="49" charset="0"/>
              </a:rPr>
              <a:t>,index</a:t>
            </a:r>
            <a:r>
              <a:rPr lang="en-US" altLang="zh-CN" sz="1800" baseline="-25000" dirty="0">
                <a:solidFill>
                  <a:srgbClr val="FF0000"/>
                </a:solidFill>
                <a:latin typeface="Consolas" pitchFamily="49" charset="0"/>
                <a:ea typeface="楷体" pitchFamily="49" charset="-122"/>
                <a:cs typeface="Consolas" pitchFamily="49" charset="0"/>
              </a:rPr>
              <a:t>1</a:t>
            </a:r>
            <a:r>
              <a:rPr lang="en-US" altLang="zh-CN" sz="1800" dirty="0">
                <a:solidFill>
                  <a:srgbClr val="FF0000"/>
                </a:solidFill>
                <a:latin typeface="Consolas" pitchFamily="49" charset="0"/>
                <a:ea typeface="楷体" pitchFamily="49" charset="-122"/>
                <a:cs typeface="Consolas" pitchFamily="49" charset="0"/>
              </a:rPr>
              <a:t>,index</a:t>
            </a:r>
            <a:r>
              <a:rPr lang="en-US" altLang="zh-CN" sz="1800" baseline="-25000" dirty="0">
                <a:solidFill>
                  <a:srgbClr val="FF0000"/>
                </a:solidFill>
                <a:latin typeface="Consolas" pitchFamily="49" charset="0"/>
                <a:ea typeface="楷体" pitchFamily="49" charset="-122"/>
                <a:cs typeface="Consolas" pitchFamily="49" charset="0"/>
              </a:rPr>
              <a:t>2</a:t>
            </a:r>
            <a:r>
              <a:rPr lang="en-US" altLang="zh-CN" sz="1800" dirty="0">
                <a:solidFill>
                  <a:srgbClr val="FF0000"/>
                </a:solidFill>
                <a:latin typeface="Consolas" pitchFamily="49" charset="0"/>
                <a:ea typeface="楷体" pitchFamily="49" charset="-122"/>
                <a:cs typeface="Consolas" pitchFamily="49" charset="0"/>
              </a:rPr>
              <a:t>,</a:t>
            </a:r>
            <a:r>
              <a:rPr lang="en-US" altLang="zh-CN" sz="1800" dirty="0">
                <a:solidFill>
                  <a:srgbClr val="FF0000"/>
                </a:solidFill>
                <a:latin typeface="+mj-ea"/>
                <a:ea typeface="+mj-ea"/>
                <a:cs typeface="Consolas" pitchFamily="49" charset="0"/>
              </a:rPr>
              <a:t>…</a:t>
            </a:r>
            <a:r>
              <a:rPr lang="en-US" altLang="zh-CN" sz="1800" dirty="0">
                <a:solidFill>
                  <a:srgbClr val="FF0000"/>
                </a:solidFill>
                <a:latin typeface="Consolas" pitchFamily="49" charset="0"/>
                <a:ea typeface="楷体" pitchFamily="49" charset="-122"/>
                <a:cs typeface="Consolas" pitchFamily="49" charset="0"/>
              </a:rPr>
              <a:t>,</a:t>
            </a:r>
            <a:r>
              <a:rPr lang="en-US" altLang="zh-CN" sz="1800" dirty="0" err="1">
                <a:solidFill>
                  <a:srgbClr val="FF0000"/>
                </a:solidFill>
                <a:latin typeface="Consolas" pitchFamily="49" charset="0"/>
                <a:ea typeface="楷体" pitchFamily="49" charset="-122"/>
                <a:cs typeface="Consolas" pitchFamily="49" charset="0"/>
              </a:rPr>
              <a:t>index</a:t>
            </a:r>
            <a:r>
              <a:rPr lang="en-US" altLang="zh-CN" sz="1800" i="1" baseline="-25000" dirty="0" err="1">
                <a:solidFill>
                  <a:srgbClr val="FF0000"/>
                </a:solidFill>
                <a:latin typeface="Consolas" pitchFamily="49" charset="0"/>
                <a:ea typeface="楷体" pitchFamily="49" charset="-122"/>
                <a:cs typeface="Consolas" pitchFamily="49" charset="0"/>
              </a:rPr>
              <a:t>d</a:t>
            </a:r>
            <a:r>
              <a:rPr lang="en-US" altLang="zh-CN" sz="1800" dirty="0">
                <a:solidFill>
                  <a:srgbClr val="FF0000"/>
                </a:solidFill>
                <a:latin typeface="Consolas" pitchFamily="49" charset="0"/>
                <a:ea typeface="楷体" pitchFamily="49" charset="-122"/>
                <a:cs typeface="Consolas" pitchFamily="49" charset="0"/>
              </a:rPr>
              <a:t>)</a:t>
            </a:r>
            <a:r>
              <a:rPr lang="zh-CN" altLang="en-US" sz="1800" dirty="0">
                <a:solidFill>
                  <a:srgbClr val="FF0000"/>
                </a:solidFill>
                <a:latin typeface="Consolas" pitchFamily="49" charset="0"/>
                <a:ea typeface="楷体" pitchFamily="49" charset="-122"/>
                <a:cs typeface="Consolas" pitchFamily="49" charset="0"/>
              </a:rPr>
              <a:t>：</a:t>
            </a:r>
            <a:r>
              <a:rPr lang="zh-CN" altLang="en-US" sz="2400" dirty="0">
                <a:latin typeface="微软雅黑" pitchFamily="34" charset="-122"/>
                <a:ea typeface="微软雅黑" pitchFamily="34" charset="-122"/>
                <a:cs typeface="经典粗黑简" pitchFamily="49" charset="-122"/>
              </a:rPr>
              <a:t>即</a:t>
            </a:r>
            <a:r>
              <a:rPr lang="en-US" altLang="zh-CN" sz="2400" dirty="0">
                <a:latin typeface="微软雅黑" pitchFamily="34" charset="-122"/>
                <a:ea typeface="微软雅黑" pitchFamily="34" charset="-122"/>
                <a:cs typeface="经典粗黑简" pitchFamily="49" charset="-122"/>
              </a:rPr>
              <a:t>A(index</a:t>
            </a:r>
            <a:r>
              <a:rPr lang="en-US" altLang="zh-CN" sz="2400" baseline="-25000" dirty="0">
                <a:latin typeface="微软雅黑" pitchFamily="34" charset="-122"/>
                <a:ea typeface="微软雅黑" pitchFamily="34" charset="-122"/>
                <a:cs typeface="经典粗黑简" pitchFamily="49" charset="-122"/>
              </a:rPr>
              <a:t>1</a:t>
            </a:r>
            <a:r>
              <a:rPr lang="en-US" altLang="zh-CN" sz="2400" dirty="0">
                <a:latin typeface="微软雅黑" pitchFamily="34" charset="-122"/>
                <a:ea typeface="微软雅黑" pitchFamily="34" charset="-122"/>
                <a:cs typeface="经典粗黑简" pitchFamily="49" charset="-122"/>
              </a:rPr>
              <a:t>,index</a:t>
            </a:r>
            <a:r>
              <a:rPr lang="en-US" altLang="zh-CN" sz="2400" baseline="-25000" dirty="0">
                <a:latin typeface="微软雅黑" pitchFamily="34" charset="-122"/>
                <a:ea typeface="微软雅黑" pitchFamily="34" charset="-122"/>
                <a:cs typeface="经典粗黑简" pitchFamily="49" charset="-122"/>
              </a:rPr>
              <a:t>2</a:t>
            </a:r>
            <a:r>
              <a:rPr lang="en-US" altLang="zh-CN" sz="2400" dirty="0">
                <a:latin typeface="微软雅黑" pitchFamily="34" charset="-122"/>
                <a:ea typeface="微软雅黑" pitchFamily="34" charset="-122"/>
                <a:cs typeface="经典粗黑简" pitchFamily="49" charset="-122"/>
              </a:rPr>
              <a:t>,…,</a:t>
            </a:r>
            <a:r>
              <a:rPr lang="en-US" altLang="zh-CN" sz="2400" dirty="0" err="1">
                <a:latin typeface="微软雅黑" pitchFamily="34" charset="-122"/>
                <a:ea typeface="微软雅黑" pitchFamily="34" charset="-122"/>
                <a:cs typeface="经典粗黑简" pitchFamily="49" charset="-122"/>
              </a:rPr>
              <a:t>index</a:t>
            </a:r>
            <a:r>
              <a:rPr lang="en-US" altLang="zh-CN" sz="2400" baseline="-25000" dirty="0" err="1">
                <a:latin typeface="微软雅黑" pitchFamily="34" charset="-122"/>
                <a:ea typeface="微软雅黑" pitchFamily="34" charset="-122"/>
                <a:cs typeface="经典粗黑简" pitchFamily="49" charset="-122"/>
              </a:rPr>
              <a:t>d</a:t>
            </a:r>
            <a:r>
              <a:rPr lang="en-US" altLang="zh-CN" sz="2400" dirty="0">
                <a:latin typeface="微软雅黑" pitchFamily="34" charset="-122"/>
                <a:ea typeface="微软雅黑" pitchFamily="34" charset="-122"/>
                <a:cs typeface="经典粗黑简" pitchFamily="49" charset="-122"/>
              </a:rPr>
              <a:t>)=e</a:t>
            </a:r>
            <a:r>
              <a:rPr lang="zh-CN" altLang="en-US" sz="2400" dirty="0">
                <a:latin typeface="微软雅黑" pitchFamily="34" charset="-122"/>
                <a:ea typeface="微软雅黑" pitchFamily="34" charset="-122"/>
                <a:cs typeface="经典粗黑简" pitchFamily="49" charset="-122"/>
              </a:rPr>
              <a:t>，元素赋值 </a:t>
            </a:r>
            <a:r>
              <a:rPr lang="zh-CN" altLang="en-US" sz="2400" dirty="0">
                <a:latin typeface="微软雅黑" pitchFamily="34" charset="-122"/>
                <a:ea typeface="微软雅黑" pitchFamily="34" charset="-122"/>
                <a:cs typeface="经典粗黑简" pitchFamily="49" charset="-122"/>
                <a:sym typeface="Wingdings"/>
              </a:rPr>
              <a:t> 存（写）操作</a:t>
            </a:r>
            <a:r>
              <a:rPr lang="zh-CN" altLang="en-US" sz="2400" dirty="0">
                <a:latin typeface="微软雅黑" pitchFamily="34" charset="-122"/>
                <a:ea typeface="微软雅黑" pitchFamily="34" charset="-122"/>
                <a:cs typeface="经典粗黑简" pitchFamily="49" charset="-122"/>
              </a:rPr>
              <a:t>。</a:t>
            </a:r>
          </a:p>
          <a:p>
            <a:pPr marL="457200" indent="-457200" algn="l">
              <a:lnSpc>
                <a:spcPct val="150000"/>
              </a:lnSpc>
            </a:pPr>
            <a:r>
              <a:rPr lang="en-US" altLang="zh-CN" sz="1800" dirty="0">
                <a:solidFill>
                  <a:srgbClr val="FF0000"/>
                </a:solidFill>
                <a:latin typeface="Consolas" pitchFamily="49" charset="0"/>
                <a:ea typeface="楷体" pitchFamily="49" charset="-122"/>
                <a:cs typeface="Consolas" pitchFamily="49" charset="0"/>
                <a:sym typeface="Wingdings"/>
              </a:rPr>
              <a:t> </a:t>
            </a:r>
            <a:r>
              <a:rPr lang="en-US" altLang="zh-CN" sz="1800" dirty="0">
                <a:solidFill>
                  <a:srgbClr val="FF0000"/>
                </a:solidFill>
                <a:latin typeface="Consolas" pitchFamily="49" charset="0"/>
                <a:ea typeface="楷体" pitchFamily="49" charset="-122"/>
                <a:cs typeface="Consolas" pitchFamily="49" charset="0"/>
              </a:rPr>
              <a:t>Assign(</a:t>
            </a:r>
            <a:r>
              <a:rPr lang="en-US" altLang="zh-CN" sz="1800" i="1" dirty="0">
                <a:solidFill>
                  <a:srgbClr val="FF0000"/>
                </a:solidFill>
                <a:latin typeface="Consolas" pitchFamily="49" charset="0"/>
                <a:ea typeface="楷体" pitchFamily="49" charset="-122"/>
                <a:cs typeface="Consolas" pitchFamily="49" charset="0"/>
              </a:rPr>
              <a:t>A</a:t>
            </a:r>
            <a:r>
              <a:rPr lang="en-US" altLang="zh-CN" sz="1800" dirty="0">
                <a:solidFill>
                  <a:srgbClr val="FF0000"/>
                </a:solidFill>
                <a:latin typeface="Consolas" pitchFamily="49" charset="0"/>
                <a:ea typeface="楷体" pitchFamily="49" charset="-122"/>
                <a:cs typeface="Consolas" pitchFamily="49" charset="0"/>
              </a:rPr>
              <a:t>,</a:t>
            </a:r>
            <a:r>
              <a:rPr lang="en-US" altLang="zh-CN" sz="1800" i="1" dirty="0">
                <a:solidFill>
                  <a:srgbClr val="FF0000"/>
                </a:solidFill>
                <a:latin typeface="Consolas" pitchFamily="49" charset="0"/>
                <a:ea typeface="楷体" pitchFamily="49" charset="-122"/>
                <a:cs typeface="Consolas" pitchFamily="49" charset="0"/>
              </a:rPr>
              <a:t>e</a:t>
            </a:r>
            <a:r>
              <a:rPr lang="en-US" altLang="zh-CN" sz="1800" dirty="0">
                <a:solidFill>
                  <a:srgbClr val="FF0000"/>
                </a:solidFill>
                <a:latin typeface="Consolas" pitchFamily="49" charset="0"/>
                <a:ea typeface="楷体" pitchFamily="49" charset="-122"/>
                <a:cs typeface="Consolas" pitchFamily="49" charset="0"/>
              </a:rPr>
              <a:t>,index</a:t>
            </a:r>
            <a:r>
              <a:rPr lang="en-US" altLang="zh-CN" sz="1800" baseline="-25000" dirty="0">
                <a:solidFill>
                  <a:srgbClr val="FF0000"/>
                </a:solidFill>
                <a:latin typeface="Consolas" pitchFamily="49" charset="0"/>
                <a:ea typeface="楷体" pitchFamily="49" charset="-122"/>
                <a:cs typeface="Consolas" pitchFamily="49" charset="0"/>
              </a:rPr>
              <a:t>1</a:t>
            </a:r>
            <a:r>
              <a:rPr lang="en-US" altLang="zh-CN" sz="1800" dirty="0">
                <a:solidFill>
                  <a:srgbClr val="FF0000"/>
                </a:solidFill>
                <a:latin typeface="Consolas" pitchFamily="49" charset="0"/>
                <a:ea typeface="楷体" pitchFamily="49" charset="-122"/>
                <a:cs typeface="Consolas" pitchFamily="49" charset="0"/>
              </a:rPr>
              <a:t>,index</a:t>
            </a:r>
            <a:r>
              <a:rPr lang="en-US" altLang="zh-CN" sz="1800" baseline="-25000" dirty="0">
                <a:solidFill>
                  <a:srgbClr val="FF0000"/>
                </a:solidFill>
                <a:latin typeface="Consolas" pitchFamily="49" charset="0"/>
                <a:ea typeface="楷体" pitchFamily="49" charset="-122"/>
                <a:cs typeface="Consolas" pitchFamily="49" charset="0"/>
              </a:rPr>
              <a:t>2</a:t>
            </a:r>
            <a:r>
              <a:rPr lang="en-US" altLang="zh-CN" sz="1800" dirty="0">
                <a:solidFill>
                  <a:srgbClr val="FF0000"/>
                </a:solidFill>
                <a:latin typeface="Consolas" pitchFamily="49" charset="0"/>
                <a:ea typeface="楷体" pitchFamily="49" charset="-122"/>
                <a:cs typeface="Consolas" pitchFamily="49" charset="0"/>
              </a:rPr>
              <a:t>,</a:t>
            </a:r>
            <a:r>
              <a:rPr lang="en-US" altLang="zh-CN" sz="1800" dirty="0">
                <a:solidFill>
                  <a:srgbClr val="FF0000"/>
                </a:solidFill>
                <a:latin typeface="+mn-ea"/>
                <a:cs typeface="Consolas" pitchFamily="49" charset="0"/>
              </a:rPr>
              <a:t>…</a:t>
            </a:r>
            <a:r>
              <a:rPr lang="en-US" altLang="zh-CN" sz="1800" dirty="0">
                <a:solidFill>
                  <a:srgbClr val="FF0000"/>
                </a:solidFill>
                <a:latin typeface="Consolas" pitchFamily="49" charset="0"/>
                <a:ea typeface="楷体" pitchFamily="49" charset="-122"/>
                <a:cs typeface="Consolas" pitchFamily="49" charset="0"/>
              </a:rPr>
              <a:t>,</a:t>
            </a:r>
            <a:r>
              <a:rPr lang="en-US" altLang="zh-CN" sz="1800" dirty="0" err="1">
                <a:solidFill>
                  <a:srgbClr val="FF0000"/>
                </a:solidFill>
                <a:latin typeface="Consolas" pitchFamily="49" charset="0"/>
                <a:ea typeface="楷体" pitchFamily="49" charset="-122"/>
                <a:cs typeface="Consolas" pitchFamily="49" charset="0"/>
              </a:rPr>
              <a:t>index</a:t>
            </a:r>
            <a:r>
              <a:rPr lang="en-US" altLang="zh-CN" sz="1800" i="1" baseline="-25000" dirty="0" err="1">
                <a:solidFill>
                  <a:srgbClr val="FF0000"/>
                </a:solidFill>
                <a:latin typeface="Consolas" pitchFamily="49" charset="0"/>
                <a:ea typeface="楷体" pitchFamily="49" charset="-122"/>
                <a:cs typeface="Consolas" pitchFamily="49" charset="0"/>
              </a:rPr>
              <a:t>d</a:t>
            </a:r>
            <a:r>
              <a:rPr lang="en-US" altLang="zh-CN" sz="1800" dirty="0">
                <a:solidFill>
                  <a:srgbClr val="FF0000"/>
                </a:solidFill>
                <a:latin typeface="Consolas" pitchFamily="49" charset="0"/>
                <a:ea typeface="楷体" pitchFamily="49" charset="-122"/>
                <a:cs typeface="Consolas" pitchFamily="49" charset="0"/>
              </a:rPr>
              <a:t>)</a:t>
            </a:r>
            <a:r>
              <a:rPr lang="zh-CN" altLang="en-US" sz="1800" dirty="0">
                <a:solidFill>
                  <a:srgbClr val="FF0000"/>
                </a:solidFill>
                <a:latin typeface="Consolas" pitchFamily="49" charset="0"/>
                <a:ea typeface="楷体" pitchFamily="49" charset="-122"/>
                <a:cs typeface="Consolas" pitchFamily="49" charset="0"/>
              </a:rPr>
              <a:t>：</a:t>
            </a:r>
            <a:r>
              <a:rPr lang="zh-CN" altLang="en-US" sz="2400" dirty="0">
                <a:latin typeface="微软雅黑" pitchFamily="34" charset="-122"/>
                <a:ea typeface="微软雅黑" pitchFamily="34" charset="-122"/>
                <a:cs typeface="经典粗黑简" pitchFamily="49" charset="-122"/>
              </a:rPr>
              <a:t>即</a:t>
            </a:r>
            <a:r>
              <a:rPr lang="en-US" altLang="zh-CN" sz="2400" dirty="0">
                <a:latin typeface="微软雅黑" pitchFamily="34" charset="-122"/>
                <a:ea typeface="微软雅黑" pitchFamily="34" charset="-122"/>
                <a:cs typeface="经典粗黑简" pitchFamily="49" charset="-122"/>
              </a:rPr>
              <a:t>e= A(index</a:t>
            </a:r>
            <a:r>
              <a:rPr lang="en-US" altLang="zh-CN" sz="2400" baseline="-25000" dirty="0">
                <a:latin typeface="微软雅黑" pitchFamily="34" charset="-122"/>
                <a:ea typeface="微软雅黑" pitchFamily="34" charset="-122"/>
                <a:cs typeface="经典粗黑简" pitchFamily="49" charset="-122"/>
              </a:rPr>
              <a:t>1</a:t>
            </a:r>
            <a:r>
              <a:rPr lang="en-US" altLang="zh-CN" sz="2400" dirty="0">
                <a:latin typeface="微软雅黑" pitchFamily="34" charset="-122"/>
                <a:ea typeface="微软雅黑" pitchFamily="34" charset="-122"/>
                <a:cs typeface="经典粗黑简" pitchFamily="49" charset="-122"/>
              </a:rPr>
              <a:t>,index</a:t>
            </a:r>
            <a:r>
              <a:rPr lang="en-US" altLang="zh-CN" sz="2400" baseline="-25000" dirty="0">
                <a:latin typeface="微软雅黑" pitchFamily="34" charset="-122"/>
                <a:ea typeface="微软雅黑" pitchFamily="34" charset="-122"/>
                <a:cs typeface="经典粗黑简" pitchFamily="49" charset="-122"/>
              </a:rPr>
              <a:t>2</a:t>
            </a:r>
            <a:r>
              <a:rPr lang="en-US" altLang="zh-CN" sz="2400" dirty="0">
                <a:latin typeface="微软雅黑" pitchFamily="34" charset="-122"/>
                <a:ea typeface="微软雅黑" pitchFamily="34" charset="-122"/>
                <a:cs typeface="经典粗黑简" pitchFamily="49" charset="-122"/>
              </a:rPr>
              <a:t>,…,</a:t>
            </a:r>
            <a:r>
              <a:rPr lang="en-US" altLang="zh-CN" sz="2400" dirty="0" err="1">
                <a:latin typeface="微软雅黑" pitchFamily="34" charset="-122"/>
                <a:ea typeface="微软雅黑" pitchFamily="34" charset="-122"/>
                <a:cs typeface="经典粗黑简" pitchFamily="49" charset="-122"/>
              </a:rPr>
              <a:t>index</a:t>
            </a:r>
            <a:r>
              <a:rPr lang="en-US" altLang="zh-CN" sz="2400" baseline="-25000" dirty="0" err="1">
                <a:latin typeface="微软雅黑" pitchFamily="34" charset="-122"/>
                <a:ea typeface="微软雅黑" pitchFamily="34" charset="-122"/>
                <a:cs typeface="经典粗黑简" pitchFamily="49" charset="-122"/>
              </a:rPr>
              <a:t>d</a:t>
            </a:r>
            <a:r>
              <a:rPr lang="en-US" altLang="zh-CN" sz="2400" dirty="0">
                <a:latin typeface="微软雅黑" pitchFamily="34" charset="-122"/>
                <a:ea typeface="微软雅黑" pitchFamily="34" charset="-122"/>
                <a:cs typeface="经典粗黑简" pitchFamily="49" charset="-122"/>
              </a:rPr>
              <a:t>)</a:t>
            </a:r>
            <a:r>
              <a:rPr lang="zh-CN" altLang="en-US" sz="2400" dirty="0">
                <a:latin typeface="微软雅黑" pitchFamily="34" charset="-122"/>
                <a:ea typeface="微软雅黑" pitchFamily="34" charset="-122"/>
                <a:cs typeface="经典粗黑简" pitchFamily="49" charset="-122"/>
              </a:rPr>
              <a:t>，取元素值 </a:t>
            </a:r>
            <a:r>
              <a:rPr lang="zh-CN" altLang="en-US" sz="2400" dirty="0">
                <a:latin typeface="微软雅黑" pitchFamily="34" charset="-122"/>
                <a:ea typeface="微软雅黑" pitchFamily="34" charset="-122"/>
                <a:cs typeface="经典粗黑简" pitchFamily="49" charset="-122"/>
                <a:sym typeface="Wingdings"/>
              </a:rPr>
              <a:t> 取（读）操作</a:t>
            </a:r>
            <a:r>
              <a:rPr lang="zh-CN" altLang="en-US" sz="2400" dirty="0">
                <a:latin typeface="微软雅黑" pitchFamily="34" charset="-122"/>
                <a:ea typeface="微软雅黑" pitchFamily="34" charset="-122"/>
                <a:cs typeface="经典粗黑简" pitchFamily="49" charset="-122"/>
              </a:rPr>
              <a:t>。</a:t>
            </a:r>
          </a:p>
          <a:p>
            <a:pPr marL="457200" indent="-457200" algn="l">
              <a:lnSpc>
                <a:spcPct val="150000"/>
              </a:lnSpc>
            </a:pPr>
            <a:r>
              <a:rPr lang="en-US" altLang="zh-CN" sz="1800" dirty="0">
                <a:solidFill>
                  <a:srgbClr val="FF0000"/>
                </a:solidFill>
                <a:latin typeface="Consolas" pitchFamily="49" charset="0"/>
                <a:ea typeface="楷体" pitchFamily="49" charset="-122"/>
                <a:cs typeface="Consolas" pitchFamily="49" charset="0"/>
                <a:sym typeface="Wingdings"/>
              </a:rPr>
              <a:t> </a:t>
            </a:r>
            <a:r>
              <a:rPr lang="en-US" altLang="zh-CN" sz="1800" dirty="0" err="1">
                <a:solidFill>
                  <a:srgbClr val="FF0000"/>
                </a:solidFill>
                <a:latin typeface="Consolas" pitchFamily="49" charset="0"/>
                <a:ea typeface="楷体" pitchFamily="49" charset="-122"/>
                <a:cs typeface="Consolas" pitchFamily="49" charset="0"/>
              </a:rPr>
              <a:t>ADisp</a:t>
            </a:r>
            <a:r>
              <a:rPr lang="en-US" altLang="zh-CN" sz="1800" dirty="0">
                <a:solidFill>
                  <a:srgbClr val="FF0000"/>
                </a:solidFill>
                <a:latin typeface="Consolas" pitchFamily="49" charset="0"/>
                <a:ea typeface="楷体" pitchFamily="49" charset="-122"/>
                <a:cs typeface="Consolas" pitchFamily="49" charset="0"/>
              </a:rPr>
              <a:t>(</a:t>
            </a:r>
            <a:r>
              <a:rPr lang="en-US" altLang="zh-CN" sz="1800" i="1" dirty="0">
                <a:solidFill>
                  <a:srgbClr val="FF0000"/>
                </a:solidFill>
                <a:latin typeface="Consolas" pitchFamily="49" charset="0"/>
                <a:ea typeface="楷体" pitchFamily="49" charset="-122"/>
                <a:cs typeface="Consolas" pitchFamily="49" charset="0"/>
              </a:rPr>
              <a:t>A</a:t>
            </a:r>
            <a:r>
              <a:rPr lang="en-US" altLang="zh-CN" sz="1800" dirty="0">
                <a:solidFill>
                  <a:srgbClr val="FF0000"/>
                </a:solidFill>
                <a:latin typeface="Consolas" pitchFamily="49" charset="0"/>
                <a:ea typeface="楷体" pitchFamily="49" charset="-122"/>
                <a:cs typeface="Consolas" pitchFamily="49" charset="0"/>
              </a:rPr>
              <a:t>,</a:t>
            </a:r>
            <a:r>
              <a:rPr lang="en-US" altLang="zh-CN" sz="1800" i="1" dirty="0">
                <a:solidFill>
                  <a:srgbClr val="FF0000"/>
                </a:solidFill>
                <a:latin typeface="Consolas" pitchFamily="49" charset="0"/>
                <a:ea typeface="楷体" pitchFamily="49" charset="-122"/>
                <a:cs typeface="Consolas" pitchFamily="49" charset="0"/>
              </a:rPr>
              <a:t>b</a:t>
            </a:r>
            <a:r>
              <a:rPr lang="en-US" altLang="zh-CN" sz="1800" baseline="-25000" dirty="0">
                <a:solidFill>
                  <a:srgbClr val="FF0000"/>
                </a:solidFill>
                <a:latin typeface="Consolas" pitchFamily="49" charset="0"/>
                <a:ea typeface="楷体" pitchFamily="49" charset="-122"/>
                <a:cs typeface="Consolas" pitchFamily="49" charset="0"/>
              </a:rPr>
              <a:t>1</a:t>
            </a:r>
            <a:r>
              <a:rPr lang="en-US" altLang="zh-CN" sz="1800" dirty="0">
                <a:solidFill>
                  <a:srgbClr val="FF0000"/>
                </a:solidFill>
                <a:latin typeface="Consolas" pitchFamily="49" charset="0"/>
                <a:ea typeface="楷体" pitchFamily="49" charset="-122"/>
                <a:cs typeface="Consolas" pitchFamily="49" charset="0"/>
              </a:rPr>
              <a:t>,</a:t>
            </a:r>
            <a:r>
              <a:rPr lang="en-US" altLang="zh-CN" sz="1800" i="1" dirty="0">
                <a:solidFill>
                  <a:srgbClr val="FF0000"/>
                </a:solidFill>
                <a:latin typeface="Consolas" pitchFamily="49" charset="0"/>
                <a:ea typeface="楷体" pitchFamily="49" charset="-122"/>
                <a:cs typeface="Consolas" pitchFamily="49" charset="0"/>
              </a:rPr>
              <a:t>b</a:t>
            </a:r>
            <a:r>
              <a:rPr lang="en-US" altLang="zh-CN" sz="1800" baseline="-25000" dirty="0">
                <a:solidFill>
                  <a:srgbClr val="FF0000"/>
                </a:solidFill>
                <a:latin typeface="Consolas" pitchFamily="49" charset="0"/>
                <a:ea typeface="楷体" pitchFamily="49" charset="-122"/>
                <a:cs typeface="Consolas" pitchFamily="49" charset="0"/>
              </a:rPr>
              <a:t>2</a:t>
            </a:r>
            <a:r>
              <a:rPr lang="en-US" altLang="zh-CN" sz="1800" dirty="0">
                <a:solidFill>
                  <a:srgbClr val="FF0000"/>
                </a:solidFill>
                <a:latin typeface="Consolas" pitchFamily="49" charset="0"/>
                <a:ea typeface="楷体" pitchFamily="49" charset="-122"/>
                <a:cs typeface="Consolas" pitchFamily="49" charset="0"/>
              </a:rPr>
              <a:t>,…,</a:t>
            </a:r>
            <a:r>
              <a:rPr lang="en-US" altLang="zh-CN" sz="1800" i="1" dirty="0">
                <a:solidFill>
                  <a:srgbClr val="FF0000"/>
                </a:solidFill>
                <a:latin typeface="Consolas" pitchFamily="49" charset="0"/>
                <a:ea typeface="楷体" pitchFamily="49" charset="-122"/>
                <a:cs typeface="Consolas" pitchFamily="49" charset="0"/>
              </a:rPr>
              <a:t>b</a:t>
            </a:r>
            <a:r>
              <a:rPr lang="en-US" altLang="zh-CN" sz="1800" i="1" baseline="-25000" dirty="0">
                <a:solidFill>
                  <a:srgbClr val="FF0000"/>
                </a:solidFill>
                <a:latin typeface="Consolas" pitchFamily="49" charset="0"/>
                <a:ea typeface="楷体" pitchFamily="49" charset="-122"/>
                <a:cs typeface="Consolas" pitchFamily="49" charset="0"/>
              </a:rPr>
              <a:t>d</a:t>
            </a:r>
            <a:r>
              <a:rPr lang="en-US" altLang="zh-CN" sz="1800" dirty="0">
                <a:solidFill>
                  <a:srgbClr val="FF0000"/>
                </a:solidFill>
                <a:latin typeface="Consolas" pitchFamily="49" charset="0"/>
                <a:ea typeface="楷体" pitchFamily="49" charset="-122"/>
                <a:cs typeface="Consolas" pitchFamily="49" charset="0"/>
              </a:rPr>
              <a:t>)</a:t>
            </a:r>
            <a:r>
              <a:rPr lang="zh-CN" altLang="en-US" sz="1800" dirty="0">
                <a:solidFill>
                  <a:srgbClr val="FF0000"/>
                </a:solidFill>
                <a:latin typeface="Consolas" pitchFamily="49" charset="0"/>
                <a:ea typeface="楷体" pitchFamily="49" charset="-122"/>
                <a:cs typeface="Consolas" pitchFamily="49" charset="0"/>
              </a:rPr>
              <a:t>：</a:t>
            </a:r>
            <a:r>
              <a:rPr lang="zh-CN" altLang="en-US" sz="2400" dirty="0">
                <a:latin typeface="微软雅黑" pitchFamily="34" charset="-122"/>
                <a:ea typeface="微软雅黑" pitchFamily="34" charset="-122"/>
                <a:cs typeface="经典粗黑简" pitchFamily="49" charset="-122"/>
              </a:rPr>
              <a:t>输出</a:t>
            </a:r>
            <a:r>
              <a:rPr lang="en-US" altLang="zh-CN" sz="2400" dirty="0">
                <a:latin typeface="微软雅黑" pitchFamily="34" charset="-122"/>
                <a:ea typeface="微软雅黑" pitchFamily="34" charset="-122"/>
                <a:cs typeface="经典粗黑简" pitchFamily="49" charset="-122"/>
              </a:rPr>
              <a:t>d</a:t>
            </a:r>
            <a:r>
              <a:rPr lang="zh-CN" altLang="en-US" sz="2400" dirty="0">
                <a:latin typeface="微软雅黑" pitchFamily="34" charset="-122"/>
                <a:ea typeface="微软雅黑" pitchFamily="34" charset="-122"/>
                <a:cs typeface="经典粗黑简" pitchFamily="49" charset="-122"/>
              </a:rPr>
              <a:t>维数组</a:t>
            </a:r>
            <a:r>
              <a:rPr lang="en-US" altLang="zh-CN" sz="2400" dirty="0">
                <a:latin typeface="微软雅黑" pitchFamily="34" charset="-122"/>
                <a:ea typeface="微软雅黑" pitchFamily="34" charset="-122"/>
                <a:cs typeface="经典粗黑简" pitchFamily="49" charset="-122"/>
              </a:rPr>
              <a:t>A</a:t>
            </a:r>
            <a:r>
              <a:rPr lang="zh-CN" altLang="en-US" sz="2400" dirty="0">
                <a:latin typeface="微软雅黑" pitchFamily="34" charset="-122"/>
                <a:ea typeface="微软雅黑" pitchFamily="34" charset="-122"/>
                <a:cs typeface="经典粗黑简" pitchFamily="49" charset="-122"/>
              </a:rPr>
              <a:t>的所有元素值。</a:t>
            </a:r>
            <a:endParaRPr lang="en-US" altLang="zh-CN" sz="2400" dirty="0">
              <a:latin typeface="微软雅黑" pitchFamily="34" charset="-122"/>
              <a:ea typeface="微软雅黑" pitchFamily="34" charset="-122"/>
              <a:cs typeface="经典粗黑简" pitchFamily="49" charset="-122"/>
            </a:endParaRPr>
          </a:p>
        </p:txBody>
      </p:sp>
    </p:spTree>
    <p:extLst>
      <p:ext uri="{BB962C8B-B14F-4D97-AF65-F5344CB8AC3E}">
        <p14:creationId xmlns:p14="http://schemas.microsoft.com/office/powerpoint/2010/main" val="266870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093F8-F39D-24BB-67CB-B0AD54DDC53E}"/>
            </a:ext>
          </a:extLst>
        </p:cNvPr>
        <p:cNvGrpSpPr/>
        <p:nvPr/>
      </p:nvGrpSpPr>
      <p:grpSpPr>
        <a:xfrm>
          <a:off x="0" y="0"/>
          <a:ext cx="0" cy="0"/>
          <a:chOff x="0" y="0"/>
          <a:chExt cx="0" cy="0"/>
        </a:xfrm>
      </p:grpSpPr>
      <p:sp>
        <p:nvSpPr>
          <p:cNvPr id="13" name="Rectangle 3">
            <a:extLst>
              <a:ext uri="{FF2B5EF4-FFF2-40B4-BE49-F238E27FC236}">
                <a16:creationId xmlns:a16="http://schemas.microsoft.com/office/drawing/2014/main" id="{6AD4FFA3-98F6-BEA0-4AFC-F8688F43BA54}"/>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6.1.1 </a:t>
            </a:r>
            <a:r>
              <a:rPr lang="zh-CN" altLang="en-US" sz="2800" b="1" dirty="0">
                <a:solidFill>
                  <a:schemeClr val="bg1"/>
                </a:solidFill>
                <a:latin typeface="经典粗黑简" pitchFamily="49" charset="-122"/>
                <a:ea typeface="经典粗黑简" pitchFamily="49" charset="-122"/>
                <a:cs typeface="经典粗黑简" pitchFamily="49" charset="-122"/>
              </a:rPr>
              <a:t>数组的基本概念</a:t>
            </a:r>
          </a:p>
        </p:txBody>
      </p:sp>
      <p:sp>
        <p:nvSpPr>
          <p:cNvPr id="7" name="Rectangle 2">
            <a:extLst>
              <a:ext uri="{FF2B5EF4-FFF2-40B4-BE49-F238E27FC236}">
                <a16:creationId xmlns:a16="http://schemas.microsoft.com/office/drawing/2014/main" id="{79810BF8-1512-F961-9E66-D3D349972FBA}"/>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29" name="直接连接符 28">
            <a:extLst>
              <a:ext uri="{FF2B5EF4-FFF2-40B4-BE49-F238E27FC236}">
                <a16:creationId xmlns:a16="http://schemas.microsoft.com/office/drawing/2014/main" id="{E4544AE9-EEA1-E717-F318-2DF6E1A23E9B}"/>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Box 2">
            <a:extLst>
              <a:ext uri="{FF2B5EF4-FFF2-40B4-BE49-F238E27FC236}">
                <a16:creationId xmlns:a16="http://schemas.microsoft.com/office/drawing/2014/main" id="{80E675F2-B034-0A34-A08A-A868633C403C}"/>
              </a:ext>
            </a:extLst>
          </p:cNvPr>
          <p:cNvSpPr txBox="1"/>
          <p:nvPr/>
        </p:nvSpPr>
        <p:spPr>
          <a:xfrm>
            <a:off x="1055440" y="1971742"/>
            <a:ext cx="10297144" cy="883703"/>
          </a:xfrm>
          <a:prstGeom prst="rect">
            <a:avLst/>
          </a:prstGeom>
          <a:noFill/>
        </p:spPr>
        <p:txBody>
          <a:bodyPr wrap="square" rtlCol="0">
            <a:spAutoFit/>
          </a:bodyPr>
          <a:lstStyle/>
          <a:p>
            <a:pPr marL="457200" indent="-457200" algn="l">
              <a:lnSpc>
                <a:spcPts val="3200"/>
              </a:lnSpc>
              <a:buBlip>
                <a:blip r:embed="rId2"/>
              </a:buBlip>
            </a:pPr>
            <a:r>
              <a:rPr lang="zh-CN" altLang="zh-CN" sz="2400" dirty="0">
                <a:latin typeface="微软雅黑" pitchFamily="34" charset="-122"/>
                <a:ea typeface="微软雅黑" pitchFamily="34" charset="-122"/>
                <a:cs typeface="经典粗黑简" pitchFamily="49" charset="-122"/>
              </a:rPr>
              <a:t>几乎所有的计算机高级语言都实现了数组数据结构，并称之为</a:t>
            </a:r>
            <a:r>
              <a:rPr lang="zh-CN" altLang="zh-CN" sz="2400" dirty="0">
                <a:solidFill>
                  <a:srgbClr val="FF0000"/>
                </a:solidFill>
                <a:latin typeface="微软雅黑" pitchFamily="34" charset="-122"/>
                <a:ea typeface="微软雅黑" pitchFamily="34" charset="-122"/>
                <a:cs typeface="经典粗黑简" pitchFamily="49" charset="-122"/>
              </a:rPr>
              <a:t>数组</a:t>
            </a:r>
            <a:r>
              <a:rPr lang="zh-CN" altLang="zh-CN" sz="2400" dirty="0">
                <a:latin typeface="微软雅黑" pitchFamily="34" charset="-122"/>
                <a:ea typeface="微软雅黑" pitchFamily="34" charset="-122"/>
                <a:cs typeface="经典粗黑简" pitchFamily="49" charset="-122"/>
              </a:rPr>
              <a:t>类型。</a:t>
            </a:r>
            <a:endParaRPr lang="en-US" altLang="zh-CN" sz="2400" dirty="0">
              <a:latin typeface="微软雅黑" pitchFamily="34" charset="-122"/>
              <a:ea typeface="微软雅黑" pitchFamily="34" charset="-122"/>
              <a:cs typeface="经典粗黑简" pitchFamily="49" charset="-122"/>
            </a:endParaRPr>
          </a:p>
          <a:p>
            <a:pPr marL="457200" indent="-457200" algn="l">
              <a:lnSpc>
                <a:spcPts val="3200"/>
              </a:lnSpc>
              <a:buBlip>
                <a:blip r:embed="rId2"/>
              </a:buBlip>
            </a:pPr>
            <a:r>
              <a:rPr lang="zh-CN" altLang="zh-CN" sz="2400" dirty="0">
                <a:latin typeface="微软雅黑" pitchFamily="34" charset="-122"/>
                <a:ea typeface="微软雅黑" pitchFamily="34" charset="-122"/>
                <a:cs typeface="经典粗黑简" pitchFamily="49" charset="-122"/>
              </a:rPr>
              <a:t>以</a:t>
            </a:r>
            <a:r>
              <a:rPr lang="en-US" altLang="zh-CN" sz="2400" dirty="0">
                <a:latin typeface="微软雅黑" pitchFamily="34" charset="-122"/>
                <a:ea typeface="微软雅黑" pitchFamily="34" charset="-122"/>
                <a:cs typeface="经典粗黑简" pitchFamily="49" charset="-122"/>
              </a:rPr>
              <a:t>C/C++</a:t>
            </a:r>
            <a:r>
              <a:rPr lang="zh-CN" altLang="zh-CN" sz="2400" dirty="0">
                <a:latin typeface="微软雅黑" pitchFamily="34" charset="-122"/>
                <a:ea typeface="微软雅黑" pitchFamily="34" charset="-122"/>
                <a:cs typeface="经典粗黑简" pitchFamily="49" charset="-122"/>
              </a:rPr>
              <a:t>语言为例，其中数组数据类型具有以下性质：</a:t>
            </a:r>
          </a:p>
        </p:txBody>
      </p:sp>
      <p:sp>
        <p:nvSpPr>
          <p:cNvPr id="3" name="TextBox 3">
            <a:extLst>
              <a:ext uri="{FF2B5EF4-FFF2-40B4-BE49-F238E27FC236}">
                <a16:creationId xmlns:a16="http://schemas.microsoft.com/office/drawing/2014/main" id="{530307BC-754F-A69C-F1B8-EFC4B2138B82}"/>
              </a:ext>
            </a:extLst>
          </p:cNvPr>
          <p:cNvSpPr txBox="1"/>
          <p:nvPr/>
        </p:nvSpPr>
        <p:spPr>
          <a:xfrm>
            <a:off x="1376911" y="3276126"/>
            <a:ext cx="9654202" cy="247513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ts val="2800"/>
              </a:lnSpc>
              <a:spcBef>
                <a:spcPts val="1200"/>
              </a:spcBef>
            </a:pPr>
            <a:r>
              <a:rPr lang="zh-CN" altLang="en-US" sz="2400" dirty="0">
                <a:solidFill>
                  <a:schemeClr val="tx1"/>
                </a:solidFill>
                <a:latin typeface="微软雅黑" pitchFamily="34" charset="-122"/>
                <a:ea typeface="微软雅黑" pitchFamily="34" charset="-122"/>
                <a:cs typeface="经典粗黑简" pitchFamily="49" charset="-122"/>
              </a:rPr>
              <a:t>（</a:t>
            </a:r>
            <a:r>
              <a:rPr lang="en-US" altLang="zh-CN" sz="2400" dirty="0">
                <a:solidFill>
                  <a:schemeClr val="tx1"/>
                </a:solidFill>
                <a:latin typeface="微软雅黑" pitchFamily="34" charset="-122"/>
                <a:ea typeface="微软雅黑" pitchFamily="34" charset="-122"/>
                <a:cs typeface="经典粗黑简" pitchFamily="49" charset="-122"/>
              </a:rPr>
              <a:t>1</a:t>
            </a:r>
            <a:r>
              <a:rPr lang="zh-CN" altLang="en-US" sz="2400" dirty="0">
                <a:solidFill>
                  <a:schemeClr val="tx1"/>
                </a:solidFill>
                <a:latin typeface="微软雅黑" pitchFamily="34" charset="-122"/>
                <a:ea typeface="微软雅黑" pitchFamily="34" charset="-122"/>
                <a:cs typeface="经典粗黑简" pitchFamily="49" charset="-122"/>
              </a:rPr>
              <a:t>）</a:t>
            </a:r>
            <a:r>
              <a:rPr lang="zh-CN" altLang="zh-CN" sz="2400" dirty="0">
                <a:solidFill>
                  <a:schemeClr val="tx1"/>
                </a:solidFill>
                <a:latin typeface="微软雅黑" pitchFamily="34" charset="-122"/>
                <a:ea typeface="微软雅黑" pitchFamily="34" charset="-122"/>
                <a:cs typeface="经典粗黑简" pitchFamily="49" charset="-122"/>
              </a:rPr>
              <a:t>数组中的</a:t>
            </a:r>
            <a:r>
              <a:rPr lang="zh-CN" altLang="zh-CN" sz="2400" dirty="0">
                <a:solidFill>
                  <a:srgbClr val="FF0000"/>
                </a:solidFill>
                <a:latin typeface="微软雅黑" pitchFamily="34" charset="-122"/>
                <a:ea typeface="微软雅黑" pitchFamily="34" charset="-122"/>
                <a:cs typeface="经典粗黑简" pitchFamily="49" charset="-122"/>
              </a:rPr>
              <a:t>数据元素数目固定</a:t>
            </a:r>
            <a:r>
              <a:rPr lang="zh-CN" altLang="zh-CN" sz="2400" dirty="0">
                <a:solidFill>
                  <a:schemeClr val="tx1"/>
                </a:solidFill>
                <a:latin typeface="微软雅黑" pitchFamily="34" charset="-122"/>
                <a:ea typeface="微软雅黑" pitchFamily="34" charset="-122"/>
                <a:cs typeface="经典粗黑简" pitchFamily="49" charset="-122"/>
              </a:rPr>
              <a:t>。一旦定义了一个数组，其数据元素数目不再有增减的变化。</a:t>
            </a:r>
          </a:p>
          <a:p>
            <a:pPr algn="l">
              <a:lnSpc>
                <a:spcPts val="2800"/>
              </a:lnSpc>
              <a:spcBef>
                <a:spcPts val="1200"/>
              </a:spcBef>
            </a:pPr>
            <a:r>
              <a:rPr lang="zh-CN" altLang="en-US" sz="2400" dirty="0">
                <a:solidFill>
                  <a:schemeClr val="tx1"/>
                </a:solidFill>
                <a:latin typeface="微软雅黑" pitchFamily="34" charset="-122"/>
                <a:ea typeface="微软雅黑" pitchFamily="34" charset="-122"/>
                <a:cs typeface="经典粗黑简" pitchFamily="49" charset="-122"/>
              </a:rPr>
              <a:t>（</a:t>
            </a:r>
            <a:r>
              <a:rPr lang="en-US" altLang="zh-CN" sz="2400" dirty="0">
                <a:solidFill>
                  <a:schemeClr val="tx1"/>
                </a:solidFill>
                <a:latin typeface="微软雅黑" pitchFamily="34" charset="-122"/>
                <a:ea typeface="微软雅黑" pitchFamily="34" charset="-122"/>
                <a:cs typeface="经典粗黑简" pitchFamily="49" charset="-122"/>
              </a:rPr>
              <a:t>2</a:t>
            </a:r>
            <a:r>
              <a:rPr lang="zh-CN" altLang="en-US" sz="2400" dirty="0">
                <a:solidFill>
                  <a:schemeClr val="tx1"/>
                </a:solidFill>
                <a:latin typeface="微软雅黑" pitchFamily="34" charset="-122"/>
                <a:ea typeface="微软雅黑" pitchFamily="34" charset="-122"/>
                <a:cs typeface="经典粗黑简" pitchFamily="49" charset="-122"/>
              </a:rPr>
              <a:t>）</a:t>
            </a:r>
            <a:r>
              <a:rPr lang="zh-CN" altLang="zh-CN" sz="2400" dirty="0">
                <a:solidFill>
                  <a:schemeClr val="tx1"/>
                </a:solidFill>
                <a:latin typeface="微软雅黑" pitchFamily="34" charset="-122"/>
                <a:ea typeface="微软雅黑" pitchFamily="34" charset="-122"/>
                <a:cs typeface="经典粗黑简" pitchFamily="49" charset="-122"/>
              </a:rPr>
              <a:t>数组中的数据元素具有</a:t>
            </a:r>
            <a:r>
              <a:rPr lang="zh-CN" altLang="zh-CN" sz="2400" dirty="0">
                <a:solidFill>
                  <a:srgbClr val="FF0000"/>
                </a:solidFill>
                <a:latin typeface="微软雅黑" pitchFamily="34" charset="-122"/>
                <a:ea typeface="微软雅黑" pitchFamily="34" charset="-122"/>
                <a:cs typeface="经典粗黑简" pitchFamily="49" charset="-122"/>
              </a:rPr>
              <a:t>相同的数据类型</a:t>
            </a:r>
            <a:r>
              <a:rPr lang="zh-CN" altLang="zh-CN" sz="2400" dirty="0">
                <a:solidFill>
                  <a:schemeClr val="tx1"/>
                </a:solidFill>
                <a:latin typeface="微软雅黑" pitchFamily="34" charset="-122"/>
                <a:ea typeface="微软雅黑" pitchFamily="34" charset="-122"/>
                <a:cs typeface="经典粗黑简" pitchFamily="49" charset="-122"/>
              </a:rPr>
              <a:t>。</a:t>
            </a:r>
          </a:p>
          <a:p>
            <a:pPr algn="l">
              <a:lnSpc>
                <a:spcPts val="2800"/>
              </a:lnSpc>
              <a:spcBef>
                <a:spcPts val="1200"/>
              </a:spcBef>
            </a:pPr>
            <a:r>
              <a:rPr lang="zh-CN" altLang="en-US" sz="2400" dirty="0">
                <a:solidFill>
                  <a:schemeClr val="tx1"/>
                </a:solidFill>
                <a:latin typeface="微软雅黑" pitchFamily="34" charset="-122"/>
                <a:ea typeface="微软雅黑" pitchFamily="34" charset="-122"/>
                <a:cs typeface="经典粗黑简" pitchFamily="49" charset="-122"/>
              </a:rPr>
              <a:t>（</a:t>
            </a:r>
            <a:r>
              <a:rPr lang="en-US" altLang="zh-CN" sz="2400" dirty="0">
                <a:solidFill>
                  <a:schemeClr val="tx1"/>
                </a:solidFill>
                <a:latin typeface="微软雅黑" pitchFamily="34" charset="-122"/>
                <a:ea typeface="微软雅黑" pitchFamily="34" charset="-122"/>
                <a:cs typeface="经典粗黑简" pitchFamily="49" charset="-122"/>
              </a:rPr>
              <a:t>3</a:t>
            </a:r>
            <a:r>
              <a:rPr lang="zh-CN" altLang="en-US" sz="2400" dirty="0">
                <a:solidFill>
                  <a:schemeClr val="tx1"/>
                </a:solidFill>
                <a:latin typeface="微软雅黑" pitchFamily="34" charset="-122"/>
                <a:ea typeface="微软雅黑" pitchFamily="34" charset="-122"/>
                <a:cs typeface="经典粗黑简" pitchFamily="49" charset="-122"/>
              </a:rPr>
              <a:t>）</a:t>
            </a:r>
            <a:r>
              <a:rPr lang="zh-CN" altLang="zh-CN" sz="2400" dirty="0">
                <a:solidFill>
                  <a:schemeClr val="tx1"/>
                </a:solidFill>
                <a:latin typeface="微软雅黑" pitchFamily="34" charset="-122"/>
                <a:ea typeface="微软雅黑" pitchFamily="34" charset="-122"/>
                <a:cs typeface="经典粗黑简" pitchFamily="49" charset="-122"/>
              </a:rPr>
              <a:t>数组中的每个数据元素都和一组</a:t>
            </a:r>
            <a:r>
              <a:rPr lang="zh-CN" altLang="zh-CN" sz="2400" dirty="0">
                <a:solidFill>
                  <a:srgbClr val="FF0000"/>
                </a:solidFill>
                <a:latin typeface="微软雅黑" pitchFamily="34" charset="-122"/>
                <a:ea typeface="微软雅黑" pitchFamily="34" charset="-122"/>
                <a:cs typeface="经典粗黑简" pitchFamily="49" charset="-122"/>
              </a:rPr>
              <a:t>唯一的下标</a:t>
            </a:r>
            <a:r>
              <a:rPr lang="zh-CN" altLang="zh-CN" sz="2400" dirty="0">
                <a:solidFill>
                  <a:schemeClr val="tx1"/>
                </a:solidFill>
                <a:latin typeface="微软雅黑" pitchFamily="34" charset="-122"/>
                <a:ea typeface="微软雅黑" pitchFamily="34" charset="-122"/>
                <a:cs typeface="经典粗黑简" pitchFamily="49" charset="-122"/>
              </a:rPr>
              <a:t>对应。</a:t>
            </a:r>
          </a:p>
          <a:p>
            <a:pPr algn="l">
              <a:lnSpc>
                <a:spcPts val="2800"/>
              </a:lnSpc>
              <a:spcBef>
                <a:spcPts val="1200"/>
              </a:spcBef>
            </a:pPr>
            <a:r>
              <a:rPr lang="zh-CN" altLang="en-US" sz="2400" dirty="0">
                <a:solidFill>
                  <a:schemeClr val="tx1"/>
                </a:solidFill>
                <a:latin typeface="微软雅黑" pitchFamily="34" charset="-122"/>
                <a:ea typeface="微软雅黑" pitchFamily="34" charset="-122"/>
                <a:cs typeface="经典粗黑简" pitchFamily="49" charset="-122"/>
              </a:rPr>
              <a:t>（</a:t>
            </a:r>
            <a:r>
              <a:rPr lang="en-US" altLang="zh-CN" sz="2400" dirty="0">
                <a:solidFill>
                  <a:schemeClr val="tx1"/>
                </a:solidFill>
                <a:latin typeface="微软雅黑" pitchFamily="34" charset="-122"/>
                <a:ea typeface="微软雅黑" pitchFamily="34" charset="-122"/>
                <a:cs typeface="经典粗黑简" pitchFamily="49" charset="-122"/>
              </a:rPr>
              <a:t>4</a:t>
            </a:r>
            <a:r>
              <a:rPr lang="zh-CN" altLang="en-US" sz="2400" dirty="0">
                <a:solidFill>
                  <a:schemeClr val="tx1"/>
                </a:solidFill>
                <a:latin typeface="微软雅黑" pitchFamily="34" charset="-122"/>
                <a:ea typeface="微软雅黑" pitchFamily="34" charset="-122"/>
                <a:cs typeface="经典粗黑简" pitchFamily="49" charset="-122"/>
              </a:rPr>
              <a:t>）</a:t>
            </a:r>
            <a:r>
              <a:rPr lang="zh-CN" altLang="zh-CN" sz="2400" dirty="0">
                <a:solidFill>
                  <a:schemeClr val="tx1"/>
                </a:solidFill>
                <a:latin typeface="微软雅黑" pitchFamily="34" charset="-122"/>
                <a:ea typeface="微软雅黑" pitchFamily="34" charset="-122"/>
                <a:cs typeface="经典粗黑简" pitchFamily="49" charset="-122"/>
              </a:rPr>
              <a:t>数组是一种随机存储结构。可</a:t>
            </a:r>
            <a:r>
              <a:rPr lang="zh-CN" altLang="zh-CN" sz="2400" dirty="0">
                <a:solidFill>
                  <a:srgbClr val="FF0000"/>
                </a:solidFill>
                <a:latin typeface="微软雅黑" pitchFamily="34" charset="-122"/>
                <a:ea typeface="微软雅黑" pitchFamily="34" charset="-122"/>
                <a:cs typeface="经典粗黑简" pitchFamily="49" charset="-122"/>
              </a:rPr>
              <a:t>随机存取</a:t>
            </a:r>
            <a:r>
              <a:rPr lang="zh-CN" altLang="zh-CN" sz="2400" dirty="0">
                <a:solidFill>
                  <a:schemeClr val="tx1"/>
                </a:solidFill>
                <a:latin typeface="微软雅黑" pitchFamily="34" charset="-122"/>
                <a:ea typeface="微软雅黑" pitchFamily="34" charset="-122"/>
                <a:cs typeface="经典粗黑简" pitchFamily="49" charset="-122"/>
              </a:rPr>
              <a:t>数组中的任意数据元素。</a:t>
            </a:r>
            <a:endParaRPr lang="zh-CN" altLang="en-US" sz="2400" dirty="0">
              <a:solidFill>
                <a:schemeClr val="tx1"/>
              </a:solidFill>
              <a:latin typeface="微软雅黑" pitchFamily="34" charset="-122"/>
              <a:ea typeface="微软雅黑" pitchFamily="34" charset="-122"/>
              <a:cs typeface="经典粗黑简" pitchFamily="49" charset="-122"/>
            </a:endParaRPr>
          </a:p>
        </p:txBody>
      </p:sp>
    </p:spTree>
    <p:extLst>
      <p:ext uri="{BB962C8B-B14F-4D97-AF65-F5344CB8AC3E}">
        <p14:creationId xmlns:p14="http://schemas.microsoft.com/office/powerpoint/2010/main" val="3437956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AB8CC-76FF-B8B8-1DA4-0EC3AA62691E}"/>
            </a:ext>
          </a:extLst>
        </p:cNvPr>
        <p:cNvGrpSpPr/>
        <p:nvPr/>
      </p:nvGrpSpPr>
      <p:grpSpPr>
        <a:xfrm>
          <a:off x="0" y="0"/>
          <a:ext cx="0" cy="0"/>
          <a:chOff x="0" y="0"/>
          <a:chExt cx="0" cy="0"/>
        </a:xfrm>
      </p:grpSpPr>
      <p:sp>
        <p:nvSpPr>
          <p:cNvPr id="13" name="Rectangle 3">
            <a:extLst>
              <a:ext uri="{FF2B5EF4-FFF2-40B4-BE49-F238E27FC236}">
                <a16:creationId xmlns:a16="http://schemas.microsoft.com/office/drawing/2014/main" id="{D44F432A-A460-B5B3-986B-9912F2904BDB}"/>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6.1.1 </a:t>
            </a:r>
            <a:r>
              <a:rPr lang="zh-CN" altLang="en-US" sz="2800" b="1" dirty="0">
                <a:solidFill>
                  <a:schemeClr val="bg1"/>
                </a:solidFill>
                <a:latin typeface="经典粗黑简" pitchFamily="49" charset="-122"/>
                <a:ea typeface="经典粗黑简" pitchFamily="49" charset="-122"/>
                <a:cs typeface="经典粗黑简" pitchFamily="49" charset="-122"/>
              </a:rPr>
              <a:t>数组的基本概念</a:t>
            </a:r>
          </a:p>
        </p:txBody>
      </p:sp>
      <p:sp>
        <p:nvSpPr>
          <p:cNvPr id="7" name="Rectangle 2">
            <a:extLst>
              <a:ext uri="{FF2B5EF4-FFF2-40B4-BE49-F238E27FC236}">
                <a16:creationId xmlns:a16="http://schemas.microsoft.com/office/drawing/2014/main" id="{7090CDCC-6D7D-6E9E-609F-C1FD456A1B00}"/>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29" name="直接连接符 28">
            <a:extLst>
              <a:ext uri="{FF2B5EF4-FFF2-40B4-BE49-F238E27FC236}">
                <a16:creationId xmlns:a16="http://schemas.microsoft.com/office/drawing/2014/main" id="{73D453E9-0727-5F6A-9471-8BEC8FC03EFE}"/>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Box 2">
            <a:extLst>
              <a:ext uri="{FF2B5EF4-FFF2-40B4-BE49-F238E27FC236}">
                <a16:creationId xmlns:a16="http://schemas.microsoft.com/office/drawing/2014/main" id="{D56F535B-25F8-6A11-4948-24D719D44D42}"/>
              </a:ext>
            </a:extLst>
          </p:cNvPr>
          <p:cNvSpPr txBox="1"/>
          <p:nvPr/>
        </p:nvSpPr>
        <p:spPr>
          <a:xfrm>
            <a:off x="1487488" y="2636912"/>
            <a:ext cx="9073008" cy="196217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2"/>
              </a:buBlip>
            </a:pPr>
            <a:r>
              <a:rPr lang="zh-CN" altLang="zh-CN" sz="2400" dirty="0">
                <a:solidFill>
                  <a:schemeClr val="tx1"/>
                </a:solidFill>
                <a:latin typeface="微软雅黑" pitchFamily="34" charset="-122"/>
                <a:ea typeface="微软雅黑" pitchFamily="34" charset="-122"/>
                <a:cs typeface="经典粗黑简" pitchFamily="49" charset="-122"/>
              </a:rPr>
              <a:t>本章的数组是作为一种</a:t>
            </a:r>
            <a:r>
              <a:rPr lang="zh-CN" altLang="zh-CN" sz="2400" dirty="0">
                <a:solidFill>
                  <a:srgbClr val="FF0000"/>
                </a:solidFill>
                <a:latin typeface="微软雅黑" pitchFamily="34" charset="-122"/>
                <a:ea typeface="微软雅黑" pitchFamily="34" charset="-122"/>
                <a:cs typeface="经典粗黑简" pitchFamily="49" charset="-122"/>
              </a:rPr>
              <a:t>数据结构</a:t>
            </a:r>
            <a:r>
              <a:rPr lang="zh-CN" altLang="zh-CN" sz="2400" dirty="0">
                <a:solidFill>
                  <a:schemeClr val="tx1"/>
                </a:solidFill>
                <a:latin typeface="微软雅黑" pitchFamily="34" charset="-122"/>
                <a:ea typeface="微软雅黑" pitchFamily="34" charset="-122"/>
                <a:cs typeface="经典粗黑简" pitchFamily="49" charset="-122"/>
              </a:rPr>
              <a:t>讨论的</a:t>
            </a:r>
            <a:r>
              <a:rPr lang="zh-CN" altLang="en-US" sz="2400" dirty="0">
                <a:solidFill>
                  <a:schemeClr val="tx1"/>
                </a:solidFill>
                <a:latin typeface="微软雅黑" pitchFamily="34" charset="-122"/>
                <a:ea typeface="微软雅黑" pitchFamily="34" charset="-122"/>
                <a:cs typeface="经典粗黑简" pitchFamily="49" charset="-122"/>
              </a:rPr>
              <a:t>。</a:t>
            </a:r>
            <a:endParaRPr lang="en-US" altLang="zh-CN" sz="2400" dirty="0">
              <a:solidFill>
                <a:schemeClr val="tx1"/>
              </a:solidFill>
              <a:latin typeface="微软雅黑" pitchFamily="34" charset="-122"/>
              <a:ea typeface="微软雅黑" pitchFamily="34" charset="-122"/>
              <a:cs typeface="经典粗黑简" pitchFamily="49" charset="-122"/>
            </a:endParaRPr>
          </a:p>
          <a:p>
            <a:pPr marL="342900" indent="-342900" algn="l">
              <a:lnSpc>
                <a:spcPts val="2800"/>
              </a:lnSpc>
              <a:spcBef>
                <a:spcPts val="1200"/>
              </a:spcBef>
              <a:buBlip>
                <a:blip r:embed="rId2"/>
              </a:buBlip>
            </a:pPr>
            <a:r>
              <a:rPr lang="zh-CN" altLang="zh-CN" sz="2400" dirty="0">
                <a:solidFill>
                  <a:schemeClr val="tx1"/>
                </a:solidFill>
                <a:latin typeface="微软雅黑" pitchFamily="34" charset="-122"/>
                <a:ea typeface="微软雅黑" pitchFamily="34" charset="-122"/>
                <a:cs typeface="经典粗黑简" pitchFamily="49" charset="-122"/>
              </a:rPr>
              <a:t>而</a:t>
            </a:r>
            <a:r>
              <a:rPr lang="en-US" altLang="zh-CN" sz="2400" dirty="0">
                <a:solidFill>
                  <a:schemeClr val="tx1"/>
                </a:solidFill>
                <a:latin typeface="微软雅黑" pitchFamily="34" charset="-122"/>
                <a:ea typeface="微软雅黑" pitchFamily="34" charset="-122"/>
                <a:cs typeface="经典粗黑简" pitchFamily="49" charset="-122"/>
              </a:rPr>
              <a:t>C/C++</a:t>
            </a:r>
            <a:r>
              <a:rPr lang="zh-CN" altLang="zh-CN" sz="2400" dirty="0">
                <a:solidFill>
                  <a:schemeClr val="tx1"/>
                </a:solidFill>
                <a:latin typeface="微软雅黑" pitchFamily="34" charset="-122"/>
                <a:ea typeface="微软雅黑" pitchFamily="34" charset="-122"/>
                <a:cs typeface="经典粗黑简" pitchFamily="49" charset="-122"/>
              </a:rPr>
              <a:t>中的数组是一种</a:t>
            </a:r>
            <a:r>
              <a:rPr lang="zh-CN" altLang="zh-CN" sz="2400" dirty="0">
                <a:solidFill>
                  <a:srgbClr val="FF0000"/>
                </a:solidFill>
                <a:latin typeface="微软雅黑" pitchFamily="34" charset="-122"/>
                <a:ea typeface="微软雅黑" pitchFamily="34" charset="-122"/>
                <a:cs typeface="经典粗黑简" pitchFamily="49" charset="-122"/>
              </a:rPr>
              <a:t>数据类型</a:t>
            </a:r>
            <a:r>
              <a:rPr lang="zh-CN" altLang="en-US" sz="2400" dirty="0">
                <a:solidFill>
                  <a:schemeClr val="tx1"/>
                </a:solidFill>
                <a:latin typeface="微软雅黑" pitchFamily="34" charset="-122"/>
                <a:ea typeface="微软雅黑" pitchFamily="34" charset="-122"/>
                <a:cs typeface="经典粗黑简" pitchFamily="49" charset="-122"/>
              </a:rPr>
              <a:t>。</a:t>
            </a:r>
            <a:endParaRPr lang="en-US" altLang="zh-CN" sz="2400" dirty="0">
              <a:solidFill>
                <a:schemeClr val="tx1"/>
              </a:solidFill>
              <a:latin typeface="微软雅黑" pitchFamily="34" charset="-122"/>
              <a:ea typeface="微软雅黑" pitchFamily="34" charset="-122"/>
              <a:cs typeface="经典粗黑简" pitchFamily="49" charset="-122"/>
            </a:endParaRPr>
          </a:p>
          <a:p>
            <a:pPr marL="342900" indent="-342900" algn="l">
              <a:lnSpc>
                <a:spcPts val="2800"/>
              </a:lnSpc>
              <a:spcBef>
                <a:spcPts val="1200"/>
              </a:spcBef>
              <a:buBlip>
                <a:blip r:embed="rId2"/>
              </a:buBlip>
            </a:pPr>
            <a:r>
              <a:rPr lang="zh-CN" altLang="zh-CN" sz="2400" dirty="0">
                <a:solidFill>
                  <a:schemeClr val="tx1"/>
                </a:solidFill>
                <a:latin typeface="微软雅黑" pitchFamily="34" charset="-122"/>
                <a:ea typeface="微软雅黑" pitchFamily="34" charset="-122"/>
                <a:cs typeface="经典粗黑简" pitchFamily="49" charset="-122"/>
              </a:rPr>
              <a:t>前者可以借助后者来存储，像线性表的顺序存储结构即顺序表就是借助一维数组这种数据类型来存储的。但两者不能混淆。</a:t>
            </a:r>
            <a:endParaRPr lang="zh-CN" altLang="en-US" sz="2400" dirty="0">
              <a:solidFill>
                <a:schemeClr val="tx1"/>
              </a:solidFill>
              <a:latin typeface="微软雅黑" pitchFamily="34" charset="-122"/>
              <a:ea typeface="微软雅黑" pitchFamily="34" charset="-122"/>
              <a:cs typeface="经典粗黑简" pitchFamily="49" charset="-122"/>
            </a:endParaRPr>
          </a:p>
        </p:txBody>
      </p:sp>
      <p:sp>
        <p:nvSpPr>
          <p:cNvPr id="3" name="TextBox 3">
            <a:extLst>
              <a:ext uri="{FF2B5EF4-FFF2-40B4-BE49-F238E27FC236}">
                <a16:creationId xmlns:a16="http://schemas.microsoft.com/office/drawing/2014/main" id="{2B7A7613-4D92-F41F-39A1-856D06E5A153}"/>
              </a:ext>
            </a:extLst>
          </p:cNvPr>
          <p:cNvSpPr txBox="1"/>
          <p:nvPr/>
        </p:nvSpPr>
        <p:spPr>
          <a:xfrm>
            <a:off x="1201736" y="1901544"/>
            <a:ext cx="1428760" cy="461665"/>
          </a:xfrm>
          <a:prstGeom prst="rect">
            <a:avLst/>
          </a:prstGeom>
          <a:noFill/>
        </p:spPr>
        <p:txBody>
          <a:bodyPr wrap="square" rtlCol="0">
            <a:spAutoFit/>
          </a:bodyPr>
          <a:lstStyle/>
          <a:p>
            <a:pPr algn="l"/>
            <a:r>
              <a:rPr lang="zh-CN" altLang="zh-CN" sz="2400" dirty="0">
                <a:latin typeface="微软雅黑" pitchFamily="34" charset="-122"/>
                <a:ea typeface="微软雅黑" pitchFamily="34" charset="-122"/>
                <a:cs typeface="经典粗黑简" pitchFamily="49" charset="-122"/>
              </a:rPr>
              <a:t>注</a:t>
            </a:r>
            <a:r>
              <a:rPr lang="en-US" altLang="zh-CN" sz="2400" dirty="0">
                <a:latin typeface="微软雅黑" pitchFamily="34" charset="-122"/>
                <a:ea typeface="微软雅黑" pitchFamily="34" charset="-122"/>
                <a:cs typeface="经典粗黑简" pitchFamily="49" charset="-122"/>
              </a:rPr>
              <a:t>  </a:t>
            </a:r>
            <a:r>
              <a:rPr lang="zh-CN" altLang="zh-CN" sz="2400" dirty="0">
                <a:latin typeface="微软雅黑" pitchFamily="34" charset="-122"/>
                <a:ea typeface="微软雅黑" pitchFamily="34" charset="-122"/>
                <a:cs typeface="经典粗黑简" pitchFamily="49" charset="-122"/>
              </a:rPr>
              <a:t>意</a:t>
            </a:r>
            <a:r>
              <a:rPr lang="zh-CN" altLang="en-US" sz="2400" dirty="0">
                <a:latin typeface="微软雅黑" pitchFamily="34" charset="-122"/>
                <a:ea typeface="微软雅黑" pitchFamily="34" charset="-122"/>
                <a:cs typeface="经典粗黑简" pitchFamily="49" charset="-122"/>
              </a:rPr>
              <a:t>：</a:t>
            </a:r>
          </a:p>
        </p:txBody>
      </p:sp>
    </p:spTree>
    <p:extLst>
      <p:ext uri="{BB962C8B-B14F-4D97-AF65-F5344CB8AC3E}">
        <p14:creationId xmlns:p14="http://schemas.microsoft.com/office/powerpoint/2010/main" val="232631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5542847" y="1988840"/>
            <a:ext cx="5017648" cy="1015663"/>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数组一旦被定义，它的维数和维界就不再改变。因此，除了结构的</a:t>
            </a:r>
            <a:r>
              <a:rPr lang="zh-CN" altLang="en-US" sz="2000" dirty="0">
                <a:solidFill>
                  <a:srgbClr val="FF0000"/>
                </a:solidFill>
                <a:latin typeface="微软雅黑" pitchFamily="34" charset="-122"/>
                <a:ea typeface="微软雅黑" pitchFamily="34" charset="-122"/>
                <a:cs typeface="经典粗黑简" pitchFamily="49" charset="-122"/>
              </a:rPr>
              <a:t>初始化</a:t>
            </a:r>
            <a:r>
              <a:rPr lang="zh-CN" altLang="en-US" sz="2000" dirty="0">
                <a:latin typeface="微软雅黑" pitchFamily="34" charset="-122"/>
                <a:ea typeface="微软雅黑" pitchFamily="34" charset="-122"/>
                <a:cs typeface="经典粗黑简" pitchFamily="49" charset="-122"/>
              </a:rPr>
              <a:t>和</a:t>
            </a:r>
            <a:r>
              <a:rPr lang="zh-CN" altLang="en-US" sz="2000" dirty="0">
                <a:solidFill>
                  <a:srgbClr val="FF0000"/>
                </a:solidFill>
                <a:latin typeface="微软雅黑" pitchFamily="34" charset="-122"/>
                <a:ea typeface="微软雅黑" pitchFamily="34" charset="-122"/>
                <a:cs typeface="经典粗黑简" pitchFamily="49" charset="-122"/>
              </a:rPr>
              <a:t>销毁</a:t>
            </a:r>
            <a:r>
              <a:rPr lang="zh-CN" altLang="en-US" sz="2000" dirty="0">
                <a:latin typeface="微软雅黑" pitchFamily="34" charset="-122"/>
                <a:ea typeface="微软雅黑" pitchFamily="34" charset="-122"/>
                <a:cs typeface="经典粗黑简" pitchFamily="49" charset="-122"/>
              </a:rPr>
              <a:t>之外，数组只有</a:t>
            </a:r>
            <a:r>
              <a:rPr lang="zh-CN" altLang="en-US" sz="2000" u="sng" dirty="0">
                <a:solidFill>
                  <a:srgbClr val="FF0000"/>
                </a:solidFill>
                <a:latin typeface="微软雅黑" pitchFamily="34" charset="-122"/>
                <a:ea typeface="微软雅黑" pitchFamily="34" charset="-122"/>
                <a:cs typeface="经典粗黑简" pitchFamily="49" charset="-122"/>
              </a:rPr>
              <a:t>存取</a:t>
            </a:r>
            <a:r>
              <a:rPr lang="zh-CN" altLang="en-US" sz="2000" dirty="0">
                <a:latin typeface="微软雅黑" pitchFamily="34" charset="-122"/>
                <a:ea typeface="微软雅黑" pitchFamily="34" charset="-122"/>
                <a:cs typeface="经典粗黑简" pitchFamily="49" charset="-122"/>
              </a:rPr>
              <a:t>元素和</a:t>
            </a:r>
            <a:r>
              <a:rPr lang="zh-CN" altLang="en-US" sz="2000" u="sng" dirty="0">
                <a:solidFill>
                  <a:srgbClr val="FF0000"/>
                </a:solidFill>
                <a:latin typeface="微软雅黑" pitchFamily="34" charset="-122"/>
                <a:ea typeface="微软雅黑" pitchFamily="34" charset="-122"/>
                <a:cs typeface="经典粗黑简" pitchFamily="49" charset="-122"/>
              </a:rPr>
              <a:t>修改</a:t>
            </a:r>
            <a:r>
              <a:rPr lang="zh-CN" altLang="en-US" sz="2000" dirty="0">
                <a:latin typeface="微软雅黑" pitchFamily="34" charset="-122"/>
                <a:ea typeface="微软雅黑" pitchFamily="34" charset="-122"/>
                <a:cs typeface="经典粗黑简" pitchFamily="49" charset="-122"/>
              </a:rPr>
              <a:t>元素值的操作。</a:t>
            </a:r>
          </a:p>
        </p:txBody>
      </p:sp>
      <p:grpSp>
        <p:nvGrpSpPr>
          <p:cNvPr id="32" name="组合 31"/>
          <p:cNvGrpSpPr/>
          <p:nvPr/>
        </p:nvGrpSpPr>
        <p:grpSpPr>
          <a:xfrm>
            <a:off x="2487914" y="2636912"/>
            <a:ext cx="2854069" cy="2462606"/>
            <a:chOff x="1822873" y="3916542"/>
            <a:chExt cx="2854069" cy="2462606"/>
          </a:xfrm>
        </p:grpSpPr>
        <p:sp>
          <p:nvSpPr>
            <p:cNvPr id="33" name="Rectangle 5"/>
            <p:cNvSpPr>
              <a:spLocks noChangeArrowheads="1"/>
            </p:cNvSpPr>
            <p:nvPr/>
          </p:nvSpPr>
          <p:spPr bwMode="auto">
            <a:xfrm>
              <a:off x="1895264" y="3916542"/>
              <a:ext cx="2781678" cy="2462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11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1n</a:t>
              </a: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21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2n</a:t>
              </a:r>
            </a:p>
            <a:p>
              <a:pPr algn="l">
                <a:spcBef>
                  <a:spcPct val="50000"/>
                </a:spcBef>
                <a:buClr>
                  <a:schemeClr val="folHlink"/>
                </a:buClr>
                <a:buSzPct val="60000"/>
                <a:buFont typeface="Wingdings" pitchFamily="2" charset="2"/>
                <a:buNone/>
              </a:pP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10000" dirty="0" err="1">
                  <a:latin typeface="Tahoma" pitchFamily="34" charset="0"/>
                  <a:ea typeface="楷体_GB2312" pitchFamily="49" charset="-122"/>
                </a:rPr>
                <a:t>ij</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endParaRPr kumimoji="1" lang="en-US" altLang="zh-CN" sz="2800" dirty="0">
                <a:latin typeface="Tahoma" pitchFamily="34" charset="0"/>
                <a:ea typeface="楷体_GB2312" pitchFamily="49" charset="-122"/>
              </a:endParaRP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10000" dirty="0">
                  <a:latin typeface="Tahoma" pitchFamily="34" charset="0"/>
                  <a:ea typeface="楷体_GB2312" pitchFamily="49" charset="-122"/>
                </a:rPr>
                <a:t>m</a:t>
              </a:r>
              <a:r>
                <a:rPr kumimoji="1" lang="en-US" altLang="zh-CN" sz="2800" baseline="-20000" dirty="0">
                  <a:latin typeface="Tahoma" pitchFamily="34" charset="0"/>
                  <a:ea typeface="楷体_GB2312" pitchFamily="49" charset="-122"/>
                </a:rPr>
                <a:t>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m2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20000" dirty="0" err="1">
                  <a:latin typeface="Tahoma" pitchFamily="34" charset="0"/>
                  <a:ea typeface="楷体_GB2312" pitchFamily="49" charset="-122"/>
                </a:rPr>
                <a:t>mn</a:t>
              </a:r>
              <a:endParaRPr kumimoji="1" lang="en-US" altLang="zh-CN" sz="2800" baseline="-20000" dirty="0">
                <a:latin typeface="Tahoma" pitchFamily="34" charset="0"/>
                <a:ea typeface="楷体_GB2312" pitchFamily="49" charset="-122"/>
              </a:endParaRPr>
            </a:p>
          </p:txBody>
        </p:sp>
        <p:grpSp>
          <p:nvGrpSpPr>
            <p:cNvPr id="34" name="组合 33"/>
            <p:cNvGrpSpPr/>
            <p:nvPr/>
          </p:nvGrpSpPr>
          <p:grpSpPr>
            <a:xfrm>
              <a:off x="1822873" y="3973445"/>
              <a:ext cx="144780" cy="2380468"/>
              <a:chOff x="1822873" y="3921191"/>
              <a:chExt cx="144780" cy="2380468"/>
            </a:xfrm>
          </p:grpSpPr>
          <p:sp>
            <p:nvSpPr>
              <p:cNvPr id="39" name="Line 6"/>
              <p:cNvSpPr>
                <a:spLocks noChangeShapeType="1"/>
              </p:cNvSpPr>
              <p:nvPr/>
            </p:nvSpPr>
            <p:spPr bwMode="auto">
              <a:xfrm>
                <a:off x="1822873" y="392119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0" name="Line 7"/>
              <p:cNvSpPr>
                <a:spLocks noChangeShapeType="1"/>
              </p:cNvSpPr>
              <p:nvPr/>
            </p:nvSpPr>
            <p:spPr bwMode="auto">
              <a:xfrm>
                <a:off x="1822873" y="630165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1" name="Line 8"/>
              <p:cNvSpPr>
                <a:spLocks noChangeShapeType="1"/>
              </p:cNvSpPr>
              <p:nvPr/>
            </p:nvSpPr>
            <p:spPr bwMode="auto">
              <a:xfrm>
                <a:off x="1822873" y="392119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5" name="组合 34"/>
            <p:cNvGrpSpPr/>
            <p:nvPr/>
          </p:nvGrpSpPr>
          <p:grpSpPr>
            <a:xfrm>
              <a:off x="4532161" y="3983738"/>
              <a:ext cx="144780" cy="2380468"/>
              <a:chOff x="4758595" y="3957611"/>
              <a:chExt cx="144780" cy="2380468"/>
            </a:xfrm>
          </p:grpSpPr>
          <p:sp>
            <p:nvSpPr>
              <p:cNvPr id="36" name="Line 9"/>
              <p:cNvSpPr>
                <a:spLocks noChangeShapeType="1"/>
              </p:cNvSpPr>
              <p:nvPr/>
            </p:nvSpPr>
            <p:spPr bwMode="auto">
              <a:xfrm>
                <a:off x="4903375" y="395761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10"/>
              <p:cNvSpPr>
                <a:spLocks noChangeShapeType="1"/>
              </p:cNvSpPr>
              <p:nvPr/>
            </p:nvSpPr>
            <p:spPr bwMode="auto">
              <a:xfrm>
                <a:off x="4758595" y="633807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11"/>
              <p:cNvSpPr>
                <a:spLocks noChangeShapeType="1"/>
              </p:cNvSpPr>
              <p:nvPr/>
            </p:nvSpPr>
            <p:spPr bwMode="auto">
              <a:xfrm>
                <a:off x="4758595" y="395761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42" name="Text Box 12"/>
          <p:cNvSpPr txBox="1">
            <a:spLocks noChangeArrowheads="1"/>
          </p:cNvSpPr>
          <p:nvPr/>
        </p:nvSpPr>
        <p:spPr bwMode="auto">
          <a:xfrm>
            <a:off x="1760501" y="3617501"/>
            <a:ext cx="727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50000"/>
              </a:spcBef>
            </a:pPr>
            <a:r>
              <a:rPr kumimoji="1" lang="en-US" altLang="zh-CN" sz="2800" dirty="0">
                <a:latin typeface="Tahoma" pitchFamily="34" charset="0"/>
                <a:ea typeface="楷体_GB2312" pitchFamily="49" charset="-122"/>
              </a:rPr>
              <a:t>A=</a:t>
            </a:r>
            <a:endParaRPr kumimoji="1" lang="en-US" altLang="zh-CN" sz="2800" baseline="-25000" dirty="0">
              <a:latin typeface="Tahoma" pitchFamily="34" charset="0"/>
              <a:ea typeface="楷体_GB2312" pitchFamily="49" charset="-122"/>
            </a:endParaRPr>
          </a:p>
        </p:txBody>
      </p:sp>
      <p:sp>
        <p:nvSpPr>
          <p:cNvPr id="21" name="Text Box 5"/>
          <p:cNvSpPr txBox="1">
            <a:spLocks noChangeArrowheads="1"/>
          </p:cNvSpPr>
          <p:nvPr/>
        </p:nvSpPr>
        <p:spPr bwMode="auto">
          <a:xfrm>
            <a:off x="5540400" y="3068959"/>
            <a:ext cx="486248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1" hangingPunct="1">
              <a:spcBef>
                <a:spcPct val="20000"/>
              </a:spcBef>
              <a:buSzPct val="85000"/>
              <a:defRPr/>
            </a:pPr>
            <a:r>
              <a:rPr lang="zh-CN" altLang="en-US" dirty="0">
                <a:latin typeface="微软雅黑" pitchFamily="34" charset="-122"/>
                <a:ea typeface="微软雅黑" pitchFamily="34" charset="-122"/>
                <a:cs typeface="经典粗黑简" pitchFamily="49" charset="-122"/>
              </a:rPr>
              <a:t>⑴ 存取：给定一组下标，读出对应的数组元素；</a:t>
            </a:r>
          </a:p>
        </p:txBody>
      </p:sp>
      <p:sp>
        <p:nvSpPr>
          <p:cNvPr id="22" name="矩形 21"/>
          <p:cNvSpPr/>
          <p:nvPr/>
        </p:nvSpPr>
        <p:spPr>
          <a:xfrm>
            <a:off x="5540400" y="3544783"/>
            <a:ext cx="4862481" cy="646331"/>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20000"/>
              </a:spcBef>
              <a:buSzPct val="85000"/>
            </a:pPr>
            <a:r>
              <a:rPr lang="zh-CN" altLang="en-US" dirty="0">
                <a:latin typeface="微软雅黑" pitchFamily="34" charset="-122"/>
                <a:ea typeface="微软雅黑" pitchFamily="34" charset="-122"/>
                <a:cs typeface="经典粗黑简" pitchFamily="49" charset="-122"/>
              </a:rPr>
              <a:t>⑵ 修改：给定一组下标，存储或修改与其相对应的数组元素。</a:t>
            </a:r>
          </a:p>
        </p:txBody>
      </p:sp>
      <p:graphicFrame>
        <p:nvGraphicFramePr>
          <p:cNvPr id="23" name="Object 7"/>
          <p:cNvGraphicFramePr>
            <a:graphicFrameLocks noChangeAspect="1"/>
          </p:cNvGraphicFramePr>
          <p:nvPr>
            <p:extLst>
              <p:ext uri="{D42A27DB-BD31-4B8C-83A1-F6EECF244321}">
                <p14:modId xmlns:p14="http://schemas.microsoft.com/office/powerpoint/2010/main" val="3167378782"/>
              </p:ext>
            </p:extLst>
          </p:nvPr>
        </p:nvGraphicFramePr>
        <p:xfrm>
          <a:off x="5595375" y="4293096"/>
          <a:ext cx="495300" cy="485775"/>
        </p:xfrm>
        <a:graphic>
          <a:graphicData uri="http://schemas.openxmlformats.org/presentationml/2006/ole">
            <mc:AlternateContent xmlns:mc="http://schemas.openxmlformats.org/markup-compatibility/2006">
              <mc:Choice xmlns:v="urn:schemas-microsoft-com:vml" Requires="v">
                <p:oleObj name="Clip" r:id="rId2" imgW="861365" imgH="844906" progId="MS_ClipArt_Gallery.5">
                  <p:embed/>
                </p:oleObj>
              </mc:Choice>
              <mc:Fallback>
                <p:oleObj name="Clip" r:id="rId2" imgW="861365" imgH="844906" progId="MS_ClipArt_Gallery.5">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375" y="4293096"/>
                        <a:ext cx="4953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Text Box 8"/>
          <p:cNvSpPr txBox="1">
            <a:spLocks noChangeArrowheads="1"/>
          </p:cNvSpPr>
          <p:nvPr/>
        </p:nvSpPr>
        <p:spPr bwMode="auto">
          <a:xfrm>
            <a:off x="6171439" y="4357016"/>
            <a:ext cx="3600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defRPr/>
            </a:pPr>
            <a:r>
              <a:rPr lang="zh-CN" altLang="en-US" sz="2000" dirty="0">
                <a:latin typeface="微软雅黑" pitchFamily="34" charset="-122"/>
                <a:ea typeface="微软雅黑" pitchFamily="34" charset="-122"/>
                <a:cs typeface="经典粗黑简" pitchFamily="49" charset="-122"/>
              </a:rPr>
              <a:t>矩阵应该采用何种方式存储？</a:t>
            </a:r>
          </a:p>
        </p:txBody>
      </p:sp>
      <p:sp>
        <p:nvSpPr>
          <p:cNvPr id="25" name="Text Box 9"/>
          <p:cNvSpPr txBox="1">
            <a:spLocks noChangeArrowheads="1"/>
          </p:cNvSpPr>
          <p:nvPr/>
        </p:nvSpPr>
        <p:spPr bwMode="auto">
          <a:xfrm>
            <a:off x="5519936" y="4797151"/>
            <a:ext cx="488294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1" hangingPunct="1">
              <a:spcBef>
                <a:spcPct val="20000"/>
              </a:spcBef>
              <a:buSzPct val="85000"/>
              <a:defRPr/>
            </a:pPr>
            <a:r>
              <a:rPr lang="zh-CN" altLang="en-US" sz="2000" dirty="0">
                <a:solidFill>
                  <a:srgbClr val="FF0000"/>
                </a:solidFill>
                <a:latin typeface="微软雅黑" pitchFamily="34" charset="-122"/>
                <a:ea typeface="微软雅黑" pitchFamily="34" charset="-122"/>
                <a:cs typeface="经典粗黑简" pitchFamily="49" charset="-122"/>
              </a:rPr>
              <a:t>矩阵</a:t>
            </a:r>
            <a:r>
              <a:rPr lang="zh-CN" altLang="en-US" sz="2000" dirty="0">
                <a:latin typeface="微软雅黑" pitchFamily="34" charset="-122"/>
                <a:ea typeface="微软雅黑" pitchFamily="34" charset="-122"/>
                <a:cs typeface="经典粗黑简" pitchFamily="49" charset="-122"/>
              </a:rPr>
              <a:t>没有插入和删除操作，所以，不用预留空间，</a:t>
            </a:r>
            <a:r>
              <a:rPr lang="zh-CN" altLang="en-US" sz="2000" dirty="0">
                <a:solidFill>
                  <a:srgbClr val="FF0000"/>
                </a:solidFill>
                <a:latin typeface="微软雅黑" pitchFamily="34" charset="-122"/>
                <a:ea typeface="微软雅黑" pitchFamily="34" charset="-122"/>
                <a:cs typeface="经典粗黑简" pitchFamily="49" charset="-122"/>
              </a:rPr>
              <a:t>适合采用顺序存储</a:t>
            </a:r>
            <a:r>
              <a:rPr lang="zh-CN" altLang="en-US" sz="2000" dirty="0">
                <a:latin typeface="微软雅黑" pitchFamily="34" charset="-122"/>
                <a:ea typeface="微软雅黑" pitchFamily="34" charset="-122"/>
                <a:cs typeface="经典粗黑简" pitchFamily="49" charset="-122"/>
              </a:rPr>
              <a:t>。</a:t>
            </a:r>
          </a:p>
        </p:txBody>
      </p:sp>
      <p:sp>
        <p:nvSpPr>
          <p:cNvPr id="26" name="Text Box 2"/>
          <p:cNvSpPr txBox="1">
            <a:spLocks noChangeArrowheads="1"/>
          </p:cNvSpPr>
          <p:nvPr/>
        </p:nvSpPr>
        <p:spPr bwMode="auto">
          <a:xfrm>
            <a:off x="1775520" y="5589239"/>
            <a:ext cx="860689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marL="0" indent="0" eaLnBrk="1" hangingPunct="1">
              <a:spcBef>
                <a:spcPct val="20000"/>
              </a:spcBef>
              <a:buClr>
                <a:schemeClr val="folHlink"/>
              </a:buClr>
              <a:buSzPct val="80000"/>
            </a:pPr>
            <a:r>
              <a:rPr lang="zh-CN" altLang="en-US" sz="2000" dirty="0">
                <a:latin typeface="微软雅黑" pitchFamily="34" charset="-122"/>
                <a:ea typeface="微软雅黑" pitchFamily="34" charset="-122"/>
                <a:cs typeface="经典粗黑简" pitchFamily="49" charset="-122"/>
              </a:rPr>
              <a:t>由于计算机的内存结构是一维的，因此用一维内存来表示多维数组，就必须按某种次序将数组元素排成一列序列，然后将这个线性序列存放在存储器中。</a:t>
            </a:r>
          </a:p>
        </p:txBody>
      </p:sp>
      <p:sp>
        <p:nvSpPr>
          <p:cNvPr id="2" name="Rectangle 3">
            <a:extLst>
              <a:ext uri="{FF2B5EF4-FFF2-40B4-BE49-F238E27FC236}">
                <a16:creationId xmlns:a16="http://schemas.microsoft.com/office/drawing/2014/main" id="{1955AD40-CD73-47CA-6C92-B95551A05E7B}"/>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6.1.2 </a:t>
            </a:r>
            <a:r>
              <a:rPr lang="zh-CN" altLang="en-US" sz="2800" b="1" dirty="0">
                <a:solidFill>
                  <a:schemeClr val="bg1"/>
                </a:solidFill>
                <a:latin typeface="经典粗黑简" pitchFamily="49" charset="-122"/>
                <a:ea typeface="经典粗黑简" pitchFamily="49" charset="-122"/>
                <a:cs typeface="经典粗黑简" pitchFamily="49" charset="-122"/>
              </a:rPr>
              <a:t>数组的存储结构</a:t>
            </a:r>
          </a:p>
        </p:txBody>
      </p:sp>
      <p:sp>
        <p:nvSpPr>
          <p:cNvPr id="3" name="Rectangle 2">
            <a:extLst>
              <a:ext uri="{FF2B5EF4-FFF2-40B4-BE49-F238E27FC236}">
                <a16:creationId xmlns:a16="http://schemas.microsoft.com/office/drawing/2014/main" id="{AC4DDF5A-6831-798D-F7F0-C9CDA9A29912}"/>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95E4D5E5-7EEF-43C9-6C2D-E2F4906E44BC}"/>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005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21" grpId="0"/>
      <p:bldP spid="22" grpId="0"/>
      <p:bldP spid="24" grpId="0"/>
      <p:bldP spid="25"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C2AEF-075A-8189-27D9-413093E1D6AF}"/>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14505AE9-CD9D-BA82-405C-FA357735D133}"/>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6.1.2 </a:t>
            </a:r>
            <a:r>
              <a:rPr lang="zh-CN" altLang="en-US" sz="2800" b="1" dirty="0">
                <a:solidFill>
                  <a:schemeClr val="bg1"/>
                </a:solidFill>
                <a:latin typeface="经典粗黑简" pitchFamily="49" charset="-122"/>
                <a:ea typeface="经典粗黑简" pitchFamily="49" charset="-122"/>
                <a:cs typeface="经典粗黑简" pitchFamily="49" charset="-122"/>
              </a:rPr>
              <a:t>数组的存储结构</a:t>
            </a:r>
          </a:p>
        </p:txBody>
      </p:sp>
      <p:sp>
        <p:nvSpPr>
          <p:cNvPr id="3" name="Rectangle 2">
            <a:extLst>
              <a:ext uri="{FF2B5EF4-FFF2-40B4-BE49-F238E27FC236}">
                <a16:creationId xmlns:a16="http://schemas.microsoft.com/office/drawing/2014/main" id="{D27C6FF2-799E-5EBF-B2F3-48835A90ED74}"/>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271D4F8C-67F9-2284-E90E-E6C1D8B6366D}"/>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3">
            <a:extLst>
              <a:ext uri="{FF2B5EF4-FFF2-40B4-BE49-F238E27FC236}">
                <a16:creationId xmlns:a16="http://schemas.microsoft.com/office/drawing/2014/main" id="{016FA55C-C2F6-B303-BB95-6CB1298FFA7D}"/>
              </a:ext>
            </a:extLst>
          </p:cNvPr>
          <p:cNvSpPr txBox="1">
            <a:spLocks noChangeArrowheads="1"/>
          </p:cNvSpPr>
          <p:nvPr/>
        </p:nvSpPr>
        <p:spPr bwMode="auto">
          <a:xfrm>
            <a:off x="983432" y="2987911"/>
            <a:ext cx="9433048" cy="827021"/>
          </a:xfrm>
          <a:prstGeom prst="rect">
            <a:avLst/>
          </a:prstGeom>
          <a:noFill/>
          <a:ln w="9525">
            <a:noFill/>
            <a:miter lim="800000"/>
            <a:headEnd/>
            <a:tailEnd/>
          </a:ln>
          <a:effectLst/>
        </p:spPr>
        <p:txBody>
          <a:bodyPr wrap="square">
            <a:spAutoFit/>
          </a:bodyPr>
          <a:lstStyle/>
          <a:p>
            <a:pPr algn="l">
              <a:lnSpc>
                <a:spcPts val="3000"/>
              </a:lnSpc>
              <a:spcBef>
                <a:spcPts val="0"/>
              </a:spcBef>
            </a:pPr>
            <a:r>
              <a:rPr kumimoji="1" lang="zh-CN" altLang="en-US" sz="2000" dirty="0">
                <a:latin typeface="Consolas" pitchFamily="49" charset="0"/>
                <a:ea typeface="仿宋" pitchFamily="49" charset="-122"/>
                <a:cs typeface="Consolas" pitchFamily="49" charset="0"/>
              </a:rPr>
              <a:t>　　一旦</a:t>
            </a:r>
            <a:r>
              <a:rPr kumimoji="1" lang="en-US" altLang="zh-CN" sz="2000" i="1" dirty="0">
                <a:latin typeface="Consolas" pitchFamily="49" charset="0"/>
                <a:ea typeface="仿宋" pitchFamily="49" charset="-122"/>
                <a:cs typeface="Consolas" pitchFamily="49" charset="0"/>
              </a:rPr>
              <a:t>a</a:t>
            </a:r>
            <a:r>
              <a:rPr kumimoji="1" lang="en-US" altLang="zh-CN" sz="2000" baseline="-25000" dirty="0">
                <a:latin typeface="Consolas" pitchFamily="49" charset="0"/>
                <a:ea typeface="仿宋" pitchFamily="49" charset="-122"/>
                <a:cs typeface="Consolas" pitchFamily="49" charset="0"/>
              </a:rPr>
              <a:t>1</a:t>
            </a:r>
            <a:r>
              <a:rPr kumimoji="1" lang="zh-CN" altLang="en-US" sz="2000" dirty="0">
                <a:latin typeface="Consolas" pitchFamily="49" charset="0"/>
                <a:ea typeface="仿宋" pitchFamily="49" charset="-122"/>
                <a:cs typeface="Consolas" pitchFamily="49" charset="0"/>
              </a:rPr>
              <a:t>的存储地址</a:t>
            </a:r>
            <a:r>
              <a:rPr kumimoji="1" lang="en-US" altLang="zh-CN" sz="2000" dirty="0">
                <a:latin typeface="Consolas" pitchFamily="49" charset="0"/>
                <a:ea typeface="仿宋" pitchFamily="49" charset="-122"/>
                <a:cs typeface="Consolas" pitchFamily="49" charset="0"/>
              </a:rPr>
              <a:t>LOC(</a:t>
            </a:r>
            <a:r>
              <a:rPr kumimoji="1" lang="en-US" altLang="zh-CN" sz="2000" i="1" dirty="0">
                <a:latin typeface="Consolas" pitchFamily="49" charset="0"/>
                <a:ea typeface="仿宋" pitchFamily="49" charset="-122"/>
                <a:cs typeface="Consolas" pitchFamily="49" charset="0"/>
              </a:rPr>
              <a:t>a</a:t>
            </a:r>
            <a:r>
              <a:rPr kumimoji="1" lang="en-US" altLang="zh-CN" sz="2000" baseline="-25000" dirty="0">
                <a:latin typeface="Consolas" pitchFamily="49" charset="0"/>
                <a:ea typeface="仿宋" pitchFamily="49" charset="-122"/>
                <a:cs typeface="Consolas" pitchFamily="49" charset="0"/>
              </a:rPr>
              <a:t>1</a:t>
            </a:r>
            <a:r>
              <a:rPr kumimoji="1" lang="en-US" altLang="zh-CN" sz="2000" dirty="0">
                <a:latin typeface="Consolas" pitchFamily="49" charset="0"/>
                <a:ea typeface="仿宋" pitchFamily="49" charset="-122"/>
                <a:cs typeface="Consolas" pitchFamily="49" charset="0"/>
              </a:rPr>
              <a:t>)</a:t>
            </a:r>
            <a:r>
              <a:rPr kumimoji="1" lang="zh-CN" altLang="en-US" sz="2000" dirty="0">
                <a:latin typeface="Consolas" pitchFamily="49" charset="0"/>
                <a:ea typeface="仿宋" pitchFamily="49" charset="-122"/>
                <a:cs typeface="Consolas" pitchFamily="49" charset="0"/>
              </a:rPr>
              <a:t>确定，并假设每个数据元素占用</a:t>
            </a:r>
            <a:r>
              <a:rPr kumimoji="1" lang="en-US" altLang="zh-CN" sz="2000" i="1" dirty="0">
                <a:latin typeface="Consolas" pitchFamily="49" charset="0"/>
                <a:ea typeface="仿宋" pitchFamily="49" charset="-122"/>
                <a:cs typeface="Consolas" pitchFamily="49" charset="0"/>
              </a:rPr>
              <a:t>k</a:t>
            </a:r>
            <a:r>
              <a:rPr kumimoji="1" lang="zh-CN" altLang="en-US" sz="2000" dirty="0">
                <a:latin typeface="Consolas" pitchFamily="49" charset="0"/>
                <a:ea typeface="仿宋" pitchFamily="49" charset="-122"/>
                <a:cs typeface="Consolas" pitchFamily="49" charset="0"/>
              </a:rPr>
              <a:t>个存储单元，则任一数据元素</a:t>
            </a:r>
            <a:r>
              <a:rPr kumimoji="1" lang="en-US" altLang="zh-CN" sz="2000" i="1" dirty="0">
                <a:latin typeface="Consolas" pitchFamily="49" charset="0"/>
                <a:ea typeface="仿宋" pitchFamily="49" charset="-122"/>
                <a:cs typeface="Consolas" pitchFamily="49" charset="0"/>
              </a:rPr>
              <a:t>a</a:t>
            </a:r>
            <a:r>
              <a:rPr kumimoji="1" lang="en-US" altLang="zh-CN" sz="2000" i="1" baseline="-25000" dirty="0">
                <a:latin typeface="Consolas" pitchFamily="49" charset="0"/>
                <a:ea typeface="仿宋" pitchFamily="49" charset="-122"/>
                <a:cs typeface="Consolas" pitchFamily="49" charset="0"/>
              </a:rPr>
              <a:t>i</a:t>
            </a:r>
            <a:r>
              <a:rPr kumimoji="1" lang="zh-CN" altLang="en-US" sz="2000" dirty="0">
                <a:latin typeface="Consolas" pitchFamily="49" charset="0"/>
                <a:ea typeface="仿宋" pitchFamily="49" charset="-122"/>
                <a:cs typeface="Consolas" pitchFamily="49" charset="0"/>
              </a:rPr>
              <a:t>的存储地址</a:t>
            </a:r>
            <a:r>
              <a:rPr kumimoji="1" lang="en-US" altLang="zh-CN" sz="2000" dirty="0">
                <a:latin typeface="Consolas" pitchFamily="49" charset="0"/>
                <a:ea typeface="仿宋" pitchFamily="49" charset="-122"/>
                <a:cs typeface="Consolas" pitchFamily="49" charset="0"/>
              </a:rPr>
              <a:t>LOC(</a:t>
            </a:r>
            <a:r>
              <a:rPr kumimoji="1" lang="en-US" altLang="zh-CN" sz="2000" i="1" dirty="0">
                <a:latin typeface="Consolas" pitchFamily="49" charset="0"/>
                <a:ea typeface="仿宋" pitchFamily="49" charset="-122"/>
                <a:cs typeface="Consolas" pitchFamily="49" charset="0"/>
              </a:rPr>
              <a:t>a</a:t>
            </a:r>
            <a:r>
              <a:rPr kumimoji="1" lang="en-US" altLang="zh-CN" sz="2000" i="1" baseline="-25000" dirty="0">
                <a:latin typeface="Consolas" pitchFamily="49" charset="0"/>
                <a:ea typeface="仿宋" pitchFamily="49" charset="-122"/>
                <a:cs typeface="Consolas" pitchFamily="49" charset="0"/>
              </a:rPr>
              <a:t>i</a:t>
            </a:r>
            <a:r>
              <a:rPr kumimoji="1" lang="en-US" altLang="zh-CN" sz="2000" dirty="0">
                <a:latin typeface="Consolas" pitchFamily="49" charset="0"/>
                <a:ea typeface="仿宋" pitchFamily="49" charset="-122"/>
                <a:cs typeface="Consolas" pitchFamily="49" charset="0"/>
              </a:rPr>
              <a:t>)</a:t>
            </a:r>
            <a:r>
              <a:rPr kumimoji="1" lang="zh-CN" altLang="en-US" sz="2000" dirty="0">
                <a:latin typeface="Consolas" pitchFamily="49" charset="0"/>
                <a:ea typeface="仿宋" pitchFamily="49" charset="-122"/>
                <a:cs typeface="Consolas" pitchFamily="49" charset="0"/>
              </a:rPr>
              <a:t>就可由以下公式求出：</a:t>
            </a:r>
            <a:endParaRPr lang="zh-CN" altLang="en-US" sz="2000" dirty="0">
              <a:latin typeface="Consolas" pitchFamily="49" charset="0"/>
              <a:ea typeface="仿宋" pitchFamily="49" charset="-122"/>
              <a:cs typeface="Consolas" pitchFamily="49" charset="0"/>
            </a:endParaRPr>
          </a:p>
        </p:txBody>
      </p:sp>
      <p:sp>
        <p:nvSpPr>
          <p:cNvPr id="6" name="Text Box 4">
            <a:extLst>
              <a:ext uri="{FF2B5EF4-FFF2-40B4-BE49-F238E27FC236}">
                <a16:creationId xmlns:a16="http://schemas.microsoft.com/office/drawing/2014/main" id="{ED6F2292-6358-13C8-FCB6-5F84A9728BCF}"/>
              </a:ext>
            </a:extLst>
          </p:cNvPr>
          <p:cNvSpPr txBox="1">
            <a:spLocks noChangeArrowheads="1"/>
          </p:cNvSpPr>
          <p:nvPr/>
        </p:nvSpPr>
        <p:spPr bwMode="auto">
          <a:xfrm>
            <a:off x="2495600" y="3955169"/>
            <a:ext cx="4886334" cy="49510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180000" tIns="108000" bIns="108000">
            <a:spAutoFit/>
          </a:bodyPr>
          <a:lstStyle/>
          <a:p>
            <a:pPr algn="l">
              <a:lnSpc>
                <a:spcPct val="90000"/>
              </a:lnSpc>
              <a:spcBef>
                <a:spcPct val="50000"/>
              </a:spcBef>
            </a:pPr>
            <a:r>
              <a:rPr kumimoji="1" lang="en-US" altLang="zh-CN" sz="2000">
                <a:solidFill>
                  <a:srgbClr val="0000FF"/>
                </a:solidFill>
                <a:latin typeface="Consolas" pitchFamily="49" charset="0"/>
                <a:ea typeface="楷体" pitchFamily="49" charset="-122"/>
                <a:cs typeface="Consolas" pitchFamily="49" charset="0"/>
              </a:rPr>
              <a:t>LOC(</a:t>
            </a:r>
            <a:r>
              <a:rPr kumimoji="1" lang="en-US" altLang="zh-CN" sz="2000" i="1" err="1">
                <a:solidFill>
                  <a:srgbClr val="0000FF"/>
                </a:solidFill>
                <a:latin typeface="Consolas" pitchFamily="49" charset="0"/>
                <a:ea typeface="楷体" pitchFamily="49" charset="-122"/>
                <a:cs typeface="Consolas" pitchFamily="49" charset="0"/>
              </a:rPr>
              <a:t>a</a:t>
            </a:r>
            <a:r>
              <a:rPr kumimoji="1" lang="en-US" altLang="zh-CN" sz="2000" i="1" baseline="-25000" err="1">
                <a:solidFill>
                  <a:srgbClr val="0000FF"/>
                </a:solidFill>
                <a:latin typeface="Consolas" pitchFamily="49" charset="0"/>
                <a:ea typeface="楷体" pitchFamily="49" charset="-122"/>
                <a:cs typeface="Consolas" pitchFamily="49" charset="0"/>
              </a:rPr>
              <a:t>i</a:t>
            </a:r>
            <a:r>
              <a:rPr kumimoji="1" lang="en-US" altLang="zh-CN" sz="2000">
                <a:solidFill>
                  <a:srgbClr val="0000FF"/>
                </a:solidFill>
                <a:latin typeface="Consolas" pitchFamily="49" charset="0"/>
                <a:ea typeface="楷体" pitchFamily="49" charset="-122"/>
                <a:cs typeface="Consolas" pitchFamily="49" charset="0"/>
              </a:rPr>
              <a:t>)=LOC(</a:t>
            </a:r>
            <a:r>
              <a:rPr kumimoji="1" lang="en-US" altLang="zh-CN" sz="2000" i="1" err="1">
                <a:solidFill>
                  <a:srgbClr val="0000FF"/>
                </a:solidFill>
                <a:latin typeface="Consolas" pitchFamily="49" charset="0"/>
                <a:ea typeface="楷体" pitchFamily="49" charset="-122"/>
                <a:cs typeface="Consolas" pitchFamily="49" charset="0"/>
              </a:rPr>
              <a:t>a</a:t>
            </a:r>
            <a:r>
              <a:rPr kumimoji="1" lang="en-US" altLang="zh-CN" sz="2000" baseline="-25000" err="1">
                <a:solidFill>
                  <a:srgbClr val="0000FF"/>
                </a:solidFill>
                <a:latin typeface="Consolas" pitchFamily="49" charset="0"/>
                <a:ea typeface="楷体" pitchFamily="49" charset="-122"/>
                <a:cs typeface="Consolas" pitchFamily="49" charset="0"/>
              </a:rPr>
              <a:t>1</a:t>
            </a:r>
            <a:r>
              <a:rPr kumimoji="1" lang="en-US" altLang="zh-CN" sz="2000">
                <a:solidFill>
                  <a:srgbClr val="0000FF"/>
                </a:solidFill>
                <a:latin typeface="Consolas" pitchFamily="49" charset="0"/>
                <a:ea typeface="楷体" pitchFamily="49" charset="-122"/>
                <a:cs typeface="Consolas" pitchFamily="49" charset="0"/>
              </a:rPr>
              <a:t>)+(</a:t>
            </a:r>
            <a:r>
              <a:rPr kumimoji="1" lang="en-US" altLang="zh-CN" sz="2000" i="1" err="1">
                <a:solidFill>
                  <a:srgbClr val="FF00FF"/>
                </a:solidFill>
                <a:latin typeface="Consolas" pitchFamily="49" charset="0"/>
                <a:ea typeface="楷体" pitchFamily="49" charset="-122"/>
                <a:cs typeface="Consolas" pitchFamily="49" charset="0"/>
              </a:rPr>
              <a:t>i</a:t>
            </a:r>
            <a:r>
              <a:rPr kumimoji="1" lang="en-US" altLang="zh-CN" sz="2000">
                <a:solidFill>
                  <a:srgbClr val="FF00FF"/>
                </a:solidFill>
                <a:latin typeface="Consolas" pitchFamily="49" charset="0"/>
                <a:ea typeface="+mn-ea"/>
                <a:cs typeface="Consolas" pitchFamily="49" charset="0"/>
              </a:rPr>
              <a:t>-</a:t>
            </a:r>
            <a:r>
              <a:rPr kumimoji="1" lang="en-US" altLang="zh-CN" sz="2000">
                <a:solidFill>
                  <a:srgbClr val="FF00FF"/>
                </a:solidFill>
                <a:latin typeface="Consolas" pitchFamily="49" charset="0"/>
                <a:ea typeface="楷体" pitchFamily="49" charset="-122"/>
                <a:cs typeface="Consolas" pitchFamily="49" charset="0"/>
              </a:rPr>
              <a:t>1</a:t>
            </a:r>
            <a:r>
              <a:rPr kumimoji="1" lang="en-US" altLang="zh-CN" sz="2000">
                <a:solidFill>
                  <a:srgbClr val="0000FF"/>
                </a:solidFill>
                <a:latin typeface="Consolas" pitchFamily="49" charset="0"/>
                <a:ea typeface="楷体" pitchFamily="49" charset="-122"/>
                <a:cs typeface="Consolas" pitchFamily="49" charset="0"/>
              </a:rPr>
              <a:t>)*</a:t>
            </a:r>
            <a:r>
              <a:rPr kumimoji="1" lang="en-US" altLang="zh-CN" sz="2000" i="1">
                <a:solidFill>
                  <a:srgbClr val="0000FF"/>
                </a:solidFill>
                <a:latin typeface="Consolas" pitchFamily="49" charset="0"/>
                <a:ea typeface="楷体" pitchFamily="49" charset="-122"/>
                <a:cs typeface="Consolas" pitchFamily="49" charset="0"/>
              </a:rPr>
              <a:t>k</a:t>
            </a:r>
            <a:r>
              <a:rPr kumimoji="1" lang="en-US" altLang="zh-CN" sz="2000">
                <a:solidFill>
                  <a:srgbClr val="0000FF"/>
                </a:solidFill>
                <a:latin typeface="Consolas" pitchFamily="49" charset="0"/>
                <a:ea typeface="楷体" pitchFamily="49" charset="-122"/>
                <a:cs typeface="Consolas" pitchFamily="49" charset="0"/>
              </a:rPr>
              <a:t> </a:t>
            </a:r>
            <a:r>
              <a:rPr kumimoji="1" lang="zh-CN" altLang="en-US" sz="2000">
                <a:solidFill>
                  <a:srgbClr val="0000FF"/>
                </a:solidFill>
                <a:latin typeface="Consolas" pitchFamily="49" charset="0"/>
                <a:ea typeface="楷体" pitchFamily="49" charset="-122"/>
                <a:cs typeface="Consolas" pitchFamily="49" charset="0"/>
              </a:rPr>
              <a:t>　</a:t>
            </a:r>
            <a:r>
              <a:rPr kumimoji="1" lang="en-US" altLang="zh-CN" sz="2000">
                <a:solidFill>
                  <a:srgbClr val="0000FF"/>
                </a:solidFill>
                <a:latin typeface="Consolas" pitchFamily="49" charset="0"/>
                <a:ea typeface="楷体" pitchFamily="49" charset="-122"/>
                <a:cs typeface="Consolas" pitchFamily="49" charset="0"/>
              </a:rPr>
              <a:t>(</a:t>
            </a:r>
            <a:r>
              <a:rPr kumimoji="1" lang="en-US" altLang="zh-CN" sz="2000" err="1">
                <a:solidFill>
                  <a:srgbClr val="0000FF"/>
                </a:solidFill>
                <a:latin typeface="Consolas" pitchFamily="49" charset="0"/>
                <a:ea typeface="楷体" pitchFamily="49" charset="-122"/>
                <a:cs typeface="Consolas" pitchFamily="49" charset="0"/>
              </a:rPr>
              <a:t>0</a:t>
            </a:r>
            <a:r>
              <a:rPr kumimoji="1" lang="en-US" altLang="zh-CN" sz="2000" err="1">
                <a:solidFill>
                  <a:srgbClr val="0000FF"/>
                </a:solidFill>
                <a:latin typeface="Consolas" pitchFamily="49" charset="0"/>
                <a:ea typeface="+mn-ea"/>
                <a:cs typeface="Consolas" pitchFamily="49" charset="0"/>
              </a:rPr>
              <a:t>≤</a:t>
            </a:r>
            <a:r>
              <a:rPr kumimoji="1" lang="en-US" altLang="zh-CN" sz="2000" i="1" err="1">
                <a:solidFill>
                  <a:srgbClr val="0000FF"/>
                </a:solidFill>
                <a:latin typeface="Consolas" pitchFamily="49" charset="0"/>
                <a:ea typeface="楷体" pitchFamily="49" charset="-122"/>
                <a:cs typeface="Consolas" pitchFamily="49" charset="0"/>
              </a:rPr>
              <a:t>i</a:t>
            </a:r>
            <a:r>
              <a:rPr kumimoji="1" lang="en-US" altLang="zh-CN" sz="2000" err="1">
                <a:solidFill>
                  <a:srgbClr val="0000FF"/>
                </a:solidFill>
                <a:latin typeface="Consolas" pitchFamily="49" charset="0"/>
                <a:ea typeface="+mj-ea"/>
                <a:cs typeface="Consolas" pitchFamily="49" charset="0"/>
              </a:rPr>
              <a:t>≤</a:t>
            </a:r>
            <a:r>
              <a:rPr kumimoji="1" lang="en-US" altLang="zh-CN" sz="2000" i="1" err="1">
                <a:solidFill>
                  <a:srgbClr val="0000FF"/>
                </a:solidFill>
                <a:latin typeface="Consolas" pitchFamily="49" charset="0"/>
                <a:ea typeface="楷体" pitchFamily="49" charset="-122"/>
                <a:cs typeface="Consolas" pitchFamily="49" charset="0"/>
              </a:rPr>
              <a:t>n</a:t>
            </a:r>
            <a:r>
              <a:rPr kumimoji="1" lang="en-US" altLang="zh-CN" sz="2000">
                <a:solidFill>
                  <a:srgbClr val="0000FF"/>
                </a:solidFill>
                <a:latin typeface="Consolas" pitchFamily="49" charset="0"/>
                <a:ea typeface="楷体" pitchFamily="49" charset="-122"/>
                <a:cs typeface="Consolas" pitchFamily="49" charset="0"/>
              </a:rPr>
              <a:t>)</a:t>
            </a:r>
            <a:endParaRPr lang="en-US" altLang="zh-CN" sz="2000">
              <a:solidFill>
                <a:srgbClr val="0000FF"/>
              </a:solidFill>
              <a:latin typeface="Consolas" pitchFamily="49" charset="0"/>
              <a:ea typeface="楷体" pitchFamily="49" charset="-122"/>
              <a:cs typeface="Consolas" pitchFamily="49" charset="0"/>
            </a:endParaRPr>
          </a:p>
        </p:txBody>
      </p:sp>
      <p:grpSp>
        <p:nvGrpSpPr>
          <p:cNvPr id="7" name="组合 22">
            <a:extLst>
              <a:ext uri="{FF2B5EF4-FFF2-40B4-BE49-F238E27FC236}">
                <a16:creationId xmlns:a16="http://schemas.microsoft.com/office/drawing/2014/main" id="{A7EF869C-ED0E-403B-7BE8-92FE92FFE360}"/>
              </a:ext>
            </a:extLst>
          </p:cNvPr>
          <p:cNvGrpSpPr/>
          <p:nvPr/>
        </p:nvGrpSpPr>
        <p:grpSpPr>
          <a:xfrm>
            <a:off x="2852791" y="4285078"/>
            <a:ext cx="5029209" cy="1440435"/>
            <a:chOff x="1328741" y="3031617"/>
            <a:chExt cx="5029209" cy="1440435"/>
          </a:xfrm>
        </p:grpSpPr>
        <p:sp>
          <p:nvSpPr>
            <p:cNvPr id="8" name="AutoShape 6">
              <a:extLst>
                <a:ext uri="{FF2B5EF4-FFF2-40B4-BE49-F238E27FC236}">
                  <a16:creationId xmlns:a16="http://schemas.microsoft.com/office/drawing/2014/main" id="{D5FF4581-652B-3400-7F22-6592819B08CA}"/>
                </a:ext>
              </a:extLst>
            </p:cNvPr>
            <p:cNvSpPr>
              <a:spLocks/>
            </p:cNvSpPr>
            <p:nvPr/>
          </p:nvSpPr>
          <p:spPr bwMode="auto">
            <a:xfrm rot="5400000">
              <a:off x="3384305" y="2894336"/>
              <a:ext cx="179388" cy="2196000"/>
            </a:xfrm>
            <a:prstGeom prst="leftBrace">
              <a:avLst>
                <a:gd name="adj1" fmla="val 113717"/>
                <a:gd name="adj2" fmla="val 50000"/>
              </a:avLst>
            </a:prstGeom>
            <a:ln>
              <a:headEnd/>
              <a:tailEnd/>
            </a:ln>
          </p:spPr>
          <p:style>
            <a:lnRef idx="2">
              <a:schemeClr val="accent5"/>
            </a:lnRef>
            <a:fillRef idx="0">
              <a:schemeClr val="accent5"/>
            </a:fillRef>
            <a:effectRef idx="1">
              <a:schemeClr val="accent5"/>
            </a:effectRef>
            <a:fontRef idx="minor">
              <a:schemeClr val="tx1"/>
            </a:fontRef>
          </p:style>
          <p:txBody>
            <a:bodyPr wrap="none" anchor="ctr"/>
            <a:lstStyle/>
            <a:p>
              <a:endParaRPr lang="zh-CN" altLang="en-US">
                <a:latin typeface="Consolas" pitchFamily="49" charset="0"/>
                <a:ea typeface="楷体" pitchFamily="49" charset="-122"/>
                <a:cs typeface="Consolas" pitchFamily="49" charset="0"/>
              </a:endParaRPr>
            </a:p>
          </p:txBody>
        </p:sp>
        <p:sp>
          <p:nvSpPr>
            <p:cNvPr id="9" name="Text Box 5">
              <a:extLst>
                <a:ext uri="{FF2B5EF4-FFF2-40B4-BE49-F238E27FC236}">
                  <a16:creationId xmlns:a16="http://schemas.microsoft.com/office/drawing/2014/main" id="{1E229020-ED43-35BA-BD13-466E30BA04F5}"/>
                </a:ext>
              </a:extLst>
            </p:cNvPr>
            <p:cNvSpPr txBox="1">
              <a:spLocks noChangeArrowheads="1"/>
            </p:cNvSpPr>
            <p:nvPr/>
          </p:nvSpPr>
          <p:spPr bwMode="auto">
            <a:xfrm>
              <a:off x="1328741" y="4071942"/>
              <a:ext cx="5029209" cy="400110"/>
            </a:xfrm>
            <a:prstGeom prst="rect">
              <a:avLst/>
            </a:prstGeom>
            <a:noFill/>
            <a:ln w="9525">
              <a:noFill/>
              <a:miter lim="800000"/>
              <a:headEnd/>
              <a:tailEnd/>
            </a:ln>
            <a:effectLst/>
          </p:spPr>
          <p:txBody>
            <a:bodyPr wrap="square">
              <a:spAutoFit/>
            </a:bodyPr>
            <a:lstStyle/>
            <a:p>
              <a:pPr algn="l">
                <a:spcBef>
                  <a:spcPct val="50000"/>
                </a:spcBef>
              </a:pPr>
              <a:r>
                <a:rPr lang="zh-CN" altLang="en-US" sz="2000">
                  <a:solidFill>
                    <a:srgbClr val="FF00FF"/>
                  </a:solidFill>
                  <a:latin typeface="Consolas" pitchFamily="49" charset="0"/>
                  <a:ea typeface="楷体" pitchFamily="49" charset="-122"/>
                  <a:cs typeface="Consolas" pitchFamily="49" charset="0"/>
                </a:rPr>
                <a:t>数组</a:t>
              </a:r>
              <a:r>
                <a:rPr lang="en-US" altLang="zh-CN" sz="2000" i="1">
                  <a:solidFill>
                    <a:srgbClr val="FF00FF"/>
                  </a:solidFill>
                  <a:latin typeface="Consolas" pitchFamily="49" charset="0"/>
                  <a:ea typeface="楷体" pitchFamily="49" charset="-122"/>
                  <a:cs typeface="Consolas" pitchFamily="49" charset="0"/>
                </a:rPr>
                <a:t>a</a:t>
              </a:r>
              <a:r>
                <a:rPr lang="zh-CN" altLang="en-US" sz="2000">
                  <a:latin typeface="Consolas" pitchFamily="49" charset="0"/>
                  <a:ea typeface="楷体" pitchFamily="49" charset="-122"/>
                  <a:cs typeface="Consolas" pitchFamily="49" charset="0"/>
                </a:rPr>
                <a:t>：</a:t>
              </a:r>
              <a:r>
                <a:rPr lang="en-US" altLang="zh-CN" sz="2000" i="1" err="1">
                  <a:latin typeface="Consolas" pitchFamily="49" charset="0"/>
                  <a:ea typeface="楷体" pitchFamily="49" charset="-122"/>
                  <a:cs typeface="Consolas" pitchFamily="49" charset="0"/>
                </a:rPr>
                <a:t>a</a:t>
              </a:r>
              <a:r>
                <a:rPr lang="en-US" altLang="zh-CN" sz="2000" baseline="-25000" err="1">
                  <a:latin typeface="Consolas" pitchFamily="49" charset="0"/>
                  <a:ea typeface="楷体" pitchFamily="49" charset="-122"/>
                  <a:cs typeface="Consolas" pitchFamily="49" charset="0"/>
                </a:rPr>
                <a:t>1</a:t>
              </a:r>
              <a:r>
                <a:rPr lang="zh-CN" altLang="en-US" sz="2000">
                  <a:latin typeface="Consolas" pitchFamily="49" charset="0"/>
                  <a:ea typeface="楷体" pitchFamily="49" charset="-122"/>
                  <a:cs typeface="Consolas" pitchFamily="49" charset="0"/>
                </a:rPr>
                <a:t>　</a:t>
              </a:r>
              <a:r>
                <a:rPr lang="en-US" altLang="zh-CN" sz="2000" i="1" err="1">
                  <a:latin typeface="Consolas" pitchFamily="49" charset="0"/>
                  <a:ea typeface="楷体" pitchFamily="49" charset="-122"/>
                  <a:cs typeface="Consolas" pitchFamily="49" charset="0"/>
                </a:rPr>
                <a:t>a</a:t>
              </a:r>
              <a:r>
                <a:rPr lang="en-US" altLang="zh-CN" sz="2000" baseline="-25000" err="1">
                  <a:latin typeface="Consolas" pitchFamily="49" charset="0"/>
                  <a:ea typeface="楷体" pitchFamily="49" charset="-122"/>
                  <a:cs typeface="Consolas" pitchFamily="49" charset="0"/>
                </a:rPr>
                <a:t>2</a:t>
              </a:r>
              <a:r>
                <a:rPr lang="zh-CN" altLang="en-US" sz="2000">
                  <a:latin typeface="Consolas" pitchFamily="49" charset="0"/>
                  <a:ea typeface="楷体" pitchFamily="49" charset="-122"/>
                  <a:cs typeface="Consolas" pitchFamily="49" charset="0"/>
                </a:rPr>
                <a:t>　</a:t>
              </a:r>
              <a:r>
                <a:rPr lang="en-US" altLang="zh-CN" sz="2000" i="1" err="1">
                  <a:latin typeface="Consolas" pitchFamily="49" charset="0"/>
                  <a:ea typeface="楷体" pitchFamily="49" charset="-122"/>
                  <a:cs typeface="Consolas" pitchFamily="49" charset="0"/>
                </a:rPr>
                <a:t>a</a:t>
              </a:r>
              <a:r>
                <a:rPr lang="en-US" altLang="zh-CN" sz="2000" baseline="-25000" err="1">
                  <a:latin typeface="Consolas" pitchFamily="49" charset="0"/>
                  <a:ea typeface="楷体" pitchFamily="49" charset="-122"/>
                  <a:cs typeface="Consolas" pitchFamily="49" charset="0"/>
                </a:rPr>
                <a:t>3</a:t>
              </a:r>
              <a:r>
                <a:rPr lang="zh-CN" altLang="en-US" sz="2000">
                  <a:latin typeface="Consolas" pitchFamily="49" charset="0"/>
                  <a:ea typeface="楷体" pitchFamily="49" charset="-122"/>
                  <a:cs typeface="Consolas" pitchFamily="49" charset="0"/>
                </a:rPr>
                <a:t>　</a:t>
              </a:r>
              <a:r>
                <a:rPr lang="en-US" altLang="zh-CN" sz="2000">
                  <a:latin typeface="宋体" pitchFamily="2" charset="-122"/>
                  <a:ea typeface="宋体" pitchFamily="2" charset="-122"/>
                  <a:cs typeface="Consolas" pitchFamily="49" charset="0"/>
                </a:rPr>
                <a:t>…</a:t>
              </a:r>
              <a:r>
                <a:rPr lang="zh-CN" altLang="en-US" sz="2000">
                  <a:latin typeface="Consolas" pitchFamily="49" charset="0"/>
                  <a:ea typeface="楷体" pitchFamily="49" charset="-122"/>
                  <a:cs typeface="Consolas" pitchFamily="49" charset="0"/>
                </a:rPr>
                <a:t>　</a:t>
              </a:r>
              <a:r>
                <a:rPr lang="en-US" altLang="zh-CN" sz="2000" i="1" err="1">
                  <a:latin typeface="Consolas" pitchFamily="49" charset="0"/>
                  <a:ea typeface="楷体" pitchFamily="49" charset="-122"/>
                  <a:cs typeface="Consolas" pitchFamily="49" charset="0"/>
                </a:rPr>
                <a:t>a</a:t>
              </a:r>
              <a:r>
                <a:rPr lang="en-US" altLang="zh-CN" sz="2000" i="1" baseline="-25000" err="1">
                  <a:latin typeface="Consolas" pitchFamily="49" charset="0"/>
                  <a:ea typeface="楷体" pitchFamily="49" charset="-122"/>
                  <a:cs typeface="Consolas" pitchFamily="49" charset="0"/>
                </a:rPr>
                <a:t>i</a:t>
              </a:r>
              <a:r>
                <a:rPr lang="en-US" altLang="zh-CN" sz="2000" baseline="-25000">
                  <a:latin typeface="Consolas" pitchFamily="49" charset="0"/>
                  <a:ea typeface="+mn-ea"/>
                  <a:cs typeface="Consolas" pitchFamily="49" charset="0"/>
                </a:rPr>
                <a:t>-</a:t>
              </a:r>
              <a:r>
                <a:rPr lang="en-US" altLang="zh-CN" sz="2000" baseline="-25000">
                  <a:latin typeface="Consolas" pitchFamily="49" charset="0"/>
                  <a:ea typeface="楷体" pitchFamily="49" charset="-122"/>
                  <a:cs typeface="Consolas" pitchFamily="49" charset="0"/>
                </a:rPr>
                <a:t>1</a:t>
              </a:r>
              <a:r>
                <a:rPr lang="zh-CN" altLang="en-US" sz="2000">
                  <a:latin typeface="Consolas" pitchFamily="49" charset="0"/>
                  <a:ea typeface="楷体" pitchFamily="49" charset="-122"/>
                  <a:cs typeface="Consolas" pitchFamily="49" charset="0"/>
                </a:rPr>
                <a:t>　</a:t>
              </a:r>
              <a:r>
                <a:rPr lang="en-US" altLang="zh-CN" sz="2000" i="1" err="1">
                  <a:solidFill>
                    <a:srgbClr val="FF0000"/>
                  </a:solidFill>
                  <a:latin typeface="Consolas" pitchFamily="49" charset="0"/>
                  <a:ea typeface="楷体" pitchFamily="49" charset="-122"/>
                  <a:cs typeface="Consolas" pitchFamily="49" charset="0"/>
                </a:rPr>
                <a:t>a</a:t>
              </a:r>
              <a:r>
                <a:rPr lang="en-US" altLang="zh-CN" sz="2000" i="1" baseline="-25000" err="1">
                  <a:solidFill>
                    <a:srgbClr val="FF0000"/>
                  </a:solidFill>
                  <a:latin typeface="Consolas" pitchFamily="49" charset="0"/>
                  <a:ea typeface="楷体" pitchFamily="49" charset="-122"/>
                  <a:cs typeface="Consolas" pitchFamily="49" charset="0"/>
                </a:rPr>
                <a:t>i</a:t>
              </a:r>
              <a:r>
                <a:rPr lang="zh-CN" altLang="en-US" sz="2000">
                  <a:latin typeface="Consolas" pitchFamily="49" charset="0"/>
                  <a:ea typeface="楷体" pitchFamily="49" charset="-122"/>
                  <a:cs typeface="Consolas" pitchFamily="49" charset="0"/>
                </a:rPr>
                <a:t>　</a:t>
              </a:r>
              <a:r>
                <a:rPr lang="en-US" altLang="zh-CN" sz="2000">
                  <a:latin typeface="Consolas" pitchFamily="49" charset="0"/>
                  <a:ea typeface="楷体" pitchFamily="49" charset="-122"/>
                  <a:cs typeface="Consolas" pitchFamily="49" charset="0"/>
                </a:rPr>
                <a:t>…</a:t>
              </a:r>
              <a:r>
                <a:rPr lang="zh-CN" altLang="en-US" sz="2000">
                  <a:latin typeface="Consolas" pitchFamily="49" charset="0"/>
                  <a:ea typeface="楷体" pitchFamily="49" charset="-122"/>
                  <a:cs typeface="Consolas" pitchFamily="49" charset="0"/>
                </a:rPr>
                <a:t>　</a:t>
              </a:r>
              <a:r>
                <a:rPr lang="en-US" altLang="zh-CN" sz="2000" i="1">
                  <a:latin typeface="Consolas" pitchFamily="49" charset="0"/>
                  <a:ea typeface="楷体" pitchFamily="49" charset="-122"/>
                  <a:cs typeface="Consolas" pitchFamily="49" charset="0"/>
                </a:rPr>
                <a:t>a</a:t>
              </a:r>
              <a:r>
                <a:rPr lang="en-US" altLang="zh-CN" sz="2000" i="1" baseline="-25000">
                  <a:latin typeface="Consolas" pitchFamily="49" charset="0"/>
                  <a:ea typeface="楷体" pitchFamily="49" charset="-122"/>
                  <a:cs typeface="Consolas" pitchFamily="49" charset="0"/>
                </a:rPr>
                <a:t>n</a:t>
              </a:r>
            </a:p>
          </p:txBody>
        </p:sp>
        <p:sp>
          <p:nvSpPr>
            <p:cNvPr id="10" name="Text Box 7">
              <a:extLst>
                <a:ext uri="{FF2B5EF4-FFF2-40B4-BE49-F238E27FC236}">
                  <a16:creationId xmlns:a16="http://schemas.microsoft.com/office/drawing/2014/main" id="{AEDBBA65-AB67-0B3B-C303-039EF2376010}"/>
                </a:ext>
              </a:extLst>
            </p:cNvPr>
            <p:cNvSpPr txBox="1">
              <a:spLocks noChangeArrowheads="1"/>
            </p:cNvSpPr>
            <p:nvPr/>
          </p:nvSpPr>
          <p:spPr bwMode="auto">
            <a:xfrm>
              <a:off x="2714612" y="3479574"/>
              <a:ext cx="1655763" cy="369332"/>
            </a:xfrm>
            <a:prstGeom prst="rect">
              <a:avLst/>
            </a:prstGeom>
            <a:noFill/>
            <a:ln w="9525">
              <a:noFill/>
              <a:miter lim="800000"/>
              <a:headEnd/>
              <a:tailEnd/>
            </a:ln>
            <a:effectLst/>
          </p:spPr>
          <p:txBody>
            <a:bodyPr>
              <a:spAutoFit/>
            </a:bodyPr>
            <a:lstStyle/>
            <a:p>
              <a:pPr algn="l">
                <a:spcBef>
                  <a:spcPct val="50000"/>
                </a:spcBef>
              </a:pPr>
              <a:r>
                <a:rPr lang="zh-CN" altLang="en-US" sz="1800">
                  <a:latin typeface="Consolas" pitchFamily="49" charset="0"/>
                  <a:ea typeface="楷体" pitchFamily="49" charset="-122"/>
                  <a:cs typeface="Consolas" pitchFamily="49" charset="0"/>
                </a:rPr>
                <a:t>共</a:t>
              </a:r>
              <a:r>
                <a:rPr lang="en-US" altLang="zh-CN" sz="1800" i="1" err="1">
                  <a:solidFill>
                    <a:srgbClr val="FF0000"/>
                  </a:solidFill>
                  <a:latin typeface="Consolas" pitchFamily="49" charset="0"/>
                  <a:ea typeface="楷体" pitchFamily="49" charset="-122"/>
                  <a:cs typeface="Consolas" pitchFamily="49" charset="0"/>
                </a:rPr>
                <a:t>i</a:t>
              </a:r>
              <a:r>
                <a:rPr lang="en-US" altLang="zh-CN" sz="1800">
                  <a:solidFill>
                    <a:srgbClr val="FF0000"/>
                  </a:solidFill>
                  <a:latin typeface="Consolas" pitchFamily="49" charset="0"/>
                  <a:ea typeface="+mj-ea"/>
                  <a:cs typeface="Consolas" pitchFamily="49" charset="0"/>
                </a:rPr>
                <a:t>-</a:t>
              </a:r>
              <a:r>
                <a:rPr lang="en-US" altLang="zh-CN" sz="1800">
                  <a:solidFill>
                    <a:srgbClr val="FF0000"/>
                  </a:solidFill>
                  <a:latin typeface="Consolas" pitchFamily="49" charset="0"/>
                  <a:ea typeface="楷体" pitchFamily="49" charset="-122"/>
                  <a:cs typeface="Consolas" pitchFamily="49" charset="0"/>
                </a:rPr>
                <a:t>1</a:t>
              </a:r>
              <a:r>
                <a:rPr lang="zh-CN" altLang="en-US" sz="1800">
                  <a:latin typeface="Consolas" pitchFamily="49" charset="0"/>
                  <a:ea typeface="楷体" pitchFamily="49" charset="-122"/>
                  <a:cs typeface="Consolas" pitchFamily="49" charset="0"/>
                </a:rPr>
                <a:t>个元素</a:t>
              </a:r>
            </a:p>
          </p:txBody>
        </p:sp>
        <p:sp>
          <p:nvSpPr>
            <p:cNvPr id="11" name="Line 14">
              <a:extLst>
                <a:ext uri="{FF2B5EF4-FFF2-40B4-BE49-F238E27FC236}">
                  <a16:creationId xmlns:a16="http://schemas.microsoft.com/office/drawing/2014/main" id="{3FEE3F9E-188C-D521-615D-51839A710669}"/>
                </a:ext>
              </a:extLst>
            </p:cNvPr>
            <p:cNvSpPr>
              <a:spLocks noChangeShapeType="1"/>
            </p:cNvSpPr>
            <p:nvPr/>
          </p:nvSpPr>
          <p:spPr bwMode="auto">
            <a:xfrm flipH="1">
              <a:off x="3280812" y="3031617"/>
              <a:ext cx="311152" cy="509359"/>
            </a:xfrm>
            <a:prstGeom prst="line">
              <a:avLst/>
            </a:prstGeom>
            <a:noFill/>
            <a:ln w="38100" cmpd="dbl">
              <a:solidFill>
                <a:srgbClr val="9900FF"/>
              </a:solidFill>
              <a:round/>
              <a:headEnd/>
              <a:tailEnd/>
            </a:ln>
            <a:effectLst/>
          </p:spPr>
          <p:txBody>
            <a:bodyPr wrap="none"/>
            <a:lstStyle/>
            <a:p>
              <a:endParaRPr lang="zh-CN" altLang="en-US">
                <a:latin typeface="Consolas" pitchFamily="49" charset="0"/>
                <a:ea typeface="楷体" pitchFamily="49" charset="-122"/>
                <a:cs typeface="Consolas" pitchFamily="49" charset="0"/>
              </a:endParaRPr>
            </a:p>
          </p:txBody>
        </p:sp>
      </p:grpSp>
      <p:sp>
        <p:nvSpPr>
          <p:cNvPr id="13" name="Text Box 2">
            <a:extLst>
              <a:ext uri="{FF2B5EF4-FFF2-40B4-BE49-F238E27FC236}">
                <a16:creationId xmlns:a16="http://schemas.microsoft.com/office/drawing/2014/main" id="{D1A9FFF5-6C58-7C3F-799D-14FCB45D4582}"/>
              </a:ext>
            </a:extLst>
          </p:cNvPr>
          <p:cNvSpPr txBox="1">
            <a:spLocks noChangeArrowheads="1"/>
          </p:cNvSpPr>
          <p:nvPr/>
        </p:nvSpPr>
        <p:spPr bwMode="auto">
          <a:xfrm>
            <a:off x="1681957" y="6257748"/>
            <a:ext cx="8424936" cy="420821"/>
          </a:xfrm>
          <a:prstGeom prst="rect">
            <a:avLst/>
          </a:prstGeom>
          <a:noFill/>
          <a:ln w="9525">
            <a:noFill/>
            <a:miter lim="800000"/>
            <a:headEnd/>
            <a:tailEnd/>
          </a:ln>
          <a:effectLst/>
        </p:spPr>
        <p:txBody>
          <a:bodyPr wrap="square">
            <a:spAutoFit/>
          </a:bodyPr>
          <a:lstStyle/>
          <a:p>
            <a:pPr>
              <a:lnSpc>
                <a:spcPct val="130000"/>
              </a:lnSpc>
              <a:spcBef>
                <a:spcPct val="50000"/>
              </a:spcBef>
            </a:pPr>
            <a:r>
              <a:rPr kumimoji="1" lang="zh-CN" altLang="en-US" sz="1800" dirty="0">
                <a:latin typeface="Consolas" pitchFamily="49" charset="0"/>
                <a:ea typeface="华文中宋" pitchFamily="2" charset="-122"/>
                <a:cs typeface="Consolas" pitchFamily="49" charset="0"/>
              </a:rPr>
              <a:t>一维数组具有</a:t>
            </a:r>
            <a:r>
              <a:rPr kumimoji="1" lang="zh-CN" altLang="en-US" sz="1800" dirty="0">
                <a:solidFill>
                  <a:srgbClr val="FF0000"/>
                </a:solidFill>
                <a:latin typeface="Consolas" pitchFamily="49" charset="0"/>
                <a:ea typeface="华文中宋" pitchFamily="2" charset="-122"/>
                <a:cs typeface="Consolas" pitchFamily="49" charset="0"/>
              </a:rPr>
              <a:t>随机存取</a:t>
            </a:r>
            <a:r>
              <a:rPr kumimoji="1" lang="zh-CN" altLang="en-US" dirty="0">
                <a:latin typeface="Consolas" pitchFamily="49" charset="0"/>
                <a:ea typeface="华文中宋" pitchFamily="2" charset="-122"/>
              </a:rPr>
              <a:t>特性</a:t>
            </a:r>
            <a:r>
              <a:rPr kumimoji="1" lang="zh-CN" altLang="en-US" sz="1800" dirty="0">
                <a:latin typeface="Consolas" pitchFamily="49" charset="0"/>
                <a:ea typeface="华文中宋" pitchFamily="2" charset="-122"/>
                <a:cs typeface="Consolas" pitchFamily="49" charset="0"/>
              </a:rPr>
              <a:t>：可以在</a:t>
            </a:r>
            <a:r>
              <a:rPr kumimoji="1" lang="en-US" altLang="zh-CN" sz="1800" dirty="0">
                <a:latin typeface="Consolas" pitchFamily="49" charset="0"/>
                <a:ea typeface="华文中宋" pitchFamily="2" charset="-122"/>
                <a:cs typeface="Consolas" pitchFamily="49" charset="0"/>
              </a:rPr>
              <a:t>O(1)</a:t>
            </a:r>
            <a:r>
              <a:rPr kumimoji="1" lang="zh-CN" altLang="en-US" sz="1800" dirty="0">
                <a:latin typeface="Consolas" pitchFamily="49" charset="0"/>
                <a:ea typeface="华文中宋" pitchFamily="2" charset="-122"/>
                <a:cs typeface="Consolas" pitchFamily="49" charset="0"/>
              </a:rPr>
              <a:t>时间内找到序号为</a:t>
            </a:r>
            <a:r>
              <a:rPr kumimoji="1" lang="en-US" altLang="zh-CN" sz="1800" i="1" dirty="0" err="1">
                <a:latin typeface="Consolas" pitchFamily="49" charset="0"/>
                <a:ea typeface="华文中宋" pitchFamily="2" charset="-122"/>
                <a:cs typeface="Consolas" pitchFamily="49" charset="0"/>
              </a:rPr>
              <a:t>i</a:t>
            </a:r>
            <a:r>
              <a:rPr kumimoji="1" lang="zh-CN" altLang="en-US" sz="1800" dirty="0">
                <a:latin typeface="Consolas" pitchFamily="49" charset="0"/>
                <a:ea typeface="华文中宋" pitchFamily="2" charset="-122"/>
                <a:cs typeface="Consolas" pitchFamily="49" charset="0"/>
              </a:rPr>
              <a:t>的元素值。</a:t>
            </a:r>
          </a:p>
        </p:txBody>
      </p:sp>
      <p:sp>
        <p:nvSpPr>
          <p:cNvPr id="16" name="TextBox 21">
            <a:extLst>
              <a:ext uri="{FF2B5EF4-FFF2-40B4-BE49-F238E27FC236}">
                <a16:creationId xmlns:a16="http://schemas.microsoft.com/office/drawing/2014/main" id="{5BDD7C47-B04D-48BA-28FE-027CD56B97F1}"/>
              </a:ext>
            </a:extLst>
          </p:cNvPr>
          <p:cNvSpPr txBox="1"/>
          <p:nvPr/>
        </p:nvSpPr>
        <p:spPr>
          <a:xfrm>
            <a:off x="2340532" y="2563749"/>
            <a:ext cx="3786214" cy="400110"/>
          </a:xfrm>
          <a:prstGeom prst="rect">
            <a:avLst/>
          </a:prstGeom>
          <a:noFill/>
        </p:spPr>
        <p:txBody>
          <a:bodyPr wrap="square" rtlCol="0">
            <a:spAutoFit/>
          </a:bodyPr>
          <a:lstStyle/>
          <a:p>
            <a:pPr algn="l"/>
            <a:r>
              <a:rPr lang="en-US" altLang="zh-CN" sz="2000" i="1" dirty="0">
                <a:latin typeface="Consolas" pitchFamily="49" charset="0"/>
                <a:cs typeface="Consolas" pitchFamily="49" charset="0"/>
              </a:rPr>
              <a:t>A</a:t>
            </a:r>
            <a:r>
              <a:rPr lang="en-US" altLang="zh-CN" sz="2000" dirty="0">
                <a:latin typeface="Consolas" pitchFamily="49" charset="0"/>
                <a:cs typeface="Consolas" pitchFamily="49" charset="0"/>
              </a:rPr>
              <a:t>=</a:t>
            </a:r>
            <a:r>
              <a:rPr lang="zh-CN" altLang="en-US" sz="2000" dirty="0">
                <a:latin typeface="Consolas" pitchFamily="49" charset="0"/>
                <a:cs typeface="Consolas" pitchFamily="49" charset="0"/>
              </a:rPr>
              <a:t>（</a:t>
            </a:r>
            <a:r>
              <a:rPr lang="en-US" altLang="zh-CN" sz="2000" i="1" dirty="0">
                <a:latin typeface="Consolas" pitchFamily="49" charset="0"/>
                <a:cs typeface="Consolas" pitchFamily="49" charset="0"/>
              </a:rPr>
              <a:t>a</a:t>
            </a:r>
            <a:r>
              <a:rPr lang="en-US" altLang="zh-CN" sz="2000" baseline="-25000" dirty="0">
                <a:latin typeface="Consolas" pitchFamily="49" charset="0"/>
                <a:cs typeface="Consolas" pitchFamily="49" charset="0"/>
              </a:rPr>
              <a:t>1</a:t>
            </a:r>
            <a:r>
              <a:rPr lang="zh-CN" altLang="en-US" sz="2000" dirty="0">
                <a:latin typeface="Consolas" pitchFamily="49" charset="0"/>
                <a:cs typeface="Consolas" pitchFamily="49" charset="0"/>
              </a:rPr>
              <a:t>，</a:t>
            </a:r>
            <a:r>
              <a:rPr lang="en-US" altLang="zh-CN" sz="2000" i="1" dirty="0">
                <a:latin typeface="Consolas" pitchFamily="49" charset="0"/>
                <a:cs typeface="Consolas" pitchFamily="49" charset="0"/>
              </a:rPr>
              <a:t>a</a:t>
            </a:r>
            <a:r>
              <a:rPr lang="en-US" altLang="zh-CN" sz="2000" baseline="-25000" dirty="0">
                <a:latin typeface="Consolas" pitchFamily="49" charset="0"/>
                <a:cs typeface="Consolas" pitchFamily="49" charset="0"/>
              </a:rPr>
              <a:t>2</a:t>
            </a:r>
            <a:r>
              <a:rPr lang="zh-CN" altLang="en-US" sz="2000" dirty="0">
                <a:latin typeface="Consolas" pitchFamily="49" charset="0"/>
                <a:cs typeface="Consolas" pitchFamily="49" charset="0"/>
              </a:rPr>
              <a:t>，</a:t>
            </a:r>
            <a:r>
              <a:rPr lang="en-US" altLang="zh-CN" sz="2000" dirty="0">
                <a:latin typeface="宋体" pitchFamily="2" charset="-122"/>
                <a:ea typeface="宋体" pitchFamily="2" charset="-122"/>
                <a:cs typeface="Consolas" pitchFamily="49" charset="0"/>
              </a:rPr>
              <a:t>…</a:t>
            </a:r>
            <a:r>
              <a:rPr lang="zh-CN" altLang="en-US" sz="2000" dirty="0">
                <a:latin typeface="Consolas" pitchFamily="49" charset="0"/>
                <a:cs typeface="Consolas" pitchFamily="49" charset="0"/>
              </a:rPr>
              <a:t>，</a:t>
            </a:r>
            <a:r>
              <a:rPr lang="en-US" altLang="zh-CN" sz="2000" i="1" dirty="0">
                <a:latin typeface="Consolas" pitchFamily="49" charset="0"/>
                <a:cs typeface="Consolas" pitchFamily="49" charset="0"/>
              </a:rPr>
              <a:t>a</a:t>
            </a:r>
            <a:r>
              <a:rPr lang="en-US" altLang="zh-CN" sz="2000" i="1" baseline="-25000" dirty="0">
                <a:latin typeface="Consolas" pitchFamily="49" charset="0"/>
                <a:cs typeface="Consolas" pitchFamily="49" charset="0"/>
              </a:rPr>
              <a:t>i</a:t>
            </a:r>
            <a:r>
              <a:rPr lang="zh-CN" altLang="en-US" sz="2000" dirty="0">
                <a:latin typeface="Consolas" pitchFamily="49" charset="0"/>
                <a:cs typeface="Consolas" pitchFamily="49" charset="0"/>
              </a:rPr>
              <a:t>，</a:t>
            </a:r>
            <a:r>
              <a:rPr lang="en-US" altLang="zh-CN" sz="2000" dirty="0">
                <a:latin typeface="宋体" pitchFamily="2" charset="-122"/>
                <a:ea typeface="宋体" pitchFamily="2" charset="-122"/>
                <a:cs typeface="Consolas" pitchFamily="49" charset="0"/>
              </a:rPr>
              <a:t>…</a:t>
            </a:r>
            <a:r>
              <a:rPr lang="zh-CN" altLang="en-US" sz="2000" dirty="0">
                <a:latin typeface="Consolas" pitchFamily="49" charset="0"/>
                <a:cs typeface="Consolas" pitchFamily="49" charset="0"/>
              </a:rPr>
              <a:t>，</a:t>
            </a:r>
            <a:r>
              <a:rPr lang="en-US" altLang="zh-CN" sz="2000" i="1" dirty="0">
                <a:latin typeface="Consolas" pitchFamily="49" charset="0"/>
                <a:cs typeface="Consolas" pitchFamily="49" charset="0"/>
              </a:rPr>
              <a:t>a</a:t>
            </a:r>
            <a:r>
              <a:rPr lang="en-US" altLang="zh-CN" sz="2000" i="1" baseline="-25000" dirty="0">
                <a:latin typeface="Consolas" pitchFamily="49" charset="0"/>
                <a:cs typeface="Consolas" pitchFamily="49" charset="0"/>
              </a:rPr>
              <a:t>n</a:t>
            </a:r>
            <a:r>
              <a:rPr lang="zh-CN" altLang="en-US" sz="2000" dirty="0">
                <a:latin typeface="Consolas" pitchFamily="49" charset="0"/>
                <a:cs typeface="Consolas" pitchFamily="49" charset="0"/>
              </a:rPr>
              <a:t>）</a:t>
            </a:r>
          </a:p>
        </p:txBody>
      </p:sp>
      <p:sp>
        <p:nvSpPr>
          <p:cNvPr id="18" name="文本框 17">
            <a:extLst>
              <a:ext uri="{FF2B5EF4-FFF2-40B4-BE49-F238E27FC236}">
                <a16:creationId xmlns:a16="http://schemas.microsoft.com/office/drawing/2014/main" id="{B4B921F0-5B02-1578-61E8-C757A0A1328B}"/>
              </a:ext>
            </a:extLst>
          </p:cNvPr>
          <p:cNvSpPr txBox="1"/>
          <p:nvPr/>
        </p:nvSpPr>
        <p:spPr>
          <a:xfrm>
            <a:off x="1179720" y="1851035"/>
            <a:ext cx="3620135" cy="461665"/>
          </a:xfrm>
          <a:prstGeom prst="rect">
            <a:avLst/>
          </a:prstGeom>
          <a:noFill/>
        </p:spPr>
        <p:txBody>
          <a:bodyPr wrap="square">
            <a:spAutoFit/>
          </a:bodyPr>
          <a:lstStyle/>
          <a:p>
            <a:r>
              <a:rPr lang="en-US" altLang="zh-CN" sz="2400" dirty="0">
                <a:latin typeface="微软雅黑" pitchFamily="34" charset="-122"/>
                <a:ea typeface="微软雅黑" pitchFamily="34" charset="-122"/>
                <a:cs typeface="经典粗黑简" pitchFamily="49" charset="-122"/>
              </a:rPr>
              <a:t>1</a:t>
            </a:r>
            <a:r>
              <a:rPr lang="zh-CN" altLang="en-US" sz="2400" dirty="0">
                <a:latin typeface="微软雅黑" pitchFamily="34" charset="-122"/>
                <a:ea typeface="微软雅黑" pitchFamily="34" charset="-122"/>
                <a:cs typeface="经典粗黑简" pitchFamily="49" charset="-122"/>
              </a:rPr>
              <a:t>、一维数组的存储结构</a:t>
            </a:r>
          </a:p>
        </p:txBody>
      </p:sp>
      <p:sp>
        <p:nvSpPr>
          <p:cNvPr id="19" name="下箭头 18">
            <a:extLst>
              <a:ext uri="{FF2B5EF4-FFF2-40B4-BE49-F238E27FC236}">
                <a16:creationId xmlns:a16="http://schemas.microsoft.com/office/drawing/2014/main" id="{77F4FEED-DFD2-BA3C-9AF2-78A7B04850A6}"/>
              </a:ext>
            </a:extLst>
          </p:cNvPr>
          <p:cNvSpPr/>
          <p:nvPr/>
        </p:nvSpPr>
        <p:spPr>
          <a:xfrm>
            <a:off x="4705911" y="5770089"/>
            <a:ext cx="286092" cy="500289"/>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itchFamily="49" charset="0"/>
              <a:cs typeface="Consolas" pitchFamily="49" charset="0"/>
            </a:endParaRPr>
          </a:p>
        </p:txBody>
      </p:sp>
    </p:spTree>
    <p:extLst>
      <p:ext uri="{BB962C8B-B14F-4D97-AF65-F5344CB8AC3E}">
        <p14:creationId xmlns:p14="http://schemas.microsoft.com/office/powerpoint/2010/main" val="2698897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2253793" y="2868463"/>
            <a:ext cx="7390996"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将数组元素按行排列，第</a:t>
            </a:r>
            <a:r>
              <a:rPr lang="en-US" altLang="zh-CN" sz="2000" dirty="0">
                <a:latin typeface="微软雅黑" pitchFamily="34" charset="-122"/>
                <a:ea typeface="微软雅黑" pitchFamily="34" charset="-122"/>
                <a:cs typeface="经典粗黑简" pitchFamily="49" charset="-122"/>
              </a:rPr>
              <a:t>i+1</a:t>
            </a:r>
            <a:r>
              <a:rPr lang="zh-CN" altLang="en-US" sz="2000" dirty="0">
                <a:latin typeface="微软雅黑" pitchFamily="34" charset="-122"/>
                <a:ea typeface="微软雅黑" pitchFamily="34" charset="-122"/>
                <a:cs typeface="经典粗黑简" pitchFamily="49" charset="-122"/>
              </a:rPr>
              <a:t>个行向量紧接在第</a:t>
            </a:r>
            <a:r>
              <a:rPr lang="en-US" altLang="zh-CN" sz="2000" dirty="0">
                <a:latin typeface="微软雅黑" pitchFamily="34" charset="-122"/>
                <a:ea typeface="微软雅黑" pitchFamily="34" charset="-122"/>
                <a:cs typeface="经典粗黑简" pitchFamily="49" charset="-122"/>
              </a:rPr>
              <a:t>i</a:t>
            </a:r>
            <a:r>
              <a:rPr lang="zh-CN" altLang="en-US" sz="2000" dirty="0">
                <a:latin typeface="微软雅黑" pitchFamily="34" charset="-122"/>
                <a:ea typeface="微软雅黑" pitchFamily="34" charset="-122"/>
                <a:cs typeface="经典粗黑简" pitchFamily="49" charset="-122"/>
              </a:rPr>
              <a:t>个行向量后面。</a:t>
            </a:r>
            <a:endParaRPr lang="zh-CN" altLang="en-US" sz="2000" baseline="-25000" dirty="0">
              <a:latin typeface="微软雅黑" pitchFamily="34" charset="-122"/>
              <a:ea typeface="微软雅黑" pitchFamily="34" charset="-122"/>
              <a:cs typeface="经典粗黑简" pitchFamily="49" charset="-122"/>
            </a:endParaRPr>
          </a:p>
        </p:txBody>
      </p:sp>
      <p:sp>
        <p:nvSpPr>
          <p:cNvPr id="11" name="矩形 10"/>
          <p:cNvSpPr/>
          <p:nvPr/>
        </p:nvSpPr>
        <p:spPr>
          <a:xfrm>
            <a:off x="1606547" y="2408455"/>
            <a:ext cx="4544834" cy="400110"/>
          </a:xfrm>
          <a:prstGeom prst="rect">
            <a:avLst/>
          </a:prstGeom>
        </p:spPr>
        <p:txBody>
          <a:bodyPr wrap="none">
            <a:spAutoFit/>
          </a:bodyPr>
          <a:lstStyle/>
          <a:p>
            <a:r>
              <a:rPr lang="en-US" altLang="zh-CN" sz="2000" dirty="0">
                <a:latin typeface="微软雅黑" pitchFamily="34" charset="-122"/>
                <a:ea typeface="微软雅黑" pitchFamily="34" charset="-122"/>
                <a:cs typeface="经典粗黑简" pitchFamily="49" charset="-122"/>
              </a:rPr>
              <a:t>①</a:t>
            </a:r>
            <a:r>
              <a:rPr lang="zh-CN" altLang="en-US" sz="2000" dirty="0">
                <a:latin typeface="微软雅黑" pitchFamily="34" charset="-122"/>
                <a:ea typeface="微软雅黑" pitchFamily="34" charset="-122"/>
                <a:cs typeface="经典粗黑简" pitchFamily="49" charset="-122"/>
              </a:rPr>
              <a:t>、行优先顺序或以行为主序存储方式</a:t>
            </a:r>
          </a:p>
        </p:txBody>
      </p:sp>
      <p:grpSp>
        <p:nvGrpSpPr>
          <p:cNvPr id="12" name="组合 11"/>
          <p:cNvGrpSpPr/>
          <p:nvPr/>
        </p:nvGrpSpPr>
        <p:grpSpPr>
          <a:xfrm>
            <a:off x="1941651" y="3268573"/>
            <a:ext cx="2854069" cy="2462606"/>
            <a:chOff x="1822873" y="3916542"/>
            <a:chExt cx="2854069" cy="2462606"/>
          </a:xfrm>
        </p:grpSpPr>
        <p:sp>
          <p:nvSpPr>
            <p:cNvPr id="13" name="Rectangle 5"/>
            <p:cNvSpPr>
              <a:spLocks noChangeArrowheads="1"/>
            </p:cNvSpPr>
            <p:nvPr/>
          </p:nvSpPr>
          <p:spPr bwMode="auto">
            <a:xfrm>
              <a:off x="1895264" y="3916542"/>
              <a:ext cx="2781678" cy="2462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11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1n</a:t>
              </a: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21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2n</a:t>
              </a:r>
            </a:p>
            <a:p>
              <a:pPr algn="l">
                <a:spcBef>
                  <a:spcPct val="50000"/>
                </a:spcBef>
                <a:buClr>
                  <a:schemeClr val="folHlink"/>
                </a:buClr>
                <a:buSzPct val="60000"/>
                <a:buFont typeface="Wingdings" pitchFamily="2" charset="2"/>
                <a:buNone/>
              </a:pP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10000" dirty="0" err="1">
                  <a:latin typeface="Tahoma" pitchFamily="34" charset="0"/>
                  <a:ea typeface="楷体_GB2312" pitchFamily="49" charset="-122"/>
                </a:rPr>
                <a:t>ij</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endParaRPr kumimoji="1" lang="en-US" altLang="zh-CN" sz="2800" dirty="0">
                <a:latin typeface="Tahoma" pitchFamily="34" charset="0"/>
                <a:ea typeface="楷体_GB2312" pitchFamily="49" charset="-122"/>
              </a:endParaRP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10000" dirty="0">
                  <a:latin typeface="Tahoma" pitchFamily="34" charset="0"/>
                  <a:ea typeface="楷体_GB2312" pitchFamily="49" charset="-122"/>
                </a:rPr>
                <a:t>m</a:t>
              </a:r>
              <a:r>
                <a:rPr kumimoji="1" lang="en-US" altLang="zh-CN" sz="2800" baseline="-20000" dirty="0">
                  <a:latin typeface="Tahoma" pitchFamily="34" charset="0"/>
                  <a:ea typeface="楷体_GB2312" pitchFamily="49" charset="-122"/>
                </a:rPr>
                <a:t>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m2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20000" dirty="0" err="1">
                  <a:latin typeface="Tahoma" pitchFamily="34" charset="0"/>
                  <a:ea typeface="楷体_GB2312" pitchFamily="49" charset="-122"/>
                </a:rPr>
                <a:t>mn</a:t>
              </a:r>
              <a:endParaRPr kumimoji="1" lang="en-US" altLang="zh-CN" sz="2800" baseline="-20000" dirty="0">
                <a:latin typeface="Tahoma" pitchFamily="34" charset="0"/>
                <a:ea typeface="楷体_GB2312" pitchFamily="49" charset="-122"/>
              </a:endParaRPr>
            </a:p>
          </p:txBody>
        </p:sp>
        <p:grpSp>
          <p:nvGrpSpPr>
            <p:cNvPr id="14" name="组合 13"/>
            <p:cNvGrpSpPr/>
            <p:nvPr/>
          </p:nvGrpSpPr>
          <p:grpSpPr>
            <a:xfrm>
              <a:off x="1822873" y="3973445"/>
              <a:ext cx="144780" cy="2380468"/>
              <a:chOff x="1822873" y="3921191"/>
              <a:chExt cx="144780" cy="2380468"/>
            </a:xfrm>
          </p:grpSpPr>
          <p:sp>
            <p:nvSpPr>
              <p:cNvPr id="19" name="Line 6"/>
              <p:cNvSpPr>
                <a:spLocks noChangeShapeType="1"/>
              </p:cNvSpPr>
              <p:nvPr/>
            </p:nvSpPr>
            <p:spPr bwMode="auto">
              <a:xfrm>
                <a:off x="1822873" y="392119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7"/>
              <p:cNvSpPr>
                <a:spLocks noChangeShapeType="1"/>
              </p:cNvSpPr>
              <p:nvPr/>
            </p:nvSpPr>
            <p:spPr bwMode="auto">
              <a:xfrm>
                <a:off x="1822873" y="630165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8"/>
              <p:cNvSpPr>
                <a:spLocks noChangeShapeType="1"/>
              </p:cNvSpPr>
              <p:nvPr/>
            </p:nvSpPr>
            <p:spPr bwMode="auto">
              <a:xfrm>
                <a:off x="1822873" y="392119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 name="组合 14"/>
            <p:cNvGrpSpPr/>
            <p:nvPr/>
          </p:nvGrpSpPr>
          <p:grpSpPr>
            <a:xfrm>
              <a:off x="4532161" y="3983738"/>
              <a:ext cx="144780" cy="2380468"/>
              <a:chOff x="4758595" y="3957611"/>
              <a:chExt cx="144780" cy="2380468"/>
            </a:xfrm>
          </p:grpSpPr>
          <p:sp>
            <p:nvSpPr>
              <p:cNvPr id="16" name="Line 9"/>
              <p:cNvSpPr>
                <a:spLocks noChangeShapeType="1"/>
              </p:cNvSpPr>
              <p:nvPr/>
            </p:nvSpPr>
            <p:spPr bwMode="auto">
              <a:xfrm>
                <a:off x="4903375" y="395761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10"/>
              <p:cNvSpPr>
                <a:spLocks noChangeShapeType="1"/>
              </p:cNvSpPr>
              <p:nvPr/>
            </p:nvSpPr>
            <p:spPr bwMode="auto">
              <a:xfrm>
                <a:off x="4758595" y="633807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11"/>
              <p:cNvSpPr>
                <a:spLocks noChangeShapeType="1"/>
              </p:cNvSpPr>
              <p:nvPr/>
            </p:nvSpPr>
            <p:spPr bwMode="auto">
              <a:xfrm>
                <a:off x="4758595" y="395761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aphicFrame>
        <p:nvGraphicFramePr>
          <p:cNvPr id="23" name="表格 22"/>
          <p:cNvGraphicFramePr>
            <a:graphicFrameLocks noGrp="1"/>
          </p:cNvGraphicFramePr>
          <p:nvPr>
            <p:extLst>
              <p:ext uri="{D42A27DB-BD31-4B8C-83A1-F6EECF244321}">
                <p14:modId xmlns:p14="http://schemas.microsoft.com/office/powerpoint/2010/main" val="1317082049"/>
              </p:ext>
            </p:extLst>
          </p:nvPr>
        </p:nvGraphicFramePr>
        <p:xfrm>
          <a:off x="4795719" y="3335769"/>
          <a:ext cx="624840" cy="2429690"/>
        </p:xfrm>
        <a:graphic>
          <a:graphicData uri="http://schemas.openxmlformats.org/drawingml/2006/table">
            <a:tbl>
              <a:tblPr firstRow="1" bandRow="1">
                <a:tableStyleId>{2D5ABB26-0587-4C30-8999-92F81FD0307C}</a:tableStyleId>
              </a:tblPr>
              <a:tblGrid>
                <a:gridCol w="624840">
                  <a:extLst>
                    <a:ext uri="{9D8B030D-6E8A-4147-A177-3AD203B41FA5}">
                      <a16:colId xmlns:a16="http://schemas.microsoft.com/office/drawing/2014/main" val="20000"/>
                    </a:ext>
                  </a:extLst>
                </a:gridCol>
              </a:tblGrid>
              <a:tr h="661851">
                <a:tc>
                  <a:txBody>
                    <a:bodyPr/>
                    <a:lstStyle/>
                    <a:p>
                      <a:pPr algn="ctr"/>
                      <a:r>
                        <a:rPr lang="el-GR" altLang="zh-CN" sz="1800" dirty="0"/>
                        <a:t>α</a:t>
                      </a:r>
                      <a:r>
                        <a:rPr lang="en-US" altLang="zh-CN" sz="1800" baseline="-25000" dirty="0"/>
                        <a:t>1</a:t>
                      </a:r>
                      <a:endParaRPr lang="zh-CN" altLang="en-US" dirty="0"/>
                    </a:p>
                  </a:txBody>
                  <a:tcPr/>
                </a:tc>
                <a:extLst>
                  <a:ext uri="{0D108BD9-81ED-4DB2-BD59-A6C34878D82A}">
                    <a16:rowId xmlns:a16="http://schemas.microsoft.com/office/drawing/2014/main" val="10000"/>
                  </a:ext>
                </a:extLst>
              </a:tr>
              <a:tr h="566058">
                <a:tc>
                  <a:txBody>
                    <a:bodyPr/>
                    <a:lstStyle/>
                    <a:p>
                      <a:pPr algn="ctr"/>
                      <a:r>
                        <a:rPr lang="el-GR" altLang="zh-CN" sz="1800" dirty="0"/>
                        <a:t>α</a:t>
                      </a:r>
                      <a:r>
                        <a:rPr lang="en-US" altLang="zh-CN" sz="1800" baseline="-25000" dirty="0"/>
                        <a:t>2</a:t>
                      </a:r>
                      <a:endParaRPr lang="zh-CN" altLang="en-US" dirty="0"/>
                    </a:p>
                  </a:txBody>
                  <a:tcPr/>
                </a:tc>
                <a:extLst>
                  <a:ext uri="{0D108BD9-81ED-4DB2-BD59-A6C34878D82A}">
                    <a16:rowId xmlns:a16="http://schemas.microsoft.com/office/drawing/2014/main" val="10001"/>
                  </a:ext>
                </a:extLst>
              </a:tr>
              <a:tr h="792479">
                <a:tc>
                  <a:txBody>
                    <a:bodyPr/>
                    <a:lstStyle/>
                    <a:p>
                      <a:pPr algn="ctr"/>
                      <a:r>
                        <a:rPr lang="en-US" altLang="zh-CN" sz="1800" dirty="0"/>
                        <a:t>…</a:t>
                      </a:r>
                      <a:endParaRPr lang="zh-CN" altLang="en-US" dirty="0"/>
                    </a:p>
                  </a:txBody>
                  <a:tcPr/>
                </a:tc>
                <a:extLst>
                  <a:ext uri="{0D108BD9-81ED-4DB2-BD59-A6C34878D82A}">
                    <a16:rowId xmlns:a16="http://schemas.microsoft.com/office/drawing/2014/main" val="10002"/>
                  </a:ext>
                </a:extLst>
              </a:tr>
              <a:tr h="409302">
                <a:tc>
                  <a:txBody>
                    <a:bodyPr/>
                    <a:lstStyle/>
                    <a:p>
                      <a:pPr algn="ctr"/>
                      <a:r>
                        <a:rPr lang="el-GR" altLang="zh-CN" sz="1800" dirty="0"/>
                        <a:t>α</a:t>
                      </a:r>
                      <a:r>
                        <a:rPr lang="en-US" altLang="zh-CN" sz="1800" baseline="-25000" dirty="0"/>
                        <a:t>m</a:t>
                      </a:r>
                      <a:endParaRPr lang="zh-CN" altLang="en-US" dirty="0"/>
                    </a:p>
                  </a:txBody>
                  <a:tcPr/>
                </a:tc>
                <a:extLst>
                  <a:ext uri="{0D108BD9-81ED-4DB2-BD59-A6C34878D82A}">
                    <a16:rowId xmlns:a16="http://schemas.microsoft.com/office/drawing/2014/main" val="10003"/>
                  </a:ext>
                </a:extLst>
              </a:tr>
            </a:tbl>
          </a:graphicData>
        </a:graphic>
      </p:graphicFrame>
      <p:sp>
        <p:nvSpPr>
          <p:cNvPr id="24" name="椭圆 23"/>
          <p:cNvSpPr/>
          <p:nvPr/>
        </p:nvSpPr>
        <p:spPr>
          <a:xfrm>
            <a:off x="1821304" y="3325476"/>
            <a:ext cx="3095897" cy="5273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821304" y="3972574"/>
            <a:ext cx="3095897" cy="5273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821304" y="5231082"/>
            <a:ext cx="3095897" cy="5273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1821304" y="4612774"/>
            <a:ext cx="3095897" cy="5273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 Box 12"/>
          <p:cNvSpPr txBox="1">
            <a:spLocks noChangeArrowheads="1"/>
          </p:cNvSpPr>
          <p:nvPr/>
        </p:nvSpPr>
        <p:spPr bwMode="auto">
          <a:xfrm>
            <a:off x="1214238" y="4249162"/>
            <a:ext cx="727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50000"/>
              </a:spcBef>
            </a:pPr>
            <a:r>
              <a:rPr kumimoji="1" lang="en-US" altLang="zh-CN" sz="2800" dirty="0">
                <a:latin typeface="Tahoma" pitchFamily="34" charset="0"/>
                <a:ea typeface="楷体_GB2312" pitchFamily="49" charset="-122"/>
              </a:rPr>
              <a:t>A=</a:t>
            </a:r>
            <a:endParaRPr kumimoji="1" lang="en-US" altLang="zh-CN" sz="2800" baseline="-25000" dirty="0">
              <a:latin typeface="Tahoma" pitchFamily="34" charset="0"/>
              <a:ea typeface="楷体_GB2312" pitchFamily="49" charset="-122"/>
            </a:endParaRPr>
          </a:p>
        </p:txBody>
      </p:sp>
      <p:sp>
        <p:nvSpPr>
          <p:cNvPr id="38" name="Text Box 12"/>
          <p:cNvSpPr txBox="1">
            <a:spLocks noChangeArrowheads="1"/>
          </p:cNvSpPr>
          <p:nvPr/>
        </p:nvSpPr>
        <p:spPr bwMode="auto">
          <a:xfrm>
            <a:off x="5645376" y="4141586"/>
            <a:ext cx="39994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800" dirty="0">
                <a:latin typeface="Tahoma" pitchFamily="34" charset="0"/>
                <a:ea typeface="楷体_GB2312" pitchFamily="49" charset="-122"/>
              </a:rPr>
              <a:t>A=(</a:t>
            </a:r>
            <a:r>
              <a:rPr lang="el-GR" altLang="zh-CN" sz="2800" dirty="0"/>
              <a:t>α</a:t>
            </a:r>
            <a:r>
              <a:rPr lang="en-US" altLang="zh-CN" sz="2800" baseline="-25000" dirty="0"/>
              <a:t>1,</a:t>
            </a:r>
            <a:r>
              <a:rPr lang="el-GR" altLang="zh-CN" sz="2800" dirty="0"/>
              <a:t> α</a:t>
            </a:r>
            <a:r>
              <a:rPr lang="en-US" altLang="zh-CN" sz="2800" baseline="-25000" dirty="0"/>
              <a:t>2,</a:t>
            </a:r>
            <a:r>
              <a:rPr lang="el-GR" altLang="zh-CN" sz="2800" dirty="0"/>
              <a:t> </a:t>
            </a:r>
            <a:r>
              <a:rPr lang="en-US" altLang="zh-CN" sz="2800" dirty="0"/>
              <a:t>…,</a:t>
            </a:r>
            <a:r>
              <a:rPr lang="el-GR" altLang="zh-CN" sz="2800" dirty="0"/>
              <a:t>α</a:t>
            </a:r>
            <a:r>
              <a:rPr lang="en-US" altLang="zh-CN" sz="2800" baseline="-25000" dirty="0"/>
              <a:t>i,</a:t>
            </a:r>
            <a:r>
              <a:rPr lang="el-GR" altLang="zh-CN" sz="2800" dirty="0"/>
              <a:t> </a:t>
            </a:r>
            <a:r>
              <a:rPr lang="en-US" altLang="zh-CN" sz="2800" dirty="0"/>
              <a:t>…, </a:t>
            </a:r>
            <a:r>
              <a:rPr lang="el-GR" altLang="zh-CN" sz="2800" dirty="0"/>
              <a:t>α</a:t>
            </a:r>
            <a:r>
              <a:rPr lang="en-US" altLang="zh-CN" sz="2800" baseline="-25000" dirty="0"/>
              <a:t>m</a:t>
            </a:r>
            <a:r>
              <a:rPr kumimoji="1" lang="en-US" altLang="zh-CN" sz="2800" dirty="0">
                <a:latin typeface="Tahoma" pitchFamily="34" charset="0"/>
                <a:ea typeface="楷体_GB2312" pitchFamily="49" charset="-122"/>
              </a:rPr>
              <a:t>)</a:t>
            </a:r>
            <a:endParaRPr kumimoji="1" lang="en-US" altLang="zh-CN" sz="2800" baseline="-25000" dirty="0">
              <a:latin typeface="Tahoma" pitchFamily="34" charset="0"/>
              <a:ea typeface="楷体_GB2312" pitchFamily="49" charset="-122"/>
            </a:endParaRPr>
          </a:p>
        </p:txBody>
      </p:sp>
      <p:sp>
        <p:nvSpPr>
          <p:cNvPr id="39" name="Text Box 12"/>
          <p:cNvSpPr txBox="1">
            <a:spLocks noChangeArrowheads="1"/>
          </p:cNvSpPr>
          <p:nvPr/>
        </p:nvSpPr>
        <p:spPr bwMode="auto">
          <a:xfrm>
            <a:off x="5645376" y="4768274"/>
            <a:ext cx="31674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l-GR" altLang="zh-CN" sz="2800" dirty="0"/>
              <a:t>α</a:t>
            </a:r>
            <a:r>
              <a:rPr lang="en-US" altLang="zh-CN" sz="2800" baseline="-25000" dirty="0"/>
              <a:t>i </a:t>
            </a: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i1, </a:t>
            </a: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i2, </a:t>
            </a:r>
            <a:r>
              <a:rPr lang="en-US" altLang="zh-CN" sz="2800" dirty="0"/>
              <a:t>…, </a:t>
            </a:r>
            <a:r>
              <a:rPr kumimoji="1" lang="en-US" altLang="zh-CN" sz="2800" dirty="0" err="1">
                <a:latin typeface="Tahoma" pitchFamily="34" charset="0"/>
                <a:ea typeface="楷体_GB2312" pitchFamily="49" charset="-122"/>
              </a:rPr>
              <a:t>a</a:t>
            </a:r>
            <a:r>
              <a:rPr kumimoji="1" lang="en-US" altLang="zh-CN" sz="2800" baseline="-20000" dirty="0" err="1">
                <a:latin typeface="Tahoma" pitchFamily="34" charset="0"/>
                <a:ea typeface="楷体_GB2312" pitchFamily="49" charset="-122"/>
              </a:rPr>
              <a:t>in</a:t>
            </a:r>
            <a:r>
              <a:rPr kumimoji="1" lang="en-US" altLang="zh-CN" sz="2800" baseline="-20000" dirty="0">
                <a:latin typeface="Tahoma" pitchFamily="34" charset="0"/>
                <a:ea typeface="楷体_GB2312" pitchFamily="49" charset="-122"/>
              </a:rPr>
              <a:t> </a:t>
            </a:r>
            <a:r>
              <a:rPr kumimoji="1" lang="en-US" altLang="zh-CN" sz="2800" dirty="0">
                <a:latin typeface="Tahoma" pitchFamily="34" charset="0"/>
                <a:ea typeface="楷体_GB2312" pitchFamily="49" charset="-122"/>
              </a:rPr>
              <a:t>)</a:t>
            </a:r>
            <a:endParaRPr kumimoji="1" lang="en-US" altLang="zh-CN" sz="2800" baseline="-25000" dirty="0">
              <a:latin typeface="Tahoma" pitchFamily="34" charset="0"/>
              <a:ea typeface="楷体_GB2312" pitchFamily="49" charset="-122"/>
            </a:endParaRPr>
          </a:p>
        </p:txBody>
      </p:sp>
      <p:sp>
        <p:nvSpPr>
          <p:cNvPr id="2" name="文本框 1">
            <a:extLst>
              <a:ext uri="{FF2B5EF4-FFF2-40B4-BE49-F238E27FC236}">
                <a16:creationId xmlns:a16="http://schemas.microsoft.com/office/drawing/2014/main" id="{6A324C1F-B160-8158-F049-1E5DE52C51C9}"/>
              </a:ext>
            </a:extLst>
          </p:cNvPr>
          <p:cNvSpPr txBox="1"/>
          <p:nvPr/>
        </p:nvSpPr>
        <p:spPr>
          <a:xfrm>
            <a:off x="1179720" y="1851035"/>
            <a:ext cx="3620135" cy="461665"/>
          </a:xfrm>
          <a:prstGeom prst="rect">
            <a:avLst/>
          </a:prstGeom>
          <a:noFill/>
        </p:spPr>
        <p:txBody>
          <a:bodyPr wrap="square">
            <a:spAutoFit/>
          </a:bodyPr>
          <a:lstStyle/>
          <a:p>
            <a:r>
              <a:rPr lang="en-US" altLang="zh-CN" sz="2400" dirty="0">
                <a:latin typeface="微软雅黑" pitchFamily="34" charset="-122"/>
                <a:ea typeface="微软雅黑" pitchFamily="34" charset="-122"/>
                <a:cs typeface="经典粗黑简" pitchFamily="49" charset="-122"/>
              </a:rPr>
              <a:t>2</a:t>
            </a:r>
            <a:r>
              <a:rPr lang="zh-CN" altLang="en-US" sz="2400" dirty="0">
                <a:latin typeface="微软雅黑" pitchFamily="34" charset="-122"/>
                <a:ea typeface="微软雅黑" pitchFamily="34" charset="-122"/>
                <a:cs typeface="经典粗黑简" pitchFamily="49" charset="-122"/>
              </a:rPr>
              <a:t>、二维数组的存储结构</a:t>
            </a:r>
          </a:p>
        </p:txBody>
      </p:sp>
      <p:sp>
        <p:nvSpPr>
          <p:cNvPr id="3" name="Rectangle 3">
            <a:extLst>
              <a:ext uri="{FF2B5EF4-FFF2-40B4-BE49-F238E27FC236}">
                <a16:creationId xmlns:a16="http://schemas.microsoft.com/office/drawing/2014/main" id="{57D8F741-3689-0F09-E077-633440D9D020}"/>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6.1.2 </a:t>
            </a:r>
            <a:r>
              <a:rPr lang="zh-CN" altLang="en-US" sz="2800" b="1" dirty="0">
                <a:solidFill>
                  <a:schemeClr val="bg1"/>
                </a:solidFill>
                <a:latin typeface="经典粗黑简" pitchFamily="49" charset="-122"/>
                <a:ea typeface="经典粗黑简" pitchFamily="49" charset="-122"/>
                <a:cs typeface="经典粗黑简" pitchFamily="49" charset="-122"/>
              </a:rPr>
              <a:t>数组的存储结构</a:t>
            </a:r>
          </a:p>
        </p:txBody>
      </p:sp>
      <p:sp>
        <p:nvSpPr>
          <p:cNvPr id="4" name="Rectangle 2">
            <a:extLst>
              <a:ext uri="{FF2B5EF4-FFF2-40B4-BE49-F238E27FC236}">
                <a16:creationId xmlns:a16="http://schemas.microsoft.com/office/drawing/2014/main" id="{AD4DBA86-50A6-F591-EFE2-4D43E85CB62A}"/>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C87F910D-E2F7-7B3A-8DE5-145F0CC8C749}"/>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907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37" grpId="0"/>
      <p:bldP spid="38" grpId="0"/>
      <p:bldP spid="3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A5C70-2640-67F7-791E-0B4D63FA6F4F}"/>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188D06FC-0E70-8CB3-1B06-F71A1F954EE6}"/>
              </a:ext>
            </a:extLst>
          </p:cNvPr>
          <p:cNvSpPr/>
          <p:nvPr/>
        </p:nvSpPr>
        <p:spPr>
          <a:xfrm>
            <a:off x="1606547" y="2408455"/>
            <a:ext cx="4544834" cy="400110"/>
          </a:xfrm>
          <a:prstGeom prst="rect">
            <a:avLst/>
          </a:prstGeom>
        </p:spPr>
        <p:txBody>
          <a:bodyPr wrap="none">
            <a:spAutoFit/>
          </a:bodyPr>
          <a:lstStyle/>
          <a:p>
            <a:r>
              <a:rPr lang="en-US" altLang="zh-CN" sz="2000" dirty="0">
                <a:latin typeface="微软雅黑" pitchFamily="34" charset="-122"/>
                <a:ea typeface="微软雅黑" pitchFamily="34" charset="-122"/>
                <a:cs typeface="经典粗黑简" pitchFamily="49" charset="-122"/>
              </a:rPr>
              <a:t>①</a:t>
            </a:r>
            <a:r>
              <a:rPr lang="zh-CN" altLang="en-US" sz="2000" dirty="0">
                <a:latin typeface="微软雅黑" pitchFamily="34" charset="-122"/>
                <a:ea typeface="微软雅黑" pitchFamily="34" charset="-122"/>
                <a:cs typeface="经典粗黑简" pitchFamily="49" charset="-122"/>
              </a:rPr>
              <a:t>、行优先顺序或以行为主序存储方式</a:t>
            </a:r>
          </a:p>
        </p:txBody>
      </p:sp>
      <p:grpSp>
        <p:nvGrpSpPr>
          <p:cNvPr id="12" name="组合 11">
            <a:extLst>
              <a:ext uri="{FF2B5EF4-FFF2-40B4-BE49-F238E27FC236}">
                <a16:creationId xmlns:a16="http://schemas.microsoft.com/office/drawing/2014/main" id="{3D2794F5-D19F-0134-DAAC-8D4EA9E82F63}"/>
              </a:ext>
            </a:extLst>
          </p:cNvPr>
          <p:cNvGrpSpPr/>
          <p:nvPr/>
        </p:nvGrpSpPr>
        <p:grpSpPr>
          <a:xfrm>
            <a:off x="1941651" y="3268573"/>
            <a:ext cx="2854069" cy="2462606"/>
            <a:chOff x="1822873" y="3916542"/>
            <a:chExt cx="2854069" cy="2462606"/>
          </a:xfrm>
        </p:grpSpPr>
        <p:sp>
          <p:nvSpPr>
            <p:cNvPr id="13" name="Rectangle 5">
              <a:extLst>
                <a:ext uri="{FF2B5EF4-FFF2-40B4-BE49-F238E27FC236}">
                  <a16:creationId xmlns:a16="http://schemas.microsoft.com/office/drawing/2014/main" id="{9B4D314A-E49A-BD75-79AE-9D8B5D86FDFE}"/>
                </a:ext>
              </a:extLst>
            </p:cNvPr>
            <p:cNvSpPr>
              <a:spLocks noChangeArrowheads="1"/>
            </p:cNvSpPr>
            <p:nvPr/>
          </p:nvSpPr>
          <p:spPr bwMode="auto">
            <a:xfrm>
              <a:off x="1895264" y="3916542"/>
              <a:ext cx="2781678" cy="2462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11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1n</a:t>
              </a: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21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2n</a:t>
              </a:r>
            </a:p>
            <a:p>
              <a:pPr algn="l">
                <a:spcBef>
                  <a:spcPct val="50000"/>
                </a:spcBef>
                <a:buClr>
                  <a:schemeClr val="folHlink"/>
                </a:buClr>
                <a:buSzPct val="60000"/>
                <a:buFont typeface="Wingdings" pitchFamily="2" charset="2"/>
                <a:buNone/>
              </a:pP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10000" dirty="0" err="1">
                  <a:latin typeface="Tahoma" pitchFamily="34" charset="0"/>
                  <a:ea typeface="楷体_GB2312" pitchFamily="49" charset="-122"/>
                </a:rPr>
                <a:t>ij</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endParaRPr kumimoji="1" lang="en-US" altLang="zh-CN" sz="2800" dirty="0">
                <a:latin typeface="Tahoma" pitchFamily="34" charset="0"/>
                <a:ea typeface="楷体_GB2312" pitchFamily="49" charset="-122"/>
              </a:endParaRP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10000" dirty="0">
                  <a:latin typeface="Tahoma" pitchFamily="34" charset="0"/>
                  <a:ea typeface="楷体_GB2312" pitchFamily="49" charset="-122"/>
                </a:rPr>
                <a:t>m</a:t>
              </a:r>
              <a:r>
                <a:rPr kumimoji="1" lang="en-US" altLang="zh-CN" sz="2800" baseline="-20000" dirty="0">
                  <a:latin typeface="Tahoma" pitchFamily="34" charset="0"/>
                  <a:ea typeface="楷体_GB2312" pitchFamily="49" charset="-122"/>
                </a:rPr>
                <a:t>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m2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20000" dirty="0" err="1">
                  <a:latin typeface="Tahoma" pitchFamily="34" charset="0"/>
                  <a:ea typeface="楷体_GB2312" pitchFamily="49" charset="-122"/>
                </a:rPr>
                <a:t>mn</a:t>
              </a:r>
              <a:endParaRPr kumimoji="1" lang="en-US" altLang="zh-CN" sz="2800" baseline="-20000" dirty="0">
                <a:latin typeface="Tahoma" pitchFamily="34" charset="0"/>
                <a:ea typeface="楷体_GB2312" pitchFamily="49" charset="-122"/>
              </a:endParaRPr>
            </a:p>
          </p:txBody>
        </p:sp>
        <p:grpSp>
          <p:nvGrpSpPr>
            <p:cNvPr id="14" name="组合 13">
              <a:extLst>
                <a:ext uri="{FF2B5EF4-FFF2-40B4-BE49-F238E27FC236}">
                  <a16:creationId xmlns:a16="http://schemas.microsoft.com/office/drawing/2014/main" id="{B8BC3E6B-DF83-A662-55F8-4F6A88608ECA}"/>
                </a:ext>
              </a:extLst>
            </p:cNvPr>
            <p:cNvGrpSpPr/>
            <p:nvPr/>
          </p:nvGrpSpPr>
          <p:grpSpPr>
            <a:xfrm>
              <a:off x="1822873" y="3973445"/>
              <a:ext cx="144780" cy="2380468"/>
              <a:chOff x="1822873" y="3921191"/>
              <a:chExt cx="144780" cy="2380468"/>
            </a:xfrm>
          </p:grpSpPr>
          <p:sp>
            <p:nvSpPr>
              <p:cNvPr id="19" name="Line 6">
                <a:extLst>
                  <a:ext uri="{FF2B5EF4-FFF2-40B4-BE49-F238E27FC236}">
                    <a16:creationId xmlns:a16="http://schemas.microsoft.com/office/drawing/2014/main" id="{1319467E-C912-3A71-1490-3256135C7E6E}"/>
                  </a:ext>
                </a:extLst>
              </p:cNvPr>
              <p:cNvSpPr>
                <a:spLocks noChangeShapeType="1"/>
              </p:cNvSpPr>
              <p:nvPr/>
            </p:nvSpPr>
            <p:spPr bwMode="auto">
              <a:xfrm>
                <a:off x="1822873" y="392119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7">
                <a:extLst>
                  <a:ext uri="{FF2B5EF4-FFF2-40B4-BE49-F238E27FC236}">
                    <a16:creationId xmlns:a16="http://schemas.microsoft.com/office/drawing/2014/main" id="{E0227415-22FA-134C-EFD1-F6990D3C4656}"/>
                  </a:ext>
                </a:extLst>
              </p:cNvPr>
              <p:cNvSpPr>
                <a:spLocks noChangeShapeType="1"/>
              </p:cNvSpPr>
              <p:nvPr/>
            </p:nvSpPr>
            <p:spPr bwMode="auto">
              <a:xfrm>
                <a:off x="1822873" y="630165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8">
                <a:extLst>
                  <a:ext uri="{FF2B5EF4-FFF2-40B4-BE49-F238E27FC236}">
                    <a16:creationId xmlns:a16="http://schemas.microsoft.com/office/drawing/2014/main" id="{8E227917-7490-C33D-1B52-31FC64AA39B7}"/>
                  </a:ext>
                </a:extLst>
              </p:cNvPr>
              <p:cNvSpPr>
                <a:spLocks noChangeShapeType="1"/>
              </p:cNvSpPr>
              <p:nvPr/>
            </p:nvSpPr>
            <p:spPr bwMode="auto">
              <a:xfrm>
                <a:off x="1822873" y="392119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 name="组合 14">
              <a:extLst>
                <a:ext uri="{FF2B5EF4-FFF2-40B4-BE49-F238E27FC236}">
                  <a16:creationId xmlns:a16="http://schemas.microsoft.com/office/drawing/2014/main" id="{6C99ABE2-651A-8F3D-1564-CB36F89A66FD}"/>
                </a:ext>
              </a:extLst>
            </p:cNvPr>
            <p:cNvGrpSpPr/>
            <p:nvPr/>
          </p:nvGrpSpPr>
          <p:grpSpPr>
            <a:xfrm>
              <a:off x="4532161" y="3983738"/>
              <a:ext cx="144780" cy="2380468"/>
              <a:chOff x="4758595" y="3957611"/>
              <a:chExt cx="144780" cy="2380468"/>
            </a:xfrm>
          </p:grpSpPr>
          <p:sp>
            <p:nvSpPr>
              <p:cNvPr id="16" name="Line 9">
                <a:extLst>
                  <a:ext uri="{FF2B5EF4-FFF2-40B4-BE49-F238E27FC236}">
                    <a16:creationId xmlns:a16="http://schemas.microsoft.com/office/drawing/2014/main" id="{4B2BB6DD-5249-747C-3550-DBCA7AFC3110}"/>
                  </a:ext>
                </a:extLst>
              </p:cNvPr>
              <p:cNvSpPr>
                <a:spLocks noChangeShapeType="1"/>
              </p:cNvSpPr>
              <p:nvPr/>
            </p:nvSpPr>
            <p:spPr bwMode="auto">
              <a:xfrm>
                <a:off x="4903375" y="395761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10">
                <a:extLst>
                  <a:ext uri="{FF2B5EF4-FFF2-40B4-BE49-F238E27FC236}">
                    <a16:creationId xmlns:a16="http://schemas.microsoft.com/office/drawing/2014/main" id="{02C16CDD-050A-3310-A178-249FFB3DF391}"/>
                  </a:ext>
                </a:extLst>
              </p:cNvPr>
              <p:cNvSpPr>
                <a:spLocks noChangeShapeType="1"/>
              </p:cNvSpPr>
              <p:nvPr/>
            </p:nvSpPr>
            <p:spPr bwMode="auto">
              <a:xfrm>
                <a:off x="4758595" y="633807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11">
                <a:extLst>
                  <a:ext uri="{FF2B5EF4-FFF2-40B4-BE49-F238E27FC236}">
                    <a16:creationId xmlns:a16="http://schemas.microsoft.com/office/drawing/2014/main" id="{A66C222A-AD14-035E-801D-0C93033E1638}"/>
                  </a:ext>
                </a:extLst>
              </p:cNvPr>
              <p:cNvSpPr>
                <a:spLocks noChangeShapeType="1"/>
              </p:cNvSpPr>
              <p:nvPr/>
            </p:nvSpPr>
            <p:spPr bwMode="auto">
              <a:xfrm>
                <a:off x="4758595" y="395761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aphicFrame>
        <p:nvGraphicFramePr>
          <p:cNvPr id="23" name="表格 22">
            <a:extLst>
              <a:ext uri="{FF2B5EF4-FFF2-40B4-BE49-F238E27FC236}">
                <a16:creationId xmlns:a16="http://schemas.microsoft.com/office/drawing/2014/main" id="{66B32485-3772-ACB1-606E-86D9376FED40}"/>
              </a:ext>
            </a:extLst>
          </p:cNvPr>
          <p:cNvGraphicFramePr>
            <a:graphicFrameLocks noGrp="1"/>
          </p:cNvGraphicFramePr>
          <p:nvPr/>
        </p:nvGraphicFramePr>
        <p:xfrm>
          <a:off x="4795719" y="3335769"/>
          <a:ext cx="624840" cy="2429690"/>
        </p:xfrm>
        <a:graphic>
          <a:graphicData uri="http://schemas.openxmlformats.org/drawingml/2006/table">
            <a:tbl>
              <a:tblPr firstRow="1" bandRow="1">
                <a:tableStyleId>{2D5ABB26-0587-4C30-8999-92F81FD0307C}</a:tableStyleId>
              </a:tblPr>
              <a:tblGrid>
                <a:gridCol w="624840">
                  <a:extLst>
                    <a:ext uri="{9D8B030D-6E8A-4147-A177-3AD203B41FA5}">
                      <a16:colId xmlns:a16="http://schemas.microsoft.com/office/drawing/2014/main" val="20000"/>
                    </a:ext>
                  </a:extLst>
                </a:gridCol>
              </a:tblGrid>
              <a:tr h="661851">
                <a:tc>
                  <a:txBody>
                    <a:bodyPr/>
                    <a:lstStyle/>
                    <a:p>
                      <a:pPr algn="ctr"/>
                      <a:r>
                        <a:rPr lang="el-GR" altLang="zh-CN" sz="1800" dirty="0"/>
                        <a:t>α</a:t>
                      </a:r>
                      <a:r>
                        <a:rPr lang="en-US" altLang="zh-CN" sz="1800" baseline="-25000" dirty="0"/>
                        <a:t>1</a:t>
                      </a:r>
                      <a:endParaRPr lang="zh-CN" altLang="en-US" dirty="0"/>
                    </a:p>
                  </a:txBody>
                  <a:tcPr/>
                </a:tc>
                <a:extLst>
                  <a:ext uri="{0D108BD9-81ED-4DB2-BD59-A6C34878D82A}">
                    <a16:rowId xmlns:a16="http://schemas.microsoft.com/office/drawing/2014/main" val="10000"/>
                  </a:ext>
                </a:extLst>
              </a:tr>
              <a:tr h="566058">
                <a:tc>
                  <a:txBody>
                    <a:bodyPr/>
                    <a:lstStyle/>
                    <a:p>
                      <a:pPr algn="ctr"/>
                      <a:r>
                        <a:rPr lang="el-GR" altLang="zh-CN" sz="1800" dirty="0"/>
                        <a:t>α</a:t>
                      </a:r>
                      <a:r>
                        <a:rPr lang="en-US" altLang="zh-CN" sz="1800" baseline="-25000" dirty="0"/>
                        <a:t>2</a:t>
                      </a:r>
                      <a:endParaRPr lang="zh-CN" altLang="en-US" dirty="0"/>
                    </a:p>
                  </a:txBody>
                  <a:tcPr/>
                </a:tc>
                <a:extLst>
                  <a:ext uri="{0D108BD9-81ED-4DB2-BD59-A6C34878D82A}">
                    <a16:rowId xmlns:a16="http://schemas.microsoft.com/office/drawing/2014/main" val="10001"/>
                  </a:ext>
                </a:extLst>
              </a:tr>
              <a:tr h="792479">
                <a:tc>
                  <a:txBody>
                    <a:bodyPr/>
                    <a:lstStyle/>
                    <a:p>
                      <a:pPr algn="ctr"/>
                      <a:r>
                        <a:rPr lang="en-US" altLang="zh-CN" sz="1800" dirty="0"/>
                        <a:t>…</a:t>
                      </a:r>
                      <a:endParaRPr lang="zh-CN" altLang="en-US" dirty="0"/>
                    </a:p>
                  </a:txBody>
                  <a:tcPr/>
                </a:tc>
                <a:extLst>
                  <a:ext uri="{0D108BD9-81ED-4DB2-BD59-A6C34878D82A}">
                    <a16:rowId xmlns:a16="http://schemas.microsoft.com/office/drawing/2014/main" val="10002"/>
                  </a:ext>
                </a:extLst>
              </a:tr>
              <a:tr h="409302">
                <a:tc>
                  <a:txBody>
                    <a:bodyPr/>
                    <a:lstStyle/>
                    <a:p>
                      <a:pPr algn="ctr"/>
                      <a:r>
                        <a:rPr lang="el-GR" altLang="zh-CN" sz="1800" dirty="0"/>
                        <a:t>α</a:t>
                      </a:r>
                      <a:r>
                        <a:rPr lang="en-US" altLang="zh-CN" sz="1800" baseline="-25000" dirty="0"/>
                        <a:t>m</a:t>
                      </a:r>
                      <a:endParaRPr lang="zh-CN" altLang="en-US" dirty="0"/>
                    </a:p>
                  </a:txBody>
                  <a:tcPr/>
                </a:tc>
                <a:extLst>
                  <a:ext uri="{0D108BD9-81ED-4DB2-BD59-A6C34878D82A}">
                    <a16:rowId xmlns:a16="http://schemas.microsoft.com/office/drawing/2014/main" val="10003"/>
                  </a:ext>
                </a:extLst>
              </a:tr>
            </a:tbl>
          </a:graphicData>
        </a:graphic>
      </p:graphicFrame>
      <p:sp>
        <p:nvSpPr>
          <p:cNvPr id="24" name="椭圆 23">
            <a:extLst>
              <a:ext uri="{FF2B5EF4-FFF2-40B4-BE49-F238E27FC236}">
                <a16:creationId xmlns:a16="http://schemas.microsoft.com/office/drawing/2014/main" id="{8414C12D-7780-415B-8A33-6C33F1A24947}"/>
              </a:ext>
            </a:extLst>
          </p:cNvPr>
          <p:cNvSpPr/>
          <p:nvPr/>
        </p:nvSpPr>
        <p:spPr>
          <a:xfrm>
            <a:off x="1821304" y="3325476"/>
            <a:ext cx="3095897" cy="5273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FB11B71B-179A-ED16-6209-403BF2DE2650}"/>
              </a:ext>
            </a:extLst>
          </p:cNvPr>
          <p:cNvSpPr/>
          <p:nvPr/>
        </p:nvSpPr>
        <p:spPr>
          <a:xfrm>
            <a:off x="1821304" y="3972574"/>
            <a:ext cx="3095897" cy="5273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88A3B06F-DF63-1E1F-6C68-0B8F5932282A}"/>
              </a:ext>
            </a:extLst>
          </p:cNvPr>
          <p:cNvSpPr/>
          <p:nvPr/>
        </p:nvSpPr>
        <p:spPr>
          <a:xfrm>
            <a:off x="1821304" y="5231082"/>
            <a:ext cx="3095897" cy="5273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262E0E86-404D-C0F7-57F2-46661804C324}"/>
              </a:ext>
            </a:extLst>
          </p:cNvPr>
          <p:cNvSpPr/>
          <p:nvPr/>
        </p:nvSpPr>
        <p:spPr>
          <a:xfrm>
            <a:off x="1821304" y="4612774"/>
            <a:ext cx="3095897" cy="5273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 Box 12">
            <a:extLst>
              <a:ext uri="{FF2B5EF4-FFF2-40B4-BE49-F238E27FC236}">
                <a16:creationId xmlns:a16="http://schemas.microsoft.com/office/drawing/2014/main" id="{68725413-6BE9-8BFD-0157-A531FCC5305B}"/>
              </a:ext>
            </a:extLst>
          </p:cNvPr>
          <p:cNvSpPr txBox="1">
            <a:spLocks noChangeArrowheads="1"/>
          </p:cNvSpPr>
          <p:nvPr/>
        </p:nvSpPr>
        <p:spPr bwMode="auto">
          <a:xfrm>
            <a:off x="1214238" y="4249162"/>
            <a:ext cx="727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50000"/>
              </a:spcBef>
            </a:pPr>
            <a:r>
              <a:rPr kumimoji="1" lang="en-US" altLang="zh-CN" sz="2800" dirty="0">
                <a:latin typeface="Tahoma" pitchFamily="34" charset="0"/>
                <a:ea typeface="楷体_GB2312" pitchFamily="49" charset="-122"/>
              </a:rPr>
              <a:t>A=</a:t>
            </a:r>
            <a:endParaRPr kumimoji="1" lang="en-US" altLang="zh-CN" sz="2800" baseline="-25000" dirty="0">
              <a:latin typeface="Tahoma" pitchFamily="34" charset="0"/>
              <a:ea typeface="楷体_GB2312" pitchFamily="49" charset="-122"/>
            </a:endParaRPr>
          </a:p>
        </p:txBody>
      </p:sp>
      <p:sp>
        <p:nvSpPr>
          <p:cNvPr id="2" name="文本框 1">
            <a:extLst>
              <a:ext uri="{FF2B5EF4-FFF2-40B4-BE49-F238E27FC236}">
                <a16:creationId xmlns:a16="http://schemas.microsoft.com/office/drawing/2014/main" id="{067B97D0-0422-080B-AF7F-F2621045FBC2}"/>
              </a:ext>
            </a:extLst>
          </p:cNvPr>
          <p:cNvSpPr txBox="1"/>
          <p:nvPr/>
        </p:nvSpPr>
        <p:spPr>
          <a:xfrm>
            <a:off x="1179720" y="1851035"/>
            <a:ext cx="3620135" cy="461665"/>
          </a:xfrm>
          <a:prstGeom prst="rect">
            <a:avLst/>
          </a:prstGeom>
          <a:noFill/>
        </p:spPr>
        <p:txBody>
          <a:bodyPr wrap="square">
            <a:spAutoFit/>
          </a:bodyPr>
          <a:lstStyle/>
          <a:p>
            <a:r>
              <a:rPr lang="en-US" altLang="zh-CN" sz="2400" dirty="0">
                <a:latin typeface="微软雅黑" pitchFamily="34" charset="-122"/>
                <a:ea typeface="微软雅黑" pitchFamily="34" charset="-122"/>
                <a:cs typeface="经典粗黑简" pitchFamily="49" charset="-122"/>
              </a:rPr>
              <a:t>2</a:t>
            </a:r>
            <a:r>
              <a:rPr lang="zh-CN" altLang="en-US" sz="2400" dirty="0">
                <a:latin typeface="微软雅黑" pitchFamily="34" charset="-122"/>
                <a:ea typeface="微软雅黑" pitchFamily="34" charset="-122"/>
                <a:cs typeface="经典粗黑简" pitchFamily="49" charset="-122"/>
              </a:rPr>
              <a:t>、二维数组的存储结构</a:t>
            </a:r>
          </a:p>
        </p:txBody>
      </p:sp>
      <p:sp>
        <p:nvSpPr>
          <p:cNvPr id="3" name="Rectangle 3">
            <a:extLst>
              <a:ext uri="{FF2B5EF4-FFF2-40B4-BE49-F238E27FC236}">
                <a16:creationId xmlns:a16="http://schemas.microsoft.com/office/drawing/2014/main" id="{537ADD27-6FB1-354D-0389-CB719E65B350}"/>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6.1.2 </a:t>
            </a:r>
            <a:r>
              <a:rPr lang="zh-CN" altLang="en-US" sz="2800" b="1" dirty="0">
                <a:solidFill>
                  <a:schemeClr val="bg1"/>
                </a:solidFill>
                <a:latin typeface="经典粗黑简" pitchFamily="49" charset="-122"/>
                <a:ea typeface="经典粗黑简" pitchFamily="49" charset="-122"/>
                <a:cs typeface="经典粗黑简" pitchFamily="49" charset="-122"/>
              </a:rPr>
              <a:t>数组的存储结构</a:t>
            </a:r>
          </a:p>
        </p:txBody>
      </p:sp>
      <p:sp>
        <p:nvSpPr>
          <p:cNvPr id="4" name="Rectangle 2">
            <a:extLst>
              <a:ext uri="{FF2B5EF4-FFF2-40B4-BE49-F238E27FC236}">
                <a16:creationId xmlns:a16="http://schemas.microsoft.com/office/drawing/2014/main" id="{9357C411-A451-618D-4926-1B396E8BAE74}"/>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556EEFC7-352C-A121-71DE-59AC52F9C83B}"/>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aphicFrame>
        <p:nvGraphicFramePr>
          <p:cNvPr id="6" name="表格 5">
            <a:extLst>
              <a:ext uri="{FF2B5EF4-FFF2-40B4-BE49-F238E27FC236}">
                <a16:creationId xmlns:a16="http://schemas.microsoft.com/office/drawing/2014/main" id="{FA315B3A-0E9E-E842-8F31-94A9E604F911}"/>
              </a:ext>
            </a:extLst>
          </p:cNvPr>
          <p:cNvGraphicFramePr>
            <a:graphicFrameLocks noGrp="1"/>
          </p:cNvGraphicFramePr>
          <p:nvPr>
            <p:extLst>
              <p:ext uri="{D42A27DB-BD31-4B8C-83A1-F6EECF244321}">
                <p14:modId xmlns:p14="http://schemas.microsoft.com/office/powerpoint/2010/main" val="2205824276"/>
              </p:ext>
            </p:extLst>
          </p:nvPr>
        </p:nvGraphicFramePr>
        <p:xfrm>
          <a:off x="8053459" y="1140322"/>
          <a:ext cx="1062785" cy="5527040"/>
        </p:xfrm>
        <a:graphic>
          <a:graphicData uri="http://schemas.openxmlformats.org/drawingml/2006/table">
            <a:tbl>
              <a:tblPr firstRow="1" bandRow="1">
                <a:tableStyleId>{5940675A-B579-460E-94D1-54222C63F5DA}</a:tableStyleId>
              </a:tblPr>
              <a:tblGrid>
                <a:gridCol w="1062785">
                  <a:extLst>
                    <a:ext uri="{9D8B030D-6E8A-4147-A177-3AD203B41FA5}">
                      <a16:colId xmlns:a16="http://schemas.microsoft.com/office/drawing/2014/main" val="20000"/>
                    </a:ext>
                  </a:extLst>
                </a:gridCol>
              </a:tblGrid>
              <a:tr h="300242">
                <a:tc>
                  <a:txBody>
                    <a:bodyPr/>
                    <a:lstStyle/>
                    <a:p>
                      <a:pPr algn="ctr"/>
                      <a:r>
                        <a:rPr lang="en-US" altLang="zh-CN" sz="180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11</a:t>
                      </a:r>
                      <a:endParaRPr lang="zh-CN" altLang="en-US" dirty="0"/>
                    </a:p>
                  </a:txBody>
                  <a:tcPr/>
                </a:tc>
                <a:extLst>
                  <a:ext uri="{0D108BD9-81ED-4DB2-BD59-A6C34878D82A}">
                    <a16:rowId xmlns:a16="http://schemas.microsoft.com/office/drawing/2014/main" val="10000"/>
                  </a:ext>
                </a:extLst>
              </a:tr>
              <a:tr h="370840">
                <a:tc>
                  <a:txBody>
                    <a:bodyPr/>
                    <a:lstStyle/>
                    <a:p>
                      <a:pPr algn="ctr"/>
                      <a:r>
                        <a:rPr lang="en-US" altLang="zh-CN" sz="180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12</a:t>
                      </a:r>
                      <a:endParaRPr lang="zh-CN" altLang="en-US" dirty="0"/>
                    </a:p>
                  </a:txBody>
                  <a:tcPr/>
                </a:tc>
                <a:extLst>
                  <a:ext uri="{0D108BD9-81ED-4DB2-BD59-A6C34878D82A}">
                    <a16:rowId xmlns:a16="http://schemas.microsoft.com/office/drawing/2014/main" val="10001"/>
                  </a:ext>
                </a:extLst>
              </a:tr>
              <a:tr h="256678">
                <a:tc>
                  <a:txBody>
                    <a:bodyPr/>
                    <a:lstStyle/>
                    <a:p>
                      <a:pPr algn="ctr"/>
                      <a:r>
                        <a:rPr lang="en-US" altLang="zh-CN" sz="1800" dirty="0">
                          <a:latin typeface="微软雅黑" pitchFamily="34" charset="-122"/>
                          <a:ea typeface="微软雅黑" pitchFamily="34" charset="-122"/>
                          <a:cs typeface="经典粗黑简" pitchFamily="49" charset="-122"/>
                        </a:rPr>
                        <a:t>…</a:t>
                      </a:r>
                      <a:endParaRPr lang="zh-CN" altLang="en-US" dirty="0"/>
                    </a:p>
                  </a:txBody>
                  <a:tcPr/>
                </a:tc>
                <a:extLst>
                  <a:ext uri="{0D108BD9-81ED-4DB2-BD59-A6C34878D82A}">
                    <a16:rowId xmlns:a16="http://schemas.microsoft.com/office/drawing/2014/main" val="10002"/>
                  </a:ext>
                </a:extLst>
              </a:tr>
              <a:tr h="370840">
                <a:tc>
                  <a:txBody>
                    <a:bodyPr/>
                    <a:lstStyle/>
                    <a:p>
                      <a:pPr algn="ctr"/>
                      <a:r>
                        <a:rPr lang="en-US" altLang="zh-CN" sz="180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1n</a:t>
                      </a:r>
                      <a:endParaRPr lang="zh-CN" altLang="en-US" dirty="0"/>
                    </a:p>
                  </a:txBody>
                  <a:tcPr/>
                </a:tc>
                <a:extLst>
                  <a:ext uri="{0D108BD9-81ED-4DB2-BD59-A6C34878D82A}">
                    <a16:rowId xmlns:a16="http://schemas.microsoft.com/office/drawing/2014/main" val="10003"/>
                  </a:ext>
                </a:extLst>
              </a:tr>
              <a:tr h="370840">
                <a:tc>
                  <a:txBody>
                    <a:bodyPr/>
                    <a:lstStyle/>
                    <a:p>
                      <a:pPr algn="ctr"/>
                      <a:r>
                        <a:rPr lang="en-US" altLang="zh-CN" sz="180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21</a:t>
                      </a:r>
                      <a:endParaRPr lang="zh-CN" altLang="en-US" dirty="0"/>
                    </a:p>
                  </a:txBody>
                  <a:tcPr/>
                </a:tc>
                <a:extLst>
                  <a:ext uri="{0D108BD9-81ED-4DB2-BD59-A6C34878D82A}">
                    <a16:rowId xmlns:a16="http://schemas.microsoft.com/office/drawing/2014/main" val="10004"/>
                  </a:ext>
                </a:extLst>
              </a:tr>
              <a:tr h="370840">
                <a:tc>
                  <a:txBody>
                    <a:bodyPr/>
                    <a:lstStyle/>
                    <a:p>
                      <a:pPr algn="ctr"/>
                      <a:r>
                        <a:rPr lang="en-US" altLang="zh-CN" sz="180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22</a:t>
                      </a:r>
                      <a:endParaRPr lang="zh-CN" altLang="en-US" dirty="0"/>
                    </a:p>
                  </a:txBody>
                  <a:tcPr/>
                </a:tc>
                <a:extLst>
                  <a:ext uri="{0D108BD9-81ED-4DB2-BD59-A6C34878D82A}">
                    <a16:rowId xmlns:a16="http://schemas.microsoft.com/office/drawing/2014/main" val="10005"/>
                  </a:ext>
                </a:extLst>
              </a:tr>
              <a:tr h="250147">
                <a:tc>
                  <a:txBody>
                    <a:bodyPr/>
                    <a:lstStyle/>
                    <a:p>
                      <a:pPr algn="ctr"/>
                      <a:r>
                        <a:rPr lang="en-US" altLang="zh-CN" sz="1800" dirty="0">
                          <a:latin typeface="微软雅黑" pitchFamily="34" charset="-122"/>
                          <a:ea typeface="微软雅黑" pitchFamily="34" charset="-122"/>
                          <a:cs typeface="经典粗黑简" pitchFamily="49" charset="-122"/>
                        </a:rPr>
                        <a:t>…</a:t>
                      </a:r>
                      <a:endParaRPr lang="zh-CN" altLang="en-US" dirty="0"/>
                    </a:p>
                  </a:txBody>
                  <a:tcPr/>
                </a:tc>
                <a:extLst>
                  <a:ext uri="{0D108BD9-81ED-4DB2-BD59-A6C34878D82A}">
                    <a16:rowId xmlns:a16="http://schemas.microsoft.com/office/drawing/2014/main" val="10006"/>
                  </a:ext>
                </a:extLst>
              </a:tr>
              <a:tr h="370840">
                <a:tc>
                  <a:txBody>
                    <a:bodyPr/>
                    <a:lstStyle/>
                    <a:p>
                      <a:pPr algn="ctr"/>
                      <a:r>
                        <a:rPr lang="en-US" altLang="zh-CN" sz="180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2n</a:t>
                      </a:r>
                      <a:endParaRPr lang="zh-CN" altLang="en-US" dirty="0"/>
                    </a:p>
                  </a:txBody>
                  <a:tcPr/>
                </a:tc>
                <a:extLst>
                  <a:ext uri="{0D108BD9-81ED-4DB2-BD59-A6C34878D82A}">
                    <a16:rowId xmlns:a16="http://schemas.microsoft.com/office/drawing/2014/main" val="10007"/>
                  </a:ext>
                </a:extLst>
              </a:tr>
              <a:tr h="262484">
                <a:tc>
                  <a:txBody>
                    <a:bodyPr/>
                    <a:lstStyle/>
                    <a:p>
                      <a:pPr algn="ctr"/>
                      <a:r>
                        <a:rPr lang="en-US" altLang="zh-CN" sz="1800" dirty="0">
                          <a:latin typeface="微软雅黑" pitchFamily="34" charset="-122"/>
                          <a:ea typeface="微软雅黑" pitchFamily="34" charset="-122"/>
                          <a:cs typeface="经典粗黑简" pitchFamily="49" charset="-122"/>
                        </a:rPr>
                        <a:t>……</a:t>
                      </a:r>
                      <a:endParaRPr lang="zh-CN" altLang="en-US" dirty="0"/>
                    </a:p>
                  </a:txBody>
                  <a:tcPr/>
                </a:tc>
                <a:extLst>
                  <a:ext uri="{0D108BD9-81ED-4DB2-BD59-A6C34878D82A}">
                    <a16:rowId xmlns:a16="http://schemas.microsoft.com/office/drawing/2014/main" val="1000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err="1">
                          <a:latin typeface="微软雅黑" pitchFamily="34" charset="-122"/>
                          <a:ea typeface="微软雅黑" pitchFamily="34" charset="-122"/>
                          <a:cs typeface="经典粗黑简" pitchFamily="49" charset="-122"/>
                        </a:rPr>
                        <a:t>a</a:t>
                      </a:r>
                      <a:r>
                        <a:rPr lang="en-US" altLang="zh-CN" sz="1800" baseline="-25000" dirty="0" err="1">
                          <a:latin typeface="微软雅黑" pitchFamily="34" charset="-122"/>
                          <a:ea typeface="微软雅黑" pitchFamily="34" charset="-122"/>
                          <a:cs typeface="经典粗黑简" pitchFamily="49" charset="-122"/>
                        </a:rPr>
                        <a:t>ij</a:t>
                      </a:r>
                      <a:endParaRPr lang="zh-CN" altLang="en-US" dirty="0"/>
                    </a:p>
                  </a:txBody>
                  <a:tcPr/>
                </a:tc>
                <a:extLst>
                  <a:ext uri="{0D108BD9-81ED-4DB2-BD59-A6C34878D82A}">
                    <a16:rowId xmlns:a16="http://schemas.microsoft.com/office/drawing/2014/main" val="10009"/>
                  </a:ext>
                </a:extLst>
              </a:tr>
              <a:tr h="22256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微软雅黑" pitchFamily="34" charset="-122"/>
                          <a:ea typeface="微软雅黑" pitchFamily="34" charset="-122"/>
                          <a:cs typeface="经典粗黑简" pitchFamily="49" charset="-122"/>
                        </a:rPr>
                        <a:t>……</a:t>
                      </a:r>
                      <a:endParaRPr lang="zh-CN" altLang="en-US" dirty="0"/>
                    </a:p>
                  </a:txBody>
                  <a:tcPr/>
                </a:tc>
                <a:extLst>
                  <a:ext uri="{0D108BD9-81ED-4DB2-BD59-A6C34878D82A}">
                    <a16:rowId xmlns:a16="http://schemas.microsoft.com/office/drawing/2014/main" val="10010"/>
                  </a:ext>
                </a:extLst>
              </a:tr>
              <a:tr h="370840">
                <a:tc>
                  <a:txBody>
                    <a:bodyPr/>
                    <a:lstStyle/>
                    <a:p>
                      <a:pPr algn="ctr"/>
                      <a:r>
                        <a:rPr lang="en-US" altLang="zh-CN" sz="180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m1</a:t>
                      </a:r>
                      <a:endParaRPr lang="zh-CN" altLang="en-US" dirty="0"/>
                    </a:p>
                  </a:txBody>
                  <a:tcPr/>
                </a:tc>
                <a:extLst>
                  <a:ext uri="{0D108BD9-81ED-4DB2-BD59-A6C34878D82A}">
                    <a16:rowId xmlns:a16="http://schemas.microsoft.com/office/drawing/2014/main" val="10011"/>
                  </a:ext>
                </a:extLst>
              </a:tr>
              <a:tr h="370840">
                <a:tc>
                  <a:txBody>
                    <a:bodyPr/>
                    <a:lstStyle/>
                    <a:p>
                      <a:pPr algn="ctr"/>
                      <a:r>
                        <a:rPr lang="en-US" altLang="zh-CN" sz="180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m2</a:t>
                      </a:r>
                      <a:endParaRPr lang="zh-CN" altLang="en-US" dirty="0"/>
                    </a:p>
                  </a:txBody>
                  <a:tcPr/>
                </a:tc>
                <a:extLst>
                  <a:ext uri="{0D108BD9-81ED-4DB2-BD59-A6C34878D82A}">
                    <a16:rowId xmlns:a16="http://schemas.microsoft.com/office/drawing/2014/main" val="10012"/>
                  </a:ext>
                </a:extLst>
              </a:tr>
              <a:tr h="20370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微软雅黑" pitchFamily="34" charset="-122"/>
                          <a:ea typeface="微软雅黑" pitchFamily="34" charset="-122"/>
                          <a:cs typeface="经典粗黑简" pitchFamily="49" charset="-122"/>
                        </a:rPr>
                        <a:t>…</a:t>
                      </a:r>
                      <a:endParaRPr lang="zh-CN" altLang="en-US" dirty="0"/>
                    </a:p>
                  </a:txBody>
                  <a:tcPr/>
                </a:tc>
                <a:extLst>
                  <a:ext uri="{0D108BD9-81ED-4DB2-BD59-A6C34878D82A}">
                    <a16:rowId xmlns:a16="http://schemas.microsoft.com/office/drawing/2014/main" val="10013"/>
                  </a:ext>
                </a:extLst>
              </a:tr>
              <a:tr h="29972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err="1">
                          <a:latin typeface="微软雅黑" pitchFamily="34" charset="-122"/>
                          <a:ea typeface="微软雅黑" pitchFamily="34" charset="-122"/>
                          <a:cs typeface="经典粗黑简" pitchFamily="49" charset="-122"/>
                        </a:rPr>
                        <a:t>a</a:t>
                      </a:r>
                      <a:r>
                        <a:rPr lang="en-US" altLang="zh-CN" sz="1800" baseline="-25000" dirty="0" err="1">
                          <a:latin typeface="微软雅黑" pitchFamily="34" charset="-122"/>
                          <a:ea typeface="微软雅黑" pitchFamily="34" charset="-122"/>
                          <a:cs typeface="经典粗黑简" pitchFamily="49" charset="-122"/>
                        </a:rPr>
                        <a:t>mn</a:t>
                      </a:r>
                      <a:endParaRPr lang="zh-CN" altLang="en-US" sz="1800" baseline="-25000" dirty="0">
                        <a:latin typeface="微软雅黑" pitchFamily="34" charset="-122"/>
                        <a:ea typeface="微软雅黑" pitchFamily="34" charset="-122"/>
                        <a:cs typeface="经典粗黑简" pitchFamily="49" charset="-122"/>
                      </a:endParaRPr>
                    </a:p>
                  </a:txBody>
                  <a:tcPr/>
                </a:tc>
                <a:extLst>
                  <a:ext uri="{0D108BD9-81ED-4DB2-BD59-A6C34878D82A}">
                    <a16:rowId xmlns:a16="http://schemas.microsoft.com/office/drawing/2014/main" val="10014"/>
                  </a:ext>
                </a:extLst>
              </a:tr>
            </a:tbl>
          </a:graphicData>
        </a:graphic>
      </p:graphicFrame>
      <p:graphicFrame>
        <p:nvGraphicFramePr>
          <p:cNvPr id="7" name="表格 6">
            <a:extLst>
              <a:ext uri="{FF2B5EF4-FFF2-40B4-BE49-F238E27FC236}">
                <a16:creationId xmlns:a16="http://schemas.microsoft.com/office/drawing/2014/main" id="{E1D90670-4C90-322B-3373-9562AEB5F313}"/>
              </a:ext>
            </a:extLst>
          </p:cNvPr>
          <p:cNvGraphicFramePr>
            <a:graphicFrameLocks noGrp="1"/>
          </p:cNvGraphicFramePr>
          <p:nvPr>
            <p:extLst>
              <p:ext uri="{D42A27DB-BD31-4B8C-83A1-F6EECF244321}">
                <p14:modId xmlns:p14="http://schemas.microsoft.com/office/powerpoint/2010/main" val="3309363638"/>
              </p:ext>
            </p:extLst>
          </p:nvPr>
        </p:nvGraphicFramePr>
        <p:xfrm>
          <a:off x="9134100" y="1144742"/>
          <a:ext cx="624840" cy="5543440"/>
        </p:xfrm>
        <a:graphic>
          <a:graphicData uri="http://schemas.openxmlformats.org/drawingml/2006/table">
            <a:tbl>
              <a:tblPr firstRow="1" bandRow="1">
                <a:tableStyleId>{2D5ABB26-0587-4C30-8999-92F81FD0307C}</a:tableStyleId>
              </a:tblPr>
              <a:tblGrid>
                <a:gridCol w="624840">
                  <a:extLst>
                    <a:ext uri="{9D8B030D-6E8A-4147-A177-3AD203B41FA5}">
                      <a16:colId xmlns:a16="http://schemas.microsoft.com/office/drawing/2014/main" val="20000"/>
                    </a:ext>
                  </a:extLst>
                </a:gridCol>
              </a:tblGrid>
              <a:tr h="1510041">
                <a:tc>
                  <a:txBody>
                    <a:bodyPr/>
                    <a:lstStyle/>
                    <a:p>
                      <a:pPr algn="ctr"/>
                      <a:endParaRPr lang="en-US" altLang="zh-CN" sz="1800" dirty="0"/>
                    </a:p>
                    <a:p>
                      <a:pPr algn="ctr"/>
                      <a:endParaRPr lang="en-US" altLang="zh-CN" sz="1800" dirty="0"/>
                    </a:p>
                    <a:p>
                      <a:pPr algn="ctr"/>
                      <a:r>
                        <a:rPr lang="en-US" altLang="zh-CN" sz="1800" dirty="0"/>
                        <a:t>   </a:t>
                      </a:r>
                      <a:r>
                        <a:rPr lang="el-GR" altLang="zh-CN" sz="1800" dirty="0"/>
                        <a:t>α</a:t>
                      </a:r>
                      <a:r>
                        <a:rPr lang="en-US" altLang="zh-CN" sz="1800" baseline="-25000" dirty="0"/>
                        <a:t>1</a:t>
                      </a:r>
                      <a:endParaRPr lang="zh-CN" altLang="en-US" dirty="0"/>
                    </a:p>
                  </a:txBody>
                  <a:tcPr/>
                </a:tc>
                <a:extLst>
                  <a:ext uri="{0D108BD9-81ED-4DB2-BD59-A6C34878D82A}">
                    <a16:rowId xmlns:a16="http://schemas.microsoft.com/office/drawing/2014/main" val="10000"/>
                  </a:ext>
                </a:extLst>
              </a:tr>
              <a:tr h="1291485">
                <a:tc>
                  <a:txBody>
                    <a:bodyPr/>
                    <a:lstStyle/>
                    <a:p>
                      <a:pPr algn="ctr"/>
                      <a:endParaRPr lang="en-US" altLang="zh-CN" sz="1800" dirty="0"/>
                    </a:p>
                    <a:p>
                      <a:pPr algn="ctr"/>
                      <a:endParaRPr lang="en-US" altLang="zh-CN" sz="1800" dirty="0"/>
                    </a:p>
                    <a:p>
                      <a:pPr algn="ctr"/>
                      <a:r>
                        <a:rPr lang="en-US" altLang="zh-CN" sz="1800" dirty="0"/>
                        <a:t>  </a:t>
                      </a:r>
                      <a:r>
                        <a:rPr lang="el-GR" altLang="zh-CN" sz="1800" dirty="0"/>
                        <a:t>α</a:t>
                      </a:r>
                      <a:r>
                        <a:rPr lang="en-US" altLang="zh-CN" sz="1800" baseline="-25000" dirty="0"/>
                        <a:t>2</a:t>
                      </a:r>
                      <a:endParaRPr lang="zh-CN" altLang="en-US" dirty="0"/>
                    </a:p>
                  </a:txBody>
                  <a:tcPr/>
                </a:tc>
                <a:extLst>
                  <a:ext uri="{0D108BD9-81ED-4DB2-BD59-A6C34878D82A}">
                    <a16:rowId xmlns:a16="http://schemas.microsoft.com/office/drawing/2014/main" val="10001"/>
                  </a:ext>
                </a:extLst>
              </a:tr>
              <a:tr h="1808074">
                <a:tc>
                  <a:txBody>
                    <a:bodyPr/>
                    <a:lstStyle/>
                    <a:p>
                      <a:pPr algn="ctr"/>
                      <a:endParaRPr lang="en-US" altLang="zh-CN" sz="1800" dirty="0"/>
                    </a:p>
                    <a:p>
                      <a:pPr algn="ctr"/>
                      <a:r>
                        <a:rPr lang="en-US" altLang="zh-CN" sz="1800" dirty="0"/>
                        <a:t>…</a:t>
                      </a:r>
                      <a:endParaRPr lang="zh-CN" altLang="en-US" dirty="0"/>
                    </a:p>
                  </a:txBody>
                  <a:tcPr/>
                </a:tc>
                <a:extLst>
                  <a:ext uri="{0D108BD9-81ED-4DB2-BD59-A6C34878D82A}">
                    <a16:rowId xmlns:a16="http://schemas.microsoft.com/office/drawing/2014/main" val="10002"/>
                  </a:ext>
                </a:extLst>
              </a:tr>
              <a:tr h="933840">
                <a:tc>
                  <a:txBody>
                    <a:bodyPr/>
                    <a:lstStyle/>
                    <a:p>
                      <a:pPr algn="ctr"/>
                      <a:r>
                        <a:rPr lang="el-GR" altLang="zh-CN" sz="1800" dirty="0"/>
                        <a:t>α</a:t>
                      </a:r>
                      <a:r>
                        <a:rPr lang="en-US" altLang="zh-CN" sz="1800" baseline="-25000" dirty="0"/>
                        <a:t>m</a:t>
                      </a:r>
                      <a:endParaRPr lang="zh-CN" altLang="en-US" dirty="0"/>
                    </a:p>
                  </a:txBody>
                  <a:tcPr/>
                </a:tc>
                <a:extLst>
                  <a:ext uri="{0D108BD9-81ED-4DB2-BD59-A6C34878D82A}">
                    <a16:rowId xmlns:a16="http://schemas.microsoft.com/office/drawing/2014/main" val="10003"/>
                  </a:ext>
                </a:extLst>
              </a:tr>
            </a:tbl>
          </a:graphicData>
        </a:graphic>
      </p:graphicFrame>
      <p:sp>
        <p:nvSpPr>
          <p:cNvPr id="8" name="右大括号 7">
            <a:extLst>
              <a:ext uri="{FF2B5EF4-FFF2-40B4-BE49-F238E27FC236}">
                <a16:creationId xmlns:a16="http://schemas.microsoft.com/office/drawing/2014/main" id="{3DDF9C9E-33D0-0B41-1175-A6B2385FC546}"/>
              </a:ext>
            </a:extLst>
          </p:cNvPr>
          <p:cNvSpPr/>
          <p:nvPr/>
        </p:nvSpPr>
        <p:spPr>
          <a:xfrm>
            <a:off x="9151079" y="1158241"/>
            <a:ext cx="104502" cy="1419497"/>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右大括号 9">
            <a:extLst>
              <a:ext uri="{FF2B5EF4-FFF2-40B4-BE49-F238E27FC236}">
                <a16:creationId xmlns:a16="http://schemas.microsoft.com/office/drawing/2014/main" id="{4CEC38EA-57C4-8503-9721-6BBA8C2EFC62}"/>
              </a:ext>
            </a:extLst>
          </p:cNvPr>
          <p:cNvSpPr/>
          <p:nvPr/>
        </p:nvSpPr>
        <p:spPr>
          <a:xfrm>
            <a:off x="9151079" y="2647407"/>
            <a:ext cx="104502" cy="1419497"/>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右大括号 21">
            <a:extLst>
              <a:ext uri="{FF2B5EF4-FFF2-40B4-BE49-F238E27FC236}">
                <a16:creationId xmlns:a16="http://schemas.microsoft.com/office/drawing/2014/main" id="{CEAC784F-5E75-C845-ECF2-F7A5AB8AC7F3}"/>
              </a:ext>
            </a:extLst>
          </p:cNvPr>
          <p:cNvSpPr/>
          <p:nvPr/>
        </p:nvSpPr>
        <p:spPr>
          <a:xfrm>
            <a:off x="9151079" y="5212729"/>
            <a:ext cx="104502" cy="1419497"/>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Text Box 12">
            <a:extLst>
              <a:ext uri="{FF2B5EF4-FFF2-40B4-BE49-F238E27FC236}">
                <a16:creationId xmlns:a16="http://schemas.microsoft.com/office/drawing/2014/main" id="{7B3F191C-EAD7-7252-2A65-6859BEFA5E25}"/>
              </a:ext>
            </a:extLst>
          </p:cNvPr>
          <p:cNvSpPr txBox="1">
            <a:spLocks noChangeArrowheads="1"/>
          </p:cNvSpPr>
          <p:nvPr/>
        </p:nvSpPr>
        <p:spPr bwMode="auto">
          <a:xfrm>
            <a:off x="6809060" y="1128554"/>
            <a:ext cx="13031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000" dirty="0">
                <a:latin typeface="Tahoma" pitchFamily="34" charset="0"/>
                <a:ea typeface="楷体_GB2312" pitchFamily="49" charset="-122"/>
              </a:rPr>
              <a:t>LOC(</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11</a:t>
            </a:r>
            <a:r>
              <a:rPr kumimoji="1" lang="en-US" altLang="zh-CN" sz="2000" dirty="0">
                <a:latin typeface="Tahoma" pitchFamily="34" charset="0"/>
                <a:ea typeface="楷体_GB2312" pitchFamily="49" charset="-122"/>
              </a:rPr>
              <a:t>)</a:t>
            </a:r>
            <a:endParaRPr kumimoji="1" lang="en-US" altLang="zh-CN" sz="2000" baseline="-25000" dirty="0">
              <a:latin typeface="Tahoma" pitchFamily="34" charset="0"/>
              <a:ea typeface="楷体_GB2312" pitchFamily="49" charset="-122"/>
            </a:endParaRPr>
          </a:p>
        </p:txBody>
      </p:sp>
      <p:sp>
        <p:nvSpPr>
          <p:cNvPr id="29" name="Text Box 12">
            <a:extLst>
              <a:ext uri="{FF2B5EF4-FFF2-40B4-BE49-F238E27FC236}">
                <a16:creationId xmlns:a16="http://schemas.microsoft.com/office/drawing/2014/main" id="{385B327C-5E7B-E905-924C-BF3D770E80E3}"/>
              </a:ext>
            </a:extLst>
          </p:cNvPr>
          <p:cNvSpPr txBox="1">
            <a:spLocks noChangeArrowheads="1"/>
          </p:cNvSpPr>
          <p:nvPr/>
        </p:nvSpPr>
        <p:spPr bwMode="auto">
          <a:xfrm>
            <a:off x="6816081" y="4468833"/>
            <a:ext cx="12028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000" dirty="0">
                <a:latin typeface="Tahoma" pitchFamily="34" charset="0"/>
                <a:ea typeface="楷体_GB2312" pitchFamily="49" charset="-122"/>
              </a:rPr>
              <a:t>LOC(</a:t>
            </a:r>
            <a:r>
              <a:rPr lang="en-US" altLang="zh-CN" sz="2000" dirty="0" err="1">
                <a:latin typeface="微软雅黑" pitchFamily="34" charset="-122"/>
                <a:ea typeface="微软雅黑" pitchFamily="34" charset="-122"/>
                <a:cs typeface="经典粗黑简" pitchFamily="49" charset="-122"/>
              </a:rPr>
              <a:t>a</a:t>
            </a:r>
            <a:r>
              <a:rPr lang="en-US" altLang="zh-CN" sz="2000" baseline="-25000" dirty="0" err="1">
                <a:latin typeface="微软雅黑" pitchFamily="34" charset="-122"/>
                <a:ea typeface="微软雅黑" pitchFamily="34" charset="-122"/>
                <a:cs typeface="经典粗黑简" pitchFamily="49" charset="-122"/>
              </a:rPr>
              <a:t>ij</a:t>
            </a:r>
            <a:r>
              <a:rPr kumimoji="1" lang="en-US" altLang="zh-CN" sz="2000" dirty="0">
                <a:latin typeface="Tahoma" pitchFamily="34" charset="0"/>
                <a:ea typeface="楷体_GB2312" pitchFamily="49" charset="-122"/>
              </a:rPr>
              <a:t>)</a:t>
            </a:r>
            <a:endParaRPr kumimoji="1" lang="en-US" altLang="zh-CN" sz="2000" baseline="-25000" dirty="0">
              <a:latin typeface="Tahoma" pitchFamily="34" charset="0"/>
              <a:ea typeface="楷体_GB2312" pitchFamily="49" charset="-122"/>
            </a:endParaRPr>
          </a:p>
        </p:txBody>
      </p:sp>
      <p:sp>
        <p:nvSpPr>
          <p:cNvPr id="30" name="右大括号 29">
            <a:extLst>
              <a:ext uri="{FF2B5EF4-FFF2-40B4-BE49-F238E27FC236}">
                <a16:creationId xmlns:a16="http://schemas.microsoft.com/office/drawing/2014/main" id="{A02DA213-70C1-5F09-37FA-8085B0C06BB9}"/>
              </a:ext>
            </a:extLst>
          </p:cNvPr>
          <p:cNvSpPr/>
          <p:nvPr/>
        </p:nvSpPr>
        <p:spPr>
          <a:xfrm rot="10800000">
            <a:off x="7935396" y="1867989"/>
            <a:ext cx="63275" cy="405617"/>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Text Box 12">
            <a:extLst>
              <a:ext uri="{FF2B5EF4-FFF2-40B4-BE49-F238E27FC236}">
                <a16:creationId xmlns:a16="http://schemas.microsoft.com/office/drawing/2014/main" id="{FE1D7784-9B85-62C9-F378-C380A28C5963}"/>
              </a:ext>
            </a:extLst>
          </p:cNvPr>
          <p:cNvSpPr txBox="1">
            <a:spLocks noChangeArrowheads="1"/>
          </p:cNvSpPr>
          <p:nvPr/>
        </p:nvSpPr>
        <p:spPr bwMode="auto">
          <a:xfrm>
            <a:off x="7522576" y="1867988"/>
            <a:ext cx="2612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50000"/>
              </a:spcBef>
            </a:pPr>
            <a:r>
              <a:rPr kumimoji="1" lang="en-US" altLang="zh-CN" sz="2000" dirty="0">
                <a:latin typeface="Tahoma" pitchFamily="34" charset="0"/>
                <a:ea typeface="楷体_GB2312" pitchFamily="49" charset="-122"/>
              </a:rPr>
              <a:t>d</a:t>
            </a:r>
            <a:endParaRPr kumimoji="1" lang="en-US" altLang="zh-CN" sz="2000" baseline="-25000" dirty="0">
              <a:latin typeface="Tahoma" pitchFamily="34" charset="0"/>
              <a:ea typeface="楷体_GB2312" pitchFamily="49" charset="-122"/>
            </a:endParaRPr>
          </a:p>
        </p:txBody>
      </p:sp>
      <p:sp>
        <p:nvSpPr>
          <p:cNvPr id="32" name="Text Box 13">
            <a:extLst>
              <a:ext uri="{FF2B5EF4-FFF2-40B4-BE49-F238E27FC236}">
                <a16:creationId xmlns:a16="http://schemas.microsoft.com/office/drawing/2014/main" id="{230CE224-B1CD-DE62-DE3E-13D73A8C013F}"/>
              </a:ext>
            </a:extLst>
          </p:cNvPr>
          <p:cNvSpPr txBox="1">
            <a:spLocks noChangeArrowheads="1"/>
          </p:cNvSpPr>
          <p:nvPr/>
        </p:nvSpPr>
        <p:spPr bwMode="auto">
          <a:xfrm>
            <a:off x="1216002" y="6018870"/>
            <a:ext cx="5412913" cy="445006"/>
          </a:xfrm>
          <a:prstGeom prst="rect">
            <a:avLst/>
          </a:prstGeom>
          <a:noFill/>
          <a:ln>
            <a:noFill/>
          </a:ln>
        </p:spPr>
        <p:txBody>
          <a:bodyPr/>
          <a:lstStyle>
            <a:lvl1pPr marL="457200" indent="-4572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marL="0" indent="0" eaLnBrk="1" hangingPunct="1">
              <a:spcBef>
                <a:spcPct val="20000"/>
              </a:spcBef>
              <a:buClr>
                <a:schemeClr val="folHlink"/>
              </a:buClr>
              <a:buSzPct val="80000"/>
            </a:pPr>
            <a:r>
              <a:rPr lang="en-US" altLang="zh-CN" sz="2400" dirty="0">
                <a:latin typeface="微软雅黑" pitchFamily="34" charset="-122"/>
                <a:ea typeface="微软雅黑" pitchFamily="34" charset="-122"/>
                <a:cs typeface="经典粗黑简" pitchFamily="49" charset="-122"/>
              </a:rPr>
              <a:t>LOC(</a:t>
            </a:r>
            <a:r>
              <a:rPr lang="en-US" altLang="zh-CN" sz="2400" dirty="0" err="1">
                <a:solidFill>
                  <a:srgbClr val="FF0000"/>
                </a:solidFill>
                <a:latin typeface="微软雅黑" pitchFamily="34" charset="-122"/>
                <a:ea typeface="微软雅黑" pitchFamily="34" charset="-122"/>
                <a:cs typeface="经典粗黑简" pitchFamily="49" charset="-122"/>
              </a:rPr>
              <a:t>a</a:t>
            </a:r>
            <a:r>
              <a:rPr lang="en-US" altLang="zh-CN" sz="2400" baseline="-25000" dirty="0" err="1">
                <a:solidFill>
                  <a:srgbClr val="FF0000"/>
                </a:solidFill>
                <a:latin typeface="微软雅黑" pitchFamily="34" charset="-122"/>
                <a:ea typeface="微软雅黑" pitchFamily="34" charset="-122"/>
                <a:cs typeface="经典粗黑简" pitchFamily="49" charset="-122"/>
              </a:rPr>
              <a:t>ij</a:t>
            </a:r>
            <a:r>
              <a:rPr lang="en-US" altLang="zh-CN" sz="2400" dirty="0">
                <a:latin typeface="微软雅黑" pitchFamily="34" charset="-122"/>
                <a:ea typeface="微软雅黑" pitchFamily="34" charset="-122"/>
                <a:cs typeface="经典粗黑简" pitchFamily="49" charset="-122"/>
              </a:rPr>
              <a:t>)=LOC(a</a:t>
            </a:r>
            <a:r>
              <a:rPr lang="en-US" altLang="zh-CN" sz="2400" baseline="-25000" dirty="0">
                <a:latin typeface="微软雅黑" pitchFamily="34" charset="-122"/>
                <a:ea typeface="微软雅黑" pitchFamily="34" charset="-122"/>
                <a:cs typeface="经典粗黑简" pitchFamily="49" charset="-122"/>
              </a:rPr>
              <a:t>11</a:t>
            </a:r>
            <a:r>
              <a:rPr lang="en-US" altLang="zh-CN" sz="2400" dirty="0">
                <a:latin typeface="微软雅黑" pitchFamily="34" charset="-122"/>
                <a:ea typeface="微软雅黑" pitchFamily="34" charset="-122"/>
                <a:cs typeface="经典粗黑简" pitchFamily="49" charset="-122"/>
              </a:rPr>
              <a:t>)+[(</a:t>
            </a:r>
            <a:r>
              <a:rPr lang="en-US" altLang="zh-CN" sz="2400" dirty="0">
                <a:solidFill>
                  <a:srgbClr val="FF0000"/>
                </a:solidFill>
                <a:latin typeface="微软雅黑" pitchFamily="34" charset="-122"/>
                <a:ea typeface="微软雅黑" pitchFamily="34" charset="-122"/>
                <a:cs typeface="经典粗黑简" pitchFamily="49" charset="-122"/>
              </a:rPr>
              <a:t>i</a:t>
            </a:r>
            <a:r>
              <a:rPr lang="en-US" altLang="zh-CN" sz="2400" dirty="0">
                <a:latin typeface="微软雅黑" pitchFamily="34" charset="-122"/>
                <a:ea typeface="微软雅黑" pitchFamily="34" charset="-122"/>
                <a:cs typeface="经典粗黑简" pitchFamily="49" charset="-122"/>
              </a:rPr>
              <a:t>-1)*n+(</a:t>
            </a:r>
            <a:r>
              <a:rPr lang="en-US" altLang="zh-CN" sz="2400" dirty="0">
                <a:solidFill>
                  <a:srgbClr val="FF0000"/>
                </a:solidFill>
                <a:latin typeface="微软雅黑" pitchFamily="34" charset="-122"/>
                <a:ea typeface="微软雅黑" pitchFamily="34" charset="-122"/>
                <a:cs typeface="经典粗黑简" pitchFamily="49" charset="-122"/>
              </a:rPr>
              <a:t>j</a:t>
            </a:r>
            <a:r>
              <a:rPr lang="en-US" altLang="zh-CN" sz="2400" dirty="0">
                <a:latin typeface="微软雅黑" pitchFamily="34" charset="-122"/>
                <a:ea typeface="微软雅黑" pitchFamily="34" charset="-122"/>
                <a:cs typeface="经典粗黑简" pitchFamily="49" charset="-122"/>
              </a:rPr>
              <a:t>-1)]*d</a:t>
            </a:r>
          </a:p>
        </p:txBody>
      </p:sp>
    </p:spTree>
    <p:extLst>
      <p:ext uri="{BB962C8B-B14F-4D97-AF65-F5344CB8AC3E}">
        <p14:creationId xmlns:p14="http://schemas.microsoft.com/office/powerpoint/2010/main" val="151648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left)">
                                      <p:cBhvr>
                                        <p:cTn id="2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37" grpId="0"/>
      <p:bldP spid="30" grpId="0" animBg="1"/>
      <p:bldP spid="31" grpId="0"/>
      <p:bldP spid="3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p:cNvSpPr/>
          <p:nvPr/>
        </p:nvSpPr>
        <p:spPr>
          <a:xfrm>
            <a:off x="2099556" y="2877289"/>
            <a:ext cx="7210778"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将数组元素按列排列，第</a:t>
            </a:r>
            <a:r>
              <a:rPr lang="en-US" altLang="zh-CN" sz="2000" dirty="0">
                <a:latin typeface="微软雅黑" pitchFamily="34" charset="-122"/>
                <a:ea typeface="微软雅黑" pitchFamily="34" charset="-122"/>
                <a:cs typeface="经典粗黑简" pitchFamily="49" charset="-122"/>
              </a:rPr>
              <a:t>j+1</a:t>
            </a:r>
            <a:r>
              <a:rPr lang="zh-CN" altLang="en-US" sz="2000" dirty="0">
                <a:latin typeface="微软雅黑" pitchFamily="34" charset="-122"/>
                <a:ea typeface="微软雅黑" pitchFamily="34" charset="-122"/>
                <a:cs typeface="经典粗黑简" pitchFamily="49" charset="-122"/>
              </a:rPr>
              <a:t>个列向量紧接在第</a:t>
            </a:r>
            <a:r>
              <a:rPr lang="en-US" altLang="zh-CN" sz="2000" dirty="0">
                <a:latin typeface="微软雅黑" pitchFamily="34" charset="-122"/>
                <a:ea typeface="微软雅黑" pitchFamily="34" charset="-122"/>
                <a:cs typeface="经典粗黑简" pitchFamily="49" charset="-122"/>
              </a:rPr>
              <a:t>j</a:t>
            </a:r>
            <a:r>
              <a:rPr lang="zh-CN" altLang="en-US" sz="2000" dirty="0">
                <a:latin typeface="微软雅黑" pitchFamily="34" charset="-122"/>
                <a:ea typeface="微软雅黑" pitchFamily="34" charset="-122"/>
                <a:cs typeface="经典粗黑简" pitchFamily="49" charset="-122"/>
              </a:rPr>
              <a:t>个列向量后面。</a:t>
            </a:r>
            <a:endParaRPr lang="zh-CN" altLang="en-US" sz="2000" baseline="-25000" dirty="0">
              <a:latin typeface="微软雅黑" pitchFamily="34" charset="-122"/>
              <a:ea typeface="微软雅黑" pitchFamily="34" charset="-122"/>
              <a:cs typeface="经典粗黑简" pitchFamily="49" charset="-122"/>
            </a:endParaRPr>
          </a:p>
        </p:txBody>
      </p:sp>
      <p:sp>
        <p:nvSpPr>
          <p:cNvPr id="41" name="矩形 40"/>
          <p:cNvSpPr/>
          <p:nvPr/>
        </p:nvSpPr>
        <p:spPr>
          <a:xfrm>
            <a:off x="1615962" y="2422780"/>
            <a:ext cx="4544834" cy="400110"/>
          </a:xfrm>
          <a:prstGeom prst="rect">
            <a:avLst/>
          </a:prstGeom>
        </p:spPr>
        <p:txBody>
          <a:bodyPr wrap="none">
            <a:spAutoFit/>
          </a:bodyPr>
          <a:lstStyle/>
          <a:p>
            <a:r>
              <a:rPr lang="en-US" altLang="zh-CN" sz="2000" dirty="0">
                <a:latin typeface="微软雅黑" pitchFamily="34" charset="-122"/>
                <a:ea typeface="微软雅黑" pitchFamily="34" charset="-122"/>
                <a:cs typeface="经典粗黑简" pitchFamily="49" charset="-122"/>
              </a:rPr>
              <a:t>②</a:t>
            </a:r>
            <a:r>
              <a:rPr lang="zh-CN" altLang="en-US" sz="2000" dirty="0">
                <a:latin typeface="微软雅黑" pitchFamily="34" charset="-122"/>
                <a:ea typeface="微软雅黑" pitchFamily="34" charset="-122"/>
                <a:cs typeface="经典粗黑简" pitchFamily="49" charset="-122"/>
              </a:rPr>
              <a:t>、列优先顺序或以列为主序存储方式</a:t>
            </a:r>
          </a:p>
        </p:txBody>
      </p:sp>
      <p:grpSp>
        <p:nvGrpSpPr>
          <p:cNvPr id="42" name="组合 41"/>
          <p:cNvGrpSpPr/>
          <p:nvPr/>
        </p:nvGrpSpPr>
        <p:grpSpPr>
          <a:xfrm>
            <a:off x="2345794" y="3781916"/>
            <a:ext cx="2854069" cy="2462606"/>
            <a:chOff x="1822873" y="3916542"/>
            <a:chExt cx="2854069" cy="2462606"/>
          </a:xfrm>
        </p:grpSpPr>
        <p:sp>
          <p:nvSpPr>
            <p:cNvPr id="43" name="Rectangle 5"/>
            <p:cNvSpPr>
              <a:spLocks noChangeArrowheads="1"/>
            </p:cNvSpPr>
            <p:nvPr/>
          </p:nvSpPr>
          <p:spPr bwMode="auto">
            <a:xfrm>
              <a:off x="1895264" y="3916542"/>
              <a:ext cx="2781678" cy="2462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11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1n</a:t>
              </a: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21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2n</a:t>
              </a:r>
            </a:p>
            <a:p>
              <a:pPr algn="l">
                <a:spcBef>
                  <a:spcPct val="50000"/>
                </a:spcBef>
                <a:buClr>
                  <a:schemeClr val="folHlink"/>
                </a:buClr>
                <a:buSzPct val="60000"/>
                <a:buFont typeface="Wingdings" pitchFamily="2" charset="2"/>
                <a:buNone/>
              </a:pP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10000" dirty="0" err="1">
                  <a:latin typeface="Tahoma" pitchFamily="34" charset="0"/>
                  <a:ea typeface="楷体_GB2312" pitchFamily="49" charset="-122"/>
                </a:rPr>
                <a:t>ij</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endParaRPr kumimoji="1" lang="en-US" altLang="zh-CN" sz="2800" dirty="0">
                <a:latin typeface="Tahoma" pitchFamily="34" charset="0"/>
                <a:ea typeface="楷体_GB2312" pitchFamily="49" charset="-122"/>
              </a:endParaRP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10000" dirty="0">
                  <a:latin typeface="Tahoma" pitchFamily="34" charset="0"/>
                  <a:ea typeface="楷体_GB2312" pitchFamily="49" charset="-122"/>
                </a:rPr>
                <a:t>m</a:t>
              </a:r>
              <a:r>
                <a:rPr kumimoji="1" lang="en-US" altLang="zh-CN" sz="2800" baseline="-20000" dirty="0">
                  <a:latin typeface="Tahoma" pitchFamily="34" charset="0"/>
                  <a:ea typeface="楷体_GB2312" pitchFamily="49" charset="-122"/>
                </a:rPr>
                <a:t>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m2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20000" dirty="0" err="1">
                  <a:latin typeface="Tahoma" pitchFamily="34" charset="0"/>
                  <a:ea typeface="楷体_GB2312" pitchFamily="49" charset="-122"/>
                </a:rPr>
                <a:t>mn</a:t>
              </a:r>
              <a:endParaRPr kumimoji="1" lang="en-US" altLang="zh-CN" sz="2800" baseline="-20000" dirty="0">
                <a:latin typeface="Tahoma" pitchFamily="34" charset="0"/>
                <a:ea typeface="楷体_GB2312" pitchFamily="49" charset="-122"/>
              </a:endParaRPr>
            </a:p>
          </p:txBody>
        </p:sp>
        <p:grpSp>
          <p:nvGrpSpPr>
            <p:cNvPr id="44" name="组合 43"/>
            <p:cNvGrpSpPr/>
            <p:nvPr/>
          </p:nvGrpSpPr>
          <p:grpSpPr>
            <a:xfrm>
              <a:off x="1822873" y="3973445"/>
              <a:ext cx="144780" cy="2380468"/>
              <a:chOff x="1822873" y="3921191"/>
              <a:chExt cx="144780" cy="2380468"/>
            </a:xfrm>
          </p:grpSpPr>
          <p:sp>
            <p:nvSpPr>
              <p:cNvPr id="49" name="Line 6"/>
              <p:cNvSpPr>
                <a:spLocks noChangeShapeType="1"/>
              </p:cNvSpPr>
              <p:nvPr/>
            </p:nvSpPr>
            <p:spPr bwMode="auto">
              <a:xfrm>
                <a:off x="1822873" y="392119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7"/>
              <p:cNvSpPr>
                <a:spLocks noChangeShapeType="1"/>
              </p:cNvSpPr>
              <p:nvPr/>
            </p:nvSpPr>
            <p:spPr bwMode="auto">
              <a:xfrm>
                <a:off x="1822873" y="630165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8"/>
              <p:cNvSpPr>
                <a:spLocks noChangeShapeType="1"/>
              </p:cNvSpPr>
              <p:nvPr/>
            </p:nvSpPr>
            <p:spPr bwMode="auto">
              <a:xfrm>
                <a:off x="1822873" y="392119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5" name="组合 44"/>
            <p:cNvGrpSpPr/>
            <p:nvPr/>
          </p:nvGrpSpPr>
          <p:grpSpPr>
            <a:xfrm>
              <a:off x="4532161" y="3983738"/>
              <a:ext cx="144780" cy="2380468"/>
              <a:chOff x="4758595" y="3957611"/>
              <a:chExt cx="144780" cy="2380468"/>
            </a:xfrm>
          </p:grpSpPr>
          <p:sp>
            <p:nvSpPr>
              <p:cNvPr id="46" name="Line 9"/>
              <p:cNvSpPr>
                <a:spLocks noChangeShapeType="1"/>
              </p:cNvSpPr>
              <p:nvPr/>
            </p:nvSpPr>
            <p:spPr bwMode="auto">
              <a:xfrm>
                <a:off x="4903375" y="395761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 name="Line 10"/>
              <p:cNvSpPr>
                <a:spLocks noChangeShapeType="1"/>
              </p:cNvSpPr>
              <p:nvPr/>
            </p:nvSpPr>
            <p:spPr bwMode="auto">
              <a:xfrm>
                <a:off x="4758595" y="633807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 name="Line 11"/>
              <p:cNvSpPr>
                <a:spLocks noChangeShapeType="1"/>
              </p:cNvSpPr>
              <p:nvPr/>
            </p:nvSpPr>
            <p:spPr bwMode="auto">
              <a:xfrm>
                <a:off x="4758595" y="395761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53" name="椭圆 52"/>
          <p:cNvSpPr/>
          <p:nvPr/>
        </p:nvSpPr>
        <p:spPr>
          <a:xfrm rot="5400000">
            <a:off x="1255164" y="4678236"/>
            <a:ext cx="2909994" cy="7287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Text Box 12"/>
          <p:cNvSpPr txBox="1">
            <a:spLocks noChangeArrowheads="1"/>
          </p:cNvSpPr>
          <p:nvPr/>
        </p:nvSpPr>
        <p:spPr bwMode="auto">
          <a:xfrm>
            <a:off x="1618381" y="4762505"/>
            <a:ext cx="727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50000"/>
              </a:spcBef>
            </a:pPr>
            <a:r>
              <a:rPr kumimoji="1" lang="en-US" altLang="zh-CN" sz="2800" dirty="0">
                <a:latin typeface="Tahoma" pitchFamily="34" charset="0"/>
                <a:ea typeface="楷体_GB2312" pitchFamily="49" charset="-122"/>
              </a:rPr>
              <a:t>A=</a:t>
            </a:r>
            <a:endParaRPr kumimoji="1" lang="en-US" altLang="zh-CN" sz="2800" baseline="-25000" dirty="0">
              <a:latin typeface="Tahoma" pitchFamily="34" charset="0"/>
              <a:ea typeface="楷体_GB2312" pitchFamily="49" charset="-122"/>
            </a:endParaRPr>
          </a:p>
        </p:txBody>
      </p:sp>
      <p:sp>
        <p:nvSpPr>
          <p:cNvPr id="63" name="Text Box 12"/>
          <p:cNvSpPr txBox="1">
            <a:spLocks noChangeArrowheads="1"/>
          </p:cNvSpPr>
          <p:nvPr/>
        </p:nvSpPr>
        <p:spPr bwMode="auto">
          <a:xfrm>
            <a:off x="5928591" y="4160852"/>
            <a:ext cx="39994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800" dirty="0">
                <a:latin typeface="Tahoma" pitchFamily="34" charset="0"/>
                <a:ea typeface="楷体_GB2312" pitchFamily="49" charset="-122"/>
              </a:rPr>
              <a:t>A=(</a:t>
            </a:r>
            <a:r>
              <a:rPr lang="el-GR" altLang="zh-CN" sz="2800" dirty="0"/>
              <a:t>β</a:t>
            </a:r>
            <a:r>
              <a:rPr lang="en-US" altLang="zh-CN" sz="2800" baseline="-25000" dirty="0"/>
              <a:t>1,</a:t>
            </a:r>
            <a:r>
              <a:rPr lang="el-GR" altLang="zh-CN" sz="2800" dirty="0"/>
              <a:t> β</a:t>
            </a:r>
            <a:r>
              <a:rPr lang="en-US" altLang="zh-CN" sz="2800" baseline="-25000" dirty="0"/>
              <a:t>2,</a:t>
            </a:r>
            <a:r>
              <a:rPr lang="el-GR" altLang="zh-CN" sz="2800" dirty="0"/>
              <a:t> </a:t>
            </a:r>
            <a:r>
              <a:rPr lang="en-US" altLang="zh-CN" sz="2800" dirty="0"/>
              <a:t>…,</a:t>
            </a:r>
            <a:r>
              <a:rPr lang="el-GR" altLang="zh-CN" sz="2800" dirty="0"/>
              <a:t> β</a:t>
            </a:r>
            <a:r>
              <a:rPr lang="en-US" altLang="zh-CN" sz="2800" baseline="-25000" dirty="0"/>
              <a:t>j,</a:t>
            </a:r>
            <a:r>
              <a:rPr lang="el-GR" altLang="zh-CN" sz="2800" dirty="0"/>
              <a:t> </a:t>
            </a:r>
            <a:r>
              <a:rPr lang="en-US" altLang="zh-CN" sz="2800" dirty="0"/>
              <a:t>…, </a:t>
            </a:r>
            <a:r>
              <a:rPr lang="el-GR" altLang="zh-CN" sz="2800" dirty="0"/>
              <a:t>β</a:t>
            </a:r>
            <a:r>
              <a:rPr lang="en-US" altLang="zh-CN" sz="2800" baseline="-25000" dirty="0"/>
              <a:t>n</a:t>
            </a:r>
            <a:r>
              <a:rPr kumimoji="1" lang="en-US" altLang="zh-CN" sz="2800" dirty="0">
                <a:latin typeface="Tahoma" pitchFamily="34" charset="0"/>
                <a:ea typeface="楷体_GB2312" pitchFamily="49" charset="-122"/>
              </a:rPr>
              <a:t>)</a:t>
            </a:r>
            <a:endParaRPr kumimoji="1" lang="en-US" altLang="zh-CN" sz="2800" baseline="-25000" dirty="0">
              <a:latin typeface="Tahoma" pitchFamily="34" charset="0"/>
              <a:ea typeface="楷体_GB2312" pitchFamily="49" charset="-122"/>
            </a:endParaRPr>
          </a:p>
        </p:txBody>
      </p:sp>
      <p:sp>
        <p:nvSpPr>
          <p:cNvPr id="64" name="Text Box 12"/>
          <p:cNvSpPr txBox="1">
            <a:spLocks noChangeArrowheads="1"/>
          </p:cNvSpPr>
          <p:nvPr/>
        </p:nvSpPr>
        <p:spPr bwMode="auto">
          <a:xfrm>
            <a:off x="5928591" y="4787540"/>
            <a:ext cx="31674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l-GR" altLang="zh-CN" sz="2800" dirty="0"/>
              <a:t>β</a:t>
            </a:r>
            <a:r>
              <a:rPr lang="en-US" altLang="zh-CN" sz="2800" baseline="-25000" dirty="0"/>
              <a:t>j </a:t>
            </a: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1j, </a:t>
            </a: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2j, </a:t>
            </a:r>
            <a:r>
              <a:rPr lang="en-US" altLang="zh-CN" sz="2800" dirty="0"/>
              <a:t>…, </a:t>
            </a:r>
            <a:r>
              <a:rPr kumimoji="1" lang="en-US" altLang="zh-CN" sz="2800" dirty="0" err="1">
                <a:latin typeface="Tahoma" pitchFamily="34" charset="0"/>
                <a:ea typeface="楷体_GB2312" pitchFamily="49" charset="-122"/>
              </a:rPr>
              <a:t>a</a:t>
            </a:r>
            <a:r>
              <a:rPr kumimoji="1" lang="en-US" altLang="zh-CN" sz="2800" baseline="-20000" dirty="0" err="1">
                <a:latin typeface="Tahoma" pitchFamily="34" charset="0"/>
                <a:ea typeface="楷体_GB2312" pitchFamily="49" charset="-122"/>
              </a:rPr>
              <a:t>mj</a:t>
            </a:r>
            <a:r>
              <a:rPr kumimoji="1" lang="en-US" altLang="zh-CN" sz="2800" baseline="-20000" dirty="0">
                <a:latin typeface="Tahoma" pitchFamily="34" charset="0"/>
                <a:ea typeface="楷体_GB2312" pitchFamily="49" charset="-122"/>
              </a:rPr>
              <a:t> </a:t>
            </a:r>
            <a:r>
              <a:rPr kumimoji="1" lang="en-US" altLang="zh-CN" sz="2800" dirty="0">
                <a:latin typeface="Tahoma" pitchFamily="34" charset="0"/>
                <a:ea typeface="楷体_GB2312" pitchFamily="49" charset="-122"/>
              </a:rPr>
              <a:t>)</a:t>
            </a:r>
            <a:endParaRPr kumimoji="1" lang="en-US" altLang="zh-CN" sz="2800" baseline="-25000" dirty="0">
              <a:latin typeface="Tahoma" pitchFamily="34" charset="0"/>
              <a:ea typeface="楷体_GB2312" pitchFamily="49" charset="-122"/>
            </a:endParaRPr>
          </a:p>
        </p:txBody>
      </p:sp>
      <p:sp>
        <p:nvSpPr>
          <p:cNvPr id="65" name="椭圆 64"/>
          <p:cNvSpPr/>
          <p:nvPr/>
        </p:nvSpPr>
        <p:spPr>
          <a:xfrm rot="5400000">
            <a:off x="1992610" y="4678236"/>
            <a:ext cx="2909994" cy="7287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rot="5400000">
            <a:off x="3247565" y="4678236"/>
            <a:ext cx="2909994" cy="7287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7" name="表格 66"/>
          <p:cNvGraphicFramePr>
            <a:graphicFrameLocks noGrp="1"/>
          </p:cNvGraphicFramePr>
          <p:nvPr>
            <p:extLst>
              <p:ext uri="{D42A27DB-BD31-4B8C-83A1-F6EECF244321}">
                <p14:modId xmlns:p14="http://schemas.microsoft.com/office/powerpoint/2010/main" val="1008641839"/>
              </p:ext>
            </p:extLst>
          </p:nvPr>
        </p:nvGraphicFramePr>
        <p:xfrm>
          <a:off x="2345792" y="3222528"/>
          <a:ext cx="2781680" cy="370840"/>
        </p:xfrm>
        <a:graphic>
          <a:graphicData uri="http://schemas.openxmlformats.org/drawingml/2006/table">
            <a:tbl>
              <a:tblPr firstRow="1" bandRow="1">
                <a:tableStyleId>{2D5ABB26-0587-4C30-8999-92F81FD0307C}</a:tableStyleId>
              </a:tblPr>
              <a:tblGrid>
                <a:gridCol w="663758">
                  <a:extLst>
                    <a:ext uri="{9D8B030D-6E8A-4147-A177-3AD203B41FA5}">
                      <a16:colId xmlns:a16="http://schemas.microsoft.com/office/drawing/2014/main" val="20000"/>
                    </a:ext>
                  </a:extLst>
                </a:gridCol>
                <a:gridCol w="741129">
                  <a:extLst>
                    <a:ext uri="{9D8B030D-6E8A-4147-A177-3AD203B41FA5}">
                      <a16:colId xmlns:a16="http://schemas.microsoft.com/office/drawing/2014/main" val="20001"/>
                    </a:ext>
                  </a:extLst>
                </a:gridCol>
                <a:gridCol w="603986">
                  <a:extLst>
                    <a:ext uri="{9D8B030D-6E8A-4147-A177-3AD203B41FA5}">
                      <a16:colId xmlns:a16="http://schemas.microsoft.com/office/drawing/2014/main" val="20002"/>
                    </a:ext>
                  </a:extLst>
                </a:gridCol>
                <a:gridCol w="772807">
                  <a:extLst>
                    <a:ext uri="{9D8B030D-6E8A-4147-A177-3AD203B41FA5}">
                      <a16:colId xmlns:a16="http://schemas.microsoft.com/office/drawing/2014/main" val="20003"/>
                    </a:ext>
                  </a:extLst>
                </a:gridCol>
              </a:tblGrid>
              <a:tr h="370840">
                <a:tc>
                  <a:txBody>
                    <a:bodyPr/>
                    <a:lstStyle/>
                    <a:p>
                      <a:pPr algn="ctr"/>
                      <a:r>
                        <a:rPr lang="el-GR" altLang="zh-CN" dirty="0"/>
                        <a:t>β</a:t>
                      </a:r>
                      <a:r>
                        <a:rPr lang="en-US" altLang="zh-CN" baseline="-25000" dirty="0"/>
                        <a:t>1</a:t>
                      </a:r>
                      <a:endParaRPr lang="zh-CN" altLang="en-US"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dirty="0"/>
                        <a:t>β</a:t>
                      </a:r>
                      <a:r>
                        <a:rPr lang="en-US" altLang="zh-CN" baseline="-25000" dirty="0"/>
                        <a:t>2</a:t>
                      </a:r>
                      <a:endParaRPr lang="zh-CN" altLang="en-US" baseline="-25000" dirty="0"/>
                    </a:p>
                  </a:txBody>
                  <a:tcPr/>
                </a:tc>
                <a:tc>
                  <a:txBody>
                    <a:bodyPr/>
                    <a:lstStyle/>
                    <a:p>
                      <a:pPr algn="ctr"/>
                      <a:endParaRPr lang="zh-CN"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dirty="0"/>
                        <a:t>β</a:t>
                      </a:r>
                      <a:r>
                        <a:rPr lang="en-US" altLang="zh-CN" baseline="-25000" dirty="0"/>
                        <a:t>n</a:t>
                      </a:r>
                      <a:endParaRPr lang="zh-CN" altLang="en-US" baseline="-25000" dirty="0"/>
                    </a:p>
                  </a:txBody>
                  <a:tcPr/>
                </a:tc>
                <a:extLst>
                  <a:ext uri="{0D108BD9-81ED-4DB2-BD59-A6C34878D82A}">
                    <a16:rowId xmlns:a16="http://schemas.microsoft.com/office/drawing/2014/main" val="10000"/>
                  </a:ext>
                </a:extLst>
              </a:tr>
            </a:tbl>
          </a:graphicData>
        </a:graphic>
      </p:graphicFrame>
      <p:sp>
        <p:nvSpPr>
          <p:cNvPr id="3" name="文本框 2">
            <a:extLst>
              <a:ext uri="{FF2B5EF4-FFF2-40B4-BE49-F238E27FC236}">
                <a16:creationId xmlns:a16="http://schemas.microsoft.com/office/drawing/2014/main" id="{E9973E20-134E-176A-1222-890E7370B9D9}"/>
              </a:ext>
            </a:extLst>
          </p:cNvPr>
          <p:cNvSpPr txBox="1"/>
          <p:nvPr/>
        </p:nvSpPr>
        <p:spPr>
          <a:xfrm>
            <a:off x="1179720" y="1851035"/>
            <a:ext cx="3620135" cy="461665"/>
          </a:xfrm>
          <a:prstGeom prst="rect">
            <a:avLst/>
          </a:prstGeom>
          <a:noFill/>
        </p:spPr>
        <p:txBody>
          <a:bodyPr wrap="square">
            <a:spAutoFit/>
          </a:bodyPr>
          <a:lstStyle/>
          <a:p>
            <a:r>
              <a:rPr lang="en-US" altLang="zh-CN" sz="2400" dirty="0">
                <a:latin typeface="微软雅黑" pitchFamily="34" charset="-122"/>
                <a:ea typeface="微软雅黑" pitchFamily="34" charset="-122"/>
                <a:cs typeface="经典粗黑简" pitchFamily="49" charset="-122"/>
              </a:rPr>
              <a:t>2</a:t>
            </a:r>
            <a:r>
              <a:rPr lang="zh-CN" altLang="en-US" sz="2400" dirty="0">
                <a:latin typeface="微软雅黑" pitchFamily="34" charset="-122"/>
                <a:ea typeface="微软雅黑" pitchFamily="34" charset="-122"/>
                <a:cs typeface="经典粗黑简" pitchFamily="49" charset="-122"/>
              </a:rPr>
              <a:t>、二维数组的存储结构</a:t>
            </a:r>
          </a:p>
        </p:txBody>
      </p:sp>
      <p:sp>
        <p:nvSpPr>
          <p:cNvPr id="4" name="Rectangle 3">
            <a:extLst>
              <a:ext uri="{FF2B5EF4-FFF2-40B4-BE49-F238E27FC236}">
                <a16:creationId xmlns:a16="http://schemas.microsoft.com/office/drawing/2014/main" id="{C1A5B84A-ED1A-36F7-CEB7-474693C024BD}"/>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6.1.2 </a:t>
            </a:r>
            <a:r>
              <a:rPr lang="zh-CN" altLang="en-US" sz="2800" b="1" dirty="0">
                <a:solidFill>
                  <a:schemeClr val="bg1"/>
                </a:solidFill>
                <a:latin typeface="经典粗黑简" pitchFamily="49" charset="-122"/>
                <a:ea typeface="经典粗黑简" pitchFamily="49" charset="-122"/>
                <a:cs typeface="经典粗黑简" pitchFamily="49" charset="-122"/>
              </a:rPr>
              <a:t>数组的存储结构</a:t>
            </a:r>
          </a:p>
        </p:txBody>
      </p:sp>
      <p:sp>
        <p:nvSpPr>
          <p:cNvPr id="5" name="Rectangle 2">
            <a:extLst>
              <a:ext uri="{FF2B5EF4-FFF2-40B4-BE49-F238E27FC236}">
                <a16:creationId xmlns:a16="http://schemas.microsoft.com/office/drawing/2014/main" id="{98F7F162-CCD8-BC53-1346-C261B7FE3BB0}"/>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6" name="直接连接符 5">
            <a:extLst>
              <a:ext uri="{FF2B5EF4-FFF2-40B4-BE49-F238E27FC236}">
                <a16:creationId xmlns:a16="http://schemas.microsoft.com/office/drawing/2014/main" id="{091D90EB-4BFC-41E8-0AED-65CF4EB86920}"/>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3517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62" grpId="0"/>
      <p:bldP spid="63" grpId="0"/>
      <p:bldP spid="64" grpId="0"/>
      <p:bldP spid="65" grpId="0" animBg="1"/>
      <p:bldP spid="6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447F1-1BCC-8B50-DF04-170DAF30D5B8}"/>
            </a:ext>
          </a:extLst>
        </p:cNvPr>
        <p:cNvGrpSpPr/>
        <p:nvPr/>
      </p:nvGrpSpPr>
      <p:grpSpPr>
        <a:xfrm>
          <a:off x="0" y="0"/>
          <a:ext cx="0" cy="0"/>
          <a:chOff x="0" y="0"/>
          <a:chExt cx="0" cy="0"/>
        </a:xfrm>
      </p:grpSpPr>
      <p:sp>
        <p:nvSpPr>
          <p:cNvPr id="41" name="矩形 40">
            <a:extLst>
              <a:ext uri="{FF2B5EF4-FFF2-40B4-BE49-F238E27FC236}">
                <a16:creationId xmlns:a16="http://schemas.microsoft.com/office/drawing/2014/main" id="{6605BD49-4EFA-45DA-77D6-762118B9774A}"/>
              </a:ext>
            </a:extLst>
          </p:cNvPr>
          <p:cNvSpPr/>
          <p:nvPr/>
        </p:nvSpPr>
        <p:spPr>
          <a:xfrm>
            <a:off x="1615962" y="2422780"/>
            <a:ext cx="4544834" cy="400110"/>
          </a:xfrm>
          <a:prstGeom prst="rect">
            <a:avLst/>
          </a:prstGeom>
        </p:spPr>
        <p:txBody>
          <a:bodyPr wrap="none">
            <a:spAutoFit/>
          </a:bodyPr>
          <a:lstStyle/>
          <a:p>
            <a:r>
              <a:rPr lang="en-US" altLang="zh-CN" sz="2000" dirty="0">
                <a:latin typeface="微软雅黑" pitchFamily="34" charset="-122"/>
                <a:ea typeface="微软雅黑" pitchFamily="34" charset="-122"/>
                <a:cs typeface="经典粗黑简" pitchFamily="49" charset="-122"/>
              </a:rPr>
              <a:t>②</a:t>
            </a:r>
            <a:r>
              <a:rPr lang="zh-CN" altLang="en-US" sz="2000" dirty="0">
                <a:latin typeface="微软雅黑" pitchFamily="34" charset="-122"/>
                <a:ea typeface="微软雅黑" pitchFamily="34" charset="-122"/>
                <a:cs typeface="经典粗黑简" pitchFamily="49" charset="-122"/>
              </a:rPr>
              <a:t>、列优先顺序或以列为主序存储方式</a:t>
            </a:r>
          </a:p>
        </p:txBody>
      </p:sp>
      <p:grpSp>
        <p:nvGrpSpPr>
          <p:cNvPr id="42" name="组合 41">
            <a:extLst>
              <a:ext uri="{FF2B5EF4-FFF2-40B4-BE49-F238E27FC236}">
                <a16:creationId xmlns:a16="http://schemas.microsoft.com/office/drawing/2014/main" id="{F469D936-C320-D7AC-93C4-5618F6EA286C}"/>
              </a:ext>
            </a:extLst>
          </p:cNvPr>
          <p:cNvGrpSpPr/>
          <p:nvPr/>
        </p:nvGrpSpPr>
        <p:grpSpPr>
          <a:xfrm>
            <a:off x="2354689" y="3327208"/>
            <a:ext cx="2854069" cy="2462606"/>
            <a:chOff x="1822873" y="3916542"/>
            <a:chExt cx="2854069" cy="2462606"/>
          </a:xfrm>
        </p:grpSpPr>
        <p:sp>
          <p:nvSpPr>
            <p:cNvPr id="43" name="Rectangle 5">
              <a:extLst>
                <a:ext uri="{FF2B5EF4-FFF2-40B4-BE49-F238E27FC236}">
                  <a16:creationId xmlns:a16="http://schemas.microsoft.com/office/drawing/2014/main" id="{984F81AD-11B1-54EC-6F97-26AFC7FA92FA}"/>
                </a:ext>
              </a:extLst>
            </p:cNvPr>
            <p:cNvSpPr>
              <a:spLocks noChangeArrowheads="1"/>
            </p:cNvSpPr>
            <p:nvPr/>
          </p:nvSpPr>
          <p:spPr bwMode="auto">
            <a:xfrm>
              <a:off x="1895264" y="3916542"/>
              <a:ext cx="2781678" cy="2462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11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1n</a:t>
              </a: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20000" dirty="0">
                  <a:latin typeface="Tahoma" pitchFamily="34" charset="0"/>
                  <a:ea typeface="楷体_GB2312" pitchFamily="49" charset="-122"/>
                </a:rPr>
                <a:t>21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2n</a:t>
              </a:r>
            </a:p>
            <a:p>
              <a:pPr algn="l">
                <a:spcBef>
                  <a:spcPct val="50000"/>
                </a:spcBef>
                <a:buClr>
                  <a:schemeClr val="folHlink"/>
                </a:buClr>
                <a:buSzPct val="60000"/>
                <a:buFont typeface="Wingdings" pitchFamily="2" charset="2"/>
                <a:buNone/>
              </a:pP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10000" dirty="0" err="1">
                  <a:latin typeface="Tahoma" pitchFamily="34" charset="0"/>
                  <a:ea typeface="楷体_GB2312" pitchFamily="49" charset="-122"/>
                </a:rPr>
                <a:t>ij</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endParaRPr kumimoji="1" lang="en-US" altLang="zh-CN" sz="2800" dirty="0">
                <a:latin typeface="Tahoma" pitchFamily="34" charset="0"/>
                <a:ea typeface="楷体_GB2312" pitchFamily="49" charset="-122"/>
              </a:endParaRPr>
            </a:p>
            <a:p>
              <a:pPr algn="l">
                <a:spcBef>
                  <a:spcPct val="50000"/>
                </a:spcBef>
                <a:buClr>
                  <a:schemeClr val="folHlink"/>
                </a:buClr>
                <a:buSzPct val="60000"/>
                <a:buFont typeface="Wingdings" pitchFamily="2" charset="2"/>
                <a:buNone/>
              </a:pPr>
              <a:r>
                <a:rPr kumimoji="1" lang="en-US" altLang="zh-CN" sz="2800" dirty="0">
                  <a:latin typeface="Tahoma" pitchFamily="34" charset="0"/>
                  <a:ea typeface="楷体_GB2312" pitchFamily="49" charset="-122"/>
                </a:rPr>
                <a:t>a</a:t>
              </a:r>
              <a:r>
                <a:rPr kumimoji="1" lang="en-US" altLang="zh-CN" sz="2800" baseline="-10000" dirty="0">
                  <a:latin typeface="Tahoma" pitchFamily="34" charset="0"/>
                  <a:ea typeface="楷体_GB2312" pitchFamily="49" charset="-122"/>
                </a:rPr>
                <a:t>m</a:t>
              </a:r>
              <a:r>
                <a:rPr kumimoji="1" lang="en-US" altLang="zh-CN" sz="2800" baseline="-20000" dirty="0">
                  <a:latin typeface="Tahoma" pitchFamily="34" charset="0"/>
                  <a:ea typeface="楷体_GB2312" pitchFamily="49" charset="-122"/>
                </a:rPr>
                <a:t>1</a:t>
              </a:r>
              <a:r>
                <a:rPr kumimoji="1" lang="en-US" altLang="zh-CN" sz="2800" dirty="0">
                  <a:latin typeface="Tahoma" pitchFamily="34" charset="0"/>
                  <a:ea typeface="楷体_GB2312" pitchFamily="49" charset="-122"/>
                </a:rPr>
                <a:t>  a</a:t>
              </a:r>
              <a:r>
                <a:rPr kumimoji="1" lang="en-US" altLang="zh-CN" sz="2800" baseline="-20000" dirty="0">
                  <a:latin typeface="Tahoma" pitchFamily="34" charset="0"/>
                  <a:ea typeface="楷体_GB2312" pitchFamily="49" charset="-122"/>
                </a:rPr>
                <a:t>m2</a:t>
              </a:r>
              <a:r>
                <a:rPr kumimoji="1" lang="en-US" altLang="zh-CN" sz="2800" dirty="0">
                  <a:latin typeface="Tahoma" pitchFamily="34" charset="0"/>
                  <a:ea typeface="楷体_GB2312" pitchFamily="49" charset="-122"/>
                </a:rPr>
                <a:t>  </a:t>
              </a:r>
              <a:r>
                <a:rPr kumimoji="1" lang="en-US" altLang="zh-CN" sz="2800" dirty="0">
                  <a:latin typeface="Times New Roman" pitchFamily="18" charset="0"/>
                  <a:ea typeface="楷体_GB2312" pitchFamily="49" charset="-122"/>
                </a:rPr>
                <a:t>…</a:t>
              </a:r>
              <a:r>
                <a:rPr kumimoji="1" lang="en-US" altLang="zh-CN" sz="2800" dirty="0">
                  <a:latin typeface="Tahoma" pitchFamily="34" charset="0"/>
                  <a:ea typeface="楷体_GB2312" pitchFamily="49" charset="-122"/>
                </a:rPr>
                <a:t> </a:t>
              </a:r>
              <a:r>
                <a:rPr kumimoji="1" lang="en-US" altLang="zh-CN" sz="2800" dirty="0" err="1">
                  <a:latin typeface="Tahoma" pitchFamily="34" charset="0"/>
                  <a:ea typeface="楷体_GB2312" pitchFamily="49" charset="-122"/>
                </a:rPr>
                <a:t>a</a:t>
              </a:r>
              <a:r>
                <a:rPr kumimoji="1" lang="en-US" altLang="zh-CN" sz="2800" baseline="-20000" dirty="0" err="1">
                  <a:latin typeface="Tahoma" pitchFamily="34" charset="0"/>
                  <a:ea typeface="楷体_GB2312" pitchFamily="49" charset="-122"/>
                </a:rPr>
                <a:t>mn</a:t>
              </a:r>
              <a:endParaRPr kumimoji="1" lang="en-US" altLang="zh-CN" sz="2800" baseline="-20000" dirty="0">
                <a:latin typeface="Tahoma" pitchFamily="34" charset="0"/>
                <a:ea typeface="楷体_GB2312" pitchFamily="49" charset="-122"/>
              </a:endParaRPr>
            </a:p>
          </p:txBody>
        </p:sp>
        <p:grpSp>
          <p:nvGrpSpPr>
            <p:cNvPr id="44" name="组合 43">
              <a:extLst>
                <a:ext uri="{FF2B5EF4-FFF2-40B4-BE49-F238E27FC236}">
                  <a16:creationId xmlns:a16="http://schemas.microsoft.com/office/drawing/2014/main" id="{A4E38B56-A914-6976-6219-1EDEC038E734}"/>
                </a:ext>
              </a:extLst>
            </p:cNvPr>
            <p:cNvGrpSpPr/>
            <p:nvPr/>
          </p:nvGrpSpPr>
          <p:grpSpPr>
            <a:xfrm>
              <a:off x="1822873" y="3973445"/>
              <a:ext cx="144780" cy="2380468"/>
              <a:chOff x="1822873" y="3921191"/>
              <a:chExt cx="144780" cy="2380468"/>
            </a:xfrm>
          </p:grpSpPr>
          <p:sp>
            <p:nvSpPr>
              <p:cNvPr id="49" name="Line 6">
                <a:extLst>
                  <a:ext uri="{FF2B5EF4-FFF2-40B4-BE49-F238E27FC236}">
                    <a16:creationId xmlns:a16="http://schemas.microsoft.com/office/drawing/2014/main" id="{19F73D8B-9300-44DA-A100-E1FB5BC2E6D2}"/>
                  </a:ext>
                </a:extLst>
              </p:cNvPr>
              <p:cNvSpPr>
                <a:spLocks noChangeShapeType="1"/>
              </p:cNvSpPr>
              <p:nvPr/>
            </p:nvSpPr>
            <p:spPr bwMode="auto">
              <a:xfrm>
                <a:off x="1822873" y="392119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7">
                <a:extLst>
                  <a:ext uri="{FF2B5EF4-FFF2-40B4-BE49-F238E27FC236}">
                    <a16:creationId xmlns:a16="http://schemas.microsoft.com/office/drawing/2014/main" id="{90AD3840-7DBC-EE39-AB1B-059D035EFA42}"/>
                  </a:ext>
                </a:extLst>
              </p:cNvPr>
              <p:cNvSpPr>
                <a:spLocks noChangeShapeType="1"/>
              </p:cNvSpPr>
              <p:nvPr/>
            </p:nvSpPr>
            <p:spPr bwMode="auto">
              <a:xfrm>
                <a:off x="1822873" y="630165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8">
                <a:extLst>
                  <a:ext uri="{FF2B5EF4-FFF2-40B4-BE49-F238E27FC236}">
                    <a16:creationId xmlns:a16="http://schemas.microsoft.com/office/drawing/2014/main" id="{A5ACEA64-760D-031F-BF74-F2BBD732C750}"/>
                  </a:ext>
                </a:extLst>
              </p:cNvPr>
              <p:cNvSpPr>
                <a:spLocks noChangeShapeType="1"/>
              </p:cNvSpPr>
              <p:nvPr/>
            </p:nvSpPr>
            <p:spPr bwMode="auto">
              <a:xfrm>
                <a:off x="1822873" y="392119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5" name="组合 44">
              <a:extLst>
                <a:ext uri="{FF2B5EF4-FFF2-40B4-BE49-F238E27FC236}">
                  <a16:creationId xmlns:a16="http://schemas.microsoft.com/office/drawing/2014/main" id="{8C317A5C-05AC-372F-EB26-32E52690D694}"/>
                </a:ext>
              </a:extLst>
            </p:cNvPr>
            <p:cNvGrpSpPr/>
            <p:nvPr/>
          </p:nvGrpSpPr>
          <p:grpSpPr>
            <a:xfrm>
              <a:off x="4532161" y="3983738"/>
              <a:ext cx="144780" cy="2380468"/>
              <a:chOff x="4758595" y="3957611"/>
              <a:chExt cx="144780" cy="2380468"/>
            </a:xfrm>
          </p:grpSpPr>
          <p:sp>
            <p:nvSpPr>
              <p:cNvPr id="46" name="Line 9">
                <a:extLst>
                  <a:ext uri="{FF2B5EF4-FFF2-40B4-BE49-F238E27FC236}">
                    <a16:creationId xmlns:a16="http://schemas.microsoft.com/office/drawing/2014/main" id="{17B9130A-3132-CF77-CF53-594C5B89B658}"/>
                  </a:ext>
                </a:extLst>
              </p:cNvPr>
              <p:cNvSpPr>
                <a:spLocks noChangeShapeType="1"/>
              </p:cNvSpPr>
              <p:nvPr/>
            </p:nvSpPr>
            <p:spPr bwMode="auto">
              <a:xfrm>
                <a:off x="4903375" y="3957611"/>
                <a:ext cx="0" cy="238046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 name="Line 10">
                <a:extLst>
                  <a:ext uri="{FF2B5EF4-FFF2-40B4-BE49-F238E27FC236}">
                    <a16:creationId xmlns:a16="http://schemas.microsoft.com/office/drawing/2014/main" id="{76812951-189D-205D-02BF-A84B14BE13A5}"/>
                  </a:ext>
                </a:extLst>
              </p:cNvPr>
              <p:cNvSpPr>
                <a:spLocks noChangeShapeType="1"/>
              </p:cNvSpPr>
              <p:nvPr/>
            </p:nvSpPr>
            <p:spPr bwMode="auto">
              <a:xfrm>
                <a:off x="4758595" y="6338079"/>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 name="Line 11">
                <a:extLst>
                  <a:ext uri="{FF2B5EF4-FFF2-40B4-BE49-F238E27FC236}">
                    <a16:creationId xmlns:a16="http://schemas.microsoft.com/office/drawing/2014/main" id="{81E8CE8F-2CDB-224C-308C-38B1C28E4004}"/>
                  </a:ext>
                </a:extLst>
              </p:cNvPr>
              <p:cNvSpPr>
                <a:spLocks noChangeShapeType="1"/>
              </p:cNvSpPr>
              <p:nvPr/>
            </p:nvSpPr>
            <p:spPr bwMode="auto">
              <a:xfrm>
                <a:off x="4758595" y="3957611"/>
                <a:ext cx="1447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53" name="椭圆 52">
            <a:extLst>
              <a:ext uri="{FF2B5EF4-FFF2-40B4-BE49-F238E27FC236}">
                <a16:creationId xmlns:a16="http://schemas.microsoft.com/office/drawing/2014/main" id="{5638BAFE-ACAB-AB30-50E8-DB95AEA635A3}"/>
              </a:ext>
            </a:extLst>
          </p:cNvPr>
          <p:cNvSpPr/>
          <p:nvPr/>
        </p:nvSpPr>
        <p:spPr>
          <a:xfrm rot="5400000">
            <a:off x="1264059" y="4223528"/>
            <a:ext cx="2909994" cy="7287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Text Box 12">
            <a:extLst>
              <a:ext uri="{FF2B5EF4-FFF2-40B4-BE49-F238E27FC236}">
                <a16:creationId xmlns:a16="http://schemas.microsoft.com/office/drawing/2014/main" id="{8F53C173-AA25-AD47-7E9B-7DD02211CA7C}"/>
              </a:ext>
            </a:extLst>
          </p:cNvPr>
          <p:cNvSpPr txBox="1">
            <a:spLocks noChangeArrowheads="1"/>
          </p:cNvSpPr>
          <p:nvPr/>
        </p:nvSpPr>
        <p:spPr bwMode="auto">
          <a:xfrm>
            <a:off x="1627276" y="4307797"/>
            <a:ext cx="727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50000"/>
              </a:spcBef>
            </a:pPr>
            <a:r>
              <a:rPr kumimoji="1" lang="en-US" altLang="zh-CN" sz="2800" dirty="0">
                <a:latin typeface="Tahoma" pitchFamily="34" charset="0"/>
                <a:ea typeface="楷体_GB2312" pitchFamily="49" charset="-122"/>
              </a:rPr>
              <a:t>A=</a:t>
            </a:r>
            <a:endParaRPr kumimoji="1" lang="en-US" altLang="zh-CN" sz="2800" baseline="-25000" dirty="0">
              <a:latin typeface="Tahoma" pitchFamily="34" charset="0"/>
              <a:ea typeface="楷体_GB2312" pitchFamily="49" charset="-122"/>
            </a:endParaRPr>
          </a:p>
        </p:txBody>
      </p:sp>
      <p:sp>
        <p:nvSpPr>
          <p:cNvPr id="65" name="椭圆 64">
            <a:extLst>
              <a:ext uri="{FF2B5EF4-FFF2-40B4-BE49-F238E27FC236}">
                <a16:creationId xmlns:a16="http://schemas.microsoft.com/office/drawing/2014/main" id="{B99B8B1A-F5F3-9D7B-6EE1-81C27928366E}"/>
              </a:ext>
            </a:extLst>
          </p:cNvPr>
          <p:cNvSpPr/>
          <p:nvPr/>
        </p:nvSpPr>
        <p:spPr>
          <a:xfrm rot="5400000">
            <a:off x="2001505" y="4223528"/>
            <a:ext cx="2909994" cy="7287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a:extLst>
              <a:ext uri="{FF2B5EF4-FFF2-40B4-BE49-F238E27FC236}">
                <a16:creationId xmlns:a16="http://schemas.microsoft.com/office/drawing/2014/main" id="{499F8F95-670E-0B17-1BC0-0EDABD38753D}"/>
              </a:ext>
            </a:extLst>
          </p:cNvPr>
          <p:cNvSpPr/>
          <p:nvPr/>
        </p:nvSpPr>
        <p:spPr>
          <a:xfrm rot="5400000">
            <a:off x="3256460" y="4223528"/>
            <a:ext cx="2909994" cy="7287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7" name="表格 66">
            <a:extLst>
              <a:ext uri="{FF2B5EF4-FFF2-40B4-BE49-F238E27FC236}">
                <a16:creationId xmlns:a16="http://schemas.microsoft.com/office/drawing/2014/main" id="{92A97CEB-37A9-883B-8105-61AB54BDEE3C}"/>
              </a:ext>
            </a:extLst>
          </p:cNvPr>
          <p:cNvGraphicFramePr>
            <a:graphicFrameLocks noGrp="1"/>
          </p:cNvGraphicFramePr>
          <p:nvPr>
            <p:extLst>
              <p:ext uri="{D42A27DB-BD31-4B8C-83A1-F6EECF244321}">
                <p14:modId xmlns:p14="http://schemas.microsoft.com/office/powerpoint/2010/main" val="3808441279"/>
              </p:ext>
            </p:extLst>
          </p:nvPr>
        </p:nvGraphicFramePr>
        <p:xfrm>
          <a:off x="2354687" y="2767820"/>
          <a:ext cx="2781680" cy="370840"/>
        </p:xfrm>
        <a:graphic>
          <a:graphicData uri="http://schemas.openxmlformats.org/drawingml/2006/table">
            <a:tbl>
              <a:tblPr firstRow="1" bandRow="1">
                <a:tableStyleId>{2D5ABB26-0587-4C30-8999-92F81FD0307C}</a:tableStyleId>
              </a:tblPr>
              <a:tblGrid>
                <a:gridCol w="663758">
                  <a:extLst>
                    <a:ext uri="{9D8B030D-6E8A-4147-A177-3AD203B41FA5}">
                      <a16:colId xmlns:a16="http://schemas.microsoft.com/office/drawing/2014/main" val="20000"/>
                    </a:ext>
                  </a:extLst>
                </a:gridCol>
                <a:gridCol w="741129">
                  <a:extLst>
                    <a:ext uri="{9D8B030D-6E8A-4147-A177-3AD203B41FA5}">
                      <a16:colId xmlns:a16="http://schemas.microsoft.com/office/drawing/2014/main" val="20001"/>
                    </a:ext>
                  </a:extLst>
                </a:gridCol>
                <a:gridCol w="603986">
                  <a:extLst>
                    <a:ext uri="{9D8B030D-6E8A-4147-A177-3AD203B41FA5}">
                      <a16:colId xmlns:a16="http://schemas.microsoft.com/office/drawing/2014/main" val="20002"/>
                    </a:ext>
                  </a:extLst>
                </a:gridCol>
                <a:gridCol w="772807">
                  <a:extLst>
                    <a:ext uri="{9D8B030D-6E8A-4147-A177-3AD203B41FA5}">
                      <a16:colId xmlns:a16="http://schemas.microsoft.com/office/drawing/2014/main" val="20003"/>
                    </a:ext>
                  </a:extLst>
                </a:gridCol>
              </a:tblGrid>
              <a:tr h="370840">
                <a:tc>
                  <a:txBody>
                    <a:bodyPr/>
                    <a:lstStyle/>
                    <a:p>
                      <a:pPr algn="ctr"/>
                      <a:r>
                        <a:rPr lang="el-GR" altLang="zh-CN" dirty="0"/>
                        <a:t>β</a:t>
                      </a:r>
                      <a:r>
                        <a:rPr lang="en-US" altLang="zh-CN" baseline="-25000" dirty="0"/>
                        <a:t>1</a:t>
                      </a:r>
                      <a:endParaRPr lang="zh-CN" altLang="en-US"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dirty="0"/>
                        <a:t>β</a:t>
                      </a:r>
                      <a:r>
                        <a:rPr lang="en-US" altLang="zh-CN" baseline="-25000" dirty="0"/>
                        <a:t>2</a:t>
                      </a:r>
                      <a:endParaRPr lang="zh-CN" altLang="en-US" baseline="-25000" dirty="0"/>
                    </a:p>
                  </a:txBody>
                  <a:tcPr/>
                </a:tc>
                <a:tc>
                  <a:txBody>
                    <a:bodyPr/>
                    <a:lstStyle/>
                    <a:p>
                      <a:pPr algn="ctr"/>
                      <a:endParaRPr lang="zh-CN"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dirty="0"/>
                        <a:t>β</a:t>
                      </a:r>
                      <a:r>
                        <a:rPr lang="en-US" altLang="zh-CN" baseline="-25000" dirty="0"/>
                        <a:t>n</a:t>
                      </a:r>
                      <a:endParaRPr lang="zh-CN" altLang="en-US" baseline="-25000" dirty="0"/>
                    </a:p>
                  </a:txBody>
                  <a:tcPr/>
                </a:tc>
                <a:extLst>
                  <a:ext uri="{0D108BD9-81ED-4DB2-BD59-A6C34878D82A}">
                    <a16:rowId xmlns:a16="http://schemas.microsoft.com/office/drawing/2014/main" val="10000"/>
                  </a:ext>
                </a:extLst>
              </a:tr>
            </a:tbl>
          </a:graphicData>
        </a:graphic>
      </p:graphicFrame>
      <p:sp>
        <p:nvSpPr>
          <p:cNvPr id="3" name="文本框 2">
            <a:extLst>
              <a:ext uri="{FF2B5EF4-FFF2-40B4-BE49-F238E27FC236}">
                <a16:creationId xmlns:a16="http://schemas.microsoft.com/office/drawing/2014/main" id="{B2CBFC0A-5917-94D7-E9CD-48BE94FF6F90}"/>
              </a:ext>
            </a:extLst>
          </p:cNvPr>
          <p:cNvSpPr txBox="1"/>
          <p:nvPr/>
        </p:nvSpPr>
        <p:spPr>
          <a:xfrm>
            <a:off x="1179720" y="1851035"/>
            <a:ext cx="3620135" cy="461665"/>
          </a:xfrm>
          <a:prstGeom prst="rect">
            <a:avLst/>
          </a:prstGeom>
          <a:noFill/>
        </p:spPr>
        <p:txBody>
          <a:bodyPr wrap="square">
            <a:spAutoFit/>
          </a:bodyPr>
          <a:lstStyle/>
          <a:p>
            <a:r>
              <a:rPr lang="en-US" altLang="zh-CN" sz="2400" dirty="0">
                <a:latin typeface="微软雅黑" pitchFamily="34" charset="-122"/>
                <a:ea typeface="微软雅黑" pitchFamily="34" charset="-122"/>
                <a:cs typeface="经典粗黑简" pitchFamily="49" charset="-122"/>
              </a:rPr>
              <a:t>2</a:t>
            </a:r>
            <a:r>
              <a:rPr lang="zh-CN" altLang="en-US" sz="2400" dirty="0">
                <a:latin typeface="微软雅黑" pitchFamily="34" charset="-122"/>
                <a:ea typeface="微软雅黑" pitchFamily="34" charset="-122"/>
                <a:cs typeface="经典粗黑简" pitchFamily="49" charset="-122"/>
              </a:rPr>
              <a:t>、二维数组的存储结构</a:t>
            </a:r>
          </a:p>
        </p:txBody>
      </p:sp>
      <p:sp>
        <p:nvSpPr>
          <p:cNvPr id="4" name="Rectangle 3">
            <a:extLst>
              <a:ext uri="{FF2B5EF4-FFF2-40B4-BE49-F238E27FC236}">
                <a16:creationId xmlns:a16="http://schemas.microsoft.com/office/drawing/2014/main" id="{ABB1B951-97A6-4499-1204-00C5F008E38A}"/>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6.1.2 </a:t>
            </a:r>
            <a:r>
              <a:rPr lang="zh-CN" altLang="en-US" sz="2800" b="1" dirty="0">
                <a:solidFill>
                  <a:schemeClr val="bg1"/>
                </a:solidFill>
                <a:latin typeface="经典粗黑简" pitchFamily="49" charset="-122"/>
                <a:ea typeface="经典粗黑简" pitchFamily="49" charset="-122"/>
                <a:cs typeface="经典粗黑简" pitchFamily="49" charset="-122"/>
              </a:rPr>
              <a:t>数组的存储结构</a:t>
            </a:r>
          </a:p>
        </p:txBody>
      </p:sp>
      <p:sp>
        <p:nvSpPr>
          <p:cNvPr id="5" name="Rectangle 2">
            <a:extLst>
              <a:ext uri="{FF2B5EF4-FFF2-40B4-BE49-F238E27FC236}">
                <a16:creationId xmlns:a16="http://schemas.microsoft.com/office/drawing/2014/main" id="{FA2F292A-353F-68FE-0FB5-EAEF73264231}"/>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6" name="直接连接符 5">
            <a:extLst>
              <a:ext uri="{FF2B5EF4-FFF2-40B4-BE49-F238E27FC236}">
                <a16:creationId xmlns:a16="http://schemas.microsoft.com/office/drawing/2014/main" id="{9D772D46-E3C8-5039-E9C8-93D8B8D6C3A8}"/>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aphicFrame>
        <p:nvGraphicFramePr>
          <p:cNvPr id="2" name="表格 1">
            <a:extLst>
              <a:ext uri="{FF2B5EF4-FFF2-40B4-BE49-F238E27FC236}">
                <a16:creationId xmlns:a16="http://schemas.microsoft.com/office/drawing/2014/main" id="{07DFD2AC-39DB-C7EA-A144-C2454558D617}"/>
              </a:ext>
            </a:extLst>
          </p:cNvPr>
          <p:cNvGraphicFramePr>
            <a:graphicFrameLocks noGrp="1"/>
          </p:cNvGraphicFramePr>
          <p:nvPr>
            <p:extLst>
              <p:ext uri="{D42A27DB-BD31-4B8C-83A1-F6EECF244321}">
                <p14:modId xmlns:p14="http://schemas.microsoft.com/office/powerpoint/2010/main" val="4141222469"/>
              </p:ext>
            </p:extLst>
          </p:nvPr>
        </p:nvGraphicFramePr>
        <p:xfrm>
          <a:off x="7693419" y="1140322"/>
          <a:ext cx="1062785" cy="5527040"/>
        </p:xfrm>
        <a:graphic>
          <a:graphicData uri="http://schemas.openxmlformats.org/drawingml/2006/table">
            <a:tbl>
              <a:tblPr firstRow="1" bandRow="1">
                <a:tableStyleId>{5940675A-B579-460E-94D1-54222C63F5DA}</a:tableStyleId>
              </a:tblPr>
              <a:tblGrid>
                <a:gridCol w="1062785">
                  <a:extLst>
                    <a:ext uri="{9D8B030D-6E8A-4147-A177-3AD203B41FA5}">
                      <a16:colId xmlns:a16="http://schemas.microsoft.com/office/drawing/2014/main" val="20000"/>
                    </a:ext>
                  </a:extLst>
                </a:gridCol>
              </a:tblGrid>
              <a:tr h="300242">
                <a:tc>
                  <a:txBody>
                    <a:bodyPr/>
                    <a:lstStyle/>
                    <a:p>
                      <a:pPr algn="ctr"/>
                      <a:r>
                        <a:rPr lang="en-US" altLang="zh-CN" sz="180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11</a:t>
                      </a:r>
                      <a:endParaRPr lang="zh-CN" altLang="en-US" dirty="0"/>
                    </a:p>
                  </a:txBody>
                  <a:tcPr/>
                </a:tc>
                <a:extLst>
                  <a:ext uri="{0D108BD9-81ED-4DB2-BD59-A6C34878D82A}">
                    <a16:rowId xmlns:a16="http://schemas.microsoft.com/office/drawing/2014/main" val="10000"/>
                  </a:ext>
                </a:extLst>
              </a:tr>
              <a:tr h="370840">
                <a:tc>
                  <a:txBody>
                    <a:bodyPr/>
                    <a:lstStyle/>
                    <a:p>
                      <a:pPr algn="ctr"/>
                      <a:r>
                        <a:rPr lang="en-US" altLang="zh-CN" sz="1800" baseline="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21</a:t>
                      </a:r>
                      <a:endParaRPr lang="zh-CN" altLang="en-US" dirty="0"/>
                    </a:p>
                  </a:txBody>
                  <a:tcPr/>
                </a:tc>
                <a:extLst>
                  <a:ext uri="{0D108BD9-81ED-4DB2-BD59-A6C34878D82A}">
                    <a16:rowId xmlns:a16="http://schemas.microsoft.com/office/drawing/2014/main" val="10001"/>
                  </a:ext>
                </a:extLst>
              </a:tr>
              <a:tr h="256678">
                <a:tc>
                  <a:txBody>
                    <a:bodyPr/>
                    <a:lstStyle/>
                    <a:p>
                      <a:pPr algn="ctr"/>
                      <a:r>
                        <a:rPr lang="en-US" altLang="zh-CN" sz="1800" dirty="0">
                          <a:latin typeface="微软雅黑" pitchFamily="34" charset="-122"/>
                          <a:ea typeface="微软雅黑" pitchFamily="34" charset="-122"/>
                          <a:cs typeface="经典粗黑简" pitchFamily="49" charset="-122"/>
                        </a:rPr>
                        <a:t>…</a:t>
                      </a:r>
                      <a:endParaRPr lang="zh-CN" altLang="en-US" dirty="0"/>
                    </a:p>
                  </a:txBody>
                  <a:tcPr/>
                </a:tc>
                <a:extLst>
                  <a:ext uri="{0D108BD9-81ED-4DB2-BD59-A6C34878D82A}">
                    <a16:rowId xmlns:a16="http://schemas.microsoft.com/office/drawing/2014/main" val="10002"/>
                  </a:ext>
                </a:extLst>
              </a:tr>
              <a:tr h="370840">
                <a:tc>
                  <a:txBody>
                    <a:bodyPr/>
                    <a:lstStyle/>
                    <a:p>
                      <a:pPr algn="ctr"/>
                      <a:r>
                        <a:rPr lang="en-US" altLang="zh-CN" sz="1800" baseline="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m1</a:t>
                      </a:r>
                      <a:endParaRPr lang="zh-CN" altLang="en-US" dirty="0"/>
                    </a:p>
                  </a:txBody>
                  <a:tcPr/>
                </a:tc>
                <a:extLst>
                  <a:ext uri="{0D108BD9-81ED-4DB2-BD59-A6C34878D82A}">
                    <a16:rowId xmlns:a16="http://schemas.microsoft.com/office/drawing/2014/main" val="10003"/>
                  </a:ext>
                </a:extLst>
              </a:tr>
              <a:tr h="370840">
                <a:tc>
                  <a:txBody>
                    <a:bodyPr/>
                    <a:lstStyle/>
                    <a:p>
                      <a:pPr algn="ctr"/>
                      <a:r>
                        <a:rPr lang="en-US" altLang="zh-CN" sz="1800" baseline="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12</a:t>
                      </a:r>
                      <a:endParaRPr lang="zh-CN" altLang="en-US" dirty="0"/>
                    </a:p>
                  </a:txBody>
                  <a:tcPr/>
                </a:tc>
                <a:extLst>
                  <a:ext uri="{0D108BD9-81ED-4DB2-BD59-A6C34878D82A}">
                    <a16:rowId xmlns:a16="http://schemas.microsoft.com/office/drawing/2014/main" val="10004"/>
                  </a:ext>
                </a:extLst>
              </a:tr>
              <a:tr h="370840">
                <a:tc>
                  <a:txBody>
                    <a:bodyPr/>
                    <a:lstStyle/>
                    <a:p>
                      <a:pPr algn="ctr"/>
                      <a:r>
                        <a:rPr lang="en-US" altLang="zh-CN" sz="1800" baseline="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22</a:t>
                      </a:r>
                      <a:endParaRPr lang="zh-CN" altLang="en-US" dirty="0"/>
                    </a:p>
                  </a:txBody>
                  <a:tcPr/>
                </a:tc>
                <a:extLst>
                  <a:ext uri="{0D108BD9-81ED-4DB2-BD59-A6C34878D82A}">
                    <a16:rowId xmlns:a16="http://schemas.microsoft.com/office/drawing/2014/main" val="10005"/>
                  </a:ext>
                </a:extLst>
              </a:tr>
              <a:tr h="250147">
                <a:tc>
                  <a:txBody>
                    <a:bodyPr/>
                    <a:lstStyle/>
                    <a:p>
                      <a:pPr algn="ctr"/>
                      <a:r>
                        <a:rPr lang="en-US" altLang="zh-CN" sz="1800" dirty="0">
                          <a:latin typeface="微软雅黑" pitchFamily="34" charset="-122"/>
                          <a:ea typeface="微软雅黑" pitchFamily="34" charset="-122"/>
                          <a:cs typeface="经典粗黑简" pitchFamily="49" charset="-122"/>
                        </a:rPr>
                        <a:t>…</a:t>
                      </a:r>
                      <a:endParaRPr lang="zh-CN" altLang="en-US" dirty="0"/>
                    </a:p>
                  </a:txBody>
                  <a:tcPr/>
                </a:tc>
                <a:extLst>
                  <a:ext uri="{0D108BD9-81ED-4DB2-BD59-A6C34878D82A}">
                    <a16:rowId xmlns:a16="http://schemas.microsoft.com/office/drawing/2014/main" val="10006"/>
                  </a:ext>
                </a:extLst>
              </a:tr>
              <a:tr h="370840">
                <a:tc>
                  <a:txBody>
                    <a:bodyPr/>
                    <a:lstStyle/>
                    <a:p>
                      <a:pPr algn="ctr"/>
                      <a:r>
                        <a:rPr lang="en-US" altLang="zh-CN" sz="1800" kern="1200" baseline="0" dirty="0">
                          <a:solidFill>
                            <a:schemeClr val="tx1"/>
                          </a:solidFill>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m2</a:t>
                      </a:r>
                      <a:endParaRPr lang="zh-CN" altLang="en-US" dirty="0"/>
                    </a:p>
                  </a:txBody>
                  <a:tcPr/>
                </a:tc>
                <a:extLst>
                  <a:ext uri="{0D108BD9-81ED-4DB2-BD59-A6C34878D82A}">
                    <a16:rowId xmlns:a16="http://schemas.microsoft.com/office/drawing/2014/main" val="10007"/>
                  </a:ext>
                </a:extLst>
              </a:tr>
              <a:tr h="262484">
                <a:tc>
                  <a:txBody>
                    <a:bodyPr/>
                    <a:lstStyle/>
                    <a:p>
                      <a:pPr algn="ctr"/>
                      <a:r>
                        <a:rPr lang="en-US" altLang="zh-CN" sz="1800" dirty="0">
                          <a:latin typeface="微软雅黑" pitchFamily="34" charset="-122"/>
                          <a:ea typeface="微软雅黑" pitchFamily="34" charset="-122"/>
                          <a:cs typeface="经典粗黑简" pitchFamily="49" charset="-122"/>
                        </a:rPr>
                        <a:t>……</a:t>
                      </a:r>
                      <a:endParaRPr lang="zh-CN" altLang="en-US" dirty="0"/>
                    </a:p>
                  </a:txBody>
                  <a:tcPr/>
                </a:tc>
                <a:extLst>
                  <a:ext uri="{0D108BD9-81ED-4DB2-BD59-A6C34878D82A}">
                    <a16:rowId xmlns:a16="http://schemas.microsoft.com/office/drawing/2014/main" val="1000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aseline="0" dirty="0" err="1">
                          <a:latin typeface="微软雅黑" pitchFamily="34" charset="-122"/>
                          <a:ea typeface="微软雅黑" pitchFamily="34" charset="-122"/>
                          <a:cs typeface="经典粗黑简" pitchFamily="49" charset="-122"/>
                        </a:rPr>
                        <a:t>a</a:t>
                      </a:r>
                      <a:r>
                        <a:rPr lang="en-US" altLang="zh-CN" sz="1800" baseline="-25000" dirty="0" err="1">
                          <a:latin typeface="微软雅黑" pitchFamily="34" charset="-122"/>
                          <a:ea typeface="微软雅黑" pitchFamily="34" charset="-122"/>
                          <a:cs typeface="经典粗黑简" pitchFamily="49" charset="-122"/>
                        </a:rPr>
                        <a:t>ij</a:t>
                      </a:r>
                      <a:endParaRPr lang="zh-CN" altLang="en-US" dirty="0"/>
                    </a:p>
                  </a:txBody>
                  <a:tcPr/>
                </a:tc>
                <a:extLst>
                  <a:ext uri="{0D108BD9-81ED-4DB2-BD59-A6C34878D82A}">
                    <a16:rowId xmlns:a16="http://schemas.microsoft.com/office/drawing/2014/main" val="10009"/>
                  </a:ext>
                </a:extLst>
              </a:tr>
              <a:tr h="22256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微软雅黑" pitchFamily="34" charset="-122"/>
                          <a:ea typeface="微软雅黑" pitchFamily="34" charset="-122"/>
                          <a:cs typeface="经典粗黑简" pitchFamily="49" charset="-122"/>
                        </a:rPr>
                        <a:t>……</a:t>
                      </a:r>
                      <a:endParaRPr lang="zh-CN" altLang="en-US" dirty="0"/>
                    </a:p>
                  </a:txBody>
                  <a:tcPr/>
                </a:tc>
                <a:extLst>
                  <a:ext uri="{0D108BD9-81ED-4DB2-BD59-A6C34878D82A}">
                    <a16:rowId xmlns:a16="http://schemas.microsoft.com/office/drawing/2014/main" val="10010"/>
                  </a:ext>
                </a:extLst>
              </a:tr>
              <a:tr h="370840">
                <a:tc>
                  <a:txBody>
                    <a:bodyPr/>
                    <a:lstStyle/>
                    <a:p>
                      <a:pPr algn="ctr"/>
                      <a:r>
                        <a:rPr lang="en-US" altLang="zh-CN" sz="1800" baseline="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1n</a:t>
                      </a:r>
                      <a:endParaRPr lang="zh-CN" altLang="en-US" dirty="0"/>
                    </a:p>
                  </a:txBody>
                  <a:tcPr/>
                </a:tc>
                <a:extLst>
                  <a:ext uri="{0D108BD9-81ED-4DB2-BD59-A6C34878D82A}">
                    <a16:rowId xmlns:a16="http://schemas.microsoft.com/office/drawing/2014/main" val="10011"/>
                  </a:ext>
                </a:extLst>
              </a:tr>
              <a:tr h="370840">
                <a:tc>
                  <a:txBody>
                    <a:bodyPr/>
                    <a:lstStyle/>
                    <a:p>
                      <a:pPr algn="ctr"/>
                      <a:r>
                        <a:rPr lang="en-US" altLang="zh-CN" sz="1800" baseline="0" dirty="0">
                          <a:latin typeface="微软雅黑" pitchFamily="34" charset="-122"/>
                          <a:ea typeface="微软雅黑" pitchFamily="34" charset="-122"/>
                          <a:cs typeface="经典粗黑简" pitchFamily="49" charset="-122"/>
                        </a:rPr>
                        <a:t>a</a:t>
                      </a:r>
                      <a:r>
                        <a:rPr lang="en-US" altLang="zh-CN" sz="1800" baseline="-25000" dirty="0">
                          <a:latin typeface="微软雅黑" pitchFamily="34" charset="-122"/>
                          <a:ea typeface="微软雅黑" pitchFamily="34" charset="-122"/>
                          <a:cs typeface="经典粗黑简" pitchFamily="49" charset="-122"/>
                        </a:rPr>
                        <a:t>2n</a:t>
                      </a:r>
                      <a:endParaRPr lang="zh-CN" altLang="en-US" dirty="0"/>
                    </a:p>
                  </a:txBody>
                  <a:tcPr/>
                </a:tc>
                <a:extLst>
                  <a:ext uri="{0D108BD9-81ED-4DB2-BD59-A6C34878D82A}">
                    <a16:rowId xmlns:a16="http://schemas.microsoft.com/office/drawing/2014/main" val="10012"/>
                  </a:ext>
                </a:extLst>
              </a:tr>
              <a:tr h="20370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微软雅黑" pitchFamily="34" charset="-122"/>
                          <a:ea typeface="微软雅黑" pitchFamily="34" charset="-122"/>
                          <a:cs typeface="经典粗黑简" pitchFamily="49" charset="-122"/>
                        </a:rPr>
                        <a:t>…</a:t>
                      </a:r>
                      <a:endParaRPr lang="zh-CN" altLang="en-US" dirty="0"/>
                    </a:p>
                  </a:txBody>
                  <a:tcPr/>
                </a:tc>
                <a:extLst>
                  <a:ext uri="{0D108BD9-81ED-4DB2-BD59-A6C34878D82A}">
                    <a16:rowId xmlns:a16="http://schemas.microsoft.com/office/drawing/2014/main" val="10013"/>
                  </a:ext>
                </a:extLst>
              </a:tr>
              <a:tr h="29972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err="1">
                          <a:latin typeface="微软雅黑" pitchFamily="34" charset="-122"/>
                          <a:ea typeface="微软雅黑" pitchFamily="34" charset="-122"/>
                          <a:cs typeface="经典粗黑简" pitchFamily="49" charset="-122"/>
                        </a:rPr>
                        <a:t>a</a:t>
                      </a:r>
                      <a:r>
                        <a:rPr lang="en-US" altLang="zh-CN" sz="1800" baseline="-25000" dirty="0" err="1">
                          <a:latin typeface="微软雅黑" pitchFamily="34" charset="-122"/>
                          <a:ea typeface="微软雅黑" pitchFamily="34" charset="-122"/>
                          <a:cs typeface="经典粗黑简" pitchFamily="49" charset="-122"/>
                        </a:rPr>
                        <a:t>mn</a:t>
                      </a:r>
                      <a:endParaRPr lang="zh-CN" altLang="en-US" sz="1800" baseline="-25000" dirty="0">
                        <a:latin typeface="微软雅黑" pitchFamily="34" charset="-122"/>
                        <a:ea typeface="微软雅黑" pitchFamily="34" charset="-122"/>
                        <a:cs typeface="经典粗黑简" pitchFamily="49" charset="-122"/>
                      </a:endParaRPr>
                    </a:p>
                  </a:txBody>
                  <a:tcPr/>
                </a:tc>
                <a:extLst>
                  <a:ext uri="{0D108BD9-81ED-4DB2-BD59-A6C34878D82A}">
                    <a16:rowId xmlns:a16="http://schemas.microsoft.com/office/drawing/2014/main" val="10014"/>
                  </a:ext>
                </a:extLst>
              </a:tr>
            </a:tbl>
          </a:graphicData>
        </a:graphic>
      </p:graphicFrame>
      <p:graphicFrame>
        <p:nvGraphicFramePr>
          <p:cNvPr id="7" name="表格 6">
            <a:extLst>
              <a:ext uri="{FF2B5EF4-FFF2-40B4-BE49-F238E27FC236}">
                <a16:creationId xmlns:a16="http://schemas.microsoft.com/office/drawing/2014/main" id="{01745F93-2A34-55A3-7555-F3738AE0CA90}"/>
              </a:ext>
            </a:extLst>
          </p:cNvPr>
          <p:cNvGraphicFramePr>
            <a:graphicFrameLocks noGrp="1"/>
          </p:cNvGraphicFramePr>
          <p:nvPr>
            <p:extLst>
              <p:ext uri="{D42A27DB-BD31-4B8C-83A1-F6EECF244321}">
                <p14:modId xmlns:p14="http://schemas.microsoft.com/office/powerpoint/2010/main" val="3675723057"/>
              </p:ext>
            </p:extLst>
          </p:nvPr>
        </p:nvGraphicFramePr>
        <p:xfrm>
          <a:off x="8774060" y="1144742"/>
          <a:ext cx="624840" cy="5543440"/>
        </p:xfrm>
        <a:graphic>
          <a:graphicData uri="http://schemas.openxmlformats.org/drawingml/2006/table">
            <a:tbl>
              <a:tblPr firstRow="1" bandRow="1">
                <a:tableStyleId>{2D5ABB26-0587-4C30-8999-92F81FD0307C}</a:tableStyleId>
              </a:tblPr>
              <a:tblGrid>
                <a:gridCol w="624840">
                  <a:extLst>
                    <a:ext uri="{9D8B030D-6E8A-4147-A177-3AD203B41FA5}">
                      <a16:colId xmlns:a16="http://schemas.microsoft.com/office/drawing/2014/main" val="20000"/>
                    </a:ext>
                  </a:extLst>
                </a:gridCol>
              </a:tblGrid>
              <a:tr h="1510041">
                <a:tc>
                  <a:txBody>
                    <a:bodyPr/>
                    <a:lstStyle/>
                    <a:p>
                      <a:pPr algn="ctr"/>
                      <a:endParaRPr lang="en-US" altLang="zh-CN" sz="1800" dirty="0"/>
                    </a:p>
                    <a:p>
                      <a:pPr algn="ctr"/>
                      <a:endParaRPr lang="en-US" altLang="zh-CN" sz="1800" dirty="0"/>
                    </a:p>
                    <a:p>
                      <a:pPr algn="ctr"/>
                      <a:r>
                        <a:rPr lang="en-US" altLang="zh-CN" sz="1800" dirty="0"/>
                        <a:t>   </a:t>
                      </a:r>
                      <a:r>
                        <a:rPr lang="el-GR" altLang="zh-CN" sz="1800" dirty="0"/>
                        <a:t>β</a:t>
                      </a:r>
                      <a:r>
                        <a:rPr lang="en-US" altLang="zh-CN" sz="1800" baseline="-25000" dirty="0"/>
                        <a:t>1</a:t>
                      </a:r>
                      <a:endParaRPr lang="zh-CN" altLang="en-US" dirty="0"/>
                    </a:p>
                  </a:txBody>
                  <a:tcPr/>
                </a:tc>
                <a:extLst>
                  <a:ext uri="{0D108BD9-81ED-4DB2-BD59-A6C34878D82A}">
                    <a16:rowId xmlns:a16="http://schemas.microsoft.com/office/drawing/2014/main" val="10000"/>
                  </a:ext>
                </a:extLst>
              </a:tr>
              <a:tr h="1291485">
                <a:tc>
                  <a:txBody>
                    <a:bodyPr/>
                    <a:lstStyle/>
                    <a:p>
                      <a:pPr algn="ctr"/>
                      <a:endParaRPr lang="en-US" altLang="zh-CN" sz="1800" dirty="0"/>
                    </a:p>
                    <a:p>
                      <a:pPr algn="ctr"/>
                      <a:endParaRPr lang="en-US" altLang="zh-CN" sz="1800" dirty="0"/>
                    </a:p>
                    <a:p>
                      <a:pPr algn="ctr"/>
                      <a:r>
                        <a:rPr lang="en-US" altLang="zh-CN" sz="1800" dirty="0"/>
                        <a:t>  </a:t>
                      </a:r>
                      <a:r>
                        <a:rPr lang="el-GR" altLang="zh-CN" sz="1800" dirty="0"/>
                        <a:t>β</a:t>
                      </a:r>
                      <a:r>
                        <a:rPr lang="en-US" altLang="zh-CN" sz="1800" baseline="-25000" dirty="0"/>
                        <a:t>2</a:t>
                      </a:r>
                      <a:endParaRPr lang="zh-CN" altLang="en-US" dirty="0"/>
                    </a:p>
                  </a:txBody>
                  <a:tcPr/>
                </a:tc>
                <a:extLst>
                  <a:ext uri="{0D108BD9-81ED-4DB2-BD59-A6C34878D82A}">
                    <a16:rowId xmlns:a16="http://schemas.microsoft.com/office/drawing/2014/main" val="10001"/>
                  </a:ext>
                </a:extLst>
              </a:tr>
              <a:tr h="1808074">
                <a:tc>
                  <a:txBody>
                    <a:bodyPr/>
                    <a:lstStyle/>
                    <a:p>
                      <a:pPr algn="ctr"/>
                      <a:endParaRPr lang="en-US" altLang="zh-CN" sz="1800" dirty="0"/>
                    </a:p>
                    <a:p>
                      <a:pPr algn="ctr"/>
                      <a:r>
                        <a:rPr lang="en-US" altLang="zh-CN" sz="1800" dirty="0"/>
                        <a:t>…</a:t>
                      </a:r>
                      <a:endParaRPr lang="zh-CN" altLang="en-US" dirty="0"/>
                    </a:p>
                  </a:txBody>
                  <a:tcPr/>
                </a:tc>
                <a:extLst>
                  <a:ext uri="{0D108BD9-81ED-4DB2-BD59-A6C34878D82A}">
                    <a16:rowId xmlns:a16="http://schemas.microsoft.com/office/drawing/2014/main" val="10002"/>
                  </a:ext>
                </a:extLst>
              </a:tr>
              <a:tr h="933840">
                <a:tc>
                  <a:txBody>
                    <a:bodyPr/>
                    <a:lstStyle/>
                    <a:p>
                      <a:pPr algn="ctr"/>
                      <a:r>
                        <a:rPr lang="el-GR" altLang="zh-CN" sz="1800" dirty="0"/>
                        <a:t>β</a:t>
                      </a:r>
                      <a:r>
                        <a:rPr lang="en-US" altLang="zh-CN" sz="1800" dirty="0"/>
                        <a:t>n</a:t>
                      </a:r>
                      <a:endParaRPr lang="zh-CN" altLang="en-US" dirty="0"/>
                    </a:p>
                  </a:txBody>
                  <a:tcPr/>
                </a:tc>
                <a:extLst>
                  <a:ext uri="{0D108BD9-81ED-4DB2-BD59-A6C34878D82A}">
                    <a16:rowId xmlns:a16="http://schemas.microsoft.com/office/drawing/2014/main" val="10003"/>
                  </a:ext>
                </a:extLst>
              </a:tr>
            </a:tbl>
          </a:graphicData>
        </a:graphic>
      </p:graphicFrame>
      <p:sp>
        <p:nvSpPr>
          <p:cNvPr id="8" name="右大括号 7">
            <a:extLst>
              <a:ext uri="{FF2B5EF4-FFF2-40B4-BE49-F238E27FC236}">
                <a16:creationId xmlns:a16="http://schemas.microsoft.com/office/drawing/2014/main" id="{55CEC3E6-B5D2-F128-D35C-BA2E9A560DFE}"/>
              </a:ext>
            </a:extLst>
          </p:cNvPr>
          <p:cNvSpPr/>
          <p:nvPr/>
        </p:nvSpPr>
        <p:spPr>
          <a:xfrm>
            <a:off x="8791039" y="1158241"/>
            <a:ext cx="104502" cy="1419497"/>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右大括号 8">
            <a:extLst>
              <a:ext uri="{FF2B5EF4-FFF2-40B4-BE49-F238E27FC236}">
                <a16:creationId xmlns:a16="http://schemas.microsoft.com/office/drawing/2014/main" id="{63AB3BCB-AECC-3BEC-B6CD-518D27A3093F}"/>
              </a:ext>
            </a:extLst>
          </p:cNvPr>
          <p:cNvSpPr/>
          <p:nvPr/>
        </p:nvSpPr>
        <p:spPr>
          <a:xfrm>
            <a:off x="8791039" y="2647407"/>
            <a:ext cx="104502" cy="1419497"/>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右大括号 9">
            <a:extLst>
              <a:ext uri="{FF2B5EF4-FFF2-40B4-BE49-F238E27FC236}">
                <a16:creationId xmlns:a16="http://schemas.microsoft.com/office/drawing/2014/main" id="{E38B58EE-73D5-3310-29E5-25FA31ED0401}"/>
              </a:ext>
            </a:extLst>
          </p:cNvPr>
          <p:cNvSpPr/>
          <p:nvPr/>
        </p:nvSpPr>
        <p:spPr>
          <a:xfrm>
            <a:off x="8791039" y="5212729"/>
            <a:ext cx="104502" cy="1419497"/>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 Box 12">
            <a:extLst>
              <a:ext uri="{FF2B5EF4-FFF2-40B4-BE49-F238E27FC236}">
                <a16:creationId xmlns:a16="http://schemas.microsoft.com/office/drawing/2014/main" id="{8F88A6C4-2D73-31AD-E32F-1205EB773483}"/>
              </a:ext>
            </a:extLst>
          </p:cNvPr>
          <p:cNvSpPr txBox="1">
            <a:spLocks noChangeArrowheads="1"/>
          </p:cNvSpPr>
          <p:nvPr/>
        </p:nvSpPr>
        <p:spPr bwMode="auto">
          <a:xfrm>
            <a:off x="6456041" y="1128554"/>
            <a:ext cx="12028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000" dirty="0">
                <a:latin typeface="Tahoma" pitchFamily="34" charset="0"/>
                <a:ea typeface="楷体_GB2312" pitchFamily="49" charset="-122"/>
              </a:rPr>
              <a:t>LOC(</a:t>
            </a:r>
            <a:r>
              <a:rPr lang="en-US" altLang="zh-CN" sz="2000" dirty="0">
                <a:latin typeface="微软雅黑" pitchFamily="34" charset="-122"/>
                <a:ea typeface="微软雅黑" pitchFamily="34" charset="-122"/>
                <a:cs typeface="经典粗黑简" pitchFamily="49" charset="-122"/>
              </a:rPr>
              <a:t>a</a:t>
            </a:r>
            <a:r>
              <a:rPr lang="en-US" altLang="zh-CN" sz="2000" baseline="-25000" dirty="0">
                <a:latin typeface="微软雅黑" pitchFamily="34" charset="-122"/>
                <a:ea typeface="微软雅黑" pitchFamily="34" charset="-122"/>
                <a:cs typeface="经典粗黑简" pitchFamily="49" charset="-122"/>
              </a:rPr>
              <a:t>11</a:t>
            </a:r>
            <a:r>
              <a:rPr kumimoji="1" lang="en-US" altLang="zh-CN" sz="2000" dirty="0">
                <a:latin typeface="Tahoma" pitchFamily="34" charset="0"/>
                <a:ea typeface="楷体_GB2312" pitchFamily="49" charset="-122"/>
              </a:rPr>
              <a:t>)</a:t>
            </a:r>
            <a:endParaRPr kumimoji="1" lang="en-US" altLang="zh-CN" sz="2000" baseline="-25000" dirty="0">
              <a:latin typeface="Tahoma" pitchFamily="34" charset="0"/>
              <a:ea typeface="楷体_GB2312" pitchFamily="49" charset="-122"/>
            </a:endParaRPr>
          </a:p>
        </p:txBody>
      </p:sp>
      <p:sp>
        <p:nvSpPr>
          <p:cNvPr id="12" name="右大括号 11">
            <a:extLst>
              <a:ext uri="{FF2B5EF4-FFF2-40B4-BE49-F238E27FC236}">
                <a16:creationId xmlns:a16="http://schemas.microsoft.com/office/drawing/2014/main" id="{4944CEE9-4F91-9A96-4DCB-7524154B88FB}"/>
              </a:ext>
            </a:extLst>
          </p:cNvPr>
          <p:cNvSpPr/>
          <p:nvPr/>
        </p:nvSpPr>
        <p:spPr>
          <a:xfrm rot="10800000">
            <a:off x="7575356" y="1867989"/>
            <a:ext cx="63275" cy="405617"/>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Text Box 12">
            <a:extLst>
              <a:ext uri="{FF2B5EF4-FFF2-40B4-BE49-F238E27FC236}">
                <a16:creationId xmlns:a16="http://schemas.microsoft.com/office/drawing/2014/main" id="{F2B14BA9-1216-2DA9-FB11-ADAEECA38532}"/>
              </a:ext>
            </a:extLst>
          </p:cNvPr>
          <p:cNvSpPr txBox="1">
            <a:spLocks noChangeArrowheads="1"/>
          </p:cNvSpPr>
          <p:nvPr/>
        </p:nvSpPr>
        <p:spPr bwMode="auto">
          <a:xfrm>
            <a:off x="7162536" y="1867988"/>
            <a:ext cx="2612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50000"/>
              </a:spcBef>
            </a:pPr>
            <a:r>
              <a:rPr kumimoji="1" lang="en-US" altLang="zh-CN" sz="2000" dirty="0">
                <a:latin typeface="Tahoma" pitchFamily="34" charset="0"/>
                <a:ea typeface="楷体_GB2312" pitchFamily="49" charset="-122"/>
              </a:rPr>
              <a:t>d</a:t>
            </a:r>
            <a:endParaRPr kumimoji="1" lang="en-US" altLang="zh-CN" sz="2000" baseline="-25000" dirty="0">
              <a:latin typeface="Tahoma" pitchFamily="34" charset="0"/>
              <a:ea typeface="楷体_GB2312" pitchFamily="49" charset="-122"/>
            </a:endParaRPr>
          </a:p>
        </p:txBody>
      </p:sp>
      <p:sp>
        <p:nvSpPr>
          <p:cNvPr id="14" name="Text Box 12">
            <a:extLst>
              <a:ext uri="{FF2B5EF4-FFF2-40B4-BE49-F238E27FC236}">
                <a16:creationId xmlns:a16="http://schemas.microsoft.com/office/drawing/2014/main" id="{C66E534E-AC48-6808-67A5-76E5D3EA8BD5}"/>
              </a:ext>
            </a:extLst>
          </p:cNvPr>
          <p:cNvSpPr txBox="1">
            <a:spLocks noChangeArrowheads="1"/>
          </p:cNvSpPr>
          <p:nvPr/>
        </p:nvSpPr>
        <p:spPr bwMode="auto">
          <a:xfrm>
            <a:off x="6561094" y="4480039"/>
            <a:ext cx="12028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000" dirty="0">
                <a:latin typeface="Tahoma" pitchFamily="34" charset="0"/>
                <a:ea typeface="楷体_GB2312" pitchFamily="49" charset="-122"/>
              </a:rPr>
              <a:t>LOC(</a:t>
            </a:r>
            <a:r>
              <a:rPr lang="en-US" altLang="zh-CN" sz="2000" dirty="0" err="1">
                <a:latin typeface="微软雅黑" pitchFamily="34" charset="-122"/>
                <a:ea typeface="微软雅黑" pitchFamily="34" charset="-122"/>
                <a:cs typeface="经典粗黑简" pitchFamily="49" charset="-122"/>
              </a:rPr>
              <a:t>a</a:t>
            </a:r>
            <a:r>
              <a:rPr lang="en-US" altLang="zh-CN" sz="2000" baseline="-25000" dirty="0" err="1">
                <a:latin typeface="微软雅黑" pitchFamily="34" charset="-122"/>
                <a:ea typeface="微软雅黑" pitchFamily="34" charset="-122"/>
                <a:cs typeface="经典粗黑简" pitchFamily="49" charset="-122"/>
              </a:rPr>
              <a:t>ij</a:t>
            </a:r>
            <a:r>
              <a:rPr kumimoji="1" lang="en-US" altLang="zh-CN" sz="2000" dirty="0">
                <a:latin typeface="Tahoma" pitchFamily="34" charset="0"/>
                <a:ea typeface="楷体_GB2312" pitchFamily="49" charset="-122"/>
              </a:rPr>
              <a:t>)</a:t>
            </a:r>
            <a:endParaRPr kumimoji="1" lang="en-US" altLang="zh-CN" sz="2000" baseline="-25000" dirty="0">
              <a:latin typeface="Tahoma" pitchFamily="34" charset="0"/>
              <a:ea typeface="楷体_GB2312" pitchFamily="49" charset="-122"/>
            </a:endParaRPr>
          </a:p>
        </p:txBody>
      </p:sp>
      <p:sp>
        <p:nvSpPr>
          <p:cNvPr id="15" name="Text Box 13">
            <a:extLst>
              <a:ext uri="{FF2B5EF4-FFF2-40B4-BE49-F238E27FC236}">
                <a16:creationId xmlns:a16="http://schemas.microsoft.com/office/drawing/2014/main" id="{DFFF691A-D05A-7D83-4D97-ADC872234F8A}"/>
              </a:ext>
            </a:extLst>
          </p:cNvPr>
          <p:cNvSpPr txBox="1">
            <a:spLocks noChangeArrowheads="1"/>
          </p:cNvSpPr>
          <p:nvPr/>
        </p:nvSpPr>
        <p:spPr bwMode="auto">
          <a:xfrm>
            <a:off x="1728794" y="6140047"/>
            <a:ext cx="5539576" cy="445006"/>
          </a:xfrm>
          <a:prstGeom prst="rect">
            <a:avLst/>
          </a:prstGeom>
          <a:noFill/>
          <a:ln>
            <a:noFill/>
          </a:ln>
        </p:spPr>
        <p:txBody>
          <a:bodyPr/>
          <a:lstStyle>
            <a:lvl1pPr marL="457200" indent="-4572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marL="0" indent="0" eaLnBrk="1" hangingPunct="1">
              <a:spcBef>
                <a:spcPct val="20000"/>
              </a:spcBef>
              <a:buClr>
                <a:schemeClr val="folHlink"/>
              </a:buClr>
              <a:buSzPct val="80000"/>
            </a:pPr>
            <a:r>
              <a:rPr lang="en-US" altLang="zh-CN" sz="2400" dirty="0">
                <a:latin typeface="微软雅黑" pitchFamily="34" charset="-122"/>
                <a:ea typeface="微软雅黑" pitchFamily="34" charset="-122"/>
                <a:cs typeface="经典粗黑简" pitchFamily="49" charset="-122"/>
              </a:rPr>
              <a:t>LOC(</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solidFill>
                  <a:srgbClr val="FF0000"/>
                </a:solidFill>
                <a:latin typeface="微软雅黑" pitchFamily="34" charset="-122"/>
                <a:ea typeface="微软雅黑" pitchFamily="34" charset="-122"/>
                <a:cs typeface="经典粗黑简" pitchFamily="49" charset="-122"/>
              </a:rPr>
              <a:t>ij</a:t>
            </a:r>
            <a:r>
              <a:rPr lang="en-US" altLang="zh-CN" sz="2400" dirty="0">
                <a:latin typeface="微软雅黑" pitchFamily="34" charset="-122"/>
                <a:ea typeface="微软雅黑" pitchFamily="34" charset="-122"/>
                <a:cs typeface="经典粗黑简" pitchFamily="49" charset="-122"/>
              </a:rPr>
              <a:t>)=LOC(a</a:t>
            </a:r>
            <a:r>
              <a:rPr lang="en-US" altLang="zh-CN" sz="2400" baseline="-25000" dirty="0">
                <a:latin typeface="微软雅黑" pitchFamily="34" charset="-122"/>
                <a:ea typeface="微软雅黑" pitchFamily="34" charset="-122"/>
                <a:cs typeface="经典粗黑简" pitchFamily="49" charset="-122"/>
              </a:rPr>
              <a:t>11</a:t>
            </a:r>
            <a:r>
              <a:rPr lang="en-US" altLang="zh-CN" sz="2400" dirty="0">
                <a:latin typeface="微软雅黑" pitchFamily="34" charset="-122"/>
                <a:ea typeface="微软雅黑" pitchFamily="34" charset="-122"/>
                <a:cs typeface="经典粗黑简" pitchFamily="49" charset="-122"/>
              </a:rPr>
              <a:t>)+[(</a:t>
            </a:r>
            <a:r>
              <a:rPr lang="en-US" altLang="zh-CN" sz="2400" dirty="0">
                <a:solidFill>
                  <a:srgbClr val="FF0000"/>
                </a:solidFill>
                <a:latin typeface="微软雅黑" pitchFamily="34" charset="-122"/>
                <a:ea typeface="微软雅黑" pitchFamily="34" charset="-122"/>
                <a:cs typeface="经典粗黑简" pitchFamily="49" charset="-122"/>
              </a:rPr>
              <a:t>j</a:t>
            </a:r>
            <a:r>
              <a:rPr lang="en-US" altLang="zh-CN" sz="2400" dirty="0">
                <a:latin typeface="微软雅黑" pitchFamily="34" charset="-122"/>
                <a:ea typeface="微软雅黑" pitchFamily="34" charset="-122"/>
                <a:cs typeface="经典粗黑简" pitchFamily="49" charset="-122"/>
              </a:rPr>
              <a:t>-1)*m+(</a:t>
            </a:r>
            <a:r>
              <a:rPr lang="en-US" altLang="zh-CN" sz="2400" dirty="0">
                <a:solidFill>
                  <a:srgbClr val="FF0000"/>
                </a:solidFill>
                <a:latin typeface="微软雅黑" pitchFamily="34" charset="-122"/>
                <a:ea typeface="微软雅黑" pitchFamily="34" charset="-122"/>
                <a:cs typeface="经典粗黑简" pitchFamily="49" charset="-122"/>
              </a:rPr>
              <a:t>i</a:t>
            </a:r>
            <a:r>
              <a:rPr lang="en-US" altLang="zh-CN" sz="2400" dirty="0">
                <a:latin typeface="微软雅黑" pitchFamily="34" charset="-122"/>
                <a:ea typeface="微软雅黑" pitchFamily="34" charset="-122"/>
                <a:cs typeface="经典粗黑简" pitchFamily="49" charset="-122"/>
              </a:rPr>
              <a:t>-1)]*d</a:t>
            </a:r>
          </a:p>
        </p:txBody>
      </p:sp>
    </p:spTree>
    <p:extLst>
      <p:ext uri="{BB962C8B-B14F-4D97-AF65-F5344CB8AC3E}">
        <p14:creationId xmlns:p14="http://schemas.microsoft.com/office/powerpoint/2010/main" val="78618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62" grpId="0"/>
      <p:bldP spid="65" grpId="0" animBg="1"/>
      <p:bldP spid="66" grpId="0" animBg="1"/>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3042002" y="3314425"/>
            <a:ext cx="5290231"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列优先顺序或以列为主序存储方式：</a:t>
            </a:r>
          </a:p>
        </p:txBody>
      </p:sp>
      <p:sp>
        <p:nvSpPr>
          <p:cNvPr id="30" name="矩形 29"/>
          <p:cNvSpPr/>
          <p:nvPr/>
        </p:nvSpPr>
        <p:spPr>
          <a:xfrm>
            <a:off x="3042002" y="2272567"/>
            <a:ext cx="5109091"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行优先顺序或以行为主序存储方式：</a:t>
            </a:r>
          </a:p>
        </p:txBody>
      </p:sp>
      <p:sp>
        <p:nvSpPr>
          <p:cNvPr id="31" name="矩形 30"/>
          <p:cNvSpPr/>
          <p:nvPr/>
        </p:nvSpPr>
        <p:spPr>
          <a:xfrm>
            <a:off x="3529735" y="5063382"/>
            <a:ext cx="6123438" cy="523220"/>
          </a:xfrm>
          <a:prstGeom prst="rect">
            <a:avLst/>
          </a:prstGeom>
        </p:spPr>
        <p:txBody>
          <a:bodyPr wrap="square">
            <a:spAutoFit/>
          </a:bodyPr>
          <a:lstStyle/>
          <a:p>
            <a:r>
              <a:rPr lang="zh-CN" altLang="en-US" sz="2800" dirty="0">
                <a:latin typeface="微软雅黑" pitchFamily="34" charset="-122"/>
                <a:ea typeface="微软雅黑" pitchFamily="34" charset="-122"/>
                <a:cs typeface="经典粗黑简" pitchFamily="49" charset="-122"/>
              </a:rPr>
              <a:t>顺序存储的矩阵是一个</a:t>
            </a:r>
            <a:r>
              <a:rPr lang="zh-CN" altLang="en-US" sz="2800" dirty="0">
                <a:solidFill>
                  <a:srgbClr val="FF0000"/>
                </a:solidFill>
                <a:latin typeface="微软雅黑" pitchFamily="34" charset="-122"/>
                <a:ea typeface="微软雅黑" pitchFamily="34" charset="-122"/>
                <a:cs typeface="经典粗黑简" pitchFamily="49" charset="-122"/>
              </a:rPr>
              <a:t>随机存取</a:t>
            </a:r>
            <a:r>
              <a:rPr lang="zh-CN" altLang="en-US" sz="2800" dirty="0">
                <a:latin typeface="微软雅黑" pitchFamily="34" charset="-122"/>
                <a:ea typeface="微软雅黑" pitchFamily="34" charset="-122"/>
                <a:cs typeface="经典粗黑简" pitchFamily="49" charset="-122"/>
              </a:rPr>
              <a:t>结构。</a:t>
            </a:r>
          </a:p>
        </p:txBody>
      </p:sp>
      <p:sp>
        <p:nvSpPr>
          <p:cNvPr id="32" name="矩形 31"/>
          <p:cNvSpPr/>
          <p:nvPr/>
        </p:nvSpPr>
        <p:spPr>
          <a:xfrm>
            <a:off x="3042001" y="4479668"/>
            <a:ext cx="3262432"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矩阵顺序存储的特点：</a:t>
            </a:r>
          </a:p>
        </p:txBody>
      </p:sp>
      <p:sp>
        <p:nvSpPr>
          <p:cNvPr id="20" name="Text Box 13"/>
          <p:cNvSpPr txBox="1">
            <a:spLocks noChangeArrowheads="1"/>
          </p:cNvSpPr>
          <p:nvPr/>
        </p:nvSpPr>
        <p:spPr bwMode="auto">
          <a:xfrm>
            <a:off x="3529736" y="3844400"/>
            <a:ext cx="5590601" cy="445006"/>
          </a:xfrm>
          <a:prstGeom prst="rect">
            <a:avLst/>
          </a:prstGeom>
          <a:noFill/>
          <a:ln>
            <a:noFill/>
          </a:ln>
        </p:spPr>
        <p:txBody>
          <a:bodyPr/>
          <a:lstStyle>
            <a:lvl1pPr marL="457200" indent="-4572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marL="0" indent="0" eaLnBrk="1" hangingPunct="1">
              <a:spcBef>
                <a:spcPct val="20000"/>
              </a:spcBef>
              <a:buClr>
                <a:schemeClr val="folHlink"/>
              </a:buClr>
              <a:buSzPct val="80000"/>
            </a:pPr>
            <a:r>
              <a:rPr lang="en-US" altLang="zh-CN" sz="2400" dirty="0">
                <a:latin typeface="微软雅黑" pitchFamily="34" charset="-122"/>
                <a:ea typeface="微软雅黑" pitchFamily="34" charset="-122"/>
                <a:cs typeface="经典粗黑简" pitchFamily="49" charset="-122"/>
              </a:rPr>
              <a:t>LOC(</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solidFill>
                  <a:srgbClr val="FF0000"/>
                </a:solidFill>
                <a:latin typeface="微软雅黑" pitchFamily="34" charset="-122"/>
                <a:ea typeface="微软雅黑" pitchFamily="34" charset="-122"/>
                <a:cs typeface="经典粗黑简" pitchFamily="49" charset="-122"/>
              </a:rPr>
              <a:t>ij</a:t>
            </a:r>
            <a:r>
              <a:rPr lang="en-US" altLang="zh-CN" sz="2400" dirty="0">
                <a:latin typeface="微软雅黑" pitchFamily="34" charset="-122"/>
                <a:ea typeface="微软雅黑" pitchFamily="34" charset="-122"/>
                <a:cs typeface="经典粗黑简" pitchFamily="49" charset="-122"/>
              </a:rPr>
              <a:t>)=LOC(a</a:t>
            </a:r>
            <a:r>
              <a:rPr lang="en-US" altLang="zh-CN" sz="2400" baseline="-25000" dirty="0">
                <a:latin typeface="微软雅黑" pitchFamily="34" charset="-122"/>
                <a:ea typeface="微软雅黑" pitchFamily="34" charset="-122"/>
                <a:cs typeface="经典粗黑简" pitchFamily="49" charset="-122"/>
              </a:rPr>
              <a:t>11</a:t>
            </a:r>
            <a:r>
              <a:rPr lang="en-US" altLang="zh-CN" sz="2400" dirty="0">
                <a:latin typeface="微软雅黑" pitchFamily="34" charset="-122"/>
                <a:ea typeface="微软雅黑" pitchFamily="34" charset="-122"/>
                <a:cs typeface="经典粗黑简" pitchFamily="49" charset="-122"/>
              </a:rPr>
              <a:t>)+[(</a:t>
            </a:r>
            <a:r>
              <a:rPr lang="en-US" altLang="zh-CN" sz="2400" dirty="0">
                <a:solidFill>
                  <a:srgbClr val="FF0000"/>
                </a:solidFill>
                <a:latin typeface="微软雅黑" pitchFamily="34" charset="-122"/>
                <a:ea typeface="微软雅黑" pitchFamily="34" charset="-122"/>
                <a:cs typeface="经典粗黑简" pitchFamily="49" charset="-122"/>
              </a:rPr>
              <a:t>j</a:t>
            </a:r>
            <a:r>
              <a:rPr lang="en-US" altLang="zh-CN" sz="2400" dirty="0">
                <a:latin typeface="微软雅黑" pitchFamily="34" charset="-122"/>
                <a:ea typeface="微软雅黑" pitchFamily="34" charset="-122"/>
                <a:cs typeface="经典粗黑简" pitchFamily="49" charset="-122"/>
              </a:rPr>
              <a:t>-1)*m+(</a:t>
            </a:r>
            <a:r>
              <a:rPr lang="en-US" altLang="zh-CN" sz="2400" dirty="0">
                <a:solidFill>
                  <a:srgbClr val="FF0000"/>
                </a:solidFill>
                <a:latin typeface="微软雅黑" pitchFamily="34" charset="-122"/>
                <a:ea typeface="微软雅黑" pitchFamily="34" charset="-122"/>
                <a:cs typeface="经典粗黑简" pitchFamily="49" charset="-122"/>
              </a:rPr>
              <a:t>i</a:t>
            </a:r>
            <a:r>
              <a:rPr lang="en-US" altLang="zh-CN" sz="2400" dirty="0">
                <a:latin typeface="微软雅黑" pitchFamily="34" charset="-122"/>
                <a:ea typeface="微软雅黑" pitchFamily="34" charset="-122"/>
                <a:cs typeface="经典粗黑简" pitchFamily="49" charset="-122"/>
              </a:rPr>
              <a:t>-1)]*d</a:t>
            </a:r>
          </a:p>
        </p:txBody>
      </p:sp>
      <p:sp>
        <p:nvSpPr>
          <p:cNvPr id="21" name="Text Box 13"/>
          <p:cNvSpPr txBox="1">
            <a:spLocks noChangeArrowheads="1"/>
          </p:cNvSpPr>
          <p:nvPr/>
        </p:nvSpPr>
        <p:spPr bwMode="auto">
          <a:xfrm>
            <a:off x="3529736" y="2780928"/>
            <a:ext cx="5412913" cy="445006"/>
          </a:xfrm>
          <a:prstGeom prst="rect">
            <a:avLst/>
          </a:prstGeom>
          <a:noFill/>
          <a:ln>
            <a:noFill/>
          </a:ln>
        </p:spPr>
        <p:txBody>
          <a:bodyPr/>
          <a:lstStyle>
            <a:lvl1pPr marL="457200" indent="-4572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marL="0" indent="0" eaLnBrk="1" hangingPunct="1">
              <a:spcBef>
                <a:spcPct val="20000"/>
              </a:spcBef>
              <a:buClr>
                <a:schemeClr val="folHlink"/>
              </a:buClr>
              <a:buSzPct val="80000"/>
            </a:pPr>
            <a:r>
              <a:rPr lang="en-US" altLang="zh-CN" sz="2400" dirty="0">
                <a:latin typeface="微软雅黑" pitchFamily="34" charset="-122"/>
                <a:ea typeface="微软雅黑" pitchFamily="34" charset="-122"/>
                <a:cs typeface="经典粗黑简" pitchFamily="49" charset="-122"/>
              </a:rPr>
              <a:t>LOC(</a:t>
            </a:r>
            <a:r>
              <a:rPr lang="en-US" altLang="zh-CN" sz="2400" dirty="0" err="1">
                <a:solidFill>
                  <a:srgbClr val="FF0000"/>
                </a:solidFill>
                <a:latin typeface="微软雅黑" pitchFamily="34" charset="-122"/>
                <a:ea typeface="微软雅黑" pitchFamily="34" charset="-122"/>
                <a:cs typeface="经典粗黑简" pitchFamily="49" charset="-122"/>
              </a:rPr>
              <a:t>a</a:t>
            </a:r>
            <a:r>
              <a:rPr lang="en-US" altLang="zh-CN" sz="2400" baseline="-25000" dirty="0" err="1">
                <a:solidFill>
                  <a:srgbClr val="FF0000"/>
                </a:solidFill>
                <a:latin typeface="微软雅黑" pitchFamily="34" charset="-122"/>
                <a:ea typeface="微软雅黑" pitchFamily="34" charset="-122"/>
                <a:cs typeface="经典粗黑简" pitchFamily="49" charset="-122"/>
              </a:rPr>
              <a:t>ij</a:t>
            </a:r>
            <a:r>
              <a:rPr lang="en-US" altLang="zh-CN" sz="2400" dirty="0">
                <a:latin typeface="微软雅黑" pitchFamily="34" charset="-122"/>
                <a:ea typeface="微软雅黑" pitchFamily="34" charset="-122"/>
                <a:cs typeface="经典粗黑简" pitchFamily="49" charset="-122"/>
              </a:rPr>
              <a:t>)=LOC(a</a:t>
            </a:r>
            <a:r>
              <a:rPr lang="en-US" altLang="zh-CN" sz="2400" baseline="-25000" dirty="0">
                <a:latin typeface="微软雅黑" pitchFamily="34" charset="-122"/>
                <a:ea typeface="微软雅黑" pitchFamily="34" charset="-122"/>
                <a:cs typeface="经典粗黑简" pitchFamily="49" charset="-122"/>
              </a:rPr>
              <a:t>11</a:t>
            </a:r>
            <a:r>
              <a:rPr lang="en-US" altLang="zh-CN" sz="2400" dirty="0">
                <a:latin typeface="微软雅黑" pitchFamily="34" charset="-122"/>
                <a:ea typeface="微软雅黑" pitchFamily="34" charset="-122"/>
                <a:cs typeface="经典粗黑简" pitchFamily="49" charset="-122"/>
              </a:rPr>
              <a:t>)+[(</a:t>
            </a:r>
            <a:r>
              <a:rPr lang="en-US" altLang="zh-CN" sz="2400" dirty="0">
                <a:solidFill>
                  <a:srgbClr val="FF0000"/>
                </a:solidFill>
                <a:latin typeface="微软雅黑" pitchFamily="34" charset="-122"/>
                <a:ea typeface="微软雅黑" pitchFamily="34" charset="-122"/>
                <a:cs typeface="经典粗黑简" pitchFamily="49" charset="-122"/>
              </a:rPr>
              <a:t>i</a:t>
            </a:r>
            <a:r>
              <a:rPr lang="en-US" altLang="zh-CN" sz="2400" dirty="0">
                <a:latin typeface="微软雅黑" pitchFamily="34" charset="-122"/>
                <a:ea typeface="微软雅黑" pitchFamily="34" charset="-122"/>
                <a:cs typeface="经典粗黑简" pitchFamily="49" charset="-122"/>
              </a:rPr>
              <a:t>-1)*n+(</a:t>
            </a:r>
            <a:r>
              <a:rPr lang="en-US" altLang="zh-CN" sz="2400" dirty="0">
                <a:solidFill>
                  <a:srgbClr val="FF0000"/>
                </a:solidFill>
                <a:latin typeface="微软雅黑" pitchFamily="34" charset="-122"/>
                <a:ea typeface="微软雅黑" pitchFamily="34" charset="-122"/>
                <a:cs typeface="经典粗黑简" pitchFamily="49" charset="-122"/>
              </a:rPr>
              <a:t>j</a:t>
            </a:r>
            <a:r>
              <a:rPr lang="en-US" altLang="zh-CN" sz="2400" dirty="0">
                <a:latin typeface="微软雅黑" pitchFamily="34" charset="-122"/>
                <a:ea typeface="微软雅黑" pitchFamily="34" charset="-122"/>
                <a:cs typeface="经典粗黑简" pitchFamily="49" charset="-122"/>
              </a:rPr>
              <a:t>-1)]*d</a:t>
            </a:r>
          </a:p>
        </p:txBody>
      </p:sp>
      <p:sp>
        <p:nvSpPr>
          <p:cNvPr id="2" name="Rectangle 3">
            <a:extLst>
              <a:ext uri="{FF2B5EF4-FFF2-40B4-BE49-F238E27FC236}">
                <a16:creationId xmlns:a16="http://schemas.microsoft.com/office/drawing/2014/main" id="{F7347B34-CFF7-337C-CDFB-AA3F224FBB5F}"/>
              </a:ext>
            </a:extLst>
          </p:cNvPr>
          <p:cNvSpPr txBox="1">
            <a:spLocks noChangeArrowheads="1"/>
          </p:cNvSpPr>
          <p:nvPr/>
        </p:nvSpPr>
        <p:spPr>
          <a:xfrm>
            <a:off x="191344" y="1106736"/>
            <a:ext cx="381642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6.1.2 </a:t>
            </a:r>
            <a:r>
              <a:rPr lang="zh-CN" altLang="en-US" sz="2800" b="1" dirty="0">
                <a:solidFill>
                  <a:schemeClr val="bg1"/>
                </a:solidFill>
                <a:latin typeface="经典粗黑简" pitchFamily="49" charset="-122"/>
                <a:ea typeface="经典粗黑简" pitchFamily="49" charset="-122"/>
                <a:cs typeface="经典粗黑简" pitchFamily="49" charset="-122"/>
              </a:rPr>
              <a:t>数组的存储结构</a:t>
            </a:r>
          </a:p>
        </p:txBody>
      </p:sp>
      <p:sp>
        <p:nvSpPr>
          <p:cNvPr id="3" name="Rectangle 2">
            <a:extLst>
              <a:ext uri="{FF2B5EF4-FFF2-40B4-BE49-F238E27FC236}">
                <a16:creationId xmlns:a16="http://schemas.microsoft.com/office/drawing/2014/main" id="{780B575D-05BA-0219-751E-B3FF0489E04D}"/>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5C0A4E38-006D-6930-0290-F1D3C96A491F}"/>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148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20" grpId="0"/>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2BDDE-3DFD-23CB-A247-3E61A74B7546}"/>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DA2383CB-D4FD-51B8-430B-BDB75FAC4E09}"/>
              </a:ext>
            </a:extLst>
          </p:cNvPr>
          <p:cNvSpPr/>
          <p:nvPr/>
        </p:nvSpPr>
        <p:spPr>
          <a:xfrm>
            <a:off x="1963081" y="3933057"/>
            <a:ext cx="8381390" cy="1015663"/>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       </a:t>
            </a:r>
            <a:r>
              <a:rPr lang="zh-CN" altLang="zh-CN" sz="2000" dirty="0">
                <a:latin typeface="微软雅黑" pitchFamily="34" charset="-122"/>
                <a:ea typeface="微软雅黑" pitchFamily="34" charset="-122"/>
                <a:cs typeface="经典粗黑简" pitchFamily="49" charset="-122"/>
              </a:rPr>
              <a:t>下面从压缩存储的角度来考虑这些特殊矩阵的存储方法。所谓</a:t>
            </a:r>
            <a:r>
              <a:rPr lang="zh-CN" altLang="zh-CN" sz="2000" dirty="0">
                <a:solidFill>
                  <a:srgbClr val="FF0000"/>
                </a:solidFill>
                <a:latin typeface="微软雅黑" pitchFamily="34" charset="-122"/>
                <a:ea typeface="微软雅黑" pitchFamily="34" charset="-122"/>
                <a:cs typeface="经典粗黑简" pitchFamily="49" charset="-122"/>
              </a:rPr>
              <a:t>压缩存储</a:t>
            </a:r>
            <a:r>
              <a:rPr lang="zh-CN" altLang="en-US" sz="2000" dirty="0">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即为多个相同的非零元素只分配一个存储空间；对零元素不分配存储空间。</a:t>
            </a:r>
            <a:endParaRPr lang="zh-CN" altLang="en-US" sz="2000" dirty="0">
              <a:latin typeface="微软雅黑" pitchFamily="34" charset="-122"/>
              <a:ea typeface="微软雅黑" pitchFamily="34" charset="-122"/>
              <a:cs typeface="经典粗黑简" pitchFamily="49" charset="-122"/>
            </a:endParaRPr>
          </a:p>
        </p:txBody>
      </p:sp>
      <p:sp>
        <p:nvSpPr>
          <p:cNvPr id="46" name="矩形 45">
            <a:extLst>
              <a:ext uri="{FF2B5EF4-FFF2-40B4-BE49-F238E27FC236}">
                <a16:creationId xmlns:a16="http://schemas.microsoft.com/office/drawing/2014/main" id="{A2E05C79-2151-6471-C2DC-87AAE7D2C5EA}"/>
              </a:ext>
            </a:extLst>
          </p:cNvPr>
          <p:cNvSpPr/>
          <p:nvPr/>
        </p:nvSpPr>
        <p:spPr>
          <a:xfrm>
            <a:off x="1963081" y="3140968"/>
            <a:ext cx="8381391" cy="707886"/>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       </a:t>
            </a:r>
            <a:r>
              <a:rPr lang="zh-CN" altLang="zh-CN" sz="2000" dirty="0">
                <a:latin typeface="微软雅黑" pitchFamily="34" charset="-122"/>
                <a:ea typeface="微软雅黑" pitchFamily="34" charset="-122"/>
                <a:cs typeface="经典粗黑简" pitchFamily="49" charset="-122"/>
              </a:rPr>
              <a:t>对于一个矩阵结构显然用一个二维数组来表示是非常恰当的，但</a:t>
            </a:r>
            <a:r>
              <a:rPr lang="zh-CN" altLang="en-US" sz="2000" dirty="0">
                <a:latin typeface="微软雅黑" pitchFamily="34" charset="-122"/>
                <a:ea typeface="微软雅黑" pitchFamily="34" charset="-122"/>
                <a:cs typeface="经典粗黑简" pitchFamily="49" charset="-122"/>
              </a:rPr>
              <a:t>对于</a:t>
            </a:r>
            <a:r>
              <a:rPr lang="zh-CN" altLang="zh-CN" sz="2000" dirty="0">
                <a:latin typeface="微软雅黑" pitchFamily="34" charset="-122"/>
                <a:ea typeface="微软雅黑" pitchFamily="34" charset="-122"/>
                <a:cs typeface="经典粗黑简" pitchFamily="49" charset="-122"/>
              </a:rPr>
              <a:t>一些特殊矩阵，从节约存储空间的角度考虑，这种存储是不太合适的</a:t>
            </a:r>
            <a:r>
              <a:rPr lang="zh-CN" altLang="en-US" sz="2000" dirty="0">
                <a:latin typeface="微软雅黑" pitchFamily="34" charset="-122"/>
                <a:ea typeface="微软雅黑" pitchFamily="34" charset="-122"/>
                <a:cs typeface="经典粗黑简" pitchFamily="49" charset="-122"/>
              </a:rPr>
              <a:t>。</a:t>
            </a:r>
          </a:p>
        </p:txBody>
      </p:sp>
      <p:sp>
        <p:nvSpPr>
          <p:cNvPr id="3" name="Rectangle 3">
            <a:extLst>
              <a:ext uri="{FF2B5EF4-FFF2-40B4-BE49-F238E27FC236}">
                <a16:creationId xmlns:a16="http://schemas.microsoft.com/office/drawing/2014/main" id="{F084C5C4-64BF-4965-0CD9-04BB136D0CCB}"/>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4" name="Rectangle 2">
            <a:extLst>
              <a:ext uri="{FF2B5EF4-FFF2-40B4-BE49-F238E27FC236}">
                <a16:creationId xmlns:a16="http://schemas.microsoft.com/office/drawing/2014/main" id="{547C8550-26CF-C8E4-E48C-6B2B86E0BFD7}"/>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16505EFC-2FD9-BD95-F3F4-1110240453B8}"/>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EC87B028-889B-49CD-4FB4-33F1C95BE608}"/>
              </a:ext>
            </a:extLst>
          </p:cNvPr>
          <p:cNvSpPr/>
          <p:nvPr/>
        </p:nvSpPr>
        <p:spPr>
          <a:xfrm>
            <a:off x="1960978" y="1966672"/>
            <a:ext cx="8669423" cy="830997"/>
          </a:xfrm>
          <a:prstGeom prst="rect">
            <a:avLst/>
          </a:prstGeom>
        </p:spPr>
        <p:txBody>
          <a:bodyPr wrap="square">
            <a:spAutoFit/>
          </a:bodyPr>
          <a:lstStyle/>
          <a:p>
            <a:r>
              <a:rPr lang="zh-CN" altLang="zh-CN" sz="2400" dirty="0">
                <a:solidFill>
                  <a:srgbClr val="FF0000"/>
                </a:solidFill>
                <a:latin typeface="微软雅黑" pitchFamily="34" charset="-122"/>
                <a:ea typeface="微软雅黑" pitchFamily="34" charset="-122"/>
                <a:cs typeface="经典粗黑简" pitchFamily="49" charset="-122"/>
              </a:rPr>
              <a:t>特殊矩阵</a:t>
            </a:r>
            <a:r>
              <a:rPr lang="zh-CN" altLang="en-US" sz="2400" dirty="0">
                <a:latin typeface="微软雅黑" pitchFamily="34" charset="-122"/>
                <a:ea typeface="微软雅黑" pitchFamily="34" charset="-122"/>
                <a:cs typeface="经典粗黑简" pitchFamily="49" charset="-122"/>
              </a:rPr>
              <a:t>是</a:t>
            </a:r>
            <a:r>
              <a:rPr lang="zh-CN" altLang="zh-CN" sz="2400" dirty="0">
                <a:latin typeface="微软雅黑" pitchFamily="34" charset="-122"/>
                <a:ea typeface="微软雅黑" pitchFamily="34" charset="-122"/>
                <a:cs typeface="经典粗黑简" pitchFamily="49" charset="-122"/>
              </a:rPr>
              <a:t>指非零元素或零元素的分布有一定规律的矩阵</a:t>
            </a:r>
            <a:r>
              <a:rPr lang="zh-CN" altLang="en-US"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如三角矩阵、对称矩阵、带状矩阵、稀疏矩阵等</a:t>
            </a:r>
            <a:r>
              <a:rPr lang="zh-CN" altLang="en-US" sz="2400" dirty="0">
                <a:latin typeface="微软雅黑" pitchFamily="34" charset="-122"/>
                <a:ea typeface="微软雅黑" pitchFamily="34" charset="-122"/>
                <a:cs typeface="经典粗黑简" pitchFamily="49" charset="-122"/>
              </a:rPr>
              <a:t>。</a:t>
            </a:r>
          </a:p>
        </p:txBody>
      </p:sp>
    </p:spTree>
    <p:extLst>
      <p:ext uri="{BB962C8B-B14F-4D97-AF65-F5344CB8AC3E}">
        <p14:creationId xmlns:p14="http://schemas.microsoft.com/office/powerpoint/2010/main" val="2518244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374F8-BF97-0336-11FA-096922D2257A}"/>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C78C2189-AAC7-7900-53C2-0BDF32958C85}"/>
              </a:ext>
            </a:extLst>
          </p:cNvPr>
          <p:cNvSpPr/>
          <p:nvPr/>
        </p:nvSpPr>
        <p:spPr>
          <a:xfrm>
            <a:off x="1960978" y="1966672"/>
            <a:ext cx="8669423" cy="830997"/>
          </a:xfrm>
          <a:prstGeom prst="rect">
            <a:avLst/>
          </a:prstGeom>
        </p:spPr>
        <p:txBody>
          <a:bodyPr wrap="square">
            <a:spAutoFit/>
          </a:bodyPr>
          <a:lstStyle/>
          <a:p>
            <a:r>
              <a:rPr lang="zh-CN" altLang="zh-CN" sz="2400" dirty="0">
                <a:solidFill>
                  <a:srgbClr val="FF0000"/>
                </a:solidFill>
                <a:latin typeface="微软雅黑" pitchFamily="34" charset="-122"/>
                <a:ea typeface="微软雅黑" pitchFamily="34" charset="-122"/>
                <a:cs typeface="经典粗黑简" pitchFamily="49" charset="-122"/>
              </a:rPr>
              <a:t>特殊矩阵</a:t>
            </a:r>
            <a:r>
              <a:rPr lang="zh-CN" altLang="en-US" sz="2400" dirty="0">
                <a:latin typeface="微软雅黑" pitchFamily="34" charset="-122"/>
                <a:ea typeface="微软雅黑" pitchFamily="34" charset="-122"/>
                <a:cs typeface="经典粗黑简" pitchFamily="49" charset="-122"/>
              </a:rPr>
              <a:t>是</a:t>
            </a:r>
            <a:r>
              <a:rPr lang="zh-CN" altLang="zh-CN" sz="2400" dirty="0">
                <a:latin typeface="微软雅黑" pitchFamily="34" charset="-122"/>
                <a:ea typeface="微软雅黑" pitchFamily="34" charset="-122"/>
                <a:cs typeface="经典粗黑简" pitchFamily="49" charset="-122"/>
              </a:rPr>
              <a:t>指非零元素或零元素的分布有一定规律的矩阵</a:t>
            </a:r>
            <a:r>
              <a:rPr lang="zh-CN" altLang="en-US"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如三角矩阵、对称矩阵、带状矩阵、稀疏矩阵等</a:t>
            </a:r>
            <a:r>
              <a:rPr lang="zh-CN" altLang="en-US" sz="2400" dirty="0">
                <a:latin typeface="微软雅黑" pitchFamily="34" charset="-122"/>
                <a:ea typeface="微软雅黑" pitchFamily="34" charset="-122"/>
                <a:cs typeface="经典粗黑简" pitchFamily="49" charset="-122"/>
              </a:rPr>
              <a:t>。</a:t>
            </a:r>
          </a:p>
        </p:txBody>
      </p:sp>
      <p:sp>
        <p:nvSpPr>
          <p:cNvPr id="45" name="矩形 44">
            <a:extLst>
              <a:ext uri="{FF2B5EF4-FFF2-40B4-BE49-F238E27FC236}">
                <a16:creationId xmlns:a16="http://schemas.microsoft.com/office/drawing/2014/main" id="{20DD9499-AD31-3872-CCDF-12771C50D1D3}"/>
              </a:ext>
            </a:extLst>
          </p:cNvPr>
          <p:cNvSpPr/>
          <p:nvPr/>
        </p:nvSpPr>
        <p:spPr>
          <a:xfrm>
            <a:off x="1797261" y="2868672"/>
            <a:ext cx="5359159"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）对称矩阵：元素的值按照主对角线对称。</a:t>
            </a:r>
          </a:p>
        </p:txBody>
      </p:sp>
      <p:sp>
        <p:nvSpPr>
          <p:cNvPr id="2" name="Rectangle 3">
            <a:extLst>
              <a:ext uri="{FF2B5EF4-FFF2-40B4-BE49-F238E27FC236}">
                <a16:creationId xmlns:a16="http://schemas.microsoft.com/office/drawing/2014/main" id="{76B51104-25FA-D7FD-2920-DB078096FBE4}"/>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3" name="Rectangle 2">
            <a:extLst>
              <a:ext uri="{FF2B5EF4-FFF2-40B4-BE49-F238E27FC236}">
                <a16:creationId xmlns:a16="http://schemas.microsoft.com/office/drawing/2014/main" id="{74F094DC-201A-9CC6-B4CF-6A7D1F0F44BE}"/>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3CC014D3-868E-1B37-EC1B-8123B060129B}"/>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0" name="Text Box 3">
            <a:extLst>
              <a:ext uri="{FF2B5EF4-FFF2-40B4-BE49-F238E27FC236}">
                <a16:creationId xmlns:a16="http://schemas.microsoft.com/office/drawing/2014/main" id="{1D8870A3-602E-B6B5-5746-04DAB3768027}"/>
              </a:ext>
            </a:extLst>
          </p:cNvPr>
          <p:cNvSpPr txBox="1">
            <a:spLocks noChangeArrowheads="1"/>
          </p:cNvSpPr>
          <p:nvPr/>
        </p:nvSpPr>
        <p:spPr bwMode="auto">
          <a:xfrm>
            <a:off x="1454026" y="3202216"/>
            <a:ext cx="9279336" cy="977191"/>
          </a:xfrm>
          <a:prstGeom prst="rect">
            <a:avLst/>
          </a:prstGeom>
          <a:noFill/>
          <a:ln w="9525">
            <a:noFill/>
            <a:miter lim="800000"/>
            <a:headEnd/>
            <a:tailEnd/>
          </a:ln>
          <a:effectLst/>
        </p:spPr>
        <p:txBody>
          <a:bodyPr wrap="square">
            <a:spAutoFit/>
          </a:bodyPr>
          <a:lstStyle/>
          <a:p>
            <a:pPr algn="l">
              <a:lnSpc>
                <a:spcPct val="150000"/>
              </a:lnSpc>
            </a:pPr>
            <a:r>
              <a:rPr kumimoji="1" lang="zh-CN" altLang="en-US" sz="2000" dirty="0">
                <a:solidFill>
                  <a:srgbClr val="FF3300"/>
                </a:solidFill>
                <a:latin typeface="Consolas" pitchFamily="49" charset="0"/>
                <a:ea typeface="楷体" pitchFamily="49" charset="-122"/>
                <a:cs typeface="Consolas" pitchFamily="49" charset="0"/>
              </a:rPr>
              <a:t>　</a:t>
            </a:r>
            <a:r>
              <a:rPr kumimoji="1" lang="zh-CN" altLang="en-US" sz="2000" dirty="0">
                <a:latin typeface="Consolas" pitchFamily="49" charset="0"/>
                <a:ea typeface="楷体" pitchFamily="49" charset="-122"/>
                <a:cs typeface="Consolas" pitchFamily="49" charset="0"/>
              </a:rPr>
              <a:t>　若一个</a:t>
            </a:r>
            <a:r>
              <a:rPr kumimoji="1" lang="en-US" altLang="zh-CN" sz="2000" i="1" dirty="0">
                <a:latin typeface="Consolas" pitchFamily="49" charset="0"/>
                <a:ea typeface="楷体" pitchFamily="49" charset="-122"/>
                <a:cs typeface="Consolas" pitchFamily="49" charset="0"/>
              </a:rPr>
              <a:t>n</a:t>
            </a:r>
            <a:r>
              <a:rPr kumimoji="1" lang="zh-CN" altLang="en-US" sz="2000" dirty="0">
                <a:latin typeface="Consolas" pitchFamily="49" charset="0"/>
                <a:ea typeface="楷体" pitchFamily="49" charset="-122"/>
                <a:cs typeface="Consolas" pitchFamily="49" charset="0"/>
              </a:rPr>
              <a:t>阶方阵</a:t>
            </a:r>
            <a:r>
              <a:rPr kumimoji="1" lang="en-US" altLang="zh-CN" sz="2000" i="1" dirty="0">
                <a:latin typeface="Consolas" pitchFamily="49" charset="0"/>
                <a:ea typeface="楷体" pitchFamily="49" charset="-122"/>
                <a:cs typeface="Consolas" pitchFamily="49" charset="0"/>
              </a:rPr>
              <a:t>A</a:t>
            </a:r>
            <a:r>
              <a:rPr kumimoji="1" lang="en-US" altLang="zh-CN"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n</a:t>
            </a:r>
            <a:r>
              <a:rPr kumimoji="1" lang="en-US" altLang="zh-CN"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n</a:t>
            </a:r>
            <a:r>
              <a:rPr kumimoji="1" lang="en-US" altLang="zh-CN" sz="2000" dirty="0">
                <a:latin typeface="Consolas" pitchFamily="49" charset="0"/>
                <a:ea typeface="楷体" pitchFamily="49" charset="-122"/>
                <a:cs typeface="Consolas" pitchFamily="49" charset="0"/>
              </a:rPr>
              <a:t>]</a:t>
            </a:r>
            <a:r>
              <a:rPr kumimoji="1" lang="zh-CN" altLang="en-US" sz="2000" dirty="0">
                <a:latin typeface="Consolas" pitchFamily="49" charset="0"/>
                <a:ea typeface="楷体" pitchFamily="49" charset="-122"/>
                <a:cs typeface="Consolas" pitchFamily="49" charset="0"/>
              </a:rPr>
              <a:t>中的元素满足</a:t>
            </a:r>
            <a:r>
              <a:rPr kumimoji="1" lang="en-US" altLang="zh-CN" sz="2000" i="1" dirty="0" err="1">
                <a:solidFill>
                  <a:srgbClr val="FF0000"/>
                </a:solidFill>
                <a:latin typeface="Consolas" pitchFamily="49" charset="0"/>
                <a:ea typeface="楷体" pitchFamily="49" charset="-122"/>
                <a:cs typeface="Consolas" pitchFamily="49" charset="0"/>
              </a:rPr>
              <a:t>a</a:t>
            </a:r>
            <a:r>
              <a:rPr kumimoji="1" lang="en-US" altLang="zh-CN" sz="2000" i="1" baseline="-25000" dirty="0" err="1">
                <a:solidFill>
                  <a:srgbClr val="FF0000"/>
                </a:solidFill>
                <a:latin typeface="Consolas" pitchFamily="49" charset="0"/>
                <a:ea typeface="楷体" pitchFamily="49" charset="-122"/>
                <a:cs typeface="Consolas" pitchFamily="49" charset="0"/>
              </a:rPr>
              <a:t>i,j</a:t>
            </a:r>
            <a:r>
              <a:rPr kumimoji="1" lang="en-US" altLang="zh-CN" sz="2000" dirty="0">
                <a:solidFill>
                  <a:srgbClr val="FF0000"/>
                </a:solidFill>
                <a:latin typeface="Consolas" pitchFamily="49" charset="0"/>
                <a:ea typeface="楷体" pitchFamily="49" charset="-122"/>
                <a:cs typeface="Consolas" pitchFamily="49" charset="0"/>
              </a:rPr>
              <a:t>=</a:t>
            </a:r>
            <a:r>
              <a:rPr kumimoji="1" lang="en-US" altLang="zh-CN" sz="2000" i="1" dirty="0" err="1">
                <a:solidFill>
                  <a:srgbClr val="FF0000"/>
                </a:solidFill>
                <a:latin typeface="Consolas" pitchFamily="49" charset="0"/>
                <a:ea typeface="楷体" pitchFamily="49" charset="-122"/>
                <a:cs typeface="Consolas" pitchFamily="49" charset="0"/>
              </a:rPr>
              <a:t>a</a:t>
            </a:r>
            <a:r>
              <a:rPr kumimoji="1" lang="en-US" altLang="zh-CN" sz="2000" i="1" baseline="-25000" dirty="0" err="1">
                <a:solidFill>
                  <a:srgbClr val="FF0000"/>
                </a:solidFill>
                <a:latin typeface="Consolas" pitchFamily="49" charset="0"/>
                <a:ea typeface="楷体" pitchFamily="49" charset="-122"/>
                <a:cs typeface="Consolas" pitchFamily="49" charset="0"/>
              </a:rPr>
              <a:t>j,i</a:t>
            </a:r>
            <a:r>
              <a:rPr kumimoji="1" lang="zh-CN" altLang="en-US" sz="2000" dirty="0">
                <a:latin typeface="Consolas" pitchFamily="49" charset="0"/>
                <a:ea typeface="楷体" pitchFamily="49" charset="-122"/>
                <a:cs typeface="Consolas" pitchFamily="49" charset="0"/>
              </a:rPr>
              <a:t>（</a:t>
            </a:r>
            <a:r>
              <a:rPr kumimoji="1" lang="en-US" altLang="zh-CN" sz="2000" dirty="0">
                <a:latin typeface="Consolas" pitchFamily="49" charset="0"/>
                <a:ea typeface="楷体" pitchFamily="49" charset="-122"/>
                <a:cs typeface="Consolas" pitchFamily="49" charset="0"/>
              </a:rPr>
              <a:t>0</a:t>
            </a:r>
            <a:r>
              <a:rPr kumimoji="1" lang="en-US" altLang="zh-CN" sz="2000" dirty="0">
                <a:latin typeface="宋体" pitchFamily="2" charset="-122"/>
                <a:ea typeface="宋体" pitchFamily="2" charset="-122"/>
                <a:cs typeface="Consolas" pitchFamily="49" charset="0"/>
              </a:rPr>
              <a:t>≤</a:t>
            </a:r>
            <a:r>
              <a:rPr kumimoji="1" lang="en-US" altLang="zh-CN" sz="2000" i="1" dirty="0">
                <a:latin typeface="Consolas" pitchFamily="49" charset="0"/>
                <a:ea typeface="楷体" pitchFamily="49" charset="-122"/>
                <a:cs typeface="Consolas" pitchFamily="49" charset="0"/>
              </a:rPr>
              <a:t>i</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j</a:t>
            </a:r>
            <a:r>
              <a:rPr kumimoji="1" lang="en-US" altLang="zh-CN" sz="2000" dirty="0">
                <a:latin typeface="宋体" pitchFamily="2" charset="-122"/>
                <a:ea typeface="宋体" pitchFamily="2" charset="-122"/>
                <a:cs typeface="Consolas" pitchFamily="49" charset="0"/>
              </a:rPr>
              <a:t>≤</a:t>
            </a:r>
            <a:r>
              <a:rPr kumimoji="1" lang="en-US" altLang="zh-CN" sz="2000" i="1" dirty="0">
                <a:latin typeface="Consolas" pitchFamily="49" charset="0"/>
                <a:ea typeface="楷体" pitchFamily="49" charset="-122"/>
                <a:cs typeface="Consolas" pitchFamily="49" charset="0"/>
              </a:rPr>
              <a:t>n</a:t>
            </a:r>
            <a:r>
              <a:rPr kumimoji="1" lang="en-US" altLang="zh-CN" sz="2000" dirty="0">
                <a:latin typeface="Consolas" pitchFamily="49" charset="0"/>
                <a:ea typeface="+mn-ea"/>
                <a:cs typeface="Consolas" pitchFamily="49" charset="0"/>
              </a:rPr>
              <a:t>-</a:t>
            </a:r>
            <a:r>
              <a:rPr kumimoji="1" lang="en-US" altLang="zh-CN" sz="2000" dirty="0">
                <a:latin typeface="Consolas" pitchFamily="49" charset="0"/>
                <a:ea typeface="楷体" pitchFamily="49" charset="-122"/>
                <a:cs typeface="Consolas" pitchFamily="49" charset="0"/>
              </a:rPr>
              <a:t>1</a:t>
            </a:r>
            <a:r>
              <a:rPr kumimoji="1" lang="zh-CN" altLang="en-US" sz="2000" dirty="0">
                <a:latin typeface="Consolas" pitchFamily="49" charset="0"/>
                <a:ea typeface="楷体" pitchFamily="49" charset="-122"/>
                <a:cs typeface="Consolas" pitchFamily="49" charset="0"/>
              </a:rPr>
              <a:t>），则称其为</a:t>
            </a:r>
            <a:r>
              <a:rPr kumimoji="1" lang="en-US" altLang="zh-CN" sz="2000" i="1" dirty="0">
                <a:latin typeface="Consolas" pitchFamily="49" charset="0"/>
                <a:ea typeface="楷体" pitchFamily="49" charset="-122"/>
                <a:cs typeface="Consolas" pitchFamily="49" charset="0"/>
              </a:rPr>
              <a:t>n</a:t>
            </a:r>
            <a:r>
              <a:rPr kumimoji="1" lang="zh-CN" altLang="en-US" sz="2000" dirty="0">
                <a:latin typeface="Consolas" pitchFamily="49" charset="0"/>
                <a:ea typeface="楷体" pitchFamily="49" charset="-122"/>
                <a:cs typeface="Consolas" pitchFamily="49" charset="0"/>
              </a:rPr>
              <a:t>阶</a:t>
            </a:r>
            <a:r>
              <a:rPr lang="zh-CN" altLang="en-US" sz="2000" dirty="0">
                <a:solidFill>
                  <a:srgbClr val="FF0000"/>
                </a:solidFill>
                <a:latin typeface="微软雅黑" pitchFamily="34" charset="-122"/>
                <a:ea typeface="微软雅黑" pitchFamily="34" charset="-122"/>
                <a:cs typeface="经典粗黑简" pitchFamily="49" charset="-122"/>
              </a:rPr>
              <a:t>对称矩阵</a:t>
            </a:r>
            <a:r>
              <a:rPr kumimoji="1" lang="zh-CN" altLang="en-US" sz="2000" dirty="0">
                <a:latin typeface="Consolas" pitchFamily="49" charset="0"/>
                <a:ea typeface="楷体" pitchFamily="49" charset="-122"/>
                <a:cs typeface="Consolas" pitchFamily="49" charset="0"/>
              </a:rPr>
              <a:t>。</a:t>
            </a:r>
          </a:p>
        </p:txBody>
      </p:sp>
      <p:grpSp>
        <p:nvGrpSpPr>
          <p:cNvPr id="21" name="组合 16">
            <a:extLst>
              <a:ext uri="{FF2B5EF4-FFF2-40B4-BE49-F238E27FC236}">
                <a16:creationId xmlns:a16="http://schemas.microsoft.com/office/drawing/2014/main" id="{676FD36C-0CBB-A01F-5A41-C43EF3AD37D2}"/>
              </a:ext>
            </a:extLst>
          </p:cNvPr>
          <p:cNvGrpSpPr/>
          <p:nvPr/>
        </p:nvGrpSpPr>
        <p:grpSpPr>
          <a:xfrm>
            <a:off x="4351326" y="4204877"/>
            <a:ext cx="4968875" cy="2343756"/>
            <a:chOff x="2843213" y="2578092"/>
            <a:chExt cx="4968875" cy="2343756"/>
          </a:xfrm>
        </p:grpSpPr>
        <p:sp>
          <p:nvSpPr>
            <p:cNvPr id="22" name="Line 5">
              <a:extLst>
                <a:ext uri="{FF2B5EF4-FFF2-40B4-BE49-F238E27FC236}">
                  <a16:creationId xmlns:a16="http://schemas.microsoft.com/office/drawing/2014/main" id="{81A24953-CF1F-5218-5A98-343B10DADBEF}"/>
                </a:ext>
              </a:extLst>
            </p:cNvPr>
            <p:cNvSpPr>
              <a:spLocks noChangeShapeType="1"/>
            </p:cNvSpPr>
            <p:nvPr/>
          </p:nvSpPr>
          <p:spPr bwMode="auto">
            <a:xfrm>
              <a:off x="2843213" y="2578092"/>
              <a:ext cx="2728919" cy="1708163"/>
            </a:xfrm>
            <a:prstGeom prst="line">
              <a:avLst/>
            </a:prstGeom>
            <a:noFill/>
            <a:ln w="38100">
              <a:solidFill>
                <a:srgbClr val="00CC00"/>
              </a:solidFill>
              <a:miter lim="800000"/>
              <a:headEnd/>
              <a:tailEnd/>
            </a:ln>
            <a:effectLst/>
          </p:spPr>
          <p:txBody>
            <a:bodyPr wrap="none"/>
            <a:lstStyle/>
            <a:p>
              <a:endParaRPr lang="zh-CN" altLang="en-US">
                <a:latin typeface="Consolas" pitchFamily="49" charset="0"/>
                <a:cs typeface="Consolas" pitchFamily="49" charset="0"/>
              </a:endParaRPr>
            </a:p>
          </p:txBody>
        </p:sp>
        <p:sp>
          <p:nvSpPr>
            <p:cNvPr id="34" name="Text Box 6">
              <a:extLst>
                <a:ext uri="{FF2B5EF4-FFF2-40B4-BE49-F238E27FC236}">
                  <a16:creationId xmlns:a16="http://schemas.microsoft.com/office/drawing/2014/main" id="{F515E43F-926C-746A-30D6-4DBA6339DD38}"/>
                </a:ext>
              </a:extLst>
            </p:cNvPr>
            <p:cNvSpPr txBox="1">
              <a:spLocks noChangeArrowheads="1"/>
            </p:cNvSpPr>
            <p:nvPr/>
          </p:nvSpPr>
          <p:spPr bwMode="auto">
            <a:xfrm>
              <a:off x="5580063" y="4137018"/>
              <a:ext cx="2232025" cy="784830"/>
            </a:xfrm>
            <a:prstGeom prst="rect">
              <a:avLst/>
            </a:prstGeom>
            <a:noFill/>
            <a:ln w="9525">
              <a:noFill/>
              <a:miter lim="800000"/>
              <a:headEnd/>
              <a:tailEnd/>
            </a:ln>
            <a:effectLst/>
          </p:spPr>
          <p:txBody>
            <a:bodyPr>
              <a:spAutoFit/>
            </a:bodyPr>
            <a:lstStyle/>
            <a:p>
              <a:pPr>
                <a:spcBef>
                  <a:spcPct val="50000"/>
                </a:spcBef>
              </a:pPr>
              <a:r>
                <a:rPr lang="en-US" altLang="zh-CN" sz="1800" i="1" err="1">
                  <a:latin typeface="Consolas" pitchFamily="49" charset="0"/>
                  <a:ea typeface="仿宋" pitchFamily="49" charset="-122"/>
                  <a:cs typeface="Consolas" pitchFamily="49" charset="0"/>
                </a:rPr>
                <a:t>a</a:t>
              </a:r>
              <a:r>
                <a:rPr lang="en-US" altLang="zh-CN" sz="1800" i="1" baseline="-25000" err="1">
                  <a:latin typeface="Consolas" pitchFamily="49" charset="0"/>
                  <a:ea typeface="仿宋" pitchFamily="49" charset="-122"/>
                  <a:cs typeface="Consolas" pitchFamily="49" charset="0"/>
                </a:rPr>
                <a:t>i,i</a:t>
              </a:r>
              <a:r>
                <a:rPr lang="zh-CN" altLang="en-US" sz="1800">
                  <a:latin typeface="Consolas" pitchFamily="49" charset="0"/>
                  <a:ea typeface="仿宋" pitchFamily="49" charset="-122"/>
                  <a:cs typeface="Consolas" pitchFamily="49" charset="0"/>
                </a:rPr>
                <a:t>（</a:t>
              </a:r>
              <a:r>
                <a:rPr lang="en-US" altLang="zh-CN" sz="1800" err="1">
                  <a:latin typeface="Consolas" pitchFamily="49" charset="0"/>
                  <a:ea typeface="仿宋" pitchFamily="49" charset="-122"/>
                  <a:cs typeface="Consolas" pitchFamily="49" charset="0"/>
                </a:rPr>
                <a:t>0</a:t>
              </a:r>
              <a:r>
                <a:rPr lang="en-US" altLang="zh-CN" sz="1800" err="1">
                  <a:latin typeface="宋体" pitchFamily="2" charset="-122"/>
                  <a:ea typeface="宋体" pitchFamily="2" charset="-122"/>
                  <a:cs typeface="Consolas" pitchFamily="49" charset="0"/>
                </a:rPr>
                <a:t>≤</a:t>
              </a:r>
              <a:r>
                <a:rPr lang="en-US" altLang="zh-CN" sz="1800" i="1" err="1">
                  <a:latin typeface="Consolas" pitchFamily="49" charset="0"/>
                  <a:ea typeface="仿宋" pitchFamily="49" charset="-122"/>
                  <a:cs typeface="Consolas" pitchFamily="49" charset="0"/>
                </a:rPr>
                <a:t>i</a:t>
              </a:r>
              <a:r>
                <a:rPr lang="en-US" altLang="zh-CN" sz="1800" err="1">
                  <a:latin typeface="宋体" pitchFamily="2" charset="-122"/>
                  <a:ea typeface="宋体" pitchFamily="2" charset="-122"/>
                  <a:cs typeface="Consolas" pitchFamily="49" charset="0"/>
                </a:rPr>
                <a:t>≤</a:t>
              </a:r>
              <a:r>
                <a:rPr lang="en-US" altLang="zh-CN" sz="1800" i="1" err="1">
                  <a:latin typeface="Consolas" pitchFamily="49" charset="0"/>
                  <a:ea typeface="仿宋" pitchFamily="49" charset="-122"/>
                  <a:cs typeface="Consolas" pitchFamily="49" charset="0"/>
                </a:rPr>
                <a:t>n</a:t>
              </a:r>
              <a:r>
                <a:rPr lang="en-US" altLang="zh-CN" sz="1800">
                  <a:latin typeface="Consolas" pitchFamily="49" charset="0"/>
                  <a:ea typeface="仿宋" pitchFamily="49" charset="-122"/>
                  <a:cs typeface="Consolas" pitchFamily="49" charset="0"/>
                </a:rPr>
                <a:t>-1</a:t>
              </a:r>
              <a:r>
                <a:rPr lang="zh-CN" altLang="en-US" sz="1800">
                  <a:latin typeface="Consolas" pitchFamily="49" charset="0"/>
                  <a:ea typeface="仿宋" pitchFamily="49" charset="-122"/>
                  <a:cs typeface="Consolas" pitchFamily="49" charset="0"/>
                </a:rPr>
                <a:t>）</a:t>
              </a:r>
            </a:p>
            <a:p>
              <a:pPr>
                <a:spcBef>
                  <a:spcPct val="50000"/>
                </a:spcBef>
              </a:pPr>
              <a:r>
                <a:rPr lang="zh-CN" altLang="en-US" sz="1800">
                  <a:solidFill>
                    <a:srgbClr val="FF00FF"/>
                  </a:solidFill>
                  <a:latin typeface="方正启体简体" pitchFamily="65" charset="-122"/>
                  <a:ea typeface="方正启体简体" pitchFamily="65" charset="-122"/>
                  <a:cs typeface="Consolas" pitchFamily="49" charset="0"/>
                </a:rPr>
                <a:t>主对角线</a:t>
              </a:r>
            </a:p>
          </p:txBody>
        </p:sp>
      </p:grpSp>
      <p:grpSp>
        <p:nvGrpSpPr>
          <p:cNvPr id="35" name="组合 17">
            <a:extLst>
              <a:ext uri="{FF2B5EF4-FFF2-40B4-BE49-F238E27FC236}">
                <a16:creationId xmlns:a16="http://schemas.microsoft.com/office/drawing/2014/main" id="{39064F82-84C7-B527-4DE9-9E2C2002407D}"/>
              </a:ext>
            </a:extLst>
          </p:cNvPr>
          <p:cNvGrpSpPr/>
          <p:nvPr/>
        </p:nvGrpSpPr>
        <p:grpSpPr>
          <a:xfrm>
            <a:off x="2479663" y="4393788"/>
            <a:ext cx="4033815" cy="1511903"/>
            <a:chOff x="971550" y="2714620"/>
            <a:chExt cx="4033815" cy="1511903"/>
          </a:xfrm>
        </p:grpSpPr>
        <p:sp>
          <p:nvSpPr>
            <p:cNvPr id="36" name="Text Box 9">
              <a:extLst>
                <a:ext uri="{FF2B5EF4-FFF2-40B4-BE49-F238E27FC236}">
                  <a16:creationId xmlns:a16="http://schemas.microsoft.com/office/drawing/2014/main" id="{144C1976-5F92-277E-679F-A4F7BACF019F}"/>
                </a:ext>
              </a:extLst>
            </p:cNvPr>
            <p:cNvSpPr txBox="1">
              <a:spLocks noChangeArrowheads="1"/>
            </p:cNvSpPr>
            <p:nvPr/>
          </p:nvSpPr>
          <p:spPr bwMode="auto">
            <a:xfrm>
              <a:off x="971550" y="3441693"/>
              <a:ext cx="1439863" cy="784830"/>
            </a:xfrm>
            <a:prstGeom prst="rect">
              <a:avLst/>
            </a:prstGeom>
            <a:noFill/>
            <a:ln w="9525">
              <a:noFill/>
              <a:miter lim="800000"/>
              <a:headEnd/>
              <a:tailEnd/>
            </a:ln>
            <a:effectLst/>
          </p:spPr>
          <p:txBody>
            <a:bodyPr>
              <a:spAutoFit/>
            </a:bodyPr>
            <a:lstStyle/>
            <a:p>
              <a:pPr>
                <a:spcBef>
                  <a:spcPct val="50000"/>
                </a:spcBef>
              </a:pPr>
              <a:r>
                <a:rPr lang="en-US" altLang="zh-CN" sz="1800" i="1" err="1">
                  <a:latin typeface="Consolas" pitchFamily="49" charset="0"/>
                  <a:ea typeface="仿宋" pitchFamily="49" charset="-122"/>
                  <a:cs typeface="Consolas" pitchFamily="49" charset="0"/>
                </a:rPr>
                <a:t>a</a:t>
              </a:r>
              <a:r>
                <a:rPr lang="en-US" altLang="zh-CN" sz="1800" i="1" baseline="-25000" err="1">
                  <a:latin typeface="Consolas" pitchFamily="49" charset="0"/>
                  <a:ea typeface="仿宋" pitchFamily="49" charset="-122"/>
                  <a:cs typeface="Consolas" pitchFamily="49" charset="0"/>
                </a:rPr>
                <a:t>i,j</a:t>
              </a:r>
              <a:r>
                <a:rPr lang="zh-CN" altLang="en-US" sz="1800">
                  <a:latin typeface="Consolas" pitchFamily="49" charset="0"/>
                  <a:ea typeface="仿宋" pitchFamily="49" charset="-122"/>
                  <a:cs typeface="Consolas" pitchFamily="49" charset="0"/>
                </a:rPr>
                <a:t>（</a:t>
              </a:r>
              <a:r>
                <a:rPr lang="en-US" altLang="zh-CN" sz="1800" i="1">
                  <a:latin typeface="Consolas" pitchFamily="49" charset="0"/>
                  <a:ea typeface="仿宋" pitchFamily="49" charset="-122"/>
                  <a:cs typeface="Consolas" pitchFamily="49" charset="0"/>
                </a:rPr>
                <a:t>i</a:t>
              </a:r>
              <a:r>
                <a:rPr lang="en-US" altLang="zh-CN" sz="1800">
                  <a:latin typeface="Consolas" pitchFamily="49" charset="0"/>
                  <a:ea typeface="仿宋" pitchFamily="49" charset="-122"/>
                  <a:cs typeface="Consolas" pitchFamily="49" charset="0"/>
                </a:rPr>
                <a:t>&gt;</a:t>
              </a:r>
              <a:r>
                <a:rPr lang="en-US" altLang="zh-CN" sz="1800" i="1">
                  <a:latin typeface="Consolas" pitchFamily="49" charset="0"/>
                  <a:ea typeface="仿宋" pitchFamily="49" charset="-122"/>
                  <a:cs typeface="Consolas" pitchFamily="49" charset="0"/>
                </a:rPr>
                <a:t>j</a:t>
              </a:r>
              <a:r>
                <a:rPr lang="zh-CN" altLang="en-US" sz="1800">
                  <a:latin typeface="Consolas" pitchFamily="49" charset="0"/>
                  <a:ea typeface="仿宋" pitchFamily="49" charset="-122"/>
                  <a:cs typeface="Consolas" pitchFamily="49" charset="0"/>
                </a:rPr>
                <a:t>）</a:t>
              </a:r>
            </a:p>
            <a:p>
              <a:pPr>
                <a:spcBef>
                  <a:spcPct val="50000"/>
                </a:spcBef>
              </a:pPr>
              <a:r>
                <a:rPr lang="zh-CN" altLang="en-US" sz="1800">
                  <a:solidFill>
                    <a:srgbClr val="FF00FF"/>
                  </a:solidFill>
                  <a:latin typeface="方正启体简体" pitchFamily="65" charset="-122"/>
                  <a:ea typeface="方正启体简体" pitchFamily="65" charset="-122"/>
                  <a:cs typeface="Consolas" pitchFamily="49" charset="0"/>
                </a:rPr>
                <a:t>下三角</a:t>
              </a:r>
            </a:p>
          </p:txBody>
        </p:sp>
        <p:sp>
          <p:nvSpPr>
            <p:cNvPr id="37" name="Freeform 10">
              <a:extLst>
                <a:ext uri="{FF2B5EF4-FFF2-40B4-BE49-F238E27FC236}">
                  <a16:creationId xmlns:a16="http://schemas.microsoft.com/office/drawing/2014/main" id="{0005E1DF-920F-AA0A-0368-913327E03C3F}"/>
                </a:ext>
              </a:extLst>
            </p:cNvPr>
            <p:cNvSpPr>
              <a:spLocks/>
            </p:cNvSpPr>
            <p:nvPr/>
          </p:nvSpPr>
          <p:spPr bwMode="auto">
            <a:xfrm>
              <a:off x="2195513" y="3360730"/>
              <a:ext cx="827087" cy="442913"/>
            </a:xfrm>
            <a:custGeom>
              <a:avLst/>
              <a:gdLst/>
              <a:ahLst/>
              <a:cxnLst>
                <a:cxn ang="0">
                  <a:pos x="0" y="279"/>
                </a:cxn>
                <a:cxn ang="0">
                  <a:pos x="521" y="0"/>
                </a:cxn>
              </a:cxnLst>
              <a:rect l="0" t="0" r="r" b="b"/>
              <a:pathLst>
                <a:path w="521" h="279">
                  <a:moveTo>
                    <a:pt x="0" y="279"/>
                  </a:moveTo>
                  <a:lnTo>
                    <a:pt x="521" y="0"/>
                  </a:lnTo>
                </a:path>
              </a:pathLst>
            </a:custGeom>
            <a:noFill/>
            <a:ln w="28575" cap="flat" cmpd="sng">
              <a:solidFill>
                <a:srgbClr val="00CC00"/>
              </a:solidFill>
              <a:prstDash val="solid"/>
              <a:miter lim="800000"/>
              <a:headEnd type="none" w="med" len="med"/>
              <a:tailEnd type="none" w="med" len="med"/>
            </a:ln>
            <a:effectLst/>
          </p:spPr>
          <p:txBody>
            <a:bodyPr wrap="none"/>
            <a:lstStyle/>
            <a:p>
              <a:endParaRPr lang="zh-CN" altLang="en-US">
                <a:latin typeface="Consolas" pitchFamily="49" charset="0"/>
                <a:cs typeface="Consolas" pitchFamily="49" charset="0"/>
              </a:endParaRPr>
            </a:p>
          </p:txBody>
        </p:sp>
        <p:sp>
          <p:nvSpPr>
            <p:cNvPr id="41" name="直角三角形 40">
              <a:extLst>
                <a:ext uri="{FF2B5EF4-FFF2-40B4-BE49-F238E27FC236}">
                  <a16:creationId xmlns:a16="http://schemas.microsoft.com/office/drawing/2014/main" id="{B7B31A79-F794-ABF4-7C1B-DABEBF453215}"/>
                </a:ext>
              </a:extLst>
            </p:cNvPr>
            <p:cNvSpPr/>
            <p:nvPr/>
          </p:nvSpPr>
          <p:spPr>
            <a:xfrm>
              <a:off x="2786050" y="2714620"/>
              <a:ext cx="2219315" cy="1509710"/>
            </a:xfrm>
            <a:prstGeom prst="rtTriangl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grpSp>
      <p:grpSp>
        <p:nvGrpSpPr>
          <p:cNvPr id="42" name="组合 18">
            <a:extLst>
              <a:ext uri="{FF2B5EF4-FFF2-40B4-BE49-F238E27FC236}">
                <a16:creationId xmlns:a16="http://schemas.microsoft.com/office/drawing/2014/main" id="{35601EA8-DD28-E6C8-7D27-C2ED69725C59}"/>
              </a:ext>
            </a:extLst>
          </p:cNvPr>
          <p:cNvGrpSpPr/>
          <p:nvPr/>
        </p:nvGrpSpPr>
        <p:grpSpPr>
          <a:xfrm>
            <a:off x="4651353" y="4192174"/>
            <a:ext cx="4576768" cy="1571636"/>
            <a:chOff x="3143240" y="2513006"/>
            <a:chExt cx="4475153" cy="1571636"/>
          </a:xfrm>
        </p:grpSpPr>
        <p:sp>
          <p:nvSpPr>
            <p:cNvPr id="43" name="Line 7">
              <a:extLst>
                <a:ext uri="{FF2B5EF4-FFF2-40B4-BE49-F238E27FC236}">
                  <a16:creationId xmlns:a16="http://schemas.microsoft.com/office/drawing/2014/main" id="{646C06FB-19FF-0A75-FC21-7F84E405C1B5}"/>
                </a:ext>
              </a:extLst>
            </p:cNvPr>
            <p:cNvSpPr>
              <a:spLocks noChangeShapeType="1"/>
            </p:cNvSpPr>
            <p:nvPr/>
          </p:nvSpPr>
          <p:spPr bwMode="auto">
            <a:xfrm>
              <a:off x="5292725" y="2938455"/>
              <a:ext cx="719138" cy="215900"/>
            </a:xfrm>
            <a:prstGeom prst="line">
              <a:avLst/>
            </a:prstGeom>
            <a:noFill/>
            <a:ln w="38100">
              <a:solidFill>
                <a:srgbClr val="00CC00"/>
              </a:solidFill>
              <a:miter lim="800000"/>
              <a:headEnd/>
              <a:tailEnd/>
            </a:ln>
            <a:effectLst/>
          </p:spPr>
          <p:txBody>
            <a:bodyPr wrap="none"/>
            <a:lstStyle/>
            <a:p>
              <a:endParaRPr lang="zh-CN" altLang="en-US">
                <a:latin typeface="Consolas" pitchFamily="49" charset="0"/>
                <a:cs typeface="Consolas" pitchFamily="49" charset="0"/>
              </a:endParaRPr>
            </a:p>
          </p:txBody>
        </p:sp>
        <p:sp>
          <p:nvSpPr>
            <p:cNvPr id="44" name="Text Box 8">
              <a:extLst>
                <a:ext uri="{FF2B5EF4-FFF2-40B4-BE49-F238E27FC236}">
                  <a16:creationId xmlns:a16="http://schemas.microsoft.com/office/drawing/2014/main" id="{49CEF5F5-2B37-872D-7361-268D6BF5D116}"/>
                </a:ext>
              </a:extLst>
            </p:cNvPr>
            <p:cNvSpPr txBox="1">
              <a:spLocks noChangeArrowheads="1"/>
            </p:cNvSpPr>
            <p:nvPr/>
          </p:nvSpPr>
          <p:spPr bwMode="auto">
            <a:xfrm>
              <a:off x="6084888" y="2649530"/>
              <a:ext cx="1533505" cy="784830"/>
            </a:xfrm>
            <a:prstGeom prst="rect">
              <a:avLst/>
            </a:prstGeom>
            <a:noFill/>
            <a:ln w="9525">
              <a:noFill/>
              <a:miter lim="800000"/>
              <a:headEnd/>
              <a:tailEnd/>
            </a:ln>
            <a:effectLst/>
          </p:spPr>
          <p:txBody>
            <a:bodyPr wrap="square">
              <a:spAutoFit/>
            </a:bodyPr>
            <a:lstStyle/>
            <a:p>
              <a:pPr algn="l">
                <a:spcBef>
                  <a:spcPct val="50000"/>
                </a:spcBef>
              </a:pPr>
              <a:r>
                <a:rPr lang="en-US" altLang="zh-CN" sz="1800" i="1" err="1">
                  <a:latin typeface="Consolas" pitchFamily="49" charset="0"/>
                  <a:ea typeface="仿宋" pitchFamily="49" charset="-122"/>
                  <a:cs typeface="Consolas" pitchFamily="49" charset="0"/>
                </a:rPr>
                <a:t>a</a:t>
              </a:r>
              <a:r>
                <a:rPr lang="en-US" altLang="zh-CN" sz="1800" i="1" baseline="-25000" err="1">
                  <a:latin typeface="Consolas" pitchFamily="49" charset="0"/>
                  <a:ea typeface="仿宋" pitchFamily="49" charset="-122"/>
                  <a:cs typeface="Consolas" pitchFamily="49" charset="0"/>
                </a:rPr>
                <a:t>i,j</a:t>
              </a:r>
              <a:r>
                <a:rPr lang="zh-CN" altLang="en-US" sz="1800">
                  <a:latin typeface="Consolas" pitchFamily="49" charset="0"/>
                  <a:ea typeface="仿宋" pitchFamily="49" charset="-122"/>
                  <a:cs typeface="Consolas" pitchFamily="49" charset="0"/>
                </a:rPr>
                <a:t>（</a:t>
              </a:r>
              <a:r>
                <a:rPr lang="en-US" altLang="zh-CN" sz="1800" i="1">
                  <a:latin typeface="Consolas" pitchFamily="49" charset="0"/>
                  <a:ea typeface="仿宋" pitchFamily="49" charset="-122"/>
                  <a:cs typeface="Consolas" pitchFamily="49" charset="0"/>
                </a:rPr>
                <a:t>i</a:t>
              </a:r>
              <a:r>
                <a:rPr lang="en-US" altLang="zh-CN" sz="1800">
                  <a:latin typeface="Consolas" pitchFamily="49" charset="0"/>
                  <a:ea typeface="仿宋" pitchFamily="49" charset="-122"/>
                  <a:cs typeface="Consolas" pitchFamily="49" charset="0"/>
                </a:rPr>
                <a:t>&lt;</a:t>
              </a:r>
              <a:r>
                <a:rPr lang="en-US" altLang="zh-CN" sz="1800" i="1">
                  <a:latin typeface="Consolas" pitchFamily="49" charset="0"/>
                  <a:ea typeface="仿宋" pitchFamily="49" charset="-122"/>
                  <a:cs typeface="Consolas" pitchFamily="49" charset="0"/>
                </a:rPr>
                <a:t>j</a:t>
              </a:r>
              <a:r>
                <a:rPr lang="zh-CN" altLang="en-US" sz="1800">
                  <a:latin typeface="Consolas" pitchFamily="49" charset="0"/>
                  <a:ea typeface="仿宋" pitchFamily="49" charset="-122"/>
                  <a:cs typeface="Consolas" pitchFamily="49" charset="0"/>
                </a:rPr>
                <a:t>）</a:t>
              </a:r>
            </a:p>
            <a:p>
              <a:pPr algn="l">
                <a:spcBef>
                  <a:spcPct val="50000"/>
                </a:spcBef>
              </a:pPr>
              <a:r>
                <a:rPr lang="zh-CN" altLang="en-US" sz="1800">
                  <a:solidFill>
                    <a:srgbClr val="FF00FF"/>
                  </a:solidFill>
                  <a:latin typeface="方正启体简体" pitchFamily="65" charset="-122"/>
                  <a:ea typeface="方正启体简体" pitchFamily="65" charset="-122"/>
                  <a:cs typeface="Consolas" pitchFamily="49" charset="0"/>
                </a:rPr>
                <a:t>上三角</a:t>
              </a:r>
            </a:p>
          </p:txBody>
        </p:sp>
        <p:sp>
          <p:nvSpPr>
            <p:cNvPr id="46" name="直角三角形 45">
              <a:extLst>
                <a:ext uri="{FF2B5EF4-FFF2-40B4-BE49-F238E27FC236}">
                  <a16:creationId xmlns:a16="http://schemas.microsoft.com/office/drawing/2014/main" id="{5CA635BB-8E0B-A648-7A2C-E010423AA120}"/>
                </a:ext>
              </a:extLst>
            </p:cNvPr>
            <p:cNvSpPr/>
            <p:nvPr/>
          </p:nvSpPr>
          <p:spPr>
            <a:xfrm rot="10800000">
              <a:off x="3143240" y="2513006"/>
              <a:ext cx="2500330" cy="1571636"/>
            </a:xfrm>
            <a:prstGeom prst="rtTriangl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grpSp>
      <p:grpSp>
        <p:nvGrpSpPr>
          <p:cNvPr id="47" name="组合 40">
            <a:extLst>
              <a:ext uri="{FF2B5EF4-FFF2-40B4-BE49-F238E27FC236}">
                <a16:creationId xmlns:a16="http://schemas.microsoft.com/office/drawing/2014/main" id="{4801588F-2EA7-50FC-2C1E-BF15AEC98A9F}"/>
              </a:ext>
            </a:extLst>
          </p:cNvPr>
          <p:cNvGrpSpPr/>
          <p:nvPr/>
        </p:nvGrpSpPr>
        <p:grpSpPr>
          <a:xfrm>
            <a:off x="4327474" y="4150886"/>
            <a:ext cx="2828946" cy="1752612"/>
            <a:chOff x="3243057" y="2214554"/>
            <a:chExt cx="2809598" cy="1752612"/>
          </a:xfrm>
        </p:grpSpPr>
        <p:cxnSp>
          <p:nvCxnSpPr>
            <p:cNvPr id="48" name="直接连接符 47">
              <a:extLst>
                <a:ext uri="{FF2B5EF4-FFF2-40B4-BE49-F238E27FC236}">
                  <a16:creationId xmlns:a16="http://schemas.microsoft.com/office/drawing/2014/main" id="{75887D80-24E9-41F3-ED25-22856EDDC476}"/>
                </a:ext>
              </a:extLst>
            </p:cNvPr>
            <p:cNvCxnSpPr/>
            <p:nvPr/>
          </p:nvCxnSpPr>
          <p:spPr>
            <a:xfrm rot="5400000">
              <a:off x="2386595" y="30710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66D14DA0-1AEC-6DDF-4F39-E87C98D67FBA}"/>
                </a:ext>
              </a:extLst>
            </p:cNvPr>
            <p:cNvCxnSpPr/>
            <p:nvPr/>
          </p:nvCxnSpPr>
          <p:spPr>
            <a:xfrm>
              <a:off x="3244646" y="22272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FEC24215-3C78-BACD-F996-2D7CA4B75B8B}"/>
                </a:ext>
              </a:extLst>
            </p:cNvPr>
            <p:cNvCxnSpPr/>
            <p:nvPr/>
          </p:nvCxnSpPr>
          <p:spPr>
            <a:xfrm>
              <a:off x="3243058" y="39243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51" name="TextBox 24">
              <a:extLst>
                <a:ext uri="{FF2B5EF4-FFF2-40B4-BE49-F238E27FC236}">
                  <a16:creationId xmlns:a16="http://schemas.microsoft.com/office/drawing/2014/main" id="{613E2692-46F3-8440-FC04-18A98464B9CF}"/>
                </a:ext>
              </a:extLst>
            </p:cNvPr>
            <p:cNvSpPr txBox="1"/>
            <p:nvPr/>
          </p:nvSpPr>
          <p:spPr>
            <a:xfrm>
              <a:off x="3359142" y="2258590"/>
              <a:ext cx="714380"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0,0</a:t>
              </a:r>
              <a:endParaRPr lang="zh-CN" altLang="en-US" sz="2000" baseline="-25000">
                <a:latin typeface="Consolas" pitchFamily="49" charset="0"/>
                <a:cs typeface="Consolas" pitchFamily="49" charset="0"/>
              </a:endParaRPr>
            </a:p>
          </p:txBody>
        </p:sp>
        <p:sp>
          <p:nvSpPr>
            <p:cNvPr id="52" name="TextBox 25">
              <a:extLst>
                <a:ext uri="{FF2B5EF4-FFF2-40B4-BE49-F238E27FC236}">
                  <a16:creationId xmlns:a16="http://schemas.microsoft.com/office/drawing/2014/main" id="{19FD2813-E53E-AA8A-5332-37E4D5080C03}"/>
                </a:ext>
              </a:extLst>
            </p:cNvPr>
            <p:cNvSpPr txBox="1"/>
            <p:nvPr/>
          </p:nvSpPr>
          <p:spPr>
            <a:xfrm>
              <a:off x="4002084" y="2258590"/>
              <a:ext cx="714380"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0,1</a:t>
              </a:r>
              <a:endParaRPr lang="zh-CN" altLang="en-US" sz="2000" baseline="-25000">
                <a:latin typeface="Consolas" pitchFamily="49" charset="0"/>
                <a:cs typeface="Consolas" pitchFamily="49" charset="0"/>
              </a:endParaRPr>
            </a:p>
          </p:txBody>
        </p:sp>
        <p:sp>
          <p:nvSpPr>
            <p:cNvPr id="53" name="TextBox 26">
              <a:extLst>
                <a:ext uri="{FF2B5EF4-FFF2-40B4-BE49-F238E27FC236}">
                  <a16:creationId xmlns:a16="http://schemas.microsoft.com/office/drawing/2014/main" id="{6117BD2D-D173-D9E1-FF9E-B80BAF4C54E6}"/>
                </a:ext>
              </a:extLst>
            </p:cNvPr>
            <p:cNvSpPr txBox="1"/>
            <p:nvPr/>
          </p:nvSpPr>
          <p:spPr>
            <a:xfrm>
              <a:off x="5216530" y="2258590"/>
              <a:ext cx="714380"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a:t>
              </a:r>
              <a:r>
                <a:rPr lang="en-US" altLang="zh-CN" sz="2000" i="1" baseline="-25000" err="1">
                  <a:latin typeface="Consolas" pitchFamily="49" charset="0"/>
                  <a:cs typeface="Consolas" pitchFamily="49" charset="0"/>
                </a:rPr>
                <a:t>n</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54" name="TextBox 27">
              <a:extLst>
                <a:ext uri="{FF2B5EF4-FFF2-40B4-BE49-F238E27FC236}">
                  <a16:creationId xmlns:a16="http://schemas.microsoft.com/office/drawing/2014/main" id="{D94D5AFB-D743-6CBD-B68C-C1DB95AB7ED5}"/>
                </a:ext>
              </a:extLst>
            </p:cNvPr>
            <p:cNvSpPr txBox="1"/>
            <p:nvPr/>
          </p:nvSpPr>
          <p:spPr>
            <a:xfrm>
              <a:off x="4645026" y="2239954"/>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sp>
          <p:nvSpPr>
            <p:cNvPr id="55" name="TextBox 28">
              <a:extLst>
                <a:ext uri="{FF2B5EF4-FFF2-40B4-BE49-F238E27FC236}">
                  <a16:creationId xmlns:a16="http://schemas.microsoft.com/office/drawing/2014/main" id="{97D8FB9F-7513-3F15-36DE-8F0D78D0258B}"/>
                </a:ext>
              </a:extLst>
            </p:cNvPr>
            <p:cNvSpPr txBox="1"/>
            <p:nvPr/>
          </p:nvSpPr>
          <p:spPr>
            <a:xfrm>
              <a:off x="3359142" y="2687218"/>
              <a:ext cx="714380"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1,0</a:t>
              </a:r>
              <a:endParaRPr lang="zh-CN" altLang="en-US" sz="2000" baseline="-25000">
                <a:latin typeface="Consolas" pitchFamily="49" charset="0"/>
                <a:cs typeface="Consolas" pitchFamily="49" charset="0"/>
              </a:endParaRPr>
            </a:p>
          </p:txBody>
        </p:sp>
        <p:sp>
          <p:nvSpPr>
            <p:cNvPr id="56" name="TextBox 29">
              <a:extLst>
                <a:ext uri="{FF2B5EF4-FFF2-40B4-BE49-F238E27FC236}">
                  <a16:creationId xmlns:a16="http://schemas.microsoft.com/office/drawing/2014/main" id="{C639DF12-A3F0-18AB-CCB6-57638002D014}"/>
                </a:ext>
              </a:extLst>
            </p:cNvPr>
            <p:cNvSpPr txBox="1"/>
            <p:nvPr/>
          </p:nvSpPr>
          <p:spPr>
            <a:xfrm>
              <a:off x="4002084" y="2687218"/>
              <a:ext cx="714380"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1,1</a:t>
              </a:r>
              <a:endParaRPr lang="zh-CN" altLang="en-US" sz="2000" baseline="-25000">
                <a:latin typeface="Consolas" pitchFamily="49" charset="0"/>
                <a:cs typeface="Consolas" pitchFamily="49" charset="0"/>
              </a:endParaRPr>
            </a:p>
          </p:txBody>
        </p:sp>
        <p:sp>
          <p:nvSpPr>
            <p:cNvPr id="57" name="TextBox 30">
              <a:extLst>
                <a:ext uri="{FF2B5EF4-FFF2-40B4-BE49-F238E27FC236}">
                  <a16:creationId xmlns:a16="http://schemas.microsoft.com/office/drawing/2014/main" id="{60FE704B-4C4F-D196-2F3C-B77A342C8138}"/>
                </a:ext>
              </a:extLst>
            </p:cNvPr>
            <p:cNvSpPr txBox="1"/>
            <p:nvPr/>
          </p:nvSpPr>
          <p:spPr>
            <a:xfrm>
              <a:off x="5216530" y="2687218"/>
              <a:ext cx="714380"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a:t>
              </a:r>
              <a:r>
                <a:rPr lang="en-US" altLang="zh-CN" sz="2000" i="1" baseline="-25000" err="1">
                  <a:latin typeface="Consolas" pitchFamily="49" charset="0"/>
                  <a:cs typeface="Consolas" pitchFamily="49" charset="0"/>
                </a:rPr>
                <a:t>n</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58" name="TextBox 31">
              <a:extLst>
                <a:ext uri="{FF2B5EF4-FFF2-40B4-BE49-F238E27FC236}">
                  <a16:creationId xmlns:a16="http://schemas.microsoft.com/office/drawing/2014/main" id="{048D420A-034F-E3AC-B357-4777246C0FE8}"/>
                </a:ext>
              </a:extLst>
            </p:cNvPr>
            <p:cNvSpPr txBox="1"/>
            <p:nvPr/>
          </p:nvSpPr>
          <p:spPr>
            <a:xfrm>
              <a:off x="4645026" y="2668582"/>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sp>
          <p:nvSpPr>
            <p:cNvPr id="59" name="TextBox 32">
              <a:extLst>
                <a:ext uri="{FF2B5EF4-FFF2-40B4-BE49-F238E27FC236}">
                  <a16:creationId xmlns:a16="http://schemas.microsoft.com/office/drawing/2014/main" id="{4AFC07DB-BEF1-AB5B-6FBA-5DF6EBF2B9CA}"/>
                </a:ext>
              </a:extLst>
            </p:cNvPr>
            <p:cNvSpPr txBox="1"/>
            <p:nvPr/>
          </p:nvSpPr>
          <p:spPr>
            <a:xfrm>
              <a:off x="3359142" y="3549236"/>
              <a:ext cx="714380" cy="307777"/>
            </a:xfrm>
            <a:prstGeom prst="rect">
              <a:avLst/>
            </a:prstGeom>
            <a:noFill/>
          </p:spPr>
          <p:txBody>
            <a:bodyPr wrap="square" lIns="0" tIns="0" rIns="0" bIns="0" rtlCol="0">
              <a:spAutoFit/>
            </a:bodyPr>
            <a:lstStyle/>
            <a:p>
              <a:r>
                <a:rPr lang="en-US" altLang="zh-CN" sz="2000" i="1">
                  <a:latin typeface="Consolas" pitchFamily="49" charset="0"/>
                  <a:cs typeface="Consolas" pitchFamily="49" charset="0"/>
                </a:rPr>
                <a:t>a</a:t>
              </a:r>
              <a:r>
                <a:rPr lang="en-US" altLang="zh-CN" sz="2000" i="1" baseline="-25000">
                  <a:latin typeface="Consolas" pitchFamily="49" charset="0"/>
                  <a:cs typeface="Consolas" pitchFamily="49" charset="0"/>
                </a:rPr>
                <a:t>n</a:t>
              </a:r>
              <a:r>
                <a:rPr lang="en-US" altLang="zh-CN" sz="2000" baseline="-25000">
                  <a:latin typeface="Consolas" pitchFamily="49" charset="0"/>
                  <a:cs typeface="Consolas" pitchFamily="49" charset="0"/>
                </a:rPr>
                <a:t>-1,0</a:t>
              </a:r>
              <a:endParaRPr lang="zh-CN" altLang="en-US" sz="2000" baseline="-25000">
                <a:latin typeface="Consolas" pitchFamily="49" charset="0"/>
                <a:cs typeface="Consolas" pitchFamily="49" charset="0"/>
              </a:endParaRPr>
            </a:p>
          </p:txBody>
        </p:sp>
        <p:sp>
          <p:nvSpPr>
            <p:cNvPr id="60" name="TextBox 33">
              <a:extLst>
                <a:ext uri="{FF2B5EF4-FFF2-40B4-BE49-F238E27FC236}">
                  <a16:creationId xmlns:a16="http://schemas.microsoft.com/office/drawing/2014/main" id="{7CDE286F-A775-8173-958A-1590A085485E}"/>
                </a:ext>
              </a:extLst>
            </p:cNvPr>
            <p:cNvSpPr txBox="1"/>
            <p:nvPr/>
          </p:nvSpPr>
          <p:spPr>
            <a:xfrm>
              <a:off x="4002084" y="3549236"/>
              <a:ext cx="714380" cy="307777"/>
            </a:xfrm>
            <a:prstGeom prst="rect">
              <a:avLst/>
            </a:prstGeom>
            <a:noFill/>
          </p:spPr>
          <p:txBody>
            <a:bodyPr wrap="square" lIns="0" tIns="0" rIns="0" bIns="0" rtlCol="0">
              <a:spAutoFit/>
            </a:bodyPr>
            <a:lstStyle/>
            <a:p>
              <a:r>
                <a:rPr lang="en-US" altLang="zh-CN" sz="2000" i="1">
                  <a:latin typeface="Consolas" pitchFamily="49" charset="0"/>
                  <a:cs typeface="Consolas" pitchFamily="49" charset="0"/>
                </a:rPr>
                <a:t>a</a:t>
              </a:r>
              <a:r>
                <a:rPr lang="en-US" altLang="zh-CN" sz="2000" i="1" baseline="-25000">
                  <a:latin typeface="Consolas" pitchFamily="49" charset="0"/>
                  <a:cs typeface="Consolas" pitchFamily="49" charset="0"/>
                </a:rPr>
                <a:t>n</a:t>
              </a:r>
              <a:r>
                <a:rPr lang="en-US" altLang="zh-CN" sz="2000" baseline="-25000">
                  <a:latin typeface="Consolas" pitchFamily="49" charset="0"/>
                  <a:cs typeface="Consolas" pitchFamily="49" charset="0"/>
                </a:rPr>
                <a:t>-1,1</a:t>
              </a:r>
              <a:endParaRPr lang="zh-CN" altLang="en-US" sz="2000" baseline="-25000">
                <a:latin typeface="Consolas" pitchFamily="49" charset="0"/>
                <a:cs typeface="Consolas" pitchFamily="49" charset="0"/>
              </a:endParaRPr>
            </a:p>
          </p:txBody>
        </p:sp>
        <p:sp>
          <p:nvSpPr>
            <p:cNvPr id="61" name="TextBox 34">
              <a:extLst>
                <a:ext uri="{FF2B5EF4-FFF2-40B4-BE49-F238E27FC236}">
                  <a16:creationId xmlns:a16="http://schemas.microsoft.com/office/drawing/2014/main" id="{5D3B0B6A-5E3B-1C9D-8FF4-592A483C60CB}"/>
                </a:ext>
              </a:extLst>
            </p:cNvPr>
            <p:cNvSpPr txBox="1"/>
            <p:nvPr/>
          </p:nvSpPr>
          <p:spPr>
            <a:xfrm>
              <a:off x="5216530" y="3549236"/>
              <a:ext cx="836125" cy="307777"/>
            </a:xfrm>
            <a:prstGeom prst="rect">
              <a:avLst/>
            </a:prstGeom>
            <a:noFill/>
          </p:spPr>
          <p:txBody>
            <a:bodyPr wrap="square" lIns="0" tIns="0" rIns="0" bIns="0" rtlCol="0">
              <a:spAutoFit/>
            </a:bodyPr>
            <a:lstStyle/>
            <a:p>
              <a:r>
                <a:rPr lang="en-US" altLang="zh-CN" sz="2000" i="1">
                  <a:latin typeface="Consolas" pitchFamily="49" charset="0"/>
                  <a:cs typeface="Consolas" pitchFamily="49" charset="0"/>
                </a:rPr>
                <a:t>a</a:t>
              </a:r>
              <a:r>
                <a:rPr lang="en-US" altLang="zh-CN" sz="2000" i="1" baseline="-25000">
                  <a:latin typeface="Consolas" pitchFamily="49" charset="0"/>
                  <a:cs typeface="Consolas" pitchFamily="49" charset="0"/>
                </a:rPr>
                <a:t>n</a:t>
              </a:r>
              <a:r>
                <a:rPr lang="en-US" altLang="zh-CN" sz="2000" baseline="-25000">
                  <a:latin typeface="Consolas" pitchFamily="49" charset="0"/>
                  <a:cs typeface="Consolas" pitchFamily="49" charset="0"/>
                </a:rPr>
                <a:t>-</a:t>
              </a:r>
              <a:r>
                <a:rPr lang="en-US" altLang="zh-CN" sz="2000" baseline="-25000" err="1">
                  <a:latin typeface="Consolas" pitchFamily="49" charset="0"/>
                  <a:cs typeface="Consolas" pitchFamily="49" charset="0"/>
                </a:rPr>
                <a:t>1,</a:t>
              </a:r>
              <a:r>
                <a:rPr lang="en-US" altLang="zh-CN" sz="2000" i="1" baseline="-25000" err="1">
                  <a:latin typeface="Consolas" pitchFamily="49" charset="0"/>
                  <a:cs typeface="Consolas" pitchFamily="49" charset="0"/>
                </a:rPr>
                <a:t>n</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62" name="TextBox 35">
              <a:extLst>
                <a:ext uri="{FF2B5EF4-FFF2-40B4-BE49-F238E27FC236}">
                  <a16:creationId xmlns:a16="http://schemas.microsoft.com/office/drawing/2014/main" id="{E7B12524-32AA-60C7-E11C-F1D92C6470CF}"/>
                </a:ext>
              </a:extLst>
            </p:cNvPr>
            <p:cNvSpPr txBox="1"/>
            <p:nvPr/>
          </p:nvSpPr>
          <p:spPr>
            <a:xfrm>
              <a:off x="4645026" y="3530600"/>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cxnSp>
          <p:nvCxnSpPr>
            <p:cNvPr id="63" name="直接连接符 62">
              <a:extLst>
                <a:ext uri="{FF2B5EF4-FFF2-40B4-BE49-F238E27FC236}">
                  <a16:creationId xmlns:a16="http://schemas.microsoft.com/office/drawing/2014/main" id="{0D42FF6C-9AA2-D409-5872-C1FD8B865AE6}"/>
                </a:ext>
              </a:extLst>
            </p:cNvPr>
            <p:cNvCxnSpPr/>
            <p:nvPr/>
          </p:nvCxnSpPr>
          <p:spPr>
            <a:xfrm rot="5400000">
              <a:off x="5180781" y="31091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A4F8B01B-3D70-FE56-315D-DAD4684731B5}"/>
                </a:ext>
              </a:extLst>
            </p:cNvPr>
            <p:cNvCxnSpPr/>
            <p:nvPr/>
          </p:nvCxnSpPr>
          <p:spPr>
            <a:xfrm>
              <a:off x="5908655" y="22653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E058BB07-AC40-0B69-9CE9-307AC5022509}"/>
                </a:ext>
              </a:extLst>
            </p:cNvPr>
            <p:cNvCxnSpPr/>
            <p:nvPr/>
          </p:nvCxnSpPr>
          <p:spPr>
            <a:xfrm>
              <a:off x="5907067" y="39624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66" name="TextBox 39">
              <a:extLst>
                <a:ext uri="{FF2B5EF4-FFF2-40B4-BE49-F238E27FC236}">
                  <a16:creationId xmlns:a16="http://schemas.microsoft.com/office/drawing/2014/main" id="{CC470D43-1D9E-388B-E505-CA869E629DA1}"/>
                </a:ext>
              </a:extLst>
            </p:cNvPr>
            <p:cNvSpPr txBox="1"/>
            <p:nvPr/>
          </p:nvSpPr>
          <p:spPr>
            <a:xfrm>
              <a:off x="3502018" y="3097210"/>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grpSp>
    </p:spTree>
    <p:extLst>
      <p:ext uri="{BB962C8B-B14F-4D97-AF65-F5344CB8AC3E}">
        <p14:creationId xmlns:p14="http://schemas.microsoft.com/office/powerpoint/2010/main" val="4064738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1327261-759E-D7A8-2B75-6D1A1440FC57}"/>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3" name="Rectangle 2">
            <a:extLst>
              <a:ext uri="{FF2B5EF4-FFF2-40B4-BE49-F238E27FC236}">
                <a16:creationId xmlns:a16="http://schemas.microsoft.com/office/drawing/2014/main" id="{F64348A1-5022-1B11-7270-584E18AAF1AA}"/>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CE913656-4322-0ADF-F636-3285445CC080}"/>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1" name="直角三角形 20">
            <a:extLst>
              <a:ext uri="{FF2B5EF4-FFF2-40B4-BE49-F238E27FC236}">
                <a16:creationId xmlns:a16="http://schemas.microsoft.com/office/drawing/2014/main" id="{7D47A081-8B62-C6CE-CDA8-0513A64DF349}"/>
              </a:ext>
            </a:extLst>
          </p:cNvPr>
          <p:cNvSpPr/>
          <p:nvPr/>
        </p:nvSpPr>
        <p:spPr>
          <a:xfrm>
            <a:off x="7011584" y="1739050"/>
            <a:ext cx="2786082" cy="1857388"/>
          </a:xfrm>
          <a:prstGeom prst="rtTriangl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Consolas" pitchFamily="49" charset="0"/>
              <a:cs typeface="Consolas" pitchFamily="49" charset="0"/>
            </a:endParaRPr>
          </a:p>
        </p:txBody>
      </p:sp>
      <p:sp>
        <p:nvSpPr>
          <p:cNvPr id="22" name="Text Box 3">
            <a:extLst>
              <a:ext uri="{FF2B5EF4-FFF2-40B4-BE49-F238E27FC236}">
                <a16:creationId xmlns:a16="http://schemas.microsoft.com/office/drawing/2014/main" id="{E82E596A-F941-3FB3-116C-B1DB519CAD85}"/>
              </a:ext>
            </a:extLst>
          </p:cNvPr>
          <p:cNvSpPr txBox="1">
            <a:spLocks noChangeArrowheads="1"/>
          </p:cNvSpPr>
          <p:nvPr/>
        </p:nvSpPr>
        <p:spPr bwMode="auto">
          <a:xfrm>
            <a:off x="1111156" y="1808765"/>
            <a:ext cx="4515145" cy="707886"/>
          </a:xfrm>
          <a:prstGeom prst="rect">
            <a:avLst/>
          </a:prstGeom>
          <a:noFill/>
          <a:ln w="9525">
            <a:noFill/>
            <a:miter lim="800000"/>
            <a:headEnd/>
            <a:tailEnd/>
          </a:ln>
          <a:effectLst/>
        </p:spPr>
        <p:txBody>
          <a:bodyPr wrap="square">
            <a:spAutoFit/>
          </a:bodyPr>
          <a:lstStyle/>
          <a:p>
            <a:pPr algn="l"/>
            <a:r>
              <a:rPr lang="zh-CN" altLang="en-US" sz="2000" dirty="0">
                <a:latin typeface="微软雅黑" pitchFamily="34" charset="-122"/>
                <a:ea typeface="微软雅黑" pitchFamily="34" charset="-122"/>
                <a:cs typeface="经典粗黑简" pitchFamily="49" charset="-122"/>
              </a:rPr>
              <a:t>以行序为主序存储其下三角</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主对角线的元素。</a:t>
            </a:r>
          </a:p>
        </p:txBody>
      </p:sp>
      <p:grpSp>
        <p:nvGrpSpPr>
          <p:cNvPr id="36" name="组合 49">
            <a:extLst>
              <a:ext uri="{FF2B5EF4-FFF2-40B4-BE49-F238E27FC236}">
                <a16:creationId xmlns:a16="http://schemas.microsoft.com/office/drawing/2014/main" id="{F69BB298-E3F1-0F5B-27A2-94B8771DFC96}"/>
              </a:ext>
            </a:extLst>
          </p:cNvPr>
          <p:cNvGrpSpPr/>
          <p:nvPr/>
        </p:nvGrpSpPr>
        <p:grpSpPr>
          <a:xfrm>
            <a:off x="4439816" y="3953628"/>
            <a:ext cx="7143800" cy="1938709"/>
            <a:chOff x="642910" y="3214686"/>
            <a:chExt cx="7143800" cy="1938709"/>
          </a:xfrm>
        </p:grpSpPr>
        <p:sp>
          <p:nvSpPr>
            <p:cNvPr id="37" name="TextBox 13">
              <a:extLst>
                <a:ext uri="{FF2B5EF4-FFF2-40B4-BE49-F238E27FC236}">
                  <a16:creationId xmlns:a16="http://schemas.microsoft.com/office/drawing/2014/main" id="{E15843B4-BDE7-4BE9-57B8-536714E7FA04}"/>
                </a:ext>
              </a:extLst>
            </p:cNvPr>
            <p:cNvSpPr txBox="1"/>
            <p:nvPr/>
          </p:nvSpPr>
          <p:spPr>
            <a:xfrm>
              <a:off x="1142976" y="3967467"/>
              <a:ext cx="6500858" cy="400110"/>
            </a:xfrm>
            <a:prstGeom prst="rect">
              <a:avLst/>
            </a:prstGeom>
            <a:noFill/>
          </p:spPr>
          <p:txBody>
            <a:bodyPr wrap="square" rtlCol="0">
              <a:spAutoFit/>
            </a:bodyPr>
            <a:lstStyle/>
            <a:p>
              <a:pPr algn="l"/>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0,0</a:t>
              </a:r>
              <a:r>
                <a:rPr lang="zh-CN" altLang="en-US" sz="2000">
                  <a:latin typeface="Consolas" pitchFamily="49" charset="0"/>
                  <a:cs typeface="Consolas" pitchFamily="49" charset="0"/>
                </a:rPr>
                <a:t>，</a:t>
              </a:r>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1,0</a:t>
              </a:r>
              <a:r>
                <a:rPr lang="zh-CN" altLang="en-US" sz="2000">
                  <a:latin typeface="Consolas" pitchFamily="49" charset="0"/>
                  <a:cs typeface="Consolas" pitchFamily="49" charset="0"/>
                </a:rPr>
                <a:t>，</a:t>
              </a:r>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1,1</a:t>
              </a:r>
              <a:r>
                <a:rPr lang="zh-CN" altLang="en-US" sz="2000">
                  <a:latin typeface="Consolas" pitchFamily="49" charset="0"/>
                  <a:cs typeface="Consolas" pitchFamily="49" charset="0"/>
                </a:rPr>
                <a:t>，</a:t>
              </a:r>
              <a:r>
                <a:rPr lang="zh-CN" altLang="en-US" sz="2000">
                  <a:latin typeface="Consolas" pitchFamily="49" charset="0"/>
                  <a:cs typeface="Consolas" pitchFamily="49" charset="0"/>
                  <a:sym typeface="Symbol"/>
                </a:rPr>
                <a:t>，</a:t>
              </a:r>
              <a:r>
                <a:rPr lang="en-US" altLang="zh-CN" sz="2000" i="1">
                  <a:latin typeface="Consolas" pitchFamily="49" charset="0"/>
                  <a:cs typeface="Consolas" pitchFamily="49" charset="0"/>
                  <a:sym typeface="Symbol"/>
                </a:rPr>
                <a:t>a</a:t>
              </a:r>
              <a:r>
                <a:rPr lang="en-US" altLang="zh-CN" sz="2000" i="1" baseline="-25000">
                  <a:latin typeface="Consolas" pitchFamily="49" charset="0"/>
                  <a:cs typeface="Consolas" pitchFamily="49" charset="0"/>
                  <a:sym typeface="Symbol"/>
                </a:rPr>
                <a:t>n</a:t>
              </a:r>
              <a:r>
                <a:rPr lang="en-US" altLang="zh-CN" sz="2000" baseline="-25000">
                  <a:latin typeface="Consolas" pitchFamily="49" charset="0"/>
                  <a:cs typeface="Consolas" pitchFamily="49" charset="0"/>
                  <a:sym typeface="Symbol"/>
                </a:rPr>
                <a:t>-1,0</a:t>
              </a:r>
              <a:r>
                <a:rPr lang="zh-CN" altLang="en-US" sz="2000">
                  <a:latin typeface="Consolas" pitchFamily="49" charset="0"/>
                  <a:cs typeface="Consolas" pitchFamily="49" charset="0"/>
                  <a:sym typeface="Symbol"/>
                </a:rPr>
                <a:t>，</a:t>
              </a:r>
              <a:r>
                <a:rPr lang="en-US" altLang="zh-CN" sz="2000" i="1">
                  <a:latin typeface="Consolas" pitchFamily="49" charset="0"/>
                  <a:cs typeface="Consolas" pitchFamily="49" charset="0"/>
                  <a:sym typeface="Symbol"/>
                </a:rPr>
                <a:t>a</a:t>
              </a:r>
              <a:r>
                <a:rPr lang="en-US" altLang="zh-CN" sz="2000" i="1" baseline="-25000">
                  <a:latin typeface="Consolas" pitchFamily="49" charset="0"/>
                  <a:cs typeface="Consolas" pitchFamily="49" charset="0"/>
                  <a:sym typeface="Symbol"/>
                </a:rPr>
                <a:t>n</a:t>
              </a:r>
              <a:r>
                <a:rPr lang="en-US" altLang="zh-CN" sz="2000" baseline="-25000">
                  <a:latin typeface="Consolas" pitchFamily="49" charset="0"/>
                  <a:cs typeface="Consolas" pitchFamily="49" charset="0"/>
                  <a:sym typeface="Symbol"/>
                </a:rPr>
                <a:t>-1,1</a:t>
              </a:r>
              <a:r>
                <a:rPr lang="zh-CN" altLang="en-US" sz="2000">
                  <a:latin typeface="Consolas" pitchFamily="49" charset="0"/>
                  <a:cs typeface="Consolas" pitchFamily="49" charset="0"/>
                  <a:sym typeface="Symbol"/>
                </a:rPr>
                <a:t>， ，</a:t>
              </a:r>
              <a:r>
                <a:rPr lang="en-US" altLang="zh-CN" sz="2000" i="1">
                  <a:latin typeface="Consolas" pitchFamily="49" charset="0"/>
                  <a:cs typeface="Consolas" pitchFamily="49" charset="0"/>
                  <a:sym typeface="Symbol"/>
                </a:rPr>
                <a:t>a</a:t>
              </a:r>
              <a:r>
                <a:rPr lang="en-US" altLang="zh-CN" sz="2000" i="1" baseline="-25000">
                  <a:latin typeface="Consolas" pitchFamily="49" charset="0"/>
                  <a:cs typeface="Consolas" pitchFamily="49" charset="0"/>
                  <a:sym typeface="Symbol"/>
                </a:rPr>
                <a:t>n</a:t>
              </a:r>
              <a:r>
                <a:rPr lang="en-US" altLang="zh-CN" sz="2000" baseline="-25000">
                  <a:latin typeface="Consolas" pitchFamily="49" charset="0"/>
                  <a:cs typeface="Consolas" pitchFamily="49" charset="0"/>
                  <a:sym typeface="Symbol"/>
                </a:rPr>
                <a:t>-</a:t>
              </a:r>
              <a:r>
                <a:rPr lang="en-US" altLang="zh-CN" sz="2000" baseline="-25000" err="1">
                  <a:latin typeface="Consolas" pitchFamily="49" charset="0"/>
                  <a:cs typeface="Consolas" pitchFamily="49" charset="0"/>
                  <a:sym typeface="Symbol"/>
                </a:rPr>
                <a:t>1,</a:t>
              </a:r>
              <a:r>
                <a:rPr lang="en-US" altLang="zh-CN" sz="2000" i="1" baseline="-25000" err="1">
                  <a:latin typeface="Consolas" pitchFamily="49" charset="0"/>
                  <a:cs typeface="Consolas" pitchFamily="49" charset="0"/>
                  <a:sym typeface="Symbol"/>
                </a:rPr>
                <a:t>n</a:t>
              </a:r>
              <a:r>
                <a:rPr lang="en-US" altLang="zh-CN" sz="2000" baseline="-25000">
                  <a:latin typeface="Consolas" pitchFamily="49" charset="0"/>
                  <a:cs typeface="Consolas" pitchFamily="49" charset="0"/>
                  <a:sym typeface="Symbol"/>
                </a:rPr>
                <a:t>-1</a:t>
              </a:r>
              <a:endParaRPr lang="zh-CN" altLang="en-US" sz="2000" baseline="-25000">
                <a:latin typeface="Consolas" pitchFamily="49" charset="0"/>
                <a:cs typeface="Consolas" pitchFamily="49" charset="0"/>
              </a:endParaRPr>
            </a:p>
          </p:txBody>
        </p:sp>
        <p:sp>
          <p:nvSpPr>
            <p:cNvPr id="41" name="下箭头 14">
              <a:extLst>
                <a:ext uri="{FF2B5EF4-FFF2-40B4-BE49-F238E27FC236}">
                  <a16:creationId xmlns:a16="http://schemas.microsoft.com/office/drawing/2014/main" id="{86FF870E-0F56-B1D8-00A0-2F117783FAD5}"/>
                </a:ext>
              </a:extLst>
            </p:cNvPr>
            <p:cNvSpPr/>
            <p:nvPr/>
          </p:nvSpPr>
          <p:spPr>
            <a:xfrm>
              <a:off x="4071934" y="3214686"/>
              <a:ext cx="285752" cy="500066"/>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42" name="TextBox 15">
              <a:extLst>
                <a:ext uri="{FF2B5EF4-FFF2-40B4-BE49-F238E27FC236}">
                  <a16:creationId xmlns:a16="http://schemas.microsoft.com/office/drawing/2014/main" id="{E5610517-9177-EF75-916C-31D60AAD2E6F}"/>
                </a:ext>
              </a:extLst>
            </p:cNvPr>
            <p:cNvSpPr txBox="1"/>
            <p:nvPr/>
          </p:nvSpPr>
          <p:spPr>
            <a:xfrm>
              <a:off x="642910" y="4753285"/>
              <a:ext cx="7143800" cy="400110"/>
            </a:xfrm>
            <a:prstGeom prst="rect">
              <a:avLst/>
            </a:prstGeom>
            <a:noFill/>
          </p:spPr>
          <p:txBody>
            <a:bodyPr wrap="square" rtlCol="0">
              <a:spAutoFit/>
            </a:bodyPr>
            <a:lstStyle/>
            <a:p>
              <a:pPr algn="l"/>
              <a:r>
                <a:rPr lang="en-US" altLang="zh-CN" sz="2000" i="1">
                  <a:latin typeface="Consolas" pitchFamily="49" charset="0"/>
                  <a:cs typeface="Consolas" pitchFamily="49" charset="0"/>
                </a:rPr>
                <a:t>B</a:t>
              </a:r>
              <a:r>
                <a:rPr lang="en-US" altLang="zh-CN" sz="2000">
                  <a:latin typeface="Consolas" pitchFamily="49" charset="0"/>
                  <a:cs typeface="Consolas" pitchFamily="49" charset="0"/>
                </a:rPr>
                <a:t>=</a:t>
              </a:r>
              <a:r>
                <a:rPr lang="zh-CN" altLang="en-US" sz="2000">
                  <a:latin typeface="Consolas" pitchFamily="49" charset="0"/>
                  <a:cs typeface="Consolas" pitchFamily="49" charset="0"/>
                </a:rPr>
                <a:t>（</a:t>
              </a:r>
              <a:r>
                <a:rPr lang="en-US" altLang="zh-CN" sz="2000" i="1" err="1">
                  <a:latin typeface="Consolas" pitchFamily="49" charset="0"/>
                  <a:cs typeface="Consolas" pitchFamily="49" charset="0"/>
                </a:rPr>
                <a:t>b</a:t>
              </a:r>
              <a:r>
                <a:rPr lang="en-US" altLang="zh-CN" sz="2000" baseline="-25000" err="1">
                  <a:latin typeface="Consolas" pitchFamily="49" charset="0"/>
                  <a:cs typeface="Consolas" pitchFamily="49" charset="0"/>
                </a:rPr>
                <a:t>0</a:t>
              </a:r>
              <a:r>
                <a:rPr lang="zh-CN" altLang="en-US" sz="2000">
                  <a:latin typeface="Consolas" pitchFamily="49" charset="0"/>
                  <a:cs typeface="Consolas" pitchFamily="49" charset="0"/>
                </a:rPr>
                <a:t>，  </a:t>
              </a:r>
              <a:r>
                <a:rPr lang="en-US" altLang="zh-CN" sz="2000" i="1" err="1">
                  <a:latin typeface="Consolas" pitchFamily="49" charset="0"/>
                  <a:cs typeface="Consolas" pitchFamily="49" charset="0"/>
                </a:rPr>
                <a:t>b</a:t>
              </a:r>
              <a:r>
                <a:rPr lang="en-US" altLang="zh-CN" sz="2000" baseline="-25000" err="1">
                  <a:latin typeface="Consolas" pitchFamily="49" charset="0"/>
                  <a:cs typeface="Consolas" pitchFamily="49" charset="0"/>
                </a:rPr>
                <a:t>1</a:t>
              </a:r>
              <a:r>
                <a:rPr lang="zh-CN" altLang="en-US" sz="2000">
                  <a:latin typeface="Consolas" pitchFamily="49" charset="0"/>
                  <a:cs typeface="Consolas" pitchFamily="49" charset="0"/>
                </a:rPr>
                <a:t>，  </a:t>
              </a:r>
              <a:r>
                <a:rPr lang="en-US" altLang="zh-CN" sz="2000" i="1" err="1">
                  <a:latin typeface="Consolas" pitchFamily="49" charset="0"/>
                  <a:cs typeface="Consolas" pitchFamily="49" charset="0"/>
                </a:rPr>
                <a:t>b</a:t>
              </a:r>
              <a:r>
                <a:rPr lang="en-US" altLang="zh-CN" sz="2000" baseline="-25000" err="1">
                  <a:latin typeface="Consolas" pitchFamily="49" charset="0"/>
                  <a:cs typeface="Consolas" pitchFamily="49" charset="0"/>
                </a:rPr>
                <a:t>2</a:t>
              </a:r>
              <a:r>
                <a:rPr lang="zh-CN" altLang="en-US" sz="2000">
                  <a:latin typeface="Consolas" pitchFamily="49" charset="0"/>
                  <a:cs typeface="Consolas" pitchFamily="49" charset="0"/>
                </a:rPr>
                <a:t>，       </a:t>
              </a:r>
              <a:r>
                <a:rPr lang="zh-CN" altLang="en-US" sz="2000">
                  <a:latin typeface="Consolas" pitchFamily="49" charset="0"/>
                  <a:cs typeface="Consolas" pitchFamily="49" charset="0"/>
                  <a:sym typeface="Symbol"/>
                </a:rPr>
                <a:t>  ， ，   </a:t>
              </a:r>
              <a:r>
                <a:rPr lang="en-US" altLang="zh-CN" sz="2000" i="1" err="1">
                  <a:latin typeface="Consolas" pitchFamily="49" charset="0"/>
                  <a:cs typeface="Consolas" pitchFamily="49" charset="0"/>
                  <a:sym typeface="Symbol"/>
                </a:rPr>
                <a:t>b</a:t>
              </a:r>
              <a:r>
                <a:rPr lang="en-US" altLang="zh-CN" sz="2000" i="1" baseline="-25000" err="1">
                  <a:latin typeface="Consolas" pitchFamily="49" charset="0"/>
                  <a:cs typeface="Consolas" pitchFamily="49" charset="0"/>
                  <a:sym typeface="Symbol"/>
                </a:rPr>
                <a:t>s</a:t>
              </a:r>
              <a:r>
                <a:rPr lang="zh-CN" altLang="en-US" sz="2000">
                  <a:latin typeface="Consolas" pitchFamily="49" charset="0"/>
                  <a:cs typeface="Consolas" pitchFamily="49" charset="0"/>
                </a:rPr>
                <a:t>）</a:t>
              </a:r>
            </a:p>
          </p:txBody>
        </p:sp>
        <p:cxnSp>
          <p:nvCxnSpPr>
            <p:cNvPr id="43" name="直接连接符 42">
              <a:extLst>
                <a:ext uri="{FF2B5EF4-FFF2-40B4-BE49-F238E27FC236}">
                  <a16:creationId xmlns:a16="http://schemas.microsoft.com/office/drawing/2014/main" id="{9D0BABF8-D3CA-85A7-D85E-9F76B98F1E6F}"/>
                </a:ext>
              </a:extLst>
            </p:cNvPr>
            <p:cNvCxnSpPr/>
            <p:nvPr/>
          </p:nvCxnSpPr>
          <p:spPr>
            <a:xfrm rot="5400000">
              <a:off x="1247752" y="4630746"/>
              <a:ext cx="285752" cy="158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A19CBABF-B33E-A780-D136-87DCE0A4FA6D}"/>
                </a:ext>
              </a:extLst>
            </p:cNvPr>
            <p:cNvCxnSpPr/>
            <p:nvPr/>
          </p:nvCxnSpPr>
          <p:spPr>
            <a:xfrm rot="5400000">
              <a:off x="1929588" y="4642652"/>
              <a:ext cx="285752" cy="158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F711E606-F716-5946-FAED-57B0AD1D23B5}"/>
                </a:ext>
              </a:extLst>
            </p:cNvPr>
            <p:cNvCxnSpPr/>
            <p:nvPr/>
          </p:nvCxnSpPr>
          <p:spPr>
            <a:xfrm rot="5400000">
              <a:off x="2675718" y="4642652"/>
              <a:ext cx="285752" cy="158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13248AD9-4D47-CDA6-D986-21C452685DB3}"/>
                </a:ext>
              </a:extLst>
            </p:cNvPr>
            <p:cNvCxnSpPr/>
            <p:nvPr/>
          </p:nvCxnSpPr>
          <p:spPr>
            <a:xfrm rot="5400000">
              <a:off x="6501620" y="4642652"/>
              <a:ext cx="285752" cy="158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sp>
          <p:nvSpPr>
            <p:cNvPr id="50" name="Text Box 9">
              <a:extLst>
                <a:ext uri="{FF2B5EF4-FFF2-40B4-BE49-F238E27FC236}">
                  <a16:creationId xmlns:a16="http://schemas.microsoft.com/office/drawing/2014/main" id="{078CF41C-3158-22C7-9809-6D2759DE5E29}"/>
                </a:ext>
              </a:extLst>
            </p:cNvPr>
            <p:cNvSpPr txBox="1">
              <a:spLocks noChangeArrowheads="1"/>
            </p:cNvSpPr>
            <p:nvPr/>
          </p:nvSpPr>
          <p:spPr bwMode="auto">
            <a:xfrm>
              <a:off x="4500562" y="3214686"/>
              <a:ext cx="2386004" cy="3693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a:latin typeface="Consolas" pitchFamily="49" charset="0"/>
                  <a:ea typeface="仿宋" pitchFamily="49" charset="-122"/>
                  <a:cs typeface="Consolas" pitchFamily="49" charset="0"/>
                </a:rPr>
                <a:t>下三角</a:t>
              </a:r>
              <a:r>
                <a:rPr kumimoji="1" lang="en-US" altLang="zh-CN" sz="1800">
                  <a:latin typeface="Consolas" pitchFamily="49" charset="0"/>
                  <a:ea typeface="仿宋" pitchFamily="49" charset="-122"/>
                  <a:cs typeface="Consolas" pitchFamily="49" charset="0"/>
                </a:rPr>
                <a:t>+</a:t>
              </a:r>
              <a:r>
                <a:rPr kumimoji="1" lang="zh-CN" altLang="en-US" sz="1800">
                  <a:latin typeface="Consolas" pitchFamily="49" charset="0"/>
                  <a:ea typeface="仿宋" pitchFamily="49" charset="-122"/>
                  <a:cs typeface="Consolas" pitchFamily="49" charset="0"/>
                </a:rPr>
                <a:t>主对角线</a:t>
              </a:r>
              <a:endParaRPr lang="zh-CN" altLang="en-US" sz="1800">
                <a:latin typeface="Consolas" pitchFamily="49" charset="0"/>
                <a:ea typeface="仿宋" pitchFamily="49" charset="-122"/>
                <a:cs typeface="Consolas" pitchFamily="49" charset="0"/>
              </a:endParaRPr>
            </a:p>
          </p:txBody>
        </p:sp>
      </p:grpSp>
      <p:grpSp>
        <p:nvGrpSpPr>
          <p:cNvPr id="51" name="组合 28">
            <a:extLst>
              <a:ext uri="{FF2B5EF4-FFF2-40B4-BE49-F238E27FC236}">
                <a16:creationId xmlns:a16="http://schemas.microsoft.com/office/drawing/2014/main" id="{AEBAEBF5-6A8B-51D8-185F-31E6FDAFD1F2}"/>
              </a:ext>
            </a:extLst>
          </p:cNvPr>
          <p:cNvGrpSpPr/>
          <p:nvPr/>
        </p:nvGrpSpPr>
        <p:grpSpPr>
          <a:xfrm>
            <a:off x="6868708" y="1810488"/>
            <a:ext cx="2857520" cy="1752612"/>
            <a:chOff x="3214676" y="2214554"/>
            <a:chExt cx="2837975" cy="1752612"/>
          </a:xfrm>
        </p:grpSpPr>
        <p:cxnSp>
          <p:nvCxnSpPr>
            <p:cNvPr id="52" name="直接连接符 51">
              <a:extLst>
                <a:ext uri="{FF2B5EF4-FFF2-40B4-BE49-F238E27FC236}">
                  <a16:creationId xmlns:a16="http://schemas.microsoft.com/office/drawing/2014/main" id="{298D4BD3-4A7F-9245-3967-FF6719746336}"/>
                </a:ext>
              </a:extLst>
            </p:cNvPr>
            <p:cNvCxnSpPr/>
            <p:nvPr/>
          </p:nvCxnSpPr>
          <p:spPr>
            <a:xfrm rot="5400000">
              <a:off x="2358214" y="30710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9C29C1A8-DB05-659C-7F5F-C19574C2A3C8}"/>
                </a:ext>
              </a:extLst>
            </p:cNvPr>
            <p:cNvCxnSpPr/>
            <p:nvPr/>
          </p:nvCxnSpPr>
          <p:spPr>
            <a:xfrm>
              <a:off x="3216264" y="22272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4CF9A4C7-A46A-7991-BD68-6CF7853ED5B4}"/>
                </a:ext>
              </a:extLst>
            </p:cNvPr>
            <p:cNvCxnSpPr/>
            <p:nvPr/>
          </p:nvCxnSpPr>
          <p:spPr>
            <a:xfrm>
              <a:off x="3214676" y="39243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55" name="TextBox 32">
              <a:extLst>
                <a:ext uri="{FF2B5EF4-FFF2-40B4-BE49-F238E27FC236}">
                  <a16:creationId xmlns:a16="http://schemas.microsoft.com/office/drawing/2014/main" id="{7183E7EE-AA81-0710-5701-BB929939A1F9}"/>
                </a:ext>
              </a:extLst>
            </p:cNvPr>
            <p:cNvSpPr txBox="1"/>
            <p:nvPr/>
          </p:nvSpPr>
          <p:spPr>
            <a:xfrm>
              <a:off x="3359140" y="2258590"/>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0,0</a:t>
              </a:r>
              <a:endParaRPr lang="zh-CN" altLang="en-US" sz="1800" baseline="-25000">
                <a:latin typeface="Consolas" pitchFamily="49" charset="0"/>
                <a:cs typeface="Consolas" pitchFamily="49" charset="0"/>
              </a:endParaRPr>
            </a:p>
          </p:txBody>
        </p:sp>
        <p:sp>
          <p:nvSpPr>
            <p:cNvPr id="56" name="TextBox 33">
              <a:extLst>
                <a:ext uri="{FF2B5EF4-FFF2-40B4-BE49-F238E27FC236}">
                  <a16:creationId xmlns:a16="http://schemas.microsoft.com/office/drawing/2014/main" id="{FDB5B5C6-F31F-DA2C-E4DC-46B89561CD61}"/>
                </a:ext>
              </a:extLst>
            </p:cNvPr>
            <p:cNvSpPr txBox="1"/>
            <p:nvPr/>
          </p:nvSpPr>
          <p:spPr>
            <a:xfrm>
              <a:off x="4002081" y="2258590"/>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0,1</a:t>
              </a:r>
              <a:endParaRPr lang="zh-CN" altLang="en-US" sz="1800" baseline="-25000">
                <a:latin typeface="Consolas" pitchFamily="49" charset="0"/>
                <a:cs typeface="Consolas" pitchFamily="49" charset="0"/>
              </a:endParaRPr>
            </a:p>
          </p:txBody>
        </p:sp>
        <p:sp>
          <p:nvSpPr>
            <p:cNvPr id="57" name="TextBox 34">
              <a:extLst>
                <a:ext uri="{FF2B5EF4-FFF2-40B4-BE49-F238E27FC236}">
                  <a16:creationId xmlns:a16="http://schemas.microsoft.com/office/drawing/2014/main" id="{D197C991-8C41-8B1E-4755-5E4E9257F0D8}"/>
                </a:ext>
              </a:extLst>
            </p:cNvPr>
            <p:cNvSpPr txBox="1"/>
            <p:nvPr/>
          </p:nvSpPr>
          <p:spPr>
            <a:xfrm>
              <a:off x="5216526" y="2258590"/>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a:t>
              </a:r>
              <a:r>
                <a:rPr lang="en-US" altLang="zh-CN" sz="1800" i="1" baseline="-25000" err="1">
                  <a:latin typeface="Consolas" pitchFamily="49" charset="0"/>
                  <a:cs typeface="Consolas" pitchFamily="49" charset="0"/>
                </a:rPr>
                <a:t>n</a:t>
              </a:r>
              <a:r>
                <a:rPr lang="en-US" altLang="zh-CN" sz="1800" baseline="-25000">
                  <a:latin typeface="Consolas" pitchFamily="49" charset="0"/>
                  <a:cs typeface="Consolas" pitchFamily="49" charset="0"/>
                </a:rPr>
                <a:t>-1</a:t>
              </a:r>
              <a:endParaRPr lang="zh-CN" altLang="en-US" sz="1800" baseline="-25000">
                <a:latin typeface="Consolas" pitchFamily="49" charset="0"/>
                <a:cs typeface="Consolas" pitchFamily="49" charset="0"/>
              </a:endParaRPr>
            </a:p>
          </p:txBody>
        </p:sp>
        <p:sp>
          <p:nvSpPr>
            <p:cNvPr id="58" name="TextBox 35">
              <a:extLst>
                <a:ext uri="{FF2B5EF4-FFF2-40B4-BE49-F238E27FC236}">
                  <a16:creationId xmlns:a16="http://schemas.microsoft.com/office/drawing/2014/main" id="{BCE07C3F-EE7B-2216-D308-EEF48B626D87}"/>
                </a:ext>
              </a:extLst>
            </p:cNvPr>
            <p:cNvSpPr txBox="1"/>
            <p:nvPr/>
          </p:nvSpPr>
          <p:spPr>
            <a:xfrm>
              <a:off x="4645023" y="2239954"/>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sp>
          <p:nvSpPr>
            <p:cNvPr id="59" name="TextBox 36">
              <a:extLst>
                <a:ext uri="{FF2B5EF4-FFF2-40B4-BE49-F238E27FC236}">
                  <a16:creationId xmlns:a16="http://schemas.microsoft.com/office/drawing/2014/main" id="{78D1D426-1E64-B44E-7F3D-E888E7C8765F}"/>
                </a:ext>
              </a:extLst>
            </p:cNvPr>
            <p:cNvSpPr txBox="1"/>
            <p:nvPr/>
          </p:nvSpPr>
          <p:spPr>
            <a:xfrm>
              <a:off x="3359140" y="2687218"/>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1,0</a:t>
              </a:r>
              <a:endParaRPr lang="zh-CN" altLang="en-US" sz="1800" baseline="-25000">
                <a:latin typeface="Consolas" pitchFamily="49" charset="0"/>
                <a:cs typeface="Consolas" pitchFamily="49" charset="0"/>
              </a:endParaRPr>
            </a:p>
          </p:txBody>
        </p:sp>
        <p:sp>
          <p:nvSpPr>
            <p:cNvPr id="60" name="TextBox 37">
              <a:extLst>
                <a:ext uri="{FF2B5EF4-FFF2-40B4-BE49-F238E27FC236}">
                  <a16:creationId xmlns:a16="http://schemas.microsoft.com/office/drawing/2014/main" id="{51C94D28-33A7-7330-9B89-D82D88191CE9}"/>
                </a:ext>
              </a:extLst>
            </p:cNvPr>
            <p:cNvSpPr txBox="1"/>
            <p:nvPr/>
          </p:nvSpPr>
          <p:spPr>
            <a:xfrm>
              <a:off x="4002081" y="2687218"/>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1,1</a:t>
              </a:r>
              <a:endParaRPr lang="zh-CN" altLang="en-US" sz="1800" baseline="-25000">
                <a:latin typeface="Consolas" pitchFamily="49" charset="0"/>
                <a:cs typeface="Consolas" pitchFamily="49" charset="0"/>
              </a:endParaRPr>
            </a:p>
          </p:txBody>
        </p:sp>
        <p:sp>
          <p:nvSpPr>
            <p:cNvPr id="61" name="TextBox 38">
              <a:extLst>
                <a:ext uri="{FF2B5EF4-FFF2-40B4-BE49-F238E27FC236}">
                  <a16:creationId xmlns:a16="http://schemas.microsoft.com/office/drawing/2014/main" id="{06CF210C-8753-1AF1-C163-BD8F6481AD75}"/>
                </a:ext>
              </a:extLst>
            </p:cNvPr>
            <p:cNvSpPr txBox="1"/>
            <p:nvPr/>
          </p:nvSpPr>
          <p:spPr>
            <a:xfrm>
              <a:off x="5216526" y="2687218"/>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1,</a:t>
              </a:r>
              <a:r>
                <a:rPr lang="en-US" altLang="zh-CN" sz="1800" i="1" baseline="-25000" err="1">
                  <a:latin typeface="Consolas" pitchFamily="49" charset="0"/>
                  <a:cs typeface="Consolas" pitchFamily="49" charset="0"/>
                </a:rPr>
                <a:t>n</a:t>
              </a:r>
              <a:r>
                <a:rPr lang="en-US" altLang="zh-CN" sz="1800" baseline="-25000">
                  <a:latin typeface="Consolas" pitchFamily="49" charset="0"/>
                  <a:cs typeface="Consolas" pitchFamily="49" charset="0"/>
                </a:rPr>
                <a:t>-1</a:t>
              </a:r>
              <a:endParaRPr lang="zh-CN" altLang="en-US" sz="1800" baseline="-25000">
                <a:latin typeface="Consolas" pitchFamily="49" charset="0"/>
                <a:cs typeface="Consolas" pitchFamily="49" charset="0"/>
              </a:endParaRPr>
            </a:p>
          </p:txBody>
        </p:sp>
        <p:sp>
          <p:nvSpPr>
            <p:cNvPr id="62" name="TextBox 39">
              <a:extLst>
                <a:ext uri="{FF2B5EF4-FFF2-40B4-BE49-F238E27FC236}">
                  <a16:creationId xmlns:a16="http://schemas.microsoft.com/office/drawing/2014/main" id="{132900D8-E3AF-291C-8BDA-8A8F84F406F2}"/>
                </a:ext>
              </a:extLst>
            </p:cNvPr>
            <p:cNvSpPr txBox="1"/>
            <p:nvPr/>
          </p:nvSpPr>
          <p:spPr>
            <a:xfrm>
              <a:off x="4645023" y="2668582"/>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sp>
          <p:nvSpPr>
            <p:cNvPr id="63" name="TextBox 40">
              <a:extLst>
                <a:ext uri="{FF2B5EF4-FFF2-40B4-BE49-F238E27FC236}">
                  <a16:creationId xmlns:a16="http://schemas.microsoft.com/office/drawing/2014/main" id="{BC0D1153-1CE5-B3B0-D6FD-015C49C66856}"/>
                </a:ext>
              </a:extLst>
            </p:cNvPr>
            <p:cNvSpPr txBox="1"/>
            <p:nvPr/>
          </p:nvSpPr>
          <p:spPr>
            <a:xfrm>
              <a:off x="3359140" y="3549236"/>
              <a:ext cx="714379" cy="276999"/>
            </a:xfrm>
            <a:prstGeom prst="rect">
              <a:avLst/>
            </a:prstGeom>
            <a:noFill/>
          </p:spPr>
          <p:txBody>
            <a:bodyPr wrap="square" lIns="0" tIns="0" rIns="0" bIns="0" rtlCol="0">
              <a:spAutoFit/>
            </a:bodyPr>
            <a:lstStyle/>
            <a:p>
              <a:r>
                <a:rPr lang="en-US" altLang="zh-CN" sz="1800" i="1">
                  <a:latin typeface="Consolas" pitchFamily="49" charset="0"/>
                  <a:cs typeface="Consolas" pitchFamily="49" charset="0"/>
                </a:rPr>
                <a:t>a</a:t>
              </a:r>
              <a:r>
                <a:rPr lang="en-US" altLang="zh-CN" sz="1800" i="1" baseline="-25000">
                  <a:latin typeface="Consolas" pitchFamily="49" charset="0"/>
                  <a:cs typeface="Consolas" pitchFamily="49" charset="0"/>
                </a:rPr>
                <a:t>n</a:t>
              </a:r>
              <a:r>
                <a:rPr lang="en-US" altLang="zh-CN" sz="1800" baseline="-25000">
                  <a:latin typeface="Consolas" pitchFamily="49" charset="0"/>
                  <a:cs typeface="Consolas" pitchFamily="49" charset="0"/>
                </a:rPr>
                <a:t>-1,0</a:t>
              </a:r>
              <a:endParaRPr lang="zh-CN" altLang="en-US" sz="1800" baseline="-25000">
                <a:latin typeface="Consolas" pitchFamily="49" charset="0"/>
                <a:cs typeface="Consolas" pitchFamily="49" charset="0"/>
              </a:endParaRPr>
            </a:p>
          </p:txBody>
        </p:sp>
        <p:sp>
          <p:nvSpPr>
            <p:cNvPr id="64" name="TextBox 41">
              <a:extLst>
                <a:ext uri="{FF2B5EF4-FFF2-40B4-BE49-F238E27FC236}">
                  <a16:creationId xmlns:a16="http://schemas.microsoft.com/office/drawing/2014/main" id="{48D536F0-790C-C8BC-5861-225B7A5837BE}"/>
                </a:ext>
              </a:extLst>
            </p:cNvPr>
            <p:cNvSpPr txBox="1"/>
            <p:nvPr/>
          </p:nvSpPr>
          <p:spPr>
            <a:xfrm>
              <a:off x="4002081" y="3549236"/>
              <a:ext cx="714379" cy="276999"/>
            </a:xfrm>
            <a:prstGeom prst="rect">
              <a:avLst/>
            </a:prstGeom>
            <a:noFill/>
          </p:spPr>
          <p:txBody>
            <a:bodyPr wrap="square" lIns="0" tIns="0" rIns="0" bIns="0" rtlCol="0">
              <a:spAutoFit/>
            </a:bodyPr>
            <a:lstStyle/>
            <a:p>
              <a:r>
                <a:rPr lang="en-US" altLang="zh-CN" sz="1800" i="1">
                  <a:latin typeface="Consolas" pitchFamily="49" charset="0"/>
                  <a:cs typeface="Consolas" pitchFamily="49" charset="0"/>
                </a:rPr>
                <a:t>a</a:t>
              </a:r>
              <a:r>
                <a:rPr lang="en-US" altLang="zh-CN" sz="1800" i="1" baseline="-25000">
                  <a:latin typeface="Consolas" pitchFamily="49" charset="0"/>
                  <a:cs typeface="Consolas" pitchFamily="49" charset="0"/>
                </a:rPr>
                <a:t>n</a:t>
              </a:r>
              <a:r>
                <a:rPr lang="en-US" altLang="zh-CN" sz="1800" baseline="-25000">
                  <a:latin typeface="Consolas" pitchFamily="49" charset="0"/>
                  <a:cs typeface="Consolas" pitchFamily="49" charset="0"/>
                </a:rPr>
                <a:t>-1,1</a:t>
              </a:r>
              <a:endParaRPr lang="zh-CN" altLang="en-US" sz="1800" baseline="-25000">
                <a:latin typeface="Consolas" pitchFamily="49" charset="0"/>
                <a:cs typeface="Consolas" pitchFamily="49" charset="0"/>
              </a:endParaRPr>
            </a:p>
          </p:txBody>
        </p:sp>
        <p:sp>
          <p:nvSpPr>
            <p:cNvPr id="65" name="TextBox 42">
              <a:extLst>
                <a:ext uri="{FF2B5EF4-FFF2-40B4-BE49-F238E27FC236}">
                  <a16:creationId xmlns:a16="http://schemas.microsoft.com/office/drawing/2014/main" id="{34A6CA63-3BE7-B8C2-6A78-E653F27AEF12}"/>
                </a:ext>
              </a:extLst>
            </p:cNvPr>
            <p:cNvSpPr txBox="1"/>
            <p:nvPr/>
          </p:nvSpPr>
          <p:spPr>
            <a:xfrm>
              <a:off x="5216526" y="3549236"/>
              <a:ext cx="714379" cy="276999"/>
            </a:xfrm>
            <a:prstGeom prst="rect">
              <a:avLst/>
            </a:prstGeom>
            <a:noFill/>
          </p:spPr>
          <p:txBody>
            <a:bodyPr wrap="square" lIns="0" tIns="0" rIns="0" bIns="0" rtlCol="0">
              <a:spAutoFit/>
            </a:bodyPr>
            <a:lstStyle/>
            <a:p>
              <a:r>
                <a:rPr lang="en-US" altLang="zh-CN" sz="1800" i="1">
                  <a:latin typeface="Consolas" pitchFamily="49" charset="0"/>
                  <a:cs typeface="Consolas" pitchFamily="49" charset="0"/>
                </a:rPr>
                <a:t>a</a:t>
              </a:r>
              <a:r>
                <a:rPr lang="en-US" altLang="zh-CN" sz="1800" i="1" baseline="-25000">
                  <a:latin typeface="Consolas" pitchFamily="49" charset="0"/>
                  <a:cs typeface="Consolas" pitchFamily="49" charset="0"/>
                </a:rPr>
                <a:t>n</a:t>
              </a:r>
              <a:r>
                <a:rPr lang="en-US" altLang="zh-CN" sz="1800" baseline="-25000">
                  <a:latin typeface="Consolas" pitchFamily="49" charset="0"/>
                  <a:cs typeface="Consolas" pitchFamily="49" charset="0"/>
                </a:rPr>
                <a:t>-</a:t>
              </a:r>
              <a:r>
                <a:rPr lang="en-US" altLang="zh-CN" sz="1800" baseline="-25000" err="1">
                  <a:latin typeface="Consolas" pitchFamily="49" charset="0"/>
                  <a:cs typeface="Consolas" pitchFamily="49" charset="0"/>
                </a:rPr>
                <a:t>1,</a:t>
              </a:r>
              <a:r>
                <a:rPr lang="en-US" altLang="zh-CN" sz="1800" i="1" baseline="-25000" err="1">
                  <a:latin typeface="Consolas" pitchFamily="49" charset="0"/>
                  <a:cs typeface="Consolas" pitchFamily="49" charset="0"/>
                </a:rPr>
                <a:t>n</a:t>
              </a:r>
              <a:r>
                <a:rPr lang="en-US" altLang="zh-CN" sz="1800" baseline="-25000">
                  <a:latin typeface="Consolas" pitchFamily="49" charset="0"/>
                  <a:cs typeface="Consolas" pitchFamily="49" charset="0"/>
                </a:rPr>
                <a:t>-1</a:t>
              </a:r>
              <a:endParaRPr lang="zh-CN" altLang="en-US" sz="1800" baseline="-25000">
                <a:latin typeface="Consolas" pitchFamily="49" charset="0"/>
                <a:cs typeface="Consolas" pitchFamily="49" charset="0"/>
              </a:endParaRPr>
            </a:p>
          </p:txBody>
        </p:sp>
        <p:sp>
          <p:nvSpPr>
            <p:cNvPr id="66" name="TextBox 43">
              <a:extLst>
                <a:ext uri="{FF2B5EF4-FFF2-40B4-BE49-F238E27FC236}">
                  <a16:creationId xmlns:a16="http://schemas.microsoft.com/office/drawing/2014/main" id="{01A3F8F2-AA5C-6760-6F32-91C7FD51A446}"/>
                </a:ext>
              </a:extLst>
            </p:cNvPr>
            <p:cNvSpPr txBox="1"/>
            <p:nvPr/>
          </p:nvSpPr>
          <p:spPr>
            <a:xfrm>
              <a:off x="4645023" y="3530600"/>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cxnSp>
          <p:nvCxnSpPr>
            <p:cNvPr id="67" name="直接连接符 66">
              <a:extLst>
                <a:ext uri="{FF2B5EF4-FFF2-40B4-BE49-F238E27FC236}">
                  <a16:creationId xmlns:a16="http://schemas.microsoft.com/office/drawing/2014/main" id="{BB3C97E3-4A04-205E-B9B8-E8712C3EA256}"/>
                </a:ext>
              </a:extLst>
            </p:cNvPr>
            <p:cNvCxnSpPr/>
            <p:nvPr/>
          </p:nvCxnSpPr>
          <p:spPr>
            <a:xfrm rot="5400000">
              <a:off x="5180777" y="31091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CEDD768-71E4-06D6-375B-AA8276201F44}"/>
                </a:ext>
              </a:extLst>
            </p:cNvPr>
            <p:cNvCxnSpPr/>
            <p:nvPr/>
          </p:nvCxnSpPr>
          <p:spPr>
            <a:xfrm>
              <a:off x="5908651" y="22653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E02E86BD-5880-B355-7D84-A0E5FAE07375}"/>
                </a:ext>
              </a:extLst>
            </p:cNvPr>
            <p:cNvCxnSpPr/>
            <p:nvPr/>
          </p:nvCxnSpPr>
          <p:spPr>
            <a:xfrm>
              <a:off x="5907061" y="39624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70" name="TextBox 47">
              <a:extLst>
                <a:ext uri="{FF2B5EF4-FFF2-40B4-BE49-F238E27FC236}">
                  <a16:creationId xmlns:a16="http://schemas.microsoft.com/office/drawing/2014/main" id="{C9336CAF-A510-289D-4878-FCC05A0EC9AF}"/>
                </a:ext>
              </a:extLst>
            </p:cNvPr>
            <p:cNvSpPr txBox="1"/>
            <p:nvPr/>
          </p:nvSpPr>
          <p:spPr>
            <a:xfrm>
              <a:off x="3502018" y="3097210"/>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grpSp>
      <p:grpSp>
        <p:nvGrpSpPr>
          <p:cNvPr id="71" name="组合 50">
            <a:extLst>
              <a:ext uri="{FF2B5EF4-FFF2-40B4-BE49-F238E27FC236}">
                <a16:creationId xmlns:a16="http://schemas.microsoft.com/office/drawing/2014/main" id="{10E58030-7558-F463-60E5-62C3E8C70DC4}"/>
              </a:ext>
            </a:extLst>
          </p:cNvPr>
          <p:cNvGrpSpPr/>
          <p:nvPr/>
        </p:nvGrpSpPr>
        <p:grpSpPr>
          <a:xfrm>
            <a:off x="5225634" y="6096768"/>
            <a:ext cx="5357850" cy="614424"/>
            <a:chOff x="1428728" y="5357826"/>
            <a:chExt cx="5357850" cy="614424"/>
          </a:xfrm>
        </p:grpSpPr>
        <p:sp>
          <p:nvSpPr>
            <p:cNvPr id="72" name="TextBox 22">
              <a:extLst>
                <a:ext uri="{FF2B5EF4-FFF2-40B4-BE49-F238E27FC236}">
                  <a16:creationId xmlns:a16="http://schemas.microsoft.com/office/drawing/2014/main" id="{916A89B8-E536-40BE-63EA-15BDB4164FFE}"/>
                </a:ext>
              </a:extLst>
            </p:cNvPr>
            <p:cNvSpPr txBox="1"/>
            <p:nvPr/>
          </p:nvSpPr>
          <p:spPr>
            <a:xfrm>
              <a:off x="3071802" y="5572140"/>
              <a:ext cx="2143140" cy="400110"/>
            </a:xfrm>
            <a:prstGeom prst="rect">
              <a:avLst/>
            </a:prstGeom>
            <a:noFill/>
          </p:spPr>
          <p:txBody>
            <a:bodyPr wrap="square" rtlCol="0">
              <a:spAutoFit/>
            </a:bodyPr>
            <a:lstStyle/>
            <a:p>
              <a:r>
                <a:rPr kumimoji="1" lang="en-US" altLang="zh-CN" sz="2000" i="1">
                  <a:latin typeface="Consolas" pitchFamily="49" charset="0"/>
                  <a:ea typeface="楷体" pitchFamily="49" charset="-122"/>
                  <a:cs typeface="Consolas" pitchFamily="49" charset="0"/>
                </a:rPr>
                <a:t>n</a:t>
              </a:r>
              <a:r>
                <a:rPr kumimoji="1" lang="en-US" altLang="zh-CN" sz="2000">
                  <a:latin typeface="Consolas" pitchFamily="49" charset="0"/>
                  <a:ea typeface="楷体" pitchFamily="49" charset="-122"/>
                  <a:cs typeface="Consolas" pitchFamily="49" charset="0"/>
                </a:rPr>
                <a:t>(</a:t>
              </a:r>
              <a:r>
                <a:rPr kumimoji="1" lang="en-US" altLang="zh-CN" sz="2000" i="1" err="1">
                  <a:latin typeface="Consolas" pitchFamily="49" charset="0"/>
                  <a:ea typeface="楷体" pitchFamily="49" charset="-122"/>
                  <a:cs typeface="Consolas" pitchFamily="49" charset="0"/>
                </a:rPr>
                <a:t>n</a:t>
              </a:r>
              <a:r>
                <a:rPr kumimoji="1" lang="en-US" altLang="zh-CN" sz="2000" err="1">
                  <a:latin typeface="Consolas" pitchFamily="49" charset="0"/>
                  <a:ea typeface="楷体" pitchFamily="49" charset="-122"/>
                  <a:cs typeface="Consolas" pitchFamily="49" charset="0"/>
                </a:rPr>
                <a:t>+1</a:t>
              </a:r>
              <a:r>
                <a:rPr kumimoji="1" lang="en-US" altLang="zh-CN" sz="2000">
                  <a:latin typeface="Consolas" pitchFamily="49" charset="0"/>
                  <a:ea typeface="楷体" pitchFamily="49" charset="-122"/>
                  <a:cs typeface="Consolas" pitchFamily="49" charset="0"/>
                </a:rPr>
                <a:t>)/2</a:t>
              </a:r>
              <a:r>
                <a:rPr kumimoji="1" lang="zh-CN" altLang="en-US" sz="2000">
                  <a:latin typeface="Consolas" pitchFamily="49" charset="0"/>
                  <a:ea typeface="楷体" pitchFamily="49" charset="-122"/>
                  <a:cs typeface="Consolas" pitchFamily="49" charset="0"/>
                </a:rPr>
                <a:t>个元素</a:t>
              </a:r>
              <a:endParaRPr lang="zh-CN" altLang="en-US" sz="2000">
                <a:latin typeface="Consolas" pitchFamily="49" charset="0"/>
                <a:ea typeface="楷体" pitchFamily="49" charset="-122"/>
                <a:cs typeface="Consolas" pitchFamily="49" charset="0"/>
              </a:endParaRPr>
            </a:p>
          </p:txBody>
        </p:sp>
        <p:sp>
          <p:nvSpPr>
            <p:cNvPr id="73" name="左大括号 72">
              <a:extLst>
                <a:ext uri="{FF2B5EF4-FFF2-40B4-BE49-F238E27FC236}">
                  <a16:creationId xmlns:a16="http://schemas.microsoft.com/office/drawing/2014/main" id="{BA650DD7-DE16-40EE-01F7-C2B681B4F62D}"/>
                </a:ext>
              </a:extLst>
            </p:cNvPr>
            <p:cNvSpPr/>
            <p:nvPr/>
          </p:nvSpPr>
          <p:spPr>
            <a:xfrm rot="16200000">
              <a:off x="4036215" y="2750339"/>
              <a:ext cx="142876" cy="5357850"/>
            </a:xfrm>
            <a:prstGeom prst="leftBrace">
              <a:avLst/>
            </a:prstGeom>
            <a:ln w="28575">
              <a:solidFill>
                <a:srgbClr val="99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grpSp>
      <p:cxnSp>
        <p:nvCxnSpPr>
          <p:cNvPr id="74" name="直接箭头连接符 73">
            <a:extLst>
              <a:ext uri="{FF2B5EF4-FFF2-40B4-BE49-F238E27FC236}">
                <a16:creationId xmlns:a16="http://schemas.microsoft.com/office/drawing/2014/main" id="{2BC0E9D2-ECDD-CE45-C854-A6330D7C1982}"/>
              </a:ext>
            </a:extLst>
          </p:cNvPr>
          <p:cNvCxnSpPr/>
          <p:nvPr/>
        </p:nvCxnSpPr>
        <p:spPr>
          <a:xfrm rot="10800000" flipV="1">
            <a:off x="6440080" y="2667744"/>
            <a:ext cx="785818" cy="14287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75" name="TextBox 53">
            <a:extLst>
              <a:ext uri="{FF2B5EF4-FFF2-40B4-BE49-F238E27FC236}">
                <a16:creationId xmlns:a16="http://schemas.microsoft.com/office/drawing/2014/main" id="{EEB80D2F-0EE0-5F86-2497-748AE26DB87A}"/>
              </a:ext>
            </a:extLst>
          </p:cNvPr>
          <p:cNvSpPr txBox="1"/>
          <p:nvPr/>
        </p:nvSpPr>
        <p:spPr>
          <a:xfrm>
            <a:off x="5654262" y="2667744"/>
            <a:ext cx="928694" cy="369332"/>
          </a:xfrm>
          <a:prstGeom prst="rect">
            <a:avLst/>
          </a:prstGeom>
          <a:noFill/>
        </p:spPr>
        <p:txBody>
          <a:bodyPr wrap="square" rtlCol="0">
            <a:spAutoFit/>
          </a:bodyPr>
          <a:lstStyle/>
          <a:p>
            <a:r>
              <a:rPr kumimoji="1" lang="en-US" altLang="zh-CN" sz="1800" i="1" err="1">
                <a:latin typeface="Consolas" pitchFamily="49" charset="0"/>
                <a:ea typeface="楷体" pitchFamily="49" charset="-122"/>
                <a:cs typeface="Consolas" pitchFamily="49" charset="0"/>
              </a:rPr>
              <a:t>i</a:t>
            </a:r>
            <a:r>
              <a:rPr kumimoji="1" lang="en-US" altLang="zh-CN" sz="1800" err="1">
                <a:latin typeface="Consolas" pitchFamily="49" charset="0"/>
                <a:cs typeface="Consolas" pitchFamily="49" charset="0"/>
              </a:rPr>
              <a:t>≥</a:t>
            </a:r>
            <a:r>
              <a:rPr kumimoji="1" lang="en-US" altLang="zh-CN" sz="1800" i="1" err="1">
                <a:latin typeface="Consolas" pitchFamily="49" charset="0"/>
                <a:ea typeface="楷体" pitchFamily="49" charset="-122"/>
                <a:cs typeface="Consolas" pitchFamily="49" charset="0"/>
              </a:rPr>
              <a:t>j</a:t>
            </a:r>
            <a:endParaRPr lang="zh-CN" altLang="en-US" sz="1800">
              <a:latin typeface="Consolas" pitchFamily="49" charset="0"/>
              <a:cs typeface="Consolas" pitchFamily="49" charset="0"/>
            </a:endParaRPr>
          </a:p>
        </p:txBody>
      </p:sp>
      <p:grpSp>
        <p:nvGrpSpPr>
          <p:cNvPr id="76" name="组合 54">
            <a:extLst>
              <a:ext uri="{FF2B5EF4-FFF2-40B4-BE49-F238E27FC236}">
                <a16:creationId xmlns:a16="http://schemas.microsoft.com/office/drawing/2014/main" id="{B46B5AEA-12B0-CACB-80C9-55247181FBCA}"/>
              </a:ext>
            </a:extLst>
          </p:cNvPr>
          <p:cNvGrpSpPr/>
          <p:nvPr/>
        </p:nvGrpSpPr>
        <p:grpSpPr>
          <a:xfrm>
            <a:off x="10440608" y="3239248"/>
            <a:ext cx="857256" cy="1428760"/>
            <a:chOff x="6143636" y="1369085"/>
            <a:chExt cx="857256" cy="1428760"/>
          </a:xfrm>
        </p:grpSpPr>
        <p:sp>
          <p:nvSpPr>
            <p:cNvPr id="77" name="右弧形箭头 55">
              <a:extLst>
                <a:ext uri="{FF2B5EF4-FFF2-40B4-BE49-F238E27FC236}">
                  <a16:creationId xmlns:a16="http://schemas.microsoft.com/office/drawing/2014/main" id="{28C7436B-586B-1477-A1ED-20F6F73E41AE}"/>
                </a:ext>
              </a:extLst>
            </p:cNvPr>
            <p:cNvSpPr/>
            <p:nvPr/>
          </p:nvSpPr>
          <p:spPr>
            <a:xfrm>
              <a:off x="6143636" y="1797713"/>
              <a:ext cx="285752" cy="1000132"/>
            </a:xfrm>
            <a:prstGeom prst="curved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schemeClr val="tx1"/>
                </a:solidFill>
                <a:latin typeface="Consolas" pitchFamily="49" charset="0"/>
                <a:cs typeface="Consolas" pitchFamily="49" charset="0"/>
              </a:endParaRPr>
            </a:p>
          </p:txBody>
        </p:sp>
        <p:sp>
          <p:nvSpPr>
            <p:cNvPr id="78" name="TextBox 56">
              <a:extLst>
                <a:ext uri="{FF2B5EF4-FFF2-40B4-BE49-F238E27FC236}">
                  <a16:creationId xmlns:a16="http://schemas.microsoft.com/office/drawing/2014/main" id="{260EE798-AF9E-4012-B5EE-89B8DCE391B3}"/>
                </a:ext>
              </a:extLst>
            </p:cNvPr>
            <p:cNvSpPr txBox="1"/>
            <p:nvPr/>
          </p:nvSpPr>
          <p:spPr>
            <a:xfrm>
              <a:off x="6286512" y="1369085"/>
              <a:ext cx="714380" cy="400110"/>
            </a:xfrm>
            <a:prstGeom prst="rect">
              <a:avLst/>
            </a:prstGeom>
            <a:noFill/>
          </p:spPr>
          <p:txBody>
            <a:bodyPr wrap="square" rtlCol="0">
              <a:spAutoFit/>
            </a:bodyPr>
            <a:lstStyle/>
            <a:p>
              <a:r>
                <a:rPr lang="en-US" altLang="zh-CN" sz="2000" i="1" err="1">
                  <a:solidFill>
                    <a:srgbClr val="FF0000"/>
                  </a:solidFill>
                  <a:latin typeface="Consolas" pitchFamily="49" charset="0"/>
                  <a:cs typeface="Consolas" pitchFamily="49" charset="0"/>
                </a:rPr>
                <a:t>a</a:t>
              </a:r>
              <a:r>
                <a:rPr lang="en-US" altLang="zh-CN" sz="2000" i="1" baseline="-25000" err="1">
                  <a:solidFill>
                    <a:srgbClr val="FF0000"/>
                  </a:solidFill>
                  <a:latin typeface="Consolas" pitchFamily="49" charset="0"/>
                  <a:cs typeface="Consolas" pitchFamily="49" charset="0"/>
                </a:rPr>
                <a:t>i,j</a:t>
              </a:r>
              <a:endParaRPr lang="zh-CN" altLang="en-US" sz="2000" i="1" baseline="-25000">
                <a:solidFill>
                  <a:srgbClr val="FF0000"/>
                </a:solidFill>
                <a:latin typeface="Consolas" pitchFamily="49" charset="0"/>
                <a:cs typeface="Consolas" pitchFamily="49" charset="0"/>
              </a:endParaRPr>
            </a:p>
          </p:txBody>
        </p:sp>
        <p:sp>
          <p:nvSpPr>
            <p:cNvPr id="79" name="TextBox 57">
              <a:extLst>
                <a:ext uri="{FF2B5EF4-FFF2-40B4-BE49-F238E27FC236}">
                  <a16:creationId xmlns:a16="http://schemas.microsoft.com/office/drawing/2014/main" id="{0481014B-7495-B797-FC3C-E6F7AFF8C84A}"/>
                </a:ext>
              </a:extLst>
            </p:cNvPr>
            <p:cNvSpPr txBox="1"/>
            <p:nvPr/>
          </p:nvSpPr>
          <p:spPr>
            <a:xfrm>
              <a:off x="6357950" y="2285992"/>
              <a:ext cx="571504" cy="461665"/>
            </a:xfrm>
            <a:prstGeom prst="rect">
              <a:avLst/>
            </a:prstGeom>
            <a:noFill/>
          </p:spPr>
          <p:txBody>
            <a:bodyPr wrap="square" rtlCol="0">
              <a:spAutoFit/>
            </a:bodyPr>
            <a:lstStyle/>
            <a:p>
              <a:r>
                <a:rPr lang="en-US" altLang="zh-CN" i="1" err="1">
                  <a:latin typeface="Consolas" pitchFamily="49" charset="0"/>
                  <a:cs typeface="Consolas" pitchFamily="49" charset="0"/>
                </a:rPr>
                <a:t>b</a:t>
              </a:r>
              <a:r>
                <a:rPr lang="en-US" altLang="zh-CN" i="1" baseline="-25000" err="1">
                  <a:latin typeface="Consolas" pitchFamily="49" charset="0"/>
                  <a:cs typeface="Consolas" pitchFamily="49" charset="0"/>
                </a:rPr>
                <a:t>k</a:t>
              </a:r>
              <a:endParaRPr lang="zh-CN" altLang="en-US" i="1" baseline="-25000">
                <a:latin typeface="Consolas" pitchFamily="49" charset="0"/>
                <a:cs typeface="Consolas" pitchFamily="49" charset="0"/>
              </a:endParaRPr>
            </a:p>
          </p:txBody>
        </p:sp>
      </p:grpSp>
      <p:sp>
        <p:nvSpPr>
          <p:cNvPr id="80" name="TextBox 58">
            <a:extLst>
              <a:ext uri="{FF2B5EF4-FFF2-40B4-BE49-F238E27FC236}">
                <a16:creationId xmlns:a16="http://schemas.microsoft.com/office/drawing/2014/main" id="{F71AF460-2A19-C092-8CCA-5874BCA692DC}"/>
              </a:ext>
            </a:extLst>
          </p:cNvPr>
          <p:cNvSpPr txBox="1"/>
          <p:nvPr/>
        </p:nvSpPr>
        <p:spPr>
          <a:xfrm>
            <a:off x="10969284" y="3682380"/>
            <a:ext cx="1000132" cy="584775"/>
          </a:xfrm>
          <a:prstGeom prst="rect">
            <a:avLst/>
          </a:prstGeom>
          <a:noFill/>
        </p:spPr>
        <p:txBody>
          <a:bodyPr wrap="square" rtlCol="0">
            <a:spAutoFit/>
          </a:bodyPr>
          <a:lstStyle/>
          <a:p>
            <a:r>
              <a:rPr lang="en-US" altLang="zh-CN" i="1" dirty="0">
                <a:latin typeface="Consolas" pitchFamily="49" charset="0"/>
                <a:cs typeface="Consolas" pitchFamily="49" charset="0"/>
              </a:rPr>
              <a:t>k </a:t>
            </a:r>
            <a:r>
              <a:rPr lang="en-US" altLang="zh-CN" dirty="0">
                <a:latin typeface="Consolas" pitchFamily="49" charset="0"/>
                <a:cs typeface="Consolas" pitchFamily="49" charset="0"/>
              </a:rPr>
              <a:t>= </a:t>
            </a:r>
            <a:r>
              <a:rPr lang="en-US" altLang="zh-CN" sz="3200" dirty="0">
                <a:solidFill>
                  <a:srgbClr val="FF0000"/>
                </a:solidFill>
                <a:latin typeface="Consolas" pitchFamily="49" charset="0"/>
                <a:cs typeface="Consolas" pitchFamily="49" charset="0"/>
              </a:rPr>
              <a:t>?</a:t>
            </a:r>
            <a:endParaRPr lang="zh-CN" altLang="en-US" sz="3200" dirty="0">
              <a:solidFill>
                <a:srgbClr val="FF0000"/>
              </a:solidFill>
              <a:latin typeface="Consolas" pitchFamily="49" charset="0"/>
              <a:cs typeface="Consolas" pitchFamily="49" charset="0"/>
            </a:endParaRPr>
          </a:p>
        </p:txBody>
      </p:sp>
      <p:sp>
        <p:nvSpPr>
          <p:cNvPr id="81" name="矩形 80">
            <a:extLst>
              <a:ext uri="{FF2B5EF4-FFF2-40B4-BE49-F238E27FC236}">
                <a16:creationId xmlns:a16="http://schemas.microsoft.com/office/drawing/2014/main" id="{76259D29-9FF7-79FC-04F7-A91670690453}"/>
              </a:ext>
            </a:extLst>
          </p:cNvPr>
          <p:cNvSpPr/>
          <p:nvPr/>
        </p:nvSpPr>
        <p:spPr>
          <a:xfrm>
            <a:off x="1068268" y="2504575"/>
            <a:ext cx="4155766" cy="1990738"/>
          </a:xfrm>
          <a:prstGeom prst="rect">
            <a:avLst/>
          </a:prstGeom>
        </p:spPr>
        <p:txBody>
          <a:bodyPr wrap="square">
            <a:spAutoFit/>
          </a:bodyPr>
          <a:lstStyle/>
          <a:p>
            <a:pPr>
              <a:lnSpc>
                <a:spcPts val="2500"/>
              </a:lnSpc>
            </a:pPr>
            <a:r>
              <a:rPr lang="en-US" altLang="zh-CN" dirty="0">
                <a:latin typeface="微软雅黑" pitchFamily="34" charset="-122"/>
                <a:ea typeface="微软雅黑" pitchFamily="34" charset="-122"/>
                <a:cs typeface="经典粗黑简" pitchFamily="49" charset="-122"/>
              </a:rPr>
              <a:t>(1)</a:t>
            </a:r>
            <a:r>
              <a:rPr lang="zh-CN" altLang="zh-CN" dirty="0">
                <a:latin typeface="微软雅黑" pitchFamily="34" charset="-122"/>
                <a:ea typeface="微软雅黑" pitchFamily="34" charset="-122"/>
                <a:cs typeface="经典粗黑简" pitchFamily="49" charset="-122"/>
              </a:rPr>
              <a:t>对称矩阵</a:t>
            </a:r>
            <a:r>
              <a:rPr lang="zh-CN" altLang="en-US" dirty="0">
                <a:latin typeface="微软雅黑" pitchFamily="34" charset="-122"/>
                <a:ea typeface="微软雅黑" pitchFamily="34" charset="-122"/>
                <a:cs typeface="经典粗黑简" pitchFamily="49" charset="-122"/>
              </a:rPr>
              <a:t>：</a:t>
            </a:r>
            <a:r>
              <a:rPr lang="zh-CN" altLang="zh-CN" dirty="0">
                <a:latin typeface="微软雅黑" pitchFamily="34" charset="-122"/>
                <a:ea typeface="微软雅黑" pitchFamily="34" charset="-122"/>
                <a:cs typeface="经典粗黑简" pitchFamily="49" charset="-122"/>
              </a:rPr>
              <a:t>在一个</a:t>
            </a:r>
            <a:r>
              <a:rPr lang="en-US" altLang="zh-CN" dirty="0">
                <a:latin typeface="微软雅黑" pitchFamily="34" charset="-122"/>
                <a:ea typeface="微软雅黑" pitchFamily="34" charset="-122"/>
                <a:cs typeface="经典粗黑简" pitchFamily="49" charset="-122"/>
              </a:rPr>
              <a:t>n</a:t>
            </a:r>
            <a:r>
              <a:rPr lang="zh-CN" altLang="zh-CN" dirty="0">
                <a:latin typeface="微软雅黑" pitchFamily="34" charset="-122"/>
                <a:ea typeface="微软雅黑" pitchFamily="34" charset="-122"/>
                <a:cs typeface="经典粗黑简" pitchFamily="49" charset="-122"/>
              </a:rPr>
              <a:t>阶方阵中，有</a:t>
            </a:r>
            <a:r>
              <a:rPr lang="en-US" altLang="zh-CN" dirty="0" err="1">
                <a:latin typeface="微软雅黑" pitchFamily="34" charset="-122"/>
                <a:ea typeface="微软雅黑" pitchFamily="34" charset="-122"/>
                <a:cs typeface="经典粗黑简" pitchFamily="49" charset="-122"/>
              </a:rPr>
              <a:t>a</a:t>
            </a:r>
            <a:r>
              <a:rPr lang="en-US" altLang="zh-CN" baseline="-25000" dirty="0" err="1">
                <a:latin typeface="微软雅黑" pitchFamily="34" charset="-122"/>
                <a:ea typeface="微软雅黑" pitchFamily="34" charset="-122"/>
                <a:cs typeface="经典粗黑简" pitchFamily="49" charset="-122"/>
              </a:rPr>
              <a:t>ij</a:t>
            </a:r>
            <a:r>
              <a:rPr lang="en-US" altLang="zh-CN" dirty="0">
                <a:latin typeface="微软雅黑" pitchFamily="34" charset="-122"/>
                <a:ea typeface="微软雅黑" pitchFamily="34" charset="-122"/>
                <a:cs typeface="经典粗黑简" pitchFamily="49" charset="-122"/>
              </a:rPr>
              <a:t>=</a:t>
            </a:r>
            <a:r>
              <a:rPr lang="en-US" altLang="zh-CN" dirty="0" err="1">
                <a:latin typeface="微软雅黑" pitchFamily="34" charset="-122"/>
                <a:ea typeface="微软雅黑" pitchFamily="34" charset="-122"/>
                <a:cs typeface="经典粗黑简" pitchFamily="49" charset="-122"/>
              </a:rPr>
              <a:t>a</a:t>
            </a:r>
            <a:r>
              <a:rPr lang="en-US" altLang="zh-CN" baseline="-25000" dirty="0" err="1">
                <a:latin typeface="微软雅黑" pitchFamily="34" charset="-122"/>
                <a:ea typeface="微软雅黑" pitchFamily="34" charset="-122"/>
                <a:cs typeface="经典粗黑简" pitchFamily="49" charset="-122"/>
              </a:rPr>
              <a:t>ji</a:t>
            </a:r>
            <a:r>
              <a:rPr lang="zh-CN" altLang="zh-CN" dirty="0">
                <a:latin typeface="微软雅黑" pitchFamily="34" charset="-122"/>
                <a:ea typeface="微软雅黑" pitchFamily="34" charset="-122"/>
                <a:cs typeface="经典粗黑简" pitchFamily="49" charset="-122"/>
              </a:rPr>
              <a:t>，且</a:t>
            </a:r>
            <a:r>
              <a:rPr lang="en-US" altLang="zh-CN" dirty="0">
                <a:latin typeface="微软雅黑" pitchFamily="34" charset="-122"/>
                <a:ea typeface="微软雅黑" pitchFamily="34" charset="-122"/>
                <a:cs typeface="经典粗黑简" pitchFamily="49" charset="-122"/>
              </a:rPr>
              <a:t>0</a:t>
            </a:r>
            <a:r>
              <a:rPr lang="zh-CN" altLang="zh-CN" dirty="0">
                <a:latin typeface="微软雅黑" pitchFamily="34" charset="-122"/>
                <a:ea typeface="微软雅黑" pitchFamily="34" charset="-122"/>
                <a:cs typeface="经典粗黑简" pitchFamily="49" charset="-122"/>
              </a:rPr>
              <a:t>≤</a:t>
            </a:r>
            <a:r>
              <a:rPr lang="en-US" altLang="zh-CN" dirty="0" err="1">
                <a:latin typeface="微软雅黑" pitchFamily="34" charset="-122"/>
                <a:ea typeface="微软雅黑" pitchFamily="34" charset="-122"/>
                <a:cs typeface="经典粗黑简" pitchFamily="49" charset="-122"/>
              </a:rPr>
              <a:t>i,j</a:t>
            </a:r>
            <a:r>
              <a:rPr lang="zh-CN" altLang="zh-CN" dirty="0">
                <a:latin typeface="微软雅黑" pitchFamily="34" charset="-122"/>
                <a:ea typeface="微软雅黑" pitchFamily="34" charset="-122"/>
                <a:cs typeface="经典粗黑简" pitchFamily="49" charset="-122"/>
              </a:rPr>
              <a:t>≤</a:t>
            </a:r>
            <a:r>
              <a:rPr lang="en-US" altLang="zh-CN" dirty="0">
                <a:latin typeface="微软雅黑" pitchFamily="34" charset="-122"/>
                <a:ea typeface="微软雅黑" pitchFamily="34" charset="-122"/>
                <a:cs typeface="经典粗黑简" pitchFamily="49" charset="-122"/>
              </a:rPr>
              <a:t>n-1</a:t>
            </a:r>
            <a:r>
              <a:rPr lang="zh-CN" altLang="zh-CN" dirty="0">
                <a:latin typeface="微软雅黑" pitchFamily="34" charset="-122"/>
                <a:ea typeface="微软雅黑" pitchFamily="34" charset="-122"/>
                <a:cs typeface="经典粗黑简" pitchFamily="49" charset="-122"/>
              </a:rPr>
              <a:t>。对称矩阵关于主对角线对称，因此只需存储上三角或下三角部分即可。原来需要</a:t>
            </a:r>
            <a:r>
              <a:rPr lang="en-US" altLang="zh-CN" dirty="0">
                <a:latin typeface="微软雅黑" pitchFamily="34" charset="-122"/>
                <a:ea typeface="微软雅黑" pitchFamily="34" charset="-122"/>
                <a:cs typeface="经典粗黑简" pitchFamily="49" charset="-122"/>
              </a:rPr>
              <a:t>n*n</a:t>
            </a:r>
            <a:r>
              <a:rPr lang="zh-CN" altLang="zh-CN" dirty="0">
                <a:latin typeface="微软雅黑" pitchFamily="34" charset="-122"/>
                <a:ea typeface="微软雅黑" pitchFamily="34" charset="-122"/>
                <a:cs typeface="经典粗黑简" pitchFamily="49" charset="-122"/>
              </a:rPr>
              <a:t>个存储单元，现在只需要</a:t>
            </a:r>
            <a:r>
              <a:rPr lang="en-US" altLang="zh-CN" dirty="0">
                <a:latin typeface="微软雅黑" pitchFamily="34" charset="-122"/>
                <a:ea typeface="微软雅黑" pitchFamily="34" charset="-122"/>
                <a:cs typeface="经典粗黑简" pitchFamily="49" charset="-122"/>
              </a:rPr>
              <a:t>n(n+1)/2</a:t>
            </a:r>
            <a:r>
              <a:rPr lang="zh-CN" altLang="zh-CN" dirty="0">
                <a:latin typeface="微软雅黑" pitchFamily="34" charset="-122"/>
                <a:ea typeface="微软雅黑" pitchFamily="34" charset="-122"/>
                <a:cs typeface="经典粗黑简" pitchFamily="49" charset="-122"/>
              </a:rPr>
              <a:t>个存储单元了，节约了</a:t>
            </a:r>
            <a:r>
              <a:rPr lang="en-US" altLang="zh-CN" dirty="0">
                <a:latin typeface="微软雅黑" pitchFamily="34" charset="-122"/>
                <a:ea typeface="微软雅黑" pitchFamily="34" charset="-122"/>
                <a:cs typeface="经典粗黑简" pitchFamily="49" charset="-122"/>
              </a:rPr>
              <a:t>n(n-1)/2</a:t>
            </a:r>
            <a:r>
              <a:rPr lang="zh-CN" altLang="zh-CN" dirty="0">
                <a:latin typeface="微软雅黑" pitchFamily="34" charset="-122"/>
                <a:ea typeface="微软雅黑" pitchFamily="34" charset="-122"/>
                <a:cs typeface="经典粗黑简" pitchFamily="49" charset="-122"/>
              </a:rPr>
              <a:t>个存储单元。</a:t>
            </a:r>
          </a:p>
        </p:txBody>
      </p:sp>
    </p:spTree>
    <p:extLst>
      <p:ext uri="{BB962C8B-B14F-4D97-AF65-F5344CB8AC3E}">
        <p14:creationId xmlns:p14="http://schemas.microsoft.com/office/powerpoint/2010/main" val="4016991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261F8-DA34-24F6-8DC4-1D330FF457C3}"/>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4EC62651-BE66-0BD1-7AC7-AD8A992886AF}"/>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3" name="Rectangle 2">
            <a:extLst>
              <a:ext uri="{FF2B5EF4-FFF2-40B4-BE49-F238E27FC236}">
                <a16:creationId xmlns:a16="http://schemas.microsoft.com/office/drawing/2014/main" id="{52C7EC20-20D5-7E50-E8B8-B0A311B04C21}"/>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CBE6E2F6-C24D-F2A6-3A68-BB30C2286CC0}"/>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1" name="直角三角形 20">
            <a:extLst>
              <a:ext uri="{FF2B5EF4-FFF2-40B4-BE49-F238E27FC236}">
                <a16:creationId xmlns:a16="http://schemas.microsoft.com/office/drawing/2014/main" id="{9327DF85-D40F-53D1-824F-AC52F858EB06}"/>
              </a:ext>
            </a:extLst>
          </p:cNvPr>
          <p:cNvSpPr/>
          <p:nvPr/>
        </p:nvSpPr>
        <p:spPr>
          <a:xfrm>
            <a:off x="7535294" y="1185557"/>
            <a:ext cx="2786082" cy="1857388"/>
          </a:xfrm>
          <a:prstGeom prst="rtTriangl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Consolas" pitchFamily="49" charset="0"/>
              <a:cs typeface="Consolas" pitchFamily="49" charset="0"/>
            </a:endParaRPr>
          </a:p>
        </p:txBody>
      </p:sp>
      <p:sp>
        <p:nvSpPr>
          <p:cNvPr id="22" name="Text Box 3">
            <a:extLst>
              <a:ext uri="{FF2B5EF4-FFF2-40B4-BE49-F238E27FC236}">
                <a16:creationId xmlns:a16="http://schemas.microsoft.com/office/drawing/2014/main" id="{4ABAC056-18BD-8E9F-1C6A-84F5BD6D065D}"/>
              </a:ext>
            </a:extLst>
          </p:cNvPr>
          <p:cNvSpPr txBox="1">
            <a:spLocks noChangeArrowheads="1"/>
          </p:cNvSpPr>
          <p:nvPr/>
        </p:nvSpPr>
        <p:spPr bwMode="auto">
          <a:xfrm>
            <a:off x="1111156" y="1808765"/>
            <a:ext cx="4515145" cy="707886"/>
          </a:xfrm>
          <a:prstGeom prst="rect">
            <a:avLst/>
          </a:prstGeom>
          <a:noFill/>
          <a:ln w="9525">
            <a:noFill/>
            <a:miter lim="800000"/>
            <a:headEnd/>
            <a:tailEnd/>
          </a:ln>
          <a:effectLst/>
        </p:spPr>
        <p:txBody>
          <a:bodyPr wrap="square">
            <a:spAutoFit/>
          </a:bodyPr>
          <a:lstStyle/>
          <a:p>
            <a:pPr algn="l"/>
            <a:r>
              <a:rPr lang="zh-CN" altLang="en-US" sz="2000" dirty="0">
                <a:latin typeface="微软雅黑" pitchFamily="34" charset="-122"/>
                <a:ea typeface="微软雅黑" pitchFamily="34" charset="-122"/>
                <a:cs typeface="经典粗黑简" pitchFamily="49" charset="-122"/>
              </a:rPr>
              <a:t>以行序为主序存储其下三角</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主对角线的元素。</a:t>
            </a:r>
          </a:p>
        </p:txBody>
      </p:sp>
      <p:grpSp>
        <p:nvGrpSpPr>
          <p:cNvPr id="51" name="组合 28">
            <a:extLst>
              <a:ext uri="{FF2B5EF4-FFF2-40B4-BE49-F238E27FC236}">
                <a16:creationId xmlns:a16="http://schemas.microsoft.com/office/drawing/2014/main" id="{D4A1CBC3-EA13-1C84-7A49-049663004DDE}"/>
              </a:ext>
            </a:extLst>
          </p:cNvPr>
          <p:cNvGrpSpPr/>
          <p:nvPr/>
        </p:nvGrpSpPr>
        <p:grpSpPr>
          <a:xfrm>
            <a:off x="7392418" y="1256995"/>
            <a:ext cx="2857520" cy="1752612"/>
            <a:chOff x="3214676" y="2214554"/>
            <a:chExt cx="2837975" cy="1752612"/>
          </a:xfrm>
        </p:grpSpPr>
        <p:cxnSp>
          <p:nvCxnSpPr>
            <p:cNvPr id="52" name="直接连接符 51">
              <a:extLst>
                <a:ext uri="{FF2B5EF4-FFF2-40B4-BE49-F238E27FC236}">
                  <a16:creationId xmlns:a16="http://schemas.microsoft.com/office/drawing/2014/main" id="{CCC917F0-F11F-8E1B-911C-B732FC30146E}"/>
                </a:ext>
              </a:extLst>
            </p:cNvPr>
            <p:cNvCxnSpPr/>
            <p:nvPr/>
          </p:nvCxnSpPr>
          <p:spPr>
            <a:xfrm rot="5400000">
              <a:off x="2358214" y="30710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0B9BC77-A26B-405F-5193-27DD40387B57}"/>
                </a:ext>
              </a:extLst>
            </p:cNvPr>
            <p:cNvCxnSpPr/>
            <p:nvPr/>
          </p:nvCxnSpPr>
          <p:spPr>
            <a:xfrm>
              <a:off x="3216264" y="22272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A94403FA-0788-956F-4CD9-5EDF70A6E38F}"/>
                </a:ext>
              </a:extLst>
            </p:cNvPr>
            <p:cNvCxnSpPr/>
            <p:nvPr/>
          </p:nvCxnSpPr>
          <p:spPr>
            <a:xfrm>
              <a:off x="3214676" y="39243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55" name="TextBox 32">
              <a:extLst>
                <a:ext uri="{FF2B5EF4-FFF2-40B4-BE49-F238E27FC236}">
                  <a16:creationId xmlns:a16="http://schemas.microsoft.com/office/drawing/2014/main" id="{4FA59279-31F8-69A9-3CA8-738F174A6ADB}"/>
                </a:ext>
              </a:extLst>
            </p:cNvPr>
            <p:cNvSpPr txBox="1"/>
            <p:nvPr/>
          </p:nvSpPr>
          <p:spPr>
            <a:xfrm>
              <a:off x="3359140" y="2258590"/>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0,0</a:t>
              </a:r>
              <a:endParaRPr lang="zh-CN" altLang="en-US" sz="1800" baseline="-25000">
                <a:latin typeface="Consolas" pitchFamily="49" charset="0"/>
                <a:cs typeface="Consolas" pitchFamily="49" charset="0"/>
              </a:endParaRPr>
            </a:p>
          </p:txBody>
        </p:sp>
        <p:sp>
          <p:nvSpPr>
            <p:cNvPr id="56" name="TextBox 33">
              <a:extLst>
                <a:ext uri="{FF2B5EF4-FFF2-40B4-BE49-F238E27FC236}">
                  <a16:creationId xmlns:a16="http://schemas.microsoft.com/office/drawing/2014/main" id="{3B80600C-449C-530F-ECA6-1C01E049A963}"/>
                </a:ext>
              </a:extLst>
            </p:cNvPr>
            <p:cNvSpPr txBox="1"/>
            <p:nvPr/>
          </p:nvSpPr>
          <p:spPr>
            <a:xfrm>
              <a:off x="4002081" y="2258590"/>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0,1</a:t>
              </a:r>
              <a:endParaRPr lang="zh-CN" altLang="en-US" sz="1800" baseline="-25000">
                <a:latin typeface="Consolas" pitchFamily="49" charset="0"/>
                <a:cs typeface="Consolas" pitchFamily="49" charset="0"/>
              </a:endParaRPr>
            </a:p>
          </p:txBody>
        </p:sp>
        <p:sp>
          <p:nvSpPr>
            <p:cNvPr id="57" name="TextBox 34">
              <a:extLst>
                <a:ext uri="{FF2B5EF4-FFF2-40B4-BE49-F238E27FC236}">
                  <a16:creationId xmlns:a16="http://schemas.microsoft.com/office/drawing/2014/main" id="{4AE4685C-8A8C-B356-34AC-F13010655493}"/>
                </a:ext>
              </a:extLst>
            </p:cNvPr>
            <p:cNvSpPr txBox="1"/>
            <p:nvPr/>
          </p:nvSpPr>
          <p:spPr>
            <a:xfrm>
              <a:off x="5216526" y="2258590"/>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a:t>
              </a:r>
              <a:r>
                <a:rPr lang="en-US" altLang="zh-CN" sz="1800" i="1" baseline="-25000" err="1">
                  <a:latin typeface="Consolas" pitchFamily="49" charset="0"/>
                  <a:cs typeface="Consolas" pitchFamily="49" charset="0"/>
                </a:rPr>
                <a:t>n</a:t>
              </a:r>
              <a:r>
                <a:rPr lang="en-US" altLang="zh-CN" sz="1800" baseline="-25000">
                  <a:latin typeface="Consolas" pitchFamily="49" charset="0"/>
                  <a:cs typeface="Consolas" pitchFamily="49" charset="0"/>
                </a:rPr>
                <a:t>-1</a:t>
              </a:r>
              <a:endParaRPr lang="zh-CN" altLang="en-US" sz="1800" baseline="-25000">
                <a:latin typeface="Consolas" pitchFamily="49" charset="0"/>
                <a:cs typeface="Consolas" pitchFamily="49" charset="0"/>
              </a:endParaRPr>
            </a:p>
          </p:txBody>
        </p:sp>
        <p:sp>
          <p:nvSpPr>
            <p:cNvPr id="58" name="TextBox 35">
              <a:extLst>
                <a:ext uri="{FF2B5EF4-FFF2-40B4-BE49-F238E27FC236}">
                  <a16:creationId xmlns:a16="http://schemas.microsoft.com/office/drawing/2014/main" id="{E36531B5-86B5-2D52-7B8A-4B2276E5F403}"/>
                </a:ext>
              </a:extLst>
            </p:cNvPr>
            <p:cNvSpPr txBox="1"/>
            <p:nvPr/>
          </p:nvSpPr>
          <p:spPr>
            <a:xfrm>
              <a:off x="4645023" y="2239954"/>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sp>
          <p:nvSpPr>
            <p:cNvPr id="59" name="TextBox 36">
              <a:extLst>
                <a:ext uri="{FF2B5EF4-FFF2-40B4-BE49-F238E27FC236}">
                  <a16:creationId xmlns:a16="http://schemas.microsoft.com/office/drawing/2014/main" id="{7FCFACBA-DF02-241B-7C58-38870E3B13CC}"/>
                </a:ext>
              </a:extLst>
            </p:cNvPr>
            <p:cNvSpPr txBox="1"/>
            <p:nvPr/>
          </p:nvSpPr>
          <p:spPr>
            <a:xfrm>
              <a:off x="3359140" y="2687218"/>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1,0</a:t>
              </a:r>
              <a:endParaRPr lang="zh-CN" altLang="en-US" sz="1800" baseline="-25000">
                <a:latin typeface="Consolas" pitchFamily="49" charset="0"/>
                <a:cs typeface="Consolas" pitchFamily="49" charset="0"/>
              </a:endParaRPr>
            </a:p>
          </p:txBody>
        </p:sp>
        <p:sp>
          <p:nvSpPr>
            <p:cNvPr id="60" name="TextBox 37">
              <a:extLst>
                <a:ext uri="{FF2B5EF4-FFF2-40B4-BE49-F238E27FC236}">
                  <a16:creationId xmlns:a16="http://schemas.microsoft.com/office/drawing/2014/main" id="{5FF088BE-3190-502C-6392-D7C754B6EF03}"/>
                </a:ext>
              </a:extLst>
            </p:cNvPr>
            <p:cNvSpPr txBox="1"/>
            <p:nvPr/>
          </p:nvSpPr>
          <p:spPr>
            <a:xfrm>
              <a:off x="4002081" y="2687218"/>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1,1</a:t>
              </a:r>
              <a:endParaRPr lang="zh-CN" altLang="en-US" sz="1800" baseline="-25000">
                <a:latin typeface="Consolas" pitchFamily="49" charset="0"/>
                <a:cs typeface="Consolas" pitchFamily="49" charset="0"/>
              </a:endParaRPr>
            </a:p>
          </p:txBody>
        </p:sp>
        <p:sp>
          <p:nvSpPr>
            <p:cNvPr id="61" name="TextBox 38">
              <a:extLst>
                <a:ext uri="{FF2B5EF4-FFF2-40B4-BE49-F238E27FC236}">
                  <a16:creationId xmlns:a16="http://schemas.microsoft.com/office/drawing/2014/main" id="{22D1A316-A73C-42B1-9020-7BC218E54AB2}"/>
                </a:ext>
              </a:extLst>
            </p:cNvPr>
            <p:cNvSpPr txBox="1"/>
            <p:nvPr/>
          </p:nvSpPr>
          <p:spPr>
            <a:xfrm>
              <a:off x="5216526" y="2687218"/>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1,</a:t>
              </a:r>
              <a:r>
                <a:rPr lang="en-US" altLang="zh-CN" sz="1800" i="1" baseline="-25000" err="1">
                  <a:latin typeface="Consolas" pitchFamily="49" charset="0"/>
                  <a:cs typeface="Consolas" pitchFamily="49" charset="0"/>
                </a:rPr>
                <a:t>n</a:t>
              </a:r>
              <a:r>
                <a:rPr lang="en-US" altLang="zh-CN" sz="1800" baseline="-25000">
                  <a:latin typeface="Consolas" pitchFamily="49" charset="0"/>
                  <a:cs typeface="Consolas" pitchFamily="49" charset="0"/>
                </a:rPr>
                <a:t>-1</a:t>
              </a:r>
              <a:endParaRPr lang="zh-CN" altLang="en-US" sz="1800" baseline="-25000">
                <a:latin typeface="Consolas" pitchFamily="49" charset="0"/>
                <a:cs typeface="Consolas" pitchFamily="49" charset="0"/>
              </a:endParaRPr>
            </a:p>
          </p:txBody>
        </p:sp>
        <p:sp>
          <p:nvSpPr>
            <p:cNvPr id="62" name="TextBox 39">
              <a:extLst>
                <a:ext uri="{FF2B5EF4-FFF2-40B4-BE49-F238E27FC236}">
                  <a16:creationId xmlns:a16="http://schemas.microsoft.com/office/drawing/2014/main" id="{FB3E213E-0B35-361B-2570-E0F66697E0B2}"/>
                </a:ext>
              </a:extLst>
            </p:cNvPr>
            <p:cNvSpPr txBox="1"/>
            <p:nvPr/>
          </p:nvSpPr>
          <p:spPr>
            <a:xfrm>
              <a:off x="4645023" y="2668582"/>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sp>
          <p:nvSpPr>
            <p:cNvPr id="63" name="TextBox 40">
              <a:extLst>
                <a:ext uri="{FF2B5EF4-FFF2-40B4-BE49-F238E27FC236}">
                  <a16:creationId xmlns:a16="http://schemas.microsoft.com/office/drawing/2014/main" id="{65916682-29D3-D6C7-5DF7-1F13F14EB0F3}"/>
                </a:ext>
              </a:extLst>
            </p:cNvPr>
            <p:cNvSpPr txBox="1"/>
            <p:nvPr/>
          </p:nvSpPr>
          <p:spPr>
            <a:xfrm>
              <a:off x="3359140" y="3549236"/>
              <a:ext cx="714379" cy="276999"/>
            </a:xfrm>
            <a:prstGeom prst="rect">
              <a:avLst/>
            </a:prstGeom>
            <a:noFill/>
          </p:spPr>
          <p:txBody>
            <a:bodyPr wrap="square" lIns="0" tIns="0" rIns="0" bIns="0" rtlCol="0">
              <a:spAutoFit/>
            </a:bodyPr>
            <a:lstStyle/>
            <a:p>
              <a:r>
                <a:rPr lang="en-US" altLang="zh-CN" sz="1800" i="1">
                  <a:latin typeface="Consolas" pitchFamily="49" charset="0"/>
                  <a:cs typeface="Consolas" pitchFamily="49" charset="0"/>
                </a:rPr>
                <a:t>a</a:t>
              </a:r>
              <a:r>
                <a:rPr lang="en-US" altLang="zh-CN" sz="1800" i="1" baseline="-25000">
                  <a:latin typeface="Consolas" pitchFamily="49" charset="0"/>
                  <a:cs typeface="Consolas" pitchFamily="49" charset="0"/>
                </a:rPr>
                <a:t>n</a:t>
              </a:r>
              <a:r>
                <a:rPr lang="en-US" altLang="zh-CN" sz="1800" baseline="-25000">
                  <a:latin typeface="Consolas" pitchFamily="49" charset="0"/>
                  <a:cs typeface="Consolas" pitchFamily="49" charset="0"/>
                </a:rPr>
                <a:t>-1,0</a:t>
              </a:r>
              <a:endParaRPr lang="zh-CN" altLang="en-US" sz="1800" baseline="-25000">
                <a:latin typeface="Consolas" pitchFamily="49" charset="0"/>
                <a:cs typeface="Consolas" pitchFamily="49" charset="0"/>
              </a:endParaRPr>
            </a:p>
          </p:txBody>
        </p:sp>
        <p:sp>
          <p:nvSpPr>
            <p:cNvPr id="64" name="TextBox 41">
              <a:extLst>
                <a:ext uri="{FF2B5EF4-FFF2-40B4-BE49-F238E27FC236}">
                  <a16:creationId xmlns:a16="http://schemas.microsoft.com/office/drawing/2014/main" id="{1336A295-7D73-BDB0-4E0D-4DD618AF35A3}"/>
                </a:ext>
              </a:extLst>
            </p:cNvPr>
            <p:cNvSpPr txBox="1"/>
            <p:nvPr/>
          </p:nvSpPr>
          <p:spPr>
            <a:xfrm>
              <a:off x="4002081" y="3549236"/>
              <a:ext cx="714379" cy="276999"/>
            </a:xfrm>
            <a:prstGeom prst="rect">
              <a:avLst/>
            </a:prstGeom>
            <a:noFill/>
          </p:spPr>
          <p:txBody>
            <a:bodyPr wrap="square" lIns="0" tIns="0" rIns="0" bIns="0" rtlCol="0">
              <a:spAutoFit/>
            </a:bodyPr>
            <a:lstStyle/>
            <a:p>
              <a:r>
                <a:rPr lang="en-US" altLang="zh-CN" sz="1800" i="1">
                  <a:latin typeface="Consolas" pitchFamily="49" charset="0"/>
                  <a:cs typeface="Consolas" pitchFamily="49" charset="0"/>
                </a:rPr>
                <a:t>a</a:t>
              </a:r>
              <a:r>
                <a:rPr lang="en-US" altLang="zh-CN" sz="1800" i="1" baseline="-25000">
                  <a:latin typeface="Consolas" pitchFamily="49" charset="0"/>
                  <a:cs typeface="Consolas" pitchFamily="49" charset="0"/>
                </a:rPr>
                <a:t>n</a:t>
              </a:r>
              <a:r>
                <a:rPr lang="en-US" altLang="zh-CN" sz="1800" baseline="-25000">
                  <a:latin typeface="Consolas" pitchFamily="49" charset="0"/>
                  <a:cs typeface="Consolas" pitchFamily="49" charset="0"/>
                </a:rPr>
                <a:t>-1,1</a:t>
              </a:r>
              <a:endParaRPr lang="zh-CN" altLang="en-US" sz="1800" baseline="-25000">
                <a:latin typeface="Consolas" pitchFamily="49" charset="0"/>
                <a:cs typeface="Consolas" pitchFamily="49" charset="0"/>
              </a:endParaRPr>
            </a:p>
          </p:txBody>
        </p:sp>
        <p:sp>
          <p:nvSpPr>
            <p:cNvPr id="65" name="TextBox 42">
              <a:extLst>
                <a:ext uri="{FF2B5EF4-FFF2-40B4-BE49-F238E27FC236}">
                  <a16:creationId xmlns:a16="http://schemas.microsoft.com/office/drawing/2014/main" id="{8DADE746-496D-FB25-FF69-54AD6B323245}"/>
                </a:ext>
              </a:extLst>
            </p:cNvPr>
            <p:cNvSpPr txBox="1"/>
            <p:nvPr/>
          </p:nvSpPr>
          <p:spPr>
            <a:xfrm>
              <a:off x="5216526" y="3549236"/>
              <a:ext cx="714379" cy="276999"/>
            </a:xfrm>
            <a:prstGeom prst="rect">
              <a:avLst/>
            </a:prstGeom>
            <a:noFill/>
          </p:spPr>
          <p:txBody>
            <a:bodyPr wrap="square" lIns="0" tIns="0" rIns="0" bIns="0" rtlCol="0">
              <a:spAutoFit/>
            </a:bodyPr>
            <a:lstStyle/>
            <a:p>
              <a:r>
                <a:rPr lang="en-US" altLang="zh-CN" sz="1800" i="1">
                  <a:latin typeface="Consolas" pitchFamily="49" charset="0"/>
                  <a:cs typeface="Consolas" pitchFamily="49" charset="0"/>
                </a:rPr>
                <a:t>a</a:t>
              </a:r>
              <a:r>
                <a:rPr lang="en-US" altLang="zh-CN" sz="1800" i="1" baseline="-25000">
                  <a:latin typeface="Consolas" pitchFamily="49" charset="0"/>
                  <a:cs typeface="Consolas" pitchFamily="49" charset="0"/>
                </a:rPr>
                <a:t>n</a:t>
              </a:r>
              <a:r>
                <a:rPr lang="en-US" altLang="zh-CN" sz="1800" baseline="-25000">
                  <a:latin typeface="Consolas" pitchFamily="49" charset="0"/>
                  <a:cs typeface="Consolas" pitchFamily="49" charset="0"/>
                </a:rPr>
                <a:t>-</a:t>
              </a:r>
              <a:r>
                <a:rPr lang="en-US" altLang="zh-CN" sz="1800" baseline="-25000" err="1">
                  <a:latin typeface="Consolas" pitchFamily="49" charset="0"/>
                  <a:cs typeface="Consolas" pitchFamily="49" charset="0"/>
                </a:rPr>
                <a:t>1,</a:t>
              </a:r>
              <a:r>
                <a:rPr lang="en-US" altLang="zh-CN" sz="1800" i="1" baseline="-25000" err="1">
                  <a:latin typeface="Consolas" pitchFamily="49" charset="0"/>
                  <a:cs typeface="Consolas" pitchFamily="49" charset="0"/>
                </a:rPr>
                <a:t>n</a:t>
              </a:r>
              <a:r>
                <a:rPr lang="en-US" altLang="zh-CN" sz="1800" baseline="-25000">
                  <a:latin typeface="Consolas" pitchFamily="49" charset="0"/>
                  <a:cs typeface="Consolas" pitchFamily="49" charset="0"/>
                </a:rPr>
                <a:t>-1</a:t>
              </a:r>
              <a:endParaRPr lang="zh-CN" altLang="en-US" sz="1800" baseline="-25000">
                <a:latin typeface="Consolas" pitchFamily="49" charset="0"/>
                <a:cs typeface="Consolas" pitchFamily="49" charset="0"/>
              </a:endParaRPr>
            </a:p>
          </p:txBody>
        </p:sp>
        <p:sp>
          <p:nvSpPr>
            <p:cNvPr id="66" name="TextBox 43">
              <a:extLst>
                <a:ext uri="{FF2B5EF4-FFF2-40B4-BE49-F238E27FC236}">
                  <a16:creationId xmlns:a16="http://schemas.microsoft.com/office/drawing/2014/main" id="{4EEDBE3B-D371-6BA8-33CB-CCB069E2FC77}"/>
                </a:ext>
              </a:extLst>
            </p:cNvPr>
            <p:cNvSpPr txBox="1"/>
            <p:nvPr/>
          </p:nvSpPr>
          <p:spPr>
            <a:xfrm>
              <a:off x="4645023" y="3530600"/>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cxnSp>
          <p:nvCxnSpPr>
            <p:cNvPr id="67" name="直接连接符 66">
              <a:extLst>
                <a:ext uri="{FF2B5EF4-FFF2-40B4-BE49-F238E27FC236}">
                  <a16:creationId xmlns:a16="http://schemas.microsoft.com/office/drawing/2014/main" id="{13C758B1-C9E0-8E14-69A9-0EB424A8ECBB}"/>
                </a:ext>
              </a:extLst>
            </p:cNvPr>
            <p:cNvCxnSpPr/>
            <p:nvPr/>
          </p:nvCxnSpPr>
          <p:spPr>
            <a:xfrm rot="5400000">
              <a:off x="5180777" y="31091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BAF9096F-860D-DC94-B0B8-47E3FD22053D}"/>
                </a:ext>
              </a:extLst>
            </p:cNvPr>
            <p:cNvCxnSpPr/>
            <p:nvPr/>
          </p:nvCxnSpPr>
          <p:spPr>
            <a:xfrm>
              <a:off x="5908651" y="22653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C4F4E9C1-1DAE-397C-6E81-72DAB5ED6A87}"/>
                </a:ext>
              </a:extLst>
            </p:cNvPr>
            <p:cNvCxnSpPr/>
            <p:nvPr/>
          </p:nvCxnSpPr>
          <p:spPr>
            <a:xfrm>
              <a:off x="5907061" y="39624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70" name="TextBox 47">
              <a:extLst>
                <a:ext uri="{FF2B5EF4-FFF2-40B4-BE49-F238E27FC236}">
                  <a16:creationId xmlns:a16="http://schemas.microsoft.com/office/drawing/2014/main" id="{A2BF79C4-61EC-256A-B7C1-4B05E304175D}"/>
                </a:ext>
              </a:extLst>
            </p:cNvPr>
            <p:cNvSpPr txBox="1"/>
            <p:nvPr/>
          </p:nvSpPr>
          <p:spPr>
            <a:xfrm>
              <a:off x="3502018" y="3097210"/>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grpSp>
      <p:cxnSp>
        <p:nvCxnSpPr>
          <p:cNvPr id="74" name="直接箭头连接符 73">
            <a:extLst>
              <a:ext uri="{FF2B5EF4-FFF2-40B4-BE49-F238E27FC236}">
                <a16:creationId xmlns:a16="http://schemas.microsoft.com/office/drawing/2014/main" id="{CCB3ECD4-E196-9B55-3DDA-5AB4FA65332A}"/>
              </a:ext>
            </a:extLst>
          </p:cNvPr>
          <p:cNvCxnSpPr/>
          <p:nvPr/>
        </p:nvCxnSpPr>
        <p:spPr>
          <a:xfrm rot="10800000" flipV="1">
            <a:off x="6963790" y="2114251"/>
            <a:ext cx="785818" cy="14287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75" name="TextBox 53">
            <a:extLst>
              <a:ext uri="{FF2B5EF4-FFF2-40B4-BE49-F238E27FC236}">
                <a16:creationId xmlns:a16="http://schemas.microsoft.com/office/drawing/2014/main" id="{F1BB32C3-F870-DF0E-7DFD-E4F0C1D1BF8B}"/>
              </a:ext>
            </a:extLst>
          </p:cNvPr>
          <p:cNvSpPr txBox="1"/>
          <p:nvPr/>
        </p:nvSpPr>
        <p:spPr>
          <a:xfrm>
            <a:off x="6177972" y="2114251"/>
            <a:ext cx="928694" cy="369332"/>
          </a:xfrm>
          <a:prstGeom prst="rect">
            <a:avLst/>
          </a:prstGeom>
          <a:noFill/>
        </p:spPr>
        <p:txBody>
          <a:bodyPr wrap="square" rtlCol="0">
            <a:spAutoFit/>
          </a:bodyPr>
          <a:lstStyle/>
          <a:p>
            <a:r>
              <a:rPr kumimoji="1" lang="en-US" altLang="zh-CN" sz="1800" i="1" err="1">
                <a:latin typeface="Consolas" pitchFamily="49" charset="0"/>
                <a:ea typeface="楷体" pitchFamily="49" charset="-122"/>
                <a:cs typeface="Consolas" pitchFamily="49" charset="0"/>
              </a:rPr>
              <a:t>i</a:t>
            </a:r>
            <a:r>
              <a:rPr kumimoji="1" lang="en-US" altLang="zh-CN" sz="1800" err="1">
                <a:latin typeface="Consolas" pitchFamily="49" charset="0"/>
                <a:cs typeface="Consolas" pitchFamily="49" charset="0"/>
              </a:rPr>
              <a:t>≥</a:t>
            </a:r>
            <a:r>
              <a:rPr kumimoji="1" lang="en-US" altLang="zh-CN" sz="1800" i="1" err="1">
                <a:latin typeface="Consolas" pitchFamily="49" charset="0"/>
                <a:ea typeface="楷体" pitchFamily="49" charset="-122"/>
                <a:cs typeface="Consolas" pitchFamily="49" charset="0"/>
              </a:rPr>
              <a:t>j</a:t>
            </a:r>
            <a:endParaRPr lang="zh-CN" altLang="en-US" sz="1800">
              <a:latin typeface="Consolas" pitchFamily="49" charset="0"/>
              <a:cs typeface="Consolas" pitchFamily="49" charset="0"/>
            </a:endParaRPr>
          </a:p>
        </p:txBody>
      </p:sp>
      <p:grpSp>
        <p:nvGrpSpPr>
          <p:cNvPr id="5" name="组合 43">
            <a:extLst>
              <a:ext uri="{FF2B5EF4-FFF2-40B4-BE49-F238E27FC236}">
                <a16:creationId xmlns:a16="http://schemas.microsoft.com/office/drawing/2014/main" id="{78182C91-4036-4A1C-633B-27C48996EA4E}"/>
              </a:ext>
            </a:extLst>
          </p:cNvPr>
          <p:cNvGrpSpPr/>
          <p:nvPr/>
        </p:nvGrpSpPr>
        <p:grpSpPr>
          <a:xfrm>
            <a:off x="5210135" y="4347734"/>
            <a:ext cx="6574499" cy="2408244"/>
            <a:chOff x="1643042" y="3378210"/>
            <a:chExt cx="6049938" cy="2408244"/>
          </a:xfrm>
        </p:grpSpPr>
        <p:sp>
          <p:nvSpPr>
            <p:cNvPr id="6" name="Text Box 10">
              <a:extLst>
                <a:ext uri="{FF2B5EF4-FFF2-40B4-BE49-F238E27FC236}">
                  <a16:creationId xmlns:a16="http://schemas.microsoft.com/office/drawing/2014/main" id="{F0FAA544-1C30-E721-93DA-9EE622C46D1A}"/>
                </a:ext>
              </a:extLst>
            </p:cNvPr>
            <p:cNvSpPr txBox="1">
              <a:spLocks noChangeArrowheads="1"/>
            </p:cNvSpPr>
            <p:nvPr/>
          </p:nvSpPr>
          <p:spPr bwMode="auto">
            <a:xfrm>
              <a:off x="1643042" y="4787916"/>
              <a:ext cx="609600" cy="457200"/>
            </a:xfrm>
            <a:prstGeom prst="rect">
              <a:avLst/>
            </a:prstGeom>
            <a:noFill/>
            <a:ln w="9525">
              <a:noFill/>
              <a:miter lim="800000"/>
              <a:headEnd/>
              <a:tailEnd/>
            </a:ln>
            <a:effectLst/>
          </p:spPr>
          <p:txBody>
            <a:bodyPr>
              <a:spAutoFit/>
            </a:bodyPr>
            <a:lstStyle/>
            <a:p>
              <a:pPr algn="l">
                <a:spcBef>
                  <a:spcPct val="50000"/>
                </a:spcBef>
              </a:pPr>
              <a:r>
                <a:rPr kumimoji="1" lang="en-US" altLang="zh-CN" i="1">
                  <a:latin typeface="Consolas" pitchFamily="49" charset="0"/>
                  <a:ea typeface="宋体" pitchFamily="2" charset="-122"/>
                  <a:cs typeface="Consolas" pitchFamily="49" charset="0"/>
                </a:rPr>
                <a:t>k</a:t>
              </a:r>
              <a:r>
                <a:rPr kumimoji="1" lang="en-US" altLang="zh-CN">
                  <a:latin typeface="Consolas" pitchFamily="49" charset="0"/>
                  <a:ea typeface="宋体" pitchFamily="2" charset="-122"/>
                  <a:cs typeface="Consolas" pitchFamily="49" charset="0"/>
                </a:rPr>
                <a:t>=</a:t>
              </a:r>
            </a:p>
          </p:txBody>
        </p:sp>
        <p:sp>
          <p:nvSpPr>
            <p:cNvPr id="7" name="Text Box 11">
              <a:extLst>
                <a:ext uri="{FF2B5EF4-FFF2-40B4-BE49-F238E27FC236}">
                  <a16:creationId xmlns:a16="http://schemas.microsoft.com/office/drawing/2014/main" id="{F299A026-7861-8090-FDB9-7043BC28840D}"/>
                </a:ext>
              </a:extLst>
            </p:cNvPr>
            <p:cNvSpPr txBox="1">
              <a:spLocks noChangeArrowheads="1"/>
            </p:cNvSpPr>
            <p:nvPr/>
          </p:nvSpPr>
          <p:spPr bwMode="auto">
            <a:xfrm>
              <a:off x="4078231" y="4493788"/>
              <a:ext cx="3614749" cy="3693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dirty="0">
                  <a:latin typeface="Consolas" pitchFamily="49" charset="0"/>
                  <a:ea typeface="仿宋" pitchFamily="49" charset="-122"/>
                  <a:cs typeface="Consolas" pitchFamily="49" charset="0"/>
                </a:rPr>
                <a:t>当</a:t>
              </a:r>
              <a:r>
                <a:rPr kumimoji="1" lang="en-US" altLang="zh-CN" sz="1800" i="1" dirty="0" err="1">
                  <a:latin typeface="Consolas" pitchFamily="49" charset="0"/>
                  <a:ea typeface="仿宋" pitchFamily="49" charset="-122"/>
                  <a:cs typeface="Consolas" pitchFamily="49" charset="0"/>
                </a:rPr>
                <a:t>i</a:t>
              </a:r>
              <a:r>
                <a:rPr kumimoji="1" lang="en-US" altLang="zh-CN" sz="1800" dirty="0" err="1">
                  <a:latin typeface="宋体" pitchFamily="2" charset="-122"/>
                  <a:ea typeface="宋体" pitchFamily="2" charset="-122"/>
                  <a:cs typeface="Consolas" pitchFamily="49" charset="0"/>
                </a:rPr>
                <a:t>≥</a:t>
              </a:r>
              <a:r>
                <a:rPr kumimoji="1" lang="en-US" altLang="zh-CN" sz="1800" i="1" dirty="0" err="1">
                  <a:latin typeface="Consolas" pitchFamily="49" charset="0"/>
                  <a:ea typeface="仿宋" pitchFamily="49" charset="-122"/>
                  <a:cs typeface="Consolas" pitchFamily="49" charset="0"/>
                </a:rPr>
                <a:t>j</a:t>
              </a:r>
              <a:r>
                <a:rPr kumimoji="1" lang="zh-CN" altLang="en-US" sz="1800" dirty="0">
                  <a:latin typeface="Consolas" pitchFamily="49" charset="0"/>
                  <a:ea typeface="仿宋" pitchFamily="49" charset="-122"/>
                  <a:cs typeface="Consolas" pitchFamily="49" charset="0"/>
                </a:rPr>
                <a:t>时（下三角</a:t>
              </a:r>
              <a:r>
                <a:rPr kumimoji="1" lang="en-US" altLang="zh-CN" sz="1800" dirty="0">
                  <a:latin typeface="Consolas" pitchFamily="49" charset="0"/>
                  <a:ea typeface="仿宋" pitchFamily="49" charset="-122"/>
                  <a:cs typeface="Consolas" pitchFamily="49" charset="0"/>
                </a:rPr>
                <a:t>+</a:t>
              </a:r>
              <a:r>
                <a:rPr kumimoji="1" lang="zh-CN" altLang="en-US" sz="1800" dirty="0">
                  <a:latin typeface="Consolas" pitchFamily="49" charset="0"/>
                  <a:ea typeface="仿宋" pitchFamily="49" charset="-122"/>
                  <a:cs typeface="Consolas" pitchFamily="49" charset="0"/>
                </a:rPr>
                <a:t>主对角线的元素）</a:t>
              </a:r>
            </a:p>
          </p:txBody>
        </p:sp>
        <p:sp>
          <p:nvSpPr>
            <p:cNvPr id="8" name="Text Box 13">
              <a:extLst>
                <a:ext uri="{FF2B5EF4-FFF2-40B4-BE49-F238E27FC236}">
                  <a16:creationId xmlns:a16="http://schemas.microsoft.com/office/drawing/2014/main" id="{70DA3555-68ED-86FD-4B47-FE80752DF21A}"/>
                </a:ext>
              </a:extLst>
            </p:cNvPr>
            <p:cNvSpPr txBox="1">
              <a:spLocks noChangeArrowheads="1"/>
            </p:cNvSpPr>
            <p:nvPr/>
          </p:nvSpPr>
          <p:spPr bwMode="auto">
            <a:xfrm>
              <a:off x="4084507" y="5101722"/>
              <a:ext cx="2719390" cy="3693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dirty="0">
                  <a:latin typeface="Consolas" pitchFamily="49" charset="0"/>
                  <a:ea typeface="仿宋" pitchFamily="49" charset="-122"/>
                  <a:cs typeface="Consolas" pitchFamily="49" charset="0"/>
                </a:rPr>
                <a:t>当</a:t>
              </a:r>
              <a:r>
                <a:rPr kumimoji="1" lang="en-US" altLang="zh-CN" sz="1800" i="1" dirty="0" err="1">
                  <a:latin typeface="Consolas" pitchFamily="49" charset="0"/>
                  <a:ea typeface="仿宋" pitchFamily="49" charset="-122"/>
                  <a:cs typeface="Consolas" pitchFamily="49" charset="0"/>
                </a:rPr>
                <a:t>i</a:t>
              </a:r>
              <a:r>
                <a:rPr kumimoji="1" lang="en-US" altLang="zh-CN" sz="1800" dirty="0">
                  <a:latin typeface="Consolas" pitchFamily="49" charset="0"/>
                  <a:ea typeface="仿宋" pitchFamily="49" charset="-122"/>
                  <a:cs typeface="Consolas" pitchFamily="49" charset="0"/>
                </a:rPr>
                <a:t>&lt;</a:t>
              </a:r>
              <a:r>
                <a:rPr kumimoji="1" lang="en-US" altLang="zh-CN" sz="1800" i="1" dirty="0">
                  <a:latin typeface="Consolas" pitchFamily="49" charset="0"/>
                  <a:ea typeface="仿宋" pitchFamily="49" charset="-122"/>
                  <a:cs typeface="Consolas" pitchFamily="49" charset="0"/>
                </a:rPr>
                <a:t>j</a:t>
              </a:r>
              <a:r>
                <a:rPr kumimoji="1" lang="zh-CN" altLang="en-US" sz="1800" dirty="0">
                  <a:latin typeface="Consolas" pitchFamily="49" charset="0"/>
                  <a:ea typeface="仿宋" pitchFamily="49" charset="-122"/>
                  <a:cs typeface="Consolas" pitchFamily="49" charset="0"/>
                </a:rPr>
                <a:t>时（</a:t>
              </a:r>
              <a:r>
                <a:rPr kumimoji="1" lang="en-US" altLang="zh-CN" sz="1800" i="1" dirty="0" err="1">
                  <a:solidFill>
                    <a:srgbClr val="C00000"/>
                  </a:solidFill>
                  <a:latin typeface="Consolas" pitchFamily="49" charset="0"/>
                  <a:ea typeface="仿宋" pitchFamily="49" charset="-122"/>
                  <a:cs typeface="Consolas" pitchFamily="49" charset="0"/>
                </a:rPr>
                <a:t>a</a:t>
              </a:r>
              <a:r>
                <a:rPr kumimoji="1" lang="en-US" altLang="zh-CN" sz="1800" i="1" baseline="-25000" dirty="0" err="1">
                  <a:solidFill>
                    <a:srgbClr val="C00000"/>
                  </a:solidFill>
                  <a:latin typeface="Consolas" pitchFamily="49" charset="0"/>
                  <a:ea typeface="仿宋" pitchFamily="49" charset="-122"/>
                  <a:cs typeface="Consolas" pitchFamily="49" charset="0"/>
                </a:rPr>
                <a:t>i,j</a:t>
              </a:r>
              <a:r>
                <a:rPr kumimoji="1" lang="en-US" altLang="zh-CN" sz="1800" dirty="0">
                  <a:solidFill>
                    <a:srgbClr val="C00000"/>
                  </a:solidFill>
                  <a:latin typeface="Consolas" pitchFamily="49" charset="0"/>
                  <a:ea typeface="仿宋" pitchFamily="49" charset="-122"/>
                  <a:cs typeface="Consolas" pitchFamily="49" charset="0"/>
                </a:rPr>
                <a:t>=</a:t>
              </a:r>
              <a:r>
                <a:rPr kumimoji="1" lang="en-US" altLang="zh-CN" sz="1800" i="1" dirty="0" err="1">
                  <a:solidFill>
                    <a:srgbClr val="C00000"/>
                  </a:solidFill>
                  <a:latin typeface="Consolas" pitchFamily="49" charset="0"/>
                  <a:ea typeface="仿宋" pitchFamily="49" charset="-122"/>
                  <a:cs typeface="Consolas" pitchFamily="49" charset="0"/>
                </a:rPr>
                <a:t>a</a:t>
              </a:r>
              <a:r>
                <a:rPr kumimoji="1" lang="en-US" altLang="zh-CN" sz="1800" i="1" baseline="-25000" dirty="0" err="1">
                  <a:solidFill>
                    <a:srgbClr val="C00000"/>
                  </a:solidFill>
                  <a:latin typeface="Consolas" pitchFamily="49" charset="0"/>
                  <a:ea typeface="仿宋" pitchFamily="49" charset="-122"/>
                  <a:cs typeface="Consolas" pitchFamily="49" charset="0"/>
                </a:rPr>
                <a:t>j,i</a:t>
              </a:r>
              <a:r>
                <a:rPr kumimoji="1" lang="zh-CN" altLang="en-US" sz="1800" dirty="0">
                  <a:latin typeface="Consolas" pitchFamily="49" charset="0"/>
                  <a:ea typeface="仿宋" pitchFamily="49" charset="-122"/>
                  <a:cs typeface="Consolas" pitchFamily="49" charset="0"/>
                </a:rPr>
                <a:t>）</a:t>
              </a:r>
            </a:p>
          </p:txBody>
        </p:sp>
        <p:sp>
          <p:nvSpPr>
            <p:cNvPr id="9" name="AutoShape 15">
              <a:extLst>
                <a:ext uri="{FF2B5EF4-FFF2-40B4-BE49-F238E27FC236}">
                  <a16:creationId xmlns:a16="http://schemas.microsoft.com/office/drawing/2014/main" id="{AD9A1745-B016-4763-0CBE-C31AFE997A89}"/>
                </a:ext>
              </a:extLst>
            </p:cNvPr>
            <p:cNvSpPr>
              <a:spLocks/>
            </p:cNvSpPr>
            <p:nvPr/>
          </p:nvSpPr>
          <p:spPr bwMode="auto">
            <a:xfrm>
              <a:off x="2252642" y="4445016"/>
              <a:ext cx="228600" cy="1143000"/>
            </a:xfrm>
            <a:prstGeom prst="leftBrace">
              <a:avLst>
                <a:gd name="adj1" fmla="val 41667"/>
                <a:gd name="adj2" fmla="val 50000"/>
              </a:avLst>
            </a:prstGeom>
            <a:noFill/>
            <a:ln w="22225">
              <a:solidFill>
                <a:srgbClr val="0000FF"/>
              </a:solidFill>
              <a:round/>
              <a:headEnd/>
              <a:tailEnd/>
            </a:ln>
            <a:effectLst/>
          </p:spPr>
          <p:txBody>
            <a:bodyPr wrap="none" anchor="ctr"/>
            <a:lstStyle/>
            <a:p>
              <a:endParaRPr lang="zh-CN" altLang="en-US">
                <a:latin typeface="Consolas" pitchFamily="49" charset="0"/>
                <a:cs typeface="Consolas" pitchFamily="49" charset="0"/>
              </a:endParaRPr>
            </a:p>
          </p:txBody>
        </p:sp>
        <p:sp>
          <p:nvSpPr>
            <p:cNvPr id="10" name="下箭头 13">
              <a:extLst>
                <a:ext uri="{FF2B5EF4-FFF2-40B4-BE49-F238E27FC236}">
                  <a16:creationId xmlns:a16="http://schemas.microsoft.com/office/drawing/2014/main" id="{E8D2FB3A-98D1-B57C-67F0-8FBCBB6B2274}"/>
                </a:ext>
              </a:extLst>
            </p:cNvPr>
            <p:cNvSpPr/>
            <p:nvPr/>
          </p:nvSpPr>
          <p:spPr>
            <a:xfrm>
              <a:off x="3338474" y="3378210"/>
              <a:ext cx="324000" cy="500066"/>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itchFamily="49" charset="0"/>
                <a:cs typeface="Consolas" pitchFamily="49" charset="0"/>
              </a:endParaRPr>
            </a:p>
          </p:txBody>
        </p:sp>
        <p:grpSp>
          <p:nvGrpSpPr>
            <p:cNvPr id="11" name="组合 30">
              <a:extLst>
                <a:ext uri="{FF2B5EF4-FFF2-40B4-BE49-F238E27FC236}">
                  <a16:creationId xmlns:a16="http://schemas.microsoft.com/office/drawing/2014/main" id="{0165A507-4A70-0DB0-6115-441FEB474044}"/>
                </a:ext>
              </a:extLst>
            </p:cNvPr>
            <p:cNvGrpSpPr/>
            <p:nvPr/>
          </p:nvGrpSpPr>
          <p:grpSpPr>
            <a:xfrm>
              <a:off x="2624094" y="4214818"/>
              <a:ext cx="1500198" cy="714380"/>
              <a:chOff x="500034" y="3571876"/>
              <a:chExt cx="1500198" cy="714380"/>
            </a:xfrm>
          </p:grpSpPr>
          <p:sp>
            <p:nvSpPr>
              <p:cNvPr id="17" name="TextBox 21">
                <a:extLst>
                  <a:ext uri="{FF2B5EF4-FFF2-40B4-BE49-F238E27FC236}">
                    <a16:creationId xmlns:a16="http://schemas.microsoft.com/office/drawing/2014/main" id="{E7DB6BED-29CE-62A7-26B2-C0732D0ADFF8}"/>
                  </a:ext>
                </a:extLst>
              </p:cNvPr>
              <p:cNvSpPr txBox="1"/>
              <p:nvPr/>
            </p:nvSpPr>
            <p:spPr>
              <a:xfrm>
                <a:off x="500034" y="3571876"/>
                <a:ext cx="1071570" cy="338554"/>
              </a:xfrm>
              <a:prstGeom prst="rect">
                <a:avLst/>
              </a:prstGeom>
              <a:noFill/>
            </p:spPr>
            <p:txBody>
              <a:bodyPr wrap="square" lIns="0" tIns="0" rIns="0" bIns="0" rtlCol="0">
                <a:spAutoFit/>
              </a:bodyPr>
              <a:lstStyle/>
              <a:p>
                <a:r>
                  <a:rPr lang="en-US" altLang="zh-CN" sz="2200" i="1" err="1">
                    <a:latin typeface="Consolas" pitchFamily="49" charset="0"/>
                    <a:cs typeface="Consolas" pitchFamily="49" charset="0"/>
                  </a:rPr>
                  <a:t>i</a:t>
                </a:r>
                <a:r>
                  <a:rPr lang="en-US" altLang="zh-CN" sz="2200">
                    <a:latin typeface="Consolas" pitchFamily="49" charset="0"/>
                    <a:cs typeface="Consolas" pitchFamily="49" charset="0"/>
                  </a:rPr>
                  <a:t>(</a:t>
                </a:r>
                <a:r>
                  <a:rPr lang="en-US" altLang="zh-CN" sz="2200" i="1" err="1">
                    <a:latin typeface="Consolas" pitchFamily="49" charset="0"/>
                    <a:cs typeface="Consolas" pitchFamily="49" charset="0"/>
                  </a:rPr>
                  <a:t>i</a:t>
                </a:r>
                <a:r>
                  <a:rPr lang="en-US" altLang="zh-CN" sz="2200" err="1">
                    <a:latin typeface="Consolas" pitchFamily="49" charset="0"/>
                    <a:cs typeface="Consolas" pitchFamily="49" charset="0"/>
                  </a:rPr>
                  <a:t>+1</a:t>
                </a:r>
                <a:r>
                  <a:rPr lang="en-US" altLang="zh-CN" sz="2200">
                    <a:latin typeface="Consolas" pitchFamily="49" charset="0"/>
                    <a:cs typeface="Consolas" pitchFamily="49" charset="0"/>
                  </a:rPr>
                  <a:t>)</a:t>
                </a:r>
                <a:endParaRPr lang="zh-CN" altLang="en-US" sz="2200">
                  <a:latin typeface="Consolas" pitchFamily="49" charset="0"/>
                  <a:cs typeface="Consolas" pitchFamily="49" charset="0"/>
                </a:endParaRPr>
              </a:p>
            </p:txBody>
          </p:sp>
          <p:cxnSp>
            <p:nvCxnSpPr>
              <p:cNvPr id="18" name="直接连接符 17">
                <a:extLst>
                  <a:ext uri="{FF2B5EF4-FFF2-40B4-BE49-F238E27FC236}">
                    <a16:creationId xmlns:a16="http://schemas.microsoft.com/office/drawing/2014/main" id="{FD643230-1958-70C0-48CE-3995061D480E}"/>
                  </a:ext>
                </a:extLst>
              </p:cNvPr>
              <p:cNvCxnSpPr/>
              <p:nvPr/>
            </p:nvCxnSpPr>
            <p:spPr>
              <a:xfrm>
                <a:off x="571472" y="3929066"/>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19" name="TextBox 24">
                <a:extLst>
                  <a:ext uri="{FF2B5EF4-FFF2-40B4-BE49-F238E27FC236}">
                    <a16:creationId xmlns:a16="http://schemas.microsoft.com/office/drawing/2014/main" id="{224E6750-B12A-5FE4-CD25-4BEB12AECB0F}"/>
                  </a:ext>
                </a:extLst>
              </p:cNvPr>
              <p:cNvSpPr txBox="1"/>
              <p:nvPr/>
            </p:nvSpPr>
            <p:spPr>
              <a:xfrm>
                <a:off x="739748" y="3947702"/>
                <a:ext cx="500066" cy="338554"/>
              </a:xfrm>
              <a:prstGeom prst="rect">
                <a:avLst/>
              </a:prstGeom>
              <a:noFill/>
            </p:spPr>
            <p:txBody>
              <a:bodyPr wrap="square" lIns="0" tIns="0" rIns="0" bIns="0" rtlCol="0">
                <a:spAutoFit/>
              </a:bodyPr>
              <a:lstStyle/>
              <a:p>
                <a:r>
                  <a:rPr lang="en-US" altLang="zh-CN" sz="2200" dirty="0">
                    <a:latin typeface="Consolas" pitchFamily="49" charset="0"/>
                    <a:cs typeface="Consolas" pitchFamily="49" charset="0"/>
                  </a:rPr>
                  <a:t>2</a:t>
                </a:r>
                <a:endParaRPr lang="zh-CN" altLang="en-US" sz="2200" dirty="0">
                  <a:latin typeface="Consolas" pitchFamily="49" charset="0"/>
                  <a:cs typeface="Consolas" pitchFamily="49" charset="0"/>
                </a:endParaRPr>
              </a:p>
            </p:txBody>
          </p:sp>
          <p:sp>
            <p:nvSpPr>
              <p:cNvPr id="20" name="TextBox 25">
                <a:extLst>
                  <a:ext uri="{FF2B5EF4-FFF2-40B4-BE49-F238E27FC236}">
                    <a16:creationId xmlns:a16="http://schemas.microsoft.com/office/drawing/2014/main" id="{C72D625C-2265-26C6-EFA9-74FC9BED90CF}"/>
                  </a:ext>
                </a:extLst>
              </p:cNvPr>
              <p:cNvSpPr txBox="1"/>
              <p:nvPr/>
            </p:nvSpPr>
            <p:spPr>
              <a:xfrm>
                <a:off x="1500166" y="3786190"/>
                <a:ext cx="500066"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a:t>
                </a:r>
                <a:r>
                  <a:rPr lang="en-US" altLang="zh-CN" sz="2200" i="1">
                    <a:latin typeface="Consolas" pitchFamily="49" charset="0"/>
                    <a:cs typeface="Consolas" pitchFamily="49" charset="0"/>
                  </a:rPr>
                  <a:t>j</a:t>
                </a:r>
                <a:endParaRPr lang="zh-CN" altLang="en-US" sz="2200" i="1">
                  <a:latin typeface="Consolas" pitchFamily="49" charset="0"/>
                  <a:cs typeface="Consolas" pitchFamily="49" charset="0"/>
                </a:endParaRPr>
              </a:p>
            </p:txBody>
          </p:sp>
        </p:grpSp>
        <p:grpSp>
          <p:nvGrpSpPr>
            <p:cNvPr id="12" name="组合 31">
              <a:extLst>
                <a:ext uri="{FF2B5EF4-FFF2-40B4-BE49-F238E27FC236}">
                  <a16:creationId xmlns:a16="http://schemas.microsoft.com/office/drawing/2014/main" id="{1C4A6927-B62A-DDC0-9DEC-C4B1C9C24964}"/>
                </a:ext>
              </a:extLst>
            </p:cNvPr>
            <p:cNvGrpSpPr/>
            <p:nvPr/>
          </p:nvGrpSpPr>
          <p:grpSpPr>
            <a:xfrm>
              <a:off x="2624094" y="5072074"/>
              <a:ext cx="1500198" cy="714380"/>
              <a:chOff x="652434" y="5500702"/>
              <a:chExt cx="1500198" cy="714380"/>
            </a:xfrm>
          </p:grpSpPr>
          <p:sp>
            <p:nvSpPr>
              <p:cNvPr id="13" name="TextBox 26">
                <a:extLst>
                  <a:ext uri="{FF2B5EF4-FFF2-40B4-BE49-F238E27FC236}">
                    <a16:creationId xmlns:a16="http://schemas.microsoft.com/office/drawing/2014/main" id="{C3E88514-8910-A855-FDB6-8CC09A7E2D1C}"/>
                  </a:ext>
                </a:extLst>
              </p:cNvPr>
              <p:cNvSpPr txBox="1"/>
              <p:nvPr/>
            </p:nvSpPr>
            <p:spPr>
              <a:xfrm>
                <a:off x="652434" y="5500702"/>
                <a:ext cx="1071570" cy="338554"/>
              </a:xfrm>
              <a:prstGeom prst="rect">
                <a:avLst/>
              </a:prstGeom>
              <a:noFill/>
            </p:spPr>
            <p:txBody>
              <a:bodyPr wrap="square" lIns="0" tIns="0" rIns="0" bIns="0" rtlCol="0">
                <a:spAutoFit/>
              </a:bodyPr>
              <a:lstStyle/>
              <a:p>
                <a:r>
                  <a:rPr lang="en-US" altLang="zh-CN" sz="2200" i="1">
                    <a:latin typeface="Consolas" pitchFamily="49" charset="0"/>
                    <a:cs typeface="Consolas" pitchFamily="49" charset="0"/>
                  </a:rPr>
                  <a:t>j</a:t>
                </a:r>
                <a:r>
                  <a:rPr lang="en-US" altLang="zh-CN" sz="2200">
                    <a:latin typeface="Consolas" pitchFamily="49" charset="0"/>
                    <a:cs typeface="Consolas" pitchFamily="49" charset="0"/>
                  </a:rPr>
                  <a:t>(</a:t>
                </a:r>
                <a:r>
                  <a:rPr lang="en-US" altLang="zh-CN" sz="2200" i="1" err="1">
                    <a:latin typeface="Consolas" pitchFamily="49" charset="0"/>
                    <a:cs typeface="Consolas" pitchFamily="49" charset="0"/>
                  </a:rPr>
                  <a:t>j</a:t>
                </a:r>
                <a:r>
                  <a:rPr lang="en-US" altLang="zh-CN" sz="2200" err="1">
                    <a:latin typeface="Consolas" pitchFamily="49" charset="0"/>
                    <a:cs typeface="Consolas" pitchFamily="49" charset="0"/>
                  </a:rPr>
                  <a:t>+1</a:t>
                </a:r>
                <a:r>
                  <a:rPr lang="en-US" altLang="zh-CN" sz="2200">
                    <a:latin typeface="Consolas" pitchFamily="49" charset="0"/>
                    <a:cs typeface="Consolas" pitchFamily="49" charset="0"/>
                  </a:rPr>
                  <a:t>)</a:t>
                </a:r>
                <a:endParaRPr lang="zh-CN" altLang="en-US" sz="2200">
                  <a:latin typeface="Consolas" pitchFamily="49" charset="0"/>
                  <a:cs typeface="Consolas" pitchFamily="49" charset="0"/>
                </a:endParaRPr>
              </a:p>
            </p:txBody>
          </p:sp>
          <p:cxnSp>
            <p:nvCxnSpPr>
              <p:cNvPr id="14" name="直接连接符 13">
                <a:extLst>
                  <a:ext uri="{FF2B5EF4-FFF2-40B4-BE49-F238E27FC236}">
                    <a16:creationId xmlns:a16="http://schemas.microsoft.com/office/drawing/2014/main" id="{54213E56-3771-26EA-EDD4-613A91AB4FA9}"/>
                  </a:ext>
                </a:extLst>
              </p:cNvPr>
              <p:cNvCxnSpPr/>
              <p:nvPr/>
            </p:nvCxnSpPr>
            <p:spPr>
              <a:xfrm>
                <a:off x="723872" y="5857892"/>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15" name="TextBox 28">
                <a:extLst>
                  <a:ext uri="{FF2B5EF4-FFF2-40B4-BE49-F238E27FC236}">
                    <a16:creationId xmlns:a16="http://schemas.microsoft.com/office/drawing/2014/main" id="{9DBADA14-65E1-132B-CF56-601A9E309084}"/>
                  </a:ext>
                </a:extLst>
              </p:cNvPr>
              <p:cNvSpPr txBox="1"/>
              <p:nvPr/>
            </p:nvSpPr>
            <p:spPr>
              <a:xfrm>
                <a:off x="892148" y="5876528"/>
                <a:ext cx="500066"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2</a:t>
                </a:r>
                <a:endParaRPr lang="zh-CN" altLang="en-US" sz="2200">
                  <a:latin typeface="Consolas" pitchFamily="49" charset="0"/>
                  <a:cs typeface="Consolas" pitchFamily="49" charset="0"/>
                </a:endParaRPr>
              </a:p>
            </p:txBody>
          </p:sp>
          <p:sp>
            <p:nvSpPr>
              <p:cNvPr id="16" name="TextBox 29">
                <a:extLst>
                  <a:ext uri="{FF2B5EF4-FFF2-40B4-BE49-F238E27FC236}">
                    <a16:creationId xmlns:a16="http://schemas.microsoft.com/office/drawing/2014/main" id="{B5C2DF7E-61B3-48AA-0082-84006B8865F9}"/>
                  </a:ext>
                </a:extLst>
              </p:cNvPr>
              <p:cNvSpPr txBox="1"/>
              <p:nvPr/>
            </p:nvSpPr>
            <p:spPr>
              <a:xfrm>
                <a:off x="1652566" y="5715016"/>
                <a:ext cx="500066"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a:t>
                </a:r>
                <a:r>
                  <a:rPr lang="en-US" altLang="zh-CN" sz="2200" i="1" err="1">
                    <a:latin typeface="Consolas" pitchFamily="49" charset="0"/>
                    <a:cs typeface="Consolas" pitchFamily="49" charset="0"/>
                  </a:rPr>
                  <a:t>i</a:t>
                </a:r>
                <a:endParaRPr lang="zh-CN" altLang="en-US" sz="2200" i="1">
                  <a:latin typeface="Consolas" pitchFamily="49" charset="0"/>
                  <a:cs typeface="Consolas" pitchFamily="49" charset="0"/>
                </a:endParaRPr>
              </a:p>
            </p:txBody>
          </p:sp>
        </p:grpSp>
      </p:grpSp>
      <p:sp>
        <p:nvSpPr>
          <p:cNvPr id="23" name="TextBox 33">
            <a:extLst>
              <a:ext uri="{FF2B5EF4-FFF2-40B4-BE49-F238E27FC236}">
                <a16:creationId xmlns:a16="http://schemas.microsoft.com/office/drawing/2014/main" id="{16EB16D6-3F0B-3C38-41F4-3B944AF8ABEA}"/>
              </a:ext>
            </a:extLst>
          </p:cNvPr>
          <p:cNvSpPr txBox="1"/>
          <p:nvPr/>
        </p:nvSpPr>
        <p:spPr>
          <a:xfrm>
            <a:off x="208577" y="3527182"/>
            <a:ext cx="8643998" cy="400110"/>
          </a:xfrm>
          <a:prstGeom prst="rect">
            <a:avLst/>
          </a:prstGeom>
          <a:noFill/>
        </p:spPr>
        <p:txBody>
          <a:bodyPr wrap="square" rtlCol="0">
            <a:spAutoFit/>
          </a:bodyPr>
          <a:lstStyle/>
          <a:p>
            <a:pPr algn="l"/>
            <a:r>
              <a:rPr lang="en-US" altLang="zh-CN" sz="2000" i="1" dirty="0">
                <a:latin typeface="Consolas" pitchFamily="49" charset="0"/>
                <a:cs typeface="Consolas" pitchFamily="49" charset="0"/>
              </a:rPr>
              <a:t>B</a:t>
            </a:r>
            <a:r>
              <a:rPr lang="en-US" altLang="zh-CN" sz="2000" dirty="0">
                <a:latin typeface="Consolas" pitchFamily="49" charset="0"/>
                <a:cs typeface="Consolas" pitchFamily="49" charset="0"/>
              </a:rPr>
              <a:t>=(</a:t>
            </a:r>
            <a:r>
              <a:rPr lang="en-US" altLang="zh-CN" sz="2000" i="1" dirty="0">
                <a:latin typeface="Consolas" pitchFamily="49" charset="0"/>
                <a:cs typeface="Consolas" pitchFamily="49" charset="0"/>
              </a:rPr>
              <a:t>a</a:t>
            </a:r>
            <a:r>
              <a:rPr lang="en-US" altLang="zh-CN" sz="2000" baseline="-25000" dirty="0">
                <a:latin typeface="Consolas" pitchFamily="49" charset="0"/>
                <a:cs typeface="Consolas" pitchFamily="49" charset="0"/>
              </a:rPr>
              <a:t>0,0</a:t>
            </a:r>
            <a:r>
              <a:rPr lang="en-US" altLang="zh-CN" sz="2000" dirty="0">
                <a:latin typeface="Consolas" pitchFamily="49" charset="0"/>
                <a:cs typeface="Consolas" pitchFamily="49" charset="0"/>
              </a:rPr>
              <a:t>,</a:t>
            </a:r>
            <a:r>
              <a:rPr lang="en-US" altLang="zh-CN" sz="2000" i="1" dirty="0">
                <a:latin typeface="Consolas" pitchFamily="49" charset="0"/>
                <a:cs typeface="Consolas" pitchFamily="49" charset="0"/>
              </a:rPr>
              <a:t>a</a:t>
            </a:r>
            <a:r>
              <a:rPr lang="en-US" altLang="zh-CN" sz="2000" baseline="-25000" dirty="0">
                <a:latin typeface="Consolas" pitchFamily="49" charset="0"/>
                <a:cs typeface="Consolas" pitchFamily="49" charset="0"/>
              </a:rPr>
              <a:t>1,0</a:t>
            </a:r>
            <a:r>
              <a:rPr lang="en-US" altLang="zh-CN" sz="2000" dirty="0">
                <a:latin typeface="Consolas" pitchFamily="49" charset="0"/>
                <a:cs typeface="Consolas" pitchFamily="49" charset="0"/>
              </a:rPr>
              <a:t>,</a:t>
            </a:r>
            <a:r>
              <a:rPr lang="en-US" altLang="zh-CN" sz="2000" i="1" dirty="0">
                <a:latin typeface="Consolas" pitchFamily="49" charset="0"/>
                <a:cs typeface="Consolas" pitchFamily="49" charset="0"/>
              </a:rPr>
              <a:t>a</a:t>
            </a:r>
            <a:r>
              <a:rPr lang="en-US" altLang="zh-CN" sz="2000" baseline="-25000" dirty="0">
                <a:latin typeface="Consolas" pitchFamily="49" charset="0"/>
                <a:cs typeface="Consolas" pitchFamily="49" charset="0"/>
              </a:rPr>
              <a:t>1,1</a:t>
            </a:r>
            <a:r>
              <a:rPr lang="en-US" altLang="zh-CN" sz="2000" dirty="0">
                <a:latin typeface="Consolas" pitchFamily="49" charset="0"/>
                <a:cs typeface="Consolas" pitchFamily="49" charset="0"/>
              </a:rPr>
              <a:t>,</a:t>
            </a:r>
            <a:r>
              <a:rPr lang="zh-CN" altLang="en-US" sz="2000" dirty="0">
                <a:latin typeface="Consolas" pitchFamily="49" charset="0"/>
                <a:cs typeface="Consolas" pitchFamily="49" charset="0"/>
                <a:sym typeface="Symbol"/>
              </a:rPr>
              <a:t></a:t>
            </a:r>
            <a:r>
              <a:rPr lang="en-US" altLang="zh-CN" sz="2000" dirty="0">
                <a:latin typeface="Consolas" pitchFamily="49" charset="0"/>
                <a:cs typeface="Consolas" pitchFamily="49" charset="0"/>
                <a:sym typeface="Symbol"/>
              </a:rPr>
              <a:t>,</a:t>
            </a:r>
            <a:r>
              <a:rPr lang="en-US" altLang="zh-CN" sz="2000" i="1" dirty="0">
                <a:latin typeface="Consolas" pitchFamily="49" charset="0"/>
                <a:cs typeface="Consolas" pitchFamily="49" charset="0"/>
                <a:sym typeface="Symbol"/>
              </a:rPr>
              <a:t>a</a:t>
            </a:r>
            <a:r>
              <a:rPr lang="en-US" altLang="zh-CN" sz="2000" i="1" baseline="-25000" dirty="0">
                <a:latin typeface="Consolas" pitchFamily="49" charset="0"/>
                <a:cs typeface="Consolas" pitchFamily="49" charset="0"/>
                <a:sym typeface="Symbol"/>
              </a:rPr>
              <a:t>i</a:t>
            </a:r>
            <a:r>
              <a:rPr lang="en-US" altLang="zh-CN" sz="2000" baseline="-25000" dirty="0">
                <a:latin typeface="Consolas" pitchFamily="49" charset="0"/>
                <a:cs typeface="Consolas" pitchFamily="49" charset="0"/>
                <a:sym typeface="Symbol"/>
              </a:rPr>
              <a:t>-1,0</a:t>
            </a:r>
            <a:r>
              <a:rPr lang="en-US" altLang="zh-CN" sz="2000" dirty="0">
                <a:latin typeface="Consolas" pitchFamily="49" charset="0"/>
                <a:cs typeface="Consolas" pitchFamily="49" charset="0"/>
                <a:sym typeface="Symbol"/>
              </a:rPr>
              <a:t>,</a:t>
            </a:r>
            <a:r>
              <a:rPr lang="zh-CN" altLang="en-US" sz="2000" dirty="0">
                <a:latin typeface="Consolas" pitchFamily="49" charset="0"/>
                <a:cs typeface="Consolas" pitchFamily="49" charset="0"/>
                <a:sym typeface="Symbol"/>
              </a:rPr>
              <a:t></a:t>
            </a:r>
            <a:r>
              <a:rPr lang="en-US" altLang="zh-CN" sz="2000" dirty="0">
                <a:latin typeface="Consolas" pitchFamily="49" charset="0"/>
                <a:cs typeface="Consolas" pitchFamily="49" charset="0"/>
                <a:sym typeface="Symbol"/>
              </a:rPr>
              <a:t>,</a:t>
            </a:r>
            <a:r>
              <a:rPr lang="en-US" altLang="zh-CN" sz="2000" i="1" dirty="0">
                <a:latin typeface="Consolas" pitchFamily="49" charset="0"/>
                <a:cs typeface="Consolas" pitchFamily="49" charset="0"/>
                <a:sym typeface="Symbol"/>
              </a:rPr>
              <a:t>a</a:t>
            </a:r>
            <a:r>
              <a:rPr lang="en-US" altLang="zh-CN" sz="2000" i="1" baseline="-25000" dirty="0">
                <a:latin typeface="Consolas" pitchFamily="49" charset="0"/>
                <a:cs typeface="Consolas" pitchFamily="49" charset="0"/>
                <a:sym typeface="Symbol"/>
              </a:rPr>
              <a:t>i</a:t>
            </a:r>
            <a:r>
              <a:rPr lang="en-US" altLang="zh-CN" sz="2000" baseline="-25000" dirty="0">
                <a:latin typeface="Consolas" pitchFamily="49" charset="0"/>
                <a:cs typeface="Consolas" pitchFamily="49" charset="0"/>
                <a:sym typeface="Symbol"/>
              </a:rPr>
              <a:t>-1,</a:t>
            </a:r>
            <a:r>
              <a:rPr lang="en-US" altLang="zh-CN" sz="2000" i="1" baseline="-25000" dirty="0">
                <a:latin typeface="Consolas" pitchFamily="49" charset="0"/>
                <a:cs typeface="Consolas" pitchFamily="49" charset="0"/>
                <a:sym typeface="Symbol"/>
              </a:rPr>
              <a:t>i</a:t>
            </a:r>
            <a:r>
              <a:rPr lang="en-US" altLang="zh-CN" sz="2000" baseline="-25000" dirty="0">
                <a:latin typeface="Consolas" pitchFamily="49" charset="0"/>
                <a:cs typeface="Consolas" pitchFamily="49" charset="0"/>
                <a:sym typeface="Symbol"/>
              </a:rPr>
              <a:t>-1</a:t>
            </a:r>
            <a:r>
              <a:rPr lang="zh-CN" altLang="en-US" sz="2000" dirty="0">
                <a:latin typeface="Consolas" pitchFamily="49" charset="0"/>
                <a:cs typeface="Consolas" pitchFamily="49" charset="0"/>
                <a:sym typeface="Symbol"/>
              </a:rPr>
              <a:t>，</a:t>
            </a:r>
            <a:r>
              <a:rPr lang="en-US" altLang="zh-CN" sz="2000" i="1" dirty="0">
                <a:latin typeface="Consolas" pitchFamily="49" charset="0"/>
                <a:cs typeface="Consolas" pitchFamily="49" charset="0"/>
                <a:sym typeface="Symbol"/>
              </a:rPr>
              <a:t>a</a:t>
            </a:r>
            <a:r>
              <a:rPr lang="en-US" altLang="zh-CN" sz="2000" i="1" baseline="-25000" dirty="0">
                <a:latin typeface="Consolas" pitchFamily="49" charset="0"/>
                <a:cs typeface="Consolas" pitchFamily="49" charset="0"/>
                <a:sym typeface="Symbol"/>
              </a:rPr>
              <a:t>i</a:t>
            </a:r>
            <a:r>
              <a:rPr lang="en-US" altLang="zh-CN" sz="2000" baseline="-25000" dirty="0">
                <a:latin typeface="Consolas" pitchFamily="49" charset="0"/>
                <a:cs typeface="Consolas" pitchFamily="49" charset="0"/>
                <a:sym typeface="Symbol"/>
              </a:rPr>
              <a:t>,0</a:t>
            </a:r>
            <a:r>
              <a:rPr lang="en-US" altLang="zh-CN" sz="2000" dirty="0">
                <a:latin typeface="Consolas" pitchFamily="49" charset="0"/>
                <a:cs typeface="Consolas" pitchFamily="49" charset="0"/>
                <a:sym typeface="Symbol"/>
              </a:rPr>
              <a:t>,</a:t>
            </a:r>
            <a:r>
              <a:rPr lang="zh-CN" altLang="en-US" sz="2000" dirty="0">
                <a:latin typeface="Consolas" pitchFamily="49" charset="0"/>
                <a:cs typeface="Consolas" pitchFamily="49" charset="0"/>
                <a:sym typeface="Symbol"/>
              </a:rPr>
              <a:t></a:t>
            </a:r>
            <a:r>
              <a:rPr lang="en-US" altLang="zh-CN" sz="2000" dirty="0">
                <a:latin typeface="Consolas" pitchFamily="49" charset="0"/>
                <a:cs typeface="Consolas" pitchFamily="49" charset="0"/>
                <a:sym typeface="Symbol"/>
              </a:rPr>
              <a:t>,</a:t>
            </a:r>
            <a:r>
              <a:rPr lang="en-US" altLang="zh-CN" sz="2000" i="1" dirty="0">
                <a:latin typeface="Consolas" pitchFamily="49" charset="0"/>
                <a:cs typeface="Consolas" pitchFamily="49" charset="0"/>
                <a:sym typeface="Symbol"/>
              </a:rPr>
              <a:t>a</a:t>
            </a:r>
            <a:r>
              <a:rPr lang="en-US" altLang="zh-CN" sz="2000" i="1" baseline="-25000" dirty="0">
                <a:latin typeface="Consolas" pitchFamily="49" charset="0"/>
                <a:cs typeface="Consolas" pitchFamily="49" charset="0"/>
                <a:sym typeface="Symbol"/>
              </a:rPr>
              <a:t>i</a:t>
            </a:r>
            <a:r>
              <a:rPr lang="en-US" altLang="zh-CN" sz="2000" baseline="-25000" dirty="0">
                <a:latin typeface="Consolas" pitchFamily="49" charset="0"/>
                <a:cs typeface="Consolas" pitchFamily="49" charset="0"/>
                <a:sym typeface="Symbol"/>
              </a:rPr>
              <a:t>,</a:t>
            </a:r>
            <a:r>
              <a:rPr lang="en-US" altLang="zh-CN" sz="2000" i="1" baseline="-25000" dirty="0">
                <a:latin typeface="Consolas" pitchFamily="49" charset="0"/>
                <a:cs typeface="Consolas" pitchFamily="49" charset="0"/>
                <a:sym typeface="Symbol"/>
              </a:rPr>
              <a:t>j</a:t>
            </a:r>
            <a:r>
              <a:rPr lang="en-US" altLang="zh-CN" sz="2000" baseline="-25000" dirty="0">
                <a:latin typeface="Consolas" pitchFamily="49" charset="0"/>
                <a:cs typeface="Consolas" pitchFamily="49" charset="0"/>
                <a:sym typeface="Symbol"/>
              </a:rPr>
              <a:t>-1</a:t>
            </a:r>
            <a:r>
              <a:rPr lang="en-US" altLang="zh-CN" sz="2000" dirty="0">
                <a:latin typeface="Consolas" pitchFamily="49" charset="0"/>
                <a:cs typeface="Consolas" pitchFamily="49" charset="0"/>
                <a:sym typeface="Symbol"/>
              </a:rPr>
              <a:t>,</a:t>
            </a:r>
            <a:r>
              <a:rPr lang="en-US" altLang="zh-CN" sz="2000" i="1" dirty="0">
                <a:solidFill>
                  <a:srgbClr val="FF0000"/>
                </a:solidFill>
                <a:latin typeface="Consolas" pitchFamily="49" charset="0"/>
                <a:cs typeface="Consolas" pitchFamily="49" charset="0"/>
                <a:sym typeface="Symbol"/>
              </a:rPr>
              <a:t>a</a:t>
            </a:r>
            <a:r>
              <a:rPr lang="en-US" altLang="zh-CN" sz="2000" i="1" baseline="-25000" dirty="0">
                <a:solidFill>
                  <a:srgbClr val="FF0000"/>
                </a:solidFill>
                <a:latin typeface="Consolas" pitchFamily="49" charset="0"/>
                <a:cs typeface="Consolas" pitchFamily="49" charset="0"/>
                <a:sym typeface="Symbol"/>
              </a:rPr>
              <a:t>i</a:t>
            </a:r>
            <a:r>
              <a:rPr lang="en-US" altLang="zh-CN" sz="2000" baseline="-25000" dirty="0">
                <a:solidFill>
                  <a:srgbClr val="FF0000"/>
                </a:solidFill>
                <a:latin typeface="Consolas" pitchFamily="49" charset="0"/>
                <a:cs typeface="Consolas" pitchFamily="49" charset="0"/>
                <a:sym typeface="Symbol"/>
              </a:rPr>
              <a:t>,</a:t>
            </a:r>
            <a:r>
              <a:rPr lang="en-US" altLang="zh-CN" sz="2000" i="1" baseline="-25000" dirty="0">
                <a:solidFill>
                  <a:srgbClr val="FF0000"/>
                </a:solidFill>
                <a:latin typeface="Consolas" pitchFamily="49" charset="0"/>
                <a:cs typeface="Consolas" pitchFamily="49" charset="0"/>
                <a:sym typeface="Symbol"/>
              </a:rPr>
              <a:t>j</a:t>
            </a:r>
            <a:r>
              <a:rPr lang="en-US" altLang="zh-CN" sz="2000" dirty="0">
                <a:latin typeface="Consolas" pitchFamily="49" charset="0"/>
                <a:cs typeface="Consolas" pitchFamily="49" charset="0"/>
                <a:sym typeface="Symbol"/>
              </a:rPr>
              <a:t>,</a:t>
            </a:r>
            <a:r>
              <a:rPr lang="zh-CN" altLang="en-US" sz="2000" dirty="0">
                <a:latin typeface="Consolas" pitchFamily="49" charset="0"/>
                <a:cs typeface="Consolas" pitchFamily="49" charset="0"/>
                <a:sym typeface="Symbol"/>
              </a:rPr>
              <a:t></a:t>
            </a:r>
            <a:r>
              <a:rPr lang="en-US" altLang="zh-CN" sz="2000" dirty="0">
                <a:latin typeface="Consolas" pitchFamily="49" charset="0"/>
                <a:cs typeface="Consolas" pitchFamily="49" charset="0"/>
                <a:sym typeface="Symbol"/>
              </a:rPr>
              <a:t>,</a:t>
            </a:r>
            <a:r>
              <a:rPr lang="en-US" altLang="zh-CN" sz="2000" i="1" dirty="0">
                <a:latin typeface="Consolas" pitchFamily="49" charset="0"/>
                <a:cs typeface="Consolas" pitchFamily="49" charset="0"/>
                <a:sym typeface="Symbol"/>
              </a:rPr>
              <a:t>a</a:t>
            </a:r>
            <a:r>
              <a:rPr lang="en-US" altLang="zh-CN" sz="2000" i="1" baseline="-25000" dirty="0">
                <a:latin typeface="Consolas" pitchFamily="49" charset="0"/>
                <a:cs typeface="Consolas" pitchFamily="49" charset="0"/>
                <a:sym typeface="Symbol"/>
              </a:rPr>
              <a:t>n</a:t>
            </a:r>
            <a:r>
              <a:rPr lang="en-US" altLang="zh-CN" sz="2000" baseline="-25000" dirty="0">
                <a:latin typeface="Consolas" pitchFamily="49" charset="0"/>
                <a:cs typeface="Consolas" pitchFamily="49" charset="0"/>
                <a:sym typeface="Symbol"/>
              </a:rPr>
              <a:t>-1,</a:t>
            </a:r>
            <a:r>
              <a:rPr lang="en-US" altLang="zh-CN" sz="2000" i="1" baseline="-25000" dirty="0">
                <a:latin typeface="Consolas" pitchFamily="49" charset="0"/>
                <a:cs typeface="Consolas" pitchFamily="49" charset="0"/>
                <a:sym typeface="Symbol"/>
              </a:rPr>
              <a:t>n</a:t>
            </a:r>
            <a:r>
              <a:rPr lang="en-US" altLang="zh-CN" sz="2000" baseline="-25000" dirty="0">
                <a:latin typeface="Consolas" pitchFamily="49" charset="0"/>
                <a:cs typeface="Consolas" pitchFamily="49" charset="0"/>
                <a:sym typeface="Symbol"/>
              </a:rPr>
              <a:t>-1</a:t>
            </a:r>
            <a:r>
              <a:rPr lang="en-US" altLang="zh-CN" sz="2000" dirty="0">
                <a:latin typeface="Consolas" pitchFamily="49" charset="0"/>
                <a:cs typeface="Consolas" pitchFamily="49" charset="0"/>
                <a:sym typeface="Symbol"/>
              </a:rPr>
              <a:t>)</a:t>
            </a:r>
            <a:endParaRPr lang="zh-CN" altLang="en-US" sz="2000" dirty="0">
              <a:latin typeface="Consolas" pitchFamily="49" charset="0"/>
              <a:cs typeface="Consolas" pitchFamily="49" charset="0"/>
            </a:endParaRPr>
          </a:p>
        </p:txBody>
      </p:sp>
      <p:grpSp>
        <p:nvGrpSpPr>
          <p:cNvPr id="24" name="组合 46">
            <a:extLst>
              <a:ext uri="{FF2B5EF4-FFF2-40B4-BE49-F238E27FC236}">
                <a16:creationId xmlns:a16="http://schemas.microsoft.com/office/drawing/2014/main" id="{1F2731A9-49BB-FB07-86DD-B384A1656988}"/>
              </a:ext>
            </a:extLst>
          </p:cNvPr>
          <p:cNvGrpSpPr/>
          <p:nvPr/>
        </p:nvGrpSpPr>
        <p:grpSpPr>
          <a:xfrm>
            <a:off x="494329" y="4026124"/>
            <a:ext cx="785818" cy="868263"/>
            <a:chOff x="642910" y="856108"/>
            <a:chExt cx="785818" cy="868263"/>
          </a:xfrm>
        </p:grpSpPr>
        <p:sp>
          <p:nvSpPr>
            <p:cNvPr id="25" name="左中括号 24">
              <a:extLst>
                <a:ext uri="{FF2B5EF4-FFF2-40B4-BE49-F238E27FC236}">
                  <a16:creationId xmlns:a16="http://schemas.microsoft.com/office/drawing/2014/main" id="{A2A24B17-A6F3-1CF2-B512-196455F2DDF3}"/>
                </a:ext>
              </a:extLst>
            </p:cNvPr>
            <p:cNvSpPr/>
            <p:nvPr/>
          </p:nvSpPr>
          <p:spPr>
            <a:xfrm rot="16200000">
              <a:off x="943852" y="658108"/>
              <a:ext cx="144000" cy="540000"/>
            </a:xfrm>
            <a:prstGeom prst="leftBracket">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1800">
                <a:latin typeface="Consolas" pitchFamily="49" charset="0"/>
                <a:ea typeface="仿宋" pitchFamily="49" charset="-122"/>
                <a:cs typeface="Consolas" pitchFamily="49" charset="0"/>
              </a:endParaRPr>
            </a:p>
          </p:txBody>
        </p:sp>
        <p:sp>
          <p:nvSpPr>
            <p:cNvPr id="26" name="TextBox 36">
              <a:extLst>
                <a:ext uri="{FF2B5EF4-FFF2-40B4-BE49-F238E27FC236}">
                  <a16:creationId xmlns:a16="http://schemas.microsoft.com/office/drawing/2014/main" id="{19A39F31-8C2A-716B-E4DE-8155F1281C76}"/>
                </a:ext>
              </a:extLst>
            </p:cNvPr>
            <p:cNvSpPr txBox="1"/>
            <p:nvPr/>
          </p:nvSpPr>
          <p:spPr>
            <a:xfrm>
              <a:off x="642910" y="1078040"/>
              <a:ext cx="785818" cy="646331"/>
            </a:xfrm>
            <a:prstGeom prst="rect">
              <a:avLst/>
            </a:prstGeom>
            <a:noFill/>
          </p:spPr>
          <p:txBody>
            <a:bodyPr wrap="square" rtlCol="0">
              <a:spAutoFit/>
            </a:bodyPr>
            <a:lstStyle/>
            <a:p>
              <a:r>
                <a:rPr lang="en-US" altLang="zh-CN" sz="1800">
                  <a:latin typeface="Consolas" pitchFamily="49" charset="0"/>
                  <a:ea typeface="仿宋" pitchFamily="49" charset="-122"/>
                  <a:cs typeface="Consolas" pitchFamily="49" charset="0"/>
                </a:rPr>
                <a:t>1</a:t>
              </a:r>
              <a:r>
                <a:rPr lang="zh-CN" altLang="en-US" sz="1800">
                  <a:latin typeface="Consolas" pitchFamily="49" charset="0"/>
                  <a:ea typeface="仿宋" pitchFamily="49" charset="-122"/>
                  <a:cs typeface="Consolas" pitchFamily="49" charset="0"/>
                </a:rPr>
                <a:t>个</a:t>
              </a:r>
              <a:endParaRPr lang="en-US" altLang="zh-CN" sz="1800">
                <a:latin typeface="Consolas" pitchFamily="49" charset="0"/>
                <a:ea typeface="仿宋" pitchFamily="49" charset="-122"/>
                <a:cs typeface="Consolas" pitchFamily="49" charset="0"/>
              </a:endParaRPr>
            </a:p>
            <a:p>
              <a:r>
                <a:rPr lang="zh-CN" altLang="en-US" sz="1800">
                  <a:latin typeface="Consolas" pitchFamily="49" charset="0"/>
                  <a:ea typeface="仿宋" pitchFamily="49" charset="-122"/>
                  <a:cs typeface="Consolas" pitchFamily="49" charset="0"/>
                </a:rPr>
                <a:t>元素</a:t>
              </a:r>
            </a:p>
          </p:txBody>
        </p:sp>
      </p:grpSp>
      <p:grpSp>
        <p:nvGrpSpPr>
          <p:cNvPr id="27" name="组合 47">
            <a:extLst>
              <a:ext uri="{FF2B5EF4-FFF2-40B4-BE49-F238E27FC236}">
                <a16:creationId xmlns:a16="http://schemas.microsoft.com/office/drawing/2014/main" id="{7E23E285-8CEF-5264-9DE8-57154E9647F1}"/>
              </a:ext>
            </a:extLst>
          </p:cNvPr>
          <p:cNvGrpSpPr/>
          <p:nvPr/>
        </p:nvGrpSpPr>
        <p:grpSpPr>
          <a:xfrm>
            <a:off x="1351585" y="4027249"/>
            <a:ext cx="785818" cy="868263"/>
            <a:chOff x="1857356" y="857233"/>
            <a:chExt cx="785818" cy="868263"/>
          </a:xfrm>
        </p:grpSpPr>
        <p:sp>
          <p:nvSpPr>
            <p:cNvPr id="28" name="左中括号 27">
              <a:extLst>
                <a:ext uri="{FF2B5EF4-FFF2-40B4-BE49-F238E27FC236}">
                  <a16:creationId xmlns:a16="http://schemas.microsoft.com/office/drawing/2014/main" id="{24DADAC0-60D7-C3A4-CE7A-B2B4B18BEC1E}"/>
                </a:ext>
              </a:extLst>
            </p:cNvPr>
            <p:cNvSpPr/>
            <p:nvPr/>
          </p:nvSpPr>
          <p:spPr>
            <a:xfrm rot="16200000">
              <a:off x="2198794" y="587233"/>
              <a:ext cx="144000" cy="684000"/>
            </a:xfrm>
            <a:prstGeom prst="leftBracket">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1800">
                <a:latin typeface="Consolas" pitchFamily="49" charset="0"/>
                <a:ea typeface="仿宋" pitchFamily="49" charset="-122"/>
                <a:cs typeface="Consolas" pitchFamily="49" charset="0"/>
              </a:endParaRPr>
            </a:p>
          </p:txBody>
        </p:sp>
        <p:sp>
          <p:nvSpPr>
            <p:cNvPr id="29" name="TextBox 38">
              <a:extLst>
                <a:ext uri="{FF2B5EF4-FFF2-40B4-BE49-F238E27FC236}">
                  <a16:creationId xmlns:a16="http://schemas.microsoft.com/office/drawing/2014/main" id="{D2964072-86C9-FD1D-D9E6-0F228639E1C0}"/>
                </a:ext>
              </a:extLst>
            </p:cNvPr>
            <p:cNvSpPr txBox="1"/>
            <p:nvPr/>
          </p:nvSpPr>
          <p:spPr>
            <a:xfrm>
              <a:off x="1857356" y="1079165"/>
              <a:ext cx="785818" cy="646331"/>
            </a:xfrm>
            <a:prstGeom prst="rect">
              <a:avLst/>
            </a:prstGeom>
            <a:noFill/>
          </p:spPr>
          <p:txBody>
            <a:bodyPr wrap="square" rtlCol="0">
              <a:spAutoFit/>
            </a:bodyPr>
            <a:lstStyle/>
            <a:p>
              <a:r>
                <a:rPr lang="en-US" altLang="zh-CN" sz="1800">
                  <a:latin typeface="Consolas" pitchFamily="49" charset="0"/>
                  <a:ea typeface="仿宋" pitchFamily="49" charset="-122"/>
                  <a:cs typeface="Consolas" pitchFamily="49" charset="0"/>
                </a:rPr>
                <a:t>2</a:t>
              </a:r>
              <a:r>
                <a:rPr lang="zh-CN" altLang="en-US" sz="1800">
                  <a:latin typeface="Consolas" pitchFamily="49" charset="0"/>
                  <a:ea typeface="仿宋" pitchFamily="49" charset="-122"/>
                  <a:cs typeface="Consolas" pitchFamily="49" charset="0"/>
                </a:rPr>
                <a:t>个</a:t>
              </a:r>
              <a:endParaRPr lang="en-US" altLang="zh-CN" sz="1800">
                <a:latin typeface="Consolas" pitchFamily="49" charset="0"/>
                <a:ea typeface="仿宋" pitchFamily="49" charset="-122"/>
                <a:cs typeface="Consolas" pitchFamily="49" charset="0"/>
              </a:endParaRPr>
            </a:p>
            <a:p>
              <a:r>
                <a:rPr lang="zh-CN" altLang="en-US" sz="1800">
                  <a:latin typeface="Consolas" pitchFamily="49" charset="0"/>
                  <a:ea typeface="仿宋" pitchFamily="49" charset="-122"/>
                  <a:cs typeface="Consolas" pitchFamily="49" charset="0"/>
                </a:rPr>
                <a:t>元素</a:t>
              </a:r>
            </a:p>
          </p:txBody>
        </p:sp>
      </p:grpSp>
      <p:grpSp>
        <p:nvGrpSpPr>
          <p:cNvPr id="30" name="组合 48">
            <a:extLst>
              <a:ext uri="{FF2B5EF4-FFF2-40B4-BE49-F238E27FC236}">
                <a16:creationId xmlns:a16="http://schemas.microsoft.com/office/drawing/2014/main" id="{2135E3C6-85DE-364D-276C-2D5CAF3EC319}"/>
              </a:ext>
            </a:extLst>
          </p:cNvPr>
          <p:cNvGrpSpPr/>
          <p:nvPr/>
        </p:nvGrpSpPr>
        <p:grpSpPr>
          <a:xfrm>
            <a:off x="2923221" y="4027249"/>
            <a:ext cx="1512000" cy="755039"/>
            <a:chOff x="3286116" y="857233"/>
            <a:chExt cx="1512000" cy="755039"/>
          </a:xfrm>
        </p:grpSpPr>
        <p:sp>
          <p:nvSpPr>
            <p:cNvPr id="31" name="左中括号 30">
              <a:extLst>
                <a:ext uri="{FF2B5EF4-FFF2-40B4-BE49-F238E27FC236}">
                  <a16:creationId xmlns:a16="http://schemas.microsoft.com/office/drawing/2014/main" id="{81DC91E3-2ABC-F712-472F-3B1B9F4D99BB}"/>
                </a:ext>
              </a:extLst>
            </p:cNvPr>
            <p:cNvSpPr/>
            <p:nvPr/>
          </p:nvSpPr>
          <p:spPr>
            <a:xfrm rot="16200000">
              <a:off x="3970116" y="173233"/>
              <a:ext cx="144000" cy="1512000"/>
            </a:xfrm>
            <a:prstGeom prst="leftBracket">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1800">
                <a:latin typeface="Consolas" pitchFamily="49" charset="0"/>
                <a:ea typeface="仿宋" pitchFamily="49" charset="-122"/>
                <a:cs typeface="Consolas" pitchFamily="49" charset="0"/>
              </a:endParaRPr>
            </a:p>
          </p:txBody>
        </p:sp>
        <p:sp>
          <p:nvSpPr>
            <p:cNvPr id="32" name="TextBox 40">
              <a:extLst>
                <a:ext uri="{FF2B5EF4-FFF2-40B4-BE49-F238E27FC236}">
                  <a16:creationId xmlns:a16="http://schemas.microsoft.com/office/drawing/2014/main" id="{A7CE87D3-0254-5E18-9D13-51D4C45571D6}"/>
                </a:ext>
              </a:extLst>
            </p:cNvPr>
            <p:cNvSpPr txBox="1"/>
            <p:nvPr/>
          </p:nvSpPr>
          <p:spPr>
            <a:xfrm>
              <a:off x="3428992" y="1242940"/>
              <a:ext cx="1285884" cy="369332"/>
            </a:xfrm>
            <a:prstGeom prst="rect">
              <a:avLst/>
            </a:prstGeom>
            <a:noFill/>
          </p:spPr>
          <p:txBody>
            <a:bodyPr wrap="square" rtlCol="0">
              <a:spAutoFit/>
            </a:bodyPr>
            <a:lstStyle/>
            <a:p>
              <a:r>
                <a:rPr lang="en-US" altLang="zh-CN" sz="1800" i="1" err="1">
                  <a:latin typeface="Consolas" pitchFamily="49" charset="0"/>
                  <a:ea typeface="仿宋" pitchFamily="49" charset="-122"/>
                  <a:cs typeface="Consolas" pitchFamily="49" charset="0"/>
                </a:rPr>
                <a:t>i</a:t>
              </a:r>
              <a:r>
                <a:rPr lang="zh-CN" altLang="en-US" sz="1800">
                  <a:latin typeface="Consolas" pitchFamily="49" charset="0"/>
                  <a:ea typeface="仿宋" pitchFamily="49" charset="-122"/>
                  <a:cs typeface="Consolas" pitchFamily="49" charset="0"/>
                </a:rPr>
                <a:t>个元素</a:t>
              </a:r>
            </a:p>
          </p:txBody>
        </p:sp>
      </p:grpSp>
      <p:grpSp>
        <p:nvGrpSpPr>
          <p:cNvPr id="33" name="组合 49">
            <a:extLst>
              <a:ext uri="{FF2B5EF4-FFF2-40B4-BE49-F238E27FC236}">
                <a16:creationId xmlns:a16="http://schemas.microsoft.com/office/drawing/2014/main" id="{EA4CAFDE-5DA4-4DB5-3E09-342AAD65FB6D}"/>
              </a:ext>
            </a:extLst>
          </p:cNvPr>
          <p:cNvGrpSpPr/>
          <p:nvPr/>
        </p:nvGrpSpPr>
        <p:grpSpPr>
          <a:xfrm>
            <a:off x="5067259" y="4027248"/>
            <a:ext cx="1512000" cy="755039"/>
            <a:chOff x="5215840" y="857232"/>
            <a:chExt cx="1512000" cy="755039"/>
          </a:xfrm>
        </p:grpSpPr>
        <p:sp>
          <p:nvSpPr>
            <p:cNvPr id="34" name="左中括号 33">
              <a:extLst>
                <a:ext uri="{FF2B5EF4-FFF2-40B4-BE49-F238E27FC236}">
                  <a16:creationId xmlns:a16="http://schemas.microsoft.com/office/drawing/2014/main" id="{B734B64E-FCD9-D22D-8E53-44CAB544541F}"/>
                </a:ext>
              </a:extLst>
            </p:cNvPr>
            <p:cNvSpPr/>
            <p:nvPr/>
          </p:nvSpPr>
          <p:spPr>
            <a:xfrm rot="16200000">
              <a:off x="5899840" y="173232"/>
              <a:ext cx="144000" cy="1512000"/>
            </a:xfrm>
            <a:prstGeom prst="leftBracket">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1800">
                <a:latin typeface="Consolas" pitchFamily="49" charset="0"/>
                <a:ea typeface="仿宋" pitchFamily="49" charset="-122"/>
                <a:cs typeface="Consolas" pitchFamily="49" charset="0"/>
              </a:endParaRPr>
            </a:p>
          </p:txBody>
        </p:sp>
        <p:sp>
          <p:nvSpPr>
            <p:cNvPr id="35" name="TextBox 42">
              <a:extLst>
                <a:ext uri="{FF2B5EF4-FFF2-40B4-BE49-F238E27FC236}">
                  <a16:creationId xmlns:a16="http://schemas.microsoft.com/office/drawing/2014/main" id="{978EA271-ADDF-6B41-706A-21C549E4B7E8}"/>
                </a:ext>
              </a:extLst>
            </p:cNvPr>
            <p:cNvSpPr txBox="1"/>
            <p:nvPr/>
          </p:nvSpPr>
          <p:spPr>
            <a:xfrm>
              <a:off x="5358716" y="1242939"/>
              <a:ext cx="1285884" cy="369332"/>
            </a:xfrm>
            <a:prstGeom prst="rect">
              <a:avLst/>
            </a:prstGeom>
            <a:noFill/>
          </p:spPr>
          <p:txBody>
            <a:bodyPr wrap="square" rtlCol="0">
              <a:spAutoFit/>
            </a:bodyPr>
            <a:lstStyle/>
            <a:p>
              <a:r>
                <a:rPr lang="en-US" altLang="zh-CN" sz="1800" i="1">
                  <a:latin typeface="Consolas" pitchFamily="49" charset="0"/>
                  <a:ea typeface="仿宋" pitchFamily="49" charset="-122"/>
                  <a:cs typeface="Consolas" pitchFamily="49" charset="0"/>
                </a:rPr>
                <a:t>j</a:t>
              </a:r>
              <a:r>
                <a:rPr lang="zh-CN" altLang="en-US" sz="1800">
                  <a:latin typeface="Consolas" pitchFamily="49" charset="0"/>
                  <a:ea typeface="仿宋" pitchFamily="49" charset="-122"/>
                  <a:cs typeface="Consolas" pitchFamily="49" charset="0"/>
                </a:rPr>
                <a:t>个元素</a:t>
              </a:r>
            </a:p>
          </p:txBody>
        </p:sp>
      </p:grpSp>
      <p:grpSp>
        <p:nvGrpSpPr>
          <p:cNvPr id="38" name="组合 50">
            <a:extLst>
              <a:ext uri="{FF2B5EF4-FFF2-40B4-BE49-F238E27FC236}">
                <a16:creationId xmlns:a16="http://schemas.microsoft.com/office/drawing/2014/main" id="{32E1D71F-C152-0813-A8C0-F44D89B283CD}"/>
              </a:ext>
            </a:extLst>
          </p:cNvPr>
          <p:cNvGrpSpPr/>
          <p:nvPr/>
        </p:nvGrpSpPr>
        <p:grpSpPr>
          <a:xfrm>
            <a:off x="1058559" y="5027381"/>
            <a:ext cx="5508000" cy="583645"/>
            <a:chOff x="1207140" y="1857365"/>
            <a:chExt cx="5508000" cy="583645"/>
          </a:xfrm>
        </p:grpSpPr>
        <p:sp>
          <p:nvSpPr>
            <p:cNvPr id="39" name="左中括号 38">
              <a:extLst>
                <a:ext uri="{FF2B5EF4-FFF2-40B4-BE49-F238E27FC236}">
                  <a16:creationId xmlns:a16="http://schemas.microsoft.com/office/drawing/2014/main" id="{F6EFDB1E-425F-0F1E-B60F-064275F60BCE}"/>
                </a:ext>
              </a:extLst>
            </p:cNvPr>
            <p:cNvSpPr/>
            <p:nvPr/>
          </p:nvSpPr>
          <p:spPr>
            <a:xfrm rot="16200000">
              <a:off x="3889702" y="-825197"/>
              <a:ext cx="142876" cy="5508000"/>
            </a:xfrm>
            <a:prstGeom prst="leftBracket">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40" name="TextBox 45">
              <a:extLst>
                <a:ext uri="{FF2B5EF4-FFF2-40B4-BE49-F238E27FC236}">
                  <a16:creationId xmlns:a16="http://schemas.microsoft.com/office/drawing/2014/main" id="{1A242896-6386-D173-B191-326338CA297A}"/>
                </a:ext>
              </a:extLst>
            </p:cNvPr>
            <p:cNvSpPr txBox="1"/>
            <p:nvPr/>
          </p:nvSpPr>
          <p:spPr>
            <a:xfrm>
              <a:off x="2571736" y="2071678"/>
              <a:ext cx="2857520" cy="369332"/>
            </a:xfrm>
            <a:prstGeom prst="rect">
              <a:avLst/>
            </a:prstGeom>
            <a:noFill/>
          </p:spPr>
          <p:txBody>
            <a:bodyPr wrap="square" rtlCol="0">
              <a:spAutoFit/>
            </a:bodyPr>
            <a:lstStyle/>
            <a:p>
              <a:r>
                <a:rPr lang="zh-CN" altLang="en-US" sz="1800">
                  <a:latin typeface="Consolas" pitchFamily="49" charset="0"/>
                  <a:ea typeface="仿宋" pitchFamily="49" charset="-122"/>
                  <a:cs typeface="Consolas" pitchFamily="49" charset="0"/>
                </a:rPr>
                <a:t>共计</a:t>
              </a:r>
              <a:r>
                <a:rPr lang="en-US" altLang="zh-CN" sz="1800" i="1" err="1">
                  <a:latin typeface="Consolas" pitchFamily="49" charset="0"/>
                  <a:ea typeface="仿宋" pitchFamily="49" charset="-122"/>
                  <a:cs typeface="Consolas" pitchFamily="49" charset="0"/>
                </a:rPr>
                <a:t>i</a:t>
              </a:r>
              <a:r>
                <a:rPr lang="en-US" altLang="zh-CN" sz="1800">
                  <a:latin typeface="Consolas" pitchFamily="49" charset="0"/>
                  <a:ea typeface="仿宋" pitchFamily="49" charset="-122"/>
                  <a:cs typeface="Consolas" pitchFamily="49" charset="0"/>
                </a:rPr>
                <a:t>(</a:t>
              </a:r>
              <a:r>
                <a:rPr lang="en-US" altLang="zh-CN" sz="1800" i="1" err="1">
                  <a:latin typeface="Consolas" pitchFamily="49" charset="0"/>
                  <a:ea typeface="仿宋" pitchFamily="49" charset="-122"/>
                  <a:cs typeface="Consolas" pitchFamily="49" charset="0"/>
                </a:rPr>
                <a:t>i</a:t>
              </a:r>
              <a:r>
                <a:rPr lang="en-US" altLang="zh-CN" sz="1800" err="1">
                  <a:latin typeface="Consolas" pitchFamily="49" charset="0"/>
                  <a:ea typeface="仿宋" pitchFamily="49" charset="-122"/>
                  <a:cs typeface="Consolas" pitchFamily="49" charset="0"/>
                </a:rPr>
                <a:t>+1</a:t>
              </a:r>
              <a:r>
                <a:rPr lang="en-US" altLang="zh-CN" sz="1800">
                  <a:latin typeface="Consolas" pitchFamily="49" charset="0"/>
                  <a:ea typeface="仿宋" pitchFamily="49" charset="-122"/>
                  <a:cs typeface="Consolas" pitchFamily="49" charset="0"/>
                </a:rPr>
                <a:t>)/</a:t>
              </a:r>
              <a:r>
                <a:rPr lang="en-US" altLang="zh-CN" sz="1800" err="1">
                  <a:latin typeface="Consolas" pitchFamily="49" charset="0"/>
                  <a:ea typeface="仿宋" pitchFamily="49" charset="-122"/>
                  <a:cs typeface="Consolas" pitchFamily="49" charset="0"/>
                </a:rPr>
                <a:t>2+</a:t>
              </a:r>
              <a:r>
                <a:rPr lang="en-US" altLang="zh-CN" sz="1800" i="1" err="1">
                  <a:latin typeface="Consolas" pitchFamily="49" charset="0"/>
                  <a:ea typeface="仿宋" pitchFamily="49" charset="-122"/>
                  <a:cs typeface="Consolas" pitchFamily="49" charset="0"/>
                </a:rPr>
                <a:t>j</a:t>
              </a:r>
              <a:r>
                <a:rPr lang="zh-CN" altLang="en-US" sz="1800">
                  <a:latin typeface="Consolas" pitchFamily="49" charset="0"/>
                  <a:ea typeface="仿宋" pitchFamily="49" charset="-122"/>
                  <a:cs typeface="Consolas" pitchFamily="49" charset="0"/>
                </a:rPr>
                <a:t>个元素</a:t>
              </a:r>
            </a:p>
          </p:txBody>
        </p:sp>
      </p:grpSp>
      <p:sp>
        <p:nvSpPr>
          <p:cNvPr id="44" name="TextBox 51">
            <a:extLst>
              <a:ext uri="{FF2B5EF4-FFF2-40B4-BE49-F238E27FC236}">
                <a16:creationId xmlns:a16="http://schemas.microsoft.com/office/drawing/2014/main" id="{C78F9EEF-C8DE-C8DD-AA66-0814D379E9A4}"/>
              </a:ext>
            </a:extLst>
          </p:cNvPr>
          <p:cNvSpPr txBox="1"/>
          <p:nvPr/>
        </p:nvSpPr>
        <p:spPr>
          <a:xfrm>
            <a:off x="6566559" y="2855722"/>
            <a:ext cx="642942" cy="400110"/>
          </a:xfrm>
          <a:prstGeom prst="rect">
            <a:avLst/>
          </a:prstGeom>
          <a:noFill/>
        </p:spPr>
        <p:txBody>
          <a:bodyPr wrap="square" rtlCol="0">
            <a:spAutoFit/>
          </a:bodyPr>
          <a:lstStyle/>
          <a:p>
            <a:r>
              <a:rPr lang="en-US" altLang="zh-CN" sz="2000" i="1" err="1">
                <a:latin typeface="Consolas" pitchFamily="49" charset="0"/>
                <a:cs typeface="Consolas" pitchFamily="49" charset="0"/>
              </a:rPr>
              <a:t>b</a:t>
            </a:r>
            <a:r>
              <a:rPr lang="en-US" altLang="zh-CN" sz="2000" i="1" baseline="-25000" err="1">
                <a:latin typeface="Consolas" pitchFamily="49" charset="0"/>
                <a:cs typeface="Consolas" pitchFamily="49" charset="0"/>
              </a:rPr>
              <a:t>k</a:t>
            </a:r>
            <a:endParaRPr lang="zh-CN" altLang="en-US" sz="2000" i="1" baseline="-25000">
              <a:latin typeface="Consolas" pitchFamily="49" charset="0"/>
              <a:cs typeface="Consolas" pitchFamily="49" charset="0"/>
            </a:endParaRPr>
          </a:p>
        </p:txBody>
      </p:sp>
      <p:cxnSp>
        <p:nvCxnSpPr>
          <p:cNvPr id="45" name="直接连接符 44">
            <a:extLst>
              <a:ext uri="{FF2B5EF4-FFF2-40B4-BE49-F238E27FC236}">
                <a16:creationId xmlns:a16="http://schemas.microsoft.com/office/drawing/2014/main" id="{70CCB690-E7E9-8D8C-78A4-440BCBA5C995}"/>
              </a:ext>
            </a:extLst>
          </p:cNvPr>
          <p:cNvCxnSpPr/>
          <p:nvPr/>
        </p:nvCxnSpPr>
        <p:spPr>
          <a:xfrm rot="16200000" flipH="1">
            <a:off x="6669930" y="3431376"/>
            <a:ext cx="360000" cy="0"/>
          </a:xfrm>
          <a:prstGeom prst="line">
            <a:avLst/>
          </a:prstGeom>
          <a:ln w="28575">
            <a:solidFill>
              <a:srgbClr val="FF00FF"/>
            </a:solidFill>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328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BBE86-2A12-2AD7-4DC7-4638AAC30D80}"/>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8D82E61D-E717-F093-34A7-52F83B11EDF0}"/>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3" name="Rectangle 2">
            <a:extLst>
              <a:ext uri="{FF2B5EF4-FFF2-40B4-BE49-F238E27FC236}">
                <a16:creationId xmlns:a16="http://schemas.microsoft.com/office/drawing/2014/main" id="{975F6FA4-0EFA-7CE2-DEC2-AA357E57191E}"/>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855F00D5-36BB-A125-AA28-41977E44ED9B}"/>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1" name="直角三角形 20">
            <a:extLst>
              <a:ext uri="{FF2B5EF4-FFF2-40B4-BE49-F238E27FC236}">
                <a16:creationId xmlns:a16="http://schemas.microsoft.com/office/drawing/2014/main" id="{F0C32384-8D54-FD24-F35E-ECBC5A91F30D}"/>
              </a:ext>
            </a:extLst>
          </p:cNvPr>
          <p:cNvSpPr/>
          <p:nvPr/>
        </p:nvSpPr>
        <p:spPr>
          <a:xfrm>
            <a:off x="7535294" y="1185557"/>
            <a:ext cx="2786082" cy="1857388"/>
          </a:xfrm>
          <a:prstGeom prst="rtTriangl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Consolas" pitchFamily="49" charset="0"/>
              <a:cs typeface="Consolas" pitchFamily="49" charset="0"/>
            </a:endParaRPr>
          </a:p>
        </p:txBody>
      </p:sp>
      <p:sp>
        <p:nvSpPr>
          <p:cNvPr id="22" name="Text Box 3">
            <a:extLst>
              <a:ext uri="{FF2B5EF4-FFF2-40B4-BE49-F238E27FC236}">
                <a16:creationId xmlns:a16="http://schemas.microsoft.com/office/drawing/2014/main" id="{0A3DE81E-94C4-D04E-A8F5-8594A95DF73B}"/>
              </a:ext>
            </a:extLst>
          </p:cNvPr>
          <p:cNvSpPr txBox="1">
            <a:spLocks noChangeArrowheads="1"/>
          </p:cNvSpPr>
          <p:nvPr/>
        </p:nvSpPr>
        <p:spPr bwMode="auto">
          <a:xfrm>
            <a:off x="1111156" y="1808765"/>
            <a:ext cx="4515145" cy="707886"/>
          </a:xfrm>
          <a:prstGeom prst="rect">
            <a:avLst/>
          </a:prstGeom>
          <a:noFill/>
          <a:ln w="9525">
            <a:noFill/>
            <a:miter lim="800000"/>
            <a:headEnd/>
            <a:tailEnd/>
          </a:ln>
          <a:effectLst/>
        </p:spPr>
        <p:txBody>
          <a:bodyPr wrap="square">
            <a:spAutoFit/>
          </a:bodyPr>
          <a:lstStyle/>
          <a:p>
            <a:pPr algn="l"/>
            <a:r>
              <a:rPr lang="zh-CN" altLang="en-US" sz="2000" dirty="0">
                <a:latin typeface="微软雅黑" pitchFamily="34" charset="-122"/>
                <a:ea typeface="微软雅黑" pitchFamily="34" charset="-122"/>
                <a:cs typeface="经典粗黑简" pitchFamily="49" charset="-122"/>
              </a:rPr>
              <a:t>以行序为主序存储其下三角</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主对角线的元素。</a:t>
            </a:r>
          </a:p>
        </p:txBody>
      </p:sp>
      <p:grpSp>
        <p:nvGrpSpPr>
          <p:cNvPr id="51" name="组合 28">
            <a:extLst>
              <a:ext uri="{FF2B5EF4-FFF2-40B4-BE49-F238E27FC236}">
                <a16:creationId xmlns:a16="http://schemas.microsoft.com/office/drawing/2014/main" id="{FCBF6781-271F-C8DD-4C36-9914DBDB0625}"/>
              </a:ext>
            </a:extLst>
          </p:cNvPr>
          <p:cNvGrpSpPr/>
          <p:nvPr/>
        </p:nvGrpSpPr>
        <p:grpSpPr>
          <a:xfrm>
            <a:off x="7392418" y="1256995"/>
            <a:ext cx="2857520" cy="1752612"/>
            <a:chOff x="3214676" y="2214554"/>
            <a:chExt cx="2837975" cy="1752612"/>
          </a:xfrm>
        </p:grpSpPr>
        <p:cxnSp>
          <p:nvCxnSpPr>
            <p:cNvPr id="52" name="直接连接符 51">
              <a:extLst>
                <a:ext uri="{FF2B5EF4-FFF2-40B4-BE49-F238E27FC236}">
                  <a16:creationId xmlns:a16="http://schemas.microsoft.com/office/drawing/2014/main" id="{F86D6E18-E96E-7BC8-D8DF-5912D3BD5BA3}"/>
                </a:ext>
              </a:extLst>
            </p:cNvPr>
            <p:cNvCxnSpPr/>
            <p:nvPr/>
          </p:nvCxnSpPr>
          <p:spPr>
            <a:xfrm rot="5400000">
              <a:off x="2358214" y="30710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A797773-39F5-C25B-BF4F-87A0011A496E}"/>
                </a:ext>
              </a:extLst>
            </p:cNvPr>
            <p:cNvCxnSpPr/>
            <p:nvPr/>
          </p:nvCxnSpPr>
          <p:spPr>
            <a:xfrm>
              <a:off x="3216264" y="22272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0EC6C304-D638-BA2C-B7C9-91AA59811C80}"/>
                </a:ext>
              </a:extLst>
            </p:cNvPr>
            <p:cNvCxnSpPr/>
            <p:nvPr/>
          </p:nvCxnSpPr>
          <p:spPr>
            <a:xfrm>
              <a:off x="3214676" y="39243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55" name="TextBox 32">
              <a:extLst>
                <a:ext uri="{FF2B5EF4-FFF2-40B4-BE49-F238E27FC236}">
                  <a16:creationId xmlns:a16="http://schemas.microsoft.com/office/drawing/2014/main" id="{18F77BFC-4BE3-6F47-DD8E-7A23CC4B9A2D}"/>
                </a:ext>
              </a:extLst>
            </p:cNvPr>
            <p:cNvSpPr txBox="1"/>
            <p:nvPr/>
          </p:nvSpPr>
          <p:spPr>
            <a:xfrm>
              <a:off x="3359140" y="2258590"/>
              <a:ext cx="714379" cy="276999"/>
            </a:xfrm>
            <a:prstGeom prst="rect">
              <a:avLst/>
            </a:prstGeom>
            <a:noFill/>
          </p:spPr>
          <p:txBody>
            <a:bodyPr wrap="square" lIns="0" tIns="0" rIns="0" bIns="0" rtlCol="0">
              <a:spAutoFit/>
            </a:bodyPr>
            <a:lstStyle/>
            <a:p>
              <a:r>
                <a:rPr lang="en-US" altLang="zh-CN" sz="1800" i="1" dirty="0">
                  <a:latin typeface="Consolas" pitchFamily="49" charset="0"/>
                  <a:cs typeface="Consolas" pitchFamily="49" charset="0"/>
                </a:rPr>
                <a:t>a</a:t>
              </a:r>
              <a:r>
                <a:rPr lang="en-US" altLang="zh-CN" sz="1800" baseline="-25000" dirty="0">
                  <a:latin typeface="Consolas" pitchFamily="49" charset="0"/>
                  <a:cs typeface="Consolas" pitchFamily="49" charset="0"/>
                </a:rPr>
                <a:t>0,0</a:t>
              </a:r>
              <a:endParaRPr lang="zh-CN" altLang="en-US" sz="1800" baseline="-25000" dirty="0">
                <a:latin typeface="Consolas" pitchFamily="49" charset="0"/>
                <a:cs typeface="Consolas" pitchFamily="49" charset="0"/>
              </a:endParaRPr>
            </a:p>
          </p:txBody>
        </p:sp>
        <p:sp>
          <p:nvSpPr>
            <p:cNvPr id="56" name="TextBox 33">
              <a:extLst>
                <a:ext uri="{FF2B5EF4-FFF2-40B4-BE49-F238E27FC236}">
                  <a16:creationId xmlns:a16="http://schemas.microsoft.com/office/drawing/2014/main" id="{F25D9FC3-0B5F-F251-93A8-370CC58FED3F}"/>
                </a:ext>
              </a:extLst>
            </p:cNvPr>
            <p:cNvSpPr txBox="1"/>
            <p:nvPr/>
          </p:nvSpPr>
          <p:spPr>
            <a:xfrm>
              <a:off x="4002081" y="2258590"/>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0,1</a:t>
              </a:r>
              <a:endParaRPr lang="zh-CN" altLang="en-US" sz="1800" baseline="-25000">
                <a:latin typeface="Consolas" pitchFamily="49" charset="0"/>
                <a:cs typeface="Consolas" pitchFamily="49" charset="0"/>
              </a:endParaRPr>
            </a:p>
          </p:txBody>
        </p:sp>
        <p:sp>
          <p:nvSpPr>
            <p:cNvPr id="57" name="TextBox 34">
              <a:extLst>
                <a:ext uri="{FF2B5EF4-FFF2-40B4-BE49-F238E27FC236}">
                  <a16:creationId xmlns:a16="http://schemas.microsoft.com/office/drawing/2014/main" id="{069626BE-8104-031B-42E6-30D99D0FBC23}"/>
                </a:ext>
              </a:extLst>
            </p:cNvPr>
            <p:cNvSpPr txBox="1"/>
            <p:nvPr/>
          </p:nvSpPr>
          <p:spPr>
            <a:xfrm>
              <a:off x="5216526" y="2258590"/>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a:t>
              </a:r>
              <a:r>
                <a:rPr lang="en-US" altLang="zh-CN" sz="1800" i="1" baseline="-25000" err="1">
                  <a:latin typeface="Consolas" pitchFamily="49" charset="0"/>
                  <a:cs typeface="Consolas" pitchFamily="49" charset="0"/>
                </a:rPr>
                <a:t>n</a:t>
              </a:r>
              <a:r>
                <a:rPr lang="en-US" altLang="zh-CN" sz="1800" baseline="-25000">
                  <a:latin typeface="Consolas" pitchFamily="49" charset="0"/>
                  <a:cs typeface="Consolas" pitchFamily="49" charset="0"/>
                </a:rPr>
                <a:t>-1</a:t>
              </a:r>
              <a:endParaRPr lang="zh-CN" altLang="en-US" sz="1800" baseline="-25000">
                <a:latin typeface="Consolas" pitchFamily="49" charset="0"/>
                <a:cs typeface="Consolas" pitchFamily="49" charset="0"/>
              </a:endParaRPr>
            </a:p>
          </p:txBody>
        </p:sp>
        <p:sp>
          <p:nvSpPr>
            <p:cNvPr id="58" name="TextBox 35">
              <a:extLst>
                <a:ext uri="{FF2B5EF4-FFF2-40B4-BE49-F238E27FC236}">
                  <a16:creationId xmlns:a16="http://schemas.microsoft.com/office/drawing/2014/main" id="{8B9B9A62-3672-A92C-0C15-A5D92BE5B6D8}"/>
                </a:ext>
              </a:extLst>
            </p:cNvPr>
            <p:cNvSpPr txBox="1"/>
            <p:nvPr/>
          </p:nvSpPr>
          <p:spPr>
            <a:xfrm>
              <a:off x="4645023" y="2239954"/>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sp>
          <p:nvSpPr>
            <p:cNvPr id="59" name="TextBox 36">
              <a:extLst>
                <a:ext uri="{FF2B5EF4-FFF2-40B4-BE49-F238E27FC236}">
                  <a16:creationId xmlns:a16="http://schemas.microsoft.com/office/drawing/2014/main" id="{B852C8FD-6776-DE29-0EE6-3FEAFB74EDDD}"/>
                </a:ext>
              </a:extLst>
            </p:cNvPr>
            <p:cNvSpPr txBox="1"/>
            <p:nvPr/>
          </p:nvSpPr>
          <p:spPr>
            <a:xfrm>
              <a:off x="3359140" y="2687218"/>
              <a:ext cx="714379" cy="276999"/>
            </a:xfrm>
            <a:prstGeom prst="rect">
              <a:avLst/>
            </a:prstGeom>
            <a:noFill/>
          </p:spPr>
          <p:txBody>
            <a:bodyPr wrap="square" lIns="0" tIns="0" rIns="0" bIns="0" rtlCol="0">
              <a:spAutoFit/>
            </a:bodyPr>
            <a:lstStyle/>
            <a:p>
              <a:r>
                <a:rPr lang="en-US" altLang="zh-CN" sz="1800" i="1" dirty="0">
                  <a:latin typeface="Consolas" pitchFamily="49" charset="0"/>
                  <a:cs typeface="Consolas" pitchFamily="49" charset="0"/>
                </a:rPr>
                <a:t>a</a:t>
              </a:r>
              <a:r>
                <a:rPr lang="en-US" altLang="zh-CN" sz="1800" baseline="-25000" dirty="0">
                  <a:latin typeface="Consolas" pitchFamily="49" charset="0"/>
                  <a:cs typeface="Consolas" pitchFamily="49" charset="0"/>
                </a:rPr>
                <a:t>1,0</a:t>
              </a:r>
              <a:endParaRPr lang="zh-CN" altLang="en-US" sz="1800" baseline="-25000" dirty="0">
                <a:latin typeface="Consolas" pitchFamily="49" charset="0"/>
                <a:cs typeface="Consolas" pitchFamily="49" charset="0"/>
              </a:endParaRPr>
            </a:p>
          </p:txBody>
        </p:sp>
        <p:sp>
          <p:nvSpPr>
            <p:cNvPr id="60" name="TextBox 37">
              <a:extLst>
                <a:ext uri="{FF2B5EF4-FFF2-40B4-BE49-F238E27FC236}">
                  <a16:creationId xmlns:a16="http://schemas.microsoft.com/office/drawing/2014/main" id="{E6CB739E-7D52-D95C-E085-5367C6A5D5F0}"/>
                </a:ext>
              </a:extLst>
            </p:cNvPr>
            <p:cNvSpPr txBox="1"/>
            <p:nvPr/>
          </p:nvSpPr>
          <p:spPr>
            <a:xfrm>
              <a:off x="4002081" y="2687218"/>
              <a:ext cx="714379" cy="276999"/>
            </a:xfrm>
            <a:prstGeom prst="rect">
              <a:avLst/>
            </a:prstGeom>
            <a:noFill/>
          </p:spPr>
          <p:txBody>
            <a:bodyPr wrap="square" lIns="0" tIns="0" rIns="0" bIns="0" rtlCol="0">
              <a:spAutoFit/>
            </a:bodyPr>
            <a:lstStyle/>
            <a:p>
              <a:r>
                <a:rPr lang="en-US" altLang="zh-CN" sz="1800" i="1" dirty="0">
                  <a:latin typeface="Consolas" pitchFamily="49" charset="0"/>
                  <a:cs typeface="Consolas" pitchFamily="49" charset="0"/>
                </a:rPr>
                <a:t>a</a:t>
              </a:r>
              <a:r>
                <a:rPr lang="en-US" altLang="zh-CN" sz="1800" baseline="-25000" dirty="0">
                  <a:latin typeface="Consolas" pitchFamily="49" charset="0"/>
                  <a:cs typeface="Consolas" pitchFamily="49" charset="0"/>
                </a:rPr>
                <a:t>1,1</a:t>
              </a:r>
              <a:endParaRPr lang="zh-CN" altLang="en-US" sz="1800" baseline="-25000" dirty="0">
                <a:latin typeface="Consolas" pitchFamily="49" charset="0"/>
                <a:cs typeface="Consolas" pitchFamily="49" charset="0"/>
              </a:endParaRPr>
            </a:p>
          </p:txBody>
        </p:sp>
        <p:sp>
          <p:nvSpPr>
            <p:cNvPr id="61" name="TextBox 38">
              <a:extLst>
                <a:ext uri="{FF2B5EF4-FFF2-40B4-BE49-F238E27FC236}">
                  <a16:creationId xmlns:a16="http://schemas.microsoft.com/office/drawing/2014/main" id="{54D380B2-D948-B04E-E285-5FCBA315A802}"/>
                </a:ext>
              </a:extLst>
            </p:cNvPr>
            <p:cNvSpPr txBox="1"/>
            <p:nvPr/>
          </p:nvSpPr>
          <p:spPr>
            <a:xfrm>
              <a:off x="5216526" y="2687218"/>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1,</a:t>
              </a:r>
              <a:r>
                <a:rPr lang="en-US" altLang="zh-CN" sz="1800" i="1" baseline="-25000" err="1">
                  <a:latin typeface="Consolas" pitchFamily="49" charset="0"/>
                  <a:cs typeface="Consolas" pitchFamily="49" charset="0"/>
                </a:rPr>
                <a:t>n</a:t>
              </a:r>
              <a:r>
                <a:rPr lang="en-US" altLang="zh-CN" sz="1800" baseline="-25000">
                  <a:latin typeface="Consolas" pitchFamily="49" charset="0"/>
                  <a:cs typeface="Consolas" pitchFamily="49" charset="0"/>
                </a:rPr>
                <a:t>-1</a:t>
              </a:r>
              <a:endParaRPr lang="zh-CN" altLang="en-US" sz="1800" baseline="-25000">
                <a:latin typeface="Consolas" pitchFamily="49" charset="0"/>
                <a:cs typeface="Consolas" pitchFamily="49" charset="0"/>
              </a:endParaRPr>
            </a:p>
          </p:txBody>
        </p:sp>
        <p:sp>
          <p:nvSpPr>
            <p:cNvPr id="62" name="TextBox 39">
              <a:extLst>
                <a:ext uri="{FF2B5EF4-FFF2-40B4-BE49-F238E27FC236}">
                  <a16:creationId xmlns:a16="http://schemas.microsoft.com/office/drawing/2014/main" id="{22AFBB23-D446-C4F3-8A8A-CA6E4F7C4208}"/>
                </a:ext>
              </a:extLst>
            </p:cNvPr>
            <p:cNvSpPr txBox="1"/>
            <p:nvPr/>
          </p:nvSpPr>
          <p:spPr>
            <a:xfrm>
              <a:off x="4645023" y="2668582"/>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sp>
          <p:nvSpPr>
            <p:cNvPr id="63" name="TextBox 40">
              <a:extLst>
                <a:ext uri="{FF2B5EF4-FFF2-40B4-BE49-F238E27FC236}">
                  <a16:creationId xmlns:a16="http://schemas.microsoft.com/office/drawing/2014/main" id="{628206AB-7D06-0E9D-7F0D-3C0EC152FF95}"/>
                </a:ext>
              </a:extLst>
            </p:cNvPr>
            <p:cNvSpPr txBox="1"/>
            <p:nvPr/>
          </p:nvSpPr>
          <p:spPr>
            <a:xfrm>
              <a:off x="3359140" y="3549236"/>
              <a:ext cx="714379" cy="276999"/>
            </a:xfrm>
            <a:prstGeom prst="rect">
              <a:avLst/>
            </a:prstGeom>
            <a:noFill/>
          </p:spPr>
          <p:txBody>
            <a:bodyPr wrap="square" lIns="0" tIns="0" rIns="0" bIns="0" rtlCol="0">
              <a:spAutoFit/>
            </a:bodyPr>
            <a:lstStyle/>
            <a:p>
              <a:r>
                <a:rPr lang="en-US" altLang="zh-CN" sz="1800" i="1" dirty="0">
                  <a:latin typeface="Consolas" pitchFamily="49" charset="0"/>
                  <a:cs typeface="Consolas" pitchFamily="49" charset="0"/>
                </a:rPr>
                <a:t>a</a:t>
              </a:r>
              <a:r>
                <a:rPr lang="en-US" altLang="zh-CN" sz="1800" i="1" baseline="-25000" dirty="0">
                  <a:latin typeface="Consolas" pitchFamily="49" charset="0"/>
                  <a:cs typeface="Consolas" pitchFamily="49" charset="0"/>
                </a:rPr>
                <a:t>n</a:t>
              </a:r>
              <a:r>
                <a:rPr lang="en-US" altLang="zh-CN" sz="1800" baseline="-25000" dirty="0">
                  <a:latin typeface="Consolas" pitchFamily="49" charset="0"/>
                  <a:cs typeface="Consolas" pitchFamily="49" charset="0"/>
                </a:rPr>
                <a:t>-1,0</a:t>
              </a:r>
              <a:endParaRPr lang="zh-CN" altLang="en-US" sz="1800" baseline="-25000" dirty="0">
                <a:latin typeface="Consolas" pitchFamily="49" charset="0"/>
                <a:cs typeface="Consolas" pitchFamily="49" charset="0"/>
              </a:endParaRPr>
            </a:p>
          </p:txBody>
        </p:sp>
        <p:sp>
          <p:nvSpPr>
            <p:cNvPr id="64" name="TextBox 41">
              <a:extLst>
                <a:ext uri="{FF2B5EF4-FFF2-40B4-BE49-F238E27FC236}">
                  <a16:creationId xmlns:a16="http://schemas.microsoft.com/office/drawing/2014/main" id="{72E34F93-815D-2994-03C7-04380768F79E}"/>
                </a:ext>
              </a:extLst>
            </p:cNvPr>
            <p:cNvSpPr txBox="1"/>
            <p:nvPr/>
          </p:nvSpPr>
          <p:spPr>
            <a:xfrm>
              <a:off x="4002081" y="3549236"/>
              <a:ext cx="714379" cy="276999"/>
            </a:xfrm>
            <a:prstGeom prst="rect">
              <a:avLst/>
            </a:prstGeom>
            <a:noFill/>
          </p:spPr>
          <p:txBody>
            <a:bodyPr wrap="square" lIns="0" tIns="0" rIns="0" bIns="0" rtlCol="0">
              <a:spAutoFit/>
            </a:bodyPr>
            <a:lstStyle/>
            <a:p>
              <a:r>
                <a:rPr lang="en-US" altLang="zh-CN" sz="1800" i="1">
                  <a:latin typeface="Consolas" pitchFamily="49" charset="0"/>
                  <a:cs typeface="Consolas" pitchFamily="49" charset="0"/>
                </a:rPr>
                <a:t>a</a:t>
              </a:r>
              <a:r>
                <a:rPr lang="en-US" altLang="zh-CN" sz="1800" i="1" baseline="-25000">
                  <a:latin typeface="Consolas" pitchFamily="49" charset="0"/>
                  <a:cs typeface="Consolas" pitchFamily="49" charset="0"/>
                </a:rPr>
                <a:t>n</a:t>
              </a:r>
              <a:r>
                <a:rPr lang="en-US" altLang="zh-CN" sz="1800" baseline="-25000">
                  <a:latin typeface="Consolas" pitchFamily="49" charset="0"/>
                  <a:cs typeface="Consolas" pitchFamily="49" charset="0"/>
                </a:rPr>
                <a:t>-1,1</a:t>
              </a:r>
              <a:endParaRPr lang="zh-CN" altLang="en-US" sz="1800" baseline="-25000">
                <a:latin typeface="Consolas" pitchFamily="49" charset="0"/>
                <a:cs typeface="Consolas" pitchFamily="49" charset="0"/>
              </a:endParaRPr>
            </a:p>
          </p:txBody>
        </p:sp>
        <p:sp>
          <p:nvSpPr>
            <p:cNvPr id="65" name="TextBox 42">
              <a:extLst>
                <a:ext uri="{FF2B5EF4-FFF2-40B4-BE49-F238E27FC236}">
                  <a16:creationId xmlns:a16="http://schemas.microsoft.com/office/drawing/2014/main" id="{1D2C1D33-F035-2289-5027-3A27197D1632}"/>
                </a:ext>
              </a:extLst>
            </p:cNvPr>
            <p:cNvSpPr txBox="1"/>
            <p:nvPr/>
          </p:nvSpPr>
          <p:spPr>
            <a:xfrm>
              <a:off x="5216526" y="3549236"/>
              <a:ext cx="714379" cy="276999"/>
            </a:xfrm>
            <a:prstGeom prst="rect">
              <a:avLst/>
            </a:prstGeom>
            <a:noFill/>
          </p:spPr>
          <p:txBody>
            <a:bodyPr wrap="square" lIns="0" tIns="0" rIns="0" bIns="0" rtlCol="0">
              <a:spAutoFit/>
            </a:bodyPr>
            <a:lstStyle/>
            <a:p>
              <a:r>
                <a:rPr lang="en-US" altLang="zh-CN" sz="1800" i="1" dirty="0">
                  <a:latin typeface="Consolas" pitchFamily="49" charset="0"/>
                  <a:cs typeface="Consolas" pitchFamily="49" charset="0"/>
                </a:rPr>
                <a:t>a</a:t>
              </a:r>
              <a:r>
                <a:rPr lang="en-US" altLang="zh-CN" sz="1800" i="1" baseline="-25000" dirty="0">
                  <a:latin typeface="Consolas" pitchFamily="49" charset="0"/>
                  <a:cs typeface="Consolas" pitchFamily="49" charset="0"/>
                </a:rPr>
                <a:t>n</a:t>
              </a:r>
              <a:r>
                <a:rPr lang="en-US" altLang="zh-CN" sz="1800" baseline="-25000" dirty="0">
                  <a:latin typeface="Consolas" pitchFamily="49" charset="0"/>
                  <a:cs typeface="Consolas" pitchFamily="49" charset="0"/>
                </a:rPr>
                <a:t>-1,</a:t>
              </a:r>
              <a:r>
                <a:rPr lang="en-US" altLang="zh-CN" sz="1800" i="1" baseline="-25000" dirty="0">
                  <a:latin typeface="Consolas" pitchFamily="49" charset="0"/>
                  <a:cs typeface="Consolas" pitchFamily="49" charset="0"/>
                </a:rPr>
                <a:t>n</a:t>
              </a:r>
              <a:r>
                <a:rPr lang="en-US" altLang="zh-CN" sz="1800" baseline="-25000" dirty="0">
                  <a:latin typeface="Consolas" pitchFamily="49" charset="0"/>
                  <a:cs typeface="Consolas" pitchFamily="49" charset="0"/>
                </a:rPr>
                <a:t>-1</a:t>
              </a:r>
              <a:endParaRPr lang="zh-CN" altLang="en-US" sz="1800" baseline="-25000" dirty="0">
                <a:latin typeface="Consolas" pitchFamily="49" charset="0"/>
                <a:cs typeface="Consolas" pitchFamily="49" charset="0"/>
              </a:endParaRPr>
            </a:p>
          </p:txBody>
        </p:sp>
        <p:sp>
          <p:nvSpPr>
            <p:cNvPr id="66" name="TextBox 43">
              <a:extLst>
                <a:ext uri="{FF2B5EF4-FFF2-40B4-BE49-F238E27FC236}">
                  <a16:creationId xmlns:a16="http://schemas.microsoft.com/office/drawing/2014/main" id="{100612CD-1718-FD8F-0D28-11F4A17750D6}"/>
                </a:ext>
              </a:extLst>
            </p:cNvPr>
            <p:cNvSpPr txBox="1"/>
            <p:nvPr/>
          </p:nvSpPr>
          <p:spPr>
            <a:xfrm>
              <a:off x="4645023" y="3530600"/>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cxnSp>
          <p:nvCxnSpPr>
            <p:cNvPr id="67" name="直接连接符 66">
              <a:extLst>
                <a:ext uri="{FF2B5EF4-FFF2-40B4-BE49-F238E27FC236}">
                  <a16:creationId xmlns:a16="http://schemas.microsoft.com/office/drawing/2014/main" id="{DDCBA71C-3F67-B2C3-EF15-35D9FBB10620}"/>
                </a:ext>
              </a:extLst>
            </p:cNvPr>
            <p:cNvCxnSpPr/>
            <p:nvPr/>
          </p:nvCxnSpPr>
          <p:spPr>
            <a:xfrm rot="5400000">
              <a:off x="5180777" y="31091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31B48317-B4E5-7C6C-C647-016B045E8CAA}"/>
                </a:ext>
              </a:extLst>
            </p:cNvPr>
            <p:cNvCxnSpPr/>
            <p:nvPr/>
          </p:nvCxnSpPr>
          <p:spPr>
            <a:xfrm>
              <a:off x="5908651" y="22653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A87D7A7C-9A09-070C-3959-1F84F8D7B86A}"/>
                </a:ext>
              </a:extLst>
            </p:cNvPr>
            <p:cNvCxnSpPr/>
            <p:nvPr/>
          </p:nvCxnSpPr>
          <p:spPr>
            <a:xfrm>
              <a:off x="5907061" y="39624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70" name="TextBox 47">
              <a:extLst>
                <a:ext uri="{FF2B5EF4-FFF2-40B4-BE49-F238E27FC236}">
                  <a16:creationId xmlns:a16="http://schemas.microsoft.com/office/drawing/2014/main" id="{D502D568-53E6-510B-140E-015EE13733FF}"/>
                </a:ext>
              </a:extLst>
            </p:cNvPr>
            <p:cNvSpPr txBox="1"/>
            <p:nvPr/>
          </p:nvSpPr>
          <p:spPr>
            <a:xfrm>
              <a:off x="3502018" y="3097210"/>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grpSp>
      <p:cxnSp>
        <p:nvCxnSpPr>
          <p:cNvPr id="74" name="直接箭头连接符 73">
            <a:extLst>
              <a:ext uri="{FF2B5EF4-FFF2-40B4-BE49-F238E27FC236}">
                <a16:creationId xmlns:a16="http://schemas.microsoft.com/office/drawing/2014/main" id="{CFE6FDF7-5C83-0D29-2372-76280FF66DBC}"/>
              </a:ext>
            </a:extLst>
          </p:cNvPr>
          <p:cNvCxnSpPr/>
          <p:nvPr/>
        </p:nvCxnSpPr>
        <p:spPr>
          <a:xfrm rot="10800000" flipV="1">
            <a:off x="6963790" y="2114251"/>
            <a:ext cx="785818" cy="14287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75" name="TextBox 53">
            <a:extLst>
              <a:ext uri="{FF2B5EF4-FFF2-40B4-BE49-F238E27FC236}">
                <a16:creationId xmlns:a16="http://schemas.microsoft.com/office/drawing/2014/main" id="{6C16DA61-EC3C-6987-DDC7-E35C0CA82096}"/>
              </a:ext>
            </a:extLst>
          </p:cNvPr>
          <p:cNvSpPr txBox="1"/>
          <p:nvPr/>
        </p:nvSpPr>
        <p:spPr>
          <a:xfrm>
            <a:off x="6177972" y="2114251"/>
            <a:ext cx="928694" cy="369332"/>
          </a:xfrm>
          <a:prstGeom prst="rect">
            <a:avLst/>
          </a:prstGeom>
          <a:noFill/>
        </p:spPr>
        <p:txBody>
          <a:bodyPr wrap="square" rtlCol="0">
            <a:spAutoFit/>
          </a:bodyPr>
          <a:lstStyle/>
          <a:p>
            <a:r>
              <a:rPr kumimoji="1" lang="en-US" altLang="zh-CN" sz="1800" i="1" err="1">
                <a:latin typeface="Consolas" pitchFamily="49" charset="0"/>
                <a:ea typeface="楷体" pitchFamily="49" charset="-122"/>
                <a:cs typeface="Consolas" pitchFamily="49" charset="0"/>
              </a:rPr>
              <a:t>i</a:t>
            </a:r>
            <a:r>
              <a:rPr kumimoji="1" lang="en-US" altLang="zh-CN" sz="1800" err="1">
                <a:latin typeface="Consolas" pitchFamily="49" charset="0"/>
                <a:cs typeface="Consolas" pitchFamily="49" charset="0"/>
              </a:rPr>
              <a:t>≥</a:t>
            </a:r>
            <a:r>
              <a:rPr kumimoji="1" lang="en-US" altLang="zh-CN" sz="1800" i="1" err="1">
                <a:latin typeface="Consolas" pitchFamily="49" charset="0"/>
                <a:ea typeface="楷体" pitchFamily="49" charset="-122"/>
                <a:cs typeface="Consolas" pitchFamily="49" charset="0"/>
              </a:rPr>
              <a:t>j</a:t>
            </a:r>
            <a:endParaRPr lang="zh-CN" altLang="en-US" sz="1800">
              <a:latin typeface="Consolas" pitchFamily="49" charset="0"/>
              <a:cs typeface="Consolas" pitchFamily="49" charset="0"/>
            </a:endParaRPr>
          </a:p>
        </p:txBody>
      </p:sp>
      <p:sp>
        <p:nvSpPr>
          <p:cNvPr id="90" name="矩形 89">
            <a:extLst>
              <a:ext uri="{FF2B5EF4-FFF2-40B4-BE49-F238E27FC236}">
                <a16:creationId xmlns:a16="http://schemas.microsoft.com/office/drawing/2014/main" id="{5D2AB741-FA72-93BC-94E6-C9967736182C}"/>
              </a:ext>
            </a:extLst>
          </p:cNvPr>
          <p:cNvSpPr/>
          <p:nvPr/>
        </p:nvSpPr>
        <p:spPr>
          <a:xfrm>
            <a:off x="983432" y="5931628"/>
            <a:ext cx="10549105" cy="646331"/>
          </a:xfrm>
          <a:prstGeom prst="rect">
            <a:avLst/>
          </a:prstGeom>
        </p:spPr>
        <p:txBody>
          <a:bodyPr wrap="square">
            <a:spAutoFit/>
          </a:bodyPr>
          <a:lstStyle/>
          <a:p>
            <a:r>
              <a:rPr lang="zh-CN" altLang="en-US" dirty="0">
                <a:latin typeface="微软雅黑" pitchFamily="34" charset="-122"/>
                <a:ea typeface="微软雅黑" pitchFamily="34" charset="-122"/>
                <a:cs typeface="经典粗黑简" pitchFamily="49" charset="-122"/>
              </a:rPr>
              <a:t>对于任意一组下标（</a:t>
            </a:r>
            <a:r>
              <a:rPr lang="en-US" altLang="zh-CN" dirty="0">
                <a:latin typeface="微软雅黑" pitchFamily="34" charset="-122"/>
                <a:ea typeface="微软雅黑" pitchFamily="34" charset="-122"/>
                <a:cs typeface="经典粗黑简" pitchFamily="49" charset="-122"/>
              </a:rPr>
              <a:t>i</a:t>
            </a:r>
            <a:r>
              <a:rPr lang="zh-CN" altLang="en-US" dirty="0">
                <a:latin typeface="微软雅黑" pitchFamily="34" charset="-122"/>
                <a:ea typeface="微软雅黑" pitchFamily="34" charset="-122"/>
                <a:cs typeface="经典粗黑简" pitchFamily="49" charset="-122"/>
              </a:rPr>
              <a:t>，</a:t>
            </a:r>
            <a:r>
              <a:rPr lang="en-US" altLang="zh-CN" dirty="0">
                <a:latin typeface="微软雅黑" pitchFamily="34" charset="-122"/>
                <a:ea typeface="微软雅黑" pitchFamily="34" charset="-122"/>
                <a:cs typeface="经典粗黑简" pitchFamily="49" charset="-122"/>
              </a:rPr>
              <a:t>j</a:t>
            </a:r>
            <a:r>
              <a:rPr lang="zh-CN" altLang="en-US" dirty="0">
                <a:latin typeface="微软雅黑" pitchFamily="34" charset="-122"/>
                <a:ea typeface="微软雅黑" pitchFamily="34" charset="-122"/>
                <a:cs typeface="经典粗黑简" pitchFamily="49" charset="-122"/>
              </a:rPr>
              <a:t>）均可在</a:t>
            </a:r>
            <a:r>
              <a:rPr lang="en-US" altLang="zh-CN" dirty="0">
                <a:latin typeface="微软雅黑" pitchFamily="34" charset="-122"/>
                <a:ea typeface="微软雅黑" pitchFamily="34" charset="-122"/>
                <a:cs typeface="经典粗黑简" pitchFamily="49" charset="-122"/>
              </a:rPr>
              <a:t>B</a:t>
            </a:r>
            <a:r>
              <a:rPr lang="zh-CN" altLang="en-US" dirty="0">
                <a:latin typeface="微软雅黑" pitchFamily="34" charset="-122"/>
                <a:ea typeface="微软雅黑" pitchFamily="34" charset="-122"/>
                <a:cs typeface="经典粗黑简" pitchFamily="49" charset="-122"/>
              </a:rPr>
              <a:t>中找到矩阵元</a:t>
            </a:r>
            <a:r>
              <a:rPr lang="en-US" altLang="zh-CN" dirty="0" err="1">
                <a:latin typeface="微软雅黑" pitchFamily="34" charset="-122"/>
                <a:ea typeface="微软雅黑" pitchFamily="34" charset="-122"/>
                <a:cs typeface="经典粗黑简" pitchFamily="49" charset="-122"/>
              </a:rPr>
              <a:t>a</a:t>
            </a:r>
            <a:r>
              <a:rPr lang="en-US" altLang="zh-CN" baseline="-25000" dirty="0" err="1">
                <a:latin typeface="微软雅黑" pitchFamily="34" charset="-122"/>
                <a:ea typeface="微软雅黑" pitchFamily="34" charset="-122"/>
                <a:cs typeface="经典粗黑简" pitchFamily="49" charset="-122"/>
              </a:rPr>
              <a:t>ij</a:t>
            </a:r>
            <a:r>
              <a:rPr lang="zh-CN" altLang="en-US" dirty="0">
                <a:latin typeface="微软雅黑" pitchFamily="34" charset="-122"/>
                <a:ea typeface="微软雅黑" pitchFamily="34" charset="-122"/>
                <a:cs typeface="经典粗黑简" pitchFamily="49" charset="-122"/>
              </a:rPr>
              <a:t>，反之，对所有的</a:t>
            </a:r>
            <a:r>
              <a:rPr lang="en-US" altLang="zh-CN" dirty="0">
                <a:latin typeface="微软雅黑" pitchFamily="34" charset="-122"/>
                <a:ea typeface="微软雅黑" pitchFamily="34" charset="-122"/>
                <a:cs typeface="经典粗黑简" pitchFamily="49" charset="-122"/>
              </a:rPr>
              <a:t>k=0,1</a:t>
            </a:r>
            <a:r>
              <a:rPr lang="zh-CN" altLang="en-US" dirty="0">
                <a:latin typeface="微软雅黑" pitchFamily="34" charset="-122"/>
                <a:ea typeface="微软雅黑" pitchFamily="34" charset="-122"/>
                <a:cs typeface="经典粗黑简" pitchFamily="49" charset="-122"/>
              </a:rPr>
              <a:t>，</a:t>
            </a:r>
            <a:r>
              <a:rPr lang="en-US" altLang="zh-CN" dirty="0">
                <a:latin typeface="微软雅黑" pitchFamily="34" charset="-122"/>
                <a:ea typeface="微软雅黑" pitchFamily="34" charset="-122"/>
                <a:cs typeface="经典粗黑简" pitchFamily="49" charset="-122"/>
              </a:rPr>
              <a:t> ……</a:t>
            </a:r>
            <a:r>
              <a:rPr lang="zh-CN" altLang="en-US" dirty="0">
                <a:latin typeface="微软雅黑" pitchFamily="34" charset="-122"/>
                <a:ea typeface="微软雅黑" pitchFamily="34" charset="-122"/>
                <a:cs typeface="经典粗黑简" pitchFamily="49" charset="-122"/>
              </a:rPr>
              <a:t>，</a:t>
            </a:r>
            <a:r>
              <a:rPr lang="en-US" altLang="zh-CN" dirty="0">
                <a:latin typeface="微软雅黑" pitchFamily="34" charset="-122"/>
                <a:ea typeface="微软雅黑" pitchFamily="34" charset="-122"/>
                <a:cs typeface="经典粗黑简" pitchFamily="49" charset="-122"/>
              </a:rPr>
              <a:t> n(n+1)/2-1</a:t>
            </a:r>
            <a:r>
              <a:rPr lang="zh-CN" altLang="en-US" dirty="0">
                <a:latin typeface="微软雅黑" pitchFamily="34" charset="-122"/>
                <a:ea typeface="微软雅黑" pitchFamily="34" charset="-122"/>
                <a:cs typeface="经典粗黑简" pitchFamily="49" charset="-122"/>
              </a:rPr>
              <a:t>，都能确定</a:t>
            </a:r>
            <a:r>
              <a:rPr lang="en-US" altLang="zh-CN" dirty="0">
                <a:latin typeface="微软雅黑" pitchFamily="34" charset="-122"/>
                <a:ea typeface="微软雅黑" pitchFamily="34" charset="-122"/>
                <a:cs typeface="经典粗黑简" pitchFamily="49" charset="-122"/>
              </a:rPr>
              <a:t>B[k]</a:t>
            </a:r>
            <a:r>
              <a:rPr lang="zh-CN" altLang="en-US" dirty="0">
                <a:latin typeface="微软雅黑" pitchFamily="34" charset="-122"/>
                <a:ea typeface="微软雅黑" pitchFamily="34" charset="-122"/>
                <a:cs typeface="经典粗黑简" pitchFamily="49" charset="-122"/>
              </a:rPr>
              <a:t>中的元在矩阵中的位置，由此称</a:t>
            </a:r>
            <a:r>
              <a:rPr lang="en-US" altLang="zh-CN" dirty="0">
                <a:latin typeface="微软雅黑" pitchFamily="34" charset="-122"/>
                <a:ea typeface="微软雅黑" pitchFamily="34" charset="-122"/>
                <a:cs typeface="经典粗黑简" pitchFamily="49" charset="-122"/>
              </a:rPr>
              <a:t>B</a:t>
            </a:r>
            <a:r>
              <a:rPr lang="zh-CN" altLang="en-US" dirty="0">
                <a:latin typeface="微软雅黑" pitchFamily="34" charset="-122"/>
                <a:ea typeface="微软雅黑" pitchFamily="34" charset="-122"/>
                <a:cs typeface="经典粗黑简" pitchFamily="49" charset="-122"/>
              </a:rPr>
              <a:t>为</a:t>
            </a:r>
            <a:r>
              <a:rPr lang="en-US" altLang="zh-CN" dirty="0">
                <a:latin typeface="微软雅黑" pitchFamily="34" charset="-122"/>
                <a:ea typeface="微软雅黑" pitchFamily="34" charset="-122"/>
                <a:cs typeface="经典粗黑简" pitchFamily="49" charset="-122"/>
              </a:rPr>
              <a:t>n</a:t>
            </a:r>
            <a:r>
              <a:rPr lang="zh-CN" altLang="en-US" dirty="0">
                <a:latin typeface="微软雅黑" pitchFamily="34" charset="-122"/>
                <a:ea typeface="微软雅黑" pitchFamily="34" charset="-122"/>
                <a:cs typeface="经典粗黑简" pitchFamily="49" charset="-122"/>
              </a:rPr>
              <a:t>阶对称矩阵</a:t>
            </a:r>
            <a:r>
              <a:rPr lang="en-US" altLang="zh-CN" dirty="0">
                <a:latin typeface="微软雅黑" pitchFamily="34" charset="-122"/>
                <a:ea typeface="微软雅黑" pitchFamily="34" charset="-122"/>
                <a:cs typeface="经典粗黑简" pitchFamily="49" charset="-122"/>
              </a:rPr>
              <a:t>A</a:t>
            </a:r>
            <a:r>
              <a:rPr lang="zh-CN" altLang="en-US" dirty="0">
                <a:latin typeface="微软雅黑" pitchFamily="34" charset="-122"/>
                <a:ea typeface="微软雅黑" pitchFamily="34" charset="-122"/>
                <a:cs typeface="经典粗黑简" pitchFamily="49" charset="-122"/>
              </a:rPr>
              <a:t>的压缩存储。</a:t>
            </a:r>
            <a:endParaRPr lang="zh-CN" altLang="zh-CN" dirty="0">
              <a:latin typeface="微软雅黑" pitchFamily="34" charset="-122"/>
              <a:ea typeface="微软雅黑" pitchFamily="34" charset="-122"/>
              <a:cs typeface="经典粗黑简" pitchFamily="49" charset="-122"/>
            </a:endParaRPr>
          </a:p>
        </p:txBody>
      </p:sp>
      <p:sp>
        <p:nvSpPr>
          <p:cNvPr id="91" name="矩形 90">
            <a:extLst>
              <a:ext uri="{FF2B5EF4-FFF2-40B4-BE49-F238E27FC236}">
                <a16:creationId xmlns:a16="http://schemas.microsoft.com/office/drawing/2014/main" id="{9768AC8E-8BBD-4CB3-F39A-BD0D735E5A99}"/>
              </a:ext>
            </a:extLst>
          </p:cNvPr>
          <p:cNvSpPr/>
          <p:nvPr/>
        </p:nvSpPr>
        <p:spPr>
          <a:xfrm>
            <a:off x="1068268" y="2504575"/>
            <a:ext cx="4155766" cy="1990738"/>
          </a:xfrm>
          <a:prstGeom prst="rect">
            <a:avLst/>
          </a:prstGeom>
        </p:spPr>
        <p:txBody>
          <a:bodyPr wrap="square">
            <a:spAutoFit/>
          </a:bodyPr>
          <a:lstStyle/>
          <a:p>
            <a:pPr>
              <a:lnSpc>
                <a:spcPts val="2500"/>
              </a:lnSpc>
            </a:pPr>
            <a:r>
              <a:rPr lang="en-US" altLang="zh-CN" dirty="0">
                <a:latin typeface="微软雅黑" pitchFamily="34" charset="-122"/>
                <a:ea typeface="微软雅黑" pitchFamily="34" charset="-122"/>
                <a:cs typeface="经典粗黑简" pitchFamily="49" charset="-122"/>
              </a:rPr>
              <a:t>(1)</a:t>
            </a:r>
            <a:r>
              <a:rPr lang="zh-CN" altLang="zh-CN" dirty="0">
                <a:latin typeface="微软雅黑" pitchFamily="34" charset="-122"/>
                <a:ea typeface="微软雅黑" pitchFamily="34" charset="-122"/>
                <a:cs typeface="经典粗黑简" pitchFamily="49" charset="-122"/>
              </a:rPr>
              <a:t>对称矩阵</a:t>
            </a:r>
            <a:r>
              <a:rPr lang="zh-CN" altLang="en-US" dirty="0">
                <a:latin typeface="微软雅黑" pitchFamily="34" charset="-122"/>
                <a:ea typeface="微软雅黑" pitchFamily="34" charset="-122"/>
                <a:cs typeface="经典粗黑简" pitchFamily="49" charset="-122"/>
              </a:rPr>
              <a:t>：</a:t>
            </a:r>
            <a:r>
              <a:rPr lang="zh-CN" altLang="zh-CN" dirty="0">
                <a:latin typeface="微软雅黑" pitchFamily="34" charset="-122"/>
                <a:ea typeface="微软雅黑" pitchFamily="34" charset="-122"/>
                <a:cs typeface="经典粗黑简" pitchFamily="49" charset="-122"/>
              </a:rPr>
              <a:t>在一个</a:t>
            </a:r>
            <a:r>
              <a:rPr lang="en-US" altLang="zh-CN" dirty="0">
                <a:latin typeface="微软雅黑" pitchFamily="34" charset="-122"/>
                <a:ea typeface="微软雅黑" pitchFamily="34" charset="-122"/>
                <a:cs typeface="经典粗黑简" pitchFamily="49" charset="-122"/>
              </a:rPr>
              <a:t>n</a:t>
            </a:r>
            <a:r>
              <a:rPr lang="zh-CN" altLang="zh-CN" dirty="0">
                <a:latin typeface="微软雅黑" pitchFamily="34" charset="-122"/>
                <a:ea typeface="微软雅黑" pitchFamily="34" charset="-122"/>
                <a:cs typeface="经典粗黑简" pitchFamily="49" charset="-122"/>
              </a:rPr>
              <a:t>阶方阵中，有</a:t>
            </a:r>
            <a:r>
              <a:rPr lang="en-US" altLang="zh-CN" dirty="0" err="1">
                <a:latin typeface="微软雅黑" pitchFamily="34" charset="-122"/>
                <a:ea typeface="微软雅黑" pitchFamily="34" charset="-122"/>
                <a:cs typeface="经典粗黑简" pitchFamily="49" charset="-122"/>
              </a:rPr>
              <a:t>a</a:t>
            </a:r>
            <a:r>
              <a:rPr lang="en-US" altLang="zh-CN" baseline="-25000" dirty="0" err="1">
                <a:latin typeface="微软雅黑" pitchFamily="34" charset="-122"/>
                <a:ea typeface="微软雅黑" pitchFamily="34" charset="-122"/>
                <a:cs typeface="经典粗黑简" pitchFamily="49" charset="-122"/>
              </a:rPr>
              <a:t>ij</a:t>
            </a:r>
            <a:r>
              <a:rPr lang="en-US" altLang="zh-CN" dirty="0">
                <a:latin typeface="微软雅黑" pitchFamily="34" charset="-122"/>
                <a:ea typeface="微软雅黑" pitchFamily="34" charset="-122"/>
                <a:cs typeface="经典粗黑简" pitchFamily="49" charset="-122"/>
              </a:rPr>
              <a:t>=</a:t>
            </a:r>
            <a:r>
              <a:rPr lang="en-US" altLang="zh-CN" dirty="0" err="1">
                <a:latin typeface="微软雅黑" pitchFamily="34" charset="-122"/>
                <a:ea typeface="微软雅黑" pitchFamily="34" charset="-122"/>
                <a:cs typeface="经典粗黑简" pitchFamily="49" charset="-122"/>
              </a:rPr>
              <a:t>a</a:t>
            </a:r>
            <a:r>
              <a:rPr lang="en-US" altLang="zh-CN" baseline="-25000" dirty="0" err="1">
                <a:latin typeface="微软雅黑" pitchFamily="34" charset="-122"/>
                <a:ea typeface="微软雅黑" pitchFamily="34" charset="-122"/>
                <a:cs typeface="经典粗黑简" pitchFamily="49" charset="-122"/>
              </a:rPr>
              <a:t>ji</a:t>
            </a:r>
            <a:r>
              <a:rPr lang="zh-CN" altLang="zh-CN" dirty="0">
                <a:latin typeface="微软雅黑" pitchFamily="34" charset="-122"/>
                <a:ea typeface="微软雅黑" pitchFamily="34" charset="-122"/>
                <a:cs typeface="经典粗黑简" pitchFamily="49" charset="-122"/>
              </a:rPr>
              <a:t>，且</a:t>
            </a:r>
            <a:r>
              <a:rPr lang="en-US" altLang="zh-CN" dirty="0">
                <a:latin typeface="微软雅黑" pitchFamily="34" charset="-122"/>
                <a:ea typeface="微软雅黑" pitchFamily="34" charset="-122"/>
                <a:cs typeface="经典粗黑简" pitchFamily="49" charset="-122"/>
              </a:rPr>
              <a:t>0</a:t>
            </a:r>
            <a:r>
              <a:rPr lang="zh-CN" altLang="zh-CN" dirty="0">
                <a:latin typeface="微软雅黑" pitchFamily="34" charset="-122"/>
                <a:ea typeface="微软雅黑" pitchFamily="34" charset="-122"/>
                <a:cs typeface="经典粗黑简" pitchFamily="49" charset="-122"/>
              </a:rPr>
              <a:t>≤</a:t>
            </a:r>
            <a:r>
              <a:rPr lang="en-US" altLang="zh-CN" dirty="0" err="1">
                <a:latin typeface="微软雅黑" pitchFamily="34" charset="-122"/>
                <a:ea typeface="微软雅黑" pitchFamily="34" charset="-122"/>
                <a:cs typeface="经典粗黑简" pitchFamily="49" charset="-122"/>
              </a:rPr>
              <a:t>i,j</a:t>
            </a:r>
            <a:r>
              <a:rPr lang="zh-CN" altLang="zh-CN" dirty="0">
                <a:latin typeface="微软雅黑" pitchFamily="34" charset="-122"/>
                <a:ea typeface="微软雅黑" pitchFamily="34" charset="-122"/>
                <a:cs typeface="经典粗黑简" pitchFamily="49" charset="-122"/>
              </a:rPr>
              <a:t>≤</a:t>
            </a:r>
            <a:r>
              <a:rPr lang="en-US" altLang="zh-CN" dirty="0">
                <a:latin typeface="微软雅黑" pitchFamily="34" charset="-122"/>
                <a:ea typeface="微软雅黑" pitchFamily="34" charset="-122"/>
                <a:cs typeface="经典粗黑简" pitchFamily="49" charset="-122"/>
              </a:rPr>
              <a:t>n-1</a:t>
            </a:r>
            <a:r>
              <a:rPr lang="zh-CN" altLang="zh-CN" dirty="0">
                <a:latin typeface="微软雅黑" pitchFamily="34" charset="-122"/>
                <a:ea typeface="微软雅黑" pitchFamily="34" charset="-122"/>
                <a:cs typeface="经典粗黑简" pitchFamily="49" charset="-122"/>
              </a:rPr>
              <a:t>。对称矩阵关于主对角线对称，因此只需存储上三角或下三角部分即可。原来需要</a:t>
            </a:r>
            <a:r>
              <a:rPr lang="en-US" altLang="zh-CN" dirty="0">
                <a:latin typeface="微软雅黑" pitchFamily="34" charset="-122"/>
                <a:ea typeface="微软雅黑" pitchFamily="34" charset="-122"/>
                <a:cs typeface="经典粗黑简" pitchFamily="49" charset="-122"/>
              </a:rPr>
              <a:t>n*n</a:t>
            </a:r>
            <a:r>
              <a:rPr lang="zh-CN" altLang="zh-CN" dirty="0">
                <a:latin typeface="微软雅黑" pitchFamily="34" charset="-122"/>
                <a:ea typeface="微软雅黑" pitchFamily="34" charset="-122"/>
                <a:cs typeface="经典粗黑简" pitchFamily="49" charset="-122"/>
              </a:rPr>
              <a:t>个存储单元，现在只需要</a:t>
            </a:r>
            <a:r>
              <a:rPr lang="en-US" altLang="zh-CN" dirty="0">
                <a:latin typeface="微软雅黑" pitchFamily="34" charset="-122"/>
                <a:ea typeface="微软雅黑" pitchFamily="34" charset="-122"/>
                <a:cs typeface="经典粗黑简" pitchFamily="49" charset="-122"/>
              </a:rPr>
              <a:t>n(n+1)/2</a:t>
            </a:r>
            <a:r>
              <a:rPr lang="zh-CN" altLang="zh-CN" dirty="0">
                <a:latin typeface="微软雅黑" pitchFamily="34" charset="-122"/>
                <a:ea typeface="微软雅黑" pitchFamily="34" charset="-122"/>
                <a:cs typeface="经典粗黑简" pitchFamily="49" charset="-122"/>
              </a:rPr>
              <a:t>个存储单元了，节约了</a:t>
            </a:r>
            <a:r>
              <a:rPr lang="en-US" altLang="zh-CN" dirty="0">
                <a:latin typeface="微软雅黑" pitchFamily="34" charset="-122"/>
                <a:ea typeface="微软雅黑" pitchFamily="34" charset="-122"/>
                <a:cs typeface="经典粗黑简" pitchFamily="49" charset="-122"/>
              </a:rPr>
              <a:t>n(n-1)/2</a:t>
            </a:r>
            <a:r>
              <a:rPr lang="zh-CN" altLang="zh-CN" dirty="0">
                <a:latin typeface="微软雅黑" pitchFamily="34" charset="-122"/>
                <a:ea typeface="微软雅黑" pitchFamily="34" charset="-122"/>
                <a:cs typeface="经典粗黑简" pitchFamily="49" charset="-122"/>
              </a:rPr>
              <a:t>个存储单元。</a:t>
            </a:r>
          </a:p>
        </p:txBody>
      </p:sp>
      <p:sp>
        <p:nvSpPr>
          <p:cNvPr id="92" name="Text Box 7">
            <a:extLst>
              <a:ext uri="{FF2B5EF4-FFF2-40B4-BE49-F238E27FC236}">
                <a16:creationId xmlns:a16="http://schemas.microsoft.com/office/drawing/2014/main" id="{CE90A0FF-068D-5C99-6D37-4AA4F087FBE5}"/>
              </a:ext>
            </a:extLst>
          </p:cNvPr>
          <p:cNvSpPr txBox="1">
            <a:spLocks noChangeArrowheads="1"/>
          </p:cNvSpPr>
          <p:nvPr/>
        </p:nvSpPr>
        <p:spPr bwMode="auto">
          <a:xfrm flipH="1">
            <a:off x="1081837" y="5104402"/>
            <a:ext cx="487549"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lang="en-US" altLang="zh-CN" sz="2000" dirty="0">
                <a:latin typeface="微软雅黑" pitchFamily="34" charset="-122"/>
                <a:ea typeface="微软雅黑" pitchFamily="34" charset="-122"/>
                <a:cs typeface="经典粗黑简" pitchFamily="49" charset="-122"/>
              </a:rPr>
              <a:t>B</a:t>
            </a:r>
          </a:p>
        </p:txBody>
      </p:sp>
      <p:graphicFrame>
        <p:nvGraphicFramePr>
          <p:cNvPr id="93" name="表格 92">
            <a:extLst>
              <a:ext uri="{FF2B5EF4-FFF2-40B4-BE49-F238E27FC236}">
                <a16:creationId xmlns:a16="http://schemas.microsoft.com/office/drawing/2014/main" id="{69659019-BF31-5D7E-834D-379566711850}"/>
              </a:ext>
            </a:extLst>
          </p:cNvPr>
          <p:cNvGraphicFramePr>
            <a:graphicFrameLocks noGrp="1"/>
          </p:cNvGraphicFramePr>
          <p:nvPr>
            <p:extLst>
              <p:ext uri="{D42A27DB-BD31-4B8C-83A1-F6EECF244321}">
                <p14:modId xmlns:p14="http://schemas.microsoft.com/office/powerpoint/2010/main" val="2236893846"/>
              </p:ext>
            </p:extLst>
          </p:nvPr>
        </p:nvGraphicFramePr>
        <p:xfrm>
          <a:off x="1569384" y="5106337"/>
          <a:ext cx="9480810" cy="396240"/>
        </p:xfrm>
        <a:graphic>
          <a:graphicData uri="http://schemas.openxmlformats.org/drawingml/2006/table">
            <a:tbl>
              <a:tblPr firstRow="1" bandRow="1">
                <a:tableStyleId>{5940675A-B579-460E-94D1-54222C63F5DA}</a:tableStyleId>
              </a:tblPr>
              <a:tblGrid>
                <a:gridCol w="948081">
                  <a:extLst>
                    <a:ext uri="{9D8B030D-6E8A-4147-A177-3AD203B41FA5}">
                      <a16:colId xmlns:a16="http://schemas.microsoft.com/office/drawing/2014/main" val="20000"/>
                    </a:ext>
                  </a:extLst>
                </a:gridCol>
                <a:gridCol w="948081">
                  <a:extLst>
                    <a:ext uri="{9D8B030D-6E8A-4147-A177-3AD203B41FA5}">
                      <a16:colId xmlns:a16="http://schemas.microsoft.com/office/drawing/2014/main" val="20001"/>
                    </a:ext>
                  </a:extLst>
                </a:gridCol>
                <a:gridCol w="948081">
                  <a:extLst>
                    <a:ext uri="{9D8B030D-6E8A-4147-A177-3AD203B41FA5}">
                      <a16:colId xmlns:a16="http://schemas.microsoft.com/office/drawing/2014/main" val="20002"/>
                    </a:ext>
                  </a:extLst>
                </a:gridCol>
                <a:gridCol w="948081">
                  <a:extLst>
                    <a:ext uri="{9D8B030D-6E8A-4147-A177-3AD203B41FA5}">
                      <a16:colId xmlns:a16="http://schemas.microsoft.com/office/drawing/2014/main" val="20003"/>
                    </a:ext>
                  </a:extLst>
                </a:gridCol>
                <a:gridCol w="948081">
                  <a:extLst>
                    <a:ext uri="{9D8B030D-6E8A-4147-A177-3AD203B41FA5}">
                      <a16:colId xmlns:a16="http://schemas.microsoft.com/office/drawing/2014/main" val="20004"/>
                    </a:ext>
                  </a:extLst>
                </a:gridCol>
                <a:gridCol w="948081">
                  <a:extLst>
                    <a:ext uri="{9D8B030D-6E8A-4147-A177-3AD203B41FA5}">
                      <a16:colId xmlns:a16="http://schemas.microsoft.com/office/drawing/2014/main" val="20005"/>
                    </a:ext>
                  </a:extLst>
                </a:gridCol>
                <a:gridCol w="948081">
                  <a:extLst>
                    <a:ext uri="{9D8B030D-6E8A-4147-A177-3AD203B41FA5}">
                      <a16:colId xmlns:a16="http://schemas.microsoft.com/office/drawing/2014/main" val="20006"/>
                    </a:ext>
                  </a:extLst>
                </a:gridCol>
                <a:gridCol w="948081">
                  <a:extLst>
                    <a:ext uri="{9D8B030D-6E8A-4147-A177-3AD203B41FA5}">
                      <a16:colId xmlns:a16="http://schemas.microsoft.com/office/drawing/2014/main" val="20007"/>
                    </a:ext>
                  </a:extLst>
                </a:gridCol>
                <a:gridCol w="948081">
                  <a:extLst>
                    <a:ext uri="{9D8B030D-6E8A-4147-A177-3AD203B41FA5}">
                      <a16:colId xmlns:a16="http://schemas.microsoft.com/office/drawing/2014/main" val="20008"/>
                    </a:ext>
                  </a:extLst>
                </a:gridCol>
                <a:gridCol w="948081">
                  <a:extLst>
                    <a:ext uri="{9D8B030D-6E8A-4147-A177-3AD203B41FA5}">
                      <a16:colId xmlns:a16="http://schemas.microsoft.com/office/drawing/2014/main" val="20009"/>
                    </a:ext>
                  </a:extLst>
                </a:gridCol>
              </a:tblGrid>
              <a:tr h="370840">
                <a:tc>
                  <a:txBody>
                    <a:bodyPr/>
                    <a:lstStyle/>
                    <a:p>
                      <a:r>
                        <a:rPr lang="en-US" altLang="zh-CN" sz="1800" i="1" dirty="0">
                          <a:latin typeface="Consolas" pitchFamily="49" charset="0"/>
                          <a:cs typeface="Consolas" pitchFamily="49" charset="0"/>
                        </a:rPr>
                        <a:t>a</a:t>
                      </a:r>
                      <a:r>
                        <a:rPr lang="en-US" altLang="zh-CN" sz="1800" baseline="-25000" dirty="0">
                          <a:latin typeface="Consolas" pitchFamily="49" charset="0"/>
                          <a:cs typeface="Consolas" pitchFamily="49" charset="0"/>
                        </a:rPr>
                        <a:t>0,0</a:t>
                      </a:r>
                      <a:endParaRPr lang="zh-CN" altLang="en-US" sz="1800" baseline="-25000" dirty="0">
                        <a:latin typeface="Consolas" pitchFamily="49" charset="0"/>
                        <a:cs typeface="Consolas"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i="1" dirty="0">
                          <a:latin typeface="Consolas" pitchFamily="49" charset="0"/>
                          <a:cs typeface="Consolas" pitchFamily="49" charset="0"/>
                        </a:rPr>
                        <a:t>a</a:t>
                      </a:r>
                      <a:r>
                        <a:rPr lang="en-US" altLang="zh-CN" sz="1800" baseline="-25000" dirty="0">
                          <a:latin typeface="Consolas" pitchFamily="49" charset="0"/>
                          <a:cs typeface="Consolas" pitchFamily="49" charset="0"/>
                        </a:rPr>
                        <a:t>1,0</a:t>
                      </a:r>
                      <a:endParaRPr lang="zh-CN" altLang="en-US" sz="1800" baseline="-25000" dirty="0">
                        <a:latin typeface="Consolas" pitchFamily="49" charset="0"/>
                        <a:cs typeface="Consolas"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i="1" dirty="0">
                          <a:latin typeface="Consolas" pitchFamily="49" charset="0"/>
                          <a:cs typeface="Consolas" pitchFamily="49" charset="0"/>
                        </a:rPr>
                        <a:t>a</a:t>
                      </a:r>
                      <a:r>
                        <a:rPr lang="en-US" altLang="zh-CN" sz="1800" baseline="-25000" dirty="0">
                          <a:latin typeface="Consolas" pitchFamily="49" charset="0"/>
                          <a:cs typeface="Consolas" pitchFamily="49" charset="0"/>
                        </a:rPr>
                        <a:t>1,1</a:t>
                      </a:r>
                      <a:endParaRPr lang="zh-CN" altLang="en-US" sz="1800" baseline="-25000" dirty="0">
                        <a:latin typeface="Consolas" pitchFamily="49" charset="0"/>
                        <a:cs typeface="Consolas" pitchFamily="49" charset="0"/>
                      </a:endParaRPr>
                    </a:p>
                  </a:txBody>
                  <a:tcPr/>
                </a:tc>
                <a:tc>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a:t>……</a:t>
                      </a:r>
                      <a:endParaRPr lang="zh-CN" alt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1800" dirty="0" err="1">
                          <a:latin typeface="Tahoma" pitchFamily="34" charset="0"/>
                          <a:ea typeface="楷体_GB2312" pitchFamily="49" charset="-122"/>
                        </a:rPr>
                        <a:t>a</a:t>
                      </a:r>
                      <a:r>
                        <a:rPr kumimoji="1" lang="en-US" altLang="zh-CN" sz="1800" baseline="-20000" dirty="0" err="1">
                          <a:latin typeface="Tahoma" pitchFamily="34" charset="0"/>
                          <a:ea typeface="楷体_GB2312" pitchFamily="49" charset="-122"/>
                        </a:rPr>
                        <a:t>i</a:t>
                      </a:r>
                      <a:r>
                        <a:rPr kumimoji="1" lang="en-US" altLang="zh-CN" sz="1800" baseline="-10000" dirty="0" err="1">
                          <a:latin typeface="Tahoma" pitchFamily="34" charset="0"/>
                          <a:ea typeface="楷体_GB2312" pitchFamily="49" charset="-122"/>
                        </a:rPr>
                        <a:t>,</a:t>
                      </a:r>
                      <a:r>
                        <a:rPr kumimoji="1" lang="en-US" altLang="zh-CN" sz="1800" baseline="-20000" dirty="0" err="1">
                          <a:latin typeface="Tahoma" pitchFamily="34" charset="0"/>
                          <a:ea typeface="楷体_GB2312" pitchFamily="49" charset="-122"/>
                        </a:rPr>
                        <a:t>j</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t>……</a:t>
                      </a:r>
                      <a:endParaRPr lang="zh-CN" altLang="en-US"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i="1" dirty="0">
                          <a:latin typeface="Consolas" pitchFamily="49" charset="0"/>
                          <a:cs typeface="Consolas" pitchFamily="49" charset="0"/>
                        </a:rPr>
                        <a:t>a</a:t>
                      </a:r>
                      <a:r>
                        <a:rPr lang="en-US" altLang="zh-CN" sz="1800" i="1" baseline="-25000" dirty="0">
                          <a:latin typeface="Consolas" pitchFamily="49" charset="0"/>
                          <a:cs typeface="Consolas" pitchFamily="49" charset="0"/>
                        </a:rPr>
                        <a:t>n</a:t>
                      </a:r>
                      <a:r>
                        <a:rPr lang="en-US" altLang="zh-CN" sz="1800" baseline="-25000" dirty="0">
                          <a:latin typeface="Consolas" pitchFamily="49" charset="0"/>
                          <a:cs typeface="Consolas" pitchFamily="49" charset="0"/>
                        </a:rPr>
                        <a:t>-1,0</a:t>
                      </a:r>
                      <a:endParaRPr lang="zh-CN" altLang="en-US" sz="1800" baseline="-25000" dirty="0">
                        <a:latin typeface="Consolas" pitchFamily="49" charset="0"/>
                        <a:cs typeface="Consolas" pitchFamily="49"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t>……</a:t>
                      </a:r>
                      <a:endParaRPr lang="zh-CN" altLang="en-US"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i="1" dirty="0">
                          <a:latin typeface="Consolas" pitchFamily="49" charset="0"/>
                          <a:cs typeface="Consolas" pitchFamily="49" charset="0"/>
                        </a:rPr>
                        <a:t>a</a:t>
                      </a:r>
                      <a:r>
                        <a:rPr lang="en-US" altLang="zh-CN" sz="1800" i="1" baseline="-25000" dirty="0">
                          <a:latin typeface="Consolas" pitchFamily="49" charset="0"/>
                          <a:cs typeface="Consolas" pitchFamily="49" charset="0"/>
                        </a:rPr>
                        <a:t>n</a:t>
                      </a:r>
                      <a:r>
                        <a:rPr lang="en-US" altLang="zh-CN" sz="1800" baseline="-25000" dirty="0">
                          <a:latin typeface="Consolas" pitchFamily="49" charset="0"/>
                          <a:cs typeface="Consolas" pitchFamily="49" charset="0"/>
                        </a:rPr>
                        <a:t>-1,</a:t>
                      </a:r>
                      <a:r>
                        <a:rPr lang="en-US" altLang="zh-CN" sz="1800" i="1" baseline="-25000" dirty="0">
                          <a:latin typeface="Consolas" pitchFamily="49" charset="0"/>
                          <a:cs typeface="Consolas" pitchFamily="49" charset="0"/>
                        </a:rPr>
                        <a:t>n</a:t>
                      </a:r>
                      <a:r>
                        <a:rPr lang="en-US" altLang="zh-CN" sz="1800" baseline="-25000" dirty="0">
                          <a:latin typeface="Consolas" pitchFamily="49" charset="0"/>
                          <a:cs typeface="Consolas" pitchFamily="49" charset="0"/>
                        </a:rPr>
                        <a:t>-1</a:t>
                      </a:r>
                      <a:endParaRPr lang="zh-CN" altLang="en-US" sz="1800" baseline="-25000" dirty="0">
                        <a:latin typeface="Consolas" pitchFamily="49" charset="0"/>
                        <a:cs typeface="Consolas" pitchFamily="49" charset="0"/>
                      </a:endParaRPr>
                    </a:p>
                  </a:txBody>
                  <a:tcPr/>
                </a:tc>
                <a:extLst>
                  <a:ext uri="{0D108BD9-81ED-4DB2-BD59-A6C34878D82A}">
                    <a16:rowId xmlns:a16="http://schemas.microsoft.com/office/drawing/2014/main" val="10000"/>
                  </a:ext>
                </a:extLst>
              </a:tr>
            </a:tbl>
          </a:graphicData>
        </a:graphic>
      </p:graphicFrame>
      <p:graphicFrame>
        <p:nvGraphicFramePr>
          <p:cNvPr id="94" name="表格 93">
            <a:extLst>
              <a:ext uri="{FF2B5EF4-FFF2-40B4-BE49-F238E27FC236}">
                <a16:creationId xmlns:a16="http://schemas.microsoft.com/office/drawing/2014/main" id="{960A3254-7C35-42C4-DB25-C1AE14AC8E27}"/>
              </a:ext>
            </a:extLst>
          </p:cNvPr>
          <p:cNvGraphicFramePr>
            <a:graphicFrameLocks noGrp="1"/>
          </p:cNvGraphicFramePr>
          <p:nvPr>
            <p:extLst>
              <p:ext uri="{D42A27DB-BD31-4B8C-83A1-F6EECF244321}">
                <p14:modId xmlns:p14="http://schemas.microsoft.com/office/powerpoint/2010/main" val="2119356826"/>
              </p:ext>
            </p:extLst>
          </p:nvPr>
        </p:nvGraphicFramePr>
        <p:xfrm>
          <a:off x="1569383" y="5504512"/>
          <a:ext cx="9480811" cy="396240"/>
        </p:xfrm>
        <a:graphic>
          <a:graphicData uri="http://schemas.openxmlformats.org/drawingml/2006/table">
            <a:tbl>
              <a:tblPr firstRow="1" bandRow="1">
                <a:tableStyleId>{2D5ABB26-0587-4C30-8999-92F81FD0307C}</a:tableStyleId>
              </a:tblPr>
              <a:tblGrid>
                <a:gridCol w="889455">
                  <a:extLst>
                    <a:ext uri="{9D8B030D-6E8A-4147-A177-3AD203B41FA5}">
                      <a16:colId xmlns:a16="http://schemas.microsoft.com/office/drawing/2014/main" val="20000"/>
                    </a:ext>
                  </a:extLst>
                </a:gridCol>
                <a:gridCol w="899095">
                  <a:extLst>
                    <a:ext uri="{9D8B030D-6E8A-4147-A177-3AD203B41FA5}">
                      <a16:colId xmlns:a16="http://schemas.microsoft.com/office/drawing/2014/main" val="20001"/>
                    </a:ext>
                  </a:extLst>
                </a:gridCol>
                <a:gridCol w="924071">
                  <a:extLst>
                    <a:ext uri="{9D8B030D-6E8A-4147-A177-3AD203B41FA5}">
                      <a16:colId xmlns:a16="http://schemas.microsoft.com/office/drawing/2014/main" val="20002"/>
                    </a:ext>
                  </a:extLst>
                </a:gridCol>
                <a:gridCol w="899095">
                  <a:extLst>
                    <a:ext uri="{9D8B030D-6E8A-4147-A177-3AD203B41FA5}">
                      <a16:colId xmlns:a16="http://schemas.microsoft.com/office/drawing/2014/main" val="20003"/>
                    </a:ext>
                  </a:extLst>
                </a:gridCol>
                <a:gridCol w="899095">
                  <a:extLst>
                    <a:ext uri="{9D8B030D-6E8A-4147-A177-3AD203B41FA5}">
                      <a16:colId xmlns:a16="http://schemas.microsoft.com/office/drawing/2014/main" val="20004"/>
                    </a:ext>
                  </a:extLst>
                </a:gridCol>
                <a:gridCol w="1248645">
                  <a:extLst>
                    <a:ext uri="{9D8B030D-6E8A-4147-A177-3AD203B41FA5}">
                      <a16:colId xmlns:a16="http://schemas.microsoft.com/office/drawing/2014/main" val="20005"/>
                    </a:ext>
                  </a:extLst>
                </a:gridCol>
                <a:gridCol w="1598391">
                  <a:extLst>
                    <a:ext uri="{9D8B030D-6E8A-4147-A177-3AD203B41FA5}">
                      <a16:colId xmlns:a16="http://schemas.microsoft.com/office/drawing/2014/main" val="20006"/>
                    </a:ext>
                  </a:extLst>
                </a:gridCol>
                <a:gridCol w="362234">
                  <a:extLst>
                    <a:ext uri="{9D8B030D-6E8A-4147-A177-3AD203B41FA5}">
                      <a16:colId xmlns:a16="http://schemas.microsoft.com/office/drawing/2014/main" val="20007"/>
                    </a:ext>
                  </a:extLst>
                </a:gridCol>
                <a:gridCol w="1760730">
                  <a:extLst>
                    <a:ext uri="{9D8B030D-6E8A-4147-A177-3AD203B41FA5}">
                      <a16:colId xmlns:a16="http://schemas.microsoft.com/office/drawing/2014/main" val="20008"/>
                    </a:ext>
                  </a:extLst>
                </a:gridCol>
              </a:tblGrid>
              <a:tr h="370840">
                <a:tc>
                  <a:txBody>
                    <a:bodyPr/>
                    <a:lstStyle/>
                    <a:p>
                      <a:r>
                        <a:rPr kumimoji="1" lang="en-US" altLang="zh-CN" sz="1800" dirty="0"/>
                        <a:t>   0</a:t>
                      </a:r>
                      <a:endParaRPr lang="zh-CN" altLang="en-US" dirty="0"/>
                    </a:p>
                  </a:txBody>
                  <a:tcPr/>
                </a:tc>
                <a:tc>
                  <a:txBody>
                    <a:bodyPr/>
                    <a:lstStyle/>
                    <a:p>
                      <a:r>
                        <a:rPr kumimoji="1" lang="en-US" altLang="zh-CN" sz="1800" dirty="0"/>
                        <a:t>    1 </a:t>
                      </a:r>
                      <a:endParaRPr lang="zh-CN" altLang="en-US" dirty="0"/>
                    </a:p>
                  </a:txBody>
                  <a:tcPr/>
                </a:tc>
                <a:tc>
                  <a:txBody>
                    <a:bodyPr/>
                    <a:lstStyle/>
                    <a:p>
                      <a:r>
                        <a:rPr kumimoji="1" lang="en-US" altLang="zh-CN" sz="1800" dirty="0"/>
                        <a:t>     2</a:t>
                      </a:r>
                      <a:endParaRPr lang="zh-CN" altLang="en-US" dirty="0"/>
                    </a:p>
                  </a:txBody>
                  <a:tcPr/>
                </a:tc>
                <a:tc>
                  <a:txBody>
                    <a:bodyPr/>
                    <a:lstStyle/>
                    <a:p>
                      <a:r>
                        <a:rPr lang="en-US" altLang="zh-CN" dirty="0"/>
                        <a:t>      3</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dirty="0"/>
                        <a:t>   … …</a:t>
                      </a:r>
                      <a:endParaRPr lang="zh-CN" altLang="en-US" sz="2000" dirty="0"/>
                    </a:p>
                  </a:txBody>
                  <a:tcPr/>
                </a:tc>
                <a:tc>
                  <a:txBody>
                    <a:bodyPr/>
                    <a:lstStyle/>
                    <a:p>
                      <a:r>
                        <a:rPr lang="en-US" altLang="zh-CN" i="1" dirty="0"/>
                        <a:t>      k</a:t>
                      </a:r>
                      <a:endParaRPr lang="zh-CN" altLang="en-US" i="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1400" kern="1200" baseline="0" dirty="0">
                          <a:solidFill>
                            <a:schemeClr val="tx1"/>
                          </a:solidFill>
                          <a:latin typeface="Tahoma" pitchFamily="34" charset="0"/>
                          <a:ea typeface="楷体_GB2312" pitchFamily="49" charset="-122"/>
                          <a:cs typeface="+mn-cs"/>
                        </a:rPr>
                        <a:t>             </a:t>
                      </a:r>
                      <a:endParaRPr kumimoji="1" lang="zh-CN" altLang="en-US" sz="1200" kern="1200" dirty="0">
                        <a:solidFill>
                          <a:schemeClr val="tx1"/>
                        </a:solidFill>
                        <a:latin typeface="Tahoma" pitchFamily="34" charset="0"/>
                        <a:ea typeface="楷体_GB2312" pitchFamily="49"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t>…</a:t>
                      </a:r>
                      <a:endParaRPr lang="zh-CN" altLang="en-US"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1400" kern="1200" dirty="0">
                          <a:solidFill>
                            <a:schemeClr val="tx1"/>
                          </a:solidFill>
                          <a:latin typeface="Tahoma" pitchFamily="34" charset="0"/>
                          <a:ea typeface="楷体_GB2312" pitchFamily="49" charset="-122"/>
                          <a:cs typeface="+mn-cs"/>
                        </a:rPr>
                        <a:t>            n(n+1)/2-1</a:t>
                      </a:r>
                      <a:endParaRPr kumimoji="1" lang="zh-CN" altLang="en-US" sz="1400" kern="1200" dirty="0">
                        <a:solidFill>
                          <a:schemeClr val="tx1"/>
                        </a:solidFill>
                        <a:latin typeface="Tahoma" pitchFamily="34" charset="0"/>
                        <a:ea typeface="楷体_GB2312" pitchFamily="49" charset="-122"/>
                        <a:cs typeface="+mn-cs"/>
                      </a:endParaRPr>
                    </a:p>
                  </a:txBody>
                  <a:tcPr/>
                </a:tc>
                <a:extLst>
                  <a:ext uri="{0D108BD9-81ED-4DB2-BD59-A6C34878D82A}">
                    <a16:rowId xmlns:a16="http://schemas.microsoft.com/office/drawing/2014/main" val="10000"/>
                  </a:ext>
                </a:extLst>
              </a:tr>
            </a:tbl>
          </a:graphicData>
        </a:graphic>
      </p:graphicFrame>
      <p:sp>
        <p:nvSpPr>
          <p:cNvPr id="95" name="Text Box 7">
            <a:extLst>
              <a:ext uri="{FF2B5EF4-FFF2-40B4-BE49-F238E27FC236}">
                <a16:creationId xmlns:a16="http://schemas.microsoft.com/office/drawing/2014/main" id="{E14AFD3D-62BB-C986-2CE2-01FBB8465945}"/>
              </a:ext>
            </a:extLst>
          </p:cNvPr>
          <p:cNvSpPr txBox="1">
            <a:spLocks noChangeArrowheads="1"/>
          </p:cNvSpPr>
          <p:nvPr/>
        </p:nvSpPr>
        <p:spPr bwMode="auto">
          <a:xfrm flipH="1">
            <a:off x="1141804" y="5504512"/>
            <a:ext cx="367612"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lang="en-US" altLang="zh-CN" sz="2000" dirty="0">
                <a:latin typeface="微软雅黑" pitchFamily="34" charset="-122"/>
                <a:ea typeface="微软雅黑" pitchFamily="34" charset="-122"/>
                <a:cs typeface="经典粗黑简" pitchFamily="49" charset="-122"/>
              </a:rPr>
              <a:t>k</a:t>
            </a:r>
          </a:p>
        </p:txBody>
      </p:sp>
      <p:grpSp>
        <p:nvGrpSpPr>
          <p:cNvPr id="96" name="组合 43">
            <a:extLst>
              <a:ext uri="{FF2B5EF4-FFF2-40B4-BE49-F238E27FC236}">
                <a16:creationId xmlns:a16="http://schemas.microsoft.com/office/drawing/2014/main" id="{DFFB201F-634A-F1F4-531E-FACA3279E3A5}"/>
              </a:ext>
            </a:extLst>
          </p:cNvPr>
          <p:cNvGrpSpPr/>
          <p:nvPr/>
        </p:nvGrpSpPr>
        <p:grpSpPr>
          <a:xfrm>
            <a:off x="5545366" y="3392112"/>
            <a:ext cx="6574499" cy="1571636"/>
            <a:chOff x="1643042" y="4214818"/>
            <a:chExt cx="6049938" cy="1571636"/>
          </a:xfrm>
        </p:grpSpPr>
        <p:sp>
          <p:nvSpPr>
            <p:cNvPr id="97" name="Text Box 10">
              <a:extLst>
                <a:ext uri="{FF2B5EF4-FFF2-40B4-BE49-F238E27FC236}">
                  <a16:creationId xmlns:a16="http://schemas.microsoft.com/office/drawing/2014/main" id="{1056059C-C5C2-A063-875D-683E6A022770}"/>
                </a:ext>
              </a:extLst>
            </p:cNvPr>
            <p:cNvSpPr txBox="1">
              <a:spLocks noChangeArrowheads="1"/>
            </p:cNvSpPr>
            <p:nvPr/>
          </p:nvSpPr>
          <p:spPr bwMode="auto">
            <a:xfrm>
              <a:off x="1643042" y="4787916"/>
              <a:ext cx="609600" cy="457200"/>
            </a:xfrm>
            <a:prstGeom prst="rect">
              <a:avLst/>
            </a:prstGeom>
            <a:noFill/>
            <a:ln w="9525">
              <a:noFill/>
              <a:miter lim="800000"/>
              <a:headEnd/>
              <a:tailEnd/>
            </a:ln>
            <a:effectLst/>
          </p:spPr>
          <p:txBody>
            <a:bodyPr>
              <a:spAutoFit/>
            </a:bodyPr>
            <a:lstStyle/>
            <a:p>
              <a:pPr algn="l">
                <a:spcBef>
                  <a:spcPct val="50000"/>
                </a:spcBef>
              </a:pPr>
              <a:r>
                <a:rPr kumimoji="1" lang="en-US" altLang="zh-CN" i="1">
                  <a:latin typeface="Consolas" pitchFamily="49" charset="0"/>
                  <a:ea typeface="宋体" pitchFamily="2" charset="-122"/>
                  <a:cs typeface="Consolas" pitchFamily="49" charset="0"/>
                </a:rPr>
                <a:t>k</a:t>
              </a:r>
              <a:r>
                <a:rPr kumimoji="1" lang="en-US" altLang="zh-CN">
                  <a:latin typeface="Consolas" pitchFamily="49" charset="0"/>
                  <a:ea typeface="宋体" pitchFamily="2" charset="-122"/>
                  <a:cs typeface="Consolas" pitchFamily="49" charset="0"/>
                </a:rPr>
                <a:t>=</a:t>
              </a:r>
            </a:p>
          </p:txBody>
        </p:sp>
        <p:sp>
          <p:nvSpPr>
            <p:cNvPr id="98" name="Text Box 11">
              <a:extLst>
                <a:ext uri="{FF2B5EF4-FFF2-40B4-BE49-F238E27FC236}">
                  <a16:creationId xmlns:a16="http://schemas.microsoft.com/office/drawing/2014/main" id="{AA1D8806-739F-38F7-85CF-A74AD1EA1367}"/>
                </a:ext>
              </a:extLst>
            </p:cNvPr>
            <p:cNvSpPr txBox="1">
              <a:spLocks noChangeArrowheads="1"/>
            </p:cNvSpPr>
            <p:nvPr/>
          </p:nvSpPr>
          <p:spPr bwMode="auto">
            <a:xfrm>
              <a:off x="4078231" y="4493788"/>
              <a:ext cx="3614749" cy="3693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dirty="0">
                  <a:latin typeface="Consolas" pitchFamily="49" charset="0"/>
                  <a:ea typeface="仿宋" pitchFamily="49" charset="-122"/>
                  <a:cs typeface="Consolas" pitchFamily="49" charset="0"/>
                </a:rPr>
                <a:t>当</a:t>
              </a:r>
              <a:r>
                <a:rPr kumimoji="1" lang="en-US" altLang="zh-CN" sz="1800" i="1" dirty="0" err="1">
                  <a:latin typeface="Consolas" pitchFamily="49" charset="0"/>
                  <a:ea typeface="仿宋" pitchFamily="49" charset="-122"/>
                  <a:cs typeface="Consolas" pitchFamily="49" charset="0"/>
                </a:rPr>
                <a:t>i</a:t>
              </a:r>
              <a:r>
                <a:rPr kumimoji="1" lang="en-US" altLang="zh-CN" sz="1800" dirty="0" err="1">
                  <a:latin typeface="宋体" pitchFamily="2" charset="-122"/>
                  <a:ea typeface="宋体" pitchFamily="2" charset="-122"/>
                  <a:cs typeface="Consolas" pitchFamily="49" charset="0"/>
                </a:rPr>
                <a:t>≥</a:t>
              </a:r>
              <a:r>
                <a:rPr kumimoji="1" lang="en-US" altLang="zh-CN" sz="1800" i="1" dirty="0" err="1">
                  <a:latin typeface="Consolas" pitchFamily="49" charset="0"/>
                  <a:ea typeface="仿宋" pitchFamily="49" charset="-122"/>
                  <a:cs typeface="Consolas" pitchFamily="49" charset="0"/>
                </a:rPr>
                <a:t>j</a:t>
              </a:r>
              <a:r>
                <a:rPr kumimoji="1" lang="zh-CN" altLang="en-US" sz="1800" dirty="0">
                  <a:latin typeface="Consolas" pitchFamily="49" charset="0"/>
                  <a:ea typeface="仿宋" pitchFamily="49" charset="-122"/>
                  <a:cs typeface="Consolas" pitchFamily="49" charset="0"/>
                </a:rPr>
                <a:t>时（下三角</a:t>
              </a:r>
              <a:r>
                <a:rPr kumimoji="1" lang="en-US" altLang="zh-CN" sz="1800" dirty="0">
                  <a:latin typeface="Consolas" pitchFamily="49" charset="0"/>
                  <a:ea typeface="仿宋" pitchFamily="49" charset="-122"/>
                  <a:cs typeface="Consolas" pitchFamily="49" charset="0"/>
                </a:rPr>
                <a:t>+</a:t>
              </a:r>
              <a:r>
                <a:rPr kumimoji="1" lang="zh-CN" altLang="en-US" sz="1800" dirty="0">
                  <a:latin typeface="Consolas" pitchFamily="49" charset="0"/>
                  <a:ea typeface="仿宋" pitchFamily="49" charset="-122"/>
                  <a:cs typeface="Consolas" pitchFamily="49" charset="0"/>
                </a:rPr>
                <a:t>主对角线的元素）</a:t>
              </a:r>
            </a:p>
          </p:txBody>
        </p:sp>
        <p:sp>
          <p:nvSpPr>
            <p:cNvPr id="99" name="Text Box 13">
              <a:extLst>
                <a:ext uri="{FF2B5EF4-FFF2-40B4-BE49-F238E27FC236}">
                  <a16:creationId xmlns:a16="http://schemas.microsoft.com/office/drawing/2014/main" id="{70562507-6DC8-6B22-2B41-6C5EEFDDCF16}"/>
                </a:ext>
              </a:extLst>
            </p:cNvPr>
            <p:cNvSpPr txBox="1">
              <a:spLocks noChangeArrowheads="1"/>
            </p:cNvSpPr>
            <p:nvPr/>
          </p:nvSpPr>
          <p:spPr bwMode="auto">
            <a:xfrm>
              <a:off x="4084507" y="5101722"/>
              <a:ext cx="2719390" cy="3693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dirty="0">
                  <a:latin typeface="Consolas" pitchFamily="49" charset="0"/>
                  <a:ea typeface="仿宋" pitchFamily="49" charset="-122"/>
                  <a:cs typeface="Consolas" pitchFamily="49" charset="0"/>
                </a:rPr>
                <a:t>当</a:t>
              </a:r>
              <a:r>
                <a:rPr kumimoji="1" lang="en-US" altLang="zh-CN" sz="1800" i="1" dirty="0" err="1">
                  <a:latin typeface="Consolas" pitchFamily="49" charset="0"/>
                  <a:ea typeface="仿宋" pitchFamily="49" charset="-122"/>
                  <a:cs typeface="Consolas" pitchFamily="49" charset="0"/>
                </a:rPr>
                <a:t>i</a:t>
              </a:r>
              <a:r>
                <a:rPr kumimoji="1" lang="en-US" altLang="zh-CN" sz="1800" dirty="0">
                  <a:latin typeface="Consolas" pitchFamily="49" charset="0"/>
                  <a:ea typeface="仿宋" pitchFamily="49" charset="-122"/>
                  <a:cs typeface="Consolas" pitchFamily="49" charset="0"/>
                </a:rPr>
                <a:t>&lt;</a:t>
              </a:r>
              <a:r>
                <a:rPr kumimoji="1" lang="en-US" altLang="zh-CN" sz="1800" i="1" dirty="0">
                  <a:latin typeface="Consolas" pitchFamily="49" charset="0"/>
                  <a:ea typeface="仿宋" pitchFamily="49" charset="-122"/>
                  <a:cs typeface="Consolas" pitchFamily="49" charset="0"/>
                </a:rPr>
                <a:t>j</a:t>
              </a:r>
              <a:r>
                <a:rPr kumimoji="1" lang="zh-CN" altLang="en-US" sz="1800" dirty="0">
                  <a:latin typeface="Consolas" pitchFamily="49" charset="0"/>
                  <a:ea typeface="仿宋" pitchFamily="49" charset="-122"/>
                  <a:cs typeface="Consolas" pitchFamily="49" charset="0"/>
                </a:rPr>
                <a:t>时（</a:t>
              </a:r>
              <a:r>
                <a:rPr kumimoji="1" lang="en-US" altLang="zh-CN" sz="1800" i="1" dirty="0" err="1">
                  <a:solidFill>
                    <a:srgbClr val="C00000"/>
                  </a:solidFill>
                  <a:latin typeface="Consolas" pitchFamily="49" charset="0"/>
                  <a:ea typeface="仿宋" pitchFamily="49" charset="-122"/>
                  <a:cs typeface="Consolas" pitchFamily="49" charset="0"/>
                </a:rPr>
                <a:t>a</a:t>
              </a:r>
              <a:r>
                <a:rPr kumimoji="1" lang="en-US" altLang="zh-CN" sz="1800" i="1" baseline="-25000" dirty="0" err="1">
                  <a:solidFill>
                    <a:srgbClr val="C00000"/>
                  </a:solidFill>
                  <a:latin typeface="Consolas" pitchFamily="49" charset="0"/>
                  <a:ea typeface="仿宋" pitchFamily="49" charset="-122"/>
                  <a:cs typeface="Consolas" pitchFamily="49" charset="0"/>
                </a:rPr>
                <a:t>i,j</a:t>
              </a:r>
              <a:r>
                <a:rPr kumimoji="1" lang="en-US" altLang="zh-CN" sz="1800" dirty="0">
                  <a:solidFill>
                    <a:srgbClr val="C00000"/>
                  </a:solidFill>
                  <a:latin typeface="Consolas" pitchFamily="49" charset="0"/>
                  <a:ea typeface="仿宋" pitchFamily="49" charset="-122"/>
                  <a:cs typeface="Consolas" pitchFamily="49" charset="0"/>
                </a:rPr>
                <a:t>=</a:t>
              </a:r>
              <a:r>
                <a:rPr kumimoji="1" lang="en-US" altLang="zh-CN" sz="1800" i="1" dirty="0" err="1">
                  <a:solidFill>
                    <a:srgbClr val="C00000"/>
                  </a:solidFill>
                  <a:latin typeface="Consolas" pitchFamily="49" charset="0"/>
                  <a:ea typeface="仿宋" pitchFamily="49" charset="-122"/>
                  <a:cs typeface="Consolas" pitchFamily="49" charset="0"/>
                </a:rPr>
                <a:t>a</a:t>
              </a:r>
              <a:r>
                <a:rPr kumimoji="1" lang="en-US" altLang="zh-CN" sz="1800" i="1" baseline="-25000" dirty="0" err="1">
                  <a:solidFill>
                    <a:srgbClr val="C00000"/>
                  </a:solidFill>
                  <a:latin typeface="Consolas" pitchFamily="49" charset="0"/>
                  <a:ea typeface="仿宋" pitchFamily="49" charset="-122"/>
                  <a:cs typeface="Consolas" pitchFamily="49" charset="0"/>
                </a:rPr>
                <a:t>j,i</a:t>
              </a:r>
              <a:r>
                <a:rPr kumimoji="1" lang="zh-CN" altLang="en-US" sz="1800" dirty="0">
                  <a:latin typeface="Consolas" pitchFamily="49" charset="0"/>
                  <a:ea typeface="仿宋" pitchFamily="49" charset="-122"/>
                  <a:cs typeface="Consolas" pitchFamily="49" charset="0"/>
                </a:rPr>
                <a:t>）</a:t>
              </a:r>
            </a:p>
          </p:txBody>
        </p:sp>
        <p:sp>
          <p:nvSpPr>
            <p:cNvPr id="100" name="AutoShape 15">
              <a:extLst>
                <a:ext uri="{FF2B5EF4-FFF2-40B4-BE49-F238E27FC236}">
                  <a16:creationId xmlns:a16="http://schemas.microsoft.com/office/drawing/2014/main" id="{80074C08-BFB1-DC96-96B1-52D96AB71097}"/>
                </a:ext>
              </a:extLst>
            </p:cNvPr>
            <p:cNvSpPr>
              <a:spLocks/>
            </p:cNvSpPr>
            <p:nvPr/>
          </p:nvSpPr>
          <p:spPr bwMode="auto">
            <a:xfrm>
              <a:off x="2252642" y="4445016"/>
              <a:ext cx="228600" cy="1143000"/>
            </a:xfrm>
            <a:prstGeom prst="leftBrace">
              <a:avLst>
                <a:gd name="adj1" fmla="val 41667"/>
                <a:gd name="adj2" fmla="val 50000"/>
              </a:avLst>
            </a:prstGeom>
            <a:noFill/>
            <a:ln w="22225">
              <a:solidFill>
                <a:srgbClr val="0000FF"/>
              </a:solidFill>
              <a:round/>
              <a:headEnd/>
              <a:tailEnd/>
            </a:ln>
            <a:effectLst/>
          </p:spPr>
          <p:txBody>
            <a:bodyPr wrap="none" anchor="ctr"/>
            <a:lstStyle/>
            <a:p>
              <a:endParaRPr lang="zh-CN" altLang="en-US">
                <a:latin typeface="Consolas" pitchFamily="49" charset="0"/>
                <a:cs typeface="Consolas" pitchFamily="49" charset="0"/>
              </a:endParaRPr>
            </a:p>
          </p:txBody>
        </p:sp>
        <p:grpSp>
          <p:nvGrpSpPr>
            <p:cNvPr id="102" name="组合 30">
              <a:extLst>
                <a:ext uri="{FF2B5EF4-FFF2-40B4-BE49-F238E27FC236}">
                  <a16:creationId xmlns:a16="http://schemas.microsoft.com/office/drawing/2014/main" id="{BD152F54-C593-E414-4800-3B287AE375B8}"/>
                </a:ext>
              </a:extLst>
            </p:cNvPr>
            <p:cNvGrpSpPr/>
            <p:nvPr/>
          </p:nvGrpSpPr>
          <p:grpSpPr>
            <a:xfrm>
              <a:off x="2624094" y="4214818"/>
              <a:ext cx="1500198" cy="714380"/>
              <a:chOff x="500034" y="3571876"/>
              <a:chExt cx="1500198" cy="714380"/>
            </a:xfrm>
          </p:grpSpPr>
          <p:sp>
            <p:nvSpPr>
              <p:cNvPr id="108" name="TextBox 21">
                <a:extLst>
                  <a:ext uri="{FF2B5EF4-FFF2-40B4-BE49-F238E27FC236}">
                    <a16:creationId xmlns:a16="http://schemas.microsoft.com/office/drawing/2014/main" id="{3C40D225-F5F2-8F66-5E88-1D162AC09F02}"/>
                  </a:ext>
                </a:extLst>
              </p:cNvPr>
              <p:cNvSpPr txBox="1"/>
              <p:nvPr/>
            </p:nvSpPr>
            <p:spPr>
              <a:xfrm>
                <a:off x="500034" y="3571876"/>
                <a:ext cx="1071570" cy="338554"/>
              </a:xfrm>
              <a:prstGeom prst="rect">
                <a:avLst/>
              </a:prstGeom>
              <a:noFill/>
            </p:spPr>
            <p:txBody>
              <a:bodyPr wrap="square" lIns="0" tIns="0" rIns="0" bIns="0" rtlCol="0">
                <a:spAutoFit/>
              </a:bodyPr>
              <a:lstStyle/>
              <a:p>
                <a:r>
                  <a:rPr lang="en-US" altLang="zh-CN" sz="2200" i="1" err="1">
                    <a:latin typeface="Consolas" pitchFamily="49" charset="0"/>
                    <a:cs typeface="Consolas" pitchFamily="49" charset="0"/>
                  </a:rPr>
                  <a:t>i</a:t>
                </a:r>
                <a:r>
                  <a:rPr lang="en-US" altLang="zh-CN" sz="2200">
                    <a:latin typeface="Consolas" pitchFamily="49" charset="0"/>
                    <a:cs typeface="Consolas" pitchFamily="49" charset="0"/>
                  </a:rPr>
                  <a:t>(</a:t>
                </a:r>
                <a:r>
                  <a:rPr lang="en-US" altLang="zh-CN" sz="2200" i="1" err="1">
                    <a:latin typeface="Consolas" pitchFamily="49" charset="0"/>
                    <a:cs typeface="Consolas" pitchFamily="49" charset="0"/>
                  </a:rPr>
                  <a:t>i</a:t>
                </a:r>
                <a:r>
                  <a:rPr lang="en-US" altLang="zh-CN" sz="2200" err="1">
                    <a:latin typeface="Consolas" pitchFamily="49" charset="0"/>
                    <a:cs typeface="Consolas" pitchFamily="49" charset="0"/>
                  </a:rPr>
                  <a:t>+1</a:t>
                </a:r>
                <a:r>
                  <a:rPr lang="en-US" altLang="zh-CN" sz="2200">
                    <a:latin typeface="Consolas" pitchFamily="49" charset="0"/>
                    <a:cs typeface="Consolas" pitchFamily="49" charset="0"/>
                  </a:rPr>
                  <a:t>)</a:t>
                </a:r>
                <a:endParaRPr lang="zh-CN" altLang="en-US" sz="2200">
                  <a:latin typeface="Consolas" pitchFamily="49" charset="0"/>
                  <a:cs typeface="Consolas" pitchFamily="49" charset="0"/>
                </a:endParaRPr>
              </a:p>
            </p:txBody>
          </p:sp>
          <p:cxnSp>
            <p:nvCxnSpPr>
              <p:cNvPr id="109" name="直接连接符 108">
                <a:extLst>
                  <a:ext uri="{FF2B5EF4-FFF2-40B4-BE49-F238E27FC236}">
                    <a16:creationId xmlns:a16="http://schemas.microsoft.com/office/drawing/2014/main" id="{546185A3-E674-3B75-17A6-BE1C1F309F62}"/>
                  </a:ext>
                </a:extLst>
              </p:cNvPr>
              <p:cNvCxnSpPr/>
              <p:nvPr/>
            </p:nvCxnSpPr>
            <p:spPr>
              <a:xfrm>
                <a:off x="571472" y="3929066"/>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110" name="TextBox 24">
                <a:extLst>
                  <a:ext uri="{FF2B5EF4-FFF2-40B4-BE49-F238E27FC236}">
                    <a16:creationId xmlns:a16="http://schemas.microsoft.com/office/drawing/2014/main" id="{CBC23A5B-5F9A-ECAC-88BB-FB13418D94D7}"/>
                  </a:ext>
                </a:extLst>
              </p:cNvPr>
              <p:cNvSpPr txBox="1"/>
              <p:nvPr/>
            </p:nvSpPr>
            <p:spPr>
              <a:xfrm>
                <a:off x="739748" y="3947702"/>
                <a:ext cx="500066" cy="338554"/>
              </a:xfrm>
              <a:prstGeom prst="rect">
                <a:avLst/>
              </a:prstGeom>
              <a:noFill/>
            </p:spPr>
            <p:txBody>
              <a:bodyPr wrap="square" lIns="0" tIns="0" rIns="0" bIns="0" rtlCol="0">
                <a:spAutoFit/>
              </a:bodyPr>
              <a:lstStyle/>
              <a:p>
                <a:r>
                  <a:rPr lang="en-US" altLang="zh-CN" sz="2200" dirty="0">
                    <a:latin typeface="Consolas" pitchFamily="49" charset="0"/>
                    <a:cs typeface="Consolas" pitchFamily="49" charset="0"/>
                  </a:rPr>
                  <a:t>2</a:t>
                </a:r>
                <a:endParaRPr lang="zh-CN" altLang="en-US" sz="2200" dirty="0">
                  <a:latin typeface="Consolas" pitchFamily="49" charset="0"/>
                  <a:cs typeface="Consolas" pitchFamily="49" charset="0"/>
                </a:endParaRPr>
              </a:p>
            </p:txBody>
          </p:sp>
          <p:sp>
            <p:nvSpPr>
              <p:cNvPr id="111" name="TextBox 25">
                <a:extLst>
                  <a:ext uri="{FF2B5EF4-FFF2-40B4-BE49-F238E27FC236}">
                    <a16:creationId xmlns:a16="http://schemas.microsoft.com/office/drawing/2014/main" id="{0088B31B-CBF9-ADE3-EB96-EB3132ECA2BF}"/>
                  </a:ext>
                </a:extLst>
              </p:cNvPr>
              <p:cNvSpPr txBox="1"/>
              <p:nvPr/>
            </p:nvSpPr>
            <p:spPr>
              <a:xfrm>
                <a:off x="1500166" y="3786190"/>
                <a:ext cx="500066"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a:t>
                </a:r>
                <a:r>
                  <a:rPr lang="en-US" altLang="zh-CN" sz="2200" i="1">
                    <a:latin typeface="Consolas" pitchFamily="49" charset="0"/>
                    <a:cs typeface="Consolas" pitchFamily="49" charset="0"/>
                  </a:rPr>
                  <a:t>j</a:t>
                </a:r>
                <a:endParaRPr lang="zh-CN" altLang="en-US" sz="2200" i="1">
                  <a:latin typeface="Consolas" pitchFamily="49" charset="0"/>
                  <a:cs typeface="Consolas" pitchFamily="49" charset="0"/>
                </a:endParaRPr>
              </a:p>
            </p:txBody>
          </p:sp>
        </p:grpSp>
        <p:grpSp>
          <p:nvGrpSpPr>
            <p:cNvPr id="103" name="组合 31">
              <a:extLst>
                <a:ext uri="{FF2B5EF4-FFF2-40B4-BE49-F238E27FC236}">
                  <a16:creationId xmlns:a16="http://schemas.microsoft.com/office/drawing/2014/main" id="{6EED67BE-A553-5814-E6A6-4AAB9A00BB40}"/>
                </a:ext>
              </a:extLst>
            </p:cNvPr>
            <p:cNvGrpSpPr/>
            <p:nvPr/>
          </p:nvGrpSpPr>
          <p:grpSpPr>
            <a:xfrm>
              <a:off x="2624094" y="5072074"/>
              <a:ext cx="1500198" cy="714380"/>
              <a:chOff x="652434" y="5500702"/>
              <a:chExt cx="1500198" cy="714380"/>
            </a:xfrm>
          </p:grpSpPr>
          <p:sp>
            <p:nvSpPr>
              <p:cNvPr id="104" name="TextBox 26">
                <a:extLst>
                  <a:ext uri="{FF2B5EF4-FFF2-40B4-BE49-F238E27FC236}">
                    <a16:creationId xmlns:a16="http://schemas.microsoft.com/office/drawing/2014/main" id="{24DAA877-E975-092A-BE60-FE978CC28A95}"/>
                  </a:ext>
                </a:extLst>
              </p:cNvPr>
              <p:cNvSpPr txBox="1"/>
              <p:nvPr/>
            </p:nvSpPr>
            <p:spPr>
              <a:xfrm>
                <a:off x="652434" y="5500702"/>
                <a:ext cx="1071570" cy="338554"/>
              </a:xfrm>
              <a:prstGeom prst="rect">
                <a:avLst/>
              </a:prstGeom>
              <a:noFill/>
            </p:spPr>
            <p:txBody>
              <a:bodyPr wrap="square" lIns="0" tIns="0" rIns="0" bIns="0" rtlCol="0">
                <a:spAutoFit/>
              </a:bodyPr>
              <a:lstStyle/>
              <a:p>
                <a:r>
                  <a:rPr lang="en-US" altLang="zh-CN" sz="2200" i="1">
                    <a:latin typeface="Consolas" pitchFamily="49" charset="0"/>
                    <a:cs typeface="Consolas" pitchFamily="49" charset="0"/>
                  </a:rPr>
                  <a:t>j</a:t>
                </a:r>
                <a:r>
                  <a:rPr lang="en-US" altLang="zh-CN" sz="2200">
                    <a:latin typeface="Consolas" pitchFamily="49" charset="0"/>
                    <a:cs typeface="Consolas" pitchFamily="49" charset="0"/>
                  </a:rPr>
                  <a:t>(</a:t>
                </a:r>
                <a:r>
                  <a:rPr lang="en-US" altLang="zh-CN" sz="2200" i="1" err="1">
                    <a:latin typeface="Consolas" pitchFamily="49" charset="0"/>
                    <a:cs typeface="Consolas" pitchFamily="49" charset="0"/>
                  </a:rPr>
                  <a:t>j</a:t>
                </a:r>
                <a:r>
                  <a:rPr lang="en-US" altLang="zh-CN" sz="2200" err="1">
                    <a:latin typeface="Consolas" pitchFamily="49" charset="0"/>
                    <a:cs typeface="Consolas" pitchFamily="49" charset="0"/>
                  </a:rPr>
                  <a:t>+1</a:t>
                </a:r>
                <a:r>
                  <a:rPr lang="en-US" altLang="zh-CN" sz="2200">
                    <a:latin typeface="Consolas" pitchFamily="49" charset="0"/>
                    <a:cs typeface="Consolas" pitchFamily="49" charset="0"/>
                  </a:rPr>
                  <a:t>)</a:t>
                </a:r>
                <a:endParaRPr lang="zh-CN" altLang="en-US" sz="2200">
                  <a:latin typeface="Consolas" pitchFamily="49" charset="0"/>
                  <a:cs typeface="Consolas" pitchFamily="49" charset="0"/>
                </a:endParaRPr>
              </a:p>
            </p:txBody>
          </p:sp>
          <p:cxnSp>
            <p:nvCxnSpPr>
              <p:cNvPr id="105" name="直接连接符 104">
                <a:extLst>
                  <a:ext uri="{FF2B5EF4-FFF2-40B4-BE49-F238E27FC236}">
                    <a16:creationId xmlns:a16="http://schemas.microsoft.com/office/drawing/2014/main" id="{57F30F21-3E93-F198-AD25-E0504CE9BFF9}"/>
                  </a:ext>
                </a:extLst>
              </p:cNvPr>
              <p:cNvCxnSpPr/>
              <p:nvPr/>
            </p:nvCxnSpPr>
            <p:spPr>
              <a:xfrm>
                <a:off x="723872" y="5857892"/>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106" name="TextBox 28">
                <a:extLst>
                  <a:ext uri="{FF2B5EF4-FFF2-40B4-BE49-F238E27FC236}">
                    <a16:creationId xmlns:a16="http://schemas.microsoft.com/office/drawing/2014/main" id="{7A3A0240-8D35-F7E0-275C-DD65C99F8ED6}"/>
                  </a:ext>
                </a:extLst>
              </p:cNvPr>
              <p:cNvSpPr txBox="1"/>
              <p:nvPr/>
            </p:nvSpPr>
            <p:spPr>
              <a:xfrm>
                <a:off x="892148" y="5876528"/>
                <a:ext cx="500066"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2</a:t>
                </a:r>
                <a:endParaRPr lang="zh-CN" altLang="en-US" sz="2200">
                  <a:latin typeface="Consolas" pitchFamily="49" charset="0"/>
                  <a:cs typeface="Consolas" pitchFamily="49" charset="0"/>
                </a:endParaRPr>
              </a:p>
            </p:txBody>
          </p:sp>
          <p:sp>
            <p:nvSpPr>
              <p:cNvPr id="107" name="TextBox 29">
                <a:extLst>
                  <a:ext uri="{FF2B5EF4-FFF2-40B4-BE49-F238E27FC236}">
                    <a16:creationId xmlns:a16="http://schemas.microsoft.com/office/drawing/2014/main" id="{615B11A2-6799-ECED-E815-DA3E3390489A}"/>
                  </a:ext>
                </a:extLst>
              </p:cNvPr>
              <p:cNvSpPr txBox="1"/>
              <p:nvPr/>
            </p:nvSpPr>
            <p:spPr>
              <a:xfrm>
                <a:off x="1652566" y="5715016"/>
                <a:ext cx="500066" cy="338554"/>
              </a:xfrm>
              <a:prstGeom prst="rect">
                <a:avLst/>
              </a:prstGeom>
              <a:noFill/>
            </p:spPr>
            <p:txBody>
              <a:bodyPr wrap="square" lIns="0" tIns="0" rIns="0" bIns="0" rtlCol="0">
                <a:spAutoFit/>
              </a:bodyPr>
              <a:lstStyle/>
              <a:p>
                <a:r>
                  <a:rPr lang="en-US" altLang="zh-CN" sz="2200">
                    <a:latin typeface="Consolas" pitchFamily="49" charset="0"/>
                    <a:cs typeface="Consolas" pitchFamily="49" charset="0"/>
                  </a:rPr>
                  <a:t>+</a:t>
                </a:r>
                <a:r>
                  <a:rPr lang="en-US" altLang="zh-CN" sz="2200" i="1" err="1">
                    <a:latin typeface="Consolas" pitchFamily="49" charset="0"/>
                    <a:cs typeface="Consolas" pitchFamily="49" charset="0"/>
                  </a:rPr>
                  <a:t>i</a:t>
                </a:r>
                <a:endParaRPr lang="zh-CN" altLang="en-US" sz="2200" i="1">
                  <a:latin typeface="Consolas" pitchFamily="49" charset="0"/>
                  <a:cs typeface="Consolas" pitchFamily="49" charset="0"/>
                </a:endParaRPr>
              </a:p>
            </p:txBody>
          </p:sp>
        </p:grpSp>
      </p:grpSp>
    </p:spTree>
    <p:extLst>
      <p:ext uri="{BB962C8B-B14F-4D97-AF65-F5344CB8AC3E}">
        <p14:creationId xmlns:p14="http://schemas.microsoft.com/office/powerpoint/2010/main" val="2241214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D4309-5218-0B64-EFB9-60901CF6941D}"/>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1B8F003C-BD79-0B77-238B-2FB55DA5D411}"/>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3" name="Rectangle 2">
            <a:extLst>
              <a:ext uri="{FF2B5EF4-FFF2-40B4-BE49-F238E27FC236}">
                <a16:creationId xmlns:a16="http://schemas.microsoft.com/office/drawing/2014/main" id="{9506EAF4-7DD5-1728-2F97-1640A92F3ABA}"/>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15D6BEEC-D1C0-24DC-752D-41FE5A9052D9}"/>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1" name="直角三角形 20">
            <a:extLst>
              <a:ext uri="{FF2B5EF4-FFF2-40B4-BE49-F238E27FC236}">
                <a16:creationId xmlns:a16="http://schemas.microsoft.com/office/drawing/2014/main" id="{ABA1326F-EB45-BDC2-9AAE-8E895EBF8430}"/>
              </a:ext>
            </a:extLst>
          </p:cNvPr>
          <p:cNvSpPr/>
          <p:nvPr/>
        </p:nvSpPr>
        <p:spPr>
          <a:xfrm>
            <a:off x="7535294" y="1185557"/>
            <a:ext cx="2786082" cy="1857388"/>
          </a:xfrm>
          <a:prstGeom prst="rtTriangl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Consolas" pitchFamily="49" charset="0"/>
              <a:cs typeface="Consolas" pitchFamily="49" charset="0"/>
            </a:endParaRPr>
          </a:p>
        </p:txBody>
      </p:sp>
      <p:sp>
        <p:nvSpPr>
          <p:cNvPr id="22" name="Text Box 3">
            <a:extLst>
              <a:ext uri="{FF2B5EF4-FFF2-40B4-BE49-F238E27FC236}">
                <a16:creationId xmlns:a16="http://schemas.microsoft.com/office/drawing/2014/main" id="{5B69D55B-8B20-FAC2-B0E8-1DF472120A9A}"/>
              </a:ext>
            </a:extLst>
          </p:cNvPr>
          <p:cNvSpPr txBox="1">
            <a:spLocks noChangeArrowheads="1"/>
          </p:cNvSpPr>
          <p:nvPr/>
        </p:nvSpPr>
        <p:spPr bwMode="auto">
          <a:xfrm>
            <a:off x="1111156" y="1808765"/>
            <a:ext cx="4515145" cy="707886"/>
          </a:xfrm>
          <a:prstGeom prst="rect">
            <a:avLst/>
          </a:prstGeom>
          <a:noFill/>
          <a:ln w="9525">
            <a:noFill/>
            <a:miter lim="800000"/>
            <a:headEnd/>
            <a:tailEnd/>
          </a:ln>
          <a:effectLst/>
        </p:spPr>
        <p:txBody>
          <a:bodyPr wrap="square">
            <a:spAutoFit/>
          </a:bodyPr>
          <a:lstStyle/>
          <a:p>
            <a:pPr algn="l"/>
            <a:r>
              <a:rPr lang="zh-CN" altLang="en-US" sz="2000" dirty="0">
                <a:latin typeface="微软雅黑" pitchFamily="34" charset="-122"/>
                <a:ea typeface="微软雅黑" pitchFamily="34" charset="-122"/>
                <a:cs typeface="经典粗黑简" pitchFamily="49" charset="-122"/>
              </a:rPr>
              <a:t>以行序为主序存储其下三角</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主对角线的元素。</a:t>
            </a:r>
          </a:p>
        </p:txBody>
      </p:sp>
      <p:grpSp>
        <p:nvGrpSpPr>
          <p:cNvPr id="51" name="组合 28">
            <a:extLst>
              <a:ext uri="{FF2B5EF4-FFF2-40B4-BE49-F238E27FC236}">
                <a16:creationId xmlns:a16="http://schemas.microsoft.com/office/drawing/2014/main" id="{9E36D24E-EFDF-5395-3B6F-3754BD363775}"/>
              </a:ext>
            </a:extLst>
          </p:cNvPr>
          <p:cNvGrpSpPr/>
          <p:nvPr/>
        </p:nvGrpSpPr>
        <p:grpSpPr>
          <a:xfrm>
            <a:off x="7392418" y="1256995"/>
            <a:ext cx="2857520" cy="1752612"/>
            <a:chOff x="3214676" y="2214554"/>
            <a:chExt cx="2837975" cy="1752612"/>
          </a:xfrm>
        </p:grpSpPr>
        <p:cxnSp>
          <p:nvCxnSpPr>
            <p:cNvPr id="52" name="直接连接符 51">
              <a:extLst>
                <a:ext uri="{FF2B5EF4-FFF2-40B4-BE49-F238E27FC236}">
                  <a16:creationId xmlns:a16="http://schemas.microsoft.com/office/drawing/2014/main" id="{4BEA6330-D660-CB0B-3273-82939C25413C}"/>
                </a:ext>
              </a:extLst>
            </p:cNvPr>
            <p:cNvCxnSpPr/>
            <p:nvPr/>
          </p:nvCxnSpPr>
          <p:spPr>
            <a:xfrm rot="5400000">
              <a:off x="2358214" y="30710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EB5E2E28-CEF9-E111-BF16-68EADDCE8398}"/>
                </a:ext>
              </a:extLst>
            </p:cNvPr>
            <p:cNvCxnSpPr/>
            <p:nvPr/>
          </p:nvCxnSpPr>
          <p:spPr>
            <a:xfrm>
              <a:off x="3216264" y="22272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63CE86F0-60A2-4BD7-5CBB-76BAD2601AEE}"/>
                </a:ext>
              </a:extLst>
            </p:cNvPr>
            <p:cNvCxnSpPr/>
            <p:nvPr/>
          </p:nvCxnSpPr>
          <p:spPr>
            <a:xfrm>
              <a:off x="3214676" y="39243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55" name="TextBox 32">
              <a:extLst>
                <a:ext uri="{FF2B5EF4-FFF2-40B4-BE49-F238E27FC236}">
                  <a16:creationId xmlns:a16="http://schemas.microsoft.com/office/drawing/2014/main" id="{6B3D3F87-8A49-B9D8-3FD8-E0A2DE183171}"/>
                </a:ext>
              </a:extLst>
            </p:cNvPr>
            <p:cNvSpPr txBox="1"/>
            <p:nvPr/>
          </p:nvSpPr>
          <p:spPr>
            <a:xfrm>
              <a:off x="3359140" y="2258590"/>
              <a:ext cx="714379" cy="276999"/>
            </a:xfrm>
            <a:prstGeom prst="rect">
              <a:avLst/>
            </a:prstGeom>
            <a:noFill/>
          </p:spPr>
          <p:txBody>
            <a:bodyPr wrap="square" lIns="0" tIns="0" rIns="0" bIns="0" rtlCol="0">
              <a:spAutoFit/>
            </a:bodyPr>
            <a:lstStyle/>
            <a:p>
              <a:r>
                <a:rPr lang="en-US" altLang="zh-CN" sz="1800" i="1" dirty="0">
                  <a:latin typeface="Consolas" pitchFamily="49" charset="0"/>
                  <a:cs typeface="Consolas" pitchFamily="49" charset="0"/>
                </a:rPr>
                <a:t>a</a:t>
              </a:r>
              <a:r>
                <a:rPr lang="en-US" altLang="zh-CN" sz="1800" baseline="-25000" dirty="0">
                  <a:latin typeface="Consolas" pitchFamily="49" charset="0"/>
                  <a:cs typeface="Consolas" pitchFamily="49" charset="0"/>
                </a:rPr>
                <a:t>0,0</a:t>
              </a:r>
              <a:endParaRPr lang="zh-CN" altLang="en-US" sz="1800" baseline="-25000" dirty="0">
                <a:latin typeface="Consolas" pitchFamily="49" charset="0"/>
                <a:cs typeface="Consolas" pitchFamily="49" charset="0"/>
              </a:endParaRPr>
            </a:p>
          </p:txBody>
        </p:sp>
        <p:sp>
          <p:nvSpPr>
            <p:cNvPr id="56" name="TextBox 33">
              <a:extLst>
                <a:ext uri="{FF2B5EF4-FFF2-40B4-BE49-F238E27FC236}">
                  <a16:creationId xmlns:a16="http://schemas.microsoft.com/office/drawing/2014/main" id="{B7FF5B22-7488-B8B0-A7CC-AFF9F7AAEE06}"/>
                </a:ext>
              </a:extLst>
            </p:cNvPr>
            <p:cNvSpPr txBox="1"/>
            <p:nvPr/>
          </p:nvSpPr>
          <p:spPr>
            <a:xfrm>
              <a:off x="4002081" y="2258590"/>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0,1</a:t>
              </a:r>
              <a:endParaRPr lang="zh-CN" altLang="en-US" sz="1800" baseline="-25000">
                <a:latin typeface="Consolas" pitchFamily="49" charset="0"/>
                <a:cs typeface="Consolas" pitchFamily="49" charset="0"/>
              </a:endParaRPr>
            </a:p>
          </p:txBody>
        </p:sp>
        <p:sp>
          <p:nvSpPr>
            <p:cNvPr id="57" name="TextBox 34">
              <a:extLst>
                <a:ext uri="{FF2B5EF4-FFF2-40B4-BE49-F238E27FC236}">
                  <a16:creationId xmlns:a16="http://schemas.microsoft.com/office/drawing/2014/main" id="{CD5B1F37-D13C-419D-73B4-3D479178B580}"/>
                </a:ext>
              </a:extLst>
            </p:cNvPr>
            <p:cNvSpPr txBox="1"/>
            <p:nvPr/>
          </p:nvSpPr>
          <p:spPr>
            <a:xfrm>
              <a:off x="5216526" y="2258590"/>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a:t>
              </a:r>
              <a:r>
                <a:rPr lang="en-US" altLang="zh-CN" sz="1800" i="1" baseline="-25000" err="1">
                  <a:latin typeface="Consolas" pitchFamily="49" charset="0"/>
                  <a:cs typeface="Consolas" pitchFamily="49" charset="0"/>
                </a:rPr>
                <a:t>n</a:t>
              </a:r>
              <a:r>
                <a:rPr lang="en-US" altLang="zh-CN" sz="1800" baseline="-25000">
                  <a:latin typeface="Consolas" pitchFamily="49" charset="0"/>
                  <a:cs typeface="Consolas" pitchFamily="49" charset="0"/>
                </a:rPr>
                <a:t>-1</a:t>
              </a:r>
              <a:endParaRPr lang="zh-CN" altLang="en-US" sz="1800" baseline="-25000">
                <a:latin typeface="Consolas" pitchFamily="49" charset="0"/>
                <a:cs typeface="Consolas" pitchFamily="49" charset="0"/>
              </a:endParaRPr>
            </a:p>
          </p:txBody>
        </p:sp>
        <p:sp>
          <p:nvSpPr>
            <p:cNvPr id="58" name="TextBox 35">
              <a:extLst>
                <a:ext uri="{FF2B5EF4-FFF2-40B4-BE49-F238E27FC236}">
                  <a16:creationId xmlns:a16="http://schemas.microsoft.com/office/drawing/2014/main" id="{7DC5CA8B-8AF6-933C-FF1B-2AFAC08900FB}"/>
                </a:ext>
              </a:extLst>
            </p:cNvPr>
            <p:cNvSpPr txBox="1"/>
            <p:nvPr/>
          </p:nvSpPr>
          <p:spPr>
            <a:xfrm>
              <a:off x="4645023" y="2239954"/>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sp>
          <p:nvSpPr>
            <p:cNvPr id="59" name="TextBox 36">
              <a:extLst>
                <a:ext uri="{FF2B5EF4-FFF2-40B4-BE49-F238E27FC236}">
                  <a16:creationId xmlns:a16="http://schemas.microsoft.com/office/drawing/2014/main" id="{0F758330-34AF-B671-644E-C08DB8D2BF35}"/>
                </a:ext>
              </a:extLst>
            </p:cNvPr>
            <p:cNvSpPr txBox="1"/>
            <p:nvPr/>
          </p:nvSpPr>
          <p:spPr>
            <a:xfrm>
              <a:off x="3359140" y="2687218"/>
              <a:ext cx="714379" cy="276999"/>
            </a:xfrm>
            <a:prstGeom prst="rect">
              <a:avLst/>
            </a:prstGeom>
            <a:noFill/>
          </p:spPr>
          <p:txBody>
            <a:bodyPr wrap="square" lIns="0" tIns="0" rIns="0" bIns="0" rtlCol="0">
              <a:spAutoFit/>
            </a:bodyPr>
            <a:lstStyle/>
            <a:p>
              <a:r>
                <a:rPr lang="en-US" altLang="zh-CN" sz="1800" i="1" dirty="0">
                  <a:latin typeface="Consolas" pitchFamily="49" charset="0"/>
                  <a:cs typeface="Consolas" pitchFamily="49" charset="0"/>
                </a:rPr>
                <a:t>a</a:t>
              </a:r>
              <a:r>
                <a:rPr lang="en-US" altLang="zh-CN" sz="1800" baseline="-25000" dirty="0">
                  <a:latin typeface="Consolas" pitchFamily="49" charset="0"/>
                  <a:cs typeface="Consolas" pitchFamily="49" charset="0"/>
                </a:rPr>
                <a:t>1,0</a:t>
              </a:r>
              <a:endParaRPr lang="zh-CN" altLang="en-US" sz="1800" baseline="-25000" dirty="0">
                <a:latin typeface="Consolas" pitchFamily="49" charset="0"/>
                <a:cs typeface="Consolas" pitchFamily="49" charset="0"/>
              </a:endParaRPr>
            </a:p>
          </p:txBody>
        </p:sp>
        <p:sp>
          <p:nvSpPr>
            <p:cNvPr id="60" name="TextBox 37">
              <a:extLst>
                <a:ext uri="{FF2B5EF4-FFF2-40B4-BE49-F238E27FC236}">
                  <a16:creationId xmlns:a16="http://schemas.microsoft.com/office/drawing/2014/main" id="{2B7CDFE3-86F3-87D7-1E1B-0721802DA364}"/>
                </a:ext>
              </a:extLst>
            </p:cNvPr>
            <p:cNvSpPr txBox="1"/>
            <p:nvPr/>
          </p:nvSpPr>
          <p:spPr>
            <a:xfrm>
              <a:off x="4002081" y="2687218"/>
              <a:ext cx="714379" cy="276999"/>
            </a:xfrm>
            <a:prstGeom prst="rect">
              <a:avLst/>
            </a:prstGeom>
            <a:noFill/>
          </p:spPr>
          <p:txBody>
            <a:bodyPr wrap="square" lIns="0" tIns="0" rIns="0" bIns="0" rtlCol="0">
              <a:spAutoFit/>
            </a:bodyPr>
            <a:lstStyle/>
            <a:p>
              <a:r>
                <a:rPr lang="en-US" altLang="zh-CN" sz="1800" i="1" dirty="0">
                  <a:latin typeface="Consolas" pitchFamily="49" charset="0"/>
                  <a:cs typeface="Consolas" pitchFamily="49" charset="0"/>
                </a:rPr>
                <a:t>a</a:t>
              </a:r>
              <a:r>
                <a:rPr lang="en-US" altLang="zh-CN" sz="1800" baseline="-25000" dirty="0">
                  <a:latin typeface="Consolas" pitchFamily="49" charset="0"/>
                  <a:cs typeface="Consolas" pitchFamily="49" charset="0"/>
                </a:rPr>
                <a:t>1,1</a:t>
              </a:r>
              <a:endParaRPr lang="zh-CN" altLang="en-US" sz="1800" baseline="-25000" dirty="0">
                <a:latin typeface="Consolas" pitchFamily="49" charset="0"/>
                <a:cs typeface="Consolas" pitchFamily="49" charset="0"/>
              </a:endParaRPr>
            </a:p>
          </p:txBody>
        </p:sp>
        <p:sp>
          <p:nvSpPr>
            <p:cNvPr id="61" name="TextBox 38">
              <a:extLst>
                <a:ext uri="{FF2B5EF4-FFF2-40B4-BE49-F238E27FC236}">
                  <a16:creationId xmlns:a16="http://schemas.microsoft.com/office/drawing/2014/main" id="{36B3A95F-3F68-36AE-B18B-968CEFF2BA53}"/>
                </a:ext>
              </a:extLst>
            </p:cNvPr>
            <p:cNvSpPr txBox="1"/>
            <p:nvPr/>
          </p:nvSpPr>
          <p:spPr>
            <a:xfrm>
              <a:off x="5216526" y="2687218"/>
              <a:ext cx="714379" cy="276999"/>
            </a:xfrm>
            <a:prstGeom prst="rect">
              <a:avLst/>
            </a:prstGeom>
            <a:noFill/>
          </p:spPr>
          <p:txBody>
            <a:bodyPr wrap="square" lIns="0" tIns="0" rIns="0" bIns="0" rtlCol="0">
              <a:spAutoFit/>
            </a:bodyPr>
            <a:lstStyle/>
            <a:p>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1,</a:t>
              </a:r>
              <a:r>
                <a:rPr lang="en-US" altLang="zh-CN" sz="1800" i="1" baseline="-25000" err="1">
                  <a:latin typeface="Consolas" pitchFamily="49" charset="0"/>
                  <a:cs typeface="Consolas" pitchFamily="49" charset="0"/>
                </a:rPr>
                <a:t>n</a:t>
              </a:r>
              <a:r>
                <a:rPr lang="en-US" altLang="zh-CN" sz="1800" baseline="-25000">
                  <a:latin typeface="Consolas" pitchFamily="49" charset="0"/>
                  <a:cs typeface="Consolas" pitchFamily="49" charset="0"/>
                </a:rPr>
                <a:t>-1</a:t>
              </a:r>
              <a:endParaRPr lang="zh-CN" altLang="en-US" sz="1800" baseline="-25000">
                <a:latin typeface="Consolas" pitchFamily="49" charset="0"/>
                <a:cs typeface="Consolas" pitchFamily="49" charset="0"/>
              </a:endParaRPr>
            </a:p>
          </p:txBody>
        </p:sp>
        <p:sp>
          <p:nvSpPr>
            <p:cNvPr id="62" name="TextBox 39">
              <a:extLst>
                <a:ext uri="{FF2B5EF4-FFF2-40B4-BE49-F238E27FC236}">
                  <a16:creationId xmlns:a16="http://schemas.microsoft.com/office/drawing/2014/main" id="{3A0F8731-A6BB-9BC7-66A7-213916B39004}"/>
                </a:ext>
              </a:extLst>
            </p:cNvPr>
            <p:cNvSpPr txBox="1"/>
            <p:nvPr/>
          </p:nvSpPr>
          <p:spPr>
            <a:xfrm>
              <a:off x="4645023" y="2668582"/>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sp>
          <p:nvSpPr>
            <p:cNvPr id="63" name="TextBox 40">
              <a:extLst>
                <a:ext uri="{FF2B5EF4-FFF2-40B4-BE49-F238E27FC236}">
                  <a16:creationId xmlns:a16="http://schemas.microsoft.com/office/drawing/2014/main" id="{7A86A4D4-04FA-BCE5-D098-8757D4958BB5}"/>
                </a:ext>
              </a:extLst>
            </p:cNvPr>
            <p:cNvSpPr txBox="1"/>
            <p:nvPr/>
          </p:nvSpPr>
          <p:spPr>
            <a:xfrm>
              <a:off x="3359140" y="3549236"/>
              <a:ext cx="714379" cy="276999"/>
            </a:xfrm>
            <a:prstGeom prst="rect">
              <a:avLst/>
            </a:prstGeom>
            <a:noFill/>
          </p:spPr>
          <p:txBody>
            <a:bodyPr wrap="square" lIns="0" tIns="0" rIns="0" bIns="0" rtlCol="0">
              <a:spAutoFit/>
            </a:bodyPr>
            <a:lstStyle/>
            <a:p>
              <a:r>
                <a:rPr lang="en-US" altLang="zh-CN" sz="1800" i="1" dirty="0">
                  <a:latin typeface="Consolas" pitchFamily="49" charset="0"/>
                  <a:cs typeface="Consolas" pitchFamily="49" charset="0"/>
                </a:rPr>
                <a:t>a</a:t>
              </a:r>
              <a:r>
                <a:rPr lang="en-US" altLang="zh-CN" sz="1800" i="1" baseline="-25000" dirty="0">
                  <a:latin typeface="Consolas" pitchFamily="49" charset="0"/>
                  <a:cs typeface="Consolas" pitchFamily="49" charset="0"/>
                </a:rPr>
                <a:t>n</a:t>
              </a:r>
              <a:r>
                <a:rPr lang="en-US" altLang="zh-CN" sz="1800" baseline="-25000" dirty="0">
                  <a:latin typeface="Consolas" pitchFamily="49" charset="0"/>
                  <a:cs typeface="Consolas" pitchFamily="49" charset="0"/>
                </a:rPr>
                <a:t>-1,0</a:t>
              </a:r>
              <a:endParaRPr lang="zh-CN" altLang="en-US" sz="1800" baseline="-25000" dirty="0">
                <a:latin typeface="Consolas" pitchFamily="49" charset="0"/>
                <a:cs typeface="Consolas" pitchFamily="49" charset="0"/>
              </a:endParaRPr>
            </a:p>
          </p:txBody>
        </p:sp>
        <p:sp>
          <p:nvSpPr>
            <p:cNvPr id="64" name="TextBox 41">
              <a:extLst>
                <a:ext uri="{FF2B5EF4-FFF2-40B4-BE49-F238E27FC236}">
                  <a16:creationId xmlns:a16="http://schemas.microsoft.com/office/drawing/2014/main" id="{B3328EAD-486C-F8DE-54CE-7FA72700483F}"/>
                </a:ext>
              </a:extLst>
            </p:cNvPr>
            <p:cNvSpPr txBox="1"/>
            <p:nvPr/>
          </p:nvSpPr>
          <p:spPr>
            <a:xfrm>
              <a:off x="4002081" y="3549236"/>
              <a:ext cx="714379" cy="276999"/>
            </a:xfrm>
            <a:prstGeom prst="rect">
              <a:avLst/>
            </a:prstGeom>
            <a:noFill/>
          </p:spPr>
          <p:txBody>
            <a:bodyPr wrap="square" lIns="0" tIns="0" rIns="0" bIns="0" rtlCol="0">
              <a:spAutoFit/>
            </a:bodyPr>
            <a:lstStyle/>
            <a:p>
              <a:r>
                <a:rPr lang="en-US" altLang="zh-CN" sz="1800" i="1">
                  <a:latin typeface="Consolas" pitchFamily="49" charset="0"/>
                  <a:cs typeface="Consolas" pitchFamily="49" charset="0"/>
                </a:rPr>
                <a:t>a</a:t>
              </a:r>
              <a:r>
                <a:rPr lang="en-US" altLang="zh-CN" sz="1800" i="1" baseline="-25000">
                  <a:latin typeface="Consolas" pitchFamily="49" charset="0"/>
                  <a:cs typeface="Consolas" pitchFamily="49" charset="0"/>
                </a:rPr>
                <a:t>n</a:t>
              </a:r>
              <a:r>
                <a:rPr lang="en-US" altLang="zh-CN" sz="1800" baseline="-25000">
                  <a:latin typeface="Consolas" pitchFamily="49" charset="0"/>
                  <a:cs typeface="Consolas" pitchFamily="49" charset="0"/>
                </a:rPr>
                <a:t>-1,1</a:t>
              </a:r>
              <a:endParaRPr lang="zh-CN" altLang="en-US" sz="1800" baseline="-25000">
                <a:latin typeface="Consolas" pitchFamily="49" charset="0"/>
                <a:cs typeface="Consolas" pitchFamily="49" charset="0"/>
              </a:endParaRPr>
            </a:p>
          </p:txBody>
        </p:sp>
        <p:sp>
          <p:nvSpPr>
            <p:cNvPr id="65" name="TextBox 42">
              <a:extLst>
                <a:ext uri="{FF2B5EF4-FFF2-40B4-BE49-F238E27FC236}">
                  <a16:creationId xmlns:a16="http://schemas.microsoft.com/office/drawing/2014/main" id="{0A44BD42-42A3-9510-1742-E729674F8C0B}"/>
                </a:ext>
              </a:extLst>
            </p:cNvPr>
            <p:cNvSpPr txBox="1"/>
            <p:nvPr/>
          </p:nvSpPr>
          <p:spPr>
            <a:xfrm>
              <a:off x="5216526" y="3549236"/>
              <a:ext cx="714379" cy="276999"/>
            </a:xfrm>
            <a:prstGeom prst="rect">
              <a:avLst/>
            </a:prstGeom>
            <a:noFill/>
          </p:spPr>
          <p:txBody>
            <a:bodyPr wrap="square" lIns="0" tIns="0" rIns="0" bIns="0" rtlCol="0">
              <a:spAutoFit/>
            </a:bodyPr>
            <a:lstStyle/>
            <a:p>
              <a:r>
                <a:rPr lang="en-US" altLang="zh-CN" sz="1800" i="1" dirty="0">
                  <a:latin typeface="Consolas" pitchFamily="49" charset="0"/>
                  <a:cs typeface="Consolas" pitchFamily="49" charset="0"/>
                </a:rPr>
                <a:t>a</a:t>
              </a:r>
              <a:r>
                <a:rPr lang="en-US" altLang="zh-CN" sz="1800" i="1" baseline="-25000" dirty="0">
                  <a:latin typeface="Consolas" pitchFamily="49" charset="0"/>
                  <a:cs typeface="Consolas" pitchFamily="49" charset="0"/>
                </a:rPr>
                <a:t>n</a:t>
              </a:r>
              <a:r>
                <a:rPr lang="en-US" altLang="zh-CN" sz="1800" baseline="-25000" dirty="0">
                  <a:latin typeface="Consolas" pitchFamily="49" charset="0"/>
                  <a:cs typeface="Consolas" pitchFamily="49" charset="0"/>
                </a:rPr>
                <a:t>-1,</a:t>
              </a:r>
              <a:r>
                <a:rPr lang="en-US" altLang="zh-CN" sz="1800" i="1" baseline="-25000" dirty="0">
                  <a:latin typeface="Consolas" pitchFamily="49" charset="0"/>
                  <a:cs typeface="Consolas" pitchFamily="49" charset="0"/>
                </a:rPr>
                <a:t>n</a:t>
              </a:r>
              <a:r>
                <a:rPr lang="en-US" altLang="zh-CN" sz="1800" baseline="-25000" dirty="0">
                  <a:latin typeface="Consolas" pitchFamily="49" charset="0"/>
                  <a:cs typeface="Consolas" pitchFamily="49" charset="0"/>
                </a:rPr>
                <a:t>-1</a:t>
              </a:r>
              <a:endParaRPr lang="zh-CN" altLang="en-US" sz="1800" baseline="-25000" dirty="0">
                <a:latin typeface="Consolas" pitchFamily="49" charset="0"/>
                <a:cs typeface="Consolas" pitchFamily="49" charset="0"/>
              </a:endParaRPr>
            </a:p>
          </p:txBody>
        </p:sp>
        <p:sp>
          <p:nvSpPr>
            <p:cNvPr id="66" name="TextBox 43">
              <a:extLst>
                <a:ext uri="{FF2B5EF4-FFF2-40B4-BE49-F238E27FC236}">
                  <a16:creationId xmlns:a16="http://schemas.microsoft.com/office/drawing/2014/main" id="{A2DA65B2-8631-2254-3B8C-9FD815CA5190}"/>
                </a:ext>
              </a:extLst>
            </p:cNvPr>
            <p:cNvSpPr txBox="1"/>
            <p:nvPr/>
          </p:nvSpPr>
          <p:spPr>
            <a:xfrm>
              <a:off x="4645023" y="3530600"/>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cxnSp>
          <p:nvCxnSpPr>
            <p:cNvPr id="67" name="直接连接符 66">
              <a:extLst>
                <a:ext uri="{FF2B5EF4-FFF2-40B4-BE49-F238E27FC236}">
                  <a16:creationId xmlns:a16="http://schemas.microsoft.com/office/drawing/2014/main" id="{454AA0C0-4877-0899-6E61-55EFE6E0D323}"/>
                </a:ext>
              </a:extLst>
            </p:cNvPr>
            <p:cNvCxnSpPr/>
            <p:nvPr/>
          </p:nvCxnSpPr>
          <p:spPr>
            <a:xfrm rot="5400000">
              <a:off x="5180777" y="31091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C6908786-F3B5-DB52-EDF9-FC2AC2635B77}"/>
                </a:ext>
              </a:extLst>
            </p:cNvPr>
            <p:cNvCxnSpPr/>
            <p:nvPr/>
          </p:nvCxnSpPr>
          <p:spPr>
            <a:xfrm>
              <a:off x="5908651" y="22653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8C9405C9-9165-5C5C-3020-01C05D25EEFC}"/>
                </a:ext>
              </a:extLst>
            </p:cNvPr>
            <p:cNvCxnSpPr/>
            <p:nvPr/>
          </p:nvCxnSpPr>
          <p:spPr>
            <a:xfrm>
              <a:off x="5907061" y="39624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70" name="TextBox 47">
              <a:extLst>
                <a:ext uri="{FF2B5EF4-FFF2-40B4-BE49-F238E27FC236}">
                  <a16:creationId xmlns:a16="http://schemas.microsoft.com/office/drawing/2014/main" id="{CFD5046F-F10F-0AEE-F5F1-0362E3C5FF28}"/>
                </a:ext>
              </a:extLst>
            </p:cNvPr>
            <p:cNvSpPr txBox="1"/>
            <p:nvPr/>
          </p:nvSpPr>
          <p:spPr>
            <a:xfrm>
              <a:off x="3502018" y="3097210"/>
              <a:ext cx="571504" cy="276999"/>
            </a:xfrm>
            <a:prstGeom prst="rect">
              <a:avLst/>
            </a:prstGeom>
            <a:noFill/>
          </p:spPr>
          <p:txBody>
            <a:bodyPr wrap="square" lIns="0" tIns="0" rIns="0" bIns="0" rtlCol="0">
              <a:spAutoFit/>
            </a:bodyPr>
            <a:lstStyle/>
            <a:p>
              <a:r>
                <a:rPr lang="en-US" altLang="zh-CN" sz="1800" i="1">
                  <a:latin typeface="Consolas" pitchFamily="49" charset="0"/>
                  <a:ea typeface="+mn-ea"/>
                  <a:cs typeface="Consolas" pitchFamily="49" charset="0"/>
                  <a:sym typeface="Symbol"/>
                </a:rPr>
                <a:t></a:t>
              </a:r>
              <a:endParaRPr lang="zh-CN" altLang="en-US" sz="1800" baseline="-25000">
                <a:latin typeface="Consolas" pitchFamily="49" charset="0"/>
                <a:ea typeface="+mn-ea"/>
                <a:cs typeface="Consolas" pitchFamily="49" charset="0"/>
              </a:endParaRPr>
            </a:p>
          </p:txBody>
        </p:sp>
      </p:grpSp>
      <p:cxnSp>
        <p:nvCxnSpPr>
          <p:cNvPr id="74" name="直接箭头连接符 73">
            <a:extLst>
              <a:ext uri="{FF2B5EF4-FFF2-40B4-BE49-F238E27FC236}">
                <a16:creationId xmlns:a16="http://schemas.microsoft.com/office/drawing/2014/main" id="{4D270D69-48F7-DC1A-EBCB-73C1D66719D7}"/>
              </a:ext>
            </a:extLst>
          </p:cNvPr>
          <p:cNvCxnSpPr/>
          <p:nvPr/>
        </p:nvCxnSpPr>
        <p:spPr>
          <a:xfrm rot="10800000" flipV="1">
            <a:off x="6963790" y="2114251"/>
            <a:ext cx="785818" cy="14287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75" name="TextBox 53">
            <a:extLst>
              <a:ext uri="{FF2B5EF4-FFF2-40B4-BE49-F238E27FC236}">
                <a16:creationId xmlns:a16="http://schemas.microsoft.com/office/drawing/2014/main" id="{BFB1EF8D-8192-7DE9-B844-BB30AF57E228}"/>
              </a:ext>
            </a:extLst>
          </p:cNvPr>
          <p:cNvSpPr txBox="1"/>
          <p:nvPr/>
        </p:nvSpPr>
        <p:spPr>
          <a:xfrm>
            <a:off x="6177972" y="2114251"/>
            <a:ext cx="928694" cy="369332"/>
          </a:xfrm>
          <a:prstGeom prst="rect">
            <a:avLst/>
          </a:prstGeom>
          <a:noFill/>
        </p:spPr>
        <p:txBody>
          <a:bodyPr wrap="square" rtlCol="0">
            <a:spAutoFit/>
          </a:bodyPr>
          <a:lstStyle/>
          <a:p>
            <a:r>
              <a:rPr kumimoji="1" lang="en-US" altLang="zh-CN" sz="1800" i="1" err="1">
                <a:latin typeface="Consolas" pitchFamily="49" charset="0"/>
                <a:ea typeface="楷体" pitchFamily="49" charset="-122"/>
                <a:cs typeface="Consolas" pitchFamily="49" charset="0"/>
              </a:rPr>
              <a:t>i</a:t>
            </a:r>
            <a:r>
              <a:rPr kumimoji="1" lang="en-US" altLang="zh-CN" sz="1800" err="1">
                <a:latin typeface="Consolas" pitchFamily="49" charset="0"/>
                <a:cs typeface="Consolas" pitchFamily="49" charset="0"/>
              </a:rPr>
              <a:t>≥</a:t>
            </a:r>
            <a:r>
              <a:rPr kumimoji="1" lang="en-US" altLang="zh-CN" sz="1800" i="1" err="1">
                <a:latin typeface="Consolas" pitchFamily="49" charset="0"/>
                <a:ea typeface="楷体" pitchFamily="49" charset="-122"/>
                <a:cs typeface="Consolas" pitchFamily="49" charset="0"/>
              </a:rPr>
              <a:t>j</a:t>
            </a:r>
            <a:endParaRPr lang="zh-CN" altLang="en-US" sz="1800">
              <a:latin typeface="Consolas" pitchFamily="49" charset="0"/>
              <a:cs typeface="Consolas" pitchFamily="49" charset="0"/>
            </a:endParaRPr>
          </a:p>
        </p:txBody>
      </p:sp>
      <p:sp>
        <p:nvSpPr>
          <p:cNvPr id="5" name="TextBox 2">
            <a:extLst>
              <a:ext uri="{FF2B5EF4-FFF2-40B4-BE49-F238E27FC236}">
                <a16:creationId xmlns:a16="http://schemas.microsoft.com/office/drawing/2014/main" id="{3A3F90BD-34ED-687D-5DEA-AC15AD54E32C}"/>
              </a:ext>
            </a:extLst>
          </p:cNvPr>
          <p:cNvSpPr txBox="1"/>
          <p:nvPr/>
        </p:nvSpPr>
        <p:spPr>
          <a:xfrm>
            <a:off x="1412060" y="3739675"/>
            <a:ext cx="2928958" cy="400110"/>
          </a:xfrm>
          <a:prstGeom prst="rect">
            <a:avLst/>
          </a:prstGeom>
          <a:noFill/>
        </p:spPr>
        <p:txBody>
          <a:bodyPr wrap="square" rtlCol="0">
            <a:spAutoFit/>
          </a:bodyPr>
          <a:lstStyle/>
          <a:p>
            <a:pPr algn="l"/>
            <a:r>
              <a:rPr lang="en-US" altLang="zh-CN" sz="2000" i="1">
                <a:solidFill>
                  <a:srgbClr val="FF0000"/>
                </a:solidFill>
                <a:latin typeface="Consolas" pitchFamily="49" charset="0"/>
                <a:ea typeface="楷体" pitchFamily="49" charset="-122"/>
                <a:cs typeface="Consolas" pitchFamily="49" charset="0"/>
              </a:rPr>
              <a:t>n</a:t>
            </a:r>
            <a:r>
              <a:rPr lang="zh-CN" altLang="en-US" sz="2000">
                <a:solidFill>
                  <a:srgbClr val="FF0000"/>
                </a:solidFill>
                <a:latin typeface="Consolas" pitchFamily="49" charset="0"/>
                <a:ea typeface="楷体" pitchFamily="49" charset="-122"/>
                <a:cs typeface="Consolas" pitchFamily="49" charset="0"/>
              </a:rPr>
              <a:t>阶对称矩阵</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a:t>
            </a:r>
            <a:endParaRPr lang="zh-CN" altLang="en-US" sz="2000"/>
          </a:p>
        </p:txBody>
      </p:sp>
      <p:sp>
        <p:nvSpPr>
          <p:cNvPr id="6" name="圆柱形 3">
            <a:extLst>
              <a:ext uri="{FF2B5EF4-FFF2-40B4-BE49-F238E27FC236}">
                <a16:creationId xmlns:a16="http://schemas.microsoft.com/office/drawing/2014/main" id="{36F40F46-87A0-41A7-270A-40F91F868F9C}"/>
              </a:ext>
            </a:extLst>
          </p:cNvPr>
          <p:cNvSpPr/>
          <p:nvPr/>
        </p:nvSpPr>
        <p:spPr>
          <a:xfrm>
            <a:off x="2055002" y="5025559"/>
            <a:ext cx="1214446" cy="1214446"/>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altLang="zh-CN" sz="2000" i="1">
                <a:solidFill>
                  <a:srgbClr val="0000FF"/>
                </a:solidFill>
                <a:latin typeface="Consolas" pitchFamily="49" charset="0"/>
                <a:cs typeface="Consolas" pitchFamily="49" charset="0"/>
              </a:rPr>
              <a:t>B</a:t>
            </a:r>
            <a:endParaRPr lang="zh-CN" altLang="en-US" sz="2000" i="1">
              <a:solidFill>
                <a:srgbClr val="0000FF"/>
              </a:solidFill>
              <a:latin typeface="Consolas" pitchFamily="49" charset="0"/>
              <a:cs typeface="Consolas" pitchFamily="49" charset="0"/>
            </a:endParaRPr>
          </a:p>
        </p:txBody>
      </p:sp>
      <p:cxnSp>
        <p:nvCxnSpPr>
          <p:cNvPr id="7" name="直接箭头连接符 6">
            <a:extLst>
              <a:ext uri="{FF2B5EF4-FFF2-40B4-BE49-F238E27FC236}">
                <a16:creationId xmlns:a16="http://schemas.microsoft.com/office/drawing/2014/main" id="{3202057D-7E71-1A2D-423C-6E1BC60241A5}"/>
              </a:ext>
            </a:extLst>
          </p:cNvPr>
          <p:cNvCxnSpPr/>
          <p:nvPr/>
        </p:nvCxnSpPr>
        <p:spPr>
          <a:xfrm rot="5400000">
            <a:off x="2254931" y="4632650"/>
            <a:ext cx="785818" cy="1588"/>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8" name="TextBox 5">
            <a:extLst>
              <a:ext uri="{FF2B5EF4-FFF2-40B4-BE49-F238E27FC236}">
                <a16:creationId xmlns:a16="http://schemas.microsoft.com/office/drawing/2014/main" id="{D35E04A6-FA41-776D-32EB-4A6024620E0A}"/>
              </a:ext>
            </a:extLst>
          </p:cNvPr>
          <p:cNvSpPr txBox="1"/>
          <p:nvPr/>
        </p:nvSpPr>
        <p:spPr>
          <a:xfrm>
            <a:off x="2647840" y="4411135"/>
            <a:ext cx="1428760" cy="338554"/>
          </a:xfrm>
          <a:prstGeom prst="rect">
            <a:avLst/>
          </a:prstGeom>
          <a:noFill/>
        </p:spPr>
        <p:txBody>
          <a:bodyPr wrap="square" rtlCol="0">
            <a:spAutoFit/>
          </a:bodyPr>
          <a:lstStyle/>
          <a:p>
            <a:pPr algn="l"/>
            <a:r>
              <a:rPr lang="zh-CN" altLang="en-US" sz="1600">
                <a:solidFill>
                  <a:srgbClr val="0000FF"/>
                </a:solidFill>
                <a:latin typeface="仿宋" pitchFamily="49" charset="-122"/>
                <a:ea typeface="仿宋" pitchFamily="49" charset="-122"/>
              </a:rPr>
              <a:t>压缩存储</a:t>
            </a:r>
          </a:p>
        </p:txBody>
      </p:sp>
      <p:sp>
        <p:nvSpPr>
          <p:cNvPr id="9" name="TextBox 6">
            <a:extLst>
              <a:ext uri="{FF2B5EF4-FFF2-40B4-BE49-F238E27FC236}">
                <a16:creationId xmlns:a16="http://schemas.microsoft.com/office/drawing/2014/main" id="{A175F56A-35F1-60EB-07B0-CB7ABDD1837C}"/>
              </a:ext>
            </a:extLst>
          </p:cNvPr>
          <p:cNvSpPr txBox="1"/>
          <p:nvPr/>
        </p:nvSpPr>
        <p:spPr>
          <a:xfrm>
            <a:off x="5650770" y="4509346"/>
            <a:ext cx="3214710" cy="400110"/>
          </a:xfrm>
          <a:prstGeom prst="rect">
            <a:avLst/>
          </a:prstGeom>
          <a:noFill/>
        </p:spPr>
        <p:txBody>
          <a:bodyPr wrap="square" rtlCol="0">
            <a:spAutoFit/>
          </a:bodyPr>
          <a:lstStyle/>
          <a:p>
            <a:pPr algn="l"/>
            <a:r>
              <a:rPr lang="zh-CN" altLang="en-US" sz="2000" dirty="0">
                <a:solidFill>
                  <a:srgbClr val="0000FF"/>
                </a:solidFill>
                <a:latin typeface="Consolas" pitchFamily="49" charset="0"/>
                <a:ea typeface="+mn-ea"/>
                <a:cs typeface="Consolas" pitchFamily="49" charset="0"/>
              </a:rPr>
              <a:t>提供类似</a:t>
            </a:r>
            <a:r>
              <a:rPr lang="en-US" altLang="zh-CN" sz="2000" i="1" dirty="0">
                <a:solidFill>
                  <a:srgbClr val="0000FF"/>
                </a:solidFill>
                <a:latin typeface="Consolas" pitchFamily="49" charset="0"/>
                <a:ea typeface="+mn-ea"/>
                <a:cs typeface="Consolas" pitchFamily="49" charset="0"/>
              </a:rPr>
              <a:t>A</a:t>
            </a:r>
            <a:r>
              <a:rPr lang="en-US" altLang="zh-CN" sz="2000" dirty="0">
                <a:solidFill>
                  <a:srgbClr val="0000FF"/>
                </a:solidFill>
                <a:latin typeface="Consolas" pitchFamily="49" charset="0"/>
                <a:ea typeface="+mn-ea"/>
                <a:cs typeface="Consolas" pitchFamily="49" charset="0"/>
              </a:rPr>
              <a:t>[</a:t>
            </a:r>
            <a:r>
              <a:rPr lang="en-US" altLang="zh-CN" sz="2000" i="1" dirty="0" err="1">
                <a:solidFill>
                  <a:srgbClr val="0000FF"/>
                </a:solidFill>
                <a:latin typeface="Consolas" pitchFamily="49" charset="0"/>
                <a:ea typeface="+mn-ea"/>
                <a:cs typeface="Consolas" pitchFamily="49" charset="0"/>
              </a:rPr>
              <a:t>i</a:t>
            </a:r>
            <a:r>
              <a:rPr lang="en-US" altLang="zh-CN" sz="2000" dirty="0">
                <a:solidFill>
                  <a:srgbClr val="0000FF"/>
                </a:solidFill>
                <a:latin typeface="Consolas" pitchFamily="49" charset="0"/>
                <a:ea typeface="+mn-ea"/>
                <a:cs typeface="Consolas" pitchFamily="49" charset="0"/>
              </a:rPr>
              <a:t>][</a:t>
            </a:r>
            <a:r>
              <a:rPr lang="en-US" altLang="zh-CN" sz="2000" i="1" dirty="0">
                <a:solidFill>
                  <a:srgbClr val="0000FF"/>
                </a:solidFill>
                <a:latin typeface="Consolas" pitchFamily="49" charset="0"/>
                <a:ea typeface="+mn-ea"/>
                <a:cs typeface="Consolas" pitchFamily="49" charset="0"/>
              </a:rPr>
              <a:t>j</a:t>
            </a:r>
            <a:r>
              <a:rPr lang="en-US" altLang="zh-CN" sz="2000" dirty="0">
                <a:solidFill>
                  <a:srgbClr val="0000FF"/>
                </a:solidFill>
                <a:latin typeface="Consolas" pitchFamily="49" charset="0"/>
                <a:ea typeface="+mn-ea"/>
                <a:cs typeface="Consolas" pitchFamily="49" charset="0"/>
              </a:rPr>
              <a:t>]</a:t>
            </a:r>
            <a:r>
              <a:rPr lang="zh-CN" altLang="en-US" sz="2000" dirty="0">
                <a:solidFill>
                  <a:srgbClr val="0000FF"/>
                </a:solidFill>
                <a:latin typeface="Consolas" pitchFamily="49" charset="0"/>
                <a:ea typeface="+mn-ea"/>
                <a:cs typeface="Consolas" pitchFamily="49" charset="0"/>
              </a:rPr>
              <a:t>的操作</a:t>
            </a:r>
          </a:p>
        </p:txBody>
      </p:sp>
      <p:sp>
        <p:nvSpPr>
          <p:cNvPr id="10" name="下箭头 7">
            <a:extLst>
              <a:ext uri="{FF2B5EF4-FFF2-40B4-BE49-F238E27FC236}">
                <a16:creationId xmlns:a16="http://schemas.microsoft.com/office/drawing/2014/main" id="{D7248DF2-0308-58C5-7D0D-CEE31BDBE560}"/>
              </a:ext>
            </a:extLst>
          </p:cNvPr>
          <p:cNvSpPr/>
          <p:nvPr/>
        </p:nvSpPr>
        <p:spPr>
          <a:xfrm rot="16200000">
            <a:off x="4265167" y="4827730"/>
            <a:ext cx="214314" cy="2007192"/>
          </a:xfrm>
          <a:prstGeom prst="downArrow">
            <a:avLst/>
          </a:prstGeom>
        </p:spPr>
        <p:style>
          <a:lnRef idx="1">
            <a:schemeClr val="accent3"/>
          </a:lnRef>
          <a:fillRef idx="3">
            <a:schemeClr val="accent3"/>
          </a:fillRef>
          <a:effectRef idx="2">
            <a:schemeClr val="accent3"/>
          </a:effectRef>
          <a:fontRef idx="minor">
            <a:schemeClr val="lt1"/>
          </a:fontRef>
        </p:style>
        <p:txBody>
          <a:bodyPr rtlCol="0" anchor="ctr"/>
          <a:lstStyle/>
          <a:p>
            <a:pPr algn="l"/>
            <a:endParaRPr lang="zh-CN" altLang="en-US"/>
          </a:p>
        </p:txBody>
      </p:sp>
      <p:sp>
        <p:nvSpPr>
          <p:cNvPr id="11" name="TextBox 8">
            <a:extLst>
              <a:ext uri="{FF2B5EF4-FFF2-40B4-BE49-F238E27FC236}">
                <a16:creationId xmlns:a16="http://schemas.microsoft.com/office/drawing/2014/main" id="{DE43B5A8-44C1-6748-DDDD-82F3E6AB712C}"/>
              </a:ext>
            </a:extLst>
          </p:cNvPr>
          <p:cNvSpPr txBox="1"/>
          <p:nvPr/>
        </p:nvSpPr>
        <p:spPr>
          <a:xfrm>
            <a:off x="5756846" y="5102361"/>
            <a:ext cx="5214974" cy="10785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bIns="108000" rtlCol="0">
            <a:spAutoFit/>
          </a:bodyPr>
          <a:lstStyle/>
          <a:p>
            <a:pPr marL="342900" indent="-342900" algn="l">
              <a:lnSpc>
                <a:spcPct val="150000"/>
              </a:lnSpc>
              <a:buBlip>
                <a:blip r:embed="rId2"/>
              </a:buBlip>
            </a:pPr>
            <a:r>
              <a:rPr lang="zh-CN" altLang="en-US" sz="2000">
                <a:solidFill>
                  <a:srgbClr val="0000FF"/>
                </a:solidFill>
                <a:latin typeface="Consolas" pitchFamily="49" charset="0"/>
                <a:ea typeface="仿宋" pitchFamily="49" charset="-122"/>
                <a:cs typeface="Consolas" pitchFamily="49" charset="0"/>
              </a:rPr>
              <a:t>存元素</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x</a:t>
            </a:r>
            <a:r>
              <a:rPr lang="zh-CN" altLang="en-US"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f</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zh-CN" altLang="en-US"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B</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x</a:t>
            </a:r>
          </a:p>
          <a:p>
            <a:pPr marL="342900" indent="-342900" algn="l">
              <a:lnSpc>
                <a:spcPct val="150000"/>
              </a:lnSpc>
              <a:buBlip>
                <a:blip r:embed="rId2"/>
              </a:buBlip>
            </a:pPr>
            <a:r>
              <a:rPr lang="zh-CN" altLang="en-US" sz="2000">
                <a:solidFill>
                  <a:srgbClr val="0000FF"/>
                </a:solidFill>
                <a:latin typeface="Consolas" pitchFamily="49" charset="0"/>
                <a:ea typeface="仿宋" pitchFamily="49" charset="-122"/>
                <a:cs typeface="Consolas" pitchFamily="49" charset="0"/>
              </a:rPr>
              <a:t>取元素</a:t>
            </a:r>
            <a:r>
              <a:rPr lang="en-US" altLang="zh-CN" sz="2000" i="1">
                <a:solidFill>
                  <a:srgbClr val="0000FF"/>
                </a:solidFill>
                <a:latin typeface="Consolas" pitchFamily="49" charset="0"/>
                <a:ea typeface="仿宋" pitchFamily="49" charset="-122"/>
                <a:cs typeface="Consolas" pitchFamily="49" charset="0"/>
              </a:rPr>
              <a:t>y</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zh-CN" altLang="en-US"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f</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zh-CN" altLang="en-US"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y</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B</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a:t>
            </a:r>
          </a:p>
        </p:txBody>
      </p:sp>
      <p:sp>
        <p:nvSpPr>
          <p:cNvPr id="12" name="TextBox 9">
            <a:extLst>
              <a:ext uri="{FF2B5EF4-FFF2-40B4-BE49-F238E27FC236}">
                <a16:creationId xmlns:a16="http://schemas.microsoft.com/office/drawing/2014/main" id="{C6A745C3-B8C1-BE44-9A2D-66887124A232}"/>
              </a:ext>
            </a:extLst>
          </p:cNvPr>
          <p:cNvSpPr txBox="1"/>
          <p:nvPr/>
        </p:nvSpPr>
        <p:spPr>
          <a:xfrm>
            <a:off x="983432" y="3295555"/>
            <a:ext cx="7715304" cy="400110"/>
          </a:xfrm>
          <a:prstGeom prst="rect">
            <a:avLst/>
          </a:prstGeom>
          <a:noFill/>
        </p:spPr>
        <p:txBody>
          <a:bodyPr wrap="square" rtlCol="0">
            <a:spAutoFit/>
          </a:bodyPr>
          <a:lstStyle/>
          <a:p>
            <a:pPr algn="l"/>
            <a:r>
              <a:rPr lang="zh-CN" altLang="en-US" sz="2000">
                <a:solidFill>
                  <a:srgbClr val="FF0000"/>
                </a:solidFill>
                <a:latin typeface="Consolas" pitchFamily="49" charset="0"/>
                <a:ea typeface="楷体" pitchFamily="49" charset="-122"/>
                <a:cs typeface="Consolas" pitchFamily="49" charset="0"/>
              </a:rPr>
              <a:t>对于</a:t>
            </a:r>
            <a:r>
              <a:rPr kumimoji="1" lang="zh-CN" altLang="en-US" sz="2000">
                <a:solidFill>
                  <a:srgbClr val="FF0000"/>
                </a:solidFill>
                <a:latin typeface="Consolas" pitchFamily="49" charset="0"/>
                <a:ea typeface="楷体" pitchFamily="49" charset="-122"/>
                <a:cs typeface="Consolas" pitchFamily="49" charset="0"/>
              </a:rPr>
              <a:t>对称矩阵</a:t>
            </a:r>
            <a:r>
              <a:rPr kumimoji="1" lang="en-US" altLang="zh-CN" sz="2000" i="1">
                <a:solidFill>
                  <a:srgbClr val="FF0000"/>
                </a:solidFill>
                <a:latin typeface="Consolas" pitchFamily="49" charset="0"/>
                <a:ea typeface="楷体" pitchFamily="49" charset="-122"/>
                <a:cs typeface="Consolas" pitchFamily="49" charset="0"/>
              </a:rPr>
              <a:t>A</a:t>
            </a:r>
            <a:r>
              <a:rPr kumimoji="1" lang="zh-CN" altLang="en-US" sz="2000">
                <a:solidFill>
                  <a:srgbClr val="FF0000"/>
                </a:solidFill>
                <a:latin typeface="Consolas" pitchFamily="49" charset="0"/>
                <a:ea typeface="楷体" pitchFamily="49" charset="-122"/>
                <a:cs typeface="Consolas" pitchFamily="49" charset="0"/>
              </a:rPr>
              <a:t>，采用一维数组</a:t>
            </a:r>
            <a:r>
              <a:rPr kumimoji="1" lang="en-US" altLang="zh-CN" sz="2000" i="1">
                <a:solidFill>
                  <a:srgbClr val="FF0000"/>
                </a:solidFill>
                <a:latin typeface="Consolas" pitchFamily="49" charset="0"/>
                <a:ea typeface="楷体" pitchFamily="49" charset="-122"/>
                <a:cs typeface="Consolas" pitchFamily="49" charset="0"/>
              </a:rPr>
              <a:t>B</a:t>
            </a:r>
            <a:r>
              <a:rPr kumimoji="1" lang="zh-CN" altLang="en-US" sz="2000">
                <a:solidFill>
                  <a:srgbClr val="FF0000"/>
                </a:solidFill>
                <a:latin typeface="Consolas" pitchFamily="49" charset="0"/>
                <a:ea typeface="楷体" pitchFamily="49" charset="-122"/>
                <a:cs typeface="Consolas" pitchFamily="49" charset="0"/>
              </a:rPr>
              <a:t>存储，并提供</a:t>
            </a:r>
            <a:r>
              <a:rPr kumimoji="1" lang="en-US" altLang="zh-CN" sz="2000" i="1">
                <a:solidFill>
                  <a:srgbClr val="FF0000"/>
                </a:solidFill>
                <a:latin typeface="Consolas" pitchFamily="49" charset="0"/>
                <a:ea typeface="楷体" pitchFamily="49" charset="-122"/>
                <a:cs typeface="Consolas" pitchFamily="49" charset="0"/>
              </a:rPr>
              <a:t>A</a:t>
            </a:r>
            <a:r>
              <a:rPr kumimoji="1" lang="zh-CN" altLang="en-US" sz="2000">
                <a:solidFill>
                  <a:srgbClr val="FF0000"/>
                </a:solidFill>
                <a:latin typeface="Consolas" pitchFamily="49" charset="0"/>
                <a:ea typeface="楷体" pitchFamily="49" charset="-122"/>
                <a:cs typeface="Consolas" pitchFamily="49" charset="0"/>
              </a:rPr>
              <a:t>的所有运算。</a:t>
            </a:r>
            <a:endParaRPr lang="zh-CN" altLang="en-US" sz="2000">
              <a:solidFill>
                <a:srgbClr val="FF0000"/>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222345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972A4-99A3-4595-2E01-B1D075ED1CE1}"/>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6F5A365D-AF70-9998-B194-CC29BC2061CB}"/>
              </a:ext>
            </a:extLst>
          </p:cNvPr>
          <p:cNvSpPr/>
          <p:nvPr/>
        </p:nvSpPr>
        <p:spPr>
          <a:xfrm>
            <a:off x="1960978" y="1966672"/>
            <a:ext cx="8669423" cy="830997"/>
          </a:xfrm>
          <a:prstGeom prst="rect">
            <a:avLst/>
          </a:prstGeom>
        </p:spPr>
        <p:txBody>
          <a:bodyPr wrap="square">
            <a:spAutoFit/>
          </a:bodyPr>
          <a:lstStyle/>
          <a:p>
            <a:r>
              <a:rPr lang="zh-CN" altLang="zh-CN" sz="2400" dirty="0">
                <a:solidFill>
                  <a:srgbClr val="FF0000"/>
                </a:solidFill>
                <a:latin typeface="微软雅黑" pitchFamily="34" charset="-122"/>
                <a:ea typeface="微软雅黑" pitchFamily="34" charset="-122"/>
                <a:cs typeface="经典粗黑简" pitchFamily="49" charset="-122"/>
              </a:rPr>
              <a:t>特殊矩阵</a:t>
            </a:r>
            <a:r>
              <a:rPr lang="zh-CN" altLang="en-US" sz="2400" dirty="0">
                <a:latin typeface="微软雅黑" pitchFamily="34" charset="-122"/>
                <a:ea typeface="微软雅黑" pitchFamily="34" charset="-122"/>
                <a:cs typeface="经典粗黑简" pitchFamily="49" charset="-122"/>
              </a:rPr>
              <a:t>是</a:t>
            </a:r>
            <a:r>
              <a:rPr lang="zh-CN" altLang="zh-CN" sz="2400" dirty="0">
                <a:latin typeface="微软雅黑" pitchFamily="34" charset="-122"/>
                <a:ea typeface="微软雅黑" pitchFamily="34" charset="-122"/>
                <a:cs typeface="经典粗黑简" pitchFamily="49" charset="-122"/>
              </a:rPr>
              <a:t>指非零元素或零元素的分布有一定规律的矩阵</a:t>
            </a:r>
            <a:r>
              <a:rPr lang="zh-CN" altLang="en-US"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如三角矩阵、对称矩阵、带状矩阵、稀疏矩阵等</a:t>
            </a:r>
            <a:r>
              <a:rPr lang="zh-CN" altLang="en-US" sz="2400" dirty="0">
                <a:latin typeface="微软雅黑" pitchFamily="34" charset="-122"/>
                <a:ea typeface="微软雅黑" pitchFamily="34" charset="-122"/>
                <a:cs typeface="经典粗黑简" pitchFamily="49" charset="-122"/>
              </a:rPr>
              <a:t>。</a:t>
            </a:r>
          </a:p>
        </p:txBody>
      </p:sp>
      <p:sp>
        <p:nvSpPr>
          <p:cNvPr id="2" name="Rectangle 3">
            <a:extLst>
              <a:ext uri="{FF2B5EF4-FFF2-40B4-BE49-F238E27FC236}">
                <a16:creationId xmlns:a16="http://schemas.microsoft.com/office/drawing/2014/main" id="{493ED201-1435-6167-2BF1-C83A8536E857}"/>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3" name="Rectangle 2">
            <a:extLst>
              <a:ext uri="{FF2B5EF4-FFF2-40B4-BE49-F238E27FC236}">
                <a16:creationId xmlns:a16="http://schemas.microsoft.com/office/drawing/2014/main" id="{738B3D74-26C5-F2FF-4AF2-5B7CA72A85EC}"/>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35D6D95C-1F87-F29A-4B55-D96C70AA682B}"/>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9F9F293F-A859-FFF0-F98E-7260C7F0C329}"/>
              </a:ext>
            </a:extLst>
          </p:cNvPr>
          <p:cNvSpPr/>
          <p:nvPr/>
        </p:nvSpPr>
        <p:spPr>
          <a:xfrm>
            <a:off x="1865942" y="2797669"/>
            <a:ext cx="9198610" cy="707886"/>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）三角矩阵：上</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下</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三角矩阵是指矩阵的下（上）三角（不包括对角线）中的元素均为常数或零的</a:t>
            </a:r>
            <a:r>
              <a:rPr lang="en-US" altLang="zh-CN" sz="2000" dirty="0">
                <a:latin typeface="微软雅黑" pitchFamily="34" charset="-122"/>
                <a:ea typeface="微软雅黑" pitchFamily="34" charset="-122"/>
                <a:cs typeface="经典粗黑简" pitchFamily="49" charset="-122"/>
              </a:rPr>
              <a:t>n</a:t>
            </a:r>
            <a:r>
              <a:rPr lang="zh-CN" altLang="en-US" sz="2000" dirty="0">
                <a:latin typeface="微软雅黑" pitchFamily="34" charset="-122"/>
                <a:ea typeface="微软雅黑" pitchFamily="34" charset="-122"/>
                <a:cs typeface="经典粗黑简" pitchFamily="49" charset="-122"/>
              </a:rPr>
              <a:t>阶矩阵，即非零元素的分布在矩阵中呈现为三角形。</a:t>
            </a:r>
          </a:p>
        </p:txBody>
      </p:sp>
      <p:grpSp>
        <p:nvGrpSpPr>
          <p:cNvPr id="6" name="组合 5"/>
          <p:cNvGrpSpPr/>
          <p:nvPr/>
        </p:nvGrpSpPr>
        <p:grpSpPr>
          <a:xfrm>
            <a:off x="3311440" y="3931822"/>
            <a:ext cx="2006600" cy="1784351"/>
            <a:chOff x="2033691" y="4896989"/>
            <a:chExt cx="2006600" cy="1784351"/>
          </a:xfrm>
        </p:grpSpPr>
        <p:sp>
          <p:nvSpPr>
            <p:cNvPr id="7" name="Rectangle 4"/>
            <p:cNvSpPr>
              <a:spLocks noChangeArrowheads="1"/>
            </p:cNvSpPr>
            <p:nvPr/>
          </p:nvSpPr>
          <p:spPr bwMode="auto">
            <a:xfrm>
              <a:off x="2033691" y="4896989"/>
              <a:ext cx="2006600" cy="17843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gn="l">
                <a:spcBef>
                  <a:spcPct val="5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1     </a:t>
              </a:r>
              <a:r>
                <a:rPr kumimoji="1" lang="en-US" altLang="zh-CN" sz="2000" dirty="0">
                  <a:solidFill>
                    <a:srgbClr val="FF0000"/>
                  </a:solidFill>
                  <a:latin typeface="Tahoma" pitchFamily="34" charset="0"/>
                  <a:ea typeface="楷体_GB2312" pitchFamily="49" charset="-122"/>
                </a:rPr>
                <a:t>0     0     0</a:t>
              </a:r>
              <a:endParaRPr kumimoji="1" lang="en-US" altLang="zh-CN" sz="2000" baseline="-20000" dirty="0">
                <a:solidFill>
                  <a:srgbClr val="FF0000"/>
                </a:solidFill>
                <a:latin typeface="Tahoma" pitchFamily="34" charset="0"/>
                <a:ea typeface="楷体_GB2312" pitchFamily="49" charset="-122"/>
              </a:endParaRPr>
            </a:p>
            <a:p>
              <a:pPr algn="l">
                <a:spcBef>
                  <a:spcPct val="5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2     1     </a:t>
              </a:r>
              <a:r>
                <a:rPr kumimoji="1" lang="en-US" altLang="zh-CN" sz="2000" dirty="0">
                  <a:solidFill>
                    <a:srgbClr val="FF0000"/>
                  </a:solidFill>
                  <a:latin typeface="Tahoma" pitchFamily="34" charset="0"/>
                  <a:ea typeface="楷体_GB2312" pitchFamily="49" charset="-122"/>
                </a:rPr>
                <a:t>0     0</a:t>
              </a:r>
            </a:p>
            <a:p>
              <a:pPr algn="l">
                <a:spcBef>
                  <a:spcPct val="5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3     3     1     </a:t>
              </a:r>
              <a:r>
                <a:rPr kumimoji="1" lang="en-US" altLang="zh-CN" sz="2000" dirty="0">
                  <a:solidFill>
                    <a:srgbClr val="FF0000"/>
                  </a:solidFill>
                  <a:latin typeface="Tahoma" pitchFamily="34" charset="0"/>
                  <a:ea typeface="楷体_GB2312" pitchFamily="49" charset="-122"/>
                </a:rPr>
                <a:t>0</a:t>
              </a:r>
            </a:p>
            <a:p>
              <a:pPr algn="l">
                <a:spcBef>
                  <a:spcPct val="5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4     4     4     1</a:t>
              </a:r>
            </a:p>
          </p:txBody>
        </p:sp>
        <p:grpSp>
          <p:nvGrpSpPr>
            <p:cNvPr id="8" name="组合 7"/>
            <p:cNvGrpSpPr/>
            <p:nvPr/>
          </p:nvGrpSpPr>
          <p:grpSpPr>
            <a:xfrm>
              <a:off x="2033691" y="4901751"/>
              <a:ext cx="76200" cy="1779589"/>
              <a:chOff x="1957491" y="4901751"/>
              <a:chExt cx="152400" cy="2438400"/>
            </a:xfrm>
          </p:grpSpPr>
          <p:sp>
            <p:nvSpPr>
              <p:cNvPr id="10" name="Line 5"/>
              <p:cNvSpPr>
                <a:spLocks noChangeShapeType="1"/>
              </p:cNvSpPr>
              <p:nvPr/>
            </p:nvSpPr>
            <p:spPr bwMode="auto">
              <a:xfrm>
                <a:off x="1957491" y="4901751"/>
                <a:ext cx="0" cy="2438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 name="Line 6"/>
              <p:cNvSpPr>
                <a:spLocks noChangeShapeType="1"/>
              </p:cNvSpPr>
              <p:nvPr/>
            </p:nvSpPr>
            <p:spPr bwMode="auto">
              <a:xfrm>
                <a:off x="1957491" y="7340151"/>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 name="Line 7"/>
              <p:cNvSpPr>
                <a:spLocks noChangeShapeType="1"/>
              </p:cNvSpPr>
              <p:nvPr/>
            </p:nvSpPr>
            <p:spPr bwMode="auto">
              <a:xfrm>
                <a:off x="1957491" y="4901751"/>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8" name="组合 37"/>
            <p:cNvGrpSpPr/>
            <p:nvPr/>
          </p:nvGrpSpPr>
          <p:grpSpPr>
            <a:xfrm>
              <a:off x="3887890" y="4901752"/>
              <a:ext cx="152401" cy="1779588"/>
              <a:chOff x="4776891" y="4901751"/>
              <a:chExt cx="152400" cy="2438400"/>
            </a:xfrm>
          </p:grpSpPr>
          <p:sp>
            <p:nvSpPr>
              <p:cNvPr id="39" name="Line 8"/>
              <p:cNvSpPr>
                <a:spLocks noChangeShapeType="1"/>
              </p:cNvSpPr>
              <p:nvPr/>
            </p:nvSpPr>
            <p:spPr bwMode="auto">
              <a:xfrm>
                <a:off x="4929291" y="4901751"/>
                <a:ext cx="0" cy="2438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0" name="Line 9"/>
              <p:cNvSpPr>
                <a:spLocks noChangeShapeType="1"/>
              </p:cNvSpPr>
              <p:nvPr/>
            </p:nvSpPr>
            <p:spPr bwMode="auto">
              <a:xfrm>
                <a:off x="4776891" y="7340151"/>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 name="Line 10"/>
              <p:cNvSpPr>
                <a:spLocks noChangeShapeType="1"/>
              </p:cNvSpPr>
              <p:nvPr/>
            </p:nvSpPr>
            <p:spPr bwMode="auto">
              <a:xfrm>
                <a:off x="4776891" y="4901751"/>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3" name="Text Box 20"/>
          <p:cNvSpPr txBox="1">
            <a:spLocks noChangeArrowheads="1"/>
          </p:cNvSpPr>
          <p:nvPr/>
        </p:nvSpPr>
        <p:spPr bwMode="auto">
          <a:xfrm>
            <a:off x="3575720" y="5716600"/>
            <a:ext cx="14780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下三角矩阵</a:t>
            </a:r>
          </a:p>
        </p:txBody>
      </p:sp>
      <p:sp>
        <p:nvSpPr>
          <p:cNvPr id="14" name="Text Box 21"/>
          <p:cNvSpPr txBox="1">
            <a:spLocks noChangeArrowheads="1"/>
          </p:cNvSpPr>
          <p:nvPr/>
        </p:nvSpPr>
        <p:spPr bwMode="auto">
          <a:xfrm>
            <a:off x="7004371" y="5716600"/>
            <a:ext cx="152259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上三角矩阵</a:t>
            </a:r>
          </a:p>
        </p:txBody>
      </p:sp>
      <p:grpSp>
        <p:nvGrpSpPr>
          <p:cNvPr id="15" name="组合 14"/>
          <p:cNvGrpSpPr/>
          <p:nvPr/>
        </p:nvGrpSpPr>
        <p:grpSpPr>
          <a:xfrm>
            <a:off x="6810054" y="3931821"/>
            <a:ext cx="2076541" cy="1784350"/>
            <a:chOff x="5676900" y="4414837"/>
            <a:chExt cx="2076541" cy="1784350"/>
          </a:xfrm>
        </p:grpSpPr>
        <p:sp>
          <p:nvSpPr>
            <p:cNvPr id="16" name="Rectangle 13"/>
            <p:cNvSpPr>
              <a:spLocks noChangeArrowheads="1"/>
            </p:cNvSpPr>
            <p:nvPr/>
          </p:nvSpPr>
          <p:spPr bwMode="auto">
            <a:xfrm>
              <a:off x="5745480" y="4414837"/>
              <a:ext cx="1997075"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spcBef>
                  <a:spcPct val="5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1     2     3     4</a:t>
              </a:r>
            </a:p>
            <a:p>
              <a:pPr algn="l">
                <a:spcBef>
                  <a:spcPct val="50000"/>
                </a:spcBef>
                <a:buClr>
                  <a:schemeClr val="folHlink"/>
                </a:buClr>
                <a:buSzPct val="60000"/>
                <a:buFont typeface="Wingdings" pitchFamily="2" charset="2"/>
                <a:buNone/>
              </a:pPr>
              <a:r>
                <a:rPr kumimoji="1" lang="en-US" altLang="zh-CN" sz="2000" dirty="0">
                  <a:solidFill>
                    <a:srgbClr val="FF0000"/>
                  </a:solidFill>
                  <a:latin typeface="Tahoma" pitchFamily="34" charset="0"/>
                  <a:ea typeface="楷体_GB2312" pitchFamily="49" charset="-122"/>
                </a:rPr>
                <a:t>0 </a:t>
              </a:r>
              <a:r>
                <a:rPr kumimoji="1" lang="en-US" altLang="zh-CN" sz="2000" dirty="0">
                  <a:latin typeface="Tahoma" pitchFamily="34" charset="0"/>
                  <a:ea typeface="楷体_GB2312" pitchFamily="49" charset="-122"/>
                </a:rPr>
                <a:t>    1     3     4</a:t>
              </a:r>
            </a:p>
            <a:p>
              <a:pPr algn="l">
                <a:spcBef>
                  <a:spcPct val="50000"/>
                </a:spcBef>
                <a:buClr>
                  <a:schemeClr val="folHlink"/>
                </a:buClr>
                <a:buSzPct val="60000"/>
                <a:buFont typeface="Wingdings" pitchFamily="2" charset="2"/>
                <a:buNone/>
              </a:pPr>
              <a:r>
                <a:rPr kumimoji="1" lang="en-US" altLang="zh-CN" sz="2000" dirty="0">
                  <a:solidFill>
                    <a:srgbClr val="FF0000"/>
                  </a:solidFill>
                  <a:latin typeface="Tahoma" pitchFamily="34" charset="0"/>
                  <a:ea typeface="楷体_GB2312" pitchFamily="49" charset="-122"/>
                </a:rPr>
                <a:t>0     0</a:t>
              </a:r>
              <a:r>
                <a:rPr kumimoji="1" lang="en-US" altLang="zh-CN" sz="2000" dirty="0">
                  <a:latin typeface="Tahoma" pitchFamily="34" charset="0"/>
                  <a:ea typeface="楷体_GB2312" pitchFamily="49" charset="-122"/>
                </a:rPr>
                <a:t>     1     4</a:t>
              </a:r>
            </a:p>
            <a:p>
              <a:pPr algn="l">
                <a:spcBef>
                  <a:spcPct val="50000"/>
                </a:spcBef>
                <a:buClr>
                  <a:schemeClr val="folHlink"/>
                </a:buClr>
                <a:buSzPct val="60000"/>
                <a:buFont typeface="Wingdings" pitchFamily="2" charset="2"/>
                <a:buNone/>
              </a:pPr>
              <a:r>
                <a:rPr kumimoji="1" lang="en-US" altLang="zh-CN" sz="2000" dirty="0">
                  <a:solidFill>
                    <a:srgbClr val="FF0000"/>
                  </a:solidFill>
                  <a:latin typeface="Tahoma" pitchFamily="34" charset="0"/>
                  <a:ea typeface="楷体_GB2312" pitchFamily="49" charset="-122"/>
                </a:rPr>
                <a:t>0     0     0     </a:t>
              </a:r>
              <a:r>
                <a:rPr kumimoji="1" lang="en-US" altLang="zh-CN" sz="2000" dirty="0">
                  <a:latin typeface="Tahoma" pitchFamily="34" charset="0"/>
                  <a:ea typeface="楷体_GB2312" pitchFamily="49" charset="-122"/>
                </a:rPr>
                <a:t>1</a:t>
              </a:r>
            </a:p>
          </p:txBody>
        </p:sp>
        <p:grpSp>
          <p:nvGrpSpPr>
            <p:cNvPr id="17" name="组合 16"/>
            <p:cNvGrpSpPr/>
            <p:nvPr/>
          </p:nvGrpSpPr>
          <p:grpSpPr>
            <a:xfrm>
              <a:off x="5676900" y="4419600"/>
              <a:ext cx="137160" cy="1779587"/>
              <a:chOff x="5669280" y="4419600"/>
              <a:chExt cx="152400" cy="2438400"/>
            </a:xfrm>
          </p:grpSpPr>
          <p:sp>
            <p:nvSpPr>
              <p:cNvPr id="25" name="Line 14"/>
              <p:cNvSpPr>
                <a:spLocks noChangeShapeType="1"/>
              </p:cNvSpPr>
              <p:nvPr/>
            </p:nvSpPr>
            <p:spPr bwMode="auto">
              <a:xfrm>
                <a:off x="5669280" y="4419600"/>
                <a:ext cx="0" cy="2438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15"/>
              <p:cNvSpPr>
                <a:spLocks noChangeShapeType="1"/>
              </p:cNvSpPr>
              <p:nvPr/>
            </p:nvSpPr>
            <p:spPr bwMode="auto">
              <a:xfrm>
                <a:off x="5669280" y="6858000"/>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 name="Line 16"/>
              <p:cNvSpPr>
                <a:spLocks noChangeShapeType="1"/>
              </p:cNvSpPr>
              <p:nvPr/>
            </p:nvSpPr>
            <p:spPr bwMode="auto">
              <a:xfrm>
                <a:off x="5669280" y="4419600"/>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8" name="组合 17"/>
            <p:cNvGrpSpPr/>
            <p:nvPr/>
          </p:nvGrpSpPr>
          <p:grpSpPr>
            <a:xfrm>
              <a:off x="7601041" y="4419600"/>
              <a:ext cx="152400" cy="1779587"/>
              <a:chOff x="8488680" y="4419600"/>
              <a:chExt cx="152400" cy="2438400"/>
            </a:xfrm>
          </p:grpSpPr>
          <p:sp>
            <p:nvSpPr>
              <p:cNvPr id="19" name="Line 17"/>
              <p:cNvSpPr>
                <a:spLocks noChangeShapeType="1"/>
              </p:cNvSpPr>
              <p:nvPr/>
            </p:nvSpPr>
            <p:spPr bwMode="auto">
              <a:xfrm>
                <a:off x="8641080" y="4419600"/>
                <a:ext cx="0" cy="2438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18"/>
              <p:cNvSpPr>
                <a:spLocks noChangeShapeType="1"/>
              </p:cNvSpPr>
              <p:nvPr/>
            </p:nvSpPr>
            <p:spPr bwMode="auto">
              <a:xfrm>
                <a:off x="8488680" y="6858000"/>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19"/>
              <p:cNvSpPr>
                <a:spLocks noChangeShapeType="1"/>
              </p:cNvSpPr>
              <p:nvPr/>
            </p:nvSpPr>
            <p:spPr bwMode="auto">
              <a:xfrm>
                <a:off x="8488680" y="4419600"/>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Tree>
    <p:extLst>
      <p:ext uri="{BB962C8B-B14F-4D97-AF65-F5344CB8AC3E}">
        <p14:creationId xmlns:p14="http://schemas.microsoft.com/office/powerpoint/2010/main" val="130028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13"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F3650-B767-1831-5EE2-2FF913F26A47}"/>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F0936BF0-FCA5-0AB0-2A20-9DA4B9DD0557}"/>
              </a:ext>
            </a:extLst>
          </p:cNvPr>
          <p:cNvSpPr/>
          <p:nvPr/>
        </p:nvSpPr>
        <p:spPr>
          <a:xfrm>
            <a:off x="1960978" y="1966672"/>
            <a:ext cx="8669423" cy="830997"/>
          </a:xfrm>
          <a:prstGeom prst="rect">
            <a:avLst/>
          </a:prstGeom>
        </p:spPr>
        <p:txBody>
          <a:bodyPr wrap="square">
            <a:spAutoFit/>
          </a:bodyPr>
          <a:lstStyle/>
          <a:p>
            <a:r>
              <a:rPr lang="zh-CN" altLang="zh-CN" sz="2400" dirty="0">
                <a:solidFill>
                  <a:srgbClr val="FF0000"/>
                </a:solidFill>
                <a:latin typeface="微软雅黑" pitchFamily="34" charset="-122"/>
                <a:ea typeface="微软雅黑" pitchFamily="34" charset="-122"/>
                <a:cs typeface="经典粗黑简" pitchFamily="49" charset="-122"/>
              </a:rPr>
              <a:t>特殊矩阵</a:t>
            </a:r>
            <a:r>
              <a:rPr lang="zh-CN" altLang="en-US" sz="2400" dirty="0">
                <a:latin typeface="微软雅黑" pitchFamily="34" charset="-122"/>
                <a:ea typeface="微软雅黑" pitchFamily="34" charset="-122"/>
                <a:cs typeface="经典粗黑简" pitchFamily="49" charset="-122"/>
              </a:rPr>
              <a:t>是</a:t>
            </a:r>
            <a:r>
              <a:rPr lang="zh-CN" altLang="zh-CN" sz="2400" dirty="0">
                <a:latin typeface="微软雅黑" pitchFamily="34" charset="-122"/>
                <a:ea typeface="微软雅黑" pitchFamily="34" charset="-122"/>
                <a:cs typeface="经典粗黑简" pitchFamily="49" charset="-122"/>
              </a:rPr>
              <a:t>指非零元素或零元素的分布有一定规律的矩阵</a:t>
            </a:r>
            <a:r>
              <a:rPr lang="zh-CN" altLang="en-US"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如三角矩阵、对称矩阵、带状矩阵、稀疏矩阵等</a:t>
            </a:r>
            <a:r>
              <a:rPr lang="zh-CN" altLang="en-US" sz="2400" dirty="0">
                <a:latin typeface="微软雅黑" pitchFamily="34" charset="-122"/>
                <a:ea typeface="微软雅黑" pitchFamily="34" charset="-122"/>
                <a:cs typeface="经典粗黑简" pitchFamily="49" charset="-122"/>
              </a:rPr>
              <a:t>。</a:t>
            </a:r>
          </a:p>
        </p:txBody>
      </p:sp>
      <p:sp>
        <p:nvSpPr>
          <p:cNvPr id="2" name="Rectangle 3">
            <a:extLst>
              <a:ext uri="{FF2B5EF4-FFF2-40B4-BE49-F238E27FC236}">
                <a16:creationId xmlns:a16="http://schemas.microsoft.com/office/drawing/2014/main" id="{9B215157-9A76-C56A-2761-653E02B2DEA9}"/>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3" name="Rectangle 2">
            <a:extLst>
              <a:ext uri="{FF2B5EF4-FFF2-40B4-BE49-F238E27FC236}">
                <a16:creationId xmlns:a16="http://schemas.microsoft.com/office/drawing/2014/main" id="{3D992E40-DD31-05C9-6293-9C4C1FB9844A}"/>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4F1234AF-5057-E116-571E-5ACC331525B1}"/>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02CF5D4F-F76C-CCF3-612E-4966138F5C24}"/>
              </a:ext>
            </a:extLst>
          </p:cNvPr>
          <p:cNvSpPr/>
          <p:nvPr/>
        </p:nvSpPr>
        <p:spPr>
          <a:xfrm>
            <a:off x="1865942" y="2797669"/>
            <a:ext cx="9198610" cy="707886"/>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）三角矩阵：上</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下</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三角矩阵是指矩阵的下（上）三角（不包括对角线）中的元素均为常数或零的</a:t>
            </a:r>
            <a:r>
              <a:rPr lang="en-US" altLang="zh-CN" sz="2000" dirty="0">
                <a:latin typeface="微软雅黑" pitchFamily="34" charset="-122"/>
                <a:ea typeface="微软雅黑" pitchFamily="34" charset="-122"/>
                <a:cs typeface="经典粗黑简" pitchFamily="49" charset="-122"/>
              </a:rPr>
              <a:t>n</a:t>
            </a:r>
            <a:r>
              <a:rPr lang="zh-CN" altLang="en-US" sz="2000" dirty="0">
                <a:latin typeface="微软雅黑" pitchFamily="34" charset="-122"/>
                <a:ea typeface="微软雅黑" pitchFamily="34" charset="-122"/>
                <a:cs typeface="经典粗黑简" pitchFamily="49" charset="-122"/>
              </a:rPr>
              <a:t>阶矩阵，即非零元素的分布在矩阵中呈现为三角形。</a:t>
            </a:r>
          </a:p>
        </p:txBody>
      </p:sp>
      <p:grpSp>
        <p:nvGrpSpPr>
          <p:cNvPr id="34" name="组合 33"/>
          <p:cNvGrpSpPr/>
          <p:nvPr/>
        </p:nvGrpSpPr>
        <p:grpSpPr>
          <a:xfrm>
            <a:off x="3359696" y="4171245"/>
            <a:ext cx="2006600" cy="1784351"/>
            <a:chOff x="2033691" y="4896989"/>
            <a:chExt cx="2006600" cy="1784351"/>
          </a:xfrm>
        </p:grpSpPr>
        <p:sp>
          <p:nvSpPr>
            <p:cNvPr id="35" name="Rectangle 4"/>
            <p:cNvSpPr>
              <a:spLocks noChangeArrowheads="1"/>
            </p:cNvSpPr>
            <p:nvPr/>
          </p:nvSpPr>
          <p:spPr bwMode="auto">
            <a:xfrm>
              <a:off x="2033691" y="4896989"/>
              <a:ext cx="2006600" cy="17843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gn="l">
                <a:spcBef>
                  <a:spcPct val="5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1     </a:t>
              </a:r>
              <a:r>
                <a:rPr kumimoji="1" lang="en-US" altLang="zh-CN" sz="2000" dirty="0">
                  <a:solidFill>
                    <a:srgbClr val="FF0000"/>
                  </a:solidFill>
                  <a:latin typeface="Tahoma" pitchFamily="34" charset="0"/>
                  <a:ea typeface="楷体_GB2312" pitchFamily="49" charset="-122"/>
                </a:rPr>
                <a:t>8     8     8</a:t>
              </a:r>
              <a:endParaRPr kumimoji="1" lang="en-US" altLang="zh-CN" sz="2000" baseline="-20000" dirty="0">
                <a:solidFill>
                  <a:srgbClr val="FF0000"/>
                </a:solidFill>
                <a:latin typeface="Tahoma" pitchFamily="34" charset="0"/>
                <a:ea typeface="楷体_GB2312" pitchFamily="49" charset="-122"/>
              </a:endParaRPr>
            </a:p>
            <a:p>
              <a:pPr algn="l">
                <a:spcBef>
                  <a:spcPct val="5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2     1     </a:t>
              </a:r>
              <a:r>
                <a:rPr kumimoji="1" lang="en-US" altLang="zh-CN" sz="2000" dirty="0">
                  <a:solidFill>
                    <a:srgbClr val="FF0000"/>
                  </a:solidFill>
                  <a:latin typeface="Tahoma" pitchFamily="34" charset="0"/>
                  <a:ea typeface="楷体_GB2312" pitchFamily="49" charset="-122"/>
                </a:rPr>
                <a:t>8     8</a:t>
              </a:r>
            </a:p>
            <a:p>
              <a:pPr algn="l">
                <a:spcBef>
                  <a:spcPct val="5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3     3     1     </a:t>
              </a:r>
              <a:r>
                <a:rPr kumimoji="1" lang="en-US" altLang="zh-CN" sz="2000" dirty="0">
                  <a:solidFill>
                    <a:srgbClr val="FF0000"/>
                  </a:solidFill>
                  <a:latin typeface="Tahoma" pitchFamily="34" charset="0"/>
                  <a:ea typeface="楷体_GB2312" pitchFamily="49" charset="-122"/>
                </a:rPr>
                <a:t>8</a:t>
              </a:r>
            </a:p>
            <a:p>
              <a:pPr algn="l">
                <a:spcBef>
                  <a:spcPct val="5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4     4     4     1</a:t>
              </a:r>
            </a:p>
          </p:txBody>
        </p:sp>
        <p:grpSp>
          <p:nvGrpSpPr>
            <p:cNvPr id="36" name="组合 35"/>
            <p:cNvGrpSpPr/>
            <p:nvPr/>
          </p:nvGrpSpPr>
          <p:grpSpPr>
            <a:xfrm>
              <a:off x="2033691" y="4901751"/>
              <a:ext cx="76200" cy="1779589"/>
              <a:chOff x="1957491" y="4901751"/>
              <a:chExt cx="152400" cy="2438400"/>
            </a:xfrm>
          </p:grpSpPr>
          <p:sp>
            <p:nvSpPr>
              <p:cNvPr id="41" name="Line 5"/>
              <p:cNvSpPr>
                <a:spLocks noChangeShapeType="1"/>
              </p:cNvSpPr>
              <p:nvPr/>
            </p:nvSpPr>
            <p:spPr bwMode="auto">
              <a:xfrm>
                <a:off x="1957491" y="4901751"/>
                <a:ext cx="0" cy="2438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 name="Line 6"/>
              <p:cNvSpPr>
                <a:spLocks noChangeShapeType="1"/>
              </p:cNvSpPr>
              <p:nvPr/>
            </p:nvSpPr>
            <p:spPr bwMode="auto">
              <a:xfrm>
                <a:off x="1957491" y="7340151"/>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 name="Line 7"/>
              <p:cNvSpPr>
                <a:spLocks noChangeShapeType="1"/>
              </p:cNvSpPr>
              <p:nvPr/>
            </p:nvSpPr>
            <p:spPr bwMode="auto">
              <a:xfrm>
                <a:off x="1957491" y="4901751"/>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7" name="组合 36"/>
            <p:cNvGrpSpPr/>
            <p:nvPr/>
          </p:nvGrpSpPr>
          <p:grpSpPr>
            <a:xfrm>
              <a:off x="3887890" y="4901752"/>
              <a:ext cx="152401" cy="1779588"/>
              <a:chOff x="4776891" y="4901751"/>
              <a:chExt cx="152400" cy="2438400"/>
            </a:xfrm>
          </p:grpSpPr>
          <p:sp>
            <p:nvSpPr>
              <p:cNvPr id="20" name="Line 8"/>
              <p:cNvSpPr>
                <a:spLocks noChangeShapeType="1"/>
              </p:cNvSpPr>
              <p:nvPr/>
            </p:nvSpPr>
            <p:spPr bwMode="auto">
              <a:xfrm>
                <a:off x="4929291" y="4901751"/>
                <a:ext cx="0" cy="2438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9"/>
              <p:cNvSpPr>
                <a:spLocks noChangeShapeType="1"/>
              </p:cNvSpPr>
              <p:nvPr/>
            </p:nvSpPr>
            <p:spPr bwMode="auto">
              <a:xfrm>
                <a:off x="4776891" y="7340151"/>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10"/>
              <p:cNvSpPr>
                <a:spLocks noChangeShapeType="1"/>
              </p:cNvSpPr>
              <p:nvPr/>
            </p:nvSpPr>
            <p:spPr bwMode="auto">
              <a:xfrm>
                <a:off x="4776891" y="4901751"/>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44" name="Text Box 20"/>
          <p:cNvSpPr txBox="1">
            <a:spLocks noChangeArrowheads="1"/>
          </p:cNvSpPr>
          <p:nvPr/>
        </p:nvSpPr>
        <p:spPr bwMode="auto">
          <a:xfrm>
            <a:off x="3623976" y="5956023"/>
            <a:ext cx="14780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下三角矩阵</a:t>
            </a:r>
          </a:p>
        </p:txBody>
      </p:sp>
      <p:sp>
        <p:nvSpPr>
          <p:cNvPr id="45" name="Text Box 21"/>
          <p:cNvSpPr txBox="1">
            <a:spLocks noChangeArrowheads="1"/>
          </p:cNvSpPr>
          <p:nvPr/>
        </p:nvSpPr>
        <p:spPr bwMode="auto">
          <a:xfrm>
            <a:off x="7052627" y="5956023"/>
            <a:ext cx="152259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上三角矩阵</a:t>
            </a:r>
          </a:p>
        </p:txBody>
      </p:sp>
      <p:grpSp>
        <p:nvGrpSpPr>
          <p:cNvPr id="46" name="组合 45"/>
          <p:cNvGrpSpPr/>
          <p:nvPr/>
        </p:nvGrpSpPr>
        <p:grpSpPr>
          <a:xfrm>
            <a:off x="6858310" y="4171244"/>
            <a:ext cx="2076541" cy="1784350"/>
            <a:chOff x="5676900" y="4414837"/>
            <a:chExt cx="2076541" cy="1784350"/>
          </a:xfrm>
        </p:grpSpPr>
        <p:sp>
          <p:nvSpPr>
            <p:cNvPr id="47" name="Rectangle 13"/>
            <p:cNvSpPr>
              <a:spLocks noChangeArrowheads="1"/>
            </p:cNvSpPr>
            <p:nvPr/>
          </p:nvSpPr>
          <p:spPr bwMode="auto">
            <a:xfrm>
              <a:off x="5745480" y="4414837"/>
              <a:ext cx="1997075"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spcBef>
                  <a:spcPct val="5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1     2     3     4</a:t>
              </a:r>
            </a:p>
            <a:p>
              <a:pPr algn="l">
                <a:spcBef>
                  <a:spcPct val="50000"/>
                </a:spcBef>
                <a:buClr>
                  <a:schemeClr val="folHlink"/>
                </a:buClr>
                <a:buSzPct val="60000"/>
                <a:buFont typeface="Wingdings" pitchFamily="2" charset="2"/>
                <a:buNone/>
              </a:pPr>
              <a:r>
                <a:rPr kumimoji="1" lang="en-US" altLang="zh-CN" sz="2000" dirty="0">
                  <a:solidFill>
                    <a:srgbClr val="FF0000"/>
                  </a:solidFill>
                  <a:latin typeface="Tahoma" pitchFamily="34" charset="0"/>
                  <a:ea typeface="楷体_GB2312" pitchFamily="49" charset="-122"/>
                </a:rPr>
                <a:t>9 </a:t>
              </a:r>
              <a:r>
                <a:rPr kumimoji="1" lang="en-US" altLang="zh-CN" sz="2000" dirty="0">
                  <a:latin typeface="Tahoma" pitchFamily="34" charset="0"/>
                  <a:ea typeface="楷体_GB2312" pitchFamily="49" charset="-122"/>
                </a:rPr>
                <a:t>    1     3     4</a:t>
              </a:r>
            </a:p>
            <a:p>
              <a:pPr algn="l">
                <a:spcBef>
                  <a:spcPct val="50000"/>
                </a:spcBef>
                <a:buClr>
                  <a:schemeClr val="folHlink"/>
                </a:buClr>
                <a:buSzPct val="60000"/>
                <a:buFont typeface="Wingdings" pitchFamily="2" charset="2"/>
                <a:buNone/>
              </a:pPr>
              <a:r>
                <a:rPr kumimoji="1" lang="en-US" altLang="zh-CN" sz="2000" dirty="0">
                  <a:solidFill>
                    <a:srgbClr val="FF0000"/>
                  </a:solidFill>
                  <a:latin typeface="Tahoma" pitchFamily="34" charset="0"/>
                  <a:ea typeface="楷体_GB2312" pitchFamily="49" charset="-122"/>
                </a:rPr>
                <a:t>9     9</a:t>
              </a:r>
              <a:r>
                <a:rPr kumimoji="1" lang="en-US" altLang="zh-CN" sz="2000" dirty="0">
                  <a:latin typeface="Tahoma" pitchFamily="34" charset="0"/>
                  <a:ea typeface="楷体_GB2312" pitchFamily="49" charset="-122"/>
                </a:rPr>
                <a:t>     1     4</a:t>
              </a:r>
            </a:p>
            <a:p>
              <a:pPr algn="l">
                <a:spcBef>
                  <a:spcPct val="50000"/>
                </a:spcBef>
                <a:buClr>
                  <a:schemeClr val="folHlink"/>
                </a:buClr>
                <a:buSzPct val="60000"/>
                <a:buFont typeface="Wingdings" pitchFamily="2" charset="2"/>
                <a:buNone/>
              </a:pPr>
              <a:r>
                <a:rPr kumimoji="1" lang="en-US" altLang="zh-CN" sz="2000" dirty="0">
                  <a:solidFill>
                    <a:srgbClr val="FF0000"/>
                  </a:solidFill>
                  <a:latin typeface="Tahoma" pitchFamily="34" charset="0"/>
                  <a:ea typeface="楷体_GB2312" pitchFamily="49" charset="-122"/>
                </a:rPr>
                <a:t>9     9     9     </a:t>
              </a:r>
              <a:r>
                <a:rPr kumimoji="1" lang="en-US" altLang="zh-CN" sz="2000" dirty="0">
                  <a:latin typeface="Tahoma" pitchFamily="34" charset="0"/>
                  <a:ea typeface="楷体_GB2312" pitchFamily="49" charset="-122"/>
                </a:rPr>
                <a:t>1</a:t>
              </a:r>
            </a:p>
          </p:txBody>
        </p:sp>
        <p:grpSp>
          <p:nvGrpSpPr>
            <p:cNvPr id="48" name="组合 47"/>
            <p:cNvGrpSpPr/>
            <p:nvPr/>
          </p:nvGrpSpPr>
          <p:grpSpPr>
            <a:xfrm>
              <a:off x="5676900" y="4419600"/>
              <a:ext cx="137160" cy="1779587"/>
              <a:chOff x="5669280" y="4419600"/>
              <a:chExt cx="152400" cy="2438400"/>
            </a:xfrm>
          </p:grpSpPr>
          <p:sp>
            <p:nvSpPr>
              <p:cNvPr id="53" name="Line 14"/>
              <p:cNvSpPr>
                <a:spLocks noChangeShapeType="1"/>
              </p:cNvSpPr>
              <p:nvPr/>
            </p:nvSpPr>
            <p:spPr bwMode="auto">
              <a:xfrm>
                <a:off x="5669280" y="4419600"/>
                <a:ext cx="0" cy="2438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 name="Line 15"/>
              <p:cNvSpPr>
                <a:spLocks noChangeShapeType="1"/>
              </p:cNvSpPr>
              <p:nvPr/>
            </p:nvSpPr>
            <p:spPr bwMode="auto">
              <a:xfrm>
                <a:off x="5669280" y="6858000"/>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 name="Line 16"/>
              <p:cNvSpPr>
                <a:spLocks noChangeShapeType="1"/>
              </p:cNvSpPr>
              <p:nvPr/>
            </p:nvSpPr>
            <p:spPr bwMode="auto">
              <a:xfrm>
                <a:off x="5669280" y="4419600"/>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9" name="组合 48"/>
            <p:cNvGrpSpPr/>
            <p:nvPr/>
          </p:nvGrpSpPr>
          <p:grpSpPr>
            <a:xfrm>
              <a:off x="7601041" y="4419600"/>
              <a:ext cx="152400" cy="1779587"/>
              <a:chOff x="8488680" y="4419600"/>
              <a:chExt cx="152400" cy="2438400"/>
            </a:xfrm>
          </p:grpSpPr>
          <p:sp>
            <p:nvSpPr>
              <p:cNvPr id="50" name="Line 17"/>
              <p:cNvSpPr>
                <a:spLocks noChangeShapeType="1"/>
              </p:cNvSpPr>
              <p:nvPr/>
            </p:nvSpPr>
            <p:spPr bwMode="auto">
              <a:xfrm>
                <a:off x="8641080" y="4419600"/>
                <a:ext cx="0" cy="2438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18"/>
              <p:cNvSpPr>
                <a:spLocks noChangeShapeType="1"/>
              </p:cNvSpPr>
              <p:nvPr/>
            </p:nvSpPr>
            <p:spPr bwMode="auto">
              <a:xfrm>
                <a:off x="8488680" y="6858000"/>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2" name="Line 19"/>
              <p:cNvSpPr>
                <a:spLocks noChangeShapeType="1"/>
              </p:cNvSpPr>
              <p:nvPr/>
            </p:nvSpPr>
            <p:spPr bwMode="auto">
              <a:xfrm>
                <a:off x="8488680" y="4419600"/>
                <a:ext cx="152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Tree>
    <p:extLst>
      <p:ext uri="{BB962C8B-B14F-4D97-AF65-F5344CB8AC3E}">
        <p14:creationId xmlns:p14="http://schemas.microsoft.com/office/powerpoint/2010/main" val="95658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C69C9-18EB-6D7F-5B6F-C07E4380EEBB}"/>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94969D4E-8121-204E-5626-1D4682813E81}"/>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3" name="Rectangle 2">
            <a:extLst>
              <a:ext uri="{FF2B5EF4-FFF2-40B4-BE49-F238E27FC236}">
                <a16:creationId xmlns:a16="http://schemas.microsoft.com/office/drawing/2014/main" id="{0799F3DC-F9C2-71D1-34E9-781160745E47}"/>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73791E59-5FBC-D0C9-1232-D64983562F89}"/>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671F2B0-1A37-7E28-77A9-8A374D4F3961}"/>
              </a:ext>
            </a:extLst>
          </p:cNvPr>
          <p:cNvSpPr/>
          <p:nvPr/>
        </p:nvSpPr>
        <p:spPr>
          <a:xfrm>
            <a:off x="1055440" y="1683955"/>
            <a:ext cx="10729192" cy="707886"/>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）三角矩阵：上</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下</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三角矩阵是指矩阵的下（上）三角（不包括对角线）中的元素均为常数或零的</a:t>
            </a:r>
            <a:r>
              <a:rPr lang="en-US" altLang="zh-CN" sz="2000" dirty="0">
                <a:latin typeface="微软雅黑" pitchFamily="34" charset="-122"/>
                <a:ea typeface="微软雅黑" pitchFamily="34" charset="-122"/>
                <a:cs typeface="经典粗黑简" pitchFamily="49" charset="-122"/>
              </a:rPr>
              <a:t>n</a:t>
            </a:r>
            <a:r>
              <a:rPr lang="zh-CN" altLang="en-US" sz="2000" dirty="0">
                <a:latin typeface="微软雅黑" pitchFamily="34" charset="-122"/>
                <a:ea typeface="微软雅黑" pitchFamily="34" charset="-122"/>
                <a:cs typeface="经典粗黑简" pitchFamily="49" charset="-122"/>
              </a:rPr>
              <a:t>阶矩阵，即非零元素的分布在矩阵中呈现为三角形。</a:t>
            </a:r>
          </a:p>
        </p:txBody>
      </p:sp>
      <p:grpSp>
        <p:nvGrpSpPr>
          <p:cNvPr id="6" name="组合 37">
            <a:extLst>
              <a:ext uri="{FF2B5EF4-FFF2-40B4-BE49-F238E27FC236}">
                <a16:creationId xmlns:a16="http://schemas.microsoft.com/office/drawing/2014/main" id="{F2DF6707-61DC-D976-2B00-10453F69E1DA}"/>
              </a:ext>
            </a:extLst>
          </p:cNvPr>
          <p:cNvGrpSpPr/>
          <p:nvPr/>
        </p:nvGrpSpPr>
        <p:grpSpPr>
          <a:xfrm>
            <a:off x="5213632" y="2498580"/>
            <a:ext cx="2857551" cy="1752612"/>
            <a:chOff x="3214676" y="2214554"/>
            <a:chExt cx="2838006" cy="1752612"/>
          </a:xfrm>
        </p:grpSpPr>
        <p:cxnSp>
          <p:nvCxnSpPr>
            <p:cNvPr id="7" name="直接连接符 6">
              <a:extLst>
                <a:ext uri="{FF2B5EF4-FFF2-40B4-BE49-F238E27FC236}">
                  <a16:creationId xmlns:a16="http://schemas.microsoft.com/office/drawing/2014/main" id="{3431F0B1-0EED-3199-B961-1C34043AE984}"/>
                </a:ext>
              </a:extLst>
            </p:cNvPr>
            <p:cNvCxnSpPr/>
            <p:nvPr/>
          </p:nvCxnSpPr>
          <p:spPr>
            <a:xfrm rot="5400000">
              <a:off x="2358214" y="30710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276FF62-B35F-E743-5F7A-1C20C0425CF4}"/>
                </a:ext>
              </a:extLst>
            </p:cNvPr>
            <p:cNvCxnSpPr/>
            <p:nvPr/>
          </p:nvCxnSpPr>
          <p:spPr>
            <a:xfrm>
              <a:off x="3216264" y="22272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4D74D21E-DEAC-7CEF-88D4-9C1567CDC487}"/>
                </a:ext>
              </a:extLst>
            </p:cNvPr>
            <p:cNvCxnSpPr/>
            <p:nvPr/>
          </p:nvCxnSpPr>
          <p:spPr>
            <a:xfrm>
              <a:off x="3214676" y="39243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10" name="TextBox 41">
              <a:extLst>
                <a:ext uri="{FF2B5EF4-FFF2-40B4-BE49-F238E27FC236}">
                  <a16:creationId xmlns:a16="http://schemas.microsoft.com/office/drawing/2014/main" id="{E9DF37F7-3C13-E14F-AD76-21ACD80B5AEE}"/>
                </a:ext>
              </a:extLst>
            </p:cNvPr>
            <p:cNvSpPr txBox="1"/>
            <p:nvPr/>
          </p:nvSpPr>
          <p:spPr>
            <a:xfrm>
              <a:off x="3359140" y="2258590"/>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0,0</a:t>
              </a:r>
              <a:endParaRPr lang="zh-CN" altLang="en-US" sz="2000" baseline="-25000">
                <a:latin typeface="Consolas" pitchFamily="49" charset="0"/>
                <a:cs typeface="Consolas" pitchFamily="49" charset="0"/>
              </a:endParaRPr>
            </a:p>
          </p:txBody>
        </p:sp>
        <p:sp>
          <p:nvSpPr>
            <p:cNvPr id="11" name="TextBox 42">
              <a:extLst>
                <a:ext uri="{FF2B5EF4-FFF2-40B4-BE49-F238E27FC236}">
                  <a16:creationId xmlns:a16="http://schemas.microsoft.com/office/drawing/2014/main" id="{9ABC0853-5027-5A2D-D58D-2163B10342F0}"/>
                </a:ext>
              </a:extLst>
            </p:cNvPr>
            <p:cNvSpPr txBox="1"/>
            <p:nvPr/>
          </p:nvSpPr>
          <p:spPr>
            <a:xfrm>
              <a:off x="4002081" y="2258590"/>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0,1</a:t>
              </a:r>
              <a:endParaRPr lang="zh-CN" altLang="en-US" sz="2000" baseline="-25000">
                <a:latin typeface="Consolas" pitchFamily="49" charset="0"/>
                <a:cs typeface="Consolas" pitchFamily="49" charset="0"/>
              </a:endParaRPr>
            </a:p>
          </p:txBody>
        </p:sp>
        <p:sp>
          <p:nvSpPr>
            <p:cNvPr id="12" name="TextBox 43">
              <a:extLst>
                <a:ext uri="{FF2B5EF4-FFF2-40B4-BE49-F238E27FC236}">
                  <a16:creationId xmlns:a16="http://schemas.microsoft.com/office/drawing/2014/main" id="{3737B796-58D1-F32E-C9FF-D69B1108EBBA}"/>
                </a:ext>
              </a:extLst>
            </p:cNvPr>
            <p:cNvSpPr txBox="1"/>
            <p:nvPr/>
          </p:nvSpPr>
          <p:spPr>
            <a:xfrm>
              <a:off x="5216526" y="2258590"/>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a:t>
              </a:r>
              <a:r>
                <a:rPr lang="en-US" altLang="zh-CN" sz="2000" i="1" baseline="-25000" err="1">
                  <a:latin typeface="Consolas" pitchFamily="49" charset="0"/>
                  <a:cs typeface="Consolas" pitchFamily="49" charset="0"/>
                </a:rPr>
                <a:t>n</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13" name="TextBox 44">
              <a:extLst>
                <a:ext uri="{FF2B5EF4-FFF2-40B4-BE49-F238E27FC236}">
                  <a16:creationId xmlns:a16="http://schemas.microsoft.com/office/drawing/2014/main" id="{628F170B-457C-1E7C-1E09-591CB099B1E2}"/>
                </a:ext>
              </a:extLst>
            </p:cNvPr>
            <p:cNvSpPr txBox="1"/>
            <p:nvPr/>
          </p:nvSpPr>
          <p:spPr>
            <a:xfrm>
              <a:off x="4645023" y="2239954"/>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sp>
          <p:nvSpPr>
            <p:cNvPr id="14" name="TextBox 46">
              <a:extLst>
                <a:ext uri="{FF2B5EF4-FFF2-40B4-BE49-F238E27FC236}">
                  <a16:creationId xmlns:a16="http://schemas.microsoft.com/office/drawing/2014/main" id="{093C7564-4694-42E2-97C5-3FDBAB3B98F0}"/>
                </a:ext>
              </a:extLst>
            </p:cNvPr>
            <p:cNvSpPr txBox="1"/>
            <p:nvPr/>
          </p:nvSpPr>
          <p:spPr>
            <a:xfrm>
              <a:off x="4002081" y="2687218"/>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1,1</a:t>
              </a:r>
              <a:endParaRPr lang="zh-CN" altLang="en-US" sz="2000" baseline="-25000">
                <a:latin typeface="Consolas" pitchFamily="49" charset="0"/>
                <a:cs typeface="Consolas" pitchFamily="49" charset="0"/>
              </a:endParaRPr>
            </a:p>
          </p:txBody>
        </p:sp>
        <p:sp>
          <p:nvSpPr>
            <p:cNvPr id="15" name="TextBox 47">
              <a:extLst>
                <a:ext uri="{FF2B5EF4-FFF2-40B4-BE49-F238E27FC236}">
                  <a16:creationId xmlns:a16="http://schemas.microsoft.com/office/drawing/2014/main" id="{E21C2EE9-240E-FD57-0EF8-28D83E425B0B}"/>
                </a:ext>
              </a:extLst>
            </p:cNvPr>
            <p:cNvSpPr txBox="1"/>
            <p:nvPr/>
          </p:nvSpPr>
          <p:spPr>
            <a:xfrm>
              <a:off x="5216526" y="2687218"/>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a:t>
              </a:r>
              <a:r>
                <a:rPr lang="en-US" altLang="zh-CN" sz="2000" i="1" baseline="-25000" err="1">
                  <a:latin typeface="Consolas" pitchFamily="49" charset="0"/>
                  <a:cs typeface="Consolas" pitchFamily="49" charset="0"/>
                </a:rPr>
                <a:t>n</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16" name="TextBox 48">
              <a:extLst>
                <a:ext uri="{FF2B5EF4-FFF2-40B4-BE49-F238E27FC236}">
                  <a16:creationId xmlns:a16="http://schemas.microsoft.com/office/drawing/2014/main" id="{6B9BC561-445E-2ED4-0828-B0EE16DF6DDB}"/>
                </a:ext>
              </a:extLst>
            </p:cNvPr>
            <p:cNvSpPr txBox="1"/>
            <p:nvPr/>
          </p:nvSpPr>
          <p:spPr>
            <a:xfrm>
              <a:off x="4645023" y="2668582"/>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sp>
          <p:nvSpPr>
            <p:cNvPr id="17" name="TextBox 49">
              <a:extLst>
                <a:ext uri="{FF2B5EF4-FFF2-40B4-BE49-F238E27FC236}">
                  <a16:creationId xmlns:a16="http://schemas.microsoft.com/office/drawing/2014/main" id="{7A75C032-0819-592A-E7B9-5B1E492E3609}"/>
                </a:ext>
              </a:extLst>
            </p:cNvPr>
            <p:cNvSpPr txBox="1"/>
            <p:nvPr/>
          </p:nvSpPr>
          <p:spPr>
            <a:xfrm>
              <a:off x="3359140" y="3549236"/>
              <a:ext cx="714379" cy="307777"/>
            </a:xfrm>
            <a:prstGeom prst="rect">
              <a:avLst/>
            </a:prstGeom>
            <a:noFill/>
          </p:spPr>
          <p:txBody>
            <a:bodyPr wrap="square" lIns="0" tIns="0" rIns="0" bIns="0" rtlCol="0">
              <a:spAutoFit/>
            </a:bodyPr>
            <a:lstStyle/>
            <a:p>
              <a:r>
                <a:rPr lang="en-US" altLang="zh-CN" sz="2000" i="1">
                  <a:latin typeface="Consolas" pitchFamily="49" charset="0"/>
                  <a:cs typeface="Consolas" pitchFamily="49" charset="0"/>
                </a:rPr>
                <a:t>a</a:t>
              </a:r>
              <a:r>
                <a:rPr lang="en-US" altLang="zh-CN" sz="2000" i="1" baseline="-25000">
                  <a:latin typeface="Consolas" pitchFamily="49" charset="0"/>
                  <a:cs typeface="Consolas" pitchFamily="49" charset="0"/>
                </a:rPr>
                <a:t>n</a:t>
              </a:r>
              <a:r>
                <a:rPr lang="en-US" altLang="zh-CN" sz="2000" baseline="-25000">
                  <a:latin typeface="Consolas" pitchFamily="49" charset="0"/>
                  <a:cs typeface="Consolas" pitchFamily="49" charset="0"/>
                </a:rPr>
                <a:t>-1,0</a:t>
              </a:r>
              <a:endParaRPr lang="zh-CN" altLang="en-US" sz="2000" baseline="-25000">
                <a:latin typeface="Consolas" pitchFamily="49" charset="0"/>
                <a:cs typeface="Consolas" pitchFamily="49" charset="0"/>
              </a:endParaRPr>
            </a:p>
          </p:txBody>
        </p:sp>
        <p:sp>
          <p:nvSpPr>
            <p:cNvPr id="18" name="TextBox 50">
              <a:extLst>
                <a:ext uri="{FF2B5EF4-FFF2-40B4-BE49-F238E27FC236}">
                  <a16:creationId xmlns:a16="http://schemas.microsoft.com/office/drawing/2014/main" id="{10CC3657-759A-2A5B-F366-A4C3FCDAA5A2}"/>
                </a:ext>
              </a:extLst>
            </p:cNvPr>
            <p:cNvSpPr txBox="1"/>
            <p:nvPr/>
          </p:nvSpPr>
          <p:spPr>
            <a:xfrm>
              <a:off x="4002081" y="3549236"/>
              <a:ext cx="714379" cy="307777"/>
            </a:xfrm>
            <a:prstGeom prst="rect">
              <a:avLst/>
            </a:prstGeom>
            <a:noFill/>
          </p:spPr>
          <p:txBody>
            <a:bodyPr wrap="square" lIns="0" tIns="0" rIns="0" bIns="0" rtlCol="0">
              <a:spAutoFit/>
            </a:bodyPr>
            <a:lstStyle/>
            <a:p>
              <a:r>
                <a:rPr lang="en-US" altLang="zh-CN" sz="2000" i="1">
                  <a:latin typeface="Consolas" pitchFamily="49" charset="0"/>
                  <a:cs typeface="Consolas" pitchFamily="49" charset="0"/>
                </a:rPr>
                <a:t>a</a:t>
              </a:r>
              <a:r>
                <a:rPr lang="en-US" altLang="zh-CN" sz="2000" i="1" baseline="-25000">
                  <a:latin typeface="Consolas" pitchFamily="49" charset="0"/>
                  <a:cs typeface="Consolas" pitchFamily="49" charset="0"/>
                </a:rPr>
                <a:t>n</a:t>
              </a:r>
              <a:r>
                <a:rPr lang="en-US" altLang="zh-CN" sz="2000" baseline="-25000">
                  <a:latin typeface="Consolas" pitchFamily="49" charset="0"/>
                  <a:cs typeface="Consolas" pitchFamily="49" charset="0"/>
                </a:rPr>
                <a:t>-1,1</a:t>
              </a:r>
              <a:endParaRPr lang="zh-CN" altLang="en-US" sz="2000" baseline="-25000">
                <a:latin typeface="Consolas" pitchFamily="49" charset="0"/>
                <a:cs typeface="Consolas" pitchFamily="49" charset="0"/>
              </a:endParaRPr>
            </a:p>
          </p:txBody>
        </p:sp>
        <p:sp>
          <p:nvSpPr>
            <p:cNvPr id="19" name="TextBox 51">
              <a:extLst>
                <a:ext uri="{FF2B5EF4-FFF2-40B4-BE49-F238E27FC236}">
                  <a16:creationId xmlns:a16="http://schemas.microsoft.com/office/drawing/2014/main" id="{7402546F-18D4-189B-E1C5-4E525BB9ECE8}"/>
                </a:ext>
              </a:extLst>
            </p:cNvPr>
            <p:cNvSpPr txBox="1"/>
            <p:nvPr/>
          </p:nvSpPr>
          <p:spPr>
            <a:xfrm>
              <a:off x="5110219" y="3549236"/>
              <a:ext cx="942463" cy="307777"/>
            </a:xfrm>
            <a:prstGeom prst="rect">
              <a:avLst/>
            </a:prstGeom>
            <a:noFill/>
          </p:spPr>
          <p:txBody>
            <a:bodyPr wrap="square" lIns="0" tIns="0" rIns="0" bIns="0" rtlCol="0">
              <a:spAutoFit/>
            </a:bodyPr>
            <a:lstStyle/>
            <a:p>
              <a:r>
                <a:rPr lang="en-US" altLang="zh-CN" sz="2000" i="1">
                  <a:latin typeface="Consolas" pitchFamily="49" charset="0"/>
                  <a:cs typeface="Consolas" pitchFamily="49" charset="0"/>
                </a:rPr>
                <a:t>a</a:t>
              </a:r>
              <a:r>
                <a:rPr lang="en-US" altLang="zh-CN" sz="2000" i="1" baseline="-25000">
                  <a:latin typeface="Consolas" pitchFamily="49" charset="0"/>
                  <a:cs typeface="Consolas" pitchFamily="49" charset="0"/>
                </a:rPr>
                <a:t>n</a:t>
              </a:r>
              <a:r>
                <a:rPr lang="en-US" altLang="zh-CN" sz="2000" baseline="-25000">
                  <a:latin typeface="Consolas" pitchFamily="49" charset="0"/>
                  <a:cs typeface="Consolas" pitchFamily="49" charset="0"/>
                </a:rPr>
                <a:t>-</a:t>
              </a:r>
              <a:r>
                <a:rPr lang="en-US" altLang="zh-CN" sz="2000" baseline="-25000" err="1">
                  <a:latin typeface="Consolas" pitchFamily="49" charset="0"/>
                  <a:cs typeface="Consolas" pitchFamily="49" charset="0"/>
                </a:rPr>
                <a:t>1,</a:t>
              </a:r>
              <a:r>
                <a:rPr lang="en-US" altLang="zh-CN" sz="2000" i="1" baseline="-25000" err="1">
                  <a:latin typeface="Consolas" pitchFamily="49" charset="0"/>
                  <a:cs typeface="Consolas" pitchFamily="49" charset="0"/>
                </a:rPr>
                <a:t>n</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23" name="TextBox 52">
              <a:extLst>
                <a:ext uri="{FF2B5EF4-FFF2-40B4-BE49-F238E27FC236}">
                  <a16:creationId xmlns:a16="http://schemas.microsoft.com/office/drawing/2014/main" id="{44E5E22C-4FE5-ABD6-1A0B-91C5B046EEDE}"/>
                </a:ext>
              </a:extLst>
            </p:cNvPr>
            <p:cNvSpPr txBox="1"/>
            <p:nvPr/>
          </p:nvSpPr>
          <p:spPr>
            <a:xfrm>
              <a:off x="4645023" y="3530600"/>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cxnSp>
          <p:nvCxnSpPr>
            <p:cNvPr id="24" name="直接连接符 23">
              <a:extLst>
                <a:ext uri="{FF2B5EF4-FFF2-40B4-BE49-F238E27FC236}">
                  <a16:creationId xmlns:a16="http://schemas.microsoft.com/office/drawing/2014/main" id="{AE00080D-926D-1843-CA80-782D284FF190}"/>
                </a:ext>
              </a:extLst>
            </p:cNvPr>
            <p:cNvCxnSpPr/>
            <p:nvPr/>
          </p:nvCxnSpPr>
          <p:spPr>
            <a:xfrm rot="5400000">
              <a:off x="5180777" y="31091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3D7721D0-FBD9-27A6-C8FF-9400A2492AD8}"/>
                </a:ext>
              </a:extLst>
            </p:cNvPr>
            <p:cNvCxnSpPr/>
            <p:nvPr/>
          </p:nvCxnSpPr>
          <p:spPr>
            <a:xfrm>
              <a:off x="5908651" y="22653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9055CF4E-ED0F-CED2-53E1-076DEA619B95}"/>
                </a:ext>
              </a:extLst>
            </p:cNvPr>
            <p:cNvCxnSpPr/>
            <p:nvPr/>
          </p:nvCxnSpPr>
          <p:spPr>
            <a:xfrm>
              <a:off x="5907061" y="39624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27" name="TextBox 56">
              <a:extLst>
                <a:ext uri="{FF2B5EF4-FFF2-40B4-BE49-F238E27FC236}">
                  <a16:creationId xmlns:a16="http://schemas.microsoft.com/office/drawing/2014/main" id="{69C0C579-E1A9-0EE2-575E-58D074E33CEF}"/>
                </a:ext>
              </a:extLst>
            </p:cNvPr>
            <p:cNvSpPr txBox="1"/>
            <p:nvPr/>
          </p:nvSpPr>
          <p:spPr>
            <a:xfrm>
              <a:off x="3502018" y="3097210"/>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sp>
          <p:nvSpPr>
            <p:cNvPr id="28" name="TextBox 45">
              <a:extLst>
                <a:ext uri="{FF2B5EF4-FFF2-40B4-BE49-F238E27FC236}">
                  <a16:creationId xmlns:a16="http://schemas.microsoft.com/office/drawing/2014/main" id="{FF9994E0-CF71-A8AF-2616-3DE4C61CB253}"/>
                </a:ext>
              </a:extLst>
            </p:cNvPr>
            <p:cNvSpPr txBox="1"/>
            <p:nvPr/>
          </p:nvSpPr>
          <p:spPr>
            <a:xfrm>
              <a:off x="3359140" y="2687218"/>
              <a:ext cx="919808" cy="315413"/>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1,0</a:t>
              </a:r>
              <a:endParaRPr lang="zh-CN" altLang="en-US" sz="2000" baseline="-25000">
                <a:latin typeface="Consolas" pitchFamily="49" charset="0"/>
                <a:cs typeface="Consolas" pitchFamily="49" charset="0"/>
              </a:endParaRPr>
            </a:p>
          </p:txBody>
        </p:sp>
      </p:grpSp>
      <p:sp>
        <p:nvSpPr>
          <p:cNvPr id="29" name="Text Box 2">
            <a:extLst>
              <a:ext uri="{FF2B5EF4-FFF2-40B4-BE49-F238E27FC236}">
                <a16:creationId xmlns:a16="http://schemas.microsoft.com/office/drawing/2014/main" id="{B63BA47A-4401-7ED5-FBA2-8F63D7A2FFF0}"/>
              </a:ext>
            </a:extLst>
          </p:cNvPr>
          <p:cNvSpPr txBox="1">
            <a:spLocks noChangeArrowheads="1"/>
          </p:cNvSpPr>
          <p:nvPr/>
        </p:nvSpPr>
        <p:spPr bwMode="auto">
          <a:xfrm>
            <a:off x="2681582" y="2453455"/>
            <a:ext cx="2301875" cy="400110"/>
          </a:xfrm>
          <a:prstGeom prst="rect">
            <a:avLst/>
          </a:prstGeom>
          <a:noFill/>
          <a:ln w="9525">
            <a:noFill/>
            <a:miter lim="800000"/>
            <a:headEnd/>
            <a:tailEnd/>
          </a:ln>
          <a:effectLst/>
        </p:spPr>
        <p:txBody>
          <a:bodyPr>
            <a:spAutoFit/>
          </a:bodyPr>
          <a:lstStyle/>
          <a:p>
            <a:pPr marL="457200" indent="-457200" algn="l">
              <a:spcBef>
                <a:spcPct val="50000"/>
              </a:spcBef>
              <a:buBlip>
                <a:blip r:embed="rId2"/>
              </a:buBlip>
            </a:pPr>
            <a:r>
              <a:rPr kumimoji="1" lang="zh-CN" altLang="en-US" sz="2000">
                <a:solidFill>
                  <a:srgbClr val="FF0000"/>
                </a:solidFill>
                <a:latin typeface="微软雅黑" pitchFamily="34" charset="-122"/>
                <a:ea typeface="微软雅黑" pitchFamily="34" charset="-122"/>
                <a:cs typeface="Consolas" pitchFamily="49" charset="0"/>
              </a:rPr>
              <a:t>上三角矩阵</a:t>
            </a:r>
            <a:r>
              <a:rPr kumimoji="1" lang="zh-CN" altLang="en-US" sz="2000">
                <a:solidFill>
                  <a:schemeClr val="tx1"/>
                </a:solidFill>
                <a:latin typeface="微软雅黑" pitchFamily="34" charset="-122"/>
                <a:ea typeface="微软雅黑" pitchFamily="34" charset="-122"/>
                <a:cs typeface="Consolas" pitchFamily="49" charset="0"/>
              </a:rPr>
              <a:t> </a:t>
            </a:r>
            <a:endParaRPr kumimoji="1" lang="zh-CN" altLang="en-US" sz="2000" b="0">
              <a:solidFill>
                <a:schemeClr val="tx1"/>
              </a:solidFill>
              <a:latin typeface="微软雅黑" pitchFamily="34" charset="-122"/>
              <a:ea typeface="微软雅黑" pitchFamily="34" charset="-122"/>
              <a:cs typeface="Consolas" pitchFamily="49" charset="0"/>
            </a:endParaRPr>
          </a:p>
        </p:txBody>
      </p:sp>
      <p:sp>
        <p:nvSpPr>
          <p:cNvPr id="30" name="TextBox 22">
            <a:extLst>
              <a:ext uri="{FF2B5EF4-FFF2-40B4-BE49-F238E27FC236}">
                <a16:creationId xmlns:a16="http://schemas.microsoft.com/office/drawing/2014/main" id="{12FB5CB5-8B3F-1002-F722-68A488B44FDF}"/>
              </a:ext>
            </a:extLst>
          </p:cNvPr>
          <p:cNvSpPr txBox="1"/>
          <p:nvPr/>
        </p:nvSpPr>
        <p:spPr>
          <a:xfrm>
            <a:off x="2927648" y="4358227"/>
            <a:ext cx="6143668" cy="1705723"/>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l">
              <a:lnSpc>
                <a:spcPct val="150000"/>
              </a:lnSpc>
            </a:pPr>
            <a:r>
              <a:rPr lang="en-US" altLang="zh-CN" sz="1800" i="1">
                <a:latin typeface="Consolas" pitchFamily="49" charset="0"/>
                <a:cs typeface="Consolas" pitchFamily="49" charset="0"/>
              </a:rPr>
              <a:t>B=</a:t>
            </a:r>
            <a:r>
              <a:rPr lang="zh-CN" altLang="en-US" sz="1800">
                <a:latin typeface="Consolas" pitchFamily="49" charset="0"/>
                <a:cs typeface="Consolas" pitchFamily="49" charset="0"/>
              </a:rPr>
              <a:t>（</a:t>
            </a:r>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0,0</a:t>
            </a:r>
            <a:r>
              <a:rPr lang="en-US" altLang="zh-CN" sz="1800" err="1">
                <a:latin typeface="Consolas" pitchFamily="49" charset="0"/>
                <a:cs typeface="Consolas" pitchFamily="49" charset="0"/>
              </a:rPr>
              <a:t>,</a:t>
            </a:r>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0,1</a:t>
            </a:r>
            <a:r>
              <a:rPr lang="en-US" altLang="zh-CN" sz="1800">
                <a:latin typeface="Consolas" pitchFamily="49" charset="0"/>
                <a:cs typeface="Consolas" pitchFamily="49" charset="0"/>
              </a:rPr>
              <a:t>,</a:t>
            </a:r>
            <a:r>
              <a:rPr lang="zh-CN" altLang="en-US" sz="1800">
                <a:latin typeface="Consolas" pitchFamily="49" charset="0"/>
                <a:cs typeface="Consolas" pitchFamily="49" charset="0"/>
                <a:sym typeface="Symbol"/>
              </a:rPr>
              <a:t> </a:t>
            </a:r>
            <a:r>
              <a:rPr lang="en-US" altLang="zh-CN" sz="1800">
                <a:latin typeface="Consolas" pitchFamily="49" charset="0"/>
                <a:cs typeface="Consolas" pitchFamily="49" charset="0"/>
                <a:sym typeface="Symbol"/>
              </a:rPr>
              <a:t>,</a:t>
            </a:r>
            <a:r>
              <a:rPr lang="zh-CN" altLang="en-US" sz="1800">
                <a:latin typeface="Consolas" pitchFamily="49" charset="0"/>
                <a:cs typeface="Consolas" pitchFamily="49" charset="0"/>
                <a:sym typeface="Symbol"/>
              </a:rPr>
              <a:t> </a:t>
            </a:r>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0,</a:t>
            </a:r>
            <a:r>
              <a:rPr lang="en-US" altLang="zh-CN" sz="1800" i="1" baseline="-25000" err="1">
                <a:latin typeface="Consolas" pitchFamily="49" charset="0"/>
                <a:cs typeface="Consolas" pitchFamily="49" charset="0"/>
              </a:rPr>
              <a:t>n</a:t>
            </a:r>
            <a:r>
              <a:rPr lang="en-US" altLang="zh-CN" sz="1800" baseline="-25000" err="1">
                <a:latin typeface="Consolas" pitchFamily="49" charset="0"/>
                <a:cs typeface="Consolas" pitchFamily="49" charset="0"/>
              </a:rPr>
              <a:t>-1</a:t>
            </a:r>
            <a:r>
              <a:rPr lang="en-US" altLang="zh-CN" sz="1800" err="1">
                <a:latin typeface="Consolas" pitchFamily="49" charset="0"/>
                <a:cs typeface="Consolas" pitchFamily="49" charset="0"/>
              </a:rPr>
              <a:t>,</a:t>
            </a:r>
            <a:r>
              <a:rPr lang="en-US" altLang="zh-CN" sz="1800" i="1" err="1">
                <a:latin typeface="Consolas" pitchFamily="49" charset="0"/>
                <a:cs typeface="Consolas" pitchFamily="49" charset="0"/>
                <a:sym typeface="Symbol"/>
              </a:rPr>
              <a:t>a</a:t>
            </a:r>
            <a:r>
              <a:rPr lang="en-US" altLang="zh-CN" sz="1800" baseline="-25000" err="1">
                <a:latin typeface="Consolas" pitchFamily="49" charset="0"/>
                <a:cs typeface="Consolas" pitchFamily="49" charset="0"/>
                <a:sym typeface="Symbol"/>
              </a:rPr>
              <a:t>1,1</a:t>
            </a:r>
            <a:r>
              <a:rPr lang="en-US" altLang="zh-CN" sz="1800">
                <a:latin typeface="Consolas" pitchFamily="49" charset="0"/>
                <a:cs typeface="Consolas" pitchFamily="49" charset="0"/>
                <a:sym typeface="Symbol"/>
              </a:rPr>
              <a:t>,</a:t>
            </a:r>
            <a:r>
              <a:rPr lang="zh-CN" altLang="en-US" sz="1800">
                <a:latin typeface="Consolas" pitchFamily="49" charset="0"/>
                <a:cs typeface="Consolas" pitchFamily="49" charset="0"/>
                <a:sym typeface="Symbol"/>
              </a:rPr>
              <a:t> </a:t>
            </a:r>
            <a:r>
              <a:rPr lang="en-US" altLang="zh-CN" sz="1800">
                <a:latin typeface="Consolas" pitchFamily="49" charset="0"/>
                <a:cs typeface="Consolas" pitchFamily="49" charset="0"/>
                <a:sym typeface="Symbol"/>
              </a:rPr>
              <a:t>,</a:t>
            </a:r>
            <a:r>
              <a:rPr lang="zh-CN" altLang="en-US" sz="1800">
                <a:latin typeface="Consolas" pitchFamily="49" charset="0"/>
                <a:cs typeface="Consolas" pitchFamily="49" charset="0"/>
                <a:sym typeface="Symbol"/>
              </a:rPr>
              <a:t> </a:t>
            </a:r>
            <a:r>
              <a:rPr lang="en-US" altLang="zh-CN" sz="1800" i="1">
                <a:latin typeface="Consolas" pitchFamily="49" charset="0"/>
                <a:cs typeface="Consolas" pitchFamily="49" charset="0"/>
                <a:sym typeface="Symbol"/>
              </a:rPr>
              <a:t>a</a:t>
            </a:r>
            <a:r>
              <a:rPr lang="en-US" altLang="zh-CN" sz="1800" i="1" baseline="-25000">
                <a:latin typeface="Consolas" pitchFamily="49" charset="0"/>
                <a:cs typeface="Consolas" pitchFamily="49" charset="0"/>
                <a:sym typeface="Symbol"/>
              </a:rPr>
              <a:t>i</a:t>
            </a:r>
            <a:r>
              <a:rPr lang="en-US" altLang="zh-CN" sz="1800" baseline="-25000">
                <a:latin typeface="Consolas" pitchFamily="49" charset="0"/>
                <a:cs typeface="Consolas" pitchFamily="49" charset="0"/>
                <a:sym typeface="Symbol"/>
              </a:rPr>
              <a:t>-1,</a:t>
            </a:r>
            <a:r>
              <a:rPr lang="en-US" altLang="zh-CN" sz="1800" i="1" baseline="-25000">
                <a:latin typeface="Consolas" pitchFamily="49" charset="0"/>
                <a:cs typeface="Consolas" pitchFamily="49" charset="0"/>
                <a:sym typeface="Symbol"/>
              </a:rPr>
              <a:t>n</a:t>
            </a:r>
            <a:r>
              <a:rPr lang="en-US" altLang="zh-CN" sz="1800" baseline="-25000">
                <a:latin typeface="Consolas" pitchFamily="49" charset="0"/>
                <a:cs typeface="Consolas" pitchFamily="49" charset="0"/>
                <a:sym typeface="Symbol"/>
              </a:rPr>
              <a:t>-1</a:t>
            </a:r>
            <a:r>
              <a:rPr lang="en-US" altLang="zh-CN" sz="1800">
                <a:latin typeface="Consolas" pitchFamily="49" charset="0"/>
                <a:cs typeface="Consolas" pitchFamily="49" charset="0"/>
                <a:sym typeface="Symbol"/>
              </a:rPr>
              <a:t>,</a:t>
            </a:r>
          </a:p>
          <a:p>
            <a:pPr algn="l">
              <a:lnSpc>
                <a:spcPct val="150000"/>
              </a:lnSpc>
            </a:pPr>
            <a:r>
              <a:rPr lang="en-US" altLang="zh-CN" sz="1800">
                <a:latin typeface="Consolas" pitchFamily="49" charset="0"/>
                <a:cs typeface="Consolas" pitchFamily="49" charset="0"/>
                <a:sym typeface="Symbol"/>
              </a:rPr>
              <a:t>        </a:t>
            </a:r>
            <a:r>
              <a:rPr lang="zh-CN" altLang="en-US" sz="1800">
                <a:latin typeface="Consolas" pitchFamily="49" charset="0"/>
                <a:cs typeface="Consolas" pitchFamily="49" charset="0"/>
                <a:sym typeface="Symbol"/>
              </a:rPr>
              <a:t> </a:t>
            </a:r>
            <a:r>
              <a:rPr lang="en-US" altLang="zh-CN" sz="1800">
                <a:latin typeface="Consolas" pitchFamily="49" charset="0"/>
                <a:cs typeface="Consolas" pitchFamily="49" charset="0"/>
                <a:sym typeface="Symbol"/>
              </a:rPr>
              <a:t>,</a:t>
            </a:r>
          </a:p>
          <a:p>
            <a:pPr algn="l">
              <a:lnSpc>
                <a:spcPct val="150000"/>
              </a:lnSpc>
            </a:pPr>
            <a:r>
              <a:rPr lang="en-US" altLang="zh-CN" sz="1800" i="1">
                <a:latin typeface="Consolas" pitchFamily="49" charset="0"/>
                <a:cs typeface="Consolas" pitchFamily="49" charset="0"/>
                <a:sym typeface="Symbol"/>
              </a:rPr>
              <a:t>    a</a:t>
            </a:r>
            <a:r>
              <a:rPr lang="en-US" altLang="zh-CN" sz="1800" i="1" baseline="-25000">
                <a:latin typeface="Consolas" pitchFamily="49" charset="0"/>
                <a:cs typeface="Consolas" pitchFamily="49" charset="0"/>
                <a:sym typeface="Symbol"/>
              </a:rPr>
              <a:t>i</a:t>
            </a:r>
            <a:r>
              <a:rPr lang="en-US" altLang="zh-CN" sz="1800" baseline="-25000">
                <a:latin typeface="Consolas" pitchFamily="49" charset="0"/>
                <a:cs typeface="Consolas" pitchFamily="49" charset="0"/>
                <a:sym typeface="Symbol"/>
              </a:rPr>
              <a:t>-1,</a:t>
            </a:r>
            <a:r>
              <a:rPr lang="en-US" altLang="zh-CN" sz="1800" i="1" baseline="-25000">
                <a:latin typeface="Consolas" pitchFamily="49" charset="0"/>
                <a:cs typeface="Consolas" pitchFamily="49" charset="0"/>
                <a:sym typeface="Symbol"/>
              </a:rPr>
              <a:t>i</a:t>
            </a:r>
            <a:r>
              <a:rPr lang="en-US" altLang="zh-CN" sz="1800" baseline="-25000">
                <a:latin typeface="Consolas" pitchFamily="49" charset="0"/>
                <a:cs typeface="Consolas" pitchFamily="49" charset="0"/>
                <a:sym typeface="Symbol"/>
              </a:rPr>
              <a:t>-1</a:t>
            </a:r>
            <a:r>
              <a:rPr lang="en-US" altLang="zh-CN" sz="1800">
                <a:latin typeface="Consolas" pitchFamily="49" charset="0"/>
                <a:cs typeface="Consolas" pitchFamily="49" charset="0"/>
                <a:sym typeface="Symbol"/>
              </a:rPr>
              <a:t>,</a:t>
            </a:r>
            <a:r>
              <a:rPr lang="zh-CN" altLang="en-US" sz="1800">
                <a:latin typeface="Consolas" pitchFamily="49" charset="0"/>
                <a:cs typeface="Consolas" pitchFamily="49" charset="0"/>
                <a:sym typeface="Symbol"/>
              </a:rPr>
              <a:t></a:t>
            </a:r>
            <a:r>
              <a:rPr lang="en-US" altLang="zh-CN" sz="1800">
                <a:latin typeface="Consolas" pitchFamily="49" charset="0"/>
                <a:cs typeface="Consolas" pitchFamily="49" charset="0"/>
                <a:sym typeface="Symbol"/>
              </a:rPr>
              <a:t>, </a:t>
            </a:r>
            <a:r>
              <a:rPr lang="en-US" altLang="zh-CN" sz="1800" i="1" err="1">
                <a:latin typeface="Consolas" pitchFamily="49" charset="0"/>
                <a:cs typeface="Consolas" pitchFamily="49" charset="0"/>
                <a:sym typeface="Symbol"/>
              </a:rPr>
              <a:t>a</a:t>
            </a:r>
            <a:r>
              <a:rPr lang="en-US" altLang="zh-CN" sz="1800" i="1" baseline="-25000" err="1">
                <a:latin typeface="Consolas" pitchFamily="49" charset="0"/>
                <a:cs typeface="Consolas" pitchFamily="49" charset="0"/>
                <a:sym typeface="Symbol"/>
              </a:rPr>
              <a:t>i</a:t>
            </a:r>
            <a:r>
              <a:rPr lang="en-US" altLang="zh-CN" sz="1800" baseline="-25000" err="1">
                <a:latin typeface="Consolas" pitchFamily="49" charset="0"/>
                <a:cs typeface="Consolas" pitchFamily="49" charset="0"/>
                <a:sym typeface="Symbol"/>
              </a:rPr>
              <a:t>-1,</a:t>
            </a:r>
            <a:r>
              <a:rPr lang="en-US" altLang="zh-CN" sz="1800" i="1" baseline="-25000" err="1">
                <a:latin typeface="Consolas" pitchFamily="49" charset="0"/>
                <a:cs typeface="Consolas" pitchFamily="49" charset="0"/>
                <a:sym typeface="Symbol"/>
              </a:rPr>
              <a:t>n</a:t>
            </a:r>
            <a:r>
              <a:rPr lang="en-US" altLang="zh-CN" sz="1800" baseline="-25000" err="1">
                <a:latin typeface="Consolas" pitchFamily="49" charset="0"/>
                <a:cs typeface="Consolas" pitchFamily="49" charset="0"/>
                <a:sym typeface="Symbol"/>
              </a:rPr>
              <a:t>-1</a:t>
            </a:r>
            <a:r>
              <a:rPr lang="en-US" altLang="zh-CN" sz="1800">
                <a:latin typeface="Consolas" pitchFamily="49" charset="0"/>
                <a:cs typeface="Consolas" pitchFamily="49" charset="0"/>
                <a:sym typeface="Symbol"/>
              </a:rPr>
              <a:t>,</a:t>
            </a:r>
          </a:p>
          <a:p>
            <a:pPr algn="l">
              <a:lnSpc>
                <a:spcPct val="150000"/>
              </a:lnSpc>
            </a:pPr>
            <a:r>
              <a:rPr lang="en-US" altLang="zh-CN" sz="1800" i="1">
                <a:latin typeface="Consolas" pitchFamily="49" charset="0"/>
                <a:cs typeface="Consolas" pitchFamily="49" charset="0"/>
                <a:sym typeface="Symbol"/>
              </a:rPr>
              <a:t>    a</a:t>
            </a:r>
            <a:r>
              <a:rPr lang="en-US" altLang="zh-CN" sz="1800" i="1" baseline="-25000">
                <a:latin typeface="Consolas" pitchFamily="49" charset="0"/>
                <a:cs typeface="Consolas" pitchFamily="49" charset="0"/>
                <a:sym typeface="Symbol"/>
              </a:rPr>
              <a:t>i,i</a:t>
            </a:r>
            <a:r>
              <a:rPr lang="zh-CN" altLang="en-US" sz="1800">
                <a:latin typeface="Consolas" pitchFamily="49" charset="0"/>
                <a:cs typeface="Consolas" pitchFamily="49" charset="0"/>
                <a:sym typeface="Symbol"/>
              </a:rPr>
              <a:t> </a:t>
            </a:r>
            <a:r>
              <a:rPr lang="en-US" altLang="zh-CN" sz="1800">
                <a:latin typeface="Consolas" pitchFamily="49" charset="0"/>
                <a:cs typeface="Consolas" pitchFamily="49" charset="0"/>
                <a:sym typeface="Symbol"/>
              </a:rPr>
              <a:t>,</a:t>
            </a:r>
            <a:r>
              <a:rPr lang="zh-CN" altLang="en-US" sz="1800">
                <a:latin typeface="Consolas" pitchFamily="49" charset="0"/>
                <a:cs typeface="Consolas" pitchFamily="49" charset="0"/>
                <a:sym typeface="Symbol"/>
              </a:rPr>
              <a:t> </a:t>
            </a:r>
            <a:r>
              <a:rPr lang="en-US" altLang="zh-CN" sz="1800">
                <a:latin typeface="Consolas" pitchFamily="49" charset="0"/>
                <a:cs typeface="Consolas" pitchFamily="49" charset="0"/>
                <a:sym typeface="Symbol"/>
              </a:rPr>
              <a:t>,</a:t>
            </a:r>
            <a:r>
              <a:rPr lang="en-US" altLang="zh-CN" sz="1800" i="1" err="1">
                <a:latin typeface="Consolas" pitchFamily="49" charset="0"/>
                <a:cs typeface="Consolas" pitchFamily="49" charset="0"/>
                <a:sym typeface="Symbol"/>
              </a:rPr>
              <a:t>a</a:t>
            </a:r>
            <a:r>
              <a:rPr lang="en-US" altLang="zh-CN" sz="1800" i="1" baseline="-25000" err="1">
                <a:latin typeface="Consolas" pitchFamily="49" charset="0"/>
                <a:cs typeface="Consolas" pitchFamily="49" charset="0"/>
                <a:sym typeface="Symbol"/>
              </a:rPr>
              <a:t>i,j-</a:t>
            </a:r>
            <a:r>
              <a:rPr lang="en-US" altLang="zh-CN" sz="1800" baseline="-25000" err="1">
                <a:latin typeface="Consolas" pitchFamily="49" charset="0"/>
                <a:cs typeface="Consolas" pitchFamily="49" charset="0"/>
                <a:sym typeface="Symbol"/>
              </a:rPr>
              <a:t>1</a:t>
            </a:r>
            <a:r>
              <a:rPr lang="en-US" altLang="zh-CN" sz="1800" err="1">
                <a:latin typeface="Consolas" pitchFamily="49" charset="0"/>
                <a:cs typeface="Consolas" pitchFamily="49" charset="0"/>
                <a:sym typeface="Symbol"/>
              </a:rPr>
              <a:t>,</a:t>
            </a:r>
            <a:r>
              <a:rPr lang="en-US" altLang="zh-CN" sz="1800" i="1" err="1">
                <a:solidFill>
                  <a:srgbClr val="FF0000"/>
                </a:solidFill>
                <a:latin typeface="Consolas" pitchFamily="49" charset="0"/>
                <a:cs typeface="Consolas" pitchFamily="49" charset="0"/>
                <a:sym typeface="Symbol"/>
              </a:rPr>
              <a:t>a</a:t>
            </a:r>
            <a:r>
              <a:rPr lang="en-US" altLang="zh-CN" sz="1800" i="1" baseline="-25000" err="1">
                <a:solidFill>
                  <a:srgbClr val="FF0000"/>
                </a:solidFill>
                <a:latin typeface="Consolas" pitchFamily="49" charset="0"/>
                <a:cs typeface="Consolas" pitchFamily="49" charset="0"/>
                <a:sym typeface="Symbol"/>
              </a:rPr>
              <a:t>i,j</a:t>
            </a:r>
            <a:r>
              <a:rPr lang="en-US" altLang="zh-CN" sz="1800">
                <a:latin typeface="Consolas" pitchFamily="49" charset="0"/>
                <a:cs typeface="Consolas" pitchFamily="49" charset="0"/>
                <a:sym typeface="Symbol"/>
              </a:rPr>
              <a:t>,</a:t>
            </a:r>
            <a:r>
              <a:rPr lang="zh-CN" altLang="en-US" sz="1800">
                <a:latin typeface="Consolas" pitchFamily="49" charset="0"/>
                <a:cs typeface="Consolas" pitchFamily="49" charset="0"/>
                <a:sym typeface="Symbol"/>
              </a:rPr>
              <a:t>  ）</a:t>
            </a:r>
            <a:endParaRPr lang="zh-CN" altLang="en-US" sz="1800">
              <a:latin typeface="Consolas" pitchFamily="49" charset="0"/>
              <a:cs typeface="Consolas" pitchFamily="49" charset="0"/>
            </a:endParaRPr>
          </a:p>
        </p:txBody>
      </p:sp>
      <p:grpSp>
        <p:nvGrpSpPr>
          <p:cNvPr id="31" name="组合 73">
            <a:extLst>
              <a:ext uri="{FF2B5EF4-FFF2-40B4-BE49-F238E27FC236}">
                <a16:creationId xmlns:a16="http://schemas.microsoft.com/office/drawing/2014/main" id="{A720C4C1-ADF5-BEEB-ACCC-2791B5A37265}"/>
              </a:ext>
            </a:extLst>
          </p:cNvPr>
          <p:cNvGrpSpPr/>
          <p:nvPr/>
        </p:nvGrpSpPr>
        <p:grpSpPr>
          <a:xfrm>
            <a:off x="8214060" y="3458051"/>
            <a:ext cx="1000132" cy="971614"/>
            <a:chOff x="6072230" y="1673827"/>
            <a:chExt cx="1000132" cy="971614"/>
          </a:xfrm>
        </p:grpSpPr>
        <p:sp>
          <p:nvSpPr>
            <p:cNvPr id="33" name="右弧形箭头 23">
              <a:extLst>
                <a:ext uri="{FF2B5EF4-FFF2-40B4-BE49-F238E27FC236}">
                  <a16:creationId xmlns:a16="http://schemas.microsoft.com/office/drawing/2014/main" id="{48A7420D-1312-F61D-8026-9020889CB7AD}"/>
                </a:ext>
              </a:extLst>
            </p:cNvPr>
            <p:cNvSpPr/>
            <p:nvPr/>
          </p:nvSpPr>
          <p:spPr>
            <a:xfrm>
              <a:off x="6072230" y="1797713"/>
              <a:ext cx="357158" cy="847728"/>
            </a:xfrm>
            <a:prstGeom prst="curved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schemeClr val="tx1"/>
                </a:solidFill>
                <a:latin typeface="Consolas" pitchFamily="49" charset="0"/>
                <a:cs typeface="Consolas" pitchFamily="49" charset="0"/>
              </a:endParaRPr>
            </a:p>
          </p:txBody>
        </p:sp>
        <p:sp>
          <p:nvSpPr>
            <p:cNvPr id="38" name="TextBox 24">
              <a:extLst>
                <a:ext uri="{FF2B5EF4-FFF2-40B4-BE49-F238E27FC236}">
                  <a16:creationId xmlns:a16="http://schemas.microsoft.com/office/drawing/2014/main" id="{7D9DD97D-A5B7-3E58-0A0B-8637910C08D1}"/>
                </a:ext>
              </a:extLst>
            </p:cNvPr>
            <p:cNvSpPr txBox="1"/>
            <p:nvPr/>
          </p:nvSpPr>
          <p:spPr>
            <a:xfrm>
              <a:off x="6286512" y="1673827"/>
              <a:ext cx="785850" cy="400110"/>
            </a:xfrm>
            <a:prstGeom prst="rect">
              <a:avLst/>
            </a:prstGeom>
            <a:noFill/>
          </p:spPr>
          <p:txBody>
            <a:bodyPr wrap="square" rtlCol="0">
              <a:spAutoFit/>
            </a:bodyPr>
            <a:lstStyle/>
            <a:p>
              <a:r>
                <a:rPr lang="en-US" altLang="zh-CN" sz="2000" i="1" err="1">
                  <a:solidFill>
                    <a:srgbClr val="FF0000"/>
                  </a:solidFill>
                  <a:latin typeface="Consolas" pitchFamily="49" charset="0"/>
                  <a:cs typeface="Consolas" pitchFamily="49" charset="0"/>
                </a:rPr>
                <a:t>a</a:t>
              </a:r>
              <a:r>
                <a:rPr lang="en-US" altLang="zh-CN" sz="2000" i="1" baseline="-25000" err="1">
                  <a:solidFill>
                    <a:srgbClr val="FF0000"/>
                  </a:solidFill>
                  <a:latin typeface="Consolas" pitchFamily="49" charset="0"/>
                  <a:cs typeface="Consolas" pitchFamily="49" charset="0"/>
                </a:rPr>
                <a:t>i,j</a:t>
              </a:r>
              <a:endParaRPr lang="zh-CN" altLang="en-US" sz="2000" i="1" baseline="-25000">
                <a:solidFill>
                  <a:srgbClr val="FF0000"/>
                </a:solidFill>
                <a:latin typeface="Consolas" pitchFamily="49" charset="0"/>
                <a:cs typeface="Consolas" pitchFamily="49" charset="0"/>
              </a:endParaRPr>
            </a:p>
          </p:txBody>
        </p:sp>
      </p:grpSp>
      <p:sp>
        <p:nvSpPr>
          <p:cNvPr id="39" name="直角三角形 38">
            <a:extLst>
              <a:ext uri="{FF2B5EF4-FFF2-40B4-BE49-F238E27FC236}">
                <a16:creationId xmlns:a16="http://schemas.microsoft.com/office/drawing/2014/main" id="{B50E1130-FE2A-C131-0823-8A506E85B9AA}"/>
              </a:ext>
            </a:extLst>
          </p:cNvPr>
          <p:cNvSpPr/>
          <p:nvPr/>
        </p:nvSpPr>
        <p:spPr>
          <a:xfrm>
            <a:off x="5272402" y="2643715"/>
            <a:ext cx="1928826" cy="1500198"/>
          </a:xfrm>
          <a:prstGeom prst="rtTriangl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40" name="Text Box 15">
            <a:extLst>
              <a:ext uri="{FF2B5EF4-FFF2-40B4-BE49-F238E27FC236}">
                <a16:creationId xmlns:a16="http://schemas.microsoft.com/office/drawing/2014/main" id="{2CFC8543-4ABD-B053-3B21-C0B1EB1FDD09}"/>
              </a:ext>
            </a:extLst>
          </p:cNvPr>
          <p:cNvSpPr txBox="1">
            <a:spLocks noChangeArrowheads="1"/>
          </p:cNvSpPr>
          <p:nvPr/>
        </p:nvSpPr>
        <p:spPr bwMode="auto">
          <a:xfrm flipH="1">
            <a:off x="5642260" y="3465374"/>
            <a:ext cx="357190" cy="461665"/>
          </a:xfrm>
          <a:prstGeom prst="rect">
            <a:avLst/>
          </a:prstGeom>
          <a:noFill/>
          <a:ln w="9525">
            <a:noFill/>
            <a:miter lim="800000"/>
            <a:headEnd/>
            <a:tailEnd/>
          </a:ln>
          <a:effectLst/>
        </p:spPr>
        <p:txBody>
          <a:bodyPr wrap="square">
            <a:spAutoFit/>
          </a:bodyPr>
          <a:lstStyle/>
          <a:p>
            <a:pPr algn="l">
              <a:spcBef>
                <a:spcPct val="50000"/>
              </a:spcBef>
            </a:pPr>
            <a:r>
              <a:rPr lang="en-US" altLang="zh-CN" i="1">
                <a:solidFill>
                  <a:srgbClr val="FF0000"/>
                </a:solidFill>
                <a:latin typeface="Consolas" pitchFamily="49" charset="0"/>
                <a:cs typeface="Consolas" pitchFamily="49" charset="0"/>
              </a:rPr>
              <a:t>c</a:t>
            </a:r>
          </a:p>
        </p:txBody>
      </p:sp>
      <p:sp>
        <p:nvSpPr>
          <p:cNvPr id="56" name="TextBox 60">
            <a:extLst>
              <a:ext uri="{FF2B5EF4-FFF2-40B4-BE49-F238E27FC236}">
                <a16:creationId xmlns:a16="http://schemas.microsoft.com/office/drawing/2014/main" id="{DE0CEC10-D02D-CDD6-AFDA-8E8D5E2F028E}"/>
              </a:ext>
            </a:extLst>
          </p:cNvPr>
          <p:cNvSpPr txBox="1"/>
          <p:nvPr/>
        </p:nvSpPr>
        <p:spPr>
          <a:xfrm>
            <a:off x="6995646" y="3436813"/>
            <a:ext cx="575440" cy="338554"/>
          </a:xfrm>
          <a:prstGeom prst="rect">
            <a:avLst/>
          </a:prstGeom>
          <a:noFill/>
        </p:spPr>
        <p:txBody>
          <a:bodyPr wrap="square" lIns="0" tIns="0" rIns="0" bIns="0" rtlCol="0">
            <a:spAutoFit/>
          </a:bodyPr>
          <a:lstStyle/>
          <a:p>
            <a:r>
              <a:rPr lang="en-US" altLang="zh-CN" sz="2200" i="1">
                <a:latin typeface="Consolas" pitchFamily="49" charset="0"/>
                <a:ea typeface="+mn-ea"/>
                <a:cs typeface="Consolas" pitchFamily="49" charset="0"/>
                <a:sym typeface="Symbol"/>
              </a:rPr>
              <a:t></a:t>
            </a:r>
            <a:endParaRPr lang="zh-CN" altLang="en-US" sz="2200" baseline="-25000">
              <a:latin typeface="Consolas" pitchFamily="49" charset="0"/>
              <a:ea typeface="+mn-ea"/>
              <a:cs typeface="Consolas" pitchFamily="49" charset="0"/>
            </a:endParaRPr>
          </a:p>
        </p:txBody>
      </p:sp>
      <p:cxnSp>
        <p:nvCxnSpPr>
          <p:cNvPr id="57" name="直接连接符 56">
            <a:extLst>
              <a:ext uri="{FF2B5EF4-FFF2-40B4-BE49-F238E27FC236}">
                <a16:creationId xmlns:a16="http://schemas.microsoft.com/office/drawing/2014/main" id="{F2D443C7-D2F9-FB48-FB90-C354918C6236}"/>
              </a:ext>
            </a:extLst>
          </p:cNvPr>
          <p:cNvCxnSpPr/>
          <p:nvPr/>
        </p:nvCxnSpPr>
        <p:spPr>
          <a:xfrm flipV="1">
            <a:off x="7785400" y="2641456"/>
            <a:ext cx="642942" cy="357190"/>
          </a:xfrm>
          <a:prstGeom prst="line">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8" name="TextBox 81">
            <a:extLst>
              <a:ext uri="{FF2B5EF4-FFF2-40B4-BE49-F238E27FC236}">
                <a16:creationId xmlns:a16="http://schemas.microsoft.com/office/drawing/2014/main" id="{CEBF1E6E-46F5-A605-5A16-4858820778B6}"/>
              </a:ext>
            </a:extLst>
          </p:cNvPr>
          <p:cNvSpPr txBox="1"/>
          <p:nvPr/>
        </p:nvSpPr>
        <p:spPr>
          <a:xfrm>
            <a:off x="8285466" y="2455660"/>
            <a:ext cx="857256" cy="369332"/>
          </a:xfrm>
          <a:prstGeom prst="rect">
            <a:avLst/>
          </a:prstGeom>
          <a:noFill/>
        </p:spPr>
        <p:txBody>
          <a:bodyPr wrap="square" rtlCol="0">
            <a:spAutoFit/>
          </a:bodyPr>
          <a:lstStyle/>
          <a:p>
            <a:r>
              <a:rPr kumimoji="1" lang="en-US" altLang="zh-CN" sz="1800" i="1" err="1">
                <a:latin typeface="Consolas" pitchFamily="49" charset="0"/>
                <a:cs typeface="Consolas" pitchFamily="49" charset="0"/>
              </a:rPr>
              <a:t>i</a:t>
            </a:r>
            <a:r>
              <a:rPr kumimoji="1" lang="en-US" altLang="zh-CN" sz="1800" err="1">
                <a:latin typeface="宋体" pitchFamily="2" charset="-122"/>
                <a:ea typeface="宋体" pitchFamily="2" charset="-122"/>
                <a:cs typeface="Consolas" pitchFamily="49" charset="0"/>
              </a:rPr>
              <a:t>≤</a:t>
            </a:r>
            <a:r>
              <a:rPr kumimoji="1" lang="en-US" altLang="zh-CN" sz="1800" i="1" err="1">
                <a:latin typeface="Consolas" pitchFamily="49" charset="0"/>
                <a:ea typeface="楷体" pitchFamily="49" charset="-122"/>
                <a:cs typeface="Consolas" pitchFamily="49" charset="0"/>
              </a:rPr>
              <a:t>j</a:t>
            </a:r>
            <a:endParaRPr lang="zh-CN" altLang="en-US" sz="1800">
              <a:latin typeface="Consolas" pitchFamily="49" charset="0"/>
              <a:cs typeface="Consolas" pitchFamily="49" charset="0"/>
            </a:endParaRPr>
          </a:p>
        </p:txBody>
      </p:sp>
      <p:grpSp>
        <p:nvGrpSpPr>
          <p:cNvPr id="59" name="组合 61">
            <a:extLst>
              <a:ext uri="{FF2B5EF4-FFF2-40B4-BE49-F238E27FC236}">
                <a16:creationId xmlns:a16="http://schemas.microsoft.com/office/drawing/2014/main" id="{BF22709E-978C-63C8-E480-CDA40F6152A6}"/>
              </a:ext>
            </a:extLst>
          </p:cNvPr>
          <p:cNvGrpSpPr/>
          <p:nvPr/>
        </p:nvGrpSpPr>
        <p:grpSpPr>
          <a:xfrm>
            <a:off x="5521476" y="6163936"/>
            <a:ext cx="571504" cy="621772"/>
            <a:chOff x="3365024" y="5702316"/>
            <a:chExt cx="571504" cy="621772"/>
          </a:xfrm>
        </p:grpSpPr>
        <p:sp>
          <p:nvSpPr>
            <p:cNvPr id="60" name="TextBox 57">
              <a:extLst>
                <a:ext uri="{FF2B5EF4-FFF2-40B4-BE49-F238E27FC236}">
                  <a16:creationId xmlns:a16="http://schemas.microsoft.com/office/drawing/2014/main" id="{AF522601-BE18-791F-EA92-D09280406BB5}"/>
                </a:ext>
              </a:extLst>
            </p:cNvPr>
            <p:cNvSpPr txBox="1"/>
            <p:nvPr/>
          </p:nvSpPr>
          <p:spPr>
            <a:xfrm>
              <a:off x="3365024" y="5923978"/>
              <a:ext cx="571504" cy="400110"/>
            </a:xfrm>
            <a:prstGeom prst="rect">
              <a:avLst/>
            </a:prstGeom>
            <a:noFill/>
          </p:spPr>
          <p:txBody>
            <a:bodyPr wrap="square" rtlCol="0">
              <a:spAutoFit/>
            </a:bodyPr>
            <a:lstStyle/>
            <a:p>
              <a:r>
                <a:rPr lang="en-US" altLang="zh-CN" sz="2000" i="1" dirty="0">
                  <a:solidFill>
                    <a:srgbClr val="FF0000"/>
                  </a:solidFill>
                  <a:latin typeface="Consolas" pitchFamily="49" charset="0"/>
                  <a:cs typeface="Consolas" pitchFamily="49" charset="0"/>
                </a:rPr>
                <a:t>b</a:t>
              </a:r>
              <a:r>
                <a:rPr lang="en-US" altLang="zh-CN" sz="2000" i="1" baseline="-25000" dirty="0">
                  <a:solidFill>
                    <a:srgbClr val="FF0000"/>
                  </a:solidFill>
                  <a:latin typeface="Consolas" pitchFamily="49" charset="0"/>
                  <a:cs typeface="Consolas" pitchFamily="49" charset="0"/>
                </a:rPr>
                <a:t>k</a:t>
              </a:r>
              <a:endParaRPr lang="zh-CN" altLang="en-US" sz="2000" i="1" baseline="-25000" dirty="0">
                <a:solidFill>
                  <a:srgbClr val="FF0000"/>
                </a:solidFill>
                <a:latin typeface="Consolas" pitchFamily="49" charset="0"/>
                <a:cs typeface="Consolas" pitchFamily="49" charset="0"/>
              </a:endParaRPr>
            </a:p>
          </p:txBody>
        </p:sp>
        <p:cxnSp>
          <p:nvCxnSpPr>
            <p:cNvPr id="61" name="直接箭头连接符 60">
              <a:extLst>
                <a:ext uri="{FF2B5EF4-FFF2-40B4-BE49-F238E27FC236}">
                  <a16:creationId xmlns:a16="http://schemas.microsoft.com/office/drawing/2014/main" id="{56FD7698-21F3-82E2-BB56-853CF25C2217}"/>
                </a:ext>
              </a:extLst>
            </p:cNvPr>
            <p:cNvCxnSpPr/>
            <p:nvPr/>
          </p:nvCxnSpPr>
          <p:spPr>
            <a:xfrm rot="5400000">
              <a:off x="3444073" y="5880117"/>
              <a:ext cx="357190" cy="1588"/>
            </a:xfrm>
            <a:prstGeom prst="straightConnector1">
              <a:avLst/>
            </a:prstGeom>
            <a:ln w="28575">
              <a:solidFill>
                <a:srgbClr val="FF00FF"/>
              </a:solidFill>
              <a:headEnd type="arrow"/>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44147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342BD-8C75-38BE-4E86-1906EDE446F7}"/>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5E93DCAB-69C5-342E-C2C9-AA8B2746A1B0}"/>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3" name="Rectangle 2">
            <a:extLst>
              <a:ext uri="{FF2B5EF4-FFF2-40B4-BE49-F238E27FC236}">
                <a16:creationId xmlns:a16="http://schemas.microsoft.com/office/drawing/2014/main" id="{2D2BA846-6845-2EE4-3E43-97D618CF992C}"/>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3522B639-CFC8-C2A2-8263-51E19E7AD13E}"/>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0578C8BE-5B58-B555-5F74-B0852EE2CFD4}"/>
              </a:ext>
            </a:extLst>
          </p:cNvPr>
          <p:cNvSpPr/>
          <p:nvPr/>
        </p:nvSpPr>
        <p:spPr>
          <a:xfrm>
            <a:off x="1055440" y="1683955"/>
            <a:ext cx="10729192" cy="707886"/>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）三角矩阵：上</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下</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三角矩阵是指矩阵的下（上）三角（不包括对角线）中的元素均为常数或零的</a:t>
            </a:r>
            <a:r>
              <a:rPr lang="en-US" altLang="zh-CN" sz="2000" dirty="0">
                <a:latin typeface="微软雅黑" pitchFamily="34" charset="-122"/>
                <a:ea typeface="微软雅黑" pitchFamily="34" charset="-122"/>
                <a:cs typeface="经典粗黑简" pitchFamily="49" charset="-122"/>
              </a:rPr>
              <a:t>n</a:t>
            </a:r>
            <a:r>
              <a:rPr lang="zh-CN" altLang="en-US" sz="2000" dirty="0">
                <a:latin typeface="微软雅黑" pitchFamily="34" charset="-122"/>
                <a:ea typeface="微软雅黑" pitchFamily="34" charset="-122"/>
                <a:cs typeface="经典粗黑简" pitchFamily="49" charset="-122"/>
              </a:rPr>
              <a:t>阶矩阵，即非零元素的分布在矩阵中呈现为三角形。</a:t>
            </a:r>
          </a:p>
        </p:txBody>
      </p:sp>
      <p:grpSp>
        <p:nvGrpSpPr>
          <p:cNvPr id="20" name="组合 37">
            <a:extLst>
              <a:ext uri="{FF2B5EF4-FFF2-40B4-BE49-F238E27FC236}">
                <a16:creationId xmlns:a16="http://schemas.microsoft.com/office/drawing/2014/main" id="{F35E8564-5645-97A9-083B-7B271C316ED0}"/>
              </a:ext>
            </a:extLst>
          </p:cNvPr>
          <p:cNvGrpSpPr/>
          <p:nvPr/>
        </p:nvGrpSpPr>
        <p:grpSpPr>
          <a:xfrm>
            <a:off x="3155412" y="2420285"/>
            <a:ext cx="2857520" cy="1752612"/>
            <a:chOff x="3214676" y="2214554"/>
            <a:chExt cx="2837975" cy="1752612"/>
          </a:xfrm>
        </p:grpSpPr>
        <p:cxnSp>
          <p:nvCxnSpPr>
            <p:cNvPr id="21" name="直接连接符 20">
              <a:extLst>
                <a:ext uri="{FF2B5EF4-FFF2-40B4-BE49-F238E27FC236}">
                  <a16:creationId xmlns:a16="http://schemas.microsoft.com/office/drawing/2014/main" id="{35F4E830-B2F7-21C5-A5AB-A34ED7B0BF43}"/>
                </a:ext>
              </a:extLst>
            </p:cNvPr>
            <p:cNvCxnSpPr/>
            <p:nvPr/>
          </p:nvCxnSpPr>
          <p:spPr>
            <a:xfrm rot="5400000">
              <a:off x="2358214" y="30710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111335A6-A071-4034-78F5-63CC6927AFF7}"/>
                </a:ext>
              </a:extLst>
            </p:cNvPr>
            <p:cNvCxnSpPr/>
            <p:nvPr/>
          </p:nvCxnSpPr>
          <p:spPr>
            <a:xfrm>
              <a:off x="3216264" y="22272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6D7962BD-DD56-1797-D680-203CE864BA62}"/>
                </a:ext>
              </a:extLst>
            </p:cNvPr>
            <p:cNvCxnSpPr/>
            <p:nvPr/>
          </p:nvCxnSpPr>
          <p:spPr>
            <a:xfrm>
              <a:off x="3214676" y="39243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34" name="TextBox 41">
              <a:extLst>
                <a:ext uri="{FF2B5EF4-FFF2-40B4-BE49-F238E27FC236}">
                  <a16:creationId xmlns:a16="http://schemas.microsoft.com/office/drawing/2014/main" id="{13C876E2-E9DE-9E97-DFE1-430BC8A7F821}"/>
                </a:ext>
              </a:extLst>
            </p:cNvPr>
            <p:cNvSpPr txBox="1"/>
            <p:nvPr/>
          </p:nvSpPr>
          <p:spPr>
            <a:xfrm>
              <a:off x="3359140" y="2258590"/>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0,0</a:t>
              </a:r>
              <a:endParaRPr lang="zh-CN" altLang="en-US" sz="2000" baseline="-25000">
                <a:latin typeface="Consolas" pitchFamily="49" charset="0"/>
                <a:cs typeface="Consolas" pitchFamily="49" charset="0"/>
              </a:endParaRPr>
            </a:p>
          </p:txBody>
        </p:sp>
        <p:sp>
          <p:nvSpPr>
            <p:cNvPr id="35" name="TextBox 42">
              <a:extLst>
                <a:ext uri="{FF2B5EF4-FFF2-40B4-BE49-F238E27FC236}">
                  <a16:creationId xmlns:a16="http://schemas.microsoft.com/office/drawing/2014/main" id="{D342825F-120B-325E-4F44-F7489857E974}"/>
                </a:ext>
              </a:extLst>
            </p:cNvPr>
            <p:cNvSpPr txBox="1"/>
            <p:nvPr/>
          </p:nvSpPr>
          <p:spPr>
            <a:xfrm>
              <a:off x="4002081" y="2258590"/>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0,1</a:t>
              </a:r>
              <a:endParaRPr lang="zh-CN" altLang="en-US" sz="2000" baseline="-25000">
                <a:latin typeface="Consolas" pitchFamily="49" charset="0"/>
                <a:cs typeface="Consolas" pitchFamily="49" charset="0"/>
              </a:endParaRPr>
            </a:p>
          </p:txBody>
        </p:sp>
        <p:sp>
          <p:nvSpPr>
            <p:cNvPr id="36" name="TextBox 43">
              <a:extLst>
                <a:ext uri="{FF2B5EF4-FFF2-40B4-BE49-F238E27FC236}">
                  <a16:creationId xmlns:a16="http://schemas.microsoft.com/office/drawing/2014/main" id="{9A0A46D2-E542-E9F7-C8A1-D299A8AA562F}"/>
                </a:ext>
              </a:extLst>
            </p:cNvPr>
            <p:cNvSpPr txBox="1"/>
            <p:nvPr/>
          </p:nvSpPr>
          <p:spPr>
            <a:xfrm>
              <a:off x="5216526" y="2258590"/>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a:t>
              </a:r>
              <a:r>
                <a:rPr lang="en-US" altLang="zh-CN" sz="2000" i="1" baseline="-25000" err="1">
                  <a:latin typeface="Consolas" pitchFamily="49" charset="0"/>
                  <a:cs typeface="Consolas" pitchFamily="49" charset="0"/>
                </a:rPr>
                <a:t>n</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37" name="TextBox 44">
              <a:extLst>
                <a:ext uri="{FF2B5EF4-FFF2-40B4-BE49-F238E27FC236}">
                  <a16:creationId xmlns:a16="http://schemas.microsoft.com/office/drawing/2014/main" id="{166D1E18-5C33-20FA-78CF-F4A98DFFE0A6}"/>
                </a:ext>
              </a:extLst>
            </p:cNvPr>
            <p:cNvSpPr txBox="1"/>
            <p:nvPr/>
          </p:nvSpPr>
          <p:spPr>
            <a:xfrm>
              <a:off x="4645023" y="2239954"/>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sp>
          <p:nvSpPr>
            <p:cNvPr id="41" name="TextBox 45">
              <a:extLst>
                <a:ext uri="{FF2B5EF4-FFF2-40B4-BE49-F238E27FC236}">
                  <a16:creationId xmlns:a16="http://schemas.microsoft.com/office/drawing/2014/main" id="{8D852908-3FC1-59B1-15B7-7531BE060915}"/>
                </a:ext>
              </a:extLst>
            </p:cNvPr>
            <p:cNvSpPr txBox="1"/>
            <p:nvPr/>
          </p:nvSpPr>
          <p:spPr>
            <a:xfrm>
              <a:off x="3359140" y="2687218"/>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1,0</a:t>
              </a:r>
              <a:endParaRPr lang="zh-CN" altLang="en-US" sz="2000" baseline="-25000">
                <a:latin typeface="Consolas" pitchFamily="49" charset="0"/>
                <a:cs typeface="Consolas" pitchFamily="49" charset="0"/>
              </a:endParaRPr>
            </a:p>
          </p:txBody>
        </p:sp>
        <p:sp>
          <p:nvSpPr>
            <p:cNvPr id="42" name="TextBox 46">
              <a:extLst>
                <a:ext uri="{FF2B5EF4-FFF2-40B4-BE49-F238E27FC236}">
                  <a16:creationId xmlns:a16="http://schemas.microsoft.com/office/drawing/2014/main" id="{670CC550-FB61-2261-E0A2-1A9290D9D2AE}"/>
                </a:ext>
              </a:extLst>
            </p:cNvPr>
            <p:cNvSpPr txBox="1"/>
            <p:nvPr/>
          </p:nvSpPr>
          <p:spPr>
            <a:xfrm>
              <a:off x="4002081" y="2687218"/>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1,1</a:t>
              </a:r>
              <a:endParaRPr lang="zh-CN" altLang="en-US" sz="2000" baseline="-25000">
                <a:latin typeface="Consolas" pitchFamily="49" charset="0"/>
                <a:cs typeface="Consolas" pitchFamily="49" charset="0"/>
              </a:endParaRPr>
            </a:p>
          </p:txBody>
        </p:sp>
        <p:sp>
          <p:nvSpPr>
            <p:cNvPr id="43" name="TextBox 47">
              <a:extLst>
                <a:ext uri="{FF2B5EF4-FFF2-40B4-BE49-F238E27FC236}">
                  <a16:creationId xmlns:a16="http://schemas.microsoft.com/office/drawing/2014/main" id="{3183CF66-B34F-06E8-49B3-B57AD4EF4105}"/>
                </a:ext>
              </a:extLst>
            </p:cNvPr>
            <p:cNvSpPr txBox="1"/>
            <p:nvPr/>
          </p:nvSpPr>
          <p:spPr>
            <a:xfrm>
              <a:off x="5216526" y="2687218"/>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a:t>
              </a:r>
              <a:r>
                <a:rPr lang="en-US" altLang="zh-CN" sz="2000" i="1" baseline="-25000" err="1">
                  <a:latin typeface="Consolas" pitchFamily="49" charset="0"/>
                  <a:cs typeface="Consolas" pitchFamily="49" charset="0"/>
                </a:rPr>
                <a:t>n</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44" name="TextBox 48">
              <a:extLst>
                <a:ext uri="{FF2B5EF4-FFF2-40B4-BE49-F238E27FC236}">
                  <a16:creationId xmlns:a16="http://schemas.microsoft.com/office/drawing/2014/main" id="{B720E51F-83A4-5F6E-F85B-2828CA34349D}"/>
                </a:ext>
              </a:extLst>
            </p:cNvPr>
            <p:cNvSpPr txBox="1"/>
            <p:nvPr/>
          </p:nvSpPr>
          <p:spPr>
            <a:xfrm>
              <a:off x="4645023" y="2668582"/>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sp>
          <p:nvSpPr>
            <p:cNvPr id="45" name="TextBox 49">
              <a:extLst>
                <a:ext uri="{FF2B5EF4-FFF2-40B4-BE49-F238E27FC236}">
                  <a16:creationId xmlns:a16="http://schemas.microsoft.com/office/drawing/2014/main" id="{922CEE42-B377-8A8B-DD67-55B3A3AF2E31}"/>
                </a:ext>
              </a:extLst>
            </p:cNvPr>
            <p:cNvSpPr txBox="1"/>
            <p:nvPr/>
          </p:nvSpPr>
          <p:spPr>
            <a:xfrm>
              <a:off x="3359140" y="3549236"/>
              <a:ext cx="714379" cy="307777"/>
            </a:xfrm>
            <a:prstGeom prst="rect">
              <a:avLst/>
            </a:prstGeom>
            <a:noFill/>
          </p:spPr>
          <p:txBody>
            <a:bodyPr wrap="square" lIns="0" tIns="0" rIns="0" bIns="0" rtlCol="0">
              <a:spAutoFit/>
            </a:bodyPr>
            <a:lstStyle/>
            <a:p>
              <a:r>
                <a:rPr lang="en-US" altLang="zh-CN" sz="2000" i="1">
                  <a:latin typeface="Consolas" pitchFamily="49" charset="0"/>
                  <a:cs typeface="Consolas" pitchFamily="49" charset="0"/>
                </a:rPr>
                <a:t>a</a:t>
              </a:r>
              <a:r>
                <a:rPr lang="en-US" altLang="zh-CN" sz="2000" i="1" baseline="-25000">
                  <a:latin typeface="Consolas" pitchFamily="49" charset="0"/>
                  <a:cs typeface="Consolas" pitchFamily="49" charset="0"/>
                </a:rPr>
                <a:t>n</a:t>
              </a:r>
              <a:r>
                <a:rPr lang="en-US" altLang="zh-CN" sz="2000" baseline="-25000">
                  <a:latin typeface="Consolas" pitchFamily="49" charset="0"/>
                  <a:cs typeface="Consolas" pitchFamily="49" charset="0"/>
                </a:rPr>
                <a:t>-1,0</a:t>
              </a:r>
              <a:endParaRPr lang="zh-CN" altLang="en-US" sz="2000" baseline="-25000">
                <a:latin typeface="Consolas" pitchFamily="49" charset="0"/>
                <a:cs typeface="Consolas" pitchFamily="49" charset="0"/>
              </a:endParaRPr>
            </a:p>
          </p:txBody>
        </p:sp>
        <p:sp>
          <p:nvSpPr>
            <p:cNvPr id="46" name="TextBox 50">
              <a:extLst>
                <a:ext uri="{FF2B5EF4-FFF2-40B4-BE49-F238E27FC236}">
                  <a16:creationId xmlns:a16="http://schemas.microsoft.com/office/drawing/2014/main" id="{55847EFB-D70E-A553-8158-D9976AD3E59D}"/>
                </a:ext>
              </a:extLst>
            </p:cNvPr>
            <p:cNvSpPr txBox="1"/>
            <p:nvPr/>
          </p:nvSpPr>
          <p:spPr>
            <a:xfrm>
              <a:off x="4002081" y="3549236"/>
              <a:ext cx="714379" cy="307777"/>
            </a:xfrm>
            <a:prstGeom prst="rect">
              <a:avLst/>
            </a:prstGeom>
            <a:noFill/>
          </p:spPr>
          <p:txBody>
            <a:bodyPr wrap="square" lIns="0" tIns="0" rIns="0" bIns="0" rtlCol="0">
              <a:spAutoFit/>
            </a:bodyPr>
            <a:lstStyle/>
            <a:p>
              <a:r>
                <a:rPr lang="en-US" altLang="zh-CN" sz="2000" i="1">
                  <a:latin typeface="Consolas" pitchFamily="49" charset="0"/>
                  <a:cs typeface="Consolas" pitchFamily="49" charset="0"/>
                </a:rPr>
                <a:t>a</a:t>
              </a:r>
              <a:r>
                <a:rPr lang="en-US" altLang="zh-CN" sz="2000" i="1" baseline="-25000">
                  <a:latin typeface="Consolas" pitchFamily="49" charset="0"/>
                  <a:cs typeface="Consolas" pitchFamily="49" charset="0"/>
                </a:rPr>
                <a:t>n</a:t>
              </a:r>
              <a:r>
                <a:rPr lang="en-US" altLang="zh-CN" sz="2000" baseline="-25000">
                  <a:latin typeface="Consolas" pitchFamily="49" charset="0"/>
                  <a:cs typeface="Consolas" pitchFamily="49" charset="0"/>
                </a:rPr>
                <a:t>-1,1</a:t>
              </a:r>
              <a:endParaRPr lang="zh-CN" altLang="en-US" sz="2000" baseline="-25000">
                <a:latin typeface="Consolas" pitchFamily="49" charset="0"/>
                <a:cs typeface="Consolas" pitchFamily="49" charset="0"/>
              </a:endParaRPr>
            </a:p>
          </p:txBody>
        </p:sp>
        <p:sp>
          <p:nvSpPr>
            <p:cNvPr id="47" name="TextBox 51">
              <a:extLst>
                <a:ext uri="{FF2B5EF4-FFF2-40B4-BE49-F238E27FC236}">
                  <a16:creationId xmlns:a16="http://schemas.microsoft.com/office/drawing/2014/main" id="{E9A8096B-35ED-6F41-1FAA-2D933A0676BB}"/>
                </a:ext>
              </a:extLst>
            </p:cNvPr>
            <p:cNvSpPr txBox="1"/>
            <p:nvPr/>
          </p:nvSpPr>
          <p:spPr>
            <a:xfrm>
              <a:off x="5168132" y="3549236"/>
              <a:ext cx="871546" cy="307777"/>
            </a:xfrm>
            <a:prstGeom prst="rect">
              <a:avLst/>
            </a:prstGeom>
            <a:noFill/>
          </p:spPr>
          <p:txBody>
            <a:bodyPr wrap="square" lIns="0" tIns="0" rIns="0" bIns="0" rtlCol="0">
              <a:spAutoFit/>
            </a:bodyPr>
            <a:lstStyle/>
            <a:p>
              <a:r>
                <a:rPr lang="en-US" altLang="zh-CN" sz="2000" i="1">
                  <a:latin typeface="Consolas" pitchFamily="49" charset="0"/>
                  <a:cs typeface="Consolas" pitchFamily="49" charset="0"/>
                </a:rPr>
                <a:t>a</a:t>
              </a:r>
              <a:r>
                <a:rPr lang="en-US" altLang="zh-CN" sz="2000" i="1" baseline="-25000">
                  <a:latin typeface="Consolas" pitchFamily="49" charset="0"/>
                  <a:cs typeface="Consolas" pitchFamily="49" charset="0"/>
                </a:rPr>
                <a:t>n</a:t>
              </a:r>
              <a:r>
                <a:rPr lang="en-US" altLang="zh-CN" sz="2000" baseline="-25000">
                  <a:latin typeface="Consolas" pitchFamily="49" charset="0"/>
                  <a:cs typeface="Consolas" pitchFamily="49" charset="0"/>
                </a:rPr>
                <a:t>-</a:t>
              </a:r>
              <a:r>
                <a:rPr lang="en-US" altLang="zh-CN" sz="2000" baseline="-25000" err="1">
                  <a:latin typeface="Consolas" pitchFamily="49" charset="0"/>
                  <a:cs typeface="Consolas" pitchFamily="49" charset="0"/>
                </a:rPr>
                <a:t>1,</a:t>
              </a:r>
              <a:r>
                <a:rPr lang="en-US" altLang="zh-CN" sz="2000" i="1" baseline="-25000" err="1">
                  <a:latin typeface="Consolas" pitchFamily="49" charset="0"/>
                  <a:cs typeface="Consolas" pitchFamily="49" charset="0"/>
                </a:rPr>
                <a:t>n</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48" name="TextBox 52">
              <a:extLst>
                <a:ext uri="{FF2B5EF4-FFF2-40B4-BE49-F238E27FC236}">
                  <a16:creationId xmlns:a16="http://schemas.microsoft.com/office/drawing/2014/main" id="{99A19971-CCD3-8A7D-6A6D-BD5624D2324C}"/>
                </a:ext>
              </a:extLst>
            </p:cNvPr>
            <p:cNvSpPr txBox="1"/>
            <p:nvPr/>
          </p:nvSpPr>
          <p:spPr>
            <a:xfrm>
              <a:off x="4645023" y="3530600"/>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cxnSp>
          <p:nvCxnSpPr>
            <p:cNvPr id="49" name="直接连接符 48">
              <a:extLst>
                <a:ext uri="{FF2B5EF4-FFF2-40B4-BE49-F238E27FC236}">
                  <a16:creationId xmlns:a16="http://schemas.microsoft.com/office/drawing/2014/main" id="{D07A51DD-5432-60E7-E52D-A21EFF411893}"/>
                </a:ext>
              </a:extLst>
            </p:cNvPr>
            <p:cNvCxnSpPr/>
            <p:nvPr/>
          </p:nvCxnSpPr>
          <p:spPr>
            <a:xfrm rot="5400000">
              <a:off x="5180777" y="31091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ECC388AC-C916-B044-8060-93DB90A7ABE4}"/>
                </a:ext>
              </a:extLst>
            </p:cNvPr>
            <p:cNvCxnSpPr/>
            <p:nvPr/>
          </p:nvCxnSpPr>
          <p:spPr>
            <a:xfrm>
              <a:off x="5908651" y="22653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55DF4FB9-5D85-0380-78FE-F9EA2E8DD1FD}"/>
                </a:ext>
              </a:extLst>
            </p:cNvPr>
            <p:cNvCxnSpPr/>
            <p:nvPr/>
          </p:nvCxnSpPr>
          <p:spPr>
            <a:xfrm>
              <a:off x="5907061" y="39624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52" name="TextBox 56">
              <a:extLst>
                <a:ext uri="{FF2B5EF4-FFF2-40B4-BE49-F238E27FC236}">
                  <a16:creationId xmlns:a16="http://schemas.microsoft.com/office/drawing/2014/main" id="{A49129BA-6634-C1D8-D92D-6A2250269E53}"/>
                </a:ext>
              </a:extLst>
            </p:cNvPr>
            <p:cNvSpPr txBox="1"/>
            <p:nvPr/>
          </p:nvSpPr>
          <p:spPr>
            <a:xfrm>
              <a:off x="3502018" y="3097210"/>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grpSp>
      <p:sp>
        <p:nvSpPr>
          <p:cNvPr id="53" name="TextBox 22">
            <a:extLst>
              <a:ext uri="{FF2B5EF4-FFF2-40B4-BE49-F238E27FC236}">
                <a16:creationId xmlns:a16="http://schemas.microsoft.com/office/drawing/2014/main" id="{9353B642-1D4F-357C-4C56-A1D63071778D}"/>
              </a:ext>
            </a:extLst>
          </p:cNvPr>
          <p:cNvSpPr txBox="1"/>
          <p:nvPr/>
        </p:nvSpPr>
        <p:spPr>
          <a:xfrm>
            <a:off x="155048" y="4375424"/>
            <a:ext cx="9072562" cy="369332"/>
          </a:xfrm>
          <a:prstGeom prst="rect">
            <a:avLst/>
          </a:prstGeom>
          <a:noFill/>
        </p:spPr>
        <p:txBody>
          <a:bodyPr wrap="square" rtlCol="0">
            <a:spAutoFit/>
          </a:bodyPr>
          <a:lstStyle/>
          <a:p>
            <a:pPr algn="l"/>
            <a:r>
              <a:rPr lang="zh-CN" altLang="en-US" sz="1800">
                <a:latin typeface="Consolas" pitchFamily="49" charset="0"/>
                <a:cs typeface="Consolas" pitchFamily="49" charset="0"/>
              </a:rPr>
              <a:t>（</a:t>
            </a:r>
            <a:r>
              <a:rPr lang="en-US" altLang="zh-CN" sz="1800" i="1">
                <a:latin typeface="Consolas" pitchFamily="49" charset="0"/>
                <a:cs typeface="Consolas" pitchFamily="49" charset="0"/>
              </a:rPr>
              <a:t>a</a:t>
            </a:r>
            <a:r>
              <a:rPr lang="en-US" altLang="zh-CN" sz="1800" baseline="-25000">
                <a:latin typeface="Consolas" pitchFamily="49" charset="0"/>
                <a:cs typeface="Consolas" pitchFamily="49" charset="0"/>
              </a:rPr>
              <a:t>0,0</a:t>
            </a:r>
            <a:r>
              <a:rPr lang="en-US" altLang="zh-CN" sz="1800">
                <a:latin typeface="Consolas" pitchFamily="49" charset="0"/>
                <a:cs typeface="Consolas" pitchFamily="49" charset="0"/>
              </a:rPr>
              <a:t>,</a:t>
            </a:r>
            <a:r>
              <a:rPr lang="en-US" altLang="zh-CN" sz="1800" i="1">
                <a:latin typeface="Consolas" pitchFamily="49" charset="0"/>
                <a:cs typeface="Consolas" pitchFamily="49" charset="0"/>
              </a:rPr>
              <a:t>a</a:t>
            </a:r>
            <a:r>
              <a:rPr lang="en-US" altLang="zh-CN" sz="1800" baseline="-25000">
                <a:latin typeface="Consolas" pitchFamily="49" charset="0"/>
                <a:cs typeface="Consolas" pitchFamily="49" charset="0"/>
              </a:rPr>
              <a:t>0,1</a:t>
            </a:r>
            <a:r>
              <a:rPr lang="en-US" altLang="zh-CN" sz="1800">
                <a:latin typeface="Consolas" pitchFamily="49" charset="0"/>
                <a:cs typeface="Consolas" pitchFamily="49" charset="0"/>
              </a:rPr>
              <a:t>,</a:t>
            </a:r>
            <a:r>
              <a:rPr lang="zh-CN" altLang="en-US" sz="1800">
                <a:latin typeface="Consolas" pitchFamily="49" charset="0"/>
                <a:cs typeface="Consolas" pitchFamily="49" charset="0"/>
                <a:sym typeface="Symbol"/>
              </a:rPr>
              <a:t></a:t>
            </a:r>
            <a:r>
              <a:rPr lang="en-US" altLang="zh-CN" sz="1800">
                <a:latin typeface="Consolas" pitchFamily="49" charset="0"/>
                <a:cs typeface="Consolas" pitchFamily="49" charset="0"/>
                <a:sym typeface="Symbol"/>
              </a:rPr>
              <a:t>,</a:t>
            </a:r>
            <a:r>
              <a:rPr lang="en-US" altLang="zh-CN" sz="1800" i="1">
                <a:latin typeface="Consolas" pitchFamily="49" charset="0"/>
                <a:cs typeface="Consolas" pitchFamily="49" charset="0"/>
              </a:rPr>
              <a:t>a</a:t>
            </a:r>
            <a:r>
              <a:rPr lang="en-US" altLang="zh-CN" sz="1800" baseline="-25000">
                <a:latin typeface="Consolas" pitchFamily="49" charset="0"/>
                <a:cs typeface="Consolas" pitchFamily="49" charset="0"/>
              </a:rPr>
              <a:t>0,</a:t>
            </a:r>
            <a:r>
              <a:rPr lang="en-US" altLang="zh-CN" sz="1800" i="1" baseline="-25000">
                <a:latin typeface="Consolas" pitchFamily="49" charset="0"/>
                <a:cs typeface="Consolas" pitchFamily="49" charset="0"/>
              </a:rPr>
              <a:t>n</a:t>
            </a:r>
            <a:r>
              <a:rPr lang="en-US" altLang="zh-CN" sz="1800" baseline="-25000">
                <a:latin typeface="Consolas" pitchFamily="49" charset="0"/>
                <a:cs typeface="Consolas" pitchFamily="49" charset="0"/>
              </a:rPr>
              <a:t>-1</a:t>
            </a:r>
            <a:r>
              <a:rPr lang="en-US" altLang="zh-CN" sz="1800">
                <a:latin typeface="Consolas" pitchFamily="49" charset="0"/>
                <a:cs typeface="Consolas" pitchFamily="49" charset="0"/>
              </a:rPr>
              <a:t>,</a:t>
            </a:r>
            <a:r>
              <a:rPr lang="en-US" altLang="zh-CN" sz="1800" i="1">
                <a:latin typeface="Consolas" pitchFamily="49" charset="0"/>
                <a:cs typeface="Consolas" pitchFamily="49" charset="0"/>
                <a:sym typeface="Symbol"/>
              </a:rPr>
              <a:t>a</a:t>
            </a:r>
            <a:r>
              <a:rPr lang="en-US" altLang="zh-CN" sz="1800" baseline="-25000">
                <a:latin typeface="Consolas" pitchFamily="49" charset="0"/>
                <a:cs typeface="Consolas" pitchFamily="49" charset="0"/>
                <a:sym typeface="Symbol"/>
              </a:rPr>
              <a:t>1,1</a:t>
            </a:r>
            <a:r>
              <a:rPr lang="en-US" altLang="zh-CN" sz="1800">
                <a:latin typeface="Consolas" pitchFamily="49" charset="0"/>
                <a:cs typeface="Consolas" pitchFamily="49" charset="0"/>
                <a:sym typeface="Symbol"/>
              </a:rPr>
              <a:t>,</a:t>
            </a:r>
            <a:r>
              <a:rPr lang="zh-CN" altLang="en-US" sz="1800">
                <a:latin typeface="Consolas" pitchFamily="49" charset="0"/>
                <a:cs typeface="Consolas" pitchFamily="49" charset="0"/>
                <a:sym typeface="Symbol"/>
              </a:rPr>
              <a:t></a:t>
            </a:r>
            <a:r>
              <a:rPr lang="en-US" altLang="zh-CN" sz="1800">
                <a:latin typeface="Consolas" pitchFamily="49" charset="0"/>
                <a:cs typeface="Consolas" pitchFamily="49" charset="0"/>
                <a:sym typeface="Symbol"/>
              </a:rPr>
              <a:t>,</a:t>
            </a:r>
            <a:r>
              <a:rPr lang="en-US" altLang="zh-CN" sz="1800" i="1">
                <a:latin typeface="Consolas" pitchFamily="49" charset="0"/>
                <a:cs typeface="Consolas" pitchFamily="49" charset="0"/>
                <a:sym typeface="Symbol"/>
              </a:rPr>
              <a:t>a</a:t>
            </a:r>
            <a:r>
              <a:rPr lang="en-US" altLang="zh-CN" sz="1800" baseline="-25000">
                <a:latin typeface="Consolas" pitchFamily="49" charset="0"/>
                <a:cs typeface="Consolas" pitchFamily="49" charset="0"/>
                <a:sym typeface="Symbol"/>
              </a:rPr>
              <a:t>1,</a:t>
            </a:r>
            <a:r>
              <a:rPr lang="en-US" altLang="zh-CN" sz="1800" i="1" baseline="-25000">
                <a:latin typeface="Consolas" pitchFamily="49" charset="0"/>
                <a:cs typeface="Consolas" pitchFamily="49" charset="0"/>
                <a:sym typeface="Symbol"/>
              </a:rPr>
              <a:t>n</a:t>
            </a:r>
            <a:r>
              <a:rPr lang="en-US" altLang="zh-CN" sz="1800" baseline="-25000">
                <a:latin typeface="Consolas" pitchFamily="49" charset="0"/>
                <a:cs typeface="Consolas" pitchFamily="49" charset="0"/>
                <a:sym typeface="Symbol"/>
              </a:rPr>
              <a:t>-1</a:t>
            </a:r>
            <a:r>
              <a:rPr lang="en-US" altLang="zh-CN" sz="1800">
                <a:latin typeface="Consolas" pitchFamily="49" charset="0"/>
                <a:cs typeface="Consolas" pitchFamily="49" charset="0"/>
                <a:sym typeface="Symbol"/>
              </a:rPr>
              <a:t>,</a:t>
            </a:r>
            <a:r>
              <a:rPr lang="zh-CN" altLang="en-US" sz="1800">
                <a:latin typeface="Consolas" pitchFamily="49" charset="0"/>
                <a:cs typeface="Consolas" pitchFamily="49" charset="0"/>
                <a:sym typeface="Symbol"/>
              </a:rPr>
              <a:t></a:t>
            </a:r>
            <a:r>
              <a:rPr lang="en-US" altLang="zh-CN" sz="1800">
                <a:latin typeface="Consolas" pitchFamily="49" charset="0"/>
                <a:cs typeface="Consolas" pitchFamily="49" charset="0"/>
                <a:sym typeface="Symbol"/>
              </a:rPr>
              <a:t>,</a:t>
            </a:r>
            <a:r>
              <a:rPr lang="en-US" altLang="zh-CN" sz="1800" i="1" err="1">
                <a:latin typeface="Consolas" pitchFamily="49" charset="0"/>
                <a:cs typeface="Consolas" pitchFamily="49" charset="0"/>
                <a:sym typeface="Symbol"/>
              </a:rPr>
              <a:t>a</a:t>
            </a:r>
            <a:r>
              <a:rPr lang="en-US" altLang="zh-CN" sz="1800" i="1" baseline="-25000" err="1">
                <a:latin typeface="Consolas" pitchFamily="49" charset="0"/>
                <a:cs typeface="Consolas" pitchFamily="49" charset="0"/>
                <a:sym typeface="Symbol"/>
              </a:rPr>
              <a:t>i</a:t>
            </a:r>
            <a:r>
              <a:rPr lang="en-US" altLang="zh-CN" sz="1800" baseline="-25000">
                <a:latin typeface="Consolas" pitchFamily="49" charset="0"/>
                <a:cs typeface="Consolas" pitchFamily="49" charset="0"/>
                <a:sym typeface="Symbol"/>
              </a:rPr>
              <a:t>-</a:t>
            </a:r>
            <a:r>
              <a:rPr lang="en-US" altLang="zh-CN" sz="1800" baseline="-25000" err="1">
                <a:latin typeface="Consolas" pitchFamily="49" charset="0"/>
                <a:cs typeface="Consolas" pitchFamily="49" charset="0"/>
                <a:sym typeface="Symbol"/>
              </a:rPr>
              <a:t>1,</a:t>
            </a:r>
            <a:r>
              <a:rPr lang="en-US" altLang="zh-CN" sz="1800" i="1" baseline="-25000" err="1">
                <a:latin typeface="Consolas" pitchFamily="49" charset="0"/>
                <a:cs typeface="Consolas" pitchFamily="49" charset="0"/>
                <a:sym typeface="Symbol"/>
              </a:rPr>
              <a:t>i</a:t>
            </a:r>
            <a:r>
              <a:rPr lang="en-US" altLang="zh-CN" sz="1800" baseline="-25000">
                <a:latin typeface="Consolas" pitchFamily="49" charset="0"/>
                <a:cs typeface="Consolas" pitchFamily="49" charset="0"/>
                <a:sym typeface="Symbol"/>
              </a:rPr>
              <a:t>-1</a:t>
            </a:r>
            <a:r>
              <a:rPr lang="en-US" altLang="zh-CN" sz="1800">
                <a:latin typeface="Consolas" pitchFamily="49" charset="0"/>
                <a:cs typeface="Consolas" pitchFamily="49" charset="0"/>
                <a:sym typeface="Symbol"/>
              </a:rPr>
              <a:t>,</a:t>
            </a:r>
            <a:r>
              <a:rPr lang="zh-CN" altLang="en-US" sz="1800">
                <a:latin typeface="Consolas" pitchFamily="49" charset="0"/>
                <a:cs typeface="Consolas" pitchFamily="49" charset="0"/>
                <a:sym typeface="Symbol"/>
              </a:rPr>
              <a:t></a:t>
            </a:r>
            <a:r>
              <a:rPr lang="en-US" altLang="zh-CN" sz="1800">
                <a:latin typeface="Consolas" pitchFamily="49" charset="0"/>
                <a:cs typeface="Consolas" pitchFamily="49" charset="0"/>
                <a:sym typeface="Symbol"/>
              </a:rPr>
              <a:t>,</a:t>
            </a:r>
            <a:r>
              <a:rPr lang="en-US" altLang="zh-CN" sz="1800" i="1">
                <a:latin typeface="Consolas" pitchFamily="49" charset="0"/>
                <a:cs typeface="Consolas" pitchFamily="49" charset="0"/>
                <a:sym typeface="Symbol"/>
              </a:rPr>
              <a:t>a</a:t>
            </a:r>
            <a:r>
              <a:rPr lang="en-US" altLang="zh-CN" sz="1800" i="1" baseline="-25000">
                <a:latin typeface="Consolas" pitchFamily="49" charset="0"/>
                <a:cs typeface="Consolas" pitchFamily="49" charset="0"/>
                <a:sym typeface="Symbol"/>
              </a:rPr>
              <a:t>i</a:t>
            </a:r>
            <a:r>
              <a:rPr lang="en-US" altLang="zh-CN" sz="1800" baseline="-25000">
                <a:latin typeface="Consolas" pitchFamily="49" charset="0"/>
                <a:cs typeface="Consolas" pitchFamily="49" charset="0"/>
                <a:sym typeface="Symbol"/>
              </a:rPr>
              <a:t>-1,</a:t>
            </a:r>
            <a:r>
              <a:rPr lang="en-US" altLang="zh-CN" sz="1800" i="1" baseline="-25000">
                <a:latin typeface="Consolas" pitchFamily="49" charset="0"/>
                <a:cs typeface="Consolas" pitchFamily="49" charset="0"/>
                <a:sym typeface="Symbol"/>
              </a:rPr>
              <a:t>n</a:t>
            </a:r>
            <a:r>
              <a:rPr lang="en-US" altLang="zh-CN" sz="1800" baseline="-25000">
                <a:latin typeface="Consolas" pitchFamily="49" charset="0"/>
                <a:cs typeface="Consolas" pitchFamily="49" charset="0"/>
                <a:sym typeface="Symbol"/>
              </a:rPr>
              <a:t>-1</a:t>
            </a:r>
            <a:r>
              <a:rPr lang="en-US" altLang="zh-CN" sz="1800">
                <a:latin typeface="Consolas" pitchFamily="49" charset="0"/>
                <a:cs typeface="Consolas" pitchFamily="49" charset="0"/>
                <a:sym typeface="Symbol"/>
              </a:rPr>
              <a:t>,</a:t>
            </a:r>
            <a:r>
              <a:rPr lang="en-US" altLang="zh-CN" sz="1800" i="1">
                <a:latin typeface="Consolas" pitchFamily="49" charset="0"/>
                <a:cs typeface="Consolas" pitchFamily="49" charset="0"/>
                <a:sym typeface="Symbol"/>
              </a:rPr>
              <a:t>a</a:t>
            </a:r>
            <a:r>
              <a:rPr lang="en-US" altLang="zh-CN" sz="1800" i="1" baseline="-25000">
                <a:latin typeface="Consolas" pitchFamily="49" charset="0"/>
                <a:cs typeface="Consolas" pitchFamily="49" charset="0"/>
                <a:sym typeface="Symbol"/>
              </a:rPr>
              <a:t>i,i</a:t>
            </a:r>
            <a:r>
              <a:rPr lang="en-US" altLang="zh-CN" sz="1800">
                <a:latin typeface="Consolas" pitchFamily="49" charset="0"/>
                <a:cs typeface="Consolas" pitchFamily="49" charset="0"/>
                <a:sym typeface="Symbol"/>
              </a:rPr>
              <a:t>,</a:t>
            </a:r>
            <a:r>
              <a:rPr lang="zh-CN" altLang="en-US" sz="1800">
                <a:latin typeface="Consolas" pitchFamily="49" charset="0"/>
                <a:cs typeface="Consolas" pitchFamily="49" charset="0"/>
                <a:sym typeface="Symbol"/>
              </a:rPr>
              <a:t></a:t>
            </a:r>
            <a:r>
              <a:rPr lang="en-US" altLang="zh-CN" sz="1800">
                <a:latin typeface="Consolas" pitchFamily="49" charset="0"/>
                <a:cs typeface="Consolas" pitchFamily="49" charset="0"/>
                <a:sym typeface="Symbol"/>
              </a:rPr>
              <a:t>,</a:t>
            </a:r>
            <a:r>
              <a:rPr lang="en-US" altLang="zh-CN" sz="1800" i="1" err="1">
                <a:latin typeface="Consolas" pitchFamily="49" charset="0"/>
                <a:cs typeface="Consolas" pitchFamily="49" charset="0"/>
                <a:sym typeface="Symbol"/>
              </a:rPr>
              <a:t>a</a:t>
            </a:r>
            <a:r>
              <a:rPr lang="en-US" altLang="zh-CN" sz="1800" i="1" baseline="-25000" err="1">
                <a:latin typeface="Consolas" pitchFamily="49" charset="0"/>
                <a:cs typeface="Consolas" pitchFamily="49" charset="0"/>
                <a:sym typeface="Symbol"/>
              </a:rPr>
              <a:t>i,j-</a:t>
            </a:r>
            <a:r>
              <a:rPr lang="en-US" altLang="zh-CN" sz="1800" baseline="-25000" err="1">
                <a:latin typeface="Consolas" pitchFamily="49" charset="0"/>
                <a:cs typeface="Consolas" pitchFamily="49" charset="0"/>
                <a:sym typeface="Symbol"/>
              </a:rPr>
              <a:t>1</a:t>
            </a:r>
            <a:r>
              <a:rPr lang="en-US" altLang="zh-CN" sz="1800" err="1">
                <a:latin typeface="Consolas" pitchFamily="49" charset="0"/>
                <a:cs typeface="Consolas" pitchFamily="49" charset="0"/>
                <a:sym typeface="Symbol"/>
              </a:rPr>
              <a:t>,</a:t>
            </a:r>
            <a:r>
              <a:rPr lang="en-US" altLang="zh-CN" sz="1800" i="1" err="1">
                <a:solidFill>
                  <a:srgbClr val="FF0000"/>
                </a:solidFill>
                <a:latin typeface="Consolas" pitchFamily="49" charset="0"/>
                <a:cs typeface="Consolas" pitchFamily="49" charset="0"/>
                <a:sym typeface="Symbol"/>
              </a:rPr>
              <a:t>a</a:t>
            </a:r>
            <a:r>
              <a:rPr lang="en-US" altLang="zh-CN" sz="1800" i="1" baseline="-25000" err="1">
                <a:solidFill>
                  <a:srgbClr val="FF0000"/>
                </a:solidFill>
                <a:latin typeface="Consolas" pitchFamily="49" charset="0"/>
                <a:cs typeface="Consolas" pitchFamily="49" charset="0"/>
                <a:sym typeface="Symbol"/>
              </a:rPr>
              <a:t>i,j</a:t>
            </a:r>
            <a:r>
              <a:rPr lang="en-US" altLang="zh-CN" sz="1800">
                <a:latin typeface="Consolas" pitchFamily="49" charset="0"/>
                <a:cs typeface="Consolas" pitchFamily="49" charset="0"/>
                <a:sym typeface="Symbol"/>
              </a:rPr>
              <a:t>,</a:t>
            </a:r>
            <a:r>
              <a:rPr lang="zh-CN" altLang="en-US" sz="1800">
                <a:latin typeface="Consolas" pitchFamily="49" charset="0"/>
                <a:cs typeface="Consolas" pitchFamily="49" charset="0"/>
                <a:sym typeface="Symbol"/>
              </a:rPr>
              <a:t> </a:t>
            </a:r>
            <a:endParaRPr lang="zh-CN" altLang="en-US" sz="1800">
              <a:latin typeface="Consolas" pitchFamily="49" charset="0"/>
              <a:cs typeface="Consolas" pitchFamily="49" charset="0"/>
            </a:endParaRPr>
          </a:p>
        </p:txBody>
      </p:sp>
      <p:grpSp>
        <p:nvGrpSpPr>
          <p:cNvPr id="54" name="组合 73">
            <a:extLst>
              <a:ext uri="{FF2B5EF4-FFF2-40B4-BE49-F238E27FC236}">
                <a16:creationId xmlns:a16="http://schemas.microsoft.com/office/drawing/2014/main" id="{E721DFD7-A195-0728-DF73-0E591AB3BDE5}"/>
              </a:ext>
            </a:extLst>
          </p:cNvPr>
          <p:cNvGrpSpPr/>
          <p:nvPr/>
        </p:nvGrpSpPr>
        <p:grpSpPr>
          <a:xfrm>
            <a:off x="6227246" y="3189496"/>
            <a:ext cx="928694" cy="1314278"/>
            <a:chOff x="6143636" y="1483567"/>
            <a:chExt cx="928694" cy="1314278"/>
          </a:xfrm>
        </p:grpSpPr>
        <p:sp>
          <p:nvSpPr>
            <p:cNvPr id="55" name="右弧形箭头 23">
              <a:extLst>
                <a:ext uri="{FF2B5EF4-FFF2-40B4-BE49-F238E27FC236}">
                  <a16:creationId xmlns:a16="http://schemas.microsoft.com/office/drawing/2014/main" id="{471FAA8B-479E-A42D-5BB3-10179CBCD9AB}"/>
                </a:ext>
              </a:extLst>
            </p:cNvPr>
            <p:cNvSpPr/>
            <p:nvPr/>
          </p:nvSpPr>
          <p:spPr>
            <a:xfrm>
              <a:off x="6143636" y="1797713"/>
              <a:ext cx="285752" cy="1000132"/>
            </a:xfrm>
            <a:prstGeom prst="curved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schemeClr val="tx1"/>
                </a:solidFill>
                <a:latin typeface="Consolas" pitchFamily="49" charset="0"/>
                <a:cs typeface="Consolas" pitchFamily="49" charset="0"/>
              </a:endParaRPr>
            </a:p>
          </p:txBody>
        </p:sp>
        <p:sp>
          <p:nvSpPr>
            <p:cNvPr id="62" name="TextBox 24">
              <a:extLst>
                <a:ext uri="{FF2B5EF4-FFF2-40B4-BE49-F238E27FC236}">
                  <a16:creationId xmlns:a16="http://schemas.microsoft.com/office/drawing/2014/main" id="{057CD245-D26C-77A2-C600-F5822AC7C34A}"/>
                </a:ext>
              </a:extLst>
            </p:cNvPr>
            <p:cNvSpPr txBox="1"/>
            <p:nvPr/>
          </p:nvSpPr>
          <p:spPr>
            <a:xfrm>
              <a:off x="6286512" y="1483567"/>
              <a:ext cx="785818" cy="400110"/>
            </a:xfrm>
            <a:prstGeom prst="rect">
              <a:avLst/>
            </a:prstGeom>
            <a:noFill/>
          </p:spPr>
          <p:txBody>
            <a:bodyPr wrap="square" rtlCol="0">
              <a:spAutoFit/>
            </a:bodyPr>
            <a:lstStyle/>
            <a:p>
              <a:r>
                <a:rPr lang="en-US" altLang="zh-CN" sz="2000" i="1" err="1">
                  <a:solidFill>
                    <a:srgbClr val="FF0000"/>
                  </a:solidFill>
                  <a:latin typeface="Consolas" pitchFamily="49" charset="0"/>
                  <a:cs typeface="Consolas" pitchFamily="49" charset="0"/>
                </a:rPr>
                <a:t>a</a:t>
              </a:r>
              <a:r>
                <a:rPr lang="en-US" altLang="zh-CN" sz="2000" i="1" baseline="-25000" err="1">
                  <a:solidFill>
                    <a:srgbClr val="FF0000"/>
                  </a:solidFill>
                  <a:latin typeface="Consolas" pitchFamily="49" charset="0"/>
                  <a:cs typeface="Consolas" pitchFamily="49" charset="0"/>
                </a:rPr>
                <a:t>i,j</a:t>
              </a:r>
              <a:endParaRPr lang="zh-CN" altLang="en-US" sz="2000" i="1" baseline="-25000">
                <a:solidFill>
                  <a:srgbClr val="FF0000"/>
                </a:solidFill>
                <a:latin typeface="Consolas" pitchFamily="49" charset="0"/>
                <a:cs typeface="Consolas" pitchFamily="49" charset="0"/>
              </a:endParaRPr>
            </a:p>
          </p:txBody>
        </p:sp>
        <p:sp>
          <p:nvSpPr>
            <p:cNvPr id="63" name="TextBox 25">
              <a:extLst>
                <a:ext uri="{FF2B5EF4-FFF2-40B4-BE49-F238E27FC236}">
                  <a16:creationId xmlns:a16="http://schemas.microsoft.com/office/drawing/2014/main" id="{4F0A74F7-8C56-BB10-27D7-249FCAB7813E}"/>
                </a:ext>
              </a:extLst>
            </p:cNvPr>
            <p:cNvSpPr txBox="1"/>
            <p:nvPr/>
          </p:nvSpPr>
          <p:spPr>
            <a:xfrm>
              <a:off x="6357950" y="2285992"/>
              <a:ext cx="571504" cy="400110"/>
            </a:xfrm>
            <a:prstGeom prst="rect">
              <a:avLst/>
            </a:prstGeom>
            <a:noFill/>
          </p:spPr>
          <p:txBody>
            <a:bodyPr wrap="square" rtlCol="0">
              <a:spAutoFit/>
            </a:bodyPr>
            <a:lstStyle/>
            <a:p>
              <a:r>
                <a:rPr lang="en-US" altLang="zh-CN" sz="2000" i="1" err="1">
                  <a:latin typeface="Consolas" pitchFamily="49" charset="0"/>
                  <a:cs typeface="Consolas" pitchFamily="49" charset="0"/>
                </a:rPr>
                <a:t>b</a:t>
              </a:r>
              <a:r>
                <a:rPr lang="en-US" altLang="zh-CN" sz="2000" i="1" baseline="-25000" err="1">
                  <a:latin typeface="Consolas" pitchFamily="49" charset="0"/>
                  <a:cs typeface="Consolas" pitchFamily="49" charset="0"/>
                </a:rPr>
                <a:t>k</a:t>
              </a:r>
              <a:endParaRPr lang="zh-CN" altLang="en-US" sz="2000" i="1" baseline="-25000">
                <a:latin typeface="Consolas" pitchFamily="49" charset="0"/>
                <a:cs typeface="Consolas" pitchFamily="49" charset="0"/>
              </a:endParaRPr>
            </a:p>
          </p:txBody>
        </p:sp>
      </p:grpSp>
      <p:grpSp>
        <p:nvGrpSpPr>
          <p:cNvPr id="64" name="组合 77">
            <a:extLst>
              <a:ext uri="{FF2B5EF4-FFF2-40B4-BE49-F238E27FC236}">
                <a16:creationId xmlns:a16="http://schemas.microsoft.com/office/drawing/2014/main" id="{EA636077-A7F9-A3EC-C3EC-171C91CEC32E}"/>
              </a:ext>
            </a:extLst>
          </p:cNvPr>
          <p:cNvGrpSpPr/>
          <p:nvPr/>
        </p:nvGrpSpPr>
        <p:grpSpPr>
          <a:xfrm>
            <a:off x="7390754" y="2416473"/>
            <a:ext cx="4816494" cy="1924361"/>
            <a:chOff x="1785918" y="4402819"/>
            <a:chExt cx="4816494" cy="1924361"/>
          </a:xfrm>
        </p:grpSpPr>
        <p:sp>
          <p:nvSpPr>
            <p:cNvPr id="66" name="Text Box 6">
              <a:extLst>
                <a:ext uri="{FF2B5EF4-FFF2-40B4-BE49-F238E27FC236}">
                  <a16:creationId xmlns:a16="http://schemas.microsoft.com/office/drawing/2014/main" id="{30883C2F-E1D2-BD35-BEF0-0779B84231F4}"/>
                </a:ext>
              </a:extLst>
            </p:cNvPr>
            <p:cNvSpPr txBox="1">
              <a:spLocks noChangeArrowheads="1"/>
            </p:cNvSpPr>
            <p:nvPr/>
          </p:nvSpPr>
          <p:spPr bwMode="auto">
            <a:xfrm>
              <a:off x="1785918" y="4900626"/>
              <a:ext cx="609600" cy="369332"/>
            </a:xfrm>
            <a:prstGeom prst="rect">
              <a:avLst/>
            </a:prstGeom>
            <a:noFill/>
            <a:ln w="9525">
              <a:noFill/>
              <a:miter lim="800000"/>
              <a:headEnd/>
              <a:tailEnd/>
            </a:ln>
            <a:effectLst/>
          </p:spPr>
          <p:txBody>
            <a:bodyPr>
              <a:spAutoFit/>
            </a:bodyPr>
            <a:lstStyle/>
            <a:p>
              <a:pPr algn="l">
                <a:spcBef>
                  <a:spcPct val="50000"/>
                </a:spcBef>
              </a:pPr>
              <a:r>
                <a:rPr kumimoji="1" lang="en-US" altLang="zh-CN" sz="1800" i="1">
                  <a:latin typeface="Consolas" pitchFamily="49" charset="0"/>
                  <a:ea typeface="仿宋" pitchFamily="49" charset="-122"/>
                  <a:cs typeface="Consolas" pitchFamily="49" charset="0"/>
                </a:rPr>
                <a:t>k</a:t>
              </a:r>
              <a:r>
                <a:rPr kumimoji="1" lang="en-US" altLang="zh-CN" sz="1800">
                  <a:latin typeface="Consolas" pitchFamily="49" charset="0"/>
                  <a:ea typeface="仿宋" pitchFamily="49" charset="-122"/>
                  <a:cs typeface="Consolas" pitchFamily="49" charset="0"/>
                </a:rPr>
                <a:t>=</a:t>
              </a:r>
            </a:p>
          </p:txBody>
        </p:sp>
        <p:sp>
          <p:nvSpPr>
            <p:cNvPr id="67" name="Text Box 7">
              <a:extLst>
                <a:ext uri="{FF2B5EF4-FFF2-40B4-BE49-F238E27FC236}">
                  <a16:creationId xmlns:a16="http://schemas.microsoft.com/office/drawing/2014/main" id="{4C65DC9B-F987-9694-E677-530BADB14147}"/>
                </a:ext>
              </a:extLst>
            </p:cNvPr>
            <p:cNvSpPr txBox="1">
              <a:spLocks noChangeArrowheads="1"/>
            </p:cNvSpPr>
            <p:nvPr/>
          </p:nvSpPr>
          <p:spPr bwMode="auto">
            <a:xfrm>
              <a:off x="5110162" y="4512658"/>
              <a:ext cx="1357322" cy="3693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a:solidFill>
                    <a:srgbClr val="00B0F0"/>
                  </a:solidFill>
                  <a:latin typeface="Consolas" pitchFamily="49" charset="0"/>
                  <a:ea typeface="仿宋" pitchFamily="49" charset="-122"/>
                  <a:cs typeface="Consolas" pitchFamily="49" charset="0"/>
                </a:rPr>
                <a:t>当</a:t>
              </a:r>
              <a:r>
                <a:rPr kumimoji="1" lang="en-US" altLang="zh-CN" sz="1800" i="1" err="1">
                  <a:solidFill>
                    <a:srgbClr val="00B0F0"/>
                  </a:solidFill>
                  <a:latin typeface="Consolas" pitchFamily="49" charset="0"/>
                  <a:ea typeface="仿宋" pitchFamily="49" charset="-122"/>
                  <a:cs typeface="Consolas" pitchFamily="49" charset="0"/>
                </a:rPr>
                <a:t>i</a:t>
              </a:r>
              <a:r>
                <a:rPr kumimoji="1" lang="en-US" altLang="zh-CN" sz="1800" err="1">
                  <a:solidFill>
                    <a:srgbClr val="00B0F0"/>
                  </a:solidFill>
                  <a:latin typeface="宋体" pitchFamily="2" charset="-122"/>
                  <a:ea typeface="宋体" pitchFamily="2" charset="-122"/>
                  <a:cs typeface="Consolas" pitchFamily="49" charset="0"/>
                </a:rPr>
                <a:t>≤</a:t>
              </a:r>
              <a:r>
                <a:rPr kumimoji="1" lang="en-US" altLang="zh-CN" sz="1800" i="1" err="1">
                  <a:solidFill>
                    <a:srgbClr val="00B0F0"/>
                  </a:solidFill>
                  <a:latin typeface="Consolas" pitchFamily="49" charset="0"/>
                  <a:ea typeface="仿宋" pitchFamily="49" charset="-122"/>
                  <a:cs typeface="Consolas" pitchFamily="49" charset="0"/>
                </a:rPr>
                <a:t>j</a:t>
              </a:r>
              <a:r>
                <a:rPr kumimoji="1" lang="zh-CN" altLang="en-US" sz="1800">
                  <a:solidFill>
                    <a:srgbClr val="00B0F0"/>
                  </a:solidFill>
                  <a:latin typeface="Consolas" pitchFamily="49" charset="0"/>
                  <a:ea typeface="仿宋" pitchFamily="49" charset="-122"/>
                  <a:cs typeface="Consolas" pitchFamily="49" charset="0"/>
                </a:rPr>
                <a:t>时</a:t>
              </a:r>
            </a:p>
          </p:txBody>
        </p:sp>
        <p:sp>
          <p:nvSpPr>
            <p:cNvPr id="68" name="Text Box 8">
              <a:extLst>
                <a:ext uri="{FF2B5EF4-FFF2-40B4-BE49-F238E27FC236}">
                  <a16:creationId xmlns:a16="http://schemas.microsoft.com/office/drawing/2014/main" id="{8F697190-0CCF-726A-3FA3-5C7704209CA3}"/>
                </a:ext>
              </a:extLst>
            </p:cNvPr>
            <p:cNvSpPr txBox="1">
              <a:spLocks noChangeArrowheads="1"/>
            </p:cNvSpPr>
            <p:nvPr/>
          </p:nvSpPr>
          <p:spPr bwMode="auto">
            <a:xfrm>
              <a:off x="5110162" y="5286388"/>
              <a:ext cx="1492250" cy="369332"/>
            </a:xfrm>
            <a:prstGeom prst="rect">
              <a:avLst/>
            </a:prstGeom>
            <a:noFill/>
            <a:ln w="9525">
              <a:noFill/>
              <a:miter lim="800000"/>
              <a:headEnd/>
              <a:tailEnd/>
            </a:ln>
            <a:effectLst/>
          </p:spPr>
          <p:txBody>
            <a:bodyPr>
              <a:spAutoFit/>
            </a:bodyPr>
            <a:lstStyle/>
            <a:p>
              <a:pPr algn="l">
                <a:spcBef>
                  <a:spcPct val="50000"/>
                </a:spcBef>
              </a:pPr>
              <a:r>
                <a:rPr kumimoji="1" lang="zh-CN" altLang="en-US" sz="1800">
                  <a:solidFill>
                    <a:srgbClr val="00B0F0"/>
                  </a:solidFill>
                  <a:latin typeface="Consolas" pitchFamily="49" charset="0"/>
                  <a:ea typeface="仿宋" pitchFamily="49" charset="-122"/>
                  <a:cs typeface="Consolas" pitchFamily="49" charset="0"/>
                </a:rPr>
                <a:t>当</a:t>
              </a:r>
              <a:r>
                <a:rPr kumimoji="1" lang="en-US" altLang="zh-CN" sz="1800" i="1" err="1">
                  <a:solidFill>
                    <a:srgbClr val="00B0F0"/>
                  </a:solidFill>
                  <a:latin typeface="Consolas" pitchFamily="49" charset="0"/>
                  <a:ea typeface="仿宋" pitchFamily="49" charset="-122"/>
                  <a:cs typeface="Consolas" pitchFamily="49" charset="0"/>
                </a:rPr>
                <a:t>i</a:t>
              </a:r>
              <a:r>
                <a:rPr kumimoji="1" lang="en-US" altLang="zh-CN" sz="1800">
                  <a:solidFill>
                    <a:srgbClr val="00B0F0"/>
                  </a:solidFill>
                  <a:latin typeface="Consolas" pitchFamily="49" charset="0"/>
                  <a:ea typeface="仿宋" pitchFamily="49" charset="-122"/>
                  <a:cs typeface="Consolas" pitchFamily="49" charset="0"/>
                </a:rPr>
                <a:t>&gt;</a:t>
              </a:r>
              <a:r>
                <a:rPr kumimoji="1" lang="en-US" altLang="zh-CN" sz="1800" i="1">
                  <a:solidFill>
                    <a:srgbClr val="00B0F0"/>
                  </a:solidFill>
                  <a:latin typeface="Consolas" pitchFamily="49" charset="0"/>
                  <a:ea typeface="仿宋" pitchFamily="49" charset="-122"/>
                  <a:cs typeface="Consolas" pitchFamily="49" charset="0"/>
                </a:rPr>
                <a:t>j</a:t>
              </a:r>
              <a:r>
                <a:rPr kumimoji="1" lang="zh-CN" altLang="en-US" sz="1800">
                  <a:solidFill>
                    <a:srgbClr val="00B0F0"/>
                  </a:solidFill>
                  <a:latin typeface="Consolas" pitchFamily="49" charset="0"/>
                  <a:ea typeface="仿宋" pitchFamily="49" charset="-122"/>
                  <a:cs typeface="Consolas" pitchFamily="49" charset="0"/>
                </a:rPr>
                <a:t>时</a:t>
              </a:r>
            </a:p>
          </p:txBody>
        </p:sp>
        <p:sp>
          <p:nvSpPr>
            <p:cNvPr id="69" name="AutoShape 9">
              <a:extLst>
                <a:ext uri="{FF2B5EF4-FFF2-40B4-BE49-F238E27FC236}">
                  <a16:creationId xmlns:a16="http://schemas.microsoft.com/office/drawing/2014/main" id="{0DC317A6-C2A3-BE2D-4BB9-A23CD4897C76}"/>
                </a:ext>
              </a:extLst>
            </p:cNvPr>
            <p:cNvSpPr>
              <a:spLocks/>
            </p:cNvSpPr>
            <p:nvPr/>
          </p:nvSpPr>
          <p:spPr bwMode="auto">
            <a:xfrm>
              <a:off x="2387596" y="4617133"/>
              <a:ext cx="152400" cy="1008000"/>
            </a:xfrm>
            <a:prstGeom prst="leftBrace">
              <a:avLst>
                <a:gd name="adj1" fmla="val 87500"/>
                <a:gd name="adj2" fmla="val 50000"/>
              </a:avLst>
            </a:prstGeom>
            <a:noFill/>
            <a:ln w="22225">
              <a:solidFill>
                <a:srgbClr val="0000FF"/>
              </a:solidFill>
              <a:round/>
              <a:headEnd/>
              <a:tailEnd/>
            </a:ln>
            <a:effectLst/>
          </p:spPr>
          <p:txBody>
            <a:bodyPr wrap="none" anchor="ctr"/>
            <a:lstStyle/>
            <a:p>
              <a:endParaRPr lang="zh-CN" altLang="en-US" sz="1800">
                <a:latin typeface="Consolas" pitchFamily="49" charset="0"/>
                <a:ea typeface="仿宋" pitchFamily="49" charset="-122"/>
                <a:cs typeface="Consolas" pitchFamily="49" charset="0"/>
              </a:endParaRPr>
            </a:p>
          </p:txBody>
        </p:sp>
        <p:sp>
          <p:nvSpPr>
            <p:cNvPr id="70" name="Line 16">
              <a:extLst>
                <a:ext uri="{FF2B5EF4-FFF2-40B4-BE49-F238E27FC236}">
                  <a16:creationId xmlns:a16="http://schemas.microsoft.com/office/drawing/2014/main" id="{BAC00C0A-43ED-22F2-DA51-E916C610397F}"/>
                </a:ext>
              </a:extLst>
            </p:cNvPr>
            <p:cNvSpPr>
              <a:spLocks noChangeShapeType="1"/>
            </p:cNvSpPr>
            <p:nvPr/>
          </p:nvSpPr>
          <p:spPr bwMode="auto">
            <a:xfrm flipH="1" flipV="1">
              <a:off x="3428992" y="5770688"/>
              <a:ext cx="647700" cy="360362"/>
            </a:xfrm>
            <a:prstGeom prst="line">
              <a:avLst/>
            </a:prstGeom>
            <a:noFill/>
            <a:ln w="28575">
              <a:solidFill>
                <a:srgbClr val="9900FF"/>
              </a:solidFill>
              <a:miter lim="800000"/>
              <a:headEnd/>
              <a:tailEnd type="triangle" w="med" len="me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71" name="Text Box 17">
              <a:extLst>
                <a:ext uri="{FF2B5EF4-FFF2-40B4-BE49-F238E27FC236}">
                  <a16:creationId xmlns:a16="http://schemas.microsoft.com/office/drawing/2014/main" id="{492F7CE2-A182-5BCF-0F3C-1BE0B2D32CBE}"/>
                </a:ext>
              </a:extLst>
            </p:cNvPr>
            <p:cNvSpPr txBox="1">
              <a:spLocks noChangeArrowheads="1"/>
            </p:cNvSpPr>
            <p:nvPr/>
          </p:nvSpPr>
          <p:spPr bwMode="auto">
            <a:xfrm>
              <a:off x="4071934" y="5957848"/>
              <a:ext cx="1873250" cy="369332"/>
            </a:xfrm>
            <a:prstGeom prst="rect">
              <a:avLst/>
            </a:prstGeom>
            <a:noFill/>
            <a:ln w="9525">
              <a:noFill/>
              <a:miter lim="800000"/>
              <a:headEnd/>
              <a:tailEnd/>
            </a:ln>
            <a:effectLst/>
          </p:spPr>
          <p:txBody>
            <a:bodyPr>
              <a:spAutoFit/>
            </a:bodyPr>
            <a:lstStyle/>
            <a:p>
              <a:pPr algn="l">
                <a:spcBef>
                  <a:spcPct val="50000"/>
                </a:spcBef>
              </a:pPr>
              <a:r>
                <a:rPr lang="zh-CN" altLang="en-US" sz="1800">
                  <a:latin typeface="Consolas" pitchFamily="49" charset="0"/>
                  <a:ea typeface="仿宋" pitchFamily="49" charset="-122"/>
                  <a:cs typeface="Consolas" pitchFamily="49" charset="0"/>
                </a:rPr>
                <a:t>存放常量</a:t>
              </a:r>
              <a:r>
                <a:rPr lang="en-US" altLang="zh-CN" sz="1800" i="1">
                  <a:latin typeface="Consolas" pitchFamily="49" charset="0"/>
                  <a:ea typeface="仿宋" pitchFamily="49" charset="-122"/>
                  <a:cs typeface="Consolas" pitchFamily="49" charset="0"/>
                </a:rPr>
                <a:t>c</a:t>
              </a:r>
            </a:p>
          </p:txBody>
        </p:sp>
        <p:grpSp>
          <p:nvGrpSpPr>
            <p:cNvPr id="72" name="组合 35">
              <a:extLst>
                <a:ext uri="{FF2B5EF4-FFF2-40B4-BE49-F238E27FC236}">
                  <a16:creationId xmlns:a16="http://schemas.microsoft.com/office/drawing/2014/main" id="{70AB9259-12BE-46A8-7C47-3828B36022DC}"/>
                </a:ext>
              </a:extLst>
            </p:cNvPr>
            <p:cNvGrpSpPr/>
            <p:nvPr/>
          </p:nvGrpSpPr>
          <p:grpSpPr>
            <a:xfrm>
              <a:off x="2663808" y="4402819"/>
              <a:ext cx="1946288" cy="652825"/>
              <a:chOff x="6554802" y="4214818"/>
              <a:chExt cx="1731974" cy="652825"/>
            </a:xfrm>
          </p:grpSpPr>
          <p:sp>
            <p:nvSpPr>
              <p:cNvPr id="77" name="TextBox 26">
                <a:extLst>
                  <a:ext uri="{FF2B5EF4-FFF2-40B4-BE49-F238E27FC236}">
                    <a16:creationId xmlns:a16="http://schemas.microsoft.com/office/drawing/2014/main" id="{014C669F-AD7C-603D-9242-3AC2DBE20E22}"/>
                  </a:ext>
                </a:extLst>
              </p:cNvPr>
              <p:cNvSpPr txBox="1"/>
              <p:nvPr/>
            </p:nvSpPr>
            <p:spPr>
              <a:xfrm>
                <a:off x="6572264" y="4214818"/>
                <a:ext cx="1071570" cy="276999"/>
              </a:xfrm>
              <a:prstGeom prst="rect">
                <a:avLst/>
              </a:prstGeom>
              <a:noFill/>
            </p:spPr>
            <p:txBody>
              <a:bodyPr wrap="square" lIns="0" tIns="0" rIns="0" bIns="0" rtlCol="0">
                <a:spAutoFit/>
              </a:bodyPr>
              <a:lstStyle/>
              <a:p>
                <a:r>
                  <a:rPr lang="en-US" altLang="zh-CN" sz="1800" i="1" err="1">
                    <a:latin typeface="Consolas" pitchFamily="49" charset="0"/>
                    <a:ea typeface="仿宋" pitchFamily="49" charset="-122"/>
                    <a:cs typeface="Consolas" pitchFamily="49" charset="0"/>
                  </a:rPr>
                  <a:t>i</a:t>
                </a:r>
                <a:r>
                  <a:rPr lang="en-US" altLang="zh-CN" sz="1800">
                    <a:latin typeface="Consolas" pitchFamily="49" charset="0"/>
                    <a:ea typeface="仿宋" pitchFamily="49" charset="-122"/>
                    <a:cs typeface="Consolas" pitchFamily="49" charset="0"/>
                  </a:rPr>
                  <a:t>(</a:t>
                </a:r>
                <a:r>
                  <a:rPr lang="en-US" altLang="zh-CN" sz="1800" err="1">
                    <a:latin typeface="Consolas" pitchFamily="49" charset="0"/>
                    <a:ea typeface="仿宋" pitchFamily="49" charset="-122"/>
                    <a:cs typeface="Consolas" pitchFamily="49" charset="0"/>
                  </a:rPr>
                  <a:t>2</a:t>
                </a:r>
                <a:r>
                  <a:rPr lang="en-US" altLang="zh-CN" sz="1800" i="1" err="1">
                    <a:latin typeface="Consolas" pitchFamily="49" charset="0"/>
                    <a:ea typeface="仿宋" pitchFamily="49" charset="-122"/>
                    <a:cs typeface="Consolas" pitchFamily="49" charset="0"/>
                  </a:rPr>
                  <a:t>n</a:t>
                </a:r>
                <a:r>
                  <a:rPr lang="en-US" altLang="zh-CN" sz="1800" err="1">
                    <a:latin typeface="Consolas" pitchFamily="49" charset="0"/>
                    <a:ea typeface="仿宋" pitchFamily="49" charset="-122"/>
                    <a:cs typeface="Consolas" pitchFamily="49" charset="0"/>
                  </a:rPr>
                  <a:t>-</a:t>
                </a:r>
                <a:r>
                  <a:rPr lang="en-US" altLang="zh-CN" sz="1800" i="1" err="1">
                    <a:latin typeface="Consolas" pitchFamily="49" charset="0"/>
                    <a:ea typeface="仿宋" pitchFamily="49" charset="-122"/>
                    <a:cs typeface="Consolas" pitchFamily="49" charset="0"/>
                  </a:rPr>
                  <a:t>i</a:t>
                </a:r>
                <a:r>
                  <a:rPr lang="en-US" altLang="zh-CN" sz="1800" err="1">
                    <a:latin typeface="Consolas" pitchFamily="49" charset="0"/>
                    <a:ea typeface="仿宋" pitchFamily="49" charset="-122"/>
                    <a:cs typeface="Consolas" pitchFamily="49" charset="0"/>
                  </a:rPr>
                  <a:t>+1</a:t>
                </a:r>
                <a:r>
                  <a:rPr lang="en-US" altLang="zh-CN" sz="1800">
                    <a:latin typeface="Consolas" pitchFamily="49" charset="0"/>
                    <a:ea typeface="仿宋" pitchFamily="49" charset="-122"/>
                    <a:cs typeface="Consolas" pitchFamily="49" charset="0"/>
                  </a:rPr>
                  <a:t>)</a:t>
                </a:r>
                <a:endParaRPr lang="zh-CN" altLang="en-US" sz="1800">
                  <a:latin typeface="Consolas" pitchFamily="49" charset="0"/>
                  <a:ea typeface="仿宋" pitchFamily="49" charset="-122"/>
                  <a:cs typeface="Consolas" pitchFamily="49" charset="0"/>
                </a:endParaRPr>
              </a:p>
            </p:txBody>
          </p:sp>
          <p:cxnSp>
            <p:nvCxnSpPr>
              <p:cNvPr id="78" name="直接连接符 77">
                <a:extLst>
                  <a:ext uri="{FF2B5EF4-FFF2-40B4-BE49-F238E27FC236}">
                    <a16:creationId xmlns:a16="http://schemas.microsoft.com/office/drawing/2014/main" id="{54650E4C-5817-E668-E46C-CE4062EE158D}"/>
                  </a:ext>
                </a:extLst>
              </p:cNvPr>
              <p:cNvCxnSpPr/>
              <p:nvPr/>
            </p:nvCxnSpPr>
            <p:spPr>
              <a:xfrm>
                <a:off x="6554802" y="4572008"/>
                <a:ext cx="1080000"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79" name="TextBox 28">
                <a:extLst>
                  <a:ext uri="{FF2B5EF4-FFF2-40B4-BE49-F238E27FC236}">
                    <a16:creationId xmlns:a16="http://schemas.microsoft.com/office/drawing/2014/main" id="{39647588-6F5B-3F95-297B-4EC5E63C389F}"/>
                  </a:ext>
                </a:extLst>
              </p:cNvPr>
              <p:cNvSpPr txBox="1"/>
              <p:nvPr/>
            </p:nvSpPr>
            <p:spPr>
              <a:xfrm>
                <a:off x="6811978" y="4590644"/>
                <a:ext cx="500066" cy="276999"/>
              </a:xfrm>
              <a:prstGeom prst="rect">
                <a:avLst/>
              </a:prstGeom>
              <a:noFill/>
            </p:spPr>
            <p:txBody>
              <a:bodyPr wrap="square" lIns="0" tIns="0" rIns="0" bIns="0" rtlCol="0">
                <a:spAutoFit/>
              </a:bodyPr>
              <a:lstStyle/>
              <a:p>
                <a:r>
                  <a:rPr lang="en-US" altLang="zh-CN" sz="1800">
                    <a:latin typeface="Consolas" pitchFamily="49" charset="0"/>
                    <a:ea typeface="仿宋" pitchFamily="49" charset="-122"/>
                    <a:cs typeface="Consolas" pitchFamily="49" charset="0"/>
                  </a:rPr>
                  <a:t>2</a:t>
                </a:r>
                <a:endParaRPr lang="zh-CN" altLang="en-US" sz="1800">
                  <a:latin typeface="Consolas" pitchFamily="49" charset="0"/>
                  <a:ea typeface="仿宋" pitchFamily="49" charset="-122"/>
                  <a:cs typeface="Consolas" pitchFamily="49" charset="0"/>
                </a:endParaRPr>
              </a:p>
            </p:txBody>
          </p:sp>
          <p:sp>
            <p:nvSpPr>
              <p:cNvPr id="80" name="TextBox 29">
                <a:extLst>
                  <a:ext uri="{FF2B5EF4-FFF2-40B4-BE49-F238E27FC236}">
                    <a16:creationId xmlns:a16="http://schemas.microsoft.com/office/drawing/2014/main" id="{3AE28EC6-27AA-668F-62A8-B3D64110B485}"/>
                  </a:ext>
                </a:extLst>
              </p:cNvPr>
              <p:cNvSpPr txBox="1"/>
              <p:nvPr/>
            </p:nvSpPr>
            <p:spPr>
              <a:xfrm>
                <a:off x="7429520" y="4429132"/>
                <a:ext cx="857256" cy="276999"/>
              </a:xfrm>
              <a:prstGeom prst="rect">
                <a:avLst/>
              </a:prstGeom>
              <a:noFill/>
            </p:spPr>
            <p:txBody>
              <a:bodyPr wrap="square" lIns="0" tIns="0" rIns="0" bIns="0" rtlCol="0">
                <a:spAutoFit/>
              </a:bodyPr>
              <a:lstStyle/>
              <a:p>
                <a:r>
                  <a:rPr lang="en-US" altLang="zh-CN" sz="1800">
                    <a:latin typeface="Consolas" pitchFamily="49" charset="0"/>
                    <a:ea typeface="仿宋" pitchFamily="49" charset="-122"/>
                    <a:cs typeface="Consolas" pitchFamily="49" charset="0"/>
                  </a:rPr>
                  <a:t> +</a:t>
                </a:r>
                <a:r>
                  <a:rPr lang="en-US" altLang="zh-CN" sz="1800" i="1">
                    <a:latin typeface="Consolas" pitchFamily="49" charset="0"/>
                    <a:ea typeface="仿宋" pitchFamily="49" charset="-122"/>
                    <a:cs typeface="Consolas" pitchFamily="49" charset="0"/>
                  </a:rPr>
                  <a:t>j</a:t>
                </a:r>
                <a:r>
                  <a:rPr lang="en-US" altLang="zh-CN" sz="1800">
                    <a:latin typeface="Consolas" pitchFamily="49" charset="0"/>
                    <a:ea typeface="仿宋" pitchFamily="49" charset="-122"/>
                    <a:cs typeface="Consolas" pitchFamily="49" charset="0"/>
                  </a:rPr>
                  <a:t>-</a:t>
                </a:r>
                <a:r>
                  <a:rPr lang="en-US" altLang="zh-CN" sz="1800" i="1" err="1">
                    <a:latin typeface="Consolas" pitchFamily="49" charset="0"/>
                    <a:ea typeface="仿宋" pitchFamily="49" charset="-122"/>
                    <a:cs typeface="Consolas" pitchFamily="49" charset="0"/>
                  </a:rPr>
                  <a:t>i</a:t>
                </a:r>
                <a:endParaRPr lang="zh-CN" altLang="en-US" sz="1800" i="1">
                  <a:latin typeface="Consolas" pitchFamily="49" charset="0"/>
                  <a:ea typeface="仿宋" pitchFamily="49" charset="-122"/>
                  <a:cs typeface="Consolas" pitchFamily="49" charset="0"/>
                </a:endParaRPr>
              </a:p>
            </p:txBody>
          </p:sp>
        </p:grpSp>
        <p:grpSp>
          <p:nvGrpSpPr>
            <p:cNvPr id="73" name="组合 30">
              <a:extLst>
                <a:ext uri="{FF2B5EF4-FFF2-40B4-BE49-F238E27FC236}">
                  <a16:creationId xmlns:a16="http://schemas.microsoft.com/office/drawing/2014/main" id="{8A7FEE05-C22C-DE7B-BFD1-DD0BCC3BB0C1}"/>
                </a:ext>
              </a:extLst>
            </p:cNvPr>
            <p:cNvGrpSpPr/>
            <p:nvPr/>
          </p:nvGrpSpPr>
          <p:grpSpPr>
            <a:xfrm>
              <a:off x="2681270" y="5214950"/>
              <a:ext cx="1071570" cy="652825"/>
              <a:chOff x="500034" y="3571876"/>
              <a:chExt cx="1071570" cy="652825"/>
            </a:xfrm>
          </p:grpSpPr>
          <p:sp>
            <p:nvSpPr>
              <p:cNvPr id="74" name="TextBox 31">
                <a:extLst>
                  <a:ext uri="{FF2B5EF4-FFF2-40B4-BE49-F238E27FC236}">
                    <a16:creationId xmlns:a16="http://schemas.microsoft.com/office/drawing/2014/main" id="{F5E1C113-8228-B9EC-3715-984E48728C35}"/>
                  </a:ext>
                </a:extLst>
              </p:cNvPr>
              <p:cNvSpPr txBox="1"/>
              <p:nvPr/>
            </p:nvSpPr>
            <p:spPr>
              <a:xfrm>
                <a:off x="500034" y="3571876"/>
                <a:ext cx="1071570" cy="276999"/>
              </a:xfrm>
              <a:prstGeom prst="rect">
                <a:avLst/>
              </a:prstGeom>
              <a:noFill/>
            </p:spPr>
            <p:txBody>
              <a:bodyPr wrap="square" lIns="0" tIns="0" rIns="0" bIns="0" rtlCol="0">
                <a:spAutoFit/>
              </a:bodyPr>
              <a:lstStyle/>
              <a:p>
                <a:r>
                  <a:rPr lang="en-US" altLang="zh-CN" sz="1800" i="1">
                    <a:latin typeface="Consolas" pitchFamily="49" charset="0"/>
                    <a:ea typeface="仿宋" pitchFamily="49" charset="-122"/>
                    <a:cs typeface="Consolas" pitchFamily="49" charset="0"/>
                  </a:rPr>
                  <a:t>n</a:t>
                </a:r>
                <a:r>
                  <a:rPr lang="en-US" altLang="zh-CN" sz="1800">
                    <a:latin typeface="Consolas" pitchFamily="49" charset="0"/>
                    <a:ea typeface="仿宋" pitchFamily="49" charset="-122"/>
                    <a:cs typeface="Consolas" pitchFamily="49" charset="0"/>
                  </a:rPr>
                  <a:t>(</a:t>
                </a:r>
                <a:r>
                  <a:rPr lang="en-US" altLang="zh-CN" sz="1800" i="1" err="1">
                    <a:latin typeface="Consolas" pitchFamily="49" charset="0"/>
                    <a:ea typeface="仿宋" pitchFamily="49" charset="-122"/>
                    <a:cs typeface="Consolas" pitchFamily="49" charset="0"/>
                  </a:rPr>
                  <a:t>n</a:t>
                </a:r>
                <a:r>
                  <a:rPr lang="en-US" altLang="zh-CN" sz="1800" err="1">
                    <a:latin typeface="Consolas" pitchFamily="49" charset="0"/>
                    <a:ea typeface="仿宋" pitchFamily="49" charset="-122"/>
                    <a:cs typeface="Consolas" pitchFamily="49" charset="0"/>
                  </a:rPr>
                  <a:t>+1</a:t>
                </a:r>
                <a:r>
                  <a:rPr lang="en-US" altLang="zh-CN" sz="1800">
                    <a:latin typeface="Consolas" pitchFamily="49" charset="0"/>
                    <a:ea typeface="仿宋" pitchFamily="49" charset="-122"/>
                    <a:cs typeface="Consolas" pitchFamily="49" charset="0"/>
                  </a:rPr>
                  <a:t>)</a:t>
                </a:r>
                <a:endParaRPr lang="zh-CN" altLang="en-US" sz="1800">
                  <a:latin typeface="Consolas" pitchFamily="49" charset="0"/>
                  <a:ea typeface="仿宋" pitchFamily="49" charset="-122"/>
                  <a:cs typeface="Consolas" pitchFamily="49" charset="0"/>
                </a:endParaRPr>
              </a:p>
            </p:txBody>
          </p:sp>
          <p:cxnSp>
            <p:nvCxnSpPr>
              <p:cNvPr id="75" name="直接连接符 74">
                <a:extLst>
                  <a:ext uri="{FF2B5EF4-FFF2-40B4-BE49-F238E27FC236}">
                    <a16:creationId xmlns:a16="http://schemas.microsoft.com/office/drawing/2014/main" id="{1A691EEA-A03A-194F-77E0-110A38474DCA}"/>
                  </a:ext>
                </a:extLst>
              </p:cNvPr>
              <p:cNvCxnSpPr/>
              <p:nvPr/>
            </p:nvCxnSpPr>
            <p:spPr>
              <a:xfrm>
                <a:off x="571472" y="3929066"/>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76" name="TextBox 33">
                <a:extLst>
                  <a:ext uri="{FF2B5EF4-FFF2-40B4-BE49-F238E27FC236}">
                    <a16:creationId xmlns:a16="http://schemas.microsoft.com/office/drawing/2014/main" id="{717A98F3-5324-8D84-72EF-00023F251E5D}"/>
                  </a:ext>
                </a:extLst>
              </p:cNvPr>
              <p:cNvSpPr txBox="1"/>
              <p:nvPr/>
            </p:nvSpPr>
            <p:spPr>
              <a:xfrm>
                <a:off x="739748" y="3947702"/>
                <a:ext cx="500066" cy="276999"/>
              </a:xfrm>
              <a:prstGeom prst="rect">
                <a:avLst/>
              </a:prstGeom>
              <a:noFill/>
            </p:spPr>
            <p:txBody>
              <a:bodyPr wrap="square" lIns="0" tIns="0" rIns="0" bIns="0" rtlCol="0">
                <a:spAutoFit/>
              </a:bodyPr>
              <a:lstStyle/>
              <a:p>
                <a:r>
                  <a:rPr lang="en-US" altLang="zh-CN" sz="1800">
                    <a:latin typeface="Consolas" pitchFamily="49" charset="0"/>
                    <a:ea typeface="仿宋" pitchFamily="49" charset="-122"/>
                    <a:cs typeface="Consolas" pitchFamily="49" charset="0"/>
                  </a:rPr>
                  <a:t>2</a:t>
                </a:r>
                <a:endParaRPr lang="zh-CN" altLang="en-US" sz="1800">
                  <a:latin typeface="Consolas" pitchFamily="49" charset="0"/>
                  <a:ea typeface="仿宋" pitchFamily="49" charset="-122"/>
                  <a:cs typeface="Consolas" pitchFamily="49" charset="0"/>
                </a:endParaRPr>
              </a:p>
            </p:txBody>
          </p:sp>
        </p:grpSp>
      </p:grpSp>
      <p:sp>
        <p:nvSpPr>
          <p:cNvPr id="81" name="直角三角形 80">
            <a:extLst>
              <a:ext uri="{FF2B5EF4-FFF2-40B4-BE49-F238E27FC236}">
                <a16:creationId xmlns:a16="http://schemas.microsoft.com/office/drawing/2014/main" id="{A883F80F-D5AF-77F2-3DCE-0973A641A109}"/>
              </a:ext>
            </a:extLst>
          </p:cNvPr>
          <p:cNvSpPr/>
          <p:nvPr/>
        </p:nvSpPr>
        <p:spPr>
          <a:xfrm>
            <a:off x="3298288" y="2713248"/>
            <a:ext cx="2071702" cy="1421736"/>
          </a:xfrm>
          <a:prstGeom prst="rtTriangl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82" name="Text Box 15">
            <a:extLst>
              <a:ext uri="{FF2B5EF4-FFF2-40B4-BE49-F238E27FC236}">
                <a16:creationId xmlns:a16="http://schemas.microsoft.com/office/drawing/2014/main" id="{CA571DA4-3F57-701C-EA50-1E309ECECAEA}"/>
              </a:ext>
            </a:extLst>
          </p:cNvPr>
          <p:cNvSpPr txBox="1">
            <a:spLocks noChangeArrowheads="1"/>
          </p:cNvSpPr>
          <p:nvPr/>
        </p:nvSpPr>
        <p:spPr bwMode="auto">
          <a:xfrm flipH="1">
            <a:off x="3584040" y="3387079"/>
            <a:ext cx="357190" cy="461665"/>
          </a:xfrm>
          <a:prstGeom prst="rect">
            <a:avLst/>
          </a:prstGeom>
          <a:noFill/>
          <a:ln w="9525">
            <a:noFill/>
            <a:miter lim="800000"/>
            <a:headEnd/>
            <a:tailEnd/>
          </a:ln>
          <a:effectLst/>
        </p:spPr>
        <p:txBody>
          <a:bodyPr wrap="square">
            <a:spAutoFit/>
          </a:bodyPr>
          <a:lstStyle/>
          <a:p>
            <a:pPr algn="l">
              <a:spcBef>
                <a:spcPct val="50000"/>
              </a:spcBef>
            </a:pPr>
            <a:r>
              <a:rPr lang="en-US" altLang="zh-CN" i="1">
                <a:solidFill>
                  <a:srgbClr val="FF0000"/>
                </a:solidFill>
                <a:latin typeface="Consolas" pitchFamily="49" charset="0"/>
                <a:cs typeface="Consolas" pitchFamily="49" charset="0"/>
              </a:rPr>
              <a:t>c</a:t>
            </a:r>
          </a:p>
        </p:txBody>
      </p:sp>
      <p:sp>
        <p:nvSpPr>
          <p:cNvPr id="83" name="TextBox 60">
            <a:extLst>
              <a:ext uri="{FF2B5EF4-FFF2-40B4-BE49-F238E27FC236}">
                <a16:creationId xmlns:a16="http://schemas.microsoft.com/office/drawing/2014/main" id="{30F9CD25-C6B8-F023-CE67-C6A0066B7085}"/>
              </a:ext>
            </a:extLst>
          </p:cNvPr>
          <p:cNvSpPr txBox="1"/>
          <p:nvPr/>
        </p:nvSpPr>
        <p:spPr>
          <a:xfrm>
            <a:off x="4937426" y="3358518"/>
            <a:ext cx="575440" cy="338554"/>
          </a:xfrm>
          <a:prstGeom prst="rect">
            <a:avLst/>
          </a:prstGeom>
          <a:noFill/>
        </p:spPr>
        <p:txBody>
          <a:bodyPr wrap="square" lIns="0" tIns="0" rIns="0" bIns="0" rtlCol="0">
            <a:spAutoFit/>
          </a:bodyPr>
          <a:lstStyle/>
          <a:p>
            <a:r>
              <a:rPr lang="en-US" altLang="zh-CN" sz="2200" i="1">
                <a:latin typeface="Consolas" pitchFamily="49" charset="0"/>
                <a:ea typeface="+mn-ea"/>
                <a:cs typeface="Consolas" pitchFamily="49" charset="0"/>
                <a:sym typeface="Symbol"/>
              </a:rPr>
              <a:t></a:t>
            </a:r>
            <a:endParaRPr lang="zh-CN" altLang="en-US" sz="2200" baseline="-25000">
              <a:latin typeface="Consolas" pitchFamily="49" charset="0"/>
              <a:ea typeface="+mn-ea"/>
              <a:cs typeface="Consolas" pitchFamily="49" charset="0"/>
            </a:endParaRPr>
          </a:p>
        </p:txBody>
      </p:sp>
      <p:grpSp>
        <p:nvGrpSpPr>
          <p:cNvPr id="84" name="组合 69">
            <a:extLst>
              <a:ext uri="{FF2B5EF4-FFF2-40B4-BE49-F238E27FC236}">
                <a16:creationId xmlns:a16="http://schemas.microsoft.com/office/drawing/2014/main" id="{7B6F86C9-6648-A70A-894F-E393C801139F}"/>
              </a:ext>
            </a:extLst>
          </p:cNvPr>
          <p:cNvGrpSpPr/>
          <p:nvPr/>
        </p:nvGrpSpPr>
        <p:grpSpPr>
          <a:xfrm>
            <a:off x="726519" y="4871508"/>
            <a:ext cx="1571637" cy="584770"/>
            <a:chOff x="857224" y="3742146"/>
            <a:chExt cx="1571637" cy="584770"/>
          </a:xfrm>
        </p:grpSpPr>
        <p:sp>
          <p:nvSpPr>
            <p:cNvPr id="85" name="左中括号 84">
              <a:extLst>
                <a:ext uri="{FF2B5EF4-FFF2-40B4-BE49-F238E27FC236}">
                  <a16:creationId xmlns:a16="http://schemas.microsoft.com/office/drawing/2014/main" id="{6B771FD9-F261-E16F-0E2F-7336FDD96AE0}"/>
                </a:ext>
              </a:extLst>
            </p:cNvPr>
            <p:cNvSpPr/>
            <p:nvPr/>
          </p:nvSpPr>
          <p:spPr>
            <a:xfrm rot="16200000">
              <a:off x="1571042" y="3028328"/>
              <a:ext cx="144000" cy="1571636"/>
            </a:xfrm>
            <a:prstGeom prst="leftBracket">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1800">
                <a:latin typeface="Consolas" pitchFamily="49" charset="0"/>
                <a:ea typeface="仿宋" pitchFamily="49" charset="-122"/>
                <a:cs typeface="Consolas" pitchFamily="49" charset="0"/>
              </a:endParaRPr>
            </a:p>
          </p:txBody>
        </p:sp>
        <p:sp>
          <p:nvSpPr>
            <p:cNvPr id="86" name="TextBox 62">
              <a:extLst>
                <a:ext uri="{FF2B5EF4-FFF2-40B4-BE49-F238E27FC236}">
                  <a16:creationId xmlns:a16="http://schemas.microsoft.com/office/drawing/2014/main" id="{71597428-5132-CD86-7B03-7FE1D89258F1}"/>
                </a:ext>
              </a:extLst>
            </p:cNvPr>
            <p:cNvSpPr txBox="1"/>
            <p:nvPr/>
          </p:nvSpPr>
          <p:spPr>
            <a:xfrm>
              <a:off x="1071539" y="3957584"/>
              <a:ext cx="1357322" cy="369332"/>
            </a:xfrm>
            <a:prstGeom prst="rect">
              <a:avLst/>
            </a:prstGeom>
            <a:noFill/>
          </p:spPr>
          <p:txBody>
            <a:bodyPr wrap="square" rtlCol="0">
              <a:spAutoFit/>
            </a:bodyPr>
            <a:lstStyle/>
            <a:p>
              <a:r>
                <a:rPr lang="en-US" altLang="zh-CN" sz="1800" i="1">
                  <a:latin typeface="Consolas" pitchFamily="49" charset="0"/>
                  <a:ea typeface="仿宋" pitchFamily="49" charset="-122"/>
                  <a:cs typeface="Consolas" pitchFamily="49" charset="0"/>
                </a:rPr>
                <a:t>n</a:t>
              </a:r>
              <a:r>
                <a:rPr lang="zh-CN" altLang="en-US" sz="1800">
                  <a:latin typeface="Consolas" pitchFamily="49" charset="0"/>
                  <a:ea typeface="仿宋" pitchFamily="49" charset="-122"/>
                  <a:cs typeface="Consolas" pitchFamily="49" charset="0"/>
                </a:rPr>
                <a:t>个元素</a:t>
              </a:r>
            </a:p>
          </p:txBody>
        </p:sp>
      </p:grpSp>
      <p:grpSp>
        <p:nvGrpSpPr>
          <p:cNvPr id="87" name="组合 70">
            <a:extLst>
              <a:ext uri="{FF2B5EF4-FFF2-40B4-BE49-F238E27FC236}">
                <a16:creationId xmlns:a16="http://schemas.microsoft.com/office/drawing/2014/main" id="{7F142797-5189-9EAA-F17D-85E7AB0B67D8}"/>
              </a:ext>
            </a:extLst>
          </p:cNvPr>
          <p:cNvGrpSpPr/>
          <p:nvPr/>
        </p:nvGrpSpPr>
        <p:grpSpPr>
          <a:xfrm>
            <a:off x="2655346" y="4871508"/>
            <a:ext cx="1357322" cy="584770"/>
            <a:chOff x="2857488" y="3742146"/>
            <a:chExt cx="1357322" cy="584770"/>
          </a:xfrm>
        </p:grpSpPr>
        <p:sp>
          <p:nvSpPr>
            <p:cNvPr id="88" name="左中括号 87">
              <a:extLst>
                <a:ext uri="{FF2B5EF4-FFF2-40B4-BE49-F238E27FC236}">
                  <a16:creationId xmlns:a16="http://schemas.microsoft.com/office/drawing/2014/main" id="{786BD3D4-E8F2-EC6C-E3A8-436790D51618}"/>
                </a:ext>
              </a:extLst>
            </p:cNvPr>
            <p:cNvSpPr/>
            <p:nvPr/>
          </p:nvSpPr>
          <p:spPr>
            <a:xfrm rot="16200000">
              <a:off x="3427001" y="3172633"/>
              <a:ext cx="146858" cy="1285884"/>
            </a:xfrm>
            <a:prstGeom prst="leftBracket">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1800">
                <a:latin typeface="Consolas" pitchFamily="49" charset="0"/>
                <a:ea typeface="仿宋" pitchFamily="49" charset="-122"/>
                <a:cs typeface="Consolas" pitchFamily="49" charset="0"/>
              </a:endParaRPr>
            </a:p>
          </p:txBody>
        </p:sp>
        <p:sp>
          <p:nvSpPr>
            <p:cNvPr id="89" name="TextBox 64">
              <a:extLst>
                <a:ext uri="{FF2B5EF4-FFF2-40B4-BE49-F238E27FC236}">
                  <a16:creationId xmlns:a16="http://schemas.microsoft.com/office/drawing/2014/main" id="{3EEC45CE-14E2-D003-6A42-3729A9C418C8}"/>
                </a:ext>
              </a:extLst>
            </p:cNvPr>
            <p:cNvSpPr txBox="1"/>
            <p:nvPr/>
          </p:nvSpPr>
          <p:spPr>
            <a:xfrm>
              <a:off x="2857488" y="3957584"/>
              <a:ext cx="1357322" cy="369332"/>
            </a:xfrm>
            <a:prstGeom prst="rect">
              <a:avLst/>
            </a:prstGeom>
            <a:noFill/>
          </p:spPr>
          <p:txBody>
            <a:bodyPr wrap="square" rtlCol="0">
              <a:spAutoFit/>
            </a:bodyPr>
            <a:lstStyle/>
            <a:p>
              <a:r>
                <a:rPr lang="en-US" altLang="zh-CN" sz="1800" i="1">
                  <a:latin typeface="Consolas" pitchFamily="49" charset="0"/>
                  <a:ea typeface="仿宋" pitchFamily="49" charset="-122"/>
                  <a:cs typeface="Consolas" pitchFamily="49" charset="0"/>
                </a:rPr>
                <a:t>n</a:t>
              </a:r>
              <a:r>
                <a:rPr lang="en-US" altLang="zh-CN" sz="1800">
                  <a:latin typeface="Consolas" pitchFamily="49" charset="0"/>
                  <a:ea typeface="仿宋" pitchFamily="49" charset="-122"/>
                  <a:cs typeface="Consolas" pitchFamily="49" charset="0"/>
                </a:rPr>
                <a:t>-1</a:t>
              </a:r>
              <a:r>
                <a:rPr lang="zh-CN" altLang="en-US" sz="1800">
                  <a:latin typeface="Consolas" pitchFamily="49" charset="0"/>
                  <a:ea typeface="仿宋" pitchFamily="49" charset="-122"/>
                  <a:cs typeface="Consolas" pitchFamily="49" charset="0"/>
                </a:rPr>
                <a:t>个元素</a:t>
              </a:r>
            </a:p>
          </p:txBody>
        </p:sp>
      </p:grpSp>
      <p:grpSp>
        <p:nvGrpSpPr>
          <p:cNvPr id="90" name="组合 71">
            <a:extLst>
              <a:ext uri="{FF2B5EF4-FFF2-40B4-BE49-F238E27FC236}">
                <a16:creationId xmlns:a16="http://schemas.microsoft.com/office/drawing/2014/main" id="{561BD54B-2BBB-6CF5-F903-1E933775D6BA}"/>
              </a:ext>
            </a:extLst>
          </p:cNvPr>
          <p:cNvGrpSpPr/>
          <p:nvPr/>
        </p:nvGrpSpPr>
        <p:grpSpPr>
          <a:xfrm>
            <a:off x="4655610" y="4844115"/>
            <a:ext cx="1643074" cy="584770"/>
            <a:chOff x="5072066" y="3714753"/>
            <a:chExt cx="1643074" cy="584770"/>
          </a:xfrm>
        </p:grpSpPr>
        <p:sp>
          <p:nvSpPr>
            <p:cNvPr id="91" name="左中括号 90">
              <a:extLst>
                <a:ext uri="{FF2B5EF4-FFF2-40B4-BE49-F238E27FC236}">
                  <a16:creationId xmlns:a16="http://schemas.microsoft.com/office/drawing/2014/main" id="{7A238940-3655-DB2B-F13A-80BCE9540105}"/>
                </a:ext>
              </a:extLst>
            </p:cNvPr>
            <p:cNvSpPr/>
            <p:nvPr/>
          </p:nvSpPr>
          <p:spPr>
            <a:xfrm rot="16200000">
              <a:off x="5780264" y="3066753"/>
              <a:ext cx="144000" cy="1440000"/>
            </a:xfrm>
            <a:prstGeom prst="leftBracket">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1800">
                <a:latin typeface="Consolas" pitchFamily="49" charset="0"/>
                <a:ea typeface="仿宋" pitchFamily="49" charset="-122"/>
                <a:cs typeface="Consolas" pitchFamily="49" charset="0"/>
              </a:endParaRPr>
            </a:p>
          </p:txBody>
        </p:sp>
        <p:sp>
          <p:nvSpPr>
            <p:cNvPr id="92" name="TextBox 66">
              <a:extLst>
                <a:ext uri="{FF2B5EF4-FFF2-40B4-BE49-F238E27FC236}">
                  <a16:creationId xmlns:a16="http://schemas.microsoft.com/office/drawing/2014/main" id="{A4A7E42D-568B-6458-7187-11AA414DE85F}"/>
                </a:ext>
              </a:extLst>
            </p:cNvPr>
            <p:cNvSpPr txBox="1"/>
            <p:nvPr/>
          </p:nvSpPr>
          <p:spPr>
            <a:xfrm>
              <a:off x="5072066" y="3930191"/>
              <a:ext cx="1643074" cy="369332"/>
            </a:xfrm>
            <a:prstGeom prst="rect">
              <a:avLst/>
            </a:prstGeom>
            <a:noFill/>
          </p:spPr>
          <p:txBody>
            <a:bodyPr wrap="square" rtlCol="0">
              <a:spAutoFit/>
            </a:bodyPr>
            <a:lstStyle/>
            <a:p>
              <a:r>
                <a:rPr lang="en-US" altLang="zh-CN" sz="1800" i="1">
                  <a:latin typeface="Consolas" pitchFamily="49" charset="0"/>
                  <a:ea typeface="仿宋" pitchFamily="49" charset="-122"/>
                  <a:cs typeface="Consolas" pitchFamily="49" charset="0"/>
                </a:rPr>
                <a:t>n</a:t>
              </a:r>
              <a:r>
                <a:rPr lang="en-US" altLang="zh-CN" sz="1800">
                  <a:latin typeface="Consolas" pitchFamily="49" charset="0"/>
                  <a:ea typeface="仿宋" pitchFamily="49" charset="-122"/>
                  <a:cs typeface="Consolas" pitchFamily="49" charset="0"/>
                </a:rPr>
                <a:t>-</a:t>
              </a:r>
              <a:r>
                <a:rPr lang="en-US" altLang="zh-CN" sz="1800" i="1" err="1">
                  <a:latin typeface="Consolas" pitchFamily="49" charset="0"/>
                  <a:ea typeface="仿宋" pitchFamily="49" charset="-122"/>
                  <a:cs typeface="Consolas" pitchFamily="49" charset="0"/>
                </a:rPr>
                <a:t>i</a:t>
              </a:r>
              <a:r>
                <a:rPr lang="en-US" altLang="zh-CN" sz="1800" err="1">
                  <a:latin typeface="Consolas" pitchFamily="49" charset="0"/>
                  <a:ea typeface="仿宋" pitchFamily="49" charset="-122"/>
                  <a:cs typeface="Consolas" pitchFamily="49" charset="0"/>
                </a:rPr>
                <a:t>+1</a:t>
              </a:r>
              <a:r>
                <a:rPr lang="zh-CN" altLang="en-US" sz="1800">
                  <a:latin typeface="Consolas" pitchFamily="49" charset="0"/>
                  <a:ea typeface="仿宋" pitchFamily="49" charset="-122"/>
                  <a:cs typeface="Consolas" pitchFamily="49" charset="0"/>
                </a:rPr>
                <a:t>个元素</a:t>
              </a:r>
            </a:p>
          </p:txBody>
        </p:sp>
      </p:grpSp>
      <p:grpSp>
        <p:nvGrpSpPr>
          <p:cNvPr id="93" name="组合 72">
            <a:extLst>
              <a:ext uri="{FF2B5EF4-FFF2-40B4-BE49-F238E27FC236}">
                <a16:creationId xmlns:a16="http://schemas.microsoft.com/office/drawing/2014/main" id="{EDB9D915-A315-E53E-B4D5-9392EB42F495}"/>
              </a:ext>
            </a:extLst>
          </p:cNvPr>
          <p:cNvGrpSpPr/>
          <p:nvPr/>
        </p:nvGrpSpPr>
        <p:grpSpPr>
          <a:xfrm>
            <a:off x="6584436" y="4802929"/>
            <a:ext cx="1428760" cy="625956"/>
            <a:chOff x="6500826" y="3673567"/>
            <a:chExt cx="1428760" cy="625956"/>
          </a:xfrm>
        </p:grpSpPr>
        <p:sp>
          <p:nvSpPr>
            <p:cNvPr id="94" name="左中括号 93">
              <a:extLst>
                <a:ext uri="{FF2B5EF4-FFF2-40B4-BE49-F238E27FC236}">
                  <a16:creationId xmlns:a16="http://schemas.microsoft.com/office/drawing/2014/main" id="{D799B0B8-016F-D721-0F4F-8E0FBE55228F}"/>
                </a:ext>
              </a:extLst>
            </p:cNvPr>
            <p:cNvSpPr/>
            <p:nvPr/>
          </p:nvSpPr>
          <p:spPr>
            <a:xfrm rot="16200000">
              <a:off x="7123520" y="3122311"/>
              <a:ext cx="144000" cy="1246512"/>
            </a:xfrm>
            <a:prstGeom prst="leftBracket">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1800">
                <a:latin typeface="Consolas" pitchFamily="49" charset="0"/>
                <a:ea typeface="仿宋" pitchFamily="49" charset="-122"/>
                <a:cs typeface="Consolas" pitchFamily="49" charset="0"/>
              </a:endParaRPr>
            </a:p>
          </p:txBody>
        </p:sp>
        <p:sp>
          <p:nvSpPr>
            <p:cNvPr id="95" name="TextBox 68">
              <a:extLst>
                <a:ext uri="{FF2B5EF4-FFF2-40B4-BE49-F238E27FC236}">
                  <a16:creationId xmlns:a16="http://schemas.microsoft.com/office/drawing/2014/main" id="{FA480A18-5445-CE11-58F7-2BC8C1815F5A}"/>
                </a:ext>
              </a:extLst>
            </p:cNvPr>
            <p:cNvSpPr txBox="1"/>
            <p:nvPr/>
          </p:nvSpPr>
          <p:spPr>
            <a:xfrm>
              <a:off x="6500826" y="3930191"/>
              <a:ext cx="1428760" cy="369332"/>
            </a:xfrm>
            <a:prstGeom prst="rect">
              <a:avLst/>
            </a:prstGeom>
            <a:noFill/>
          </p:spPr>
          <p:txBody>
            <a:bodyPr wrap="square" rtlCol="0">
              <a:spAutoFit/>
            </a:bodyPr>
            <a:lstStyle/>
            <a:p>
              <a:r>
                <a:rPr lang="en-US" altLang="zh-CN" sz="1800" i="1">
                  <a:latin typeface="Consolas" pitchFamily="49" charset="0"/>
                  <a:ea typeface="仿宋" pitchFamily="49" charset="-122"/>
                  <a:cs typeface="Consolas" pitchFamily="49" charset="0"/>
                </a:rPr>
                <a:t>j</a:t>
              </a:r>
              <a:r>
                <a:rPr lang="en-US" altLang="zh-CN" sz="1800">
                  <a:latin typeface="Consolas" pitchFamily="49" charset="0"/>
                  <a:ea typeface="仿宋" pitchFamily="49" charset="-122"/>
                  <a:cs typeface="Consolas" pitchFamily="49" charset="0"/>
                </a:rPr>
                <a:t>-</a:t>
              </a:r>
              <a:r>
                <a:rPr lang="en-US" altLang="zh-CN" sz="1800" i="1" err="1">
                  <a:latin typeface="Consolas" pitchFamily="49" charset="0"/>
                  <a:ea typeface="仿宋" pitchFamily="49" charset="-122"/>
                  <a:cs typeface="Consolas" pitchFamily="49" charset="0"/>
                </a:rPr>
                <a:t>i</a:t>
              </a:r>
              <a:r>
                <a:rPr lang="zh-CN" altLang="en-US" sz="1800">
                  <a:latin typeface="Consolas" pitchFamily="49" charset="0"/>
                  <a:ea typeface="仿宋" pitchFamily="49" charset="-122"/>
                  <a:cs typeface="Consolas" pitchFamily="49" charset="0"/>
                </a:rPr>
                <a:t>个元素</a:t>
              </a:r>
            </a:p>
          </p:txBody>
        </p:sp>
      </p:grpSp>
      <p:grpSp>
        <p:nvGrpSpPr>
          <p:cNvPr id="96" name="组合 77">
            <a:extLst>
              <a:ext uri="{FF2B5EF4-FFF2-40B4-BE49-F238E27FC236}">
                <a16:creationId xmlns:a16="http://schemas.microsoft.com/office/drawing/2014/main" id="{44B7B66C-B2BB-55D6-8871-CD655A9A4983}"/>
              </a:ext>
            </a:extLst>
          </p:cNvPr>
          <p:cNvGrpSpPr/>
          <p:nvPr/>
        </p:nvGrpSpPr>
        <p:grpSpPr>
          <a:xfrm>
            <a:off x="726520" y="5446994"/>
            <a:ext cx="7215238" cy="584770"/>
            <a:chOff x="642910" y="3856504"/>
            <a:chExt cx="7215238" cy="584770"/>
          </a:xfrm>
        </p:grpSpPr>
        <p:sp>
          <p:nvSpPr>
            <p:cNvPr id="97" name="左中括号 96">
              <a:extLst>
                <a:ext uri="{FF2B5EF4-FFF2-40B4-BE49-F238E27FC236}">
                  <a16:creationId xmlns:a16="http://schemas.microsoft.com/office/drawing/2014/main" id="{16B02265-C36A-D2E6-EF6C-2C3B7FFA464B}"/>
                </a:ext>
              </a:extLst>
            </p:cNvPr>
            <p:cNvSpPr/>
            <p:nvPr/>
          </p:nvSpPr>
          <p:spPr>
            <a:xfrm rot="16200000">
              <a:off x="4179091" y="320323"/>
              <a:ext cx="142876" cy="7215238"/>
            </a:xfrm>
            <a:prstGeom prst="leftBracket">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1800">
                <a:latin typeface="Consolas" pitchFamily="49" charset="0"/>
                <a:ea typeface="仿宋" pitchFamily="49" charset="-122"/>
                <a:cs typeface="Consolas" pitchFamily="49" charset="0"/>
              </a:endParaRPr>
            </a:p>
          </p:txBody>
        </p:sp>
        <p:sp>
          <p:nvSpPr>
            <p:cNvPr id="98" name="TextBox 76">
              <a:extLst>
                <a:ext uri="{FF2B5EF4-FFF2-40B4-BE49-F238E27FC236}">
                  <a16:creationId xmlns:a16="http://schemas.microsoft.com/office/drawing/2014/main" id="{89F768BC-3F26-120D-D566-9C080813E8B1}"/>
                </a:ext>
              </a:extLst>
            </p:cNvPr>
            <p:cNvSpPr txBox="1"/>
            <p:nvPr/>
          </p:nvSpPr>
          <p:spPr>
            <a:xfrm>
              <a:off x="2857488" y="4071942"/>
              <a:ext cx="3571899" cy="369332"/>
            </a:xfrm>
            <a:prstGeom prst="rect">
              <a:avLst/>
            </a:prstGeom>
            <a:noFill/>
          </p:spPr>
          <p:txBody>
            <a:bodyPr wrap="square" rtlCol="0">
              <a:spAutoFit/>
            </a:bodyPr>
            <a:lstStyle/>
            <a:p>
              <a:r>
                <a:rPr lang="zh-CN" altLang="en-US" sz="1800">
                  <a:latin typeface="Consolas" pitchFamily="49" charset="0"/>
                  <a:ea typeface="仿宋" pitchFamily="49" charset="-122"/>
                  <a:cs typeface="Consolas" pitchFamily="49" charset="0"/>
                </a:rPr>
                <a:t>共计</a:t>
              </a:r>
              <a:r>
                <a:rPr lang="en-US" altLang="zh-CN" sz="1800" i="1" err="1">
                  <a:latin typeface="Consolas" pitchFamily="49" charset="0"/>
                  <a:ea typeface="仿宋" pitchFamily="49" charset="-122"/>
                  <a:cs typeface="Consolas" pitchFamily="49" charset="0"/>
                </a:rPr>
                <a:t>i</a:t>
              </a:r>
              <a:r>
                <a:rPr lang="en-US" altLang="zh-CN" sz="1800">
                  <a:latin typeface="Consolas" pitchFamily="49" charset="0"/>
                  <a:ea typeface="仿宋" pitchFamily="49" charset="-122"/>
                  <a:cs typeface="Consolas" pitchFamily="49" charset="0"/>
                </a:rPr>
                <a:t>(</a:t>
              </a:r>
              <a:r>
                <a:rPr lang="en-US" altLang="zh-CN" sz="1800" err="1">
                  <a:latin typeface="Consolas" pitchFamily="49" charset="0"/>
                  <a:ea typeface="仿宋" pitchFamily="49" charset="-122"/>
                  <a:cs typeface="Consolas" pitchFamily="49" charset="0"/>
                </a:rPr>
                <a:t>2</a:t>
              </a:r>
              <a:r>
                <a:rPr lang="en-US" altLang="zh-CN" sz="1800" i="1" err="1">
                  <a:latin typeface="Consolas" pitchFamily="49" charset="0"/>
                  <a:ea typeface="仿宋" pitchFamily="49" charset="-122"/>
                  <a:cs typeface="Consolas" pitchFamily="49" charset="0"/>
                </a:rPr>
                <a:t>n</a:t>
              </a:r>
              <a:r>
                <a:rPr lang="en-US" altLang="zh-CN" sz="1800" err="1">
                  <a:latin typeface="Consolas" pitchFamily="49" charset="0"/>
                  <a:ea typeface="仿宋" pitchFamily="49" charset="-122"/>
                  <a:cs typeface="Consolas" pitchFamily="49" charset="0"/>
                </a:rPr>
                <a:t>-</a:t>
              </a:r>
              <a:r>
                <a:rPr lang="en-US" altLang="zh-CN" sz="1800" i="1" err="1">
                  <a:latin typeface="Consolas" pitchFamily="49" charset="0"/>
                  <a:ea typeface="仿宋" pitchFamily="49" charset="-122"/>
                  <a:cs typeface="Consolas" pitchFamily="49" charset="0"/>
                </a:rPr>
                <a:t>i</a:t>
              </a:r>
              <a:r>
                <a:rPr lang="en-US" altLang="zh-CN" sz="1800" err="1">
                  <a:latin typeface="Consolas" pitchFamily="49" charset="0"/>
                  <a:ea typeface="仿宋" pitchFamily="49" charset="-122"/>
                  <a:cs typeface="Consolas" pitchFamily="49" charset="0"/>
                </a:rPr>
                <a:t>+1</a:t>
              </a:r>
              <a:r>
                <a:rPr lang="en-US" altLang="zh-CN" sz="1800">
                  <a:latin typeface="Consolas" pitchFamily="49" charset="0"/>
                  <a:ea typeface="仿宋" pitchFamily="49" charset="-122"/>
                  <a:cs typeface="Consolas" pitchFamily="49" charset="0"/>
                </a:rPr>
                <a:t>)/</a:t>
              </a:r>
              <a:r>
                <a:rPr lang="en-US" altLang="zh-CN" sz="1800" err="1">
                  <a:latin typeface="Consolas" pitchFamily="49" charset="0"/>
                  <a:ea typeface="仿宋" pitchFamily="49" charset="-122"/>
                  <a:cs typeface="Consolas" pitchFamily="49" charset="0"/>
                </a:rPr>
                <a:t>2+</a:t>
              </a:r>
              <a:r>
                <a:rPr lang="en-US" altLang="zh-CN" sz="1800" i="1" err="1">
                  <a:latin typeface="Consolas" pitchFamily="49" charset="0"/>
                  <a:ea typeface="仿宋" pitchFamily="49" charset="-122"/>
                  <a:cs typeface="Consolas" pitchFamily="49" charset="0"/>
                </a:rPr>
                <a:t>j</a:t>
              </a:r>
              <a:r>
                <a:rPr lang="en-US" altLang="zh-CN" sz="1800" err="1">
                  <a:latin typeface="Consolas" pitchFamily="49" charset="0"/>
                  <a:ea typeface="仿宋" pitchFamily="49" charset="-122"/>
                  <a:cs typeface="Consolas" pitchFamily="49" charset="0"/>
                </a:rPr>
                <a:t>-</a:t>
              </a:r>
              <a:r>
                <a:rPr lang="en-US" altLang="zh-CN" sz="1800" i="1" err="1">
                  <a:latin typeface="Consolas" pitchFamily="49" charset="0"/>
                  <a:ea typeface="仿宋" pitchFamily="49" charset="-122"/>
                  <a:cs typeface="Consolas" pitchFamily="49" charset="0"/>
                </a:rPr>
                <a:t>i</a:t>
              </a:r>
              <a:r>
                <a:rPr lang="zh-CN" altLang="en-US" sz="1800">
                  <a:latin typeface="Consolas" pitchFamily="49" charset="0"/>
                  <a:ea typeface="仿宋" pitchFamily="49" charset="-122"/>
                  <a:cs typeface="Consolas" pitchFamily="49" charset="0"/>
                </a:rPr>
                <a:t>个元素</a:t>
              </a:r>
            </a:p>
          </p:txBody>
        </p:sp>
      </p:grpSp>
      <p:cxnSp>
        <p:nvCxnSpPr>
          <p:cNvPr id="99" name="直接连接符 98">
            <a:extLst>
              <a:ext uri="{FF2B5EF4-FFF2-40B4-BE49-F238E27FC236}">
                <a16:creationId xmlns:a16="http://schemas.microsoft.com/office/drawing/2014/main" id="{C6C86D70-2FD8-46DF-E2BF-991A37374BEA}"/>
              </a:ext>
            </a:extLst>
          </p:cNvPr>
          <p:cNvCxnSpPr/>
          <p:nvPr/>
        </p:nvCxnSpPr>
        <p:spPr>
          <a:xfrm flipV="1">
            <a:off x="5727180" y="2563161"/>
            <a:ext cx="642942" cy="357190"/>
          </a:xfrm>
          <a:prstGeom prst="line">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100" name="TextBox 81">
            <a:extLst>
              <a:ext uri="{FF2B5EF4-FFF2-40B4-BE49-F238E27FC236}">
                <a16:creationId xmlns:a16="http://schemas.microsoft.com/office/drawing/2014/main" id="{FB431EEC-A900-D4DE-59F5-BF5A864C3205}"/>
              </a:ext>
            </a:extLst>
          </p:cNvPr>
          <p:cNvSpPr txBox="1"/>
          <p:nvPr/>
        </p:nvSpPr>
        <p:spPr>
          <a:xfrm>
            <a:off x="6227246" y="2377365"/>
            <a:ext cx="857256" cy="369332"/>
          </a:xfrm>
          <a:prstGeom prst="rect">
            <a:avLst/>
          </a:prstGeom>
          <a:noFill/>
        </p:spPr>
        <p:txBody>
          <a:bodyPr wrap="square" rtlCol="0">
            <a:spAutoFit/>
          </a:bodyPr>
          <a:lstStyle/>
          <a:p>
            <a:r>
              <a:rPr kumimoji="1" lang="en-US" altLang="zh-CN" sz="1800" i="1" err="1">
                <a:latin typeface="Consolas" pitchFamily="49" charset="0"/>
                <a:cs typeface="Consolas" pitchFamily="49" charset="0"/>
              </a:rPr>
              <a:t>i</a:t>
            </a:r>
            <a:r>
              <a:rPr kumimoji="1" lang="en-US" altLang="zh-CN" sz="1800" err="1">
                <a:latin typeface="宋体" pitchFamily="2" charset="-122"/>
                <a:ea typeface="宋体" pitchFamily="2" charset="-122"/>
                <a:cs typeface="Consolas" pitchFamily="49" charset="0"/>
              </a:rPr>
              <a:t>≤</a:t>
            </a:r>
            <a:r>
              <a:rPr kumimoji="1" lang="en-US" altLang="zh-CN" sz="1800" i="1" err="1">
                <a:latin typeface="Consolas" pitchFamily="49" charset="0"/>
                <a:ea typeface="楷体" pitchFamily="49" charset="-122"/>
                <a:cs typeface="Consolas" pitchFamily="49" charset="0"/>
              </a:rPr>
              <a:t>j</a:t>
            </a:r>
            <a:endParaRPr lang="zh-CN" altLang="en-US" sz="1800">
              <a:latin typeface="Consolas" pitchFamily="49" charset="0"/>
              <a:cs typeface="Consolas" pitchFamily="49" charset="0"/>
            </a:endParaRPr>
          </a:p>
        </p:txBody>
      </p:sp>
      <p:sp>
        <p:nvSpPr>
          <p:cNvPr id="101" name="TextBox 69">
            <a:extLst>
              <a:ext uri="{FF2B5EF4-FFF2-40B4-BE49-F238E27FC236}">
                <a16:creationId xmlns:a16="http://schemas.microsoft.com/office/drawing/2014/main" id="{4D965F23-0341-7075-F165-A63A99DD5966}"/>
              </a:ext>
            </a:extLst>
          </p:cNvPr>
          <p:cNvSpPr txBox="1"/>
          <p:nvPr/>
        </p:nvSpPr>
        <p:spPr>
          <a:xfrm>
            <a:off x="583644" y="3875358"/>
            <a:ext cx="785818" cy="430887"/>
          </a:xfrm>
          <a:prstGeom prst="rect">
            <a:avLst/>
          </a:prstGeom>
          <a:noFill/>
        </p:spPr>
        <p:txBody>
          <a:bodyPr wrap="square" rtlCol="0">
            <a:spAutoFit/>
          </a:bodyPr>
          <a:lstStyle/>
          <a:p>
            <a:r>
              <a:rPr lang="en-US" altLang="zh-CN" sz="2200" i="1">
                <a:latin typeface="Consolas" pitchFamily="49" charset="0"/>
                <a:cs typeface="Consolas" pitchFamily="49" charset="0"/>
              </a:rPr>
              <a:t>B=</a:t>
            </a:r>
            <a:endParaRPr lang="zh-CN" altLang="en-US" sz="2200"/>
          </a:p>
        </p:txBody>
      </p:sp>
      <p:sp>
        <p:nvSpPr>
          <p:cNvPr id="102" name="下箭头 17">
            <a:extLst>
              <a:ext uri="{FF2B5EF4-FFF2-40B4-BE49-F238E27FC236}">
                <a16:creationId xmlns:a16="http://schemas.microsoft.com/office/drawing/2014/main" id="{87693EDB-7500-9841-950A-702EA9AFD52F}"/>
              </a:ext>
            </a:extLst>
          </p:cNvPr>
          <p:cNvSpPr/>
          <p:nvPr/>
        </p:nvSpPr>
        <p:spPr>
          <a:xfrm rot="10800000">
            <a:off x="8960089" y="4124743"/>
            <a:ext cx="285752" cy="1087260"/>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sz="1800">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316187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01"/>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5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10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9D0C3-01CF-568B-4E2C-A19653DF05E8}"/>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16A134FC-897A-347B-4D63-C56C18B8010A}"/>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3" name="Rectangle 2">
            <a:extLst>
              <a:ext uri="{FF2B5EF4-FFF2-40B4-BE49-F238E27FC236}">
                <a16:creationId xmlns:a16="http://schemas.microsoft.com/office/drawing/2014/main" id="{F418D911-DA82-5779-19E4-DE7FC1537C45}"/>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A5A13315-CABE-DC60-30B0-79F37D9488F2}"/>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F5788D4C-50FC-8D72-6B95-789BA5BF4334}"/>
              </a:ext>
            </a:extLst>
          </p:cNvPr>
          <p:cNvSpPr/>
          <p:nvPr/>
        </p:nvSpPr>
        <p:spPr>
          <a:xfrm>
            <a:off x="1055440" y="1683955"/>
            <a:ext cx="10729192" cy="707886"/>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）三角矩阵：上</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下</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三角矩阵是指矩阵的下（上）三角（不包括对角线）中的元素均为常数或零的</a:t>
            </a:r>
            <a:r>
              <a:rPr lang="en-US" altLang="zh-CN" sz="2000" dirty="0">
                <a:latin typeface="微软雅黑" pitchFamily="34" charset="-122"/>
                <a:ea typeface="微软雅黑" pitchFamily="34" charset="-122"/>
                <a:cs typeface="经典粗黑简" pitchFamily="49" charset="-122"/>
              </a:rPr>
              <a:t>n</a:t>
            </a:r>
            <a:r>
              <a:rPr lang="zh-CN" altLang="en-US" sz="2000" dirty="0">
                <a:latin typeface="微软雅黑" pitchFamily="34" charset="-122"/>
                <a:ea typeface="微软雅黑" pitchFamily="34" charset="-122"/>
                <a:cs typeface="经典粗黑简" pitchFamily="49" charset="-122"/>
              </a:rPr>
              <a:t>阶矩阵，即非零元素的分布在矩阵中呈现为三角形。</a:t>
            </a:r>
          </a:p>
        </p:txBody>
      </p:sp>
      <p:sp>
        <p:nvSpPr>
          <p:cNvPr id="6" name="Text Box 2">
            <a:extLst>
              <a:ext uri="{FF2B5EF4-FFF2-40B4-BE49-F238E27FC236}">
                <a16:creationId xmlns:a16="http://schemas.microsoft.com/office/drawing/2014/main" id="{23B35B56-CEF6-832B-471F-AA132E175A95}"/>
              </a:ext>
            </a:extLst>
          </p:cNvPr>
          <p:cNvSpPr txBox="1">
            <a:spLocks noChangeArrowheads="1"/>
          </p:cNvSpPr>
          <p:nvPr/>
        </p:nvSpPr>
        <p:spPr bwMode="auto">
          <a:xfrm>
            <a:off x="1073771" y="2419984"/>
            <a:ext cx="2565400" cy="400110"/>
          </a:xfrm>
          <a:prstGeom prst="rect">
            <a:avLst/>
          </a:prstGeom>
          <a:noFill/>
          <a:ln w="9525">
            <a:noFill/>
            <a:miter lim="800000"/>
            <a:headEnd/>
            <a:tailEnd/>
          </a:ln>
          <a:effectLst/>
        </p:spPr>
        <p:txBody>
          <a:bodyPr>
            <a:spAutoFit/>
          </a:bodyPr>
          <a:lstStyle/>
          <a:p>
            <a:pPr algn="l">
              <a:spcBef>
                <a:spcPct val="50000"/>
              </a:spcBef>
              <a:buBlip>
                <a:blip r:embed="rId2"/>
              </a:buBlip>
            </a:pPr>
            <a:r>
              <a:rPr kumimoji="1" lang="en-US" altLang="zh-CN" sz="2000" dirty="0">
                <a:solidFill>
                  <a:srgbClr val="FF0000"/>
                </a:solidFill>
                <a:latin typeface="微软雅黑" pitchFamily="34" charset="-122"/>
                <a:ea typeface="微软雅黑" pitchFamily="34" charset="-122"/>
                <a:cs typeface="Consolas" pitchFamily="49" charset="0"/>
              </a:rPr>
              <a:t>  </a:t>
            </a:r>
            <a:r>
              <a:rPr kumimoji="1" lang="zh-CN" altLang="en-US" sz="2000" dirty="0">
                <a:solidFill>
                  <a:srgbClr val="FF0000"/>
                </a:solidFill>
                <a:latin typeface="微软雅黑" pitchFamily="34" charset="-122"/>
                <a:ea typeface="微软雅黑" pitchFamily="34" charset="-122"/>
                <a:cs typeface="Consolas" pitchFamily="49" charset="0"/>
              </a:rPr>
              <a:t>下三角矩阵</a:t>
            </a:r>
            <a:endParaRPr kumimoji="1" lang="zh-CN" altLang="en-US" sz="2000" b="0" dirty="0">
              <a:solidFill>
                <a:schemeClr val="tx1"/>
              </a:solidFill>
              <a:latin typeface="微软雅黑" pitchFamily="34" charset="-122"/>
              <a:ea typeface="微软雅黑" pitchFamily="34" charset="-122"/>
              <a:cs typeface="Consolas" pitchFamily="49" charset="0"/>
            </a:endParaRPr>
          </a:p>
        </p:txBody>
      </p:sp>
      <p:grpSp>
        <p:nvGrpSpPr>
          <p:cNvPr id="7" name="组合 62">
            <a:extLst>
              <a:ext uri="{FF2B5EF4-FFF2-40B4-BE49-F238E27FC236}">
                <a16:creationId xmlns:a16="http://schemas.microsoft.com/office/drawing/2014/main" id="{DFAD184D-A66C-7386-03DF-1DD9FC348AD6}"/>
              </a:ext>
            </a:extLst>
          </p:cNvPr>
          <p:cNvGrpSpPr/>
          <p:nvPr/>
        </p:nvGrpSpPr>
        <p:grpSpPr>
          <a:xfrm>
            <a:off x="689647" y="4078940"/>
            <a:ext cx="7286676" cy="1543118"/>
            <a:chOff x="714348" y="1681451"/>
            <a:chExt cx="7286676" cy="1543118"/>
          </a:xfrm>
        </p:grpSpPr>
        <p:sp>
          <p:nvSpPr>
            <p:cNvPr id="8" name="TextBox 20">
              <a:extLst>
                <a:ext uri="{FF2B5EF4-FFF2-40B4-BE49-F238E27FC236}">
                  <a16:creationId xmlns:a16="http://schemas.microsoft.com/office/drawing/2014/main" id="{210A0039-28F4-605B-CA0E-5491DA9EE783}"/>
                </a:ext>
              </a:extLst>
            </p:cNvPr>
            <p:cNvSpPr txBox="1"/>
            <p:nvPr/>
          </p:nvSpPr>
          <p:spPr>
            <a:xfrm>
              <a:off x="714348" y="2824459"/>
              <a:ext cx="7286676" cy="400110"/>
            </a:xfrm>
            <a:prstGeom prst="rect">
              <a:avLst/>
            </a:prstGeom>
            <a:noFill/>
          </p:spPr>
          <p:txBody>
            <a:bodyPr wrap="square" rtlCol="0">
              <a:spAutoFit/>
            </a:bodyPr>
            <a:lstStyle/>
            <a:p>
              <a:r>
                <a:rPr lang="en-US" altLang="zh-CN" sz="2000" i="1">
                  <a:latin typeface="Consolas" pitchFamily="49" charset="0"/>
                  <a:cs typeface="Consolas" pitchFamily="49" charset="0"/>
                </a:rPr>
                <a:t>B=</a:t>
              </a:r>
              <a:r>
                <a:rPr lang="zh-CN" altLang="en-US" sz="2000">
                  <a:latin typeface="Consolas" pitchFamily="49" charset="0"/>
                  <a:cs typeface="Consolas" pitchFamily="49" charset="0"/>
                </a:rPr>
                <a:t>（</a:t>
              </a:r>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0,0</a:t>
              </a:r>
              <a:r>
                <a:rPr lang="zh-CN" altLang="en-US" sz="2000">
                  <a:latin typeface="Consolas" pitchFamily="49" charset="0"/>
                  <a:cs typeface="Consolas" pitchFamily="49" charset="0"/>
                </a:rPr>
                <a:t>，</a:t>
              </a:r>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1,0</a:t>
              </a:r>
              <a:r>
                <a:rPr lang="zh-CN" altLang="en-US" sz="2000">
                  <a:latin typeface="Consolas" pitchFamily="49" charset="0"/>
                  <a:cs typeface="Consolas" pitchFamily="49" charset="0"/>
                </a:rPr>
                <a:t>，</a:t>
              </a:r>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1,1</a:t>
              </a:r>
              <a:r>
                <a:rPr lang="zh-CN" altLang="en-US" sz="2000">
                  <a:latin typeface="Consolas" pitchFamily="49" charset="0"/>
                  <a:cs typeface="Consolas" pitchFamily="49" charset="0"/>
                </a:rPr>
                <a:t>，</a:t>
              </a:r>
              <a:r>
                <a:rPr lang="zh-CN" altLang="en-US" sz="2000">
                  <a:latin typeface="Consolas" pitchFamily="49" charset="0"/>
                  <a:cs typeface="Consolas" pitchFamily="49" charset="0"/>
                  <a:sym typeface="Symbol"/>
                </a:rPr>
                <a:t>，</a:t>
              </a:r>
              <a:r>
                <a:rPr lang="en-US" altLang="zh-CN" sz="2000" i="1">
                  <a:latin typeface="Consolas" pitchFamily="49" charset="0"/>
                  <a:cs typeface="Consolas" pitchFamily="49" charset="0"/>
                  <a:sym typeface="Symbol"/>
                </a:rPr>
                <a:t>a</a:t>
              </a:r>
              <a:r>
                <a:rPr lang="en-US" altLang="zh-CN" sz="2000" i="1" baseline="-25000">
                  <a:latin typeface="Consolas" pitchFamily="49" charset="0"/>
                  <a:cs typeface="Consolas" pitchFamily="49" charset="0"/>
                  <a:sym typeface="Symbol"/>
                </a:rPr>
                <a:t>n</a:t>
              </a:r>
              <a:r>
                <a:rPr lang="en-US" altLang="zh-CN" sz="2000" baseline="-25000">
                  <a:latin typeface="Consolas" pitchFamily="49" charset="0"/>
                  <a:cs typeface="Consolas" pitchFamily="49" charset="0"/>
                  <a:sym typeface="Symbol"/>
                </a:rPr>
                <a:t>-1,0</a:t>
              </a:r>
              <a:r>
                <a:rPr lang="zh-CN" altLang="en-US" sz="2000">
                  <a:latin typeface="Consolas" pitchFamily="49" charset="0"/>
                  <a:cs typeface="Consolas" pitchFamily="49" charset="0"/>
                  <a:sym typeface="Symbol"/>
                </a:rPr>
                <a:t>，</a:t>
              </a:r>
              <a:r>
                <a:rPr lang="en-US" altLang="zh-CN" sz="2000" i="1">
                  <a:latin typeface="Consolas" pitchFamily="49" charset="0"/>
                  <a:cs typeface="Consolas" pitchFamily="49" charset="0"/>
                  <a:sym typeface="Symbol"/>
                </a:rPr>
                <a:t>a</a:t>
              </a:r>
              <a:r>
                <a:rPr lang="en-US" altLang="zh-CN" sz="2000" i="1" baseline="-25000">
                  <a:latin typeface="Consolas" pitchFamily="49" charset="0"/>
                  <a:cs typeface="Consolas" pitchFamily="49" charset="0"/>
                  <a:sym typeface="Symbol"/>
                </a:rPr>
                <a:t>n</a:t>
              </a:r>
              <a:r>
                <a:rPr lang="en-US" altLang="zh-CN" sz="2000" baseline="-25000">
                  <a:latin typeface="Consolas" pitchFamily="49" charset="0"/>
                  <a:cs typeface="Consolas" pitchFamily="49" charset="0"/>
                  <a:sym typeface="Symbol"/>
                </a:rPr>
                <a:t>-1,1</a:t>
              </a:r>
              <a:r>
                <a:rPr lang="zh-CN" altLang="en-US" sz="2000">
                  <a:latin typeface="Consolas" pitchFamily="49" charset="0"/>
                  <a:cs typeface="Consolas" pitchFamily="49" charset="0"/>
                  <a:sym typeface="Symbol"/>
                </a:rPr>
                <a:t>， ，</a:t>
              </a:r>
              <a:r>
                <a:rPr lang="en-US" altLang="zh-CN" sz="2000" i="1">
                  <a:latin typeface="Consolas" pitchFamily="49" charset="0"/>
                  <a:cs typeface="Consolas" pitchFamily="49" charset="0"/>
                  <a:sym typeface="Symbol"/>
                </a:rPr>
                <a:t>a</a:t>
              </a:r>
              <a:r>
                <a:rPr lang="en-US" altLang="zh-CN" sz="2000" i="1" baseline="-25000">
                  <a:latin typeface="Consolas" pitchFamily="49" charset="0"/>
                  <a:cs typeface="Consolas" pitchFamily="49" charset="0"/>
                  <a:sym typeface="Symbol"/>
                </a:rPr>
                <a:t>n</a:t>
              </a:r>
              <a:r>
                <a:rPr lang="en-US" altLang="zh-CN" sz="2000" baseline="-25000">
                  <a:latin typeface="Consolas" pitchFamily="49" charset="0"/>
                  <a:cs typeface="Consolas" pitchFamily="49" charset="0"/>
                  <a:sym typeface="Symbol"/>
                </a:rPr>
                <a:t>-</a:t>
              </a:r>
              <a:r>
                <a:rPr lang="en-US" altLang="zh-CN" sz="2000" baseline="-25000" err="1">
                  <a:latin typeface="Consolas" pitchFamily="49" charset="0"/>
                  <a:cs typeface="Consolas" pitchFamily="49" charset="0"/>
                  <a:sym typeface="Symbol"/>
                </a:rPr>
                <a:t>1,</a:t>
              </a:r>
              <a:r>
                <a:rPr lang="en-US" altLang="zh-CN" sz="2000" i="1" baseline="-25000" err="1">
                  <a:latin typeface="Consolas" pitchFamily="49" charset="0"/>
                  <a:cs typeface="Consolas" pitchFamily="49" charset="0"/>
                  <a:sym typeface="Symbol"/>
                </a:rPr>
                <a:t>n</a:t>
              </a:r>
              <a:r>
                <a:rPr lang="en-US" altLang="zh-CN" sz="2000" baseline="-25000">
                  <a:latin typeface="Consolas" pitchFamily="49" charset="0"/>
                  <a:cs typeface="Consolas" pitchFamily="49" charset="0"/>
                  <a:sym typeface="Symbol"/>
                </a:rPr>
                <a:t>-1</a:t>
              </a:r>
              <a:r>
                <a:rPr lang="zh-CN" altLang="en-US" sz="2000">
                  <a:latin typeface="Consolas" pitchFamily="49" charset="0"/>
                  <a:cs typeface="Consolas" pitchFamily="49" charset="0"/>
                  <a:sym typeface="Symbol"/>
                </a:rPr>
                <a:t>）</a:t>
              </a:r>
              <a:endParaRPr lang="zh-CN" altLang="en-US" sz="2000">
                <a:latin typeface="Consolas" pitchFamily="49" charset="0"/>
                <a:cs typeface="Consolas" pitchFamily="49" charset="0"/>
              </a:endParaRPr>
            </a:p>
          </p:txBody>
        </p:sp>
        <p:grpSp>
          <p:nvGrpSpPr>
            <p:cNvPr id="9" name="组合 59">
              <a:extLst>
                <a:ext uri="{FF2B5EF4-FFF2-40B4-BE49-F238E27FC236}">
                  <a16:creationId xmlns:a16="http://schemas.microsoft.com/office/drawing/2014/main" id="{C3DF2998-B919-794A-CC4E-DB7F6F8114C9}"/>
                </a:ext>
              </a:extLst>
            </p:cNvPr>
            <p:cNvGrpSpPr/>
            <p:nvPr/>
          </p:nvGrpSpPr>
          <p:grpSpPr>
            <a:xfrm>
              <a:off x="5929322" y="1681451"/>
              <a:ext cx="1000132" cy="1318921"/>
              <a:chOff x="5929322" y="1681451"/>
              <a:chExt cx="1000132" cy="1318921"/>
            </a:xfrm>
          </p:grpSpPr>
          <p:sp>
            <p:nvSpPr>
              <p:cNvPr id="10" name="右弧形箭头 21">
                <a:extLst>
                  <a:ext uri="{FF2B5EF4-FFF2-40B4-BE49-F238E27FC236}">
                    <a16:creationId xmlns:a16="http://schemas.microsoft.com/office/drawing/2014/main" id="{D644593C-CC2A-44DD-728E-E5DDFCDFBB0E}"/>
                  </a:ext>
                </a:extLst>
              </p:cNvPr>
              <p:cNvSpPr/>
              <p:nvPr/>
            </p:nvSpPr>
            <p:spPr>
              <a:xfrm>
                <a:off x="5929322" y="2000240"/>
                <a:ext cx="285752" cy="1000132"/>
              </a:xfrm>
              <a:prstGeom prst="curved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schemeClr val="tx1"/>
                  </a:solidFill>
                  <a:latin typeface="Consolas" pitchFamily="49" charset="0"/>
                  <a:cs typeface="Consolas" pitchFamily="49" charset="0"/>
                </a:endParaRPr>
              </a:p>
            </p:txBody>
          </p:sp>
          <p:sp>
            <p:nvSpPr>
              <p:cNvPr id="11" name="TextBox 22">
                <a:extLst>
                  <a:ext uri="{FF2B5EF4-FFF2-40B4-BE49-F238E27FC236}">
                    <a16:creationId xmlns:a16="http://schemas.microsoft.com/office/drawing/2014/main" id="{A246DECE-40BC-6CA5-2830-810FDE44E95A}"/>
                  </a:ext>
                </a:extLst>
              </p:cNvPr>
              <p:cNvSpPr txBox="1"/>
              <p:nvPr/>
            </p:nvSpPr>
            <p:spPr>
              <a:xfrm>
                <a:off x="6072198" y="1681451"/>
                <a:ext cx="857256" cy="400110"/>
              </a:xfrm>
              <a:prstGeom prst="rect">
                <a:avLst/>
              </a:prstGeom>
              <a:noFill/>
            </p:spPr>
            <p:txBody>
              <a:bodyPr wrap="square" rtlCol="0">
                <a:spAutoFit/>
              </a:bodyPr>
              <a:lstStyle/>
              <a:p>
                <a:r>
                  <a:rPr lang="en-US" altLang="zh-CN" sz="2000" i="1" err="1">
                    <a:solidFill>
                      <a:srgbClr val="FF0000"/>
                    </a:solidFill>
                    <a:latin typeface="Consolas" pitchFamily="49" charset="0"/>
                    <a:cs typeface="Consolas" pitchFamily="49" charset="0"/>
                  </a:rPr>
                  <a:t>a</a:t>
                </a:r>
                <a:r>
                  <a:rPr lang="en-US" altLang="zh-CN" sz="2000" i="1" baseline="-25000" err="1">
                    <a:solidFill>
                      <a:srgbClr val="FF0000"/>
                    </a:solidFill>
                    <a:latin typeface="Consolas" pitchFamily="49" charset="0"/>
                    <a:cs typeface="Consolas" pitchFamily="49" charset="0"/>
                  </a:rPr>
                  <a:t>i,j</a:t>
                </a:r>
                <a:endParaRPr lang="zh-CN" altLang="en-US" sz="2000" i="1" baseline="-25000">
                  <a:solidFill>
                    <a:srgbClr val="FF0000"/>
                  </a:solidFill>
                  <a:latin typeface="Consolas" pitchFamily="49" charset="0"/>
                  <a:cs typeface="Consolas" pitchFamily="49" charset="0"/>
                </a:endParaRPr>
              </a:p>
            </p:txBody>
          </p:sp>
          <p:sp>
            <p:nvSpPr>
              <p:cNvPr id="12" name="TextBox 23">
                <a:extLst>
                  <a:ext uri="{FF2B5EF4-FFF2-40B4-BE49-F238E27FC236}">
                    <a16:creationId xmlns:a16="http://schemas.microsoft.com/office/drawing/2014/main" id="{EC53C6BE-A259-AC93-8BEB-08B06E1007B3}"/>
                  </a:ext>
                </a:extLst>
              </p:cNvPr>
              <p:cNvSpPr txBox="1"/>
              <p:nvPr/>
            </p:nvSpPr>
            <p:spPr>
              <a:xfrm>
                <a:off x="6143636" y="2467269"/>
                <a:ext cx="571504" cy="400110"/>
              </a:xfrm>
              <a:prstGeom prst="rect">
                <a:avLst/>
              </a:prstGeom>
              <a:noFill/>
            </p:spPr>
            <p:txBody>
              <a:bodyPr wrap="square" rtlCol="0">
                <a:spAutoFit/>
              </a:bodyPr>
              <a:lstStyle/>
              <a:p>
                <a:r>
                  <a:rPr lang="en-US" altLang="zh-CN" sz="2000" i="1" err="1">
                    <a:solidFill>
                      <a:srgbClr val="FF0000"/>
                    </a:solidFill>
                    <a:latin typeface="Consolas" pitchFamily="49" charset="0"/>
                    <a:cs typeface="Consolas" pitchFamily="49" charset="0"/>
                  </a:rPr>
                  <a:t>b</a:t>
                </a:r>
                <a:r>
                  <a:rPr lang="en-US" altLang="zh-CN" sz="2000" i="1" baseline="-25000" err="1">
                    <a:solidFill>
                      <a:srgbClr val="FF0000"/>
                    </a:solidFill>
                    <a:latin typeface="Consolas" pitchFamily="49" charset="0"/>
                    <a:cs typeface="Consolas" pitchFamily="49" charset="0"/>
                  </a:rPr>
                  <a:t>k</a:t>
                </a:r>
                <a:endParaRPr lang="zh-CN" altLang="en-US" sz="2000" i="1" baseline="-25000">
                  <a:solidFill>
                    <a:srgbClr val="FF0000"/>
                  </a:solidFill>
                  <a:latin typeface="Consolas" pitchFamily="49" charset="0"/>
                  <a:cs typeface="Consolas" pitchFamily="49" charset="0"/>
                </a:endParaRPr>
              </a:p>
            </p:txBody>
          </p:sp>
        </p:grpSp>
      </p:grpSp>
      <p:graphicFrame>
        <p:nvGraphicFramePr>
          <p:cNvPr id="13" name="对象 12">
            <a:extLst>
              <a:ext uri="{FF2B5EF4-FFF2-40B4-BE49-F238E27FC236}">
                <a16:creationId xmlns:a16="http://schemas.microsoft.com/office/drawing/2014/main" id="{D946C5DB-8463-02DD-17F2-BB3A36E0E1EC}"/>
              </a:ext>
            </a:extLst>
          </p:cNvPr>
          <p:cNvGraphicFramePr>
            <a:graphicFrameLocks noChangeAspect="1"/>
          </p:cNvGraphicFramePr>
          <p:nvPr>
            <p:extLst>
              <p:ext uri="{D42A27DB-BD31-4B8C-83A1-F6EECF244321}">
                <p14:modId xmlns:p14="http://schemas.microsoft.com/office/powerpoint/2010/main" val="1681540185"/>
              </p:ext>
            </p:extLst>
          </p:nvPr>
        </p:nvGraphicFramePr>
        <p:xfrm>
          <a:off x="4496499" y="5731239"/>
          <a:ext cx="101600" cy="190500"/>
        </p:xfrm>
        <a:graphic>
          <a:graphicData uri="http://schemas.openxmlformats.org/presentationml/2006/ole">
            <mc:AlternateContent xmlns:mc="http://schemas.openxmlformats.org/markup-compatibility/2006">
              <mc:Choice xmlns:v="urn:schemas-microsoft-com:vml" Requires="v">
                <p:oleObj name="Equation" r:id="rId3" imgW="101520" imgH="190440" progId="">
                  <p:embed/>
                </p:oleObj>
              </mc:Choice>
              <mc:Fallback>
                <p:oleObj name="Equation" r:id="rId3" imgW="101520" imgH="190440" progId="">
                  <p:embed/>
                  <p:pic>
                    <p:nvPicPr>
                      <p:cNvPr id="19" name="对象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6499" y="5731239"/>
                        <a:ext cx="101600" cy="19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 name="组合 38">
            <a:extLst>
              <a:ext uri="{FF2B5EF4-FFF2-40B4-BE49-F238E27FC236}">
                <a16:creationId xmlns:a16="http://schemas.microsoft.com/office/drawing/2014/main" id="{DCCB5492-8249-44E2-F1F9-F5215E62333D}"/>
              </a:ext>
            </a:extLst>
          </p:cNvPr>
          <p:cNvGrpSpPr/>
          <p:nvPr/>
        </p:nvGrpSpPr>
        <p:grpSpPr>
          <a:xfrm>
            <a:off x="7536160" y="4179233"/>
            <a:ext cx="5629268" cy="2085429"/>
            <a:chOff x="2305064" y="4143380"/>
            <a:chExt cx="5629268" cy="2085429"/>
          </a:xfrm>
        </p:grpSpPr>
        <p:sp>
          <p:nvSpPr>
            <p:cNvPr id="15" name="Line 14">
              <a:extLst>
                <a:ext uri="{FF2B5EF4-FFF2-40B4-BE49-F238E27FC236}">
                  <a16:creationId xmlns:a16="http://schemas.microsoft.com/office/drawing/2014/main" id="{D267B946-0610-BD37-BF50-CBE7A119A4F9}"/>
                </a:ext>
              </a:extLst>
            </p:cNvPr>
            <p:cNvSpPr>
              <a:spLocks noChangeShapeType="1"/>
            </p:cNvSpPr>
            <p:nvPr/>
          </p:nvSpPr>
          <p:spPr bwMode="auto">
            <a:xfrm flipH="1" flipV="1">
              <a:off x="4338651" y="5572140"/>
              <a:ext cx="647700" cy="360362"/>
            </a:xfrm>
            <a:prstGeom prst="line">
              <a:avLst/>
            </a:prstGeom>
            <a:noFill/>
            <a:ln w="28575">
              <a:solidFill>
                <a:srgbClr val="9900FF"/>
              </a:solidFill>
              <a:miter lim="800000"/>
              <a:headEnd/>
              <a:tailEnd type="triangle" w="med" len="me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16" name="Text Box 15">
              <a:extLst>
                <a:ext uri="{FF2B5EF4-FFF2-40B4-BE49-F238E27FC236}">
                  <a16:creationId xmlns:a16="http://schemas.microsoft.com/office/drawing/2014/main" id="{DCCDB517-5AFB-C1A3-31E1-72E3B3FDC9D4}"/>
                </a:ext>
              </a:extLst>
            </p:cNvPr>
            <p:cNvSpPr txBox="1">
              <a:spLocks noChangeArrowheads="1"/>
            </p:cNvSpPr>
            <p:nvPr/>
          </p:nvSpPr>
          <p:spPr bwMode="auto">
            <a:xfrm>
              <a:off x="4627576" y="5859477"/>
              <a:ext cx="1873250" cy="369332"/>
            </a:xfrm>
            <a:prstGeom prst="rect">
              <a:avLst/>
            </a:prstGeom>
            <a:noFill/>
            <a:ln w="9525">
              <a:noFill/>
              <a:miter lim="800000"/>
              <a:headEnd/>
              <a:tailEnd/>
            </a:ln>
            <a:effectLst/>
          </p:spPr>
          <p:txBody>
            <a:bodyPr>
              <a:spAutoFit/>
            </a:bodyPr>
            <a:lstStyle/>
            <a:p>
              <a:pPr algn="l">
                <a:spcBef>
                  <a:spcPct val="50000"/>
                </a:spcBef>
              </a:pPr>
              <a:r>
                <a:rPr lang="zh-CN" altLang="en-US" sz="1800">
                  <a:latin typeface="Consolas" pitchFamily="49" charset="0"/>
                  <a:ea typeface="仿宋" pitchFamily="49" charset="-122"/>
                  <a:cs typeface="Consolas" pitchFamily="49" charset="0"/>
                </a:rPr>
                <a:t>存放一个常量</a:t>
              </a:r>
              <a:r>
                <a:rPr lang="en-US" altLang="zh-CN" sz="1800" i="1">
                  <a:latin typeface="Consolas" pitchFamily="49" charset="0"/>
                  <a:ea typeface="仿宋" pitchFamily="49" charset="-122"/>
                  <a:cs typeface="Consolas" pitchFamily="49" charset="0"/>
                </a:rPr>
                <a:t>c</a:t>
              </a:r>
            </a:p>
          </p:txBody>
        </p:sp>
        <p:sp>
          <p:nvSpPr>
            <p:cNvPr id="18" name="Text Box 10">
              <a:extLst>
                <a:ext uri="{FF2B5EF4-FFF2-40B4-BE49-F238E27FC236}">
                  <a16:creationId xmlns:a16="http://schemas.microsoft.com/office/drawing/2014/main" id="{C5B861E7-87D7-5B21-7489-A89ACB1F77D0}"/>
                </a:ext>
              </a:extLst>
            </p:cNvPr>
            <p:cNvSpPr txBox="1">
              <a:spLocks noChangeArrowheads="1"/>
            </p:cNvSpPr>
            <p:nvPr/>
          </p:nvSpPr>
          <p:spPr bwMode="auto">
            <a:xfrm>
              <a:off x="2305064" y="4716478"/>
              <a:ext cx="609600" cy="369332"/>
            </a:xfrm>
            <a:prstGeom prst="rect">
              <a:avLst/>
            </a:prstGeom>
            <a:noFill/>
            <a:ln w="9525">
              <a:noFill/>
              <a:miter lim="800000"/>
              <a:headEnd/>
              <a:tailEnd/>
            </a:ln>
            <a:effectLst/>
          </p:spPr>
          <p:txBody>
            <a:bodyPr>
              <a:spAutoFit/>
            </a:bodyPr>
            <a:lstStyle/>
            <a:p>
              <a:pPr algn="l">
                <a:spcBef>
                  <a:spcPct val="50000"/>
                </a:spcBef>
              </a:pPr>
              <a:r>
                <a:rPr kumimoji="1" lang="en-US" altLang="zh-CN" sz="1800" i="1" dirty="0">
                  <a:latin typeface="Consolas" pitchFamily="49" charset="0"/>
                  <a:ea typeface="仿宋" pitchFamily="49" charset="-122"/>
                  <a:cs typeface="Consolas" pitchFamily="49" charset="0"/>
                </a:rPr>
                <a:t>k</a:t>
              </a:r>
              <a:r>
                <a:rPr kumimoji="1" lang="en-US" altLang="zh-CN" sz="1800" dirty="0">
                  <a:latin typeface="Consolas" pitchFamily="49" charset="0"/>
                  <a:ea typeface="仿宋" pitchFamily="49" charset="-122"/>
                  <a:cs typeface="Consolas" pitchFamily="49" charset="0"/>
                </a:rPr>
                <a:t>=</a:t>
              </a:r>
            </a:p>
          </p:txBody>
        </p:sp>
        <p:sp>
          <p:nvSpPr>
            <p:cNvPr id="19" name="Text Box 11">
              <a:extLst>
                <a:ext uri="{FF2B5EF4-FFF2-40B4-BE49-F238E27FC236}">
                  <a16:creationId xmlns:a16="http://schemas.microsoft.com/office/drawing/2014/main" id="{A83718F0-4CD0-A5EA-4462-330E7C743A33}"/>
                </a:ext>
              </a:extLst>
            </p:cNvPr>
            <p:cNvSpPr txBox="1">
              <a:spLocks noChangeArrowheads="1"/>
            </p:cNvSpPr>
            <p:nvPr/>
          </p:nvSpPr>
          <p:spPr bwMode="auto">
            <a:xfrm>
              <a:off x="5214942" y="4335478"/>
              <a:ext cx="1362068" cy="3693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a:solidFill>
                    <a:srgbClr val="00B0F0"/>
                  </a:solidFill>
                  <a:latin typeface="Consolas" pitchFamily="49" charset="0"/>
                  <a:ea typeface="仿宋" pitchFamily="49" charset="-122"/>
                  <a:cs typeface="Consolas" pitchFamily="49" charset="0"/>
                </a:rPr>
                <a:t>当</a:t>
              </a:r>
              <a:r>
                <a:rPr kumimoji="1" lang="en-US" altLang="zh-CN" sz="1800" i="1">
                  <a:solidFill>
                    <a:srgbClr val="00B0F0"/>
                  </a:solidFill>
                  <a:latin typeface="Consolas" pitchFamily="49" charset="0"/>
                  <a:ea typeface="仿宋" pitchFamily="49" charset="-122"/>
                  <a:cs typeface="Consolas" pitchFamily="49" charset="0"/>
                </a:rPr>
                <a:t>i</a:t>
              </a:r>
              <a:r>
                <a:rPr kumimoji="1" lang="en-US" altLang="zh-CN" sz="1800" err="1">
                  <a:solidFill>
                    <a:srgbClr val="00B0F0"/>
                  </a:solidFill>
                  <a:latin typeface="宋体" pitchFamily="2" charset="-122"/>
                  <a:ea typeface="宋体" pitchFamily="2" charset="-122"/>
                  <a:cs typeface="Consolas" pitchFamily="49" charset="0"/>
                </a:rPr>
                <a:t>≥</a:t>
              </a:r>
              <a:r>
                <a:rPr kumimoji="1" lang="en-US" altLang="zh-CN" sz="1800" i="1" err="1">
                  <a:solidFill>
                    <a:srgbClr val="00B0F0"/>
                  </a:solidFill>
                  <a:latin typeface="Consolas" pitchFamily="49" charset="0"/>
                  <a:ea typeface="仿宋" pitchFamily="49" charset="-122"/>
                  <a:cs typeface="Consolas" pitchFamily="49" charset="0"/>
                </a:rPr>
                <a:t>j</a:t>
              </a:r>
              <a:r>
                <a:rPr kumimoji="1" lang="zh-CN" altLang="en-US" sz="1800">
                  <a:solidFill>
                    <a:srgbClr val="00B0F0"/>
                  </a:solidFill>
                  <a:latin typeface="Consolas" pitchFamily="49" charset="0"/>
                  <a:ea typeface="仿宋" pitchFamily="49" charset="-122"/>
                  <a:cs typeface="Consolas" pitchFamily="49" charset="0"/>
                </a:rPr>
                <a:t>时</a:t>
              </a:r>
            </a:p>
          </p:txBody>
        </p:sp>
        <p:sp>
          <p:nvSpPr>
            <p:cNvPr id="23" name="Text Box 13">
              <a:extLst>
                <a:ext uri="{FF2B5EF4-FFF2-40B4-BE49-F238E27FC236}">
                  <a16:creationId xmlns:a16="http://schemas.microsoft.com/office/drawing/2014/main" id="{FFA3841A-1455-ADEA-A225-E55CE46F5935}"/>
                </a:ext>
              </a:extLst>
            </p:cNvPr>
            <p:cNvSpPr txBox="1">
              <a:spLocks noChangeArrowheads="1"/>
            </p:cNvSpPr>
            <p:nvPr/>
          </p:nvSpPr>
          <p:spPr bwMode="auto">
            <a:xfrm>
              <a:off x="5214942" y="5021278"/>
              <a:ext cx="2719390" cy="3693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a:solidFill>
                    <a:srgbClr val="00B0F0"/>
                  </a:solidFill>
                  <a:latin typeface="Consolas" pitchFamily="49" charset="0"/>
                  <a:ea typeface="仿宋" pitchFamily="49" charset="-122"/>
                  <a:cs typeface="Consolas" pitchFamily="49" charset="0"/>
                </a:rPr>
                <a:t>当</a:t>
              </a:r>
              <a:r>
                <a:rPr kumimoji="1" lang="en-US" altLang="zh-CN" sz="1800" i="1">
                  <a:solidFill>
                    <a:srgbClr val="00B0F0"/>
                  </a:solidFill>
                  <a:latin typeface="Consolas" pitchFamily="49" charset="0"/>
                  <a:ea typeface="仿宋" pitchFamily="49" charset="-122"/>
                  <a:cs typeface="Consolas" pitchFamily="49" charset="0"/>
                </a:rPr>
                <a:t>i</a:t>
              </a:r>
              <a:r>
                <a:rPr kumimoji="1" lang="en-US" altLang="zh-CN" sz="1800">
                  <a:solidFill>
                    <a:srgbClr val="00B0F0"/>
                  </a:solidFill>
                  <a:latin typeface="Consolas" pitchFamily="49" charset="0"/>
                  <a:ea typeface="仿宋" pitchFamily="49" charset="-122"/>
                  <a:cs typeface="Consolas" pitchFamily="49" charset="0"/>
                </a:rPr>
                <a:t>&lt;</a:t>
              </a:r>
              <a:r>
                <a:rPr kumimoji="1" lang="en-US" altLang="zh-CN" sz="1800" i="1">
                  <a:solidFill>
                    <a:srgbClr val="00B0F0"/>
                  </a:solidFill>
                  <a:latin typeface="Consolas" pitchFamily="49" charset="0"/>
                  <a:ea typeface="仿宋" pitchFamily="49" charset="-122"/>
                  <a:cs typeface="Consolas" pitchFamily="49" charset="0"/>
                </a:rPr>
                <a:t>j</a:t>
              </a:r>
              <a:r>
                <a:rPr kumimoji="1" lang="zh-CN" altLang="en-US" sz="1800">
                  <a:solidFill>
                    <a:srgbClr val="00B0F0"/>
                  </a:solidFill>
                  <a:latin typeface="Consolas" pitchFamily="49" charset="0"/>
                  <a:ea typeface="仿宋" pitchFamily="49" charset="-122"/>
                  <a:cs typeface="Consolas" pitchFamily="49" charset="0"/>
                </a:rPr>
                <a:t>时</a:t>
              </a:r>
            </a:p>
          </p:txBody>
        </p:sp>
        <p:sp>
          <p:nvSpPr>
            <p:cNvPr id="24" name="AutoShape 15">
              <a:extLst>
                <a:ext uri="{FF2B5EF4-FFF2-40B4-BE49-F238E27FC236}">
                  <a16:creationId xmlns:a16="http://schemas.microsoft.com/office/drawing/2014/main" id="{91FB5850-FC4F-6638-3F36-EBFB9A76CF81}"/>
                </a:ext>
              </a:extLst>
            </p:cNvPr>
            <p:cNvSpPr>
              <a:spLocks/>
            </p:cNvSpPr>
            <p:nvPr/>
          </p:nvSpPr>
          <p:spPr bwMode="auto">
            <a:xfrm>
              <a:off x="2914664" y="4373578"/>
              <a:ext cx="228600" cy="1143000"/>
            </a:xfrm>
            <a:prstGeom prst="leftBrace">
              <a:avLst>
                <a:gd name="adj1" fmla="val 41667"/>
                <a:gd name="adj2" fmla="val 50000"/>
              </a:avLst>
            </a:prstGeom>
            <a:noFill/>
            <a:ln w="22225">
              <a:solidFill>
                <a:srgbClr val="0000FF"/>
              </a:solidFill>
              <a:round/>
              <a:headEnd/>
              <a:tailEnd/>
            </a:ln>
            <a:effectLst/>
          </p:spPr>
          <p:txBody>
            <a:bodyPr wrap="none" anchor="ctr"/>
            <a:lstStyle/>
            <a:p>
              <a:endParaRPr lang="zh-CN" altLang="en-US" sz="1800">
                <a:latin typeface="Consolas" pitchFamily="49" charset="0"/>
                <a:ea typeface="仿宋" pitchFamily="49" charset="-122"/>
                <a:cs typeface="Consolas" pitchFamily="49" charset="0"/>
              </a:endParaRPr>
            </a:p>
          </p:txBody>
        </p:sp>
        <p:grpSp>
          <p:nvGrpSpPr>
            <p:cNvPr id="25" name="组合 28">
              <a:extLst>
                <a:ext uri="{FF2B5EF4-FFF2-40B4-BE49-F238E27FC236}">
                  <a16:creationId xmlns:a16="http://schemas.microsoft.com/office/drawing/2014/main" id="{E05C5A88-1532-C6D0-4ACD-AAB9AF89F75F}"/>
                </a:ext>
              </a:extLst>
            </p:cNvPr>
            <p:cNvGrpSpPr/>
            <p:nvPr/>
          </p:nvGrpSpPr>
          <p:grpSpPr>
            <a:xfrm>
              <a:off x="3286116" y="4143380"/>
              <a:ext cx="1500198" cy="652825"/>
              <a:chOff x="500034" y="3571876"/>
              <a:chExt cx="1500198" cy="652825"/>
            </a:xfrm>
          </p:grpSpPr>
          <p:sp>
            <p:nvSpPr>
              <p:cNvPr id="30" name="TextBox 29">
                <a:extLst>
                  <a:ext uri="{FF2B5EF4-FFF2-40B4-BE49-F238E27FC236}">
                    <a16:creationId xmlns:a16="http://schemas.microsoft.com/office/drawing/2014/main" id="{87824732-1A1F-10AA-FF20-82BC5F54FB3F}"/>
                  </a:ext>
                </a:extLst>
              </p:cNvPr>
              <p:cNvSpPr txBox="1"/>
              <p:nvPr/>
            </p:nvSpPr>
            <p:spPr>
              <a:xfrm>
                <a:off x="500034" y="3571876"/>
                <a:ext cx="1071570" cy="276999"/>
              </a:xfrm>
              <a:prstGeom prst="rect">
                <a:avLst/>
              </a:prstGeom>
              <a:noFill/>
            </p:spPr>
            <p:txBody>
              <a:bodyPr wrap="square" lIns="0" tIns="0" rIns="0" bIns="0" rtlCol="0">
                <a:spAutoFit/>
              </a:bodyPr>
              <a:lstStyle/>
              <a:p>
                <a:r>
                  <a:rPr lang="en-US" altLang="zh-CN" sz="1800" i="1" err="1">
                    <a:latin typeface="Consolas" pitchFamily="49" charset="0"/>
                    <a:ea typeface="仿宋" pitchFamily="49" charset="-122"/>
                    <a:cs typeface="Consolas" pitchFamily="49" charset="0"/>
                  </a:rPr>
                  <a:t>i</a:t>
                </a:r>
                <a:r>
                  <a:rPr lang="en-US" altLang="zh-CN" sz="1800">
                    <a:latin typeface="Consolas" pitchFamily="49" charset="0"/>
                    <a:ea typeface="仿宋" pitchFamily="49" charset="-122"/>
                    <a:cs typeface="Consolas" pitchFamily="49" charset="0"/>
                  </a:rPr>
                  <a:t>(</a:t>
                </a:r>
                <a:r>
                  <a:rPr lang="en-US" altLang="zh-CN" sz="1800" i="1" err="1">
                    <a:latin typeface="Consolas" pitchFamily="49" charset="0"/>
                    <a:ea typeface="仿宋" pitchFamily="49" charset="-122"/>
                    <a:cs typeface="Consolas" pitchFamily="49" charset="0"/>
                  </a:rPr>
                  <a:t>i</a:t>
                </a:r>
                <a:r>
                  <a:rPr lang="en-US" altLang="zh-CN" sz="1800" err="1">
                    <a:latin typeface="Consolas" pitchFamily="49" charset="0"/>
                    <a:ea typeface="仿宋" pitchFamily="49" charset="-122"/>
                    <a:cs typeface="Consolas" pitchFamily="49" charset="0"/>
                  </a:rPr>
                  <a:t>+1</a:t>
                </a:r>
                <a:r>
                  <a:rPr lang="en-US" altLang="zh-CN" sz="1800">
                    <a:latin typeface="Consolas" pitchFamily="49" charset="0"/>
                    <a:ea typeface="仿宋" pitchFamily="49" charset="-122"/>
                    <a:cs typeface="Consolas" pitchFamily="49" charset="0"/>
                  </a:rPr>
                  <a:t>)</a:t>
                </a:r>
                <a:endParaRPr lang="zh-CN" altLang="en-US" sz="1800">
                  <a:latin typeface="Consolas" pitchFamily="49" charset="0"/>
                  <a:ea typeface="仿宋" pitchFamily="49" charset="-122"/>
                  <a:cs typeface="Consolas" pitchFamily="49" charset="0"/>
                </a:endParaRPr>
              </a:p>
            </p:txBody>
          </p:sp>
          <p:cxnSp>
            <p:nvCxnSpPr>
              <p:cNvPr id="31" name="直接连接符 30">
                <a:extLst>
                  <a:ext uri="{FF2B5EF4-FFF2-40B4-BE49-F238E27FC236}">
                    <a16:creationId xmlns:a16="http://schemas.microsoft.com/office/drawing/2014/main" id="{C5C3DD9B-F98F-9C3A-17DC-0D0D93AC3798}"/>
                  </a:ext>
                </a:extLst>
              </p:cNvPr>
              <p:cNvCxnSpPr/>
              <p:nvPr/>
            </p:nvCxnSpPr>
            <p:spPr>
              <a:xfrm>
                <a:off x="571472" y="3929066"/>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33" name="TextBox 31">
                <a:extLst>
                  <a:ext uri="{FF2B5EF4-FFF2-40B4-BE49-F238E27FC236}">
                    <a16:creationId xmlns:a16="http://schemas.microsoft.com/office/drawing/2014/main" id="{36DB07EA-7CB1-F5C7-29ED-2851F76C7B7E}"/>
                  </a:ext>
                </a:extLst>
              </p:cNvPr>
              <p:cNvSpPr txBox="1"/>
              <p:nvPr/>
            </p:nvSpPr>
            <p:spPr>
              <a:xfrm>
                <a:off x="739748" y="3947702"/>
                <a:ext cx="500066" cy="276999"/>
              </a:xfrm>
              <a:prstGeom prst="rect">
                <a:avLst/>
              </a:prstGeom>
              <a:noFill/>
            </p:spPr>
            <p:txBody>
              <a:bodyPr wrap="square" lIns="0" tIns="0" rIns="0" bIns="0" rtlCol="0">
                <a:spAutoFit/>
              </a:bodyPr>
              <a:lstStyle/>
              <a:p>
                <a:r>
                  <a:rPr lang="en-US" altLang="zh-CN" sz="1800">
                    <a:latin typeface="Consolas" pitchFamily="49" charset="0"/>
                    <a:ea typeface="仿宋" pitchFamily="49" charset="-122"/>
                    <a:cs typeface="Consolas" pitchFamily="49" charset="0"/>
                  </a:rPr>
                  <a:t>2</a:t>
                </a:r>
                <a:endParaRPr lang="zh-CN" altLang="en-US" sz="1800">
                  <a:latin typeface="Consolas" pitchFamily="49" charset="0"/>
                  <a:ea typeface="仿宋" pitchFamily="49" charset="-122"/>
                  <a:cs typeface="Consolas" pitchFamily="49" charset="0"/>
                </a:endParaRPr>
              </a:p>
            </p:txBody>
          </p:sp>
          <p:sp>
            <p:nvSpPr>
              <p:cNvPr id="38" name="TextBox 32">
                <a:extLst>
                  <a:ext uri="{FF2B5EF4-FFF2-40B4-BE49-F238E27FC236}">
                    <a16:creationId xmlns:a16="http://schemas.microsoft.com/office/drawing/2014/main" id="{6833F4C9-5371-E58B-194A-608623F7E4F1}"/>
                  </a:ext>
                </a:extLst>
              </p:cNvPr>
              <p:cNvSpPr txBox="1"/>
              <p:nvPr/>
            </p:nvSpPr>
            <p:spPr>
              <a:xfrm>
                <a:off x="1500166" y="3786190"/>
                <a:ext cx="500066" cy="276999"/>
              </a:xfrm>
              <a:prstGeom prst="rect">
                <a:avLst/>
              </a:prstGeom>
              <a:noFill/>
            </p:spPr>
            <p:txBody>
              <a:bodyPr wrap="square" lIns="0" tIns="0" rIns="0" bIns="0" rtlCol="0">
                <a:spAutoFit/>
              </a:bodyPr>
              <a:lstStyle/>
              <a:p>
                <a:r>
                  <a:rPr lang="en-US" altLang="zh-CN" sz="1800">
                    <a:latin typeface="Consolas" pitchFamily="49" charset="0"/>
                    <a:ea typeface="仿宋" pitchFamily="49" charset="-122"/>
                    <a:cs typeface="Consolas" pitchFamily="49" charset="0"/>
                  </a:rPr>
                  <a:t>+</a:t>
                </a:r>
                <a:r>
                  <a:rPr lang="en-US" altLang="zh-CN" sz="1800" i="1">
                    <a:latin typeface="Consolas" pitchFamily="49" charset="0"/>
                    <a:ea typeface="仿宋" pitchFamily="49" charset="-122"/>
                    <a:cs typeface="Consolas" pitchFamily="49" charset="0"/>
                  </a:rPr>
                  <a:t>j</a:t>
                </a:r>
                <a:endParaRPr lang="zh-CN" altLang="en-US" sz="1800" i="1">
                  <a:latin typeface="Consolas" pitchFamily="49" charset="0"/>
                  <a:ea typeface="仿宋" pitchFamily="49" charset="-122"/>
                  <a:cs typeface="Consolas" pitchFamily="49" charset="0"/>
                </a:endParaRPr>
              </a:p>
            </p:txBody>
          </p:sp>
        </p:grpSp>
        <p:grpSp>
          <p:nvGrpSpPr>
            <p:cNvPr id="26" name="组合 33">
              <a:extLst>
                <a:ext uri="{FF2B5EF4-FFF2-40B4-BE49-F238E27FC236}">
                  <a16:creationId xmlns:a16="http://schemas.microsoft.com/office/drawing/2014/main" id="{D252B75B-8D00-01F0-B452-22EFE5C0B50B}"/>
                </a:ext>
              </a:extLst>
            </p:cNvPr>
            <p:cNvGrpSpPr/>
            <p:nvPr/>
          </p:nvGrpSpPr>
          <p:grpSpPr>
            <a:xfrm>
              <a:off x="3286116" y="5000636"/>
              <a:ext cx="1071570" cy="652825"/>
              <a:chOff x="652434" y="5500702"/>
              <a:chExt cx="1071570" cy="652825"/>
            </a:xfrm>
          </p:grpSpPr>
          <p:sp>
            <p:nvSpPr>
              <p:cNvPr id="27" name="TextBox 34">
                <a:extLst>
                  <a:ext uri="{FF2B5EF4-FFF2-40B4-BE49-F238E27FC236}">
                    <a16:creationId xmlns:a16="http://schemas.microsoft.com/office/drawing/2014/main" id="{D4405D95-111A-E2C6-1FA5-03D30FA78B7A}"/>
                  </a:ext>
                </a:extLst>
              </p:cNvPr>
              <p:cNvSpPr txBox="1"/>
              <p:nvPr/>
            </p:nvSpPr>
            <p:spPr>
              <a:xfrm>
                <a:off x="652434" y="5500702"/>
                <a:ext cx="1071570" cy="276999"/>
              </a:xfrm>
              <a:prstGeom prst="rect">
                <a:avLst/>
              </a:prstGeom>
              <a:noFill/>
            </p:spPr>
            <p:txBody>
              <a:bodyPr wrap="square" lIns="0" tIns="0" rIns="0" bIns="0" rtlCol="0">
                <a:spAutoFit/>
              </a:bodyPr>
              <a:lstStyle/>
              <a:p>
                <a:r>
                  <a:rPr lang="en-US" altLang="zh-CN" sz="1800" i="1">
                    <a:latin typeface="Consolas" pitchFamily="49" charset="0"/>
                    <a:ea typeface="仿宋" pitchFamily="49" charset="-122"/>
                    <a:cs typeface="Consolas" pitchFamily="49" charset="0"/>
                  </a:rPr>
                  <a:t>n</a:t>
                </a:r>
                <a:r>
                  <a:rPr lang="en-US" altLang="zh-CN" sz="1800">
                    <a:latin typeface="Consolas" pitchFamily="49" charset="0"/>
                    <a:ea typeface="仿宋" pitchFamily="49" charset="-122"/>
                    <a:cs typeface="Consolas" pitchFamily="49" charset="0"/>
                  </a:rPr>
                  <a:t>(</a:t>
                </a:r>
                <a:r>
                  <a:rPr lang="en-US" altLang="zh-CN" sz="1800" i="1" err="1">
                    <a:latin typeface="Consolas" pitchFamily="49" charset="0"/>
                    <a:ea typeface="仿宋" pitchFamily="49" charset="-122"/>
                    <a:cs typeface="Consolas" pitchFamily="49" charset="0"/>
                  </a:rPr>
                  <a:t>n</a:t>
                </a:r>
                <a:r>
                  <a:rPr lang="en-US" altLang="zh-CN" sz="1800" err="1">
                    <a:latin typeface="Consolas" pitchFamily="49" charset="0"/>
                    <a:ea typeface="仿宋" pitchFamily="49" charset="-122"/>
                    <a:cs typeface="Consolas" pitchFamily="49" charset="0"/>
                  </a:rPr>
                  <a:t>+1</a:t>
                </a:r>
                <a:r>
                  <a:rPr lang="en-US" altLang="zh-CN" sz="1800">
                    <a:latin typeface="Consolas" pitchFamily="49" charset="0"/>
                    <a:ea typeface="仿宋" pitchFamily="49" charset="-122"/>
                    <a:cs typeface="Consolas" pitchFamily="49" charset="0"/>
                  </a:rPr>
                  <a:t>)</a:t>
                </a:r>
                <a:endParaRPr lang="zh-CN" altLang="en-US" sz="1800">
                  <a:latin typeface="Consolas" pitchFamily="49" charset="0"/>
                  <a:ea typeface="仿宋" pitchFamily="49" charset="-122"/>
                  <a:cs typeface="Consolas" pitchFamily="49" charset="0"/>
                </a:endParaRPr>
              </a:p>
            </p:txBody>
          </p:sp>
          <p:cxnSp>
            <p:nvCxnSpPr>
              <p:cNvPr id="28" name="直接连接符 27">
                <a:extLst>
                  <a:ext uri="{FF2B5EF4-FFF2-40B4-BE49-F238E27FC236}">
                    <a16:creationId xmlns:a16="http://schemas.microsoft.com/office/drawing/2014/main" id="{FD996FBF-EC61-40DB-071C-B0E2C2876309}"/>
                  </a:ext>
                </a:extLst>
              </p:cNvPr>
              <p:cNvCxnSpPr/>
              <p:nvPr/>
            </p:nvCxnSpPr>
            <p:spPr>
              <a:xfrm>
                <a:off x="723872" y="5857892"/>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29" name="TextBox 36">
                <a:extLst>
                  <a:ext uri="{FF2B5EF4-FFF2-40B4-BE49-F238E27FC236}">
                    <a16:creationId xmlns:a16="http://schemas.microsoft.com/office/drawing/2014/main" id="{C77AE8A5-89A2-E0F7-DEF2-AEDE477335AA}"/>
                  </a:ext>
                </a:extLst>
              </p:cNvPr>
              <p:cNvSpPr txBox="1"/>
              <p:nvPr/>
            </p:nvSpPr>
            <p:spPr>
              <a:xfrm>
                <a:off x="892148" y="5876528"/>
                <a:ext cx="500066" cy="276999"/>
              </a:xfrm>
              <a:prstGeom prst="rect">
                <a:avLst/>
              </a:prstGeom>
              <a:noFill/>
            </p:spPr>
            <p:txBody>
              <a:bodyPr wrap="square" lIns="0" tIns="0" rIns="0" bIns="0" rtlCol="0">
                <a:spAutoFit/>
              </a:bodyPr>
              <a:lstStyle/>
              <a:p>
                <a:r>
                  <a:rPr lang="en-US" altLang="zh-CN" sz="1800">
                    <a:latin typeface="Consolas" pitchFamily="49" charset="0"/>
                    <a:ea typeface="仿宋" pitchFamily="49" charset="-122"/>
                    <a:cs typeface="Consolas" pitchFamily="49" charset="0"/>
                  </a:rPr>
                  <a:t>2</a:t>
                </a:r>
                <a:endParaRPr lang="zh-CN" altLang="en-US" sz="1800">
                  <a:latin typeface="Consolas" pitchFamily="49" charset="0"/>
                  <a:ea typeface="仿宋" pitchFamily="49" charset="-122"/>
                  <a:cs typeface="Consolas" pitchFamily="49" charset="0"/>
                </a:endParaRPr>
              </a:p>
            </p:txBody>
          </p:sp>
        </p:grpSp>
      </p:grpSp>
      <p:grpSp>
        <p:nvGrpSpPr>
          <p:cNvPr id="39" name="组合 39">
            <a:extLst>
              <a:ext uri="{FF2B5EF4-FFF2-40B4-BE49-F238E27FC236}">
                <a16:creationId xmlns:a16="http://schemas.microsoft.com/office/drawing/2014/main" id="{71521F2D-EA70-3317-5A67-550823A784C3}"/>
              </a:ext>
            </a:extLst>
          </p:cNvPr>
          <p:cNvGrpSpPr/>
          <p:nvPr/>
        </p:nvGrpSpPr>
        <p:grpSpPr>
          <a:xfrm>
            <a:off x="2975663" y="2930869"/>
            <a:ext cx="2857520" cy="1752612"/>
            <a:chOff x="3214676" y="2214554"/>
            <a:chExt cx="2837975" cy="1752612"/>
          </a:xfrm>
        </p:grpSpPr>
        <p:cxnSp>
          <p:nvCxnSpPr>
            <p:cNvPr id="40" name="直接连接符 39">
              <a:extLst>
                <a:ext uri="{FF2B5EF4-FFF2-40B4-BE49-F238E27FC236}">
                  <a16:creationId xmlns:a16="http://schemas.microsoft.com/office/drawing/2014/main" id="{6E1DECFD-4C76-2D66-DD99-C33658E1B2FE}"/>
                </a:ext>
              </a:extLst>
            </p:cNvPr>
            <p:cNvCxnSpPr/>
            <p:nvPr/>
          </p:nvCxnSpPr>
          <p:spPr>
            <a:xfrm rot="5400000">
              <a:off x="2358214" y="30710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2F955DDB-69F1-5F28-0B57-093FFFA4163A}"/>
                </a:ext>
              </a:extLst>
            </p:cNvPr>
            <p:cNvCxnSpPr/>
            <p:nvPr/>
          </p:nvCxnSpPr>
          <p:spPr>
            <a:xfrm>
              <a:off x="3216264" y="22272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4CD668B0-CE37-589C-1DC6-516AE9069411}"/>
                </a:ext>
              </a:extLst>
            </p:cNvPr>
            <p:cNvCxnSpPr/>
            <p:nvPr/>
          </p:nvCxnSpPr>
          <p:spPr>
            <a:xfrm>
              <a:off x="3214676" y="39243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58" name="TextBox 43">
              <a:extLst>
                <a:ext uri="{FF2B5EF4-FFF2-40B4-BE49-F238E27FC236}">
                  <a16:creationId xmlns:a16="http://schemas.microsoft.com/office/drawing/2014/main" id="{5004EB87-E4C3-638F-96FB-39D3A98A4579}"/>
                </a:ext>
              </a:extLst>
            </p:cNvPr>
            <p:cNvSpPr txBox="1"/>
            <p:nvPr/>
          </p:nvSpPr>
          <p:spPr>
            <a:xfrm>
              <a:off x="3359140" y="2258590"/>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0,0</a:t>
              </a:r>
              <a:endParaRPr lang="zh-CN" altLang="en-US" sz="2000" baseline="-25000">
                <a:latin typeface="Consolas" pitchFamily="49" charset="0"/>
                <a:cs typeface="Consolas" pitchFamily="49" charset="0"/>
              </a:endParaRPr>
            </a:p>
          </p:txBody>
        </p:sp>
        <p:sp>
          <p:nvSpPr>
            <p:cNvPr id="59" name="TextBox 44">
              <a:extLst>
                <a:ext uri="{FF2B5EF4-FFF2-40B4-BE49-F238E27FC236}">
                  <a16:creationId xmlns:a16="http://schemas.microsoft.com/office/drawing/2014/main" id="{253C47B3-E46C-84B1-576E-FC69AE71D673}"/>
                </a:ext>
              </a:extLst>
            </p:cNvPr>
            <p:cNvSpPr txBox="1"/>
            <p:nvPr/>
          </p:nvSpPr>
          <p:spPr>
            <a:xfrm>
              <a:off x="4002081" y="2258590"/>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0,1</a:t>
              </a:r>
              <a:endParaRPr lang="zh-CN" altLang="en-US" sz="2000" baseline="-25000">
                <a:latin typeface="Consolas" pitchFamily="49" charset="0"/>
                <a:cs typeface="Consolas" pitchFamily="49" charset="0"/>
              </a:endParaRPr>
            </a:p>
          </p:txBody>
        </p:sp>
        <p:sp>
          <p:nvSpPr>
            <p:cNvPr id="60" name="TextBox 45">
              <a:extLst>
                <a:ext uri="{FF2B5EF4-FFF2-40B4-BE49-F238E27FC236}">
                  <a16:creationId xmlns:a16="http://schemas.microsoft.com/office/drawing/2014/main" id="{094C8F27-672A-8E45-E2BF-3BACD0D23464}"/>
                </a:ext>
              </a:extLst>
            </p:cNvPr>
            <p:cNvSpPr txBox="1"/>
            <p:nvPr/>
          </p:nvSpPr>
          <p:spPr>
            <a:xfrm>
              <a:off x="5216526" y="2258590"/>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0,</a:t>
              </a:r>
              <a:r>
                <a:rPr lang="en-US" altLang="zh-CN" sz="2000" i="1" baseline="-25000" err="1">
                  <a:latin typeface="Consolas" pitchFamily="49" charset="0"/>
                  <a:cs typeface="Consolas" pitchFamily="49" charset="0"/>
                </a:rPr>
                <a:t>n</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61" name="TextBox 46">
              <a:extLst>
                <a:ext uri="{FF2B5EF4-FFF2-40B4-BE49-F238E27FC236}">
                  <a16:creationId xmlns:a16="http://schemas.microsoft.com/office/drawing/2014/main" id="{DC3F4AFC-9334-E699-19A9-211C49A65D68}"/>
                </a:ext>
              </a:extLst>
            </p:cNvPr>
            <p:cNvSpPr txBox="1"/>
            <p:nvPr/>
          </p:nvSpPr>
          <p:spPr>
            <a:xfrm>
              <a:off x="4645023" y="2239954"/>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sp>
          <p:nvSpPr>
            <p:cNvPr id="65" name="TextBox 47">
              <a:extLst>
                <a:ext uri="{FF2B5EF4-FFF2-40B4-BE49-F238E27FC236}">
                  <a16:creationId xmlns:a16="http://schemas.microsoft.com/office/drawing/2014/main" id="{8BDA6075-9E1B-7ADC-67BB-43BC90E82789}"/>
                </a:ext>
              </a:extLst>
            </p:cNvPr>
            <p:cNvSpPr txBox="1"/>
            <p:nvPr/>
          </p:nvSpPr>
          <p:spPr>
            <a:xfrm>
              <a:off x="3359140" y="2687218"/>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1,0</a:t>
              </a:r>
              <a:endParaRPr lang="zh-CN" altLang="en-US" sz="2000" baseline="-25000">
                <a:latin typeface="Consolas" pitchFamily="49" charset="0"/>
                <a:cs typeface="Consolas" pitchFamily="49" charset="0"/>
              </a:endParaRPr>
            </a:p>
          </p:txBody>
        </p:sp>
        <p:sp>
          <p:nvSpPr>
            <p:cNvPr id="103" name="TextBox 48">
              <a:extLst>
                <a:ext uri="{FF2B5EF4-FFF2-40B4-BE49-F238E27FC236}">
                  <a16:creationId xmlns:a16="http://schemas.microsoft.com/office/drawing/2014/main" id="{1FE12822-59C5-D1BB-9058-CC0AACD48A7A}"/>
                </a:ext>
              </a:extLst>
            </p:cNvPr>
            <p:cNvSpPr txBox="1"/>
            <p:nvPr/>
          </p:nvSpPr>
          <p:spPr>
            <a:xfrm>
              <a:off x="4002081" y="2687218"/>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1,1</a:t>
              </a:r>
              <a:endParaRPr lang="zh-CN" altLang="en-US" sz="2000" baseline="-25000">
                <a:latin typeface="Consolas" pitchFamily="49" charset="0"/>
                <a:cs typeface="Consolas" pitchFamily="49" charset="0"/>
              </a:endParaRPr>
            </a:p>
          </p:txBody>
        </p:sp>
        <p:sp>
          <p:nvSpPr>
            <p:cNvPr id="104" name="TextBox 49">
              <a:extLst>
                <a:ext uri="{FF2B5EF4-FFF2-40B4-BE49-F238E27FC236}">
                  <a16:creationId xmlns:a16="http://schemas.microsoft.com/office/drawing/2014/main" id="{8FE9A3CB-6E7A-9297-3285-5286C20AD835}"/>
                </a:ext>
              </a:extLst>
            </p:cNvPr>
            <p:cNvSpPr txBox="1"/>
            <p:nvPr/>
          </p:nvSpPr>
          <p:spPr>
            <a:xfrm>
              <a:off x="5216526" y="2687218"/>
              <a:ext cx="714379" cy="307777"/>
            </a:xfrm>
            <a:prstGeom prst="rect">
              <a:avLst/>
            </a:prstGeom>
            <a:noFill/>
          </p:spPr>
          <p:txBody>
            <a:bodyPr wrap="square" lIns="0" tIns="0" rIns="0" bIns="0" rtlCol="0">
              <a:spAutoFit/>
            </a:bodyPr>
            <a:lstStyle/>
            <a:p>
              <a:r>
                <a:rPr lang="en-US" altLang="zh-CN" sz="2000" i="1" err="1">
                  <a:latin typeface="Consolas" pitchFamily="49" charset="0"/>
                  <a:cs typeface="Consolas" pitchFamily="49" charset="0"/>
                </a:rPr>
                <a:t>a</a:t>
              </a:r>
              <a:r>
                <a:rPr lang="en-US" altLang="zh-CN" sz="2000" baseline="-25000" err="1">
                  <a:latin typeface="Consolas" pitchFamily="49" charset="0"/>
                  <a:cs typeface="Consolas" pitchFamily="49" charset="0"/>
                </a:rPr>
                <a:t>1,</a:t>
              </a:r>
              <a:r>
                <a:rPr lang="en-US" altLang="zh-CN" sz="2000" i="1" baseline="-25000" err="1">
                  <a:latin typeface="Consolas" pitchFamily="49" charset="0"/>
                  <a:cs typeface="Consolas" pitchFamily="49" charset="0"/>
                </a:rPr>
                <a:t>n</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105" name="TextBox 51">
              <a:extLst>
                <a:ext uri="{FF2B5EF4-FFF2-40B4-BE49-F238E27FC236}">
                  <a16:creationId xmlns:a16="http://schemas.microsoft.com/office/drawing/2014/main" id="{674BA561-19DB-CD24-E415-5A2135B83A1E}"/>
                </a:ext>
              </a:extLst>
            </p:cNvPr>
            <p:cNvSpPr txBox="1"/>
            <p:nvPr/>
          </p:nvSpPr>
          <p:spPr>
            <a:xfrm>
              <a:off x="3333193" y="3601488"/>
              <a:ext cx="714379" cy="307777"/>
            </a:xfrm>
            <a:prstGeom prst="rect">
              <a:avLst/>
            </a:prstGeom>
            <a:noFill/>
          </p:spPr>
          <p:txBody>
            <a:bodyPr wrap="square" lIns="0" tIns="0" rIns="0" bIns="0" rtlCol="0">
              <a:spAutoFit/>
            </a:bodyPr>
            <a:lstStyle/>
            <a:p>
              <a:r>
                <a:rPr lang="en-US" altLang="zh-CN" sz="2000" i="1">
                  <a:latin typeface="Consolas" pitchFamily="49" charset="0"/>
                  <a:cs typeface="Consolas" pitchFamily="49" charset="0"/>
                </a:rPr>
                <a:t>a</a:t>
              </a:r>
              <a:r>
                <a:rPr lang="en-US" altLang="zh-CN" sz="2000" i="1" baseline="-25000">
                  <a:latin typeface="Consolas" pitchFamily="49" charset="0"/>
                  <a:cs typeface="Consolas" pitchFamily="49" charset="0"/>
                </a:rPr>
                <a:t>n</a:t>
              </a:r>
              <a:r>
                <a:rPr lang="en-US" altLang="zh-CN" sz="2000" baseline="-25000">
                  <a:latin typeface="Consolas" pitchFamily="49" charset="0"/>
                  <a:cs typeface="Consolas" pitchFamily="49" charset="0"/>
                </a:rPr>
                <a:t>-1,0</a:t>
              </a:r>
              <a:endParaRPr lang="zh-CN" altLang="en-US" sz="2000" baseline="-25000">
                <a:latin typeface="Consolas" pitchFamily="49" charset="0"/>
                <a:cs typeface="Consolas" pitchFamily="49" charset="0"/>
              </a:endParaRPr>
            </a:p>
          </p:txBody>
        </p:sp>
        <p:sp>
          <p:nvSpPr>
            <p:cNvPr id="106" name="TextBox 52">
              <a:extLst>
                <a:ext uri="{FF2B5EF4-FFF2-40B4-BE49-F238E27FC236}">
                  <a16:creationId xmlns:a16="http://schemas.microsoft.com/office/drawing/2014/main" id="{8BDC6023-BAA0-BFEB-001E-1F9A9C314E39}"/>
                </a:ext>
              </a:extLst>
            </p:cNvPr>
            <p:cNvSpPr txBox="1"/>
            <p:nvPr/>
          </p:nvSpPr>
          <p:spPr>
            <a:xfrm>
              <a:off x="3976134" y="3601488"/>
              <a:ext cx="714379" cy="307777"/>
            </a:xfrm>
            <a:prstGeom prst="rect">
              <a:avLst/>
            </a:prstGeom>
            <a:noFill/>
          </p:spPr>
          <p:txBody>
            <a:bodyPr wrap="square" lIns="0" tIns="0" rIns="0" bIns="0" rtlCol="0">
              <a:spAutoFit/>
            </a:bodyPr>
            <a:lstStyle/>
            <a:p>
              <a:r>
                <a:rPr lang="en-US" altLang="zh-CN" sz="2000" i="1">
                  <a:latin typeface="Consolas" pitchFamily="49" charset="0"/>
                  <a:cs typeface="Consolas" pitchFamily="49" charset="0"/>
                </a:rPr>
                <a:t>a</a:t>
              </a:r>
              <a:r>
                <a:rPr lang="en-US" altLang="zh-CN" sz="2000" i="1" baseline="-25000">
                  <a:latin typeface="Consolas" pitchFamily="49" charset="0"/>
                  <a:cs typeface="Consolas" pitchFamily="49" charset="0"/>
                </a:rPr>
                <a:t>n</a:t>
              </a:r>
              <a:r>
                <a:rPr lang="en-US" altLang="zh-CN" sz="2000" baseline="-25000">
                  <a:latin typeface="Consolas" pitchFamily="49" charset="0"/>
                  <a:cs typeface="Consolas" pitchFamily="49" charset="0"/>
                </a:rPr>
                <a:t>-1,1</a:t>
              </a:r>
              <a:endParaRPr lang="zh-CN" altLang="en-US" sz="2000" baseline="-25000">
                <a:latin typeface="Consolas" pitchFamily="49" charset="0"/>
                <a:cs typeface="Consolas" pitchFamily="49" charset="0"/>
              </a:endParaRPr>
            </a:p>
          </p:txBody>
        </p:sp>
        <p:sp>
          <p:nvSpPr>
            <p:cNvPr id="107" name="TextBox 53">
              <a:extLst>
                <a:ext uri="{FF2B5EF4-FFF2-40B4-BE49-F238E27FC236}">
                  <a16:creationId xmlns:a16="http://schemas.microsoft.com/office/drawing/2014/main" id="{CDB08DFF-B606-F53E-48E2-6704DF363ABC}"/>
                </a:ext>
              </a:extLst>
            </p:cNvPr>
            <p:cNvSpPr txBox="1"/>
            <p:nvPr/>
          </p:nvSpPr>
          <p:spPr>
            <a:xfrm>
              <a:off x="5104363" y="3601488"/>
              <a:ext cx="800596" cy="307777"/>
            </a:xfrm>
            <a:prstGeom prst="rect">
              <a:avLst/>
            </a:prstGeom>
            <a:noFill/>
          </p:spPr>
          <p:txBody>
            <a:bodyPr wrap="square" lIns="0" tIns="0" rIns="0" bIns="0" rtlCol="0">
              <a:spAutoFit/>
            </a:bodyPr>
            <a:lstStyle/>
            <a:p>
              <a:r>
                <a:rPr lang="en-US" altLang="zh-CN" sz="2000" i="1">
                  <a:latin typeface="Consolas" pitchFamily="49" charset="0"/>
                  <a:cs typeface="Consolas" pitchFamily="49" charset="0"/>
                </a:rPr>
                <a:t>a</a:t>
              </a:r>
              <a:r>
                <a:rPr lang="en-US" altLang="zh-CN" sz="2000" i="1" baseline="-25000">
                  <a:latin typeface="Consolas" pitchFamily="49" charset="0"/>
                  <a:cs typeface="Consolas" pitchFamily="49" charset="0"/>
                </a:rPr>
                <a:t>n</a:t>
              </a:r>
              <a:r>
                <a:rPr lang="en-US" altLang="zh-CN" sz="2000" baseline="-25000">
                  <a:latin typeface="Consolas" pitchFamily="49" charset="0"/>
                  <a:cs typeface="Consolas" pitchFamily="49" charset="0"/>
                </a:rPr>
                <a:t>-</a:t>
              </a:r>
              <a:r>
                <a:rPr lang="en-US" altLang="zh-CN" sz="2000" baseline="-25000" err="1">
                  <a:latin typeface="Consolas" pitchFamily="49" charset="0"/>
                  <a:cs typeface="Consolas" pitchFamily="49" charset="0"/>
                </a:rPr>
                <a:t>1,</a:t>
              </a:r>
              <a:r>
                <a:rPr lang="en-US" altLang="zh-CN" sz="2000" i="1" baseline="-25000" err="1">
                  <a:latin typeface="Consolas" pitchFamily="49" charset="0"/>
                  <a:cs typeface="Consolas" pitchFamily="49" charset="0"/>
                </a:rPr>
                <a:t>n</a:t>
              </a:r>
              <a:r>
                <a:rPr lang="en-US" altLang="zh-CN" sz="2000" baseline="-25000">
                  <a:latin typeface="Consolas" pitchFamily="49" charset="0"/>
                  <a:cs typeface="Consolas" pitchFamily="49" charset="0"/>
                </a:rPr>
                <a:t>-1</a:t>
              </a:r>
              <a:endParaRPr lang="zh-CN" altLang="en-US" sz="2000" baseline="-25000">
                <a:latin typeface="Consolas" pitchFamily="49" charset="0"/>
                <a:cs typeface="Consolas" pitchFamily="49" charset="0"/>
              </a:endParaRPr>
            </a:p>
          </p:txBody>
        </p:sp>
        <p:sp>
          <p:nvSpPr>
            <p:cNvPr id="108" name="TextBox 54">
              <a:extLst>
                <a:ext uri="{FF2B5EF4-FFF2-40B4-BE49-F238E27FC236}">
                  <a16:creationId xmlns:a16="http://schemas.microsoft.com/office/drawing/2014/main" id="{EE57B1D9-540F-0836-FBA9-399E5E8A8C74}"/>
                </a:ext>
              </a:extLst>
            </p:cNvPr>
            <p:cNvSpPr txBox="1"/>
            <p:nvPr/>
          </p:nvSpPr>
          <p:spPr>
            <a:xfrm>
              <a:off x="4619076" y="3582852"/>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cxnSp>
          <p:nvCxnSpPr>
            <p:cNvPr id="109" name="直接连接符 108">
              <a:extLst>
                <a:ext uri="{FF2B5EF4-FFF2-40B4-BE49-F238E27FC236}">
                  <a16:creationId xmlns:a16="http://schemas.microsoft.com/office/drawing/2014/main" id="{2E65BF04-D98F-FDEE-55AB-D41F86B481B5}"/>
                </a:ext>
              </a:extLst>
            </p:cNvPr>
            <p:cNvCxnSpPr/>
            <p:nvPr/>
          </p:nvCxnSpPr>
          <p:spPr>
            <a:xfrm rot="5400000">
              <a:off x="5180777" y="31091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A62792E9-086F-4390-CB58-7255E8CA603E}"/>
                </a:ext>
              </a:extLst>
            </p:cNvPr>
            <p:cNvCxnSpPr/>
            <p:nvPr/>
          </p:nvCxnSpPr>
          <p:spPr>
            <a:xfrm>
              <a:off x="5908651" y="22653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AB67706E-A200-123D-099E-74F750322C45}"/>
                </a:ext>
              </a:extLst>
            </p:cNvPr>
            <p:cNvCxnSpPr/>
            <p:nvPr/>
          </p:nvCxnSpPr>
          <p:spPr>
            <a:xfrm>
              <a:off x="5907061" y="39624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112" name="TextBox 58">
              <a:extLst>
                <a:ext uri="{FF2B5EF4-FFF2-40B4-BE49-F238E27FC236}">
                  <a16:creationId xmlns:a16="http://schemas.microsoft.com/office/drawing/2014/main" id="{3DE90A9C-8489-C847-63A9-A355CE5A3054}"/>
                </a:ext>
              </a:extLst>
            </p:cNvPr>
            <p:cNvSpPr txBox="1"/>
            <p:nvPr/>
          </p:nvSpPr>
          <p:spPr>
            <a:xfrm>
              <a:off x="3502018" y="3097210"/>
              <a:ext cx="571504" cy="307777"/>
            </a:xfrm>
            <a:prstGeom prst="rect">
              <a:avLst/>
            </a:prstGeom>
            <a:noFill/>
          </p:spPr>
          <p:txBody>
            <a:bodyPr wrap="square" lIns="0" tIns="0" rIns="0" bIns="0" rtlCol="0">
              <a:spAutoFit/>
            </a:bodyPr>
            <a:lstStyle/>
            <a:p>
              <a:r>
                <a:rPr lang="en-US" altLang="zh-CN" sz="2000" i="1">
                  <a:latin typeface="Consolas" pitchFamily="49" charset="0"/>
                  <a:ea typeface="+mn-ea"/>
                  <a:cs typeface="Consolas" pitchFamily="49" charset="0"/>
                  <a:sym typeface="Symbol"/>
                </a:rPr>
                <a:t></a:t>
              </a:r>
              <a:endParaRPr lang="zh-CN" altLang="en-US" sz="2000" baseline="-25000">
                <a:latin typeface="Consolas" pitchFamily="49" charset="0"/>
                <a:ea typeface="+mn-ea"/>
                <a:cs typeface="Consolas" pitchFamily="49" charset="0"/>
              </a:endParaRPr>
            </a:p>
          </p:txBody>
        </p:sp>
      </p:grpSp>
      <p:sp>
        <p:nvSpPr>
          <p:cNvPr id="113" name="直角三角形 112">
            <a:extLst>
              <a:ext uri="{FF2B5EF4-FFF2-40B4-BE49-F238E27FC236}">
                <a16:creationId xmlns:a16="http://schemas.microsoft.com/office/drawing/2014/main" id="{4C389BC9-80F4-EDBF-A43D-C91BC858FBC9}"/>
              </a:ext>
            </a:extLst>
          </p:cNvPr>
          <p:cNvSpPr/>
          <p:nvPr/>
        </p:nvSpPr>
        <p:spPr>
          <a:xfrm rot="10800000">
            <a:off x="3475729" y="2959444"/>
            <a:ext cx="2214578" cy="1571636"/>
          </a:xfrm>
          <a:prstGeom prst="rtTriangl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14" name="Text Box 13">
            <a:extLst>
              <a:ext uri="{FF2B5EF4-FFF2-40B4-BE49-F238E27FC236}">
                <a16:creationId xmlns:a16="http://schemas.microsoft.com/office/drawing/2014/main" id="{662AF17A-650E-006C-2B47-BD67B4B7D634}"/>
              </a:ext>
            </a:extLst>
          </p:cNvPr>
          <p:cNvSpPr txBox="1">
            <a:spLocks noChangeArrowheads="1"/>
          </p:cNvSpPr>
          <p:nvPr/>
        </p:nvSpPr>
        <p:spPr bwMode="auto">
          <a:xfrm>
            <a:off x="4833051" y="3254721"/>
            <a:ext cx="576262" cy="457200"/>
          </a:xfrm>
          <a:prstGeom prst="rect">
            <a:avLst/>
          </a:prstGeom>
          <a:noFill/>
          <a:ln w="9525">
            <a:noFill/>
            <a:miter lim="800000"/>
            <a:headEnd/>
            <a:tailEnd/>
          </a:ln>
          <a:effectLst/>
        </p:spPr>
        <p:txBody>
          <a:bodyPr>
            <a:spAutoFit/>
          </a:bodyPr>
          <a:lstStyle/>
          <a:p>
            <a:pPr algn="l">
              <a:spcBef>
                <a:spcPct val="50000"/>
              </a:spcBef>
            </a:pPr>
            <a:r>
              <a:rPr lang="en-US" altLang="zh-CN" i="1">
                <a:solidFill>
                  <a:srgbClr val="FF0000"/>
                </a:solidFill>
                <a:latin typeface="Consolas" pitchFamily="49" charset="0"/>
                <a:cs typeface="Consolas" pitchFamily="49" charset="0"/>
              </a:rPr>
              <a:t>c</a:t>
            </a:r>
          </a:p>
        </p:txBody>
      </p:sp>
      <p:cxnSp>
        <p:nvCxnSpPr>
          <p:cNvPr id="115" name="直接箭头连接符 114">
            <a:extLst>
              <a:ext uri="{FF2B5EF4-FFF2-40B4-BE49-F238E27FC236}">
                <a16:creationId xmlns:a16="http://schemas.microsoft.com/office/drawing/2014/main" id="{489B1877-318D-915B-EFE4-716D5C5D8A55}"/>
              </a:ext>
            </a:extLst>
          </p:cNvPr>
          <p:cNvCxnSpPr/>
          <p:nvPr/>
        </p:nvCxnSpPr>
        <p:spPr>
          <a:xfrm rot="10800000" flipV="1">
            <a:off x="2547035" y="3897664"/>
            <a:ext cx="785818" cy="14287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116" name="TextBox 61">
            <a:extLst>
              <a:ext uri="{FF2B5EF4-FFF2-40B4-BE49-F238E27FC236}">
                <a16:creationId xmlns:a16="http://schemas.microsoft.com/office/drawing/2014/main" id="{9CA2C4FD-6B0B-FDE2-5516-D2F4A0B3ABBB}"/>
              </a:ext>
            </a:extLst>
          </p:cNvPr>
          <p:cNvSpPr txBox="1"/>
          <p:nvPr/>
        </p:nvSpPr>
        <p:spPr>
          <a:xfrm>
            <a:off x="1761217" y="3897664"/>
            <a:ext cx="928694" cy="369332"/>
          </a:xfrm>
          <a:prstGeom prst="rect">
            <a:avLst/>
          </a:prstGeom>
          <a:noFill/>
        </p:spPr>
        <p:txBody>
          <a:bodyPr wrap="square" rtlCol="0">
            <a:spAutoFit/>
          </a:bodyPr>
          <a:lstStyle/>
          <a:p>
            <a:r>
              <a:rPr kumimoji="1" lang="en-US" altLang="zh-CN" sz="1800" i="1" err="1">
                <a:latin typeface="Consolas" pitchFamily="49" charset="0"/>
                <a:ea typeface="楷体" pitchFamily="49" charset="-122"/>
                <a:cs typeface="Consolas" pitchFamily="49" charset="0"/>
              </a:rPr>
              <a:t>i</a:t>
            </a:r>
            <a:r>
              <a:rPr kumimoji="1" lang="en-US" altLang="zh-CN" sz="1800" err="1">
                <a:latin typeface="宋体" pitchFamily="2" charset="-122"/>
                <a:ea typeface="宋体" pitchFamily="2" charset="-122"/>
                <a:cs typeface="Consolas" pitchFamily="49" charset="0"/>
              </a:rPr>
              <a:t>≥</a:t>
            </a:r>
            <a:r>
              <a:rPr kumimoji="1" lang="en-US" altLang="zh-CN" sz="1800" i="1" err="1">
                <a:latin typeface="Consolas" pitchFamily="49" charset="0"/>
                <a:ea typeface="楷体" pitchFamily="49" charset="-122"/>
                <a:cs typeface="Consolas" pitchFamily="49" charset="0"/>
              </a:rPr>
              <a:t>j</a:t>
            </a:r>
            <a:endParaRPr lang="zh-CN" altLang="en-US" sz="1800">
              <a:latin typeface="Consolas" pitchFamily="49" charset="0"/>
              <a:cs typeface="Consolas" pitchFamily="49" charset="0"/>
            </a:endParaRPr>
          </a:p>
        </p:txBody>
      </p:sp>
      <p:sp>
        <p:nvSpPr>
          <p:cNvPr id="117" name="下箭头 15">
            <a:extLst>
              <a:ext uri="{FF2B5EF4-FFF2-40B4-BE49-F238E27FC236}">
                <a16:creationId xmlns:a16="http://schemas.microsoft.com/office/drawing/2014/main" id="{CFE60E52-0562-05C2-B08B-4A467289AC92}"/>
              </a:ext>
            </a:extLst>
          </p:cNvPr>
          <p:cNvSpPr/>
          <p:nvPr/>
        </p:nvSpPr>
        <p:spPr>
          <a:xfrm rot="16200000">
            <a:off x="7178970" y="4739062"/>
            <a:ext cx="285752"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305756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B6308-6F31-A8EF-AC16-5C4F4E1D40E4}"/>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4CFF2424-ADAA-E72D-357D-B8617B291681}"/>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3" name="Rectangle 2">
            <a:extLst>
              <a:ext uri="{FF2B5EF4-FFF2-40B4-BE49-F238E27FC236}">
                <a16:creationId xmlns:a16="http://schemas.microsoft.com/office/drawing/2014/main" id="{1BB8FBE3-0033-B16F-1588-11742A038A5A}"/>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8A5E6AEE-55F8-35B7-986E-DE0850B4F182}"/>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60130325-111B-6C8B-0148-786902CB6090}"/>
              </a:ext>
            </a:extLst>
          </p:cNvPr>
          <p:cNvSpPr/>
          <p:nvPr/>
        </p:nvSpPr>
        <p:spPr>
          <a:xfrm>
            <a:off x="983432" y="1772816"/>
            <a:ext cx="10657184"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带状矩阵</a:t>
            </a:r>
            <a:r>
              <a:rPr lang="zh-CN" altLang="en-US" sz="2000" dirty="0">
                <a:latin typeface="微软雅黑" pitchFamily="34" charset="-122"/>
                <a:ea typeface="微软雅黑" pitchFamily="34" charset="-122"/>
                <a:cs typeface="经典粗黑简" pitchFamily="49" charset="-122"/>
              </a:rPr>
              <a:t>（对角矩阵）是指所有的非零元素都集中在以主对角线为中心的带状区域中。</a:t>
            </a:r>
          </a:p>
        </p:txBody>
      </p:sp>
      <p:grpSp>
        <p:nvGrpSpPr>
          <p:cNvPr id="20" name="组合 19">
            <a:extLst>
              <a:ext uri="{FF2B5EF4-FFF2-40B4-BE49-F238E27FC236}">
                <a16:creationId xmlns:a16="http://schemas.microsoft.com/office/drawing/2014/main" id="{873EABC1-9F74-279D-0286-5EDADACD34C2}"/>
              </a:ext>
            </a:extLst>
          </p:cNvPr>
          <p:cNvGrpSpPr/>
          <p:nvPr/>
        </p:nvGrpSpPr>
        <p:grpSpPr>
          <a:xfrm>
            <a:off x="1116260" y="2929259"/>
            <a:ext cx="3773066" cy="2379662"/>
            <a:chOff x="3257485" y="3856719"/>
            <a:chExt cx="3773066" cy="2379662"/>
          </a:xfrm>
        </p:grpSpPr>
        <p:sp>
          <p:nvSpPr>
            <p:cNvPr id="21" name="Rectangle 4">
              <a:extLst>
                <a:ext uri="{FF2B5EF4-FFF2-40B4-BE49-F238E27FC236}">
                  <a16:creationId xmlns:a16="http://schemas.microsoft.com/office/drawing/2014/main" id="{496F575A-7C06-0DF5-8BC5-AA775F50A4D7}"/>
                </a:ext>
              </a:extLst>
            </p:cNvPr>
            <p:cNvSpPr>
              <a:spLocks noChangeArrowheads="1"/>
            </p:cNvSpPr>
            <p:nvPr/>
          </p:nvSpPr>
          <p:spPr bwMode="auto">
            <a:xfrm>
              <a:off x="3310309" y="3983783"/>
              <a:ext cx="3503816"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spcBef>
                  <a:spcPct val="2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a</a:t>
              </a:r>
              <a:r>
                <a:rPr kumimoji="1" lang="en-US" altLang="zh-CN" sz="2000" baseline="-18000" dirty="0">
                  <a:latin typeface="Tahoma" pitchFamily="34" charset="0"/>
                  <a:ea typeface="楷体_GB2312" pitchFamily="49" charset="-122"/>
                </a:rPr>
                <a:t>0</a:t>
              </a:r>
              <a:r>
                <a:rPr kumimoji="1" lang="en-US" altLang="zh-CN" sz="2000" baseline="-10000" dirty="0">
                  <a:latin typeface="Tahoma" pitchFamily="34" charset="0"/>
                  <a:ea typeface="楷体_GB2312" pitchFamily="49" charset="-122"/>
                </a:rPr>
                <a:t>,</a:t>
              </a:r>
              <a:r>
                <a:rPr kumimoji="1" lang="en-US" altLang="zh-CN" sz="2000" baseline="-18000" dirty="0">
                  <a:latin typeface="Tahoma" pitchFamily="34" charset="0"/>
                  <a:ea typeface="楷体_GB2312" pitchFamily="49" charset="-122"/>
                </a:rPr>
                <a:t>0</a:t>
              </a:r>
              <a:r>
                <a:rPr kumimoji="1" lang="en-US" altLang="zh-CN" sz="2000" dirty="0">
                  <a:latin typeface="Tahoma" pitchFamily="34" charset="0"/>
                  <a:ea typeface="楷体_GB2312" pitchFamily="49" charset="-122"/>
                </a:rPr>
                <a:t> a</a:t>
              </a:r>
              <a:r>
                <a:rPr kumimoji="1" lang="en-US" altLang="zh-CN" sz="2000" baseline="-18000" dirty="0">
                  <a:latin typeface="Tahoma" pitchFamily="34" charset="0"/>
                  <a:ea typeface="楷体_GB2312" pitchFamily="49" charset="-122"/>
                </a:rPr>
                <a:t>0</a:t>
              </a:r>
              <a:r>
                <a:rPr kumimoji="1" lang="en-US" altLang="zh-CN" sz="2000" baseline="-10000" dirty="0">
                  <a:latin typeface="Tahoma" pitchFamily="34" charset="0"/>
                  <a:ea typeface="楷体_GB2312" pitchFamily="49" charset="-122"/>
                </a:rPr>
                <a:t>,</a:t>
              </a:r>
              <a:r>
                <a:rPr kumimoji="1" lang="en-US" altLang="zh-CN" sz="2000" baseline="-18000" dirty="0">
                  <a:latin typeface="Tahoma" pitchFamily="34" charset="0"/>
                  <a:ea typeface="楷体_GB2312" pitchFamily="49" charset="-122"/>
                </a:rPr>
                <a:t>1</a:t>
              </a:r>
            </a:p>
            <a:p>
              <a:pPr algn="l">
                <a:spcBef>
                  <a:spcPct val="2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a</a:t>
              </a:r>
              <a:r>
                <a:rPr kumimoji="1" lang="en-US" altLang="zh-CN" sz="2000" baseline="-18000" dirty="0">
                  <a:latin typeface="Tahoma" pitchFamily="34" charset="0"/>
                  <a:ea typeface="楷体_GB2312" pitchFamily="49" charset="-122"/>
                </a:rPr>
                <a:t>1</a:t>
              </a:r>
              <a:r>
                <a:rPr kumimoji="1" lang="en-US" altLang="zh-CN" sz="2000" baseline="-10000" dirty="0">
                  <a:latin typeface="Tahoma" pitchFamily="34" charset="0"/>
                  <a:ea typeface="楷体_GB2312" pitchFamily="49" charset="-122"/>
                </a:rPr>
                <a:t>,</a:t>
              </a:r>
              <a:r>
                <a:rPr kumimoji="1" lang="en-US" altLang="zh-CN" sz="2000" baseline="-18000" dirty="0">
                  <a:latin typeface="Tahoma" pitchFamily="34" charset="0"/>
                  <a:ea typeface="楷体_GB2312" pitchFamily="49" charset="-122"/>
                </a:rPr>
                <a:t>0</a:t>
              </a:r>
              <a:r>
                <a:rPr kumimoji="1" lang="en-US" altLang="zh-CN" sz="2000" dirty="0">
                  <a:latin typeface="Tahoma" pitchFamily="34" charset="0"/>
                  <a:ea typeface="楷体_GB2312" pitchFamily="49" charset="-122"/>
                </a:rPr>
                <a:t> a</a:t>
              </a:r>
              <a:r>
                <a:rPr kumimoji="1" lang="en-US" altLang="zh-CN" sz="2000" baseline="-18000" dirty="0">
                  <a:latin typeface="Tahoma" pitchFamily="34" charset="0"/>
                  <a:ea typeface="楷体_GB2312" pitchFamily="49" charset="-122"/>
                </a:rPr>
                <a:t>1</a:t>
              </a:r>
              <a:r>
                <a:rPr kumimoji="1" lang="en-US" altLang="zh-CN" sz="2000" baseline="-10000" dirty="0">
                  <a:latin typeface="Tahoma" pitchFamily="34" charset="0"/>
                  <a:ea typeface="楷体_GB2312" pitchFamily="49" charset="-122"/>
                </a:rPr>
                <a:t>,</a:t>
              </a:r>
              <a:r>
                <a:rPr kumimoji="1" lang="en-US" altLang="zh-CN" sz="2000" baseline="-18000" dirty="0">
                  <a:latin typeface="Tahoma" pitchFamily="34" charset="0"/>
                  <a:ea typeface="楷体_GB2312" pitchFamily="49" charset="-122"/>
                </a:rPr>
                <a:t>1</a:t>
              </a:r>
              <a:r>
                <a:rPr kumimoji="1" lang="en-US" altLang="zh-CN" sz="2000" dirty="0">
                  <a:latin typeface="Tahoma" pitchFamily="34" charset="0"/>
                  <a:ea typeface="楷体_GB2312" pitchFamily="49" charset="-122"/>
                </a:rPr>
                <a:t> a</a:t>
              </a:r>
              <a:r>
                <a:rPr kumimoji="1" lang="en-US" altLang="zh-CN" sz="2000" baseline="-18000" dirty="0">
                  <a:latin typeface="Tahoma" pitchFamily="34" charset="0"/>
                  <a:ea typeface="楷体_GB2312" pitchFamily="49" charset="-122"/>
                </a:rPr>
                <a:t>1</a:t>
              </a:r>
              <a:r>
                <a:rPr kumimoji="1" lang="en-US" altLang="zh-CN" sz="2000" baseline="-10000" dirty="0">
                  <a:latin typeface="Tahoma" pitchFamily="34" charset="0"/>
                  <a:ea typeface="楷体_GB2312" pitchFamily="49" charset="-122"/>
                </a:rPr>
                <a:t>,</a:t>
              </a:r>
              <a:r>
                <a:rPr kumimoji="1" lang="en-US" altLang="zh-CN" sz="2000" baseline="-18000" dirty="0">
                  <a:latin typeface="Tahoma" pitchFamily="34" charset="0"/>
                  <a:ea typeface="楷体_GB2312" pitchFamily="49" charset="-122"/>
                </a:rPr>
                <a:t>2</a:t>
              </a:r>
            </a:p>
            <a:p>
              <a:pPr algn="l">
                <a:spcBef>
                  <a:spcPct val="2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      a</a:t>
              </a:r>
              <a:r>
                <a:rPr kumimoji="1" lang="en-US" altLang="zh-CN" sz="2000" baseline="-18000" dirty="0">
                  <a:latin typeface="Tahoma" pitchFamily="34" charset="0"/>
                  <a:ea typeface="楷体_GB2312" pitchFamily="49" charset="-122"/>
                </a:rPr>
                <a:t>2</a:t>
              </a:r>
              <a:r>
                <a:rPr kumimoji="1" lang="en-US" altLang="zh-CN" sz="2000" baseline="-10000" dirty="0">
                  <a:latin typeface="Tahoma" pitchFamily="34" charset="0"/>
                  <a:ea typeface="楷体_GB2312" pitchFamily="49" charset="-122"/>
                </a:rPr>
                <a:t>,</a:t>
              </a:r>
              <a:r>
                <a:rPr kumimoji="1" lang="en-US" altLang="zh-CN" sz="2000" baseline="-18000" dirty="0">
                  <a:latin typeface="Tahoma" pitchFamily="34" charset="0"/>
                  <a:ea typeface="楷体_GB2312" pitchFamily="49" charset="-122"/>
                </a:rPr>
                <a:t>1</a:t>
              </a:r>
              <a:r>
                <a:rPr kumimoji="1" lang="en-US" altLang="zh-CN" sz="2000" dirty="0">
                  <a:latin typeface="Tahoma" pitchFamily="34" charset="0"/>
                  <a:ea typeface="楷体_GB2312" pitchFamily="49" charset="-122"/>
                </a:rPr>
                <a:t> a</a:t>
              </a:r>
              <a:r>
                <a:rPr kumimoji="1" lang="en-US" altLang="zh-CN" sz="2000" baseline="-18000" dirty="0">
                  <a:latin typeface="Tahoma" pitchFamily="34" charset="0"/>
                  <a:ea typeface="楷体_GB2312" pitchFamily="49" charset="-122"/>
                </a:rPr>
                <a:t>2</a:t>
              </a:r>
              <a:r>
                <a:rPr kumimoji="1" lang="en-US" altLang="zh-CN" sz="2000" baseline="-10000" dirty="0">
                  <a:latin typeface="Tahoma" pitchFamily="34" charset="0"/>
                  <a:ea typeface="楷体_GB2312" pitchFamily="49" charset="-122"/>
                </a:rPr>
                <a:t>,</a:t>
              </a:r>
              <a:r>
                <a:rPr kumimoji="1" lang="en-US" altLang="zh-CN" sz="2000" baseline="-18000" dirty="0">
                  <a:latin typeface="Tahoma" pitchFamily="34" charset="0"/>
                  <a:ea typeface="楷体_GB2312" pitchFamily="49" charset="-122"/>
                </a:rPr>
                <a:t>2</a:t>
              </a:r>
              <a:r>
                <a:rPr kumimoji="1" lang="en-US" altLang="zh-CN" sz="2000" dirty="0">
                  <a:latin typeface="Tahoma" pitchFamily="34" charset="0"/>
                  <a:ea typeface="楷体_GB2312" pitchFamily="49" charset="-122"/>
                </a:rPr>
                <a:t> a</a:t>
              </a:r>
              <a:r>
                <a:rPr kumimoji="1" lang="en-US" altLang="zh-CN" sz="2000" baseline="-18000" dirty="0">
                  <a:latin typeface="Tahoma" pitchFamily="34" charset="0"/>
                  <a:ea typeface="楷体_GB2312" pitchFamily="49" charset="-122"/>
                </a:rPr>
                <a:t>2</a:t>
              </a:r>
              <a:r>
                <a:rPr kumimoji="1" lang="en-US" altLang="zh-CN" sz="2000" baseline="-10000" dirty="0">
                  <a:latin typeface="Tahoma" pitchFamily="34" charset="0"/>
                  <a:ea typeface="楷体_GB2312" pitchFamily="49" charset="-122"/>
                </a:rPr>
                <a:t>,</a:t>
              </a:r>
              <a:r>
                <a:rPr kumimoji="1" lang="en-US" altLang="zh-CN" sz="2000" baseline="-18000" dirty="0">
                  <a:latin typeface="Tahoma" pitchFamily="34" charset="0"/>
                  <a:ea typeface="楷体_GB2312" pitchFamily="49" charset="-122"/>
                </a:rPr>
                <a:t>3</a:t>
              </a:r>
            </a:p>
            <a:p>
              <a:pPr algn="l">
                <a:spcBef>
                  <a:spcPct val="2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            …. </a:t>
              </a:r>
              <a:r>
                <a:rPr kumimoji="1" lang="en-US" altLang="zh-CN" sz="2000" dirty="0" err="1">
                  <a:latin typeface="Tahoma" pitchFamily="34" charset="0"/>
                  <a:ea typeface="楷体_GB2312" pitchFamily="49" charset="-122"/>
                </a:rPr>
                <a:t>a</a:t>
              </a:r>
              <a:r>
                <a:rPr kumimoji="1" lang="en-US" altLang="zh-CN" sz="2000" baseline="-8000" dirty="0" err="1">
                  <a:latin typeface="Tahoma" pitchFamily="34" charset="0"/>
                  <a:ea typeface="楷体_GB2312" pitchFamily="49" charset="-122"/>
                </a:rPr>
                <a:t>i,j</a:t>
              </a:r>
              <a:r>
                <a:rPr kumimoji="1" lang="en-US" altLang="zh-CN" sz="2000" dirty="0">
                  <a:latin typeface="Tahoma" pitchFamily="34" charset="0"/>
                  <a:ea typeface="楷体_GB2312" pitchFamily="49" charset="-122"/>
                </a:rPr>
                <a:t> …. </a:t>
              </a:r>
            </a:p>
            <a:p>
              <a:pPr algn="l">
                <a:spcBef>
                  <a:spcPct val="2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             a</a:t>
              </a:r>
              <a:r>
                <a:rPr kumimoji="1" lang="en-US" altLang="zh-CN" sz="2000" baseline="-18000" dirty="0">
                  <a:latin typeface="Tahoma" pitchFamily="34" charset="0"/>
                  <a:ea typeface="楷体_GB2312" pitchFamily="49" charset="-122"/>
                </a:rPr>
                <a:t>n-2</a:t>
              </a:r>
              <a:r>
                <a:rPr kumimoji="1" lang="en-US" altLang="zh-CN" sz="2000" baseline="-10000" dirty="0">
                  <a:latin typeface="Tahoma" pitchFamily="34" charset="0"/>
                  <a:ea typeface="楷体_GB2312" pitchFamily="49" charset="-122"/>
                </a:rPr>
                <a:t>,</a:t>
              </a:r>
              <a:r>
                <a:rPr kumimoji="1" lang="en-US" altLang="zh-CN" sz="2000" baseline="-18000" dirty="0">
                  <a:latin typeface="Tahoma" pitchFamily="34" charset="0"/>
                  <a:ea typeface="楷体_GB2312" pitchFamily="49" charset="-122"/>
                </a:rPr>
                <a:t>n-3</a:t>
              </a:r>
              <a:r>
                <a:rPr kumimoji="1" lang="en-US" altLang="zh-CN" sz="2000" dirty="0">
                  <a:latin typeface="Tahoma" pitchFamily="34" charset="0"/>
                  <a:ea typeface="楷体_GB2312" pitchFamily="49" charset="-122"/>
                </a:rPr>
                <a:t> a</a:t>
              </a:r>
              <a:r>
                <a:rPr kumimoji="1" lang="en-US" altLang="zh-CN" sz="2000" baseline="-18000" dirty="0">
                  <a:latin typeface="Tahoma" pitchFamily="34" charset="0"/>
                  <a:ea typeface="楷体_GB2312" pitchFamily="49" charset="-122"/>
                </a:rPr>
                <a:t>n-2</a:t>
              </a:r>
              <a:r>
                <a:rPr kumimoji="1" lang="en-US" altLang="zh-CN" sz="2000" baseline="-10000" dirty="0">
                  <a:latin typeface="Tahoma" pitchFamily="34" charset="0"/>
                  <a:ea typeface="楷体_GB2312" pitchFamily="49" charset="-122"/>
                </a:rPr>
                <a:t>,</a:t>
              </a:r>
              <a:r>
                <a:rPr kumimoji="1" lang="en-US" altLang="zh-CN" sz="2000" baseline="-18000" dirty="0">
                  <a:latin typeface="Tahoma" pitchFamily="34" charset="0"/>
                  <a:ea typeface="楷体_GB2312" pitchFamily="49" charset="-122"/>
                </a:rPr>
                <a:t>n-2</a:t>
              </a:r>
              <a:r>
                <a:rPr kumimoji="1" lang="en-US" altLang="zh-CN" sz="2000" dirty="0">
                  <a:latin typeface="Tahoma" pitchFamily="34" charset="0"/>
                  <a:ea typeface="楷体_GB2312" pitchFamily="49" charset="-122"/>
                </a:rPr>
                <a:t> a</a:t>
              </a:r>
              <a:r>
                <a:rPr kumimoji="1" lang="en-US" altLang="zh-CN" sz="2000" baseline="-18000" dirty="0">
                  <a:latin typeface="Tahoma" pitchFamily="34" charset="0"/>
                  <a:ea typeface="楷体_GB2312" pitchFamily="49" charset="-122"/>
                </a:rPr>
                <a:t>n-2</a:t>
              </a:r>
              <a:r>
                <a:rPr kumimoji="1" lang="en-US" altLang="zh-CN" sz="2000" baseline="-10000" dirty="0">
                  <a:latin typeface="Tahoma" pitchFamily="34" charset="0"/>
                  <a:ea typeface="楷体_GB2312" pitchFamily="49" charset="-122"/>
                </a:rPr>
                <a:t>,</a:t>
              </a:r>
              <a:r>
                <a:rPr kumimoji="1" lang="en-US" altLang="zh-CN" sz="2000" baseline="-18000" dirty="0">
                  <a:latin typeface="Tahoma" pitchFamily="34" charset="0"/>
                  <a:ea typeface="楷体_GB2312" pitchFamily="49" charset="-122"/>
                </a:rPr>
                <a:t>n-1</a:t>
              </a:r>
            </a:p>
            <a:p>
              <a:pPr algn="l">
                <a:spcBef>
                  <a:spcPct val="20000"/>
                </a:spcBef>
                <a:buClr>
                  <a:schemeClr val="folHlink"/>
                </a:buClr>
                <a:buSzPct val="60000"/>
                <a:buFont typeface="Wingdings" pitchFamily="2" charset="2"/>
                <a:buNone/>
              </a:pPr>
              <a:r>
                <a:rPr kumimoji="1" lang="en-US" altLang="zh-CN" sz="2000" dirty="0">
                  <a:latin typeface="Tahoma" pitchFamily="34" charset="0"/>
                  <a:ea typeface="楷体_GB2312" pitchFamily="49" charset="-122"/>
                </a:rPr>
                <a:t>                       a</a:t>
              </a:r>
              <a:r>
                <a:rPr kumimoji="1" lang="en-US" altLang="zh-CN" sz="2000" baseline="-18000" dirty="0">
                  <a:latin typeface="Tahoma" pitchFamily="34" charset="0"/>
                  <a:ea typeface="楷体_GB2312" pitchFamily="49" charset="-122"/>
                </a:rPr>
                <a:t>n-1</a:t>
              </a:r>
              <a:r>
                <a:rPr kumimoji="1" lang="en-US" altLang="zh-CN" sz="2000" baseline="-10000" dirty="0">
                  <a:latin typeface="Tahoma" pitchFamily="34" charset="0"/>
                  <a:ea typeface="楷体_GB2312" pitchFamily="49" charset="-122"/>
                </a:rPr>
                <a:t>,</a:t>
              </a:r>
              <a:r>
                <a:rPr kumimoji="1" lang="en-US" altLang="zh-CN" sz="2000" baseline="-18000" dirty="0">
                  <a:latin typeface="Tahoma" pitchFamily="34" charset="0"/>
                  <a:ea typeface="楷体_GB2312" pitchFamily="49" charset="-122"/>
                </a:rPr>
                <a:t>n-2</a:t>
              </a:r>
              <a:r>
                <a:rPr kumimoji="1" lang="en-US" altLang="zh-CN" sz="2000" dirty="0">
                  <a:latin typeface="Tahoma" pitchFamily="34" charset="0"/>
                  <a:ea typeface="楷体_GB2312" pitchFamily="49" charset="-122"/>
                </a:rPr>
                <a:t> a</a:t>
              </a:r>
              <a:r>
                <a:rPr kumimoji="1" lang="en-US" altLang="zh-CN" sz="2000" baseline="-18000" dirty="0">
                  <a:latin typeface="Tahoma" pitchFamily="34" charset="0"/>
                  <a:ea typeface="楷体_GB2312" pitchFamily="49" charset="-122"/>
                </a:rPr>
                <a:t>n-1</a:t>
              </a:r>
              <a:r>
                <a:rPr kumimoji="1" lang="en-US" altLang="zh-CN" sz="2000" baseline="-10000" dirty="0">
                  <a:latin typeface="Tahoma" pitchFamily="34" charset="0"/>
                  <a:ea typeface="楷体_GB2312" pitchFamily="49" charset="-122"/>
                </a:rPr>
                <a:t>, </a:t>
              </a:r>
              <a:r>
                <a:rPr kumimoji="1" lang="en-US" altLang="zh-CN" sz="2000" baseline="-18000" dirty="0">
                  <a:latin typeface="Tahoma" pitchFamily="34" charset="0"/>
                  <a:ea typeface="楷体_GB2312" pitchFamily="49" charset="-122"/>
                </a:rPr>
                <a:t>n-1</a:t>
              </a:r>
            </a:p>
          </p:txBody>
        </p:sp>
        <p:grpSp>
          <p:nvGrpSpPr>
            <p:cNvPr id="22" name="组合 21">
              <a:extLst>
                <a:ext uri="{FF2B5EF4-FFF2-40B4-BE49-F238E27FC236}">
                  <a16:creationId xmlns:a16="http://schemas.microsoft.com/office/drawing/2014/main" id="{C4F3E266-F265-C2E7-935E-2C5CBFFCBC22}"/>
                </a:ext>
              </a:extLst>
            </p:cNvPr>
            <p:cNvGrpSpPr/>
            <p:nvPr/>
          </p:nvGrpSpPr>
          <p:grpSpPr>
            <a:xfrm>
              <a:off x="3257485" y="3856719"/>
              <a:ext cx="274637" cy="2379662"/>
              <a:chOff x="3252891" y="3856719"/>
              <a:chExt cx="274637" cy="2889250"/>
            </a:xfrm>
          </p:grpSpPr>
          <p:sp>
            <p:nvSpPr>
              <p:cNvPr id="37" name="Line 5">
                <a:extLst>
                  <a:ext uri="{FF2B5EF4-FFF2-40B4-BE49-F238E27FC236}">
                    <a16:creationId xmlns:a16="http://schemas.microsoft.com/office/drawing/2014/main" id="{E04A6E5B-8067-D8F9-BC35-5D814D9936BF}"/>
                  </a:ext>
                </a:extLst>
              </p:cNvPr>
              <p:cNvSpPr>
                <a:spLocks noChangeShapeType="1"/>
              </p:cNvSpPr>
              <p:nvPr/>
            </p:nvSpPr>
            <p:spPr bwMode="auto">
              <a:xfrm>
                <a:off x="3252891" y="3856719"/>
                <a:ext cx="0" cy="2889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1" name="Line 6">
                <a:extLst>
                  <a:ext uri="{FF2B5EF4-FFF2-40B4-BE49-F238E27FC236}">
                    <a16:creationId xmlns:a16="http://schemas.microsoft.com/office/drawing/2014/main" id="{8961A44D-91E9-BDE9-FD30-E5F0BFAE75B3}"/>
                  </a:ext>
                </a:extLst>
              </p:cNvPr>
              <p:cNvSpPr>
                <a:spLocks noChangeShapeType="1"/>
              </p:cNvSpPr>
              <p:nvPr/>
            </p:nvSpPr>
            <p:spPr bwMode="auto">
              <a:xfrm>
                <a:off x="3252891" y="6745969"/>
                <a:ext cx="274637"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 name="Line 7">
                <a:extLst>
                  <a:ext uri="{FF2B5EF4-FFF2-40B4-BE49-F238E27FC236}">
                    <a16:creationId xmlns:a16="http://schemas.microsoft.com/office/drawing/2014/main" id="{31889726-70BF-6DFA-F88C-633B6C445E8F}"/>
                  </a:ext>
                </a:extLst>
              </p:cNvPr>
              <p:cNvSpPr>
                <a:spLocks noChangeShapeType="1"/>
              </p:cNvSpPr>
              <p:nvPr/>
            </p:nvSpPr>
            <p:spPr bwMode="auto">
              <a:xfrm>
                <a:off x="3252891" y="3856719"/>
                <a:ext cx="274637"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2" name="组合 31">
              <a:extLst>
                <a:ext uri="{FF2B5EF4-FFF2-40B4-BE49-F238E27FC236}">
                  <a16:creationId xmlns:a16="http://schemas.microsoft.com/office/drawing/2014/main" id="{A5648747-8719-49CA-4BFA-AA0F17C04DD4}"/>
                </a:ext>
              </a:extLst>
            </p:cNvPr>
            <p:cNvGrpSpPr/>
            <p:nvPr/>
          </p:nvGrpSpPr>
          <p:grpSpPr>
            <a:xfrm>
              <a:off x="6755914" y="3901168"/>
              <a:ext cx="274637" cy="2335213"/>
              <a:chOff x="7443891" y="3856719"/>
              <a:chExt cx="274637" cy="2889250"/>
            </a:xfrm>
          </p:grpSpPr>
          <p:sp>
            <p:nvSpPr>
              <p:cNvPr id="34" name="Line 8">
                <a:extLst>
                  <a:ext uri="{FF2B5EF4-FFF2-40B4-BE49-F238E27FC236}">
                    <a16:creationId xmlns:a16="http://schemas.microsoft.com/office/drawing/2014/main" id="{A223F673-69E3-08AB-C135-D926943F4256}"/>
                  </a:ext>
                </a:extLst>
              </p:cNvPr>
              <p:cNvSpPr>
                <a:spLocks noChangeShapeType="1"/>
              </p:cNvSpPr>
              <p:nvPr/>
            </p:nvSpPr>
            <p:spPr bwMode="auto">
              <a:xfrm>
                <a:off x="7718528" y="3856719"/>
                <a:ext cx="0" cy="28892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 name="Line 9">
                <a:extLst>
                  <a:ext uri="{FF2B5EF4-FFF2-40B4-BE49-F238E27FC236}">
                    <a16:creationId xmlns:a16="http://schemas.microsoft.com/office/drawing/2014/main" id="{BBC07126-33A9-5906-72D6-6F8DFA8A62DA}"/>
                  </a:ext>
                </a:extLst>
              </p:cNvPr>
              <p:cNvSpPr>
                <a:spLocks noChangeShapeType="1"/>
              </p:cNvSpPr>
              <p:nvPr/>
            </p:nvSpPr>
            <p:spPr bwMode="auto">
              <a:xfrm>
                <a:off x="7443891" y="6745969"/>
                <a:ext cx="274637"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10">
                <a:extLst>
                  <a:ext uri="{FF2B5EF4-FFF2-40B4-BE49-F238E27FC236}">
                    <a16:creationId xmlns:a16="http://schemas.microsoft.com/office/drawing/2014/main" id="{A405AF0C-1868-7A1F-4BD9-84E5492A8A7F}"/>
                  </a:ext>
                </a:extLst>
              </p:cNvPr>
              <p:cNvSpPr>
                <a:spLocks noChangeShapeType="1"/>
              </p:cNvSpPr>
              <p:nvPr/>
            </p:nvSpPr>
            <p:spPr bwMode="auto">
              <a:xfrm>
                <a:off x="7443891" y="3856719"/>
                <a:ext cx="274637"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43" name="Rectangle 6">
            <a:extLst>
              <a:ext uri="{FF2B5EF4-FFF2-40B4-BE49-F238E27FC236}">
                <a16:creationId xmlns:a16="http://schemas.microsoft.com/office/drawing/2014/main" id="{4A1E9F65-8404-5F58-871A-1DD736681CCC}"/>
              </a:ext>
            </a:extLst>
          </p:cNvPr>
          <p:cNvSpPr>
            <a:spLocks noChangeArrowheads="1"/>
          </p:cNvSpPr>
          <p:nvPr/>
        </p:nvSpPr>
        <p:spPr bwMode="auto">
          <a:xfrm>
            <a:off x="8869958" y="4059157"/>
            <a:ext cx="3090068" cy="400110"/>
          </a:xfrm>
          <a:prstGeom prst="rect">
            <a:avLst/>
          </a:prstGeom>
          <a:noFill/>
          <a:ln w="9525">
            <a:noFill/>
            <a:miter lim="800000"/>
            <a:headEnd/>
            <a:tailEnd/>
          </a:ln>
          <a:effectLst/>
        </p:spPr>
        <p:txBody>
          <a:bodyPr wrap="square">
            <a:spAutoFit/>
          </a:bodyPr>
          <a:lstStyle/>
          <a:p>
            <a:pPr algn="l"/>
            <a:r>
              <a:rPr kumimoji="1" lang="en-US" altLang="zh-CN" sz="2000" dirty="0">
                <a:latin typeface="Consolas" pitchFamily="49" charset="0"/>
                <a:ea typeface="仿宋" pitchFamily="49" charset="-122"/>
                <a:cs typeface="Consolas" pitchFamily="49" charset="0"/>
              </a:rPr>
              <a:t> </a:t>
            </a:r>
            <a:r>
              <a:rPr kumimoji="1" lang="zh-CN" altLang="en-US" sz="2000" dirty="0">
                <a:latin typeface="Consolas" pitchFamily="49" charset="0"/>
                <a:ea typeface="仿宋" pitchFamily="49" charset="-122"/>
                <a:cs typeface="Consolas" pitchFamily="49" charset="0"/>
              </a:rPr>
              <a:t>半带宽为</a:t>
            </a:r>
            <a:r>
              <a:rPr kumimoji="1" lang="en-US" altLang="zh-CN" sz="2000" i="1" dirty="0">
                <a:latin typeface="Consolas" pitchFamily="49" charset="0"/>
                <a:ea typeface="仿宋" pitchFamily="49" charset="-122"/>
                <a:cs typeface="Consolas" pitchFamily="49" charset="0"/>
              </a:rPr>
              <a:t>b</a:t>
            </a:r>
            <a:r>
              <a:rPr kumimoji="1" lang="zh-CN" altLang="en-US" sz="2000" dirty="0">
                <a:latin typeface="Consolas" pitchFamily="49" charset="0"/>
                <a:ea typeface="仿宋" pitchFamily="49" charset="-122"/>
                <a:cs typeface="Consolas" pitchFamily="49" charset="0"/>
              </a:rPr>
              <a:t>的对角矩阵</a:t>
            </a:r>
            <a:r>
              <a:rPr kumimoji="1" lang="zh-CN" altLang="en-US" sz="2000" b="0" dirty="0">
                <a:latin typeface="Consolas" pitchFamily="49" charset="0"/>
                <a:ea typeface="仿宋" pitchFamily="49" charset="-122"/>
                <a:cs typeface="Consolas" pitchFamily="49" charset="0"/>
              </a:rPr>
              <a:t> </a:t>
            </a:r>
          </a:p>
        </p:txBody>
      </p:sp>
      <p:grpSp>
        <p:nvGrpSpPr>
          <p:cNvPr id="44" name="Group 26">
            <a:extLst>
              <a:ext uri="{FF2B5EF4-FFF2-40B4-BE49-F238E27FC236}">
                <a16:creationId xmlns:a16="http://schemas.microsoft.com/office/drawing/2014/main" id="{5870AB52-E35A-941D-DFDD-F2F1BD41153C}"/>
              </a:ext>
            </a:extLst>
          </p:cNvPr>
          <p:cNvGrpSpPr>
            <a:grpSpLocks/>
          </p:cNvGrpSpPr>
          <p:nvPr/>
        </p:nvGrpSpPr>
        <p:grpSpPr bwMode="auto">
          <a:xfrm>
            <a:off x="5303912" y="2691645"/>
            <a:ext cx="3444876" cy="2600325"/>
            <a:chOff x="438" y="2155"/>
            <a:chExt cx="2170" cy="1638"/>
          </a:xfrm>
        </p:grpSpPr>
        <p:sp>
          <p:nvSpPr>
            <p:cNvPr id="45" name="Line 7">
              <a:extLst>
                <a:ext uri="{FF2B5EF4-FFF2-40B4-BE49-F238E27FC236}">
                  <a16:creationId xmlns:a16="http://schemas.microsoft.com/office/drawing/2014/main" id="{8B174289-4416-24D7-07A4-A1804E6A1C35}"/>
                </a:ext>
              </a:extLst>
            </p:cNvPr>
            <p:cNvSpPr>
              <a:spLocks noChangeShapeType="1"/>
            </p:cNvSpPr>
            <p:nvPr/>
          </p:nvSpPr>
          <p:spPr bwMode="auto">
            <a:xfrm>
              <a:off x="975" y="2432"/>
              <a:ext cx="0" cy="1361"/>
            </a:xfrm>
            <a:prstGeom prst="line">
              <a:avLst/>
            </a:prstGeom>
            <a:noFill/>
            <a:ln w="38100">
              <a:solidFill>
                <a:srgbClr val="9900FF"/>
              </a:solidFill>
              <a:round/>
              <a:headEnd/>
              <a:tailEn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46" name="Line 8">
              <a:extLst>
                <a:ext uri="{FF2B5EF4-FFF2-40B4-BE49-F238E27FC236}">
                  <a16:creationId xmlns:a16="http://schemas.microsoft.com/office/drawing/2014/main" id="{E3C8D224-7F95-1CCD-2575-D0314E9D032F}"/>
                </a:ext>
              </a:extLst>
            </p:cNvPr>
            <p:cNvSpPr>
              <a:spLocks noChangeShapeType="1"/>
            </p:cNvSpPr>
            <p:nvPr/>
          </p:nvSpPr>
          <p:spPr bwMode="auto">
            <a:xfrm>
              <a:off x="975" y="2432"/>
              <a:ext cx="136" cy="0"/>
            </a:xfrm>
            <a:prstGeom prst="line">
              <a:avLst/>
            </a:prstGeom>
            <a:noFill/>
            <a:ln w="38100">
              <a:solidFill>
                <a:srgbClr val="9900FF"/>
              </a:solidFill>
              <a:round/>
              <a:headEnd/>
              <a:tailEn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47" name="Line 9">
              <a:extLst>
                <a:ext uri="{FF2B5EF4-FFF2-40B4-BE49-F238E27FC236}">
                  <a16:creationId xmlns:a16="http://schemas.microsoft.com/office/drawing/2014/main" id="{1B2CD2B6-9D5E-C878-5714-3A844C839583}"/>
                </a:ext>
              </a:extLst>
            </p:cNvPr>
            <p:cNvSpPr>
              <a:spLocks noChangeShapeType="1"/>
            </p:cNvSpPr>
            <p:nvPr/>
          </p:nvSpPr>
          <p:spPr bwMode="auto">
            <a:xfrm>
              <a:off x="975" y="3793"/>
              <a:ext cx="136" cy="0"/>
            </a:xfrm>
            <a:prstGeom prst="line">
              <a:avLst/>
            </a:prstGeom>
            <a:noFill/>
            <a:ln w="38100">
              <a:solidFill>
                <a:srgbClr val="9900FF"/>
              </a:solidFill>
              <a:round/>
              <a:headEnd/>
              <a:tailEn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48" name="Line 10">
              <a:extLst>
                <a:ext uri="{FF2B5EF4-FFF2-40B4-BE49-F238E27FC236}">
                  <a16:creationId xmlns:a16="http://schemas.microsoft.com/office/drawing/2014/main" id="{C1F40559-4F9C-9A3F-A55B-1BB2E44F148C}"/>
                </a:ext>
              </a:extLst>
            </p:cNvPr>
            <p:cNvSpPr>
              <a:spLocks noChangeShapeType="1"/>
            </p:cNvSpPr>
            <p:nvPr/>
          </p:nvSpPr>
          <p:spPr bwMode="auto">
            <a:xfrm>
              <a:off x="2603" y="2432"/>
              <a:ext cx="0" cy="1361"/>
            </a:xfrm>
            <a:prstGeom prst="line">
              <a:avLst/>
            </a:prstGeom>
            <a:noFill/>
            <a:ln w="38100">
              <a:solidFill>
                <a:srgbClr val="9900FF"/>
              </a:solidFill>
              <a:round/>
              <a:headEnd/>
              <a:tailEn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49" name="Line 11">
              <a:extLst>
                <a:ext uri="{FF2B5EF4-FFF2-40B4-BE49-F238E27FC236}">
                  <a16:creationId xmlns:a16="http://schemas.microsoft.com/office/drawing/2014/main" id="{01994F64-561A-103B-BFBF-FC5C6A2EE786}"/>
                </a:ext>
              </a:extLst>
            </p:cNvPr>
            <p:cNvSpPr>
              <a:spLocks noChangeShapeType="1"/>
            </p:cNvSpPr>
            <p:nvPr/>
          </p:nvSpPr>
          <p:spPr bwMode="auto">
            <a:xfrm>
              <a:off x="2472" y="2432"/>
              <a:ext cx="136" cy="0"/>
            </a:xfrm>
            <a:prstGeom prst="line">
              <a:avLst/>
            </a:prstGeom>
            <a:noFill/>
            <a:ln w="38100">
              <a:solidFill>
                <a:srgbClr val="9900FF"/>
              </a:solidFill>
              <a:round/>
              <a:headEnd/>
              <a:tailEn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50" name="Line 12">
              <a:extLst>
                <a:ext uri="{FF2B5EF4-FFF2-40B4-BE49-F238E27FC236}">
                  <a16:creationId xmlns:a16="http://schemas.microsoft.com/office/drawing/2014/main" id="{17442E03-A426-F66C-B063-2DA45B7CAA36}"/>
                </a:ext>
              </a:extLst>
            </p:cNvPr>
            <p:cNvSpPr>
              <a:spLocks noChangeShapeType="1"/>
            </p:cNvSpPr>
            <p:nvPr/>
          </p:nvSpPr>
          <p:spPr bwMode="auto">
            <a:xfrm>
              <a:off x="2472" y="3793"/>
              <a:ext cx="136" cy="0"/>
            </a:xfrm>
            <a:prstGeom prst="line">
              <a:avLst/>
            </a:prstGeom>
            <a:noFill/>
            <a:ln w="38100">
              <a:solidFill>
                <a:srgbClr val="9900FF"/>
              </a:solidFill>
              <a:round/>
              <a:headEnd/>
              <a:tailEn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51" name="Line 13">
              <a:extLst>
                <a:ext uri="{FF2B5EF4-FFF2-40B4-BE49-F238E27FC236}">
                  <a16:creationId xmlns:a16="http://schemas.microsoft.com/office/drawing/2014/main" id="{A057DB84-C5EA-D7BD-7447-348016EFDE89}"/>
                </a:ext>
              </a:extLst>
            </p:cNvPr>
            <p:cNvSpPr>
              <a:spLocks noChangeShapeType="1"/>
            </p:cNvSpPr>
            <p:nvPr/>
          </p:nvSpPr>
          <p:spPr bwMode="auto">
            <a:xfrm>
              <a:off x="1095" y="2507"/>
              <a:ext cx="1406" cy="1225"/>
            </a:xfrm>
            <a:prstGeom prst="line">
              <a:avLst/>
            </a:prstGeom>
            <a:noFill/>
            <a:ln w="38100">
              <a:solidFill>
                <a:srgbClr val="00CC00"/>
              </a:solidFill>
              <a:round/>
              <a:headEnd/>
              <a:tailEn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52" name="Line 14">
              <a:extLst>
                <a:ext uri="{FF2B5EF4-FFF2-40B4-BE49-F238E27FC236}">
                  <a16:creationId xmlns:a16="http://schemas.microsoft.com/office/drawing/2014/main" id="{4423CE60-3E9D-CEA4-3909-280135923FB1}"/>
                </a:ext>
              </a:extLst>
            </p:cNvPr>
            <p:cNvSpPr>
              <a:spLocks noChangeShapeType="1"/>
            </p:cNvSpPr>
            <p:nvPr/>
          </p:nvSpPr>
          <p:spPr bwMode="auto">
            <a:xfrm>
              <a:off x="1338" y="2523"/>
              <a:ext cx="1088" cy="952"/>
            </a:xfrm>
            <a:prstGeom prst="line">
              <a:avLst/>
            </a:prstGeom>
            <a:noFill/>
            <a:ln w="38100">
              <a:solidFill>
                <a:srgbClr val="00CC00"/>
              </a:solidFill>
              <a:round/>
              <a:headEnd/>
              <a:tailEn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53" name="Line 15">
              <a:extLst>
                <a:ext uri="{FF2B5EF4-FFF2-40B4-BE49-F238E27FC236}">
                  <a16:creationId xmlns:a16="http://schemas.microsoft.com/office/drawing/2014/main" id="{17188E11-BEA1-9EE8-C9B9-C3D3BBBBB393}"/>
                </a:ext>
              </a:extLst>
            </p:cNvPr>
            <p:cNvSpPr>
              <a:spLocks noChangeShapeType="1"/>
            </p:cNvSpPr>
            <p:nvPr/>
          </p:nvSpPr>
          <p:spPr bwMode="auto">
            <a:xfrm>
              <a:off x="1791" y="2523"/>
              <a:ext cx="635" cy="590"/>
            </a:xfrm>
            <a:prstGeom prst="line">
              <a:avLst/>
            </a:prstGeom>
            <a:noFill/>
            <a:ln w="38100">
              <a:solidFill>
                <a:srgbClr val="00CC00"/>
              </a:solidFill>
              <a:round/>
              <a:headEnd/>
              <a:tailEn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54" name="Line 16">
              <a:extLst>
                <a:ext uri="{FF2B5EF4-FFF2-40B4-BE49-F238E27FC236}">
                  <a16:creationId xmlns:a16="http://schemas.microsoft.com/office/drawing/2014/main" id="{4710C237-5099-6B25-85E0-5506AB097F8E}"/>
                </a:ext>
              </a:extLst>
            </p:cNvPr>
            <p:cNvSpPr>
              <a:spLocks noChangeShapeType="1"/>
            </p:cNvSpPr>
            <p:nvPr/>
          </p:nvSpPr>
          <p:spPr bwMode="auto">
            <a:xfrm>
              <a:off x="1156" y="2764"/>
              <a:ext cx="1088" cy="952"/>
            </a:xfrm>
            <a:prstGeom prst="line">
              <a:avLst/>
            </a:prstGeom>
            <a:noFill/>
            <a:ln w="38100">
              <a:solidFill>
                <a:srgbClr val="00CC00"/>
              </a:solidFill>
              <a:round/>
              <a:headEnd/>
              <a:tailEn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55" name="Line 17">
              <a:extLst>
                <a:ext uri="{FF2B5EF4-FFF2-40B4-BE49-F238E27FC236}">
                  <a16:creationId xmlns:a16="http://schemas.microsoft.com/office/drawing/2014/main" id="{D56785D9-79E2-6CDB-ADC3-2ADB7C688F4A}"/>
                </a:ext>
              </a:extLst>
            </p:cNvPr>
            <p:cNvSpPr>
              <a:spLocks noChangeShapeType="1"/>
            </p:cNvSpPr>
            <p:nvPr/>
          </p:nvSpPr>
          <p:spPr bwMode="auto">
            <a:xfrm>
              <a:off x="1156" y="3112"/>
              <a:ext cx="635" cy="590"/>
            </a:xfrm>
            <a:prstGeom prst="line">
              <a:avLst/>
            </a:prstGeom>
            <a:noFill/>
            <a:ln w="38100">
              <a:solidFill>
                <a:srgbClr val="00CC00"/>
              </a:solidFill>
              <a:round/>
              <a:headEnd/>
              <a:tailEnd/>
            </a:ln>
            <a:effectLst/>
          </p:spPr>
          <p:txBody>
            <a:bodyPr wrap="none"/>
            <a:lstStyle/>
            <a:p>
              <a:endParaRPr lang="zh-CN" altLang="en-US" sz="1800">
                <a:latin typeface="Consolas" pitchFamily="49" charset="0"/>
                <a:ea typeface="仿宋" pitchFamily="49" charset="-122"/>
                <a:cs typeface="Consolas" pitchFamily="49" charset="0"/>
              </a:endParaRPr>
            </a:p>
          </p:txBody>
        </p:sp>
        <p:sp>
          <p:nvSpPr>
            <p:cNvPr id="62" name="AutoShape 18">
              <a:extLst>
                <a:ext uri="{FF2B5EF4-FFF2-40B4-BE49-F238E27FC236}">
                  <a16:creationId xmlns:a16="http://schemas.microsoft.com/office/drawing/2014/main" id="{394831BE-935A-D77C-1105-1F941015669E}"/>
                </a:ext>
              </a:extLst>
            </p:cNvPr>
            <p:cNvSpPr>
              <a:spLocks/>
            </p:cNvSpPr>
            <p:nvPr/>
          </p:nvSpPr>
          <p:spPr bwMode="auto">
            <a:xfrm>
              <a:off x="809" y="2659"/>
              <a:ext cx="91" cy="431"/>
            </a:xfrm>
            <a:prstGeom prst="leftBrace">
              <a:avLst>
                <a:gd name="adj1" fmla="val 39469"/>
                <a:gd name="adj2" fmla="val 50000"/>
              </a:avLst>
            </a:prstGeom>
            <a:noFill/>
            <a:ln w="38100">
              <a:solidFill>
                <a:srgbClr val="00CC00"/>
              </a:solidFill>
              <a:round/>
              <a:headEnd/>
              <a:tailEnd/>
            </a:ln>
            <a:effectLst/>
          </p:spPr>
          <p:txBody>
            <a:bodyPr wrap="none" anchor="ctr"/>
            <a:lstStyle/>
            <a:p>
              <a:endParaRPr lang="zh-CN" altLang="en-US" sz="1800">
                <a:latin typeface="Consolas" pitchFamily="49" charset="0"/>
                <a:ea typeface="仿宋" pitchFamily="49" charset="-122"/>
                <a:cs typeface="Consolas" pitchFamily="49" charset="0"/>
              </a:endParaRPr>
            </a:p>
          </p:txBody>
        </p:sp>
        <p:sp>
          <p:nvSpPr>
            <p:cNvPr id="63" name="Text Box 19">
              <a:extLst>
                <a:ext uri="{FF2B5EF4-FFF2-40B4-BE49-F238E27FC236}">
                  <a16:creationId xmlns:a16="http://schemas.microsoft.com/office/drawing/2014/main" id="{531F8145-75B4-06D8-E3CF-78E75C30EB47}"/>
                </a:ext>
              </a:extLst>
            </p:cNvPr>
            <p:cNvSpPr txBox="1">
              <a:spLocks noChangeArrowheads="1"/>
            </p:cNvSpPr>
            <p:nvPr/>
          </p:nvSpPr>
          <p:spPr bwMode="auto">
            <a:xfrm>
              <a:off x="438" y="2736"/>
              <a:ext cx="454" cy="233"/>
            </a:xfrm>
            <a:prstGeom prst="rect">
              <a:avLst/>
            </a:prstGeom>
            <a:noFill/>
            <a:ln w="38100" algn="ctr">
              <a:noFill/>
              <a:miter lim="800000"/>
              <a:headEnd/>
              <a:tailEnd/>
            </a:ln>
            <a:effectLst/>
          </p:spPr>
          <p:txBody>
            <a:bodyPr>
              <a:spAutoFit/>
            </a:bodyPr>
            <a:lstStyle/>
            <a:p>
              <a:pPr>
                <a:spcBef>
                  <a:spcPct val="50000"/>
                </a:spcBef>
              </a:pPr>
              <a:r>
                <a:rPr lang="en-US" altLang="zh-CN" sz="1800" i="1">
                  <a:latin typeface="Consolas" pitchFamily="49" charset="0"/>
                  <a:ea typeface="仿宋" pitchFamily="49" charset="-122"/>
                  <a:cs typeface="Consolas" pitchFamily="49" charset="0"/>
                </a:rPr>
                <a:t>b</a:t>
              </a:r>
              <a:r>
                <a:rPr lang="zh-CN" altLang="en-US" sz="1800">
                  <a:latin typeface="Consolas" pitchFamily="49" charset="0"/>
                  <a:ea typeface="仿宋" pitchFamily="49" charset="-122"/>
                  <a:cs typeface="Consolas" pitchFamily="49" charset="0"/>
                </a:rPr>
                <a:t>条</a:t>
              </a:r>
            </a:p>
          </p:txBody>
        </p:sp>
        <p:sp>
          <p:nvSpPr>
            <p:cNvPr id="64" name="Text Box 20">
              <a:extLst>
                <a:ext uri="{FF2B5EF4-FFF2-40B4-BE49-F238E27FC236}">
                  <a16:creationId xmlns:a16="http://schemas.microsoft.com/office/drawing/2014/main" id="{A04DDC2B-4DE0-0A66-DC5D-E1071ECE7328}"/>
                </a:ext>
              </a:extLst>
            </p:cNvPr>
            <p:cNvSpPr txBox="1">
              <a:spLocks noChangeArrowheads="1"/>
            </p:cNvSpPr>
            <p:nvPr/>
          </p:nvSpPr>
          <p:spPr bwMode="auto">
            <a:xfrm>
              <a:off x="1066" y="3475"/>
              <a:ext cx="454" cy="233"/>
            </a:xfrm>
            <a:prstGeom prst="rect">
              <a:avLst/>
            </a:prstGeom>
            <a:noFill/>
            <a:ln w="38100" algn="ctr">
              <a:noFill/>
              <a:miter lim="800000"/>
              <a:headEnd/>
              <a:tailEnd/>
            </a:ln>
            <a:effectLst/>
          </p:spPr>
          <p:txBody>
            <a:bodyPr>
              <a:spAutoFit/>
            </a:bodyPr>
            <a:lstStyle/>
            <a:p>
              <a:pPr>
                <a:spcBef>
                  <a:spcPct val="50000"/>
                </a:spcBef>
              </a:pPr>
              <a:r>
                <a:rPr lang="en-US" altLang="zh-CN" sz="1800">
                  <a:latin typeface="Consolas" pitchFamily="49" charset="0"/>
                  <a:ea typeface="仿宋" pitchFamily="49" charset="-122"/>
                  <a:cs typeface="Consolas" pitchFamily="49" charset="0"/>
                </a:rPr>
                <a:t>0</a:t>
              </a:r>
            </a:p>
          </p:txBody>
        </p:sp>
        <p:sp>
          <p:nvSpPr>
            <p:cNvPr id="66" name="Text Box 21">
              <a:extLst>
                <a:ext uri="{FF2B5EF4-FFF2-40B4-BE49-F238E27FC236}">
                  <a16:creationId xmlns:a16="http://schemas.microsoft.com/office/drawing/2014/main" id="{C7980F93-EBD2-15AB-7BD1-6B371C77D75F}"/>
                </a:ext>
              </a:extLst>
            </p:cNvPr>
            <p:cNvSpPr txBox="1">
              <a:spLocks noChangeArrowheads="1"/>
            </p:cNvSpPr>
            <p:nvPr/>
          </p:nvSpPr>
          <p:spPr bwMode="auto">
            <a:xfrm>
              <a:off x="2064" y="2478"/>
              <a:ext cx="454" cy="233"/>
            </a:xfrm>
            <a:prstGeom prst="rect">
              <a:avLst/>
            </a:prstGeom>
            <a:noFill/>
            <a:ln w="38100" algn="ctr">
              <a:noFill/>
              <a:miter lim="800000"/>
              <a:headEnd/>
              <a:tailEnd/>
            </a:ln>
            <a:effectLst/>
          </p:spPr>
          <p:txBody>
            <a:bodyPr>
              <a:spAutoFit/>
            </a:bodyPr>
            <a:lstStyle/>
            <a:p>
              <a:pPr>
                <a:spcBef>
                  <a:spcPct val="50000"/>
                </a:spcBef>
              </a:pPr>
              <a:r>
                <a:rPr lang="en-US" altLang="zh-CN" sz="1800">
                  <a:latin typeface="Consolas" pitchFamily="49" charset="0"/>
                  <a:ea typeface="仿宋" pitchFamily="49" charset="-122"/>
                  <a:cs typeface="Consolas" pitchFamily="49" charset="0"/>
                </a:rPr>
                <a:t>0</a:t>
              </a:r>
            </a:p>
          </p:txBody>
        </p:sp>
        <p:sp>
          <p:nvSpPr>
            <p:cNvPr id="67" name="Text Box 22">
              <a:extLst>
                <a:ext uri="{FF2B5EF4-FFF2-40B4-BE49-F238E27FC236}">
                  <a16:creationId xmlns:a16="http://schemas.microsoft.com/office/drawing/2014/main" id="{A8673587-3F10-D63A-67EB-ABA1654124FF}"/>
                </a:ext>
              </a:extLst>
            </p:cNvPr>
            <p:cNvSpPr txBox="1">
              <a:spLocks noChangeArrowheads="1"/>
            </p:cNvSpPr>
            <p:nvPr/>
          </p:nvSpPr>
          <p:spPr bwMode="auto">
            <a:xfrm rot="2212194">
              <a:off x="1255" y="3082"/>
              <a:ext cx="454" cy="233"/>
            </a:xfrm>
            <a:prstGeom prst="rect">
              <a:avLst/>
            </a:prstGeom>
            <a:noFill/>
            <a:ln w="38100" algn="ctr">
              <a:noFill/>
              <a:miter lim="800000"/>
              <a:headEnd/>
              <a:tailEnd/>
            </a:ln>
            <a:effectLst/>
          </p:spPr>
          <p:txBody>
            <a:bodyPr>
              <a:spAutoFit/>
            </a:bodyPr>
            <a:lstStyle/>
            <a:p>
              <a:pPr>
                <a:spcBef>
                  <a:spcPct val="50000"/>
                </a:spcBef>
              </a:pPr>
              <a:r>
                <a:rPr lang="en-US" altLang="zh-CN" sz="1800">
                  <a:latin typeface="Consolas" pitchFamily="49" charset="0"/>
                  <a:ea typeface="仿宋" pitchFamily="49" charset="-122"/>
                  <a:cs typeface="Consolas" pitchFamily="49" charset="0"/>
                </a:rPr>
                <a:t>…</a:t>
              </a:r>
            </a:p>
          </p:txBody>
        </p:sp>
        <p:sp>
          <p:nvSpPr>
            <p:cNvPr id="68" name="Text Box 23">
              <a:extLst>
                <a:ext uri="{FF2B5EF4-FFF2-40B4-BE49-F238E27FC236}">
                  <a16:creationId xmlns:a16="http://schemas.microsoft.com/office/drawing/2014/main" id="{F3031F75-2F32-4C04-6231-A6A7157EE239}"/>
                </a:ext>
              </a:extLst>
            </p:cNvPr>
            <p:cNvSpPr txBox="1">
              <a:spLocks noChangeArrowheads="1"/>
            </p:cNvSpPr>
            <p:nvPr/>
          </p:nvSpPr>
          <p:spPr bwMode="auto">
            <a:xfrm rot="2212194">
              <a:off x="1655" y="2705"/>
              <a:ext cx="454" cy="233"/>
            </a:xfrm>
            <a:prstGeom prst="rect">
              <a:avLst/>
            </a:prstGeom>
            <a:noFill/>
            <a:ln w="38100" algn="ctr">
              <a:noFill/>
              <a:miter lim="800000"/>
              <a:headEnd/>
              <a:tailEnd/>
            </a:ln>
            <a:effectLst/>
          </p:spPr>
          <p:txBody>
            <a:bodyPr>
              <a:spAutoFit/>
            </a:bodyPr>
            <a:lstStyle/>
            <a:p>
              <a:pPr>
                <a:spcBef>
                  <a:spcPct val="50000"/>
                </a:spcBef>
              </a:pPr>
              <a:r>
                <a:rPr lang="en-US" altLang="zh-CN" sz="1800">
                  <a:latin typeface="Consolas" pitchFamily="49" charset="0"/>
                  <a:ea typeface="仿宋" pitchFamily="49" charset="-122"/>
                  <a:cs typeface="Consolas" pitchFamily="49" charset="0"/>
                </a:rPr>
                <a:t>…</a:t>
              </a:r>
            </a:p>
          </p:txBody>
        </p:sp>
        <p:sp>
          <p:nvSpPr>
            <p:cNvPr id="69" name="Text Box 24">
              <a:extLst>
                <a:ext uri="{FF2B5EF4-FFF2-40B4-BE49-F238E27FC236}">
                  <a16:creationId xmlns:a16="http://schemas.microsoft.com/office/drawing/2014/main" id="{317A6979-C640-976F-FEB9-3BC2205CBE9B}"/>
                </a:ext>
              </a:extLst>
            </p:cNvPr>
            <p:cNvSpPr txBox="1">
              <a:spLocks noChangeArrowheads="1"/>
            </p:cNvSpPr>
            <p:nvPr/>
          </p:nvSpPr>
          <p:spPr bwMode="auto">
            <a:xfrm>
              <a:off x="1348" y="2155"/>
              <a:ext cx="454" cy="233"/>
            </a:xfrm>
            <a:prstGeom prst="rect">
              <a:avLst/>
            </a:prstGeom>
            <a:noFill/>
            <a:ln w="38100" algn="ctr">
              <a:noFill/>
              <a:miter lim="800000"/>
              <a:headEnd/>
              <a:tailEnd/>
            </a:ln>
            <a:effectLst/>
          </p:spPr>
          <p:txBody>
            <a:bodyPr>
              <a:spAutoFit/>
            </a:bodyPr>
            <a:lstStyle/>
            <a:p>
              <a:pPr>
                <a:spcBef>
                  <a:spcPct val="50000"/>
                </a:spcBef>
              </a:pPr>
              <a:r>
                <a:rPr lang="en-US" altLang="zh-CN" sz="1800" i="1">
                  <a:latin typeface="Consolas" pitchFamily="49" charset="0"/>
                  <a:ea typeface="仿宋" pitchFamily="49" charset="-122"/>
                  <a:cs typeface="Consolas" pitchFamily="49" charset="0"/>
                </a:rPr>
                <a:t>b</a:t>
              </a:r>
              <a:r>
                <a:rPr lang="zh-CN" altLang="en-US" sz="1800">
                  <a:latin typeface="Consolas" pitchFamily="49" charset="0"/>
                  <a:ea typeface="仿宋" pitchFamily="49" charset="-122"/>
                  <a:cs typeface="Consolas" pitchFamily="49" charset="0"/>
                </a:rPr>
                <a:t>条</a:t>
              </a:r>
            </a:p>
          </p:txBody>
        </p:sp>
        <p:sp>
          <p:nvSpPr>
            <p:cNvPr id="70" name="AutoShape 25">
              <a:extLst>
                <a:ext uri="{FF2B5EF4-FFF2-40B4-BE49-F238E27FC236}">
                  <a16:creationId xmlns:a16="http://schemas.microsoft.com/office/drawing/2014/main" id="{38B39B4C-07F2-6EF0-8DDC-D95FF98618B7}"/>
                </a:ext>
              </a:extLst>
            </p:cNvPr>
            <p:cNvSpPr>
              <a:spLocks/>
            </p:cNvSpPr>
            <p:nvPr/>
          </p:nvSpPr>
          <p:spPr bwMode="auto">
            <a:xfrm rot="5400000">
              <a:off x="1522" y="2217"/>
              <a:ext cx="91" cy="431"/>
            </a:xfrm>
            <a:prstGeom prst="leftBrace">
              <a:avLst>
                <a:gd name="adj1" fmla="val 39469"/>
                <a:gd name="adj2" fmla="val 50000"/>
              </a:avLst>
            </a:prstGeom>
            <a:noFill/>
            <a:ln w="38100">
              <a:solidFill>
                <a:srgbClr val="00CC00"/>
              </a:solidFill>
              <a:round/>
              <a:headEnd/>
              <a:tailEnd/>
            </a:ln>
            <a:effectLst/>
          </p:spPr>
          <p:txBody>
            <a:bodyPr wrap="none" anchor="ctr"/>
            <a:lstStyle/>
            <a:p>
              <a:endParaRPr lang="zh-CN" altLang="en-US" sz="1800">
                <a:latin typeface="Consolas" pitchFamily="49" charset="0"/>
                <a:ea typeface="仿宋" pitchFamily="49" charset="-122"/>
                <a:cs typeface="Consolas" pitchFamily="49" charset="0"/>
              </a:endParaRPr>
            </a:p>
          </p:txBody>
        </p:sp>
      </p:grpSp>
    </p:spTree>
    <p:extLst>
      <p:ext uri="{BB962C8B-B14F-4D97-AF65-F5344CB8AC3E}">
        <p14:creationId xmlns:p14="http://schemas.microsoft.com/office/powerpoint/2010/main" val="53615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1CBF3-A0BB-172F-9450-62EFE45DAFBD}"/>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22BD6A80-9688-13D8-5847-D05D7B999176}"/>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3" name="Rectangle 2">
            <a:extLst>
              <a:ext uri="{FF2B5EF4-FFF2-40B4-BE49-F238E27FC236}">
                <a16:creationId xmlns:a16="http://schemas.microsoft.com/office/drawing/2014/main" id="{FA9A8FB8-3BBA-470E-3FE0-FAE89C029950}"/>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4B1EF259-CECB-31D1-D8FC-A40683F80C33}"/>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09778636-C05D-3465-9AA1-7A9FF00FDFCB}"/>
              </a:ext>
            </a:extLst>
          </p:cNvPr>
          <p:cNvSpPr/>
          <p:nvPr/>
        </p:nvSpPr>
        <p:spPr>
          <a:xfrm>
            <a:off x="983432" y="1772816"/>
            <a:ext cx="10657184"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带状矩阵</a:t>
            </a:r>
            <a:r>
              <a:rPr lang="zh-CN" altLang="en-US" sz="2000" dirty="0">
                <a:latin typeface="微软雅黑" pitchFamily="34" charset="-122"/>
                <a:ea typeface="微软雅黑" pitchFamily="34" charset="-122"/>
                <a:cs typeface="经典粗黑简" pitchFamily="49" charset="-122"/>
              </a:rPr>
              <a:t>（对角矩阵）是指所有的非零元素都集中在以主对角线为中心的带状区域中。</a:t>
            </a:r>
          </a:p>
        </p:txBody>
      </p:sp>
      <p:sp>
        <p:nvSpPr>
          <p:cNvPr id="6" name="Text Box 3">
            <a:extLst>
              <a:ext uri="{FF2B5EF4-FFF2-40B4-BE49-F238E27FC236}">
                <a16:creationId xmlns:a16="http://schemas.microsoft.com/office/drawing/2014/main" id="{43D1CEA2-0841-C320-8CF8-96D3D21EA0C6}"/>
              </a:ext>
            </a:extLst>
          </p:cNvPr>
          <p:cNvSpPr txBox="1">
            <a:spLocks noChangeArrowheads="1"/>
          </p:cNvSpPr>
          <p:nvPr/>
        </p:nvSpPr>
        <p:spPr bwMode="auto">
          <a:xfrm>
            <a:off x="3799674" y="2863196"/>
            <a:ext cx="3527426" cy="840230"/>
          </a:xfrm>
          <a:prstGeom prst="rect">
            <a:avLst/>
          </a:prstGeom>
          <a:noFill/>
          <a:ln w="9525">
            <a:noFill/>
            <a:miter lim="800000"/>
            <a:headEnd/>
            <a:tailEnd/>
          </a:ln>
          <a:effectLst/>
        </p:spPr>
        <p:txBody>
          <a:bodyPr wrap="square">
            <a:spAutoFit/>
          </a:bodyPr>
          <a:lstStyle/>
          <a:p>
            <a:pPr>
              <a:lnSpc>
                <a:spcPct val="110000"/>
              </a:lnSpc>
              <a:spcBef>
                <a:spcPct val="50000"/>
              </a:spcBef>
            </a:pPr>
            <a:r>
              <a:rPr kumimoji="1" lang="en-US" altLang="zh-CN" sz="1800">
                <a:solidFill>
                  <a:srgbClr val="FF0000"/>
                </a:solidFill>
                <a:latin typeface="Consolas" pitchFamily="49" charset="0"/>
                <a:ea typeface="仿宋" pitchFamily="49" charset="-122"/>
                <a:cs typeface="Consolas" pitchFamily="49" charset="0"/>
              </a:rPr>
              <a:t> </a:t>
            </a:r>
            <a:r>
              <a:rPr kumimoji="1" lang="en-US" altLang="zh-CN" sz="1800" i="1">
                <a:latin typeface="Consolas" pitchFamily="49" charset="0"/>
                <a:ea typeface="仿宋" pitchFamily="49" charset="-122"/>
                <a:cs typeface="Consolas" pitchFamily="49" charset="0"/>
              </a:rPr>
              <a:t>A</a:t>
            </a:r>
            <a:r>
              <a:rPr kumimoji="1" lang="en-US" altLang="zh-CN" sz="1800">
                <a:latin typeface="Consolas" pitchFamily="49" charset="0"/>
                <a:ea typeface="仿宋" pitchFamily="49" charset="-122"/>
                <a:cs typeface="Consolas" pitchFamily="49" charset="0"/>
              </a:rPr>
              <a:t>          </a:t>
            </a:r>
            <a:r>
              <a:rPr kumimoji="1" lang="en-US" altLang="zh-CN" sz="1800">
                <a:latin typeface="Consolas" pitchFamily="49" charset="0"/>
                <a:ea typeface="仿宋" pitchFamily="49" charset="-122"/>
                <a:cs typeface="Consolas" pitchFamily="49" charset="0"/>
                <a:sym typeface="Symbol"/>
              </a:rPr>
              <a:t>  </a:t>
            </a:r>
            <a:r>
              <a:rPr kumimoji="1" lang="en-US" altLang="zh-CN" sz="1800">
                <a:latin typeface="Consolas" pitchFamily="49" charset="0"/>
                <a:ea typeface="仿宋" pitchFamily="49" charset="-122"/>
                <a:cs typeface="Consolas" pitchFamily="49" charset="0"/>
              </a:rPr>
              <a:t>   </a:t>
            </a:r>
            <a:r>
              <a:rPr kumimoji="1" lang="en-US" altLang="zh-CN" sz="1800" i="1">
                <a:latin typeface="Consolas" pitchFamily="49" charset="0"/>
                <a:ea typeface="仿宋" pitchFamily="49" charset="-122"/>
                <a:cs typeface="Consolas" pitchFamily="49" charset="0"/>
              </a:rPr>
              <a:t>B</a:t>
            </a:r>
            <a:r>
              <a:rPr kumimoji="1" lang="en-US" altLang="zh-CN" sz="1800">
                <a:latin typeface="Consolas" pitchFamily="49" charset="0"/>
                <a:ea typeface="仿宋" pitchFamily="49" charset="-122"/>
                <a:cs typeface="Consolas" pitchFamily="49" charset="0"/>
              </a:rPr>
              <a:t> </a:t>
            </a:r>
          </a:p>
          <a:p>
            <a:pPr>
              <a:lnSpc>
                <a:spcPct val="110000"/>
              </a:lnSpc>
              <a:spcBef>
                <a:spcPct val="50000"/>
              </a:spcBef>
            </a:pPr>
            <a:r>
              <a:rPr kumimoji="1" lang="en-US" altLang="zh-CN" sz="1800" i="1">
                <a:latin typeface="Consolas" pitchFamily="49" charset="0"/>
                <a:ea typeface="仿宋" pitchFamily="49" charset="-122"/>
                <a:cs typeface="Consolas" pitchFamily="49" charset="0"/>
              </a:rPr>
              <a:t>a</a:t>
            </a:r>
            <a:r>
              <a:rPr kumimoji="1" lang="en-US" altLang="zh-CN" sz="1800">
                <a:latin typeface="Consolas" pitchFamily="49" charset="0"/>
                <a:ea typeface="仿宋" pitchFamily="49" charset="-122"/>
                <a:cs typeface="Consolas" pitchFamily="49" charset="0"/>
              </a:rPr>
              <a:t>[</a:t>
            </a:r>
            <a:r>
              <a:rPr kumimoji="1" lang="en-US" altLang="zh-CN" sz="1800" i="1">
                <a:latin typeface="Consolas" pitchFamily="49" charset="0"/>
                <a:ea typeface="仿宋" pitchFamily="49" charset="-122"/>
                <a:cs typeface="Consolas" pitchFamily="49" charset="0"/>
              </a:rPr>
              <a:t>i</a:t>
            </a:r>
            <a:r>
              <a:rPr kumimoji="1" lang="en-US" altLang="zh-CN" sz="1800">
                <a:latin typeface="Consolas" pitchFamily="49" charset="0"/>
                <a:ea typeface="仿宋" pitchFamily="49" charset="-122"/>
                <a:cs typeface="Consolas" pitchFamily="49" charset="0"/>
              </a:rPr>
              <a:t>][</a:t>
            </a:r>
            <a:r>
              <a:rPr kumimoji="1" lang="en-US" altLang="zh-CN" sz="1800" i="1">
                <a:latin typeface="Consolas" pitchFamily="49" charset="0"/>
                <a:ea typeface="仿宋" pitchFamily="49" charset="-122"/>
                <a:cs typeface="Consolas" pitchFamily="49" charset="0"/>
              </a:rPr>
              <a:t>j</a:t>
            </a:r>
            <a:r>
              <a:rPr kumimoji="1" lang="en-US" altLang="zh-CN" sz="1800">
                <a:latin typeface="Consolas" pitchFamily="49" charset="0"/>
                <a:ea typeface="仿宋" pitchFamily="49" charset="-122"/>
                <a:cs typeface="Consolas" pitchFamily="49" charset="0"/>
              </a:rPr>
              <a:t>]           </a:t>
            </a:r>
            <a:r>
              <a:rPr kumimoji="1" lang="en-US" altLang="zh-CN" sz="1800" i="1">
                <a:latin typeface="Consolas" pitchFamily="49" charset="0"/>
                <a:ea typeface="仿宋" pitchFamily="49" charset="-122"/>
                <a:cs typeface="Consolas" pitchFamily="49" charset="0"/>
              </a:rPr>
              <a:t>b</a:t>
            </a:r>
            <a:r>
              <a:rPr kumimoji="1" lang="en-US" altLang="zh-CN" sz="1800">
                <a:latin typeface="Consolas" pitchFamily="49" charset="0"/>
                <a:ea typeface="仿宋" pitchFamily="49" charset="-122"/>
                <a:cs typeface="Consolas" pitchFamily="49" charset="0"/>
              </a:rPr>
              <a:t>[</a:t>
            </a:r>
            <a:r>
              <a:rPr kumimoji="1" lang="en-US" altLang="zh-CN" sz="1800" i="1">
                <a:latin typeface="Consolas" pitchFamily="49" charset="0"/>
                <a:ea typeface="仿宋" pitchFamily="49" charset="-122"/>
                <a:cs typeface="Consolas" pitchFamily="49" charset="0"/>
              </a:rPr>
              <a:t>k</a:t>
            </a:r>
            <a:r>
              <a:rPr kumimoji="1" lang="en-US" altLang="zh-CN" sz="1800">
                <a:latin typeface="Consolas" pitchFamily="49" charset="0"/>
                <a:ea typeface="仿宋" pitchFamily="49" charset="-122"/>
                <a:cs typeface="Consolas" pitchFamily="49" charset="0"/>
              </a:rPr>
              <a:t>]</a:t>
            </a:r>
          </a:p>
        </p:txBody>
      </p:sp>
      <p:sp>
        <p:nvSpPr>
          <p:cNvPr id="7" name="左右箭头 3">
            <a:extLst>
              <a:ext uri="{FF2B5EF4-FFF2-40B4-BE49-F238E27FC236}">
                <a16:creationId xmlns:a16="http://schemas.microsoft.com/office/drawing/2014/main" id="{F70EADB4-CD26-3C90-9345-86CD467FBF05}"/>
              </a:ext>
            </a:extLst>
          </p:cNvPr>
          <p:cNvSpPr/>
          <p:nvPr/>
        </p:nvSpPr>
        <p:spPr>
          <a:xfrm>
            <a:off x="5286809" y="3052110"/>
            <a:ext cx="714380" cy="108000"/>
          </a:xfrm>
          <a:prstGeom prst="lef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8" name="左右箭头 4">
            <a:extLst>
              <a:ext uri="{FF2B5EF4-FFF2-40B4-BE49-F238E27FC236}">
                <a16:creationId xmlns:a16="http://schemas.microsoft.com/office/drawing/2014/main" id="{EEB232FF-FF72-2BB9-6678-02DAA89A81AB}"/>
              </a:ext>
            </a:extLst>
          </p:cNvPr>
          <p:cNvSpPr/>
          <p:nvPr/>
        </p:nvSpPr>
        <p:spPr>
          <a:xfrm>
            <a:off x="5299872" y="3530721"/>
            <a:ext cx="714380" cy="108000"/>
          </a:xfrm>
          <a:prstGeom prst="lef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latin typeface="Consolas" pitchFamily="49" charset="0"/>
              <a:cs typeface="Consolas" pitchFamily="49" charset="0"/>
            </a:endParaRPr>
          </a:p>
        </p:txBody>
      </p:sp>
      <p:grpSp>
        <p:nvGrpSpPr>
          <p:cNvPr id="9" name="组合 48">
            <a:extLst>
              <a:ext uri="{FF2B5EF4-FFF2-40B4-BE49-F238E27FC236}">
                <a16:creationId xmlns:a16="http://schemas.microsoft.com/office/drawing/2014/main" id="{470E5EB8-EC21-FAEA-E7D7-F169372D062B}"/>
              </a:ext>
            </a:extLst>
          </p:cNvPr>
          <p:cNvGrpSpPr/>
          <p:nvPr/>
        </p:nvGrpSpPr>
        <p:grpSpPr>
          <a:xfrm>
            <a:off x="2370914" y="4149080"/>
            <a:ext cx="7450171" cy="2160588"/>
            <a:chOff x="571472" y="2268544"/>
            <a:chExt cx="7450171" cy="2160588"/>
          </a:xfrm>
        </p:grpSpPr>
        <p:sp>
          <p:nvSpPr>
            <p:cNvPr id="10" name="Text Box 2">
              <a:extLst>
                <a:ext uri="{FF2B5EF4-FFF2-40B4-BE49-F238E27FC236}">
                  <a16:creationId xmlns:a16="http://schemas.microsoft.com/office/drawing/2014/main" id="{58063F6A-2AF4-E7BC-D9A1-5A41C4E64518}"/>
                </a:ext>
              </a:extLst>
            </p:cNvPr>
            <p:cNvSpPr txBox="1">
              <a:spLocks noChangeArrowheads="1"/>
            </p:cNvSpPr>
            <p:nvPr/>
          </p:nvSpPr>
          <p:spPr bwMode="auto">
            <a:xfrm>
              <a:off x="571472" y="2571744"/>
              <a:ext cx="4030663" cy="1323439"/>
            </a:xfrm>
            <a:prstGeom prst="rect">
              <a:avLst/>
            </a:prstGeom>
            <a:noFill/>
            <a:ln w="9525">
              <a:noFill/>
              <a:miter lim="800000"/>
              <a:headEnd/>
              <a:tailEnd/>
            </a:ln>
            <a:effectLst/>
          </p:spPr>
          <p:txBody>
            <a:bodyPr>
              <a:spAutoFit/>
            </a:bodyPr>
            <a:lstStyle/>
            <a:p>
              <a:pPr algn="l">
                <a:spcBef>
                  <a:spcPct val="50000"/>
                </a:spcBef>
              </a:pPr>
              <a:r>
                <a:rPr kumimoji="1" lang="zh-CN" altLang="en-US" sz="2000">
                  <a:latin typeface="Consolas" pitchFamily="49" charset="0"/>
                  <a:ea typeface="仿宋" pitchFamily="49" charset="-122"/>
                  <a:cs typeface="Consolas" pitchFamily="49" charset="0"/>
                </a:rPr>
                <a:t>当</a:t>
              </a:r>
              <a:r>
                <a:rPr kumimoji="1" lang="en-US" altLang="zh-CN" sz="2000" i="1">
                  <a:latin typeface="Consolas" pitchFamily="49" charset="0"/>
                  <a:ea typeface="仿宋" pitchFamily="49" charset="-122"/>
                  <a:cs typeface="Consolas" pitchFamily="49" charset="0"/>
                </a:rPr>
                <a:t>b=</a:t>
              </a:r>
              <a:r>
                <a:rPr kumimoji="1" lang="en-US" altLang="zh-CN" sz="2000">
                  <a:latin typeface="Consolas" pitchFamily="49" charset="0"/>
                  <a:ea typeface="仿宋" pitchFamily="49" charset="-122"/>
                  <a:cs typeface="Consolas" pitchFamily="49" charset="0"/>
                </a:rPr>
                <a:t>1</a:t>
              </a:r>
              <a:r>
                <a:rPr kumimoji="1" lang="zh-CN" altLang="en-US" sz="2000">
                  <a:latin typeface="Consolas" pitchFamily="49" charset="0"/>
                  <a:ea typeface="仿宋" pitchFamily="49" charset="-122"/>
                  <a:cs typeface="Consolas" pitchFamily="49" charset="0"/>
                </a:rPr>
                <a:t>时称为三对角矩阵</a:t>
              </a:r>
            </a:p>
            <a:p>
              <a:pPr algn="l">
                <a:spcBef>
                  <a:spcPct val="50000"/>
                </a:spcBef>
              </a:pPr>
              <a:r>
                <a:rPr kumimoji="1" lang="zh-CN" altLang="en-US" sz="2000">
                  <a:latin typeface="Consolas" pitchFamily="49" charset="0"/>
                  <a:ea typeface="仿宋" pitchFamily="49" charset="-122"/>
                  <a:cs typeface="Consolas" pitchFamily="49" charset="0"/>
                </a:rPr>
                <a:t>其压缩地址计算公式如下：</a:t>
              </a:r>
            </a:p>
            <a:p>
              <a:pPr algn="l">
                <a:spcBef>
                  <a:spcPct val="50000"/>
                </a:spcBef>
              </a:pPr>
              <a:r>
                <a:rPr kumimoji="1" lang="zh-CN" altLang="en-US" sz="2000">
                  <a:latin typeface="Consolas" pitchFamily="49" charset="0"/>
                  <a:ea typeface="仿宋" pitchFamily="49" charset="-122"/>
                  <a:cs typeface="Consolas" pitchFamily="49" charset="0"/>
                </a:rPr>
                <a:t>      </a:t>
              </a:r>
              <a:r>
                <a:rPr kumimoji="1" lang="en-US" altLang="zh-CN" sz="2000" i="1">
                  <a:solidFill>
                    <a:srgbClr val="FF0000"/>
                  </a:solidFill>
                  <a:latin typeface="Consolas" pitchFamily="49" charset="0"/>
                  <a:ea typeface="仿宋" pitchFamily="49" charset="-122"/>
                  <a:cs typeface="Consolas" pitchFamily="49" charset="0"/>
                </a:rPr>
                <a:t>k </a:t>
              </a:r>
              <a:r>
                <a:rPr kumimoji="1" lang="en-US" altLang="zh-CN" sz="2000">
                  <a:solidFill>
                    <a:srgbClr val="FF0000"/>
                  </a:solidFill>
                  <a:latin typeface="Consolas" pitchFamily="49" charset="0"/>
                  <a:ea typeface="仿宋" pitchFamily="49" charset="-122"/>
                  <a:cs typeface="Consolas" pitchFamily="49" charset="0"/>
                </a:rPr>
                <a:t>= </a:t>
              </a:r>
              <a:r>
                <a:rPr kumimoji="1" lang="en-US" altLang="zh-CN" sz="2000" err="1">
                  <a:solidFill>
                    <a:srgbClr val="FF0000"/>
                  </a:solidFill>
                  <a:latin typeface="Consolas" pitchFamily="49" charset="0"/>
                  <a:ea typeface="仿宋" pitchFamily="49" charset="-122"/>
                  <a:cs typeface="Consolas" pitchFamily="49" charset="0"/>
                </a:rPr>
                <a:t>2</a:t>
              </a:r>
              <a:r>
                <a:rPr kumimoji="1" lang="en-US" altLang="zh-CN" sz="2000" i="1" err="1">
                  <a:solidFill>
                    <a:srgbClr val="FF0000"/>
                  </a:solidFill>
                  <a:latin typeface="Consolas" pitchFamily="49" charset="0"/>
                  <a:ea typeface="仿宋" pitchFamily="49" charset="-122"/>
                  <a:cs typeface="Consolas" pitchFamily="49" charset="0"/>
                </a:rPr>
                <a:t>i</a:t>
              </a:r>
              <a:r>
                <a:rPr kumimoji="1" lang="en-US" altLang="zh-CN" sz="2000" i="1">
                  <a:solidFill>
                    <a:srgbClr val="FF0000"/>
                  </a:solidFill>
                  <a:latin typeface="Consolas" pitchFamily="49" charset="0"/>
                  <a:ea typeface="仿宋" pitchFamily="49" charset="-122"/>
                  <a:cs typeface="Consolas" pitchFamily="49" charset="0"/>
                </a:rPr>
                <a:t> </a:t>
              </a:r>
              <a:r>
                <a:rPr kumimoji="1" lang="en-US" altLang="zh-CN" sz="2000">
                  <a:solidFill>
                    <a:srgbClr val="FF0000"/>
                  </a:solidFill>
                  <a:latin typeface="Consolas" pitchFamily="49" charset="0"/>
                  <a:ea typeface="仿宋" pitchFamily="49" charset="-122"/>
                  <a:cs typeface="Consolas" pitchFamily="49" charset="0"/>
                </a:rPr>
                <a:t>+ </a:t>
              </a:r>
              <a:r>
                <a:rPr kumimoji="1" lang="en-US" altLang="zh-CN" sz="2000" i="1">
                  <a:solidFill>
                    <a:srgbClr val="FF0000"/>
                  </a:solidFill>
                  <a:latin typeface="Consolas" pitchFamily="49" charset="0"/>
                  <a:ea typeface="仿宋" pitchFamily="49" charset="-122"/>
                  <a:cs typeface="Consolas" pitchFamily="49" charset="0"/>
                </a:rPr>
                <a:t>j</a:t>
              </a:r>
              <a:r>
                <a:rPr kumimoji="1" lang="en-US" altLang="zh-CN" sz="2000">
                  <a:solidFill>
                    <a:srgbClr val="FF0000"/>
                  </a:solidFill>
                  <a:latin typeface="Consolas" pitchFamily="49" charset="0"/>
                  <a:ea typeface="仿宋" pitchFamily="49" charset="-122"/>
                  <a:cs typeface="Consolas" pitchFamily="49" charset="0"/>
                </a:rPr>
                <a:t> </a:t>
              </a:r>
            </a:p>
          </p:txBody>
        </p:sp>
        <p:grpSp>
          <p:nvGrpSpPr>
            <p:cNvPr id="11" name="组合 46">
              <a:extLst>
                <a:ext uri="{FF2B5EF4-FFF2-40B4-BE49-F238E27FC236}">
                  <a16:creationId xmlns:a16="http://schemas.microsoft.com/office/drawing/2014/main" id="{A2ACA709-3FCE-ACEC-0197-775BCD32ADBA}"/>
                </a:ext>
              </a:extLst>
            </p:cNvPr>
            <p:cNvGrpSpPr/>
            <p:nvPr/>
          </p:nvGrpSpPr>
          <p:grpSpPr>
            <a:xfrm>
              <a:off x="5429256" y="2268544"/>
              <a:ext cx="2592387" cy="2160588"/>
              <a:chOff x="6286505" y="2197107"/>
              <a:chExt cx="2592387" cy="2160588"/>
            </a:xfrm>
          </p:grpSpPr>
          <p:sp>
            <p:nvSpPr>
              <p:cNvPr id="13" name="Line 7">
                <a:extLst>
                  <a:ext uri="{FF2B5EF4-FFF2-40B4-BE49-F238E27FC236}">
                    <a16:creationId xmlns:a16="http://schemas.microsoft.com/office/drawing/2014/main" id="{0BAA708F-BF3D-423E-C7E5-B6790DBCAC12}"/>
                  </a:ext>
                </a:extLst>
              </p:cNvPr>
              <p:cNvSpPr>
                <a:spLocks noChangeShapeType="1"/>
              </p:cNvSpPr>
              <p:nvPr/>
            </p:nvSpPr>
            <p:spPr bwMode="auto">
              <a:xfrm>
                <a:off x="6286505" y="2197107"/>
                <a:ext cx="0" cy="2160588"/>
              </a:xfrm>
              <a:prstGeom prst="line">
                <a:avLst/>
              </a:prstGeom>
              <a:noFill/>
              <a:ln w="38100">
                <a:solidFill>
                  <a:srgbClr val="9900FF"/>
                </a:solidFill>
                <a:round/>
                <a:headEnd/>
                <a:tailEnd/>
              </a:ln>
              <a:effectLst/>
            </p:spPr>
            <p:txBody>
              <a:bodyPr wrap="none"/>
              <a:lstStyle/>
              <a:p>
                <a:endParaRPr lang="zh-CN" altLang="en-US">
                  <a:latin typeface="Consolas" pitchFamily="49" charset="0"/>
                  <a:cs typeface="Consolas" pitchFamily="49" charset="0"/>
                </a:endParaRPr>
              </a:p>
            </p:txBody>
          </p:sp>
          <p:sp>
            <p:nvSpPr>
              <p:cNvPr id="14" name="Line 8">
                <a:extLst>
                  <a:ext uri="{FF2B5EF4-FFF2-40B4-BE49-F238E27FC236}">
                    <a16:creationId xmlns:a16="http://schemas.microsoft.com/office/drawing/2014/main" id="{E1A5E23E-3BE7-96DF-224D-929CF434CB02}"/>
                  </a:ext>
                </a:extLst>
              </p:cNvPr>
              <p:cNvSpPr>
                <a:spLocks noChangeShapeType="1"/>
              </p:cNvSpPr>
              <p:nvPr/>
            </p:nvSpPr>
            <p:spPr bwMode="auto">
              <a:xfrm>
                <a:off x="6286505" y="2197107"/>
                <a:ext cx="215900" cy="0"/>
              </a:xfrm>
              <a:prstGeom prst="line">
                <a:avLst/>
              </a:prstGeom>
              <a:noFill/>
              <a:ln w="38100">
                <a:solidFill>
                  <a:srgbClr val="9900FF"/>
                </a:solidFill>
                <a:round/>
                <a:headEnd/>
                <a:tailEnd/>
              </a:ln>
              <a:effectLst/>
            </p:spPr>
            <p:txBody>
              <a:bodyPr wrap="none"/>
              <a:lstStyle/>
              <a:p>
                <a:endParaRPr lang="zh-CN" altLang="en-US">
                  <a:latin typeface="Consolas" pitchFamily="49" charset="0"/>
                  <a:cs typeface="Consolas" pitchFamily="49" charset="0"/>
                </a:endParaRPr>
              </a:p>
            </p:txBody>
          </p:sp>
          <p:sp>
            <p:nvSpPr>
              <p:cNvPr id="15" name="Line 9">
                <a:extLst>
                  <a:ext uri="{FF2B5EF4-FFF2-40B4-BE49-F238E27FC236}">
                    <a16:creationId xmlns:a16="http://schemas.microsoft.com/office/drawing/2014/main" id="{08DA5C13-178D-33B9-EDA5-8D66E30A8D0A}"/>
                  </a:ext>
                </a:extLst>
              </p:cNvPr>
              <p:cNvSpPr>
                <a:spLocks noChangeShapeType="1"/>
              </p:cNvSpPr>
              <p:nvPr/>
            </p:nvSpPr>
            <p:spPr bwMode="auto">
              <a:xfrm>
                <a:off x="6286505" y="4357694"/>
                <a:ext cx="215900" cy="0"/>
              </a:xfrm>
              <a:prstGeom prst="line">
                <a:avLst/>
              </a:prstGeom>
              <a:noFill/>
              <a:ln w="38100">
                <a:solidFill>
                  <a:srgbClr val="9900FF"/>
                </a:solidFill>
                <a:round/>
                <a:headEnd/>
                <a:tailEnd/>
              </a:ln>
              <a:effectLst/>
            </p:spPr>
            <p:txBody>
              <a:bodyPr wrap="none"/>
              <a:lstStyle/>
              <a:p>
                <a:endParaRPr lang="zh-CN" altLang="en-US">
                  <a:latin typeface="Consolas" pitchFamily="49" charset="0"/>
                  <a:cs typeface="Consolas" pitchFamily="49" charset="0"/>
                </a:endParaRPr>
              </a:p>
            </p:txBody>
          </p:sp>
          <p:sp>
            <p:nvSpPr>
              <p:cNvPr id="16" name="Line 10">
                <a:extLst>
                  <a:ext uri="{FF2B5EF4-FFF2-40B4-BE49-F238E27FC236}">
                    <a16:creationId xmlns:a16="http://schemas.microsoft.com/office/drawing/2014/main" id="{780FCF86-781D-635B-8E2B-B9907F004FC9}"/>
                  </a:ext>
                </a:extLst>
              </p:cNvPr>
              <p:cNvSpPr>
                <a:spLocks noChangeShapeType="1"/>
              </p:cNvSpPr>
              <p:nvPr/>
            </p:nvSpPr>
            <p:spPr bwMode="auto">
              <a:xfrm>
                <a:off x="8870955" y="2197107"/>
                <a:ext cx="0" cy="2160588"/>
              </a:xfrm>
              <a:prstGeom prst="line">
                <a:avLst/>
              </a:prstGeom>
              <a:noFill/>
              <a:ln w="38100">
                <a:solidFill>
                  <a:srgbClr val="9900FF"/>
                </a:solidFill>
                <a:round/>
                <a:headEnd/>
                <a:tailEnd/>
              </a:ln>
              <a:effectLst/>
            </p:spPr>
            <p:txBody>
              <a:bodyPr wrap="none"/>
              <a:lstStyle/>
              <a:p>
                <a:endParaRPr lang="zh-CN" altLang="en-US">
                  <a:latin typeface="Consolas" pitchFamily="49" charset="0"/>
                  <a:cs typeface="Consolas" pitchFamily="49" charset="0"/>
                </a:endParaRPr>
              </a:p>
            </p:txBody>
          </p:sp>
          <p:sp>
            <p:nvSpPr>
              <p:cNvPr id="18" name="Line 11">
                <a:extLst>
                  <a:ext uri="{FF2B5EF4-FFF2-40B4-BE49-F238E27FC236}">
                    <a16:creationId xmlns:a16="http://schemas.microsoft.com/office/drawing/2014/main" id="{DC996D20-855C-79B4-87F5-5C7A01F43B0F}"/>
                  </a:ext>
                </a:extLst>
              </p:cNvPr>
              <p:cNvSpPr>
                <a:spLocks noChangeShapeType="1"/>
              </p:cNvSpPr>
              <p:nvPr/>
            </p:nvSpPr>
            <p:spPr bwMode="auto">
              <a:xfrm>
                <a:off x="8662992" y="2197107"/>
                <a:ext cx="215900" cy="0"/>
              </a:xfrm>
              <a:prstGeom prst="line">
                <a:avLst/>
              </a:prstGeom>
              <a:noFill/>
              <a:ln w="38100">
                <a:solidFill>
                  <a:srgbClr val="9900FF"/>
                </a:solidFill>
                <a:round/>
                <a:headEnd/>
                <a:tailEnd/>
              </a:ln>
              <a:effectLst/>
            </p:spPr>
            <p:txBody>
              <a:bodyPr wrap="none"/>
              <a:lstStyle/>
              <a:p>
                <a:endParaRPr lang="zh-CN" altLang="en-US">
                  <a:latin typeface="Consolas" pitchFamily="49" charset="0"/>
                  <a:cs typeface="Consolas" pitchFamily="49" charset="0"/>
                </a:endParaRPr>
              </a:p>
            </p:txBody>
          </p:sp>
          <p:sp>
            <p:nvSpPr>
              <p:cNvPr id="19" name="Line 12">
                <a:extLst>
                  <a:ext uri="{FF2B5EF4-FFF2-40B4-BE49-F238E27FC236}">
                    <a16:creationId xmlns:a16="http://schemas.microsoft.com/office/drawing/2014/main" id="{8B8CAF30-0F25-07A1-8793-1D9B750DBCED}"/>
                  </a:ext>
                </a:extLst>
              </p:cNvPr>
              <p:cNvSpPr>
                <a:spLocks noChangeShapeType="1"/>
              </p:cNvSpPr>
              <p:nvPr/>
            </p:nvSpPr>
            <p:spPr bwMode="auto">
              <a:xfrm>
                <a:off x="8662992" y="4357694"/>
                <a:ext cx="215900" cy="0"/>
              </a:xfrm>
              <a:prstGeom prst="line">
                <a:avLst/>
              </a:prstGeom>
              <a:noFill/>
              <a:ln w="38100">
                <a:solidFill>
                  <a:srgbClr val="9900FF"/>
                </a:solidFill>
                <a:round/>
                <a:headEnd/>
                <a:tailEnd/>
              </a:ln>
              <a:effectLst/>
            </p:spPr>
            <p:txBody>
              <a:bodyPr wrap="none"/>
              <a:lstStyle/>
              <a:p>
                <a:endParaRPr lang="zh-CN" altLang="en-US">
                  <a:latin typeface="Consolas" pitchFamily="49" charset="0"/>
                  <a:cs typeface="Consolas" pitchFamily="49" charset="0"/>
                </a:endParaRPr>
              </a:p>
            </p:txBody>
          </p:sp>
          <p:sp>
            <p:nvSpPr>
              <p:cNvPr id="20" name="Line 13">
                <a:extLst>
                  <a:ext uri="{FF2B5EF4-FFF2-40B4-BE49-F238E27FC236}">
                    <a16:creationId xmlns:a16="http://schemas.microsoft.com/office/drawing/2014/main" id="{ABC40F07-D597-92C7-6F1B-C714A749CAD8}"/>
                  </a:ext>
                </a:extLst>
              </p:cNvPr>
              <p:cNvSpPr>
                <a:spLocks noChangeShapeType="1"/>
              </p:cNvSpPr>
              <p:nvPr/>
            </p:nvSpPr>
            <p:spPr bwMode="auto">
              <a:xfrm>
                <a:off x="6477005" y="2316169"/>
                <a:ext cx="2232025" cy="1944688"/>
              </a:xfrm>
              <a:prstGeom prst="line">
                <a:avLst/>
              </a:prstGeom>
              <a:noFill/>
              <a:ln w="38100">
                <a:solidFill>
                  <a:srgbClr val="00CC00"/>
                </a:solidFill>
                <a:round/>
                <a:headEnd/>
                <a:tailEnd/>
              </a:ln>
              <a:effectLst/>
            </p:spPr>
            <p:txBody>
              <a:bodyPr wrap="none"/>
              <a:lstStyle/>
              <a:p>
                <a:endParaRPr lang="zh-CN" altLang="en-US">
                  <a:latin typeface="Consolas" pitchFamily="49" charset="0"/>
                  <a:cs typeface="Consolas" pitchFamily="49" charset="0"/>
                </a:endParaRPr>
              </a:p>
            </p:txBody>
          </p:sp>
          <p:sp>
            <p:nvSpPr>
              <p:cNvPr id="21" name="Line 14">
                <a:extLst>
                  <a:ext uri="{FF2B5EF4-FFF2-40B4-BE49-F238E27FC236}">
                    <a16:creationId xmlns:a16="http://schemas.microsoft.com/office/drawing/2014/main" id="{7540F2AC-943F-A30D-3A58-11EAD10B2966}"/>
                  </a:ext>
                </a:extLst>
              </p:cNvPr>
              <p:cNvSpPr>
                <a:spLocks noChangeShapeType="1"/>
              </p:cNvSpPr>
              <p:nvPr/>
            </p:nvSpPr>
            <p:spPr bwMode="auto">
              <a:xfrm>
                <a:off x="6900867" y="2316169"/>
                <a:ext cx="1727200" cy="1511300"/>
              </a:xfrm>
              <a:prstGeom prst="line">
                <a:avLst/>
              </a:prstGeom>
              <a:noFill/>
              <a:ln w="38100">
                <a:solidFill>
                  <a:srgbClr val="00CC00"/>
                </a:solidFill>
                <a:round/>
                <a:headEnd/>
                <a:tailEnd/>
              </a:ln>
              <a:effectLst/>
            </p:spPr>
            <p:txBody>
              <a:bodyPr wrap="none"/>
              <a:lstStyle/>
              <a:p>
                <a:endParaRPr lang="zh-CN" altLang="en-US">
                  <a:latin typeface="Consolas" pitchFamily="49" charset="0"/>
                  <a:cs typeface="Consolas" pitchFamily="49" charset="0"/>
                </a:endParaRPr>
              </a:p>
            </p:txBody>
          </p:sp>
          <p:sp>
            <p:nvSpPr>
              <p:cNvPr id="22" name="Line 16">
                <a:extLst>
                  <a:ext uri="{FF2B5EF4-FFF2-40B4-BE49-F238E27FC236}">
                    <a16:creationId xmlns:a16="http://schemas.microsoft.com/office/drawing/2014/main" id="{B5237058-B59C-8542-1C0F-0359A599C71A}"/>
                  </a:ext>
                </a:extLst>
              </p:cNvPr>
              <p:cNvSpPr>
                <a:spLocks noChangeShapeType="1"/>
              </p:cNvSpPr>
              <p:nvPr/>
            </p:nvSpPr>
            <p:spPr bwMode="auto">
              <a:xfrm>
                <a:off x="6573842" y="2724157"/>
                <a:ext cx="1727200" cy="1511300"/>
              </a:xfrm>
              <a:prstGeom prst="line">
                <a:avLst/>
              </a:prstGeom>
              <a:noFill/>
              <a:ln w="38100">
                <a:solidFill>
                  <a:srgbClr val="00CC00"/>
                </a:solidFill>
                <a:round/>
                <a:headEnd/>
                <a:tailEnd/>
              </a:ln>
              <a:effectLst/>
            </p:spPr>
            <p:txBody>
              <a:bodyPr wrap="none"/>
              <a:lstStyle/>
              <a:p>
                <a:endParaRPr lang="zh-CN" altLang="en-US">
                  <a:latin typeface="Consolas" pitchFamily="49" charset="0"/>
                  <a:cs typeface="Consolas" pitchFamily="49" charset="0"/>
                </a:endParaRPr>
              </a:p>
            </p:txBody>
          </p:sp>
          <p:sp>
            <p:nvSpPr>
              <p:cNvPr id="23" name="Text Box 20">
                <a:extLst>
                  <a:ext uri="{FF2B5EF4-FFF2-40B4-BE49-F238E27FC236}">
                    <a16:creationId xmlns:a16="http://schemas.microsoft.com/office/drawing/2014/main" id="{A3DFD188-3D43-3CF0-4EB9-9BC1B2DC54BF}"/>
                  </a:ext>
                </a:extLst>
              </p:cNvPr>
              <p:cNvSpPr txBox="1">
                <a:spLocks noChangeArrowheads="1"/>
              </p:cNvSpPr>
              <p:nvPr/>
            </p:nvSpPr>
            <p:spPr bwMode="auto">
              <a:xfrm>
                <a:off x="6715140" y="3643314"/>
                <a:ext cx="720725" cy="396875"/>
              </a:xfrm>
              <a:prstGeom prst="rect">
                <a:avLst/>
              </a:prstGeom>
              <a:noFill/>
              <a:ln w="38100" algn="ctr">
                <a:noFill/>
                <a:miter lim="800000"/>
                <a:headEnd/>
                <a:tailEnd/>
              </a:ln>
              <a:effectLst/>
            </p:spPr>
            <p:txBody>
              <a:bodyPr>
                <a:spAutoFit/>
              </a:bodyPr>
              <a:lstStyle/>
              <a:p>
                <a:pPr>
                  <a:spcBef>
                    <a:spcPct val="50000"/>
                  </a:spcBef>
                </a:pPr>
                <a:r>
                  <a:rPr lang="en-US" altLang="zh-CN" sz="2000">
                    <a:latin typeface="Consolas" pitchFamily="49" charset="0"/>
                    <a:cs typeface="Consolas" pitchFamily="49" charset="0"/>
                  </a:rPr>
                  <a:t>0</a:t>
                </a:r>
              </a:p>
            </p:txBody>
          </p:sp>
          <p:sp>
            <p:nvSpPr>
              <p:cNvPr id="24" name="Text Box 21">
                <a:extLst>
                  <a:ext uri="{FF2B5EF4-FFF2-40B4-BE49-F238E27FC236}">
                    <a16:creationId xmlns:a16="http://schemas.microsoft.com/office/drawing/2014/main" id="{0203C46A-D521-BBA4-A654-FF8FA3E9862D}"/>
                  </a:ext>
                </a:extLst>
              </p:cNvPr>
              <p:cNvSpPr txBox="1">
                <a:spLocks noChangeArrowheads="1"/>
              </p:cNvSpPr>
              <p:nvPr/>
            </p:nvSpPr>
            <p:spPr bwMode="auto">
              <a:xfrm>
                <a:off x="7858148" y="2571744"/>
                <a:ext cx="720725" cy="396875"/>
              </a:xfrm>
              <a:prstGeom prst="rect">
                <a:avLst/>
              </a:prstGeom>
              <a:noFill/>
              <a:ln w="38100" algn="ctr">
                <a:noFill/>
                <a:miter lim="800000"/>
                <a:headEnd/>
                <a:tailEnd/>
              </a:ln>
              <a:effectLst/>
            </p:spPr>
            <p:txBody>
              <a:bodyPr>
                <a:spAutoFit/>
              </a:bodyPr>
              <a:lstStyle/>
              <a:p>
                <a:pPr>
                  <a:spcBef>
                    <a:spcPct val="50000"/>
                  </a:spcBef>
                </a:pPr>
                <a:r>
                  <a:rPr lang="en-US" altLang="zh-CN" sz="2000">
                    <a:latin typeface="Consolas" pitchFamily="49" charset="0"/>
                    <a:cs typeface="Consolas" pitchFamily="49" charset="0"/>
                  </a:rPr>
                  <a:t>0</a:t>
                </a:r>
              </a:p>
            </p:txBody>
          </p:sp>
        </p:grpSp>
        <p:sp>
          <p:nvSpPr>
            <p:cNvPr id="12" name="右箭头 47">
              <a:extLst>
                <a:ext uri="{FF2B5EF4-FFF2-40B4-BE49-F238E27FC236}">
                  <a16:creationId xmlns:a16="http://schemas.microsoft.com/office/drawing/2014/main" id="{E1CDD1A3-42AA-DFB1-6D08-6E682B722AA0}"/>
                </a:ext>
              </a:extLst>
            </p:cNvPr>
            <p:cNvSpPr/>
            <p:nvPr/>
          </p:nvSpPr>
          <p:spPr>
            <a:xfrm>
              <a:off x="4000496" y="3054362"/>
              <a:ext cx="1071570" cy="214314"/>
            </a:xfrm>
            <a:prstGeom prst="rightArrow">
              <a:avLst/>
            </a:prstGeom>
            <a:ln>
              <a:tailEnd type="none"/>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latin typeface="Consolas" pitchFamily="49" charset="0"/>
                <a:cs typeface="Consolas" pitchFamily="49" charset="0"/>
              </a:endParaRPr>
            </a:p>
          </p:txBody>
        </p:sp>
      </p:grpSp>
      <p:sp>
        <p:nvSpPr>
          <p:cNvPr id="25" name="TextBox 49">
            <a:extLst>
              <a:ext uri="{FF2B5EF4-FFF2-40B4-BE49-F238E27FC236}">
                <a16:creationId xmlns:a16="http://schemas.microsoft.com/office/drawing/2014/main" id="{E72E6FDE-2FB3-79CA-251F-0FD3A8063FD5}"/>
              </a:ext>
            </a:extLst>
          </p:cNvPr>
          <p:cNvSpPr txBox="1"/>
          <p:nvPr/>
        </p:nvSpPr>
        <p:spPr>
          <a:xfrm>
            <a:off x="3871112" y="2463086"/>
            <a:ext cx="1357322" cy="400110"/>
          </a:xfrm>
          <a:prstGeom prst="rect">
            <a:avLst/>
          </a:prstGeom>
          <a:noFill/>
        </p:spPr>
        <p:txBody>
          <a:bodyPr wrap="square" rtlCol="0">
            <a:spAutoFit/>
          </a:bodyPr>
          <a:lstStyle/>
          <a:p>
            <a:pPr algn="l"/>
            <a:r>
              <a:rPr kumimoji="1" lang="zh-CN" altLang="en-US" sz="2000">
                <a:solidFill>
                  <a:srgbClr val="C00000"/>
                </a:solidFill>
                <a:latin typeface="Consolas" pitchFamily="49" charset="0"/>
                <a:ea typeface="仿宋" pitchFamily="49" charset="-122"/>
                <a:cs typeface="Consolas" pitchFamily="49" charset="0"/>
              </a:rPr>
              <a:t>对角矩阵</a:t>
            </a:r>
            <a:endParaRPr lang="zh-CN" altLang="en-US" sz="2000">
              <a:solidFill>
                <a:srgbClr val="C00000"/>
              </a:solidFill>
              <a:latin typeface="Consolas" pitchFamily="49" charset="0"/>
              <a:ea typeface="仿宋" pitchFamily="49" charset="-122"/>
              <a:cs typeface="Consolas" pitchFamily="49" charset="0"/>
            </a:endParaRPr>
          </a:p>
        </p:txBody>
      </p:sp>
      <p:sp>
        <p:nvSpPr>
          <p:cNvPr id="26" name="TextBox 50">
            <a:extLst>
              <a:ext uri="{FF2B5EF4-FFF2-40B4-BE49-F238E27FC236}">
                <a16:creationId xmlns:a16="http://schemas.microsoft.com/office/drawing/2014/main" id="{52F2B4C7-B98F-AE2A-2D55-8514D393A236}"/>
              </a:ext>
            </a:extLst>
          </p:cNvPr>
          <p:cNvSpPr txBox="1"/>
          <p:nvPr/>
        </p:nvSpPr>
        <p:spPr>
          <a:xfrm>
            <a:off x="5942814" y="2463086"/>
            <a:ext cx="1285884" cy="400110"/>
          </a:xfrm>
          <a:prstGeom prst="rect">
            <a:avLst/>
          </a:prstGeom>
          <a:noFill/>
        </p:spPr>
        <p:txBody>
          <a:bodyPr wrap="square" rtlCol="0">
            <a:spAutoFit/>
          </a:bodyPr>
          <a:lstStyle/>
          <a:p>
            <a:pPr algn="l"/>
            <a:r>
              <a:rPr kumimoji="1" lang="zh-CN" altLang="en-US" sz="2000">
                <a:solidFill>
                  <a:srgbClr val="C00000"/>
                </a:solidFill>
                <a:latin typeface="Consolas" pitchFamily="49" charset="0"/>
                <a:ea typeface="仿宋" pitchFamily="49" charset="-122"/>
                <a:cs typeface="Consolas" pitchFamily="49" charset="0"/>
              </a:rPr>
              <a:t>压缩存储</a:t>
            </a:r>
            <a:endParaRPr lang="zh-CN" altLang="en-US" sz="2000">
              <a:solidFill>
                <a:srgbClr val="C00000"/>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186672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1AA51-15D5-B84B-2FF5-5A65CA6D1EEF}"/>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CDA2C740-0435-3270-8056-1B5F052BA89A}"/>
              </a:ext>
            </a:extLst>
          </p:cNvPr>
          <p:cNvSpPr/>
          <p:nvPr/>
        </p:nvSpPr>
        <p:spPr>
          <a:xfrm>
            <a:off x="1960978" y="1966672"/>
            <a:ext cx="8669423" cy="830997"/>
          </a:xfrm>
          <a:prstGeom prst="rect">
            <a:avLst/>
          </a:prstGeom>
        </p:spPr>
        <p:txBody>
          <a:bodyPr wrap="square">
            <a:spAutoFit/>
          </a:bodyPr>
          <a:lstStyle/>
          <a:p>
            <a:r>
              <a:rPr lang="zh-CN" altLang="zh-CN" sz="2400" dirty="0">
                <a:solidFill>
                  <a:srgbClr val="FF0000"/>
                </a:solidFill>
                <a:latin typeface="微软雅黑" pitchFamily="34" charset="-122"/>
                <a:ea typeface="微软雅黑" pitchFamily="34" charset="-122"/>
                <a:cs typeface="经典粗黑简" pitchFamily="49" charset="-122"/>
              </a:rPr>
              <a:t>特殊矩阵</a:t>
            </a:r>
            <a:r>
              <a:rPr lang="zh-CN" altLang="en-US" sz="2400" dirty="0">
                <a:latin typeface="微软雅黑" pitchFamily="34" charset="-122"/>
                <a:ea typeface="微软雅黑" pitchFamily="34" charset="-122"/>
                <a:cs typeface="经典粗黑简" pitchFamily="49" charset="-122"/>
              </a:rPr>
              <a:t>是</a:t>
            </a:r>
            <a:r>
              <a:rPr lang="zh-CN" altLang="zh-CN" sz="2400" dirty="0">
                <a:latin typeface="微软雅黑" pitchFamily="34" charset="-122"/>
                <a:ea typeface="微软雅黑" pitchFamily="34" charset="-122"/>
                <a:cs typeface="经典粗黑简" pitchFamily="49" charset="-122"/>
              </a:rPr>
              <a:t>指非零元素或零元素的分布有一定规律的矩阵</a:t>
            </a:r>
            <a:r>
              <a:rPr lang="zh-CN" altLang="en-US"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如三角矩阵、对称矩阵、带状矩阵、稀疏矩阵等</a:t>
            </a:r>
            <a:r>
              <a:rPr lang="zh-CN" altLang="en-US" sz="2400" dirty="0">
                <a:latin typeface="微软雅黑" pitchFamily="34" charset="-122"/>
                <a:ea typeface="微软雅黑" pitchFamily="34" charset="-122"/>
                <a:cs typeface="经典粗黑简" pitchFamily="49" charset="-122"/>
              </a:rPr>
              <a:t>。</a:t>
            </a:r>
          </a:p>
        </p:txBody>
      </p:sp>
      <p:sp>
        <p:nvSpPr>
          <p:cNvPr id="6" name="矩形 5">
            <a:extLst>
              <a:ext uri="{FF2B5EF4-FFF2-40B4-BE49-F238E27FC236}">
                <a16:creationId xmlns:a16="http://schemas.microsoft.com/office/drawing/2014/main" id="{EB8657D3-7345-50DD-1A89-BC253DF4C6CD}"/>
              </a:ext>
            </a:extLst>
          </p:cNvPr>
          <p:cNvSpPr/>
          <p:nvPr/>
        </p:nvSpPr>
        <p:spPr>
          <a:xfrm>
            <a:off x="1847528" y="2865364"/>
            <a:ext cx="7815394"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4</a:t>
            </a:r>
            <a:r>
              <a:rPr lang="zh-CN" altLang="en-US" sz="2000" dirty="0">
                <a:latin typeface="微软雅黑" pitchFamily="34" charset="-122"/>
                <a:ea typeface="微软雅黑" pitchFamily="34" charset="-122"/>
                <a:cs typeface="经典粗黑简" pitchFamily="49" charset="-122"/>
              </a:rPr>
              <a:t>）稀疏矩阵是指非零元素的个数远小于矩阵元素的总数的矩阵。</a:t>
            </a:r>
          </a:p>
        </p:txBody>
      </p:sp>
      <p:grpSp>
        <p:nvGrpSpPr>
          <p:cNvPr id="7" name="组合 6">
            <a:extLst>
              <a:ext uri="{FF2B5EF4-FFF2-40B4-BE49-F238E27FC236}">
                <a16:creationId xmlns:a16="http://schemas.microsoft.com/office/drawing/2014/main" id="{28579785-1AE8-2D8A-0330-19529F9B048D}"/>
              </a:ext>
            </a:extLst>
          </p:cNvPr>
          <p:cNvGrpSpPr/>
          <p:nvPr/>
        </p:nvGrpSpPr>
        <p:grpSpPr>
          <a:xfrm>
            <a:off x="3503078" y="3630142"/>
            <a:ext cx="5412587" cy="2247131"/>
            <a:chOff x="2180331" y="4010486"/>
            <a:chExt cx="5412587" cy="2247131"/>
          </a:xfrm>
        </p:grpSpPr>
        <p:sp>
          <p:nvSpPr>
            <p:cNvPr id="8" name="AutoShape 5">
              <a:extLst>
                <a:ext uri="{FF2B5EF4-FFF2-40B4-BE49-F238E27FC236}">
                  <a16:creationId xmlns:a16="http://schemas.microsoft.com/office/drawing/2014/main" id="{18AB22BD-6904-0C61-9071-3D8328838246}"/>
                </a:ext>
              </a:extLst>
            </p:cNvPr>
            <p:cNvSpPr>
              <a:spLocks/>
            </p:cNvSpPr>
            <p:nvPr/>
          </p:nvSpPr>
          <p:spPr bwMode="auto">
            <a:xfrm>
              <a:off x="2995466" y="4085183"/>
              <a:ext cx="75536" cy="2172433"/>
            </a:xfrm>
            <a:prstGeom prst="lef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AutoShape 6">
              <a:extLst>
                <a:ext uri="{FF2B5EF4-FFF2-40B4-BE49-F238E27FC236}">
                  <a16:creationId xmlns:a16="http://schemas.microsoft.com/office/drawing/2014/main" id="{6FE2FD8B-0D26-8074-9732-8BC5E666CE75}"/>
                </a:ext>
              </a:extLst>
            </p:cNvPr>
            <p:cNvSpPr>
              <a:spLocks/>
            </p:cNvSpPr>
            <p:nvPr/>
          </p:nvSpPr>
          <p:spPr bwMode="auto">
            <a:xfrm>
              <a:off x="7441846" y="4078181"/>
              <a:ext cx="151072" cy="2179436"/>
            </a:xfrm>
            <a:prstGeom prst="righ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Text Box 7">
              <a:extLst>
                <a:ext uri="{FF2B5EF4-FFF2-40B4-BE49-F238E27FC236}">
                  <a16:creationId xmlns:a16="http://schemas.microsoft.com/office/drawing/2014/main" id="{D2D5E0CD-6B23-2EB1-CE0E-D7737C6FE7ED}"/>
                </a:ext>
              </a:extLst>
            </p:cNvPr>
            <p:cNvSpPr txBox="1">
              <a:spLocks noChangeArrowheads="1"/>
            </p:cNvSpPr>
            <p:nvPr/>
          </p:nvSpPr>
          <p:spPr bwMode="auto">
            <a:xfrm flipH="1">
              <a:off x="2180331" y="4916963"/>
              <a:ext cx="7553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M=</a:t>
              </a:r>
            </a:p>
          </p:txBody>
        </p:sp>
        <p:sp>
          <p:nvSpPr>
            <p:cNvPr id="11" name="Text Box 8">
              <a:extLst>
                <a:ext uri="{FF2B5EF4-FFF2-40B4-BE49-F238E27FC236}">
                  <a16:creationId xmlns:a16="http://schemas.microsoft.com/office/drawing/2014/main" id="{1D063039-40C8-F4C8-F83D-7C298C108A44}"/>
                </a:ext>
              </a:extLst>
            </p:cNvPr>
            <p:cNvSpPr txBox="1">
              <a:spLocks noChangeArrowheads="1"/>
            </p:cNvSpPr>
            <p:nvPr/>
          </p:nvSpPr>
          <p:spPr bwMode="auto">
            <a:xfrm>
              <a:off x="3071003" y="4010486"/>
              <a:ext cx="4370843" cy="224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buClr>
                  <a:schemeClr val="folHlink"/>
                </a:buClr>
                <a:buSzPct val="60000"/>
                <a:buFont typeface="Wingdings" pitchFamily="2" charset="2"/>
                <a:buNone/>
              </a:pPr>
              <a:r>
                <a:rPr kumimoji="1" lang="zh-CN" altLang="en-US" sz="2000" dirty="0">
                  <a:latin typeface="楷体_GB2312" pitchFamily="49" charset="-122"/>
                  <a:ea typeface="楷体_GB2312" pitchFamily="49" charset="-122"/>
                </a:rPr>
                <a:t> </a:t>
              </a:r>
              <a:r>
                <a:rPr kumimoji="1" lang="en-US" altLang="zh-CN" sz="2000" b="1" dirty="0">
                  <a:latin typeface="宋体" pitchFamily="2" charset="-122"/>
                </a:rPr>
                <a:t>0   </a:t>
              </a:r>
              <a:r>
                <a:rPr kumimoji="1" lang="en-US" altLang="zh-CN" sz="2000" b="1" dirty="0">
                  <a:solidFill>
                    <a:srgbClr val="FF0000"/>
                  </a:solidFill>
                  <a:latin typeface="宋体" pitchFamily="2" charset="-122"/>
                </a:rPr>
                <a:t>12</a:t>
              </a:r>
              <a:r>
                <a:rPr kumimoji="1" lang="en-US" altLang="zh-CN" sz="2000" b="1" dirty="0">
                  <a:latin typeface="宋体" pitchFamily="2" charset="-122"/>
                </a:rPr>
                <a:t>    </a:t>
              </a:r>
              <a:r>
                <a:rPr kumimoji="1" lang="en-US" altLang="zh-CN" sz="2000" b="1" dirty="0">
                  <a:solidFill>
                    <a:srgbClr val="FF0000"/>
                  </a:solidFill>
                  <a:latin typeface="宋体" pitchFamily="2" charset="-122"/>
                </a:rPr>
                <a:t>9 </a:t>
              </a:r>
              <a:r>
                <a:rPr kumimoji="1" lang="en-US" altLang="zh-CN" sz="2000" b="1" dirty="0">
                  <a:latin typeface="宋体" pitchFamily="2" charset="-122"/>
                </a:rPr>
                <a:t>   0    0    0    0 </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0    0    0    0    0    0    0</a:t>
              </a:r>
            </a:p>
            <a:p>
              <a:pPr algn="l" eaLnBrk="1" hangingPunct="1">
                <a:spcBef>
                  <a:spcPct val="20000"/>
                </a:spcBef>
                <a:buClr>
                  <a:schemeClr val="folHlink"/>
                </a:buClr>
                <a:buSzPct val="60000"/>
                <a:buFont typeface="Wingdings" pitchFamily="2" charset="2"/>
                <a:buNone/>
              </a:pPr>
              <a:r>
                <a:rPr kumimoji="1" lang="en-US" altLang="zh-CN" sz="2000" b="1" dirty="0">
                  <a:solidFill>
                    <a:srgbClr val="FF0000"/>
                  </a:solidFill>
                  <a:latin typeface="宋体" pitchFamily="2" charset="-122"/>
                </a:rPr>
                <a:t>-3</a:t>
              </a:r>
              <a:r>
                <a:rPr kumimoji="1" lang="en-US" altLang="zh-CN" sz="2000" b="1" dirty="0">
                  <a:latin typeface="宋体" pitchFamily="2" charset="-122"/>
                </a:rPr>
                <a:t>    0    0    0    0   </a:t>
              </a:r>
              <a:r>
                <a:rPr kumimoji="1" lang="en-US" altLang="zh-CN" sz="2000" b="1" dirty="0">
                  <a:solidFill>
                    <a:srgbClr val="FF0000"/>
                  </a:solidFill>
                  <a:latin typeface="宋体" pitchFamily="2" charset="-122"/>
                </a:rPr>
                <a:t>14</a:t>
              </a:r>
              <a:r>
                <a:rPr kumimoji="1" lang="en-US" altLang="zh-CN" sz="2000" b="1" dirty="0">
                  <a:latin typeface="宋体" pitchFamily="2" charset="-122"/>
                </a:rPr>
                <a:t>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a:t>
              </a:r>
              <a:r>
                <a:rPr kumimoji="1" lang="en-US" altLang="zh-CN" sz="2000" b="1" dirty="0">
                  <a:solidFill>
                    <a:srgbClr val="FF0000"/>
                  </a:solidFill>
                  <a:latin typeface="宋体" pitchFamily="2" charset="-122"/>
                </a:rPr>
                <a:t>24</a:t>
              </a:r>
              <a:r>
                <a:rPr kumimoji="1" lang="en-US" altLang="zh-CN" sz="2000" b="1" dirty="0">
                  <a:latin typeface="宋体" pitchFamily="2" charset="-122"/>
                </a:rPr>
                <a:t>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a:t>
              </a:r>
              <a:r>
                <a:rPr kumimoji="1" lang="en-US" altLang="zh-CN" sz="2000" b="1" dirty="0">
                  <a:solidFill>
                    <a:srgbClr val="FF0000"/>
                  </a:solidFill>
                  <a:latin typeface="宋体" pitchFamily="2" charset="-122"/>
                </a:rPr>
                <a:t>18</a:t>
              </a:r>
              <a:r>
                <a:rPr kumimoji="1" lang="en-US" altLang="zh-CN" sz="2000" b="1" dirty="0">
                  <a:latin typeface="宋体" pitchFamily="2" charset="-122"/>
                </a:rPr>
                <a:t>    0    0    0    0    0</a:t>
              </a:r>
            </a:p>
            <a:p>
              <a:pPr algn="l" eaLnBrk="1" hangingPunct="1">
                <a:spcBef>
                  <a:spcPct val="20000"/>
                </a:spcBef>
                <a:buClr>
                  <a:schemeClr val="folHlink"/>
                </a:buClr>
                <a:buSzPct val="60000"/>
                <a:buFont typeface="Wingdings" pitchFamily="2" charset="2"/>
                <a:buNone/>
              </a:pPr>
              <a:r>
                <a:rPr kumimoji="1" lang="en-US" altLang="zh-CN" sz="2000" b="1" dirty="0">
                  <a:solidFill>
                    <a:srgbClr val="FF0000"/>
                  </a:solidFill>
                  <a:latin typeface="宋体" pitchFamily="2" charset="-122"/>
                </a:rPr>
                <a:t>15 </a:t>
              </a:r>
              <a:r>
                <a:rPr kumimoji="1" lang="en-US" altLang="zh-CN" sz="2000" b="1" dirty="0">
                  <a:latin typeface="宋体" pitchFamily="2" charset="-122"/>
                </a:rPr>
                <a:t>   0    0   </a:t>
              </a:r>
              <a:r>
                <a:rPr kumimoji="1" lang="en-US" altLang="zh-CN" sz="2000" b="1" dirty="0">
                  <a:solidFill>
                    <a:srgbClr val="FF0000"/>
                  </a:solidFill>
                  <a:latin typeface="宋体" pitchFamily="2" charset="-122"/>
                </a:rPr>
                <a:t>–7</a:t>
              </a:r>
              <a:r>
                <a:rPr kumimoji="1" lang="en-US" altLang="zh-CN" sz="2000" b="1" dirty="0">
                  <a:latin typeface="宋体" pitchFamily="2" charset="-122"/>
                </a:rPr>
                <a:t>   0    0    0</a:t>
              </a:r>
            </a:p>
          </p:txBody>
        </p:sp>
      </p:grpSp>
      <p:sp>
        <p:nvSpPr>
          <p:cNvPr id="2" name="Rectangle 3">
            <a:extLst>
              <a:ext uri="{FF2B5EF4-FFF2-40B4-BE49-F238E27FC236}">
                <a16:creationId xmlns:a16="http://schemas.microsoft.com/office/drawing/2014/main" id="{5256D11D-350A-5E43-C032-2F114C85FBA6}"/>
              </a:ext>
            </a:extLst>
          </p:cNvPr>
          <p:cNvSpPr txBox="1">
            <a:spLocks noChangeArrowheads="1"/>
          </p:cNvSpPr>
          <p:nvPr/>
        </p:nvSpPr>
        <p:spPr>
          <a:xfrm>
            <a:off x="191344" y="1106736"/>
            <a:ext cx="47525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6.1.3 </a:t>
            </a:r>
            <a:r>
              <a:rPr lang="zh-CN" altLang="en-US" sz="2800" b="1" dirty="0">
                <a:solidFill>
                  <a:schemeClr val="bg1"/>
                </a:solidFill>
                <a:latin typeface="经典粗黑简" pitchFamily="49" charset="-122"/>
                <a:ea typeface="经典粗黑简" pitchFamily="49" charset="-122"/>
                <a:cs typeface="经典粗黑简" pitchFamily="49" charset="-122"/>
              </a:rPr>
              <a:t>特殊矩阵的压缩存储</a:t>
            </a:r>
          </a:p>
        </p:txBody>
      </p:sp>
      <p:sp>
        <p:nvSpPr>
          <p:cNvPr id="5" name="Rectangle 2">
            <a:extLst>
              <a:ext uri="{FF2B5EF4-FFF2-40B4-BE49-F238E27FC236}">
                <a16:creationId xmlns:a16="http://schemas.microsoft.com/office/drawing/2014/main" id="{82DFE378-100E-E101-9373-D15542FD266F}"/>
              </a:ext>
            </a:extLst>
          </p:cNvPr>
          <p:cNvSpPr txBox="1">
            <a:spLocks noChangeArrowheads="1"/>
          </p:cNvSpPr>
          <p:nvPr/>
        </p:nvSpPr>
        <p:spPr>
          <a:xfrm>
            <a:off x="4655840" y="383178"/>
            <a:ext cx="2880320"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6.1 </a:t>
            </a:r>
            <a:r>
              <a:rPr lang="zh-CN" altLang="en-US" sz="3600" dirty="0">
                <a:latin typeface="黑体" pitchFamily="49" charset="-122"/>
                <a:ea typeface="黑体" pitchFamily="49" charset="-122"/>
                <a:cs typeface="+mn-cs"/>
              </a:rPr>
              <a:t>数组</a:t>
            </a:r>
            <a:endParaRPr lang="en-US" altLang="zh-CN" sz="2400" dirty="0">
              <a:latin typeface="黑体" pitchFamily="49" charset="-122"/>
              <a:ea typeface="黑体" pitchFamily="49" charset="-122"/>
            </a:endParaRPr>
          </a:p>
        </p:txBody>
      </p:sp>
      <p:cxnSp>
        <p:nvCxnSpPr>
          <p:cNvPr id="12" name="直接连接符 11">
            <a:extLst>
              <a:ext uri="{FF2B5EF4-FFF2-40B4-BE49-F238E27FC236}">
                <a16:creationId xmlns:a16="http://schemas.microsoft.com/office/drawing/2014/main" id="{59A4CD3D-0FC6-0EEB-6E64-8A65E2B73249}"/>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8447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1847528" y="2980899"/>
            <a:ext cx="8430322" cy="830997"/>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简单说，设矩阵</a:t>
            </a:r>
            <a:r>
              <a:rPr lang="en-US" altLang="zh-CN" sz="2400" dirty="0">
                <a:latin typeface="微软雅黑" pitchFamily="34" charset="-122"/>
                <a:ea typeface="微软雅黑" pitchFamily="34" charset="-122"/>
                <a:cs typeface="经典粗黑简" pitchFamily="49" charset="-122"/>
              </a:rPr>
              <a:t>A</a:t>
            </a:r>
            <a:r>
              <a:rPr lang="zh-CN" altLang="en-US" sz="2400" dirty="0">
                <a:latin typeface="微软雅黑" pitchFamily="34" charset="-122"/>
                <a:ea typeface="微软雅黑" pitchFamily="34" charset="-122"/>
                <a:cs typeface="经典粗黑简" pitchFamily="49" charset="-122"/>
              </a:rPr>
              <a:t>中有</a:t>
            </a:r>
            <a:r>
              <a:rPr lang="en-US" altLang="zh-CN" sz="2400" dirty="0">
                <a:latin typeface="微软雅黑" pitchFamily="34" charset="-122"/>
                <a:ea typeface="微软雅黑" pitchFamily="34" charset="-122"/>
                <a:cs typeface="经典粗黑简" pitchFamily="49" charset="-122"/>
              </a:rPr>
              <a:t>s</a:t>
            </a:r>
            <a:r>
              <a:rPr lang="zh-CN" altLang="en-US" sz="2400" dirty="0">
                <a:latin typeface="微软雅黑" pitchFamily="34" charset="-122"/>
                <a:ea typeface="微软雅黑" pitchFamily="34" charset="-122"/>
                <a:cs typeface="经典粗黑简" pitchFamily="49" charset="-122"/>
              </a:rPr>
              <a:t>个非零元素，若</a:t>
            </a:r>
            <a:r>
              <a:rPr lang="en-US" altLang="zh-CN" sz="2400" dirty="0">
                <a:latin typeface="微软雅黑" pitchFamily="34" charset="-122"/>
                <a:ea typeface="微软雅黑" pitchFamily="34" charset="-122"/>
                <a:cs typeface="经典粗黑简" pitchFamily="49" charset="-122"/>
              </a:rPr>
              <a:t>s</a:t>
            </a:r>
            <a:r>
              <a:rPr lang="zh-CN" altLang="en-US" sz="2400" dirty="0">
                <a:latin typeface="微软雅黑" pitchFamily="34" charset="-122"/>
                <a:ea typeface="微软雅黑" pitchFamily="34" charset="-122"/>
                <a:cs typeface="经典粗黑简" pitchFamily="49" charset="-122"/>
              </a:rPr>
              <a:t>远远小于矩阵元素的总数（即</a:t>
            </a:r>
            <a:r>
              <a:rPr lang="en-US" altLang="zh-CN" sz="2400" dirty="0" err="1">
                <a:latin typeface="微软雅黑" pitchFamily="34" charset="-122"/>
                <a:ea typeface="微软雅黑" pitchFamily="34" charset="-122"/>
                <a:cs typeface="经典粗黑简" pitchFamily="49" charset="-122"/>
              </a:rPr>
              <a:t>s≦m×n</a:t>
            </a:r>
            <a:r>
              <a:rPr lang="zh-CN" altLang="en-US" sz="2400" dirty="0">
                <a:latin typeface="微软雅黑" pitchFamily="34" charset="-122"/>
                <a:ea typeface="微软雅黑" pitchFamily="34" charset="-122"/>
                <a:cs typeface="经典粗黑简" pitchFamily="49" charset="-122"/>
              </a:rPr>
              <a:t>），则称</a:t>
            </a:r>
            <a:r>
              <a:rPr lang="en-US" altLang="zh-CN" sz="2400" dirty="0">
                <a:latin typeface="微软雅黑" pitchFamily="34" charset="-122"/>
                <a:ea typeface="微软雅黑" pitchFamily="34" charset="-122"/>
                <a:cs typeface="经典粗黑简" pitchFamily="49" charset="-122"/>
              </a:rPr>
              <a:t>A</a:t>
            </a:r>
            <a:r>
              <a:rPr lang="zh-CN" altLang="en-US" sz="2400" dirty="0">
                <a:latin typeface="微软雅黑" pitchFamily="34" charset="-122"/>
                <a:ea typeface="微软雅黑" pitchFamily="34" charset="-122"/>
                <a:cs typeface="经典粗黑简" pitchFamily="49" charset="-122"/>
              </a:rPr>
              <a:t>为</a:t>
            </a:r>
            <a:r>
              <a:rPr lang="zh-CN" altLang="en-US" sz="2400" dirty="0">
                <a:solidFill>
                  <a:srgbClr val="FF0000"/>
                </a:solidFill>
                <a:latin typeface="微软雅黑" pitchFamily="34" charset="-122"/>
                <a:ea typeface="微软雅黑" pitchFamily="34" charset="-122"/>
                <a:cs typeface="经典粗黑简" pitchFamily="49" charset="-122"/>
              </a:rPr>
              <a:t>稀疏矩阵</a:t>
            </a:r>
            <a:r>
              <a:rPr lang="zh-CN" altLang="en-US" sz="2400" dirty="0">
                <a:latin typeface="微软雅黑" pitchFamily="34" charset="-122"/>
                <a:ea typeface="微软雅黑" pitchFamily="34" charset="-122"/>
                <a:cs typeface="经典粗黑简" pitchFamily="49" charset="-122"/>
              </a:rPr>
              <a:t>。</a:t>
            </a:r>
          </a:p>
        </p:txBody>
      </p:sp>
      <p:sp>
        <p:nvSpPr>
          <p:cNvPr id="36" name="矩形 35"/>
          <p:cNvSpPr/>
          <p:nvPr/>
        </p:nvSpPr>
        <p:spPr>
          <a:xfrm>
            <a:off x="1858244" y="1988840"/>
            <a:ext cx="2646878"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什么是稀疏矩阵？</a:t>
            </a:r>
          </a:p>
        </p:txBody>
      </p:sp>
      <p:sp>
        <p:nvSpPr>
          <p:cNvPr id="37" name="矩形 36"/>
          <p:cNvSpPr/>
          <p:nvPr/>
        </p:nvSpPr>
        <p:spPr>
          <a:xfrm>
            <a:off x="1847528" y="4221088"/>
            <a:ext cx="8430322" cy="1200329"/>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设在矩阵</a:t>
            </a:r>
            <a:r>
              <a:rPr lang="en-US" altLang="zh-CN" sz="2400" dirty="0">
                <a:latin typeface="微软雅黑" pitchFamily="34" charset="-122"/>
                <a:ea typeface="微软雅黑" pitchFamily="34" charset="-122"/>
                <a:cs typeface="经典粗黑简" pitchFamily="49" charset="-122"/>
              </a:rPr>
              <a:t>A</a:t>
            </a:r>
            <a:r>
              <a:rPr lang="zh-CN" altLang="en-US" sz="2400" dirty="0">
                <a:latin typeface="微软雅黑" pitchFamily="34" charset="-122"/>
                <a:ea typeface="微软雅黑" pitchFamily="34" charset="-122"/>
                <a:cs typeface="经典粗黑简" pitchFamily="49" charset="-122"/>
              </a:rPr>
              <a:t>中，有</a:t>
            </a:r>
            <a:r>
              <a:rPr lang="en-US" altLang="zh-CN" sz="2400" dirty="0">
                <a:latin typeface="微软雅黑" pitchFamily="34" charset="-122"/>
                <a:ea typeface="微软雅黑" pitchFamily="34" charset="-122"/>
                <a:cs typeface="经典粗黑简" pitchFamily="49" charset="-122"/>
              </a:rPr>
              <a:t>s</a:t>
            </a:r>
            <a:r>
              <a:rPr lang="zh-CN" altLang="en-US" sz="2400" dirty="0">
                <a:latin typeface="微软雅黑" pitchFamily="34" charset="-122"/>
                <a:ea typeface="微软雅黑" pitchFamily="34" charset="-122"/>
                <a:cs typeface="经典粗黑简" pitchFamily="49" charset="-122"/>
              </a:rPr>
              <a:t>个非零元素。</a:t>
            </a:r>
            <a:endParaRPr lang="en-US" altLang="zh-CN" sz="2400" dirty="0">
              <a:latin typeface="微软雅黑" pitchFamily="34" charset="-122"/>
              <a:ea typeface="微软雅黑" pitchFamily="34" charset="-122"/>
              <a:cs typeface="经典粗黑简" pitchFamily="49" charset="-122"/>
            </a:endParaRPr>
          </a:p>
          <a:p>
            <a:r>
              <a:rPr lang="en-US" altLang="zh-CN" sz="2400" dirty="0">
                <a:latin typeface="微软雅黑" pitchFamily="34" charset="-122"/>
                <a:ea typeface="微软雅黑" pitchFamily="34" charset="-122"/>
                <a:cs typeface="经典粗黑简" pitchFamily="49" charset="-122"/>
              </a:rPr>
              <a:t>       </a:t>
            </a:r>
            <a:r>
              <a:rPr lang="zh-CN" altLang="en-US" sz="2400" dirty="0">
                <a:latin typeface="微软雅黑" pitchFamily="34" charset="-122"/>
                <a:ea typeface="微软雅黑" pitchFamily="34" charset="-122"/>
                <a:cs typeface="经典粗黑简" pitchFamily="49" charset="-122"/>
              </a:rPr>
              <a:t>令 </a:t>
            </a:r>
            <a:r>
              <a:rPr lang="en-US" altLang="zh-CN" sz="2400" dirty="0">
                <a:latin typeface="微软雅黑" pitchFamily="34" charset="-122"/>
                <a:ea typeface="微软雅黑" pitchFamily="34" charset="-122"/>
                <a:cs typeface="经典粗黑简" pitchFamily="49" charset="-122"/>
              </a:rPr>
              <a:t>e=s/(m*n)</a:t>
            </a:r>
            <a:r>
              <a:rPr lang="zh-CN" altLang="en-US" sz="2400" dirty="0">
                <a:latin typeface="微软雅黑" pitchFamily="34" charset="-122"/>
                <a:ea typeface="微软雅黑" pitchFamily="34" charset="-122"/>
                <a:cs typeface="经典粗黑简" pitchFamily="49" charset="-122"/>
              </a:rPr>
              <a:t>，称</a:t>
            </a:r>
            <a:r>
              <a:rPr lang="en-US" altLang="zh-CN" sz="2400" dirty="0">
                <a:latin typeface="微软雅黑" pitchFamily="34" charset="-122"/>
                <a:ea typeface="微软雅黑" pitchFamily="34" charset="-122"/>
                <a:cs typeface="经典粗黑简" pitchFamily="49" charset="-122"/>
              </a:rPr>
              <a:t>e</a:t>
            </a:r>
            <a:r>
              <a:rPr lang="zh-CN" altLang="en-US" sz="2400" dirty="0">
                <a:latin typeface="微软雅黑" pitchFamily="34" charset="-122"/>
                <a:ea typeface="微软雅黑" pitchFamily="34" charset="-122"/>
                <a:cs typeface="经典粗黑简" pitchFamily="49" charset="-122"/>
              </a:rPr>
              <a:t>为矩阵的</a:t>
            </a:r>
            <a:r>
              <a:rPr lang="zh-CN" altLang="en-US" sz="2400" dirty="0">
                <a:solidFill>
                  <a:srgbClr val="FF0000"/>
                </a:solidFill>
                <a:latin typeface="微软雅黑" pitchFamily="34" charset="-122"/>
                <a:ea typeface="微软雅黑" pitchFamily="34" charset="-122"/>
                <a:cs typeface="经典粗黑简" pitchFamily="49" charset="-122"/>
              </a:rPr>
              <a:t>稀疏因子</a:t>
            </a:r>
            <a:r>
              <a:rPr lang="zh-CN" altLang="en-US" sz="2400" dirty="0">
                <a:latin typeface="微软雅黑" pitchFamily="34" charset="-122"/>
                <a:ea typeface="微软雅黑" pitchFamily="34" charset="-122"/>
                <a:cs typeface="经典粗黑简" pitchFamily="49" charset="-122"/>
              </a:rPr>
              <a:t>。通常认为</a:t>
            </a:r>
            <a:r>
              <a:rPr lang="en-US" altLang="zh-CN" sz="2400" dirty="0">
                <a:latin typeface="微软雅黑" pitchFamily="34" charset="-122"/>
                <a:ea typeface="微软雅黑" pitchFamily="34" charset="-122"/>
                <a:cs typeface="经典粗黑简" pitchFamily="49" charset="-122"/>
              </a:rPr>
              <a:t>e≦0.05</a:t>
            </a:r>
            <a:r>
              <a:rPr lang="zh-CN" altLang="en-US" sz="2400" dirty="0">
                <a:latin typeface="微软雅黑" pitchFamily="34" charset="-122"/>
                <a:ea typeface="微软雅黑" pitchFamily="34" charset="-122"/>
                <a:cs typeface="经典粗黑简" pitchFamily="49" charset="-122"/>
              </a:rPr>
              <a:t>时称之为</a:t>
            </a:r>
            <a:r>
              <a:rPr lang="zh-CN" altLang="en-US" sz="2400" dirty="0">
                <a:solidFill>
                  <a:srgbClr val="FF0000"/>
                </a:solidFill>
                <a:latin typeface="微软雅黑" pitchFamily="34" charset="-122"/>
                <a:ea typeface="微软雅黑" pitchFamily="34" charset="-122"/>
                <a:cs typeface="经典粗黑简" pitchFamily="49" charset="-122"/>
              </a:rPr>
              <a:t>稀疏矩阵</a:t>
            </a:r>
            <a:r>
              <a:rPr lang="zh-CN" altLang="en-US" sz="2400" dirty="0">
                <a:latin typeface="微软雅黑" pitchFamily="34" charset="-122"/>
                <a:ea typeface="微软雅黑" pitchFamily="34" charset="-122"/>
                <a:cs typeface="经典粗黑简" pitchFamily="49" charset="-122"/>
              </a:rPr>
              <a:t>。</a:t>
            </a:r>
          </a:p>
        </p:txBody>
      </p:sp>
      <p:sp>
        <p:nvSpPr>
          <p:cNvPr id="6" name="Rectangle 2">
            <a:extLst>
              <a:ext uri="{FF2B5EF4-FFF2-40B4-BE49-F238E27FC236}">
                <a16:creationId xmlns:a16="http://schemas.microsoft.com/office/drawing/2014/main" id="{8518511A-0DFC-81C3-D702-7DC5ACA820DD}"/>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7" name="直接连接符 6">
            <a:extLst>
              <a:ext uri="{FF2B5EF4-FFF2-40B4-BE49-F238E27FC236}">
                <a16:creationId xmlns:a16="http://schemas.microsoft.com/office/drawing/2014/main" id="{295EDFF4-AAA4-122B-18E6-C813DAF2CF79}"/>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260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252D6-5A8D-AEC5-C245-02FE2188B6BB}"/>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73E8F521-9085-9CC7-7C7A-F8A0F7D70F37}"/>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7" name="直接连接符 6">
            <a:extLst>
              <a:ext uri="{FF2B5EF4-FFF2-40B4-BE49-F238E27FC236}">
                <a16:creationId xmlns:a16="http://schemas.microsoft.com/office/drawing/2014/main" id="{53309BA4-9918-DC2E-CA10-8EFE1959B61C}"/>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3">
            <a:extLst>
              <a:ext uri="{FF2B5EF4-FFF2-40B4-BE49-F238E27FC236}">
                <a16:creationId xmlns:a16="http://schemas.microsoft.com/office/drawing/2014/main" id="{89E3F600-ED66-9A35-110A-1B81FFAEE415}"/>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sp>
        <p:nvSpPr>
          <p:cNvPr id="9" name="矩形 8"/>
          <p:cNvSpPr/>
          <p:nvPr/>
        </p:nvSpPr>
        <p:spPr>
          <a:xfrm>
            <a:off x="1127448" y="2060848"/>
            <a:ext cx="10729192" cy="1569660"/>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       在存储稀疏矩阵时，由于非零元素的分布一般是没有规律的，因此在存储非零元素的同时，还必须同时记下它所在的行和列的位置（</a:t>
            </a:r>
            <a:r>
              <a:rPr lang="en-US" altLang="zh-CN" sz="2400" dirty="0" err="1">
                <a:latin typeface="微软雅黑" pitchFamily="34" charset="-122"/>
                <a:ea typeface="微软雅黑" pitchFamily="34" charset="-122"/>
                <a:cs typeface="经典粗黑简" pitchFamily="49" charset="-122"/>
              </a:rPr>
              <a:t>i,j</a:t>
            </a:r>
            <a:r>
              <a:rPr lang="en-US" altLang="zh-CN" sz="2400" dirty="0">
                <a:latin typeface="微软雅黑" pitchFamily="34" charset="-122"/>
                <a:ea typeface="微软雅黑" pitchFamily="34" charset="-122"/>
                <a:cs typeface="经典粗黑简" pitchFamily="49" charset="-122"/>
              </a:rPr>
              <a:t>)</a:t>
            </a:r>
            <a:r>
              <a:rPr lang="zh-CN" altLang="en-US" sz="2400" dirty="0">
                <a:latin typeface="微软雅黑" pitchFamily="34" charset="-122"/>
                <a:ea typeface="微软雅黑" pitchFamily="34" charset="-122"/>
                <a:cs typeface="经典粗黑简" pitchFamily="49" charset="-122"/>
              </a:rPr>
              <a:t>。反之，一个三元组</a:t>
            </a:r>
            <a:r>
              <a:rPr lang="en-US" altLang="zh-CN" sz="2400" dirty="0">
                <a:solidFill>
                  <a:srgbClr val="FF0000"/>
                </a:solidFill>
                <a:latin typeface="微软雅黑" pitchFamily="34" charset="-122"/>
                <a:ea typeface="微软雅黑" pitchFamily="34" charset="-122"/>
                <a:cs typeface="经典粗黑简" pitchFamily="49" charset="-122"/>
              </a:rPr>
              <a:t>( i, j , </a:t>
            </a:r>
            <a:r>
              <a:rPr lang="en-US" altLang="zh-CN" sz="2400" dirty="0" err="1">
                <a:solidFill>
                  <a:srgbClr val="FF0000"/>
                </a:solidFill>
                <a:latin typeface="微软雅黑" pitchFamily="34" charset="-122"/>
                <a:ea typeface="微软雅黑" pitchFamily="34" charset="-122"/>
                <a:cs typeface="经典粗黑简" pitchFamily="49" charset="-122"/>
              </a:rPr>
              <a:t>a</a:t>
            </a:r>
            <a:r>
              <a:rPr lang="en-US" altLang="zh-CN" sz="2400" baseline="-25000" dirty="0" err="1">
                <a:solidFill>
                  <a:srgbClr val="FF0000"/>
                </a:solidFill>
                <a:latin typeface="微软雅黑" pitchFamily="34" charset="-122"/>
                <a:ea typeface="微软雅黑" pitchFamily="34" charset="-122"/>
                <a:cs typeface="经典粗黑简" pitchFamily="49" charset="-122"/>
              </a:rPr>
              <a:t>ij</a:t>
            </a:r>
            <a:r>
              <a:rPr lang="en-US" altLang="zh-CN" sz="2400" baseline="-25000" dirty="0">
                <a:solidFill>
                  <a:srgbClr val="FF0000"/>
                </a:solidFill>
                <a:latin typeface="微软雅黑" pitchFamily="34" charset="-122"/>
                <a:ea typeface="微软雅黑" pitchFamily="34" charset="-122"/>
                <a:cs typeface="经典粗黑简" pitchFamily="49" charset="-122"/>
              </a:rPr>
              <a:t> </a:t>
            </a:r>
            <a:r>
              <a:rPr lang="en-US" altLang="zh-CN" sz="2400" dirty="0">
                <a:solidFill>
                  <a:srgbClr val="FF0000"/>
                </a:solidFill>
                <a:latin typeface="微软雅黑" pitchFamily="34" charset="-122"/>
                <a:ea typeface="微软雅黑" pitchFamily="34" charset="-122"/>
                <a:cs typeface="经典粗黑简" pitchFamily="49" charset="-122"/>
              </a:rPr>
              <a:t>)</a:t>
            </a:r>
            <a:r>
              <a:rPr lang="zh-CN" altLang="en-US" sz="2400" dirty="0">
                <a:latin typeface="微软雅黑" pitchFamily="34" charset="-122"/>
                <a:ea typeface="微软雅黑" pitchFamily="34" charset="-122"/>
                <a:cs typeface="经典粗黑简" pitchFamily="49" charset="-122"/>
              </a:rPr>
              <a:t>惟一确定了矩阵</a:t>
            </a:r>
            <a:r>
              <a:rPr lang="en-US" altLang="zh-CN" sz="2400" dirty="0">
                <a:latin typeface="微软雅黑" pitchFamily="34" charset="-122"/>
                <a:ea typeface="微软雅黑" pitchFamily="34" charset="-122"/>
                <a:cs typeface="经典粗黑简" pitchFamily="49" charset="-122"/>
              </a:rPr>
              <a:t>A</a:t>
            </a:r>
            <a:r>
              <a:rPr lang="zh-CN" altLang="en-US" sz="2400" dirty="0">
                <a:latin typeface="微软雅黑" pitchFamily="34" charset="-122"/>
                <a:ea typeface="微软雅黑" pitchFamily="34" charset="-122"/>
                <a:cs typeface="经典粗黑简" pitchFamily="49" charset="-122"/>
              </a:rPr>
              <a:t>的一个非零元。因此，稀疏矩阵可由表示非零元的三元组及其行列数唯一确定。</a:t>
            </a:r>
          </a:p>
        </p:txBody>
      </p:sp>
      <p:sp>
        <p:nvSpPr>
          <p:cNvPr id="30722" name="Text Box 2"/>
          <p:cNvSpPr txBox="1">
            <a:spLocks noChangeArrowheads="1"/>
          </p:cNvSpPr>
          <p:nvPr/>
        </p:nvSpPr>
        <p:spPr bwMode="auto">
          <a:xfrm>
            <a:off x="2505140" y="3933056"/>
            <a:ext cx="7177108" cy="1733808"/>
          </a:xfrm>
          <a:prstGeom prst="rect">
            <a:avLst/>
          </a:prstGeom>
          <a:noFill/>
          <a:ln w="9525">
            <a:noFill/>
            <a:miter lim="800000"/>
            <a:headEnd/>
            <a:tailEnd/>
          </a:ln>
          <a:effectLst/>
        </p:spPr>
        <p:txBody>
          <a:bodyPr wrap="square">
            <a:spAutoFit/>
          </a:bodyPr>
          <a:lstStyle/>
          <a:p>
            <a:pPr algn="l">
              <a:lnSpc>
                <a:spcPts val="3200"/>
              </a:lnSpc>
              <a:spcBef>
                <a:spcPts val="0"/>
              </a:spcBef>
            </a:pPr>
            <a:r>
              <a:rPr kumimoji="1" lang="zh-CN" altLang="en-US" sz="2000" dirty="0">
                <a:latin typeface="Consolas" pitchFamily="49" charset="0"/>
                <a:ea typeface="楷体" pitchFamily="49" charset="-122"/>
                <a:cs typeface="Consolas" pitchFamily="49" charset="0"/>
              </a:rPr>
              <a:t>   稀疏矩阵的压缩存储方法是</a:t>
            </a:r>
            <a:r>
              <a:rPr lang="zh-CN" altLang="en-US" sz="2400" dirty="0">
                <a:solidFill>
                  <a:srgbClr val="FF0000"/>
                </a:solidFill>
                <a:latin typeface="微软雅黑" pitchFamily="34" charset="-122"/>
                <a:ea typeface="微软雅黑" pitchFamily="34" charset="-122"/>
                <a:cs typeface="经典粗黑简" pitchFamily="49" charset="-122"/>
              </a:rPr>
              <a:t>只存储非零元素</a:t>
            </a:r>
            <a:r>
              <a:rPr kumimoji="1" lang="zh-CN" altLang="en-US" sz="2000" dirty="0">
                <a:latin typeface="Consolas" pitchFamily="49" charset="0"/>
                <a:ea typeface="楷体" pitchFamily="49" charset="-122"/>
                <a:cs typeface="Consolas" pitchFamily="49" charset="0"/>
              </a:rPr>
              <a:t>。</a:t>
            </a:r>
          </a:p>
          <a:p>
            <a:pPr algn="just">
              <a:lnSpc>
                <a:spcPts val="3200"/>
              </a:lnSpc>
              <a:spcBef>
                <a:spcPts val="0"/>
              </a:spcBef>
            </a:pPr>
            <a:r>
              <a:rPr kumimoji="1" lang="zh-CN" altLang="en-US" sz="2000" dirty="0">
                <a:latin typeface="Consolas" pitchFamily="49" charset="0"/>
                <a:ea typeface="仿宋" pitchFamily="49" charset="-122"/>
                <a:cs typeface="Consolas" pitchFamily="49" charset="0"/>
              </a:rPr>
              <a:t>   稀疏矩阵中的每一个非零元素需由一个三元组：</a:t>
            </a:r>
          </a:p>
          <a:p>
            <a:pPr algn="just">
              <a:lnSpc>
                <a:spcPts val="3200"/>
              </a:lnSpc>
              <a:spcBef>
                <a:spcPts val="0"/>
              </a:spcBef>
            </a:pPr>
            <a:r>
              <a:rPr kumimoji="1" lang="zh-CN" altLang="en-US" sz="2000" dirty="0">
                <a:latin typeface="Consolas" pitchFamily="49" charset="0"/>
                <a:ea typeface="仿宋" pitchFamily="49" charset="-122"/>
                <a:cs typeface="Consolas" pitchFamily="49" charset="0"/>
              </a:rPr>
              <a:t>　　　　　　　</a:t>
            </a:r>
            <a:r>
              <a:rPr kumimoji="1" lang="zh-CN" altLang="en-US" sz="2000" dirty="0">
                <a:solidFill>
                  <a:srgbClr val="FF0000"/>
                </a:solidFill>
                <a:latin typeface="Consolas" pitchFamily="49" charset="0"/>
                <a:ea typeface="仿宋" pitchFamily="49" charset="-122"/>
                <a:cs typeface="Consolas" pitchFamily="49" charset="0"/>
              </a:rPr>
              <a:t>　</a:t>
            </a:r>
            <a:r>
              <a:rPr kumimoji="1" lang="en-US" altLang="zh-CN" sz="2000" dirty="0">
                <a:solidFill>
                  <a:srgbClr val="FF0000"/>
                </a:solidFill>
                <a:latin typeface="Consolas" pitchFamily="49" charset="0"/>
                <a:ea typeface="仿宋" pitchFamily="49" charset="-122"/>
                <a:cs typeface="Consolas" pitchFamily="49" charset="0"/>
              </a:rPr>
              <a:t>(</a:t>
            </a:r>
            <a:r>
              <a:rPr kumimoji="1" lang="en-US" altLang="zh-CN" sz="2000" i="1" dirty="0" err="1">
                <a:solidFill>
                  <a:srgbClr val="FF0000"/>
                </a:solidFill>
                <a:latin typeface="Consolas" pitchFamily="49" charset="0"/>
                <a:ea typeface="仿宋" pitchFamily="49" charset="-122"/>
                <a:cs typeface="Consolas" pitchFamily="49" charset="0"/>
              </a:rPr>
              <a:t>i</a:t>
            </a:r>
            <a:r>
              <a:rPr kumimoji="1" lang="en-US" altLang="zh-CN" sz="2000" dirty="0">
                <a:solidFill>
                  <a:srgbClr val="FF0000"/>
                </a:solidFill>
                <a:latin typeface="Consolas" pitchFamily="49" charset="0"/>
                <a:ea typeface="仿宋" pitchFamily="49" charset="-122"/>
                <a:cs typeface="Consolas" pitchFamily="49" charset="0"/>
              </a:rPr>
              <a:t> </a:t>
            </a:r>
            <a:r>
              <a:rPr kumimoji="1" lang="zh-CN" altLang="en-US" sz="2000" dirty="0">
                <a:solidFill>
                  <a:srgbClr val="FF0000"/>
                </a:solidFill>
                <a:latin typeface="Consolas" pitchFamily="49" charset="0"/>
                <a:ea typeface="仿宋" pitchFamily="49" charset="-122"/>
                <a:cs typeface="Consolas" pitchFamily="49" charset="0"/>
              </a:rPr>
              <a:t>，</a:t>
            </a:r>
            <a:r>
              <a:rPr kumimoji="1" lang="en-US" altLang="zh-CN" sz="2000" i="1" dirty="0">
                <a:solidFill>
                  <a:srgbClr val="FF0000"/>
                </a:solidFill>
                <a:latin typeface="Consolas" pitchFamily="49" charset="0"/>
                <a:ea typeface="仿宋" pitchFamily="49" charset="-122"/>
                <a:cs typeface="Consolas" pitchFamily="49" charset="0"/>
              </a:rPr>
              <a:t>j</a:t>
            </a:r>
            <a:r>
              <a:rPr kumimoji="1" lang="en-US" altLang="zh-CN" sz="2000" dirty="0">
                <a:solidFill>
                  <a:srgbClr val="FF0000"/>
                </a:solidFill>
                <a:latin typeface="Consolas" pitchFamily="49" charset="0"/>
                <a:ea typeface="仿宋" pitchFamily="49" charset="-122"/>
                <a:cs typeface="Consolas" pitchFamily="49" charset="0"/>
              </a:rPr>
              <a:t> </a:t>
            </a:r>
            <a:r>
              <a:rPr kumimoji="1" lang="zh-CN" altLang="en-US" sz="2000" dirty="0">
                <a:solidFill>
                  <a:srgbClr val="FF0000"/>
                </a:solidFill>
                <a:latin typeface="Consolas" pitchFamily="49" charset="0"/>
                <a:ea typeface="仿宋" pitchFamily="49" charset="-122"/>
                <a:cs typeface="Consolas" pitchFamily="49" charset="0"/>
              </a:rPr>
              <a:t>，</a:t>
            </a:r>
            <a:r>
              <a:rPr kumimoji="1" lang="en-US" altLang="zh-CN" sz="2000" i="1" dirty="0" err="1">
                <a:solidFill>
                  <a:srgbClr val="FF0000"/>
                </a:solidFill>
                <a:latin typeface="Consolas" pitchFamily="49" charset="0"/>
                <a:ea typeface="仿宋" pitchFamily="49" charset="-122"/>
                <a:cs typeface="Consolas" pitchFamily="49" charset="0"/>
              </a:rPr>
              <a:t>a</a:t>
            </a:r>
            <a:r>
              <a:rPr kumimoji="1" lang="en-US" altLang="zh-CN" sz="2000" i="1" baseline="-30000" dirty="0" err="1">
                <a:solidFill>
                  <a:srgbClr val="FF0000"/>
                </a:solidFill>
                <a:latin typeface="Consolas" pitchFamily="49" charset="0"/>
                <a:ea typeface="仿宋" pitchFamily="49" charset="-122"/>
                <a:cs typeface="Consolas" pitchFamily="49" charset="0"/>
              </a:rPr>
              <a:t>i,j</a:t>
            </a:r>
            <a:r>
              <a:rPr kumimoji="1" lang="en-US" altLang="zh-CN" sz="2000" dirty="0">
                <a:solidFill>
                  <a:srgbClr val="FF0000"/>
                </a:solidFill>
                <a:latin typeface="Consolas" pitchFamily="49" charset="0"/>
                <a:ea typeface="仿宋" pitchFamily="49" charset="-122"/>
                <a:cs typeface="Consolas" pitchFamily="49" charset="0"/>
              </a:rPr>
              <a:t>)</a:t>
            </a:r>
          </a:p>
          <a:p>
            <a:pPr algn="just">
              <a:lnSpc>
                <a:spcPts val="3200"/>
              </a:lnSpc>
              <a:spcBef>
                <a:spcPts val="0"/>
              </a:spcBef>
            </a:pPr>
            <a:r>
              <a:rPr kumimoji="1" lang="zh-CN" altLang="en-US" sz="2000" dirty="0">
                <a:latin typeface="Consolas" pitchFamily="49" charset="0"/>
                <a:ea typeface="仿宋" pitchFamily="49" charset="-122"/>
                <a:cs typeface="Consolas" pitchFamily="49" charset="0"/>
              </a:rPr>
              <a:t>唯一确定，稀疏矩阵中的所有非零元素构成</a:t>
            </a:r>
            <a:r>
              <a:rPr kumimoji="1" lang="zh-CN" altLang="en-US" sz="2000" dirty="0">
                <a:solidFill>
                  <a:srgbClr val="FF00FF"/>
                </a:solidFill>
                <a:latin typeface="Consolas" pitchFamily="49" charset="0"/>
                <a:ea typeface="仿宋" pitchFamily="49" charset="-122"/>
                <a:cs typeface="Consolas" pitchFamily="49" charset="0"/>
              </a:rPr>
              <a:t>三元组线性表</a:t>
            </a:r>
            <a:r>
              <a:rPr kumimoji="1" lang="zh-CN" altLang="en-US" sz="2000" dirty="0">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3748288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E23A-0CEB-03F5-796F-2D9541E741D5}"/>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3AA19818-6C52-2DFF-72D9-27DFA51170F4}"/>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7" name="直接连接符 6">
            <a:extLst>
              <a:ext uri="{FF2B5EF4-FFF2-40B4-BE49-F238E27FC236}">
                <a16:creationId xmlns:a16="http://schemas.microsoft.com/office/drawing/2014/main" id="{E845555A-3639-8AC3-4443-AEEB7F915FDE}"/>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3">
            <a:extLst>
              <a:ext uri="{FF2B5EF4-FFF2-40B4-BE49-F238E27FC236}">
                <a16:creationId xmlns:a16="http://schemas.microsoft.com/office/drawing/2014/main" id="{91BDB5F0-F05F-05D8-8C54-EAA2D59F4E20}"/>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sp>
        <p:nvSpPr>
          <p:cNvPr id="9" name="矩形 8">
            <a:extLst>
              <a:ext uri="{FF2B5EF4-FFF2-40B4-BE49-F238E27FC236}">
                <a16:creationId xmlns:a16="http://schemas.microsoft.com/office/drawing/2014/main" id="{5D5DB5EF-58A9-3FDB-59F2-9E679D6D37DF}"/>
              </a:ext>
            </a:extLst>
          </p:cNvPr>
          <p:cNvSpPr/>
          <p:nvPr/>
        </p:nvSpPr>
        <p:spPr>
          <a:xfrm>
            <a:off x="1127448" y="2060848"/>
            <a:ext cx="10729192" cy="1569660"/>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       在存储稀疏矩阵时，由于非零元素的分布一般是没有规律的，因此在存储非零元素的同时，还必须同时记下它所在的行和列的位置（</a:t>
            </a:r>
            <a:r>
              <a:rPr lang="en-US" altLang="zh-CN" sz="2400" dirty="0" err="1">
                <a:latin typeface="微软雅黑" pitchFamily="34" charset="-122"/>
                <a:ea typeface="微软雅黑" pitchFamily="34" charset="-122"/>
                <a:cs typeface="经典粗黑简" pitchFamily="49" charset="-122"/>
              </a:rPr>
              <a:t>i,j</a:t>
            </a:r>
            <a:r>
              <a:rPr lang="en-US" altLang="zh-CN" sz="2400" dirty="0">
                <a:latin typeface="微软雅黑" pitchFamily="34" charset="-122"/>
                <a:ea typeface="微软雅黑" pitchFamily="34" charset="-122"/>
                <a:cs typeface="经典粗黑简" pitchFamily="49" charset="-122"/>
              </a:rPr>
              <a:t>)</a:t>
            </a:r>
            <a:r>
              <a:rPr lang="zh-CN" altLang="en-US" sz="2400" dirty="0">
                <a:latin typeface="微软雅黑" pitchFamily="34" charset="-122"/>
                <a:ea typeface="微软雅黑" pitchFamily="34" charset="-122"/>
                <a:cs typeface="经典粗黑简" pitchFamily="49" charset="-122"/>
              </a:rPr>
              <a:t>。反之，一个三元组</a:t>
            </a:r>
            <a:r>
              <a:rPr lang="en-US" altLang="zh-CN" sz="2400" dirty="0">
                <a:solidFill>
                  <a:srgbClr val="FF0000"/>
                </a:solidFill>
                <a:latin typeface="微软雅黑" pitchFamily="34" charset="-122"/>
                <a:ea typeface="微软雅黑" pitchFamily="34" charset="-122"/>
                <a:cs typeface="经典粗黑简" pitchFamily="49" charset="-122"/>
              </a:rPr>
              <a:t>( i, j , </a:t>
            </a:r>
            <a:r>
              <a:rPr lang="en-US" altLang="zh-CN" sz="2400" dirty="0" err="1">
                <a:solidFill>
                  <a:srgbClr val="FF0000"/>
                </a:solidFill>
                <a:latin typeface="微软雅黑" pitchFamily="34" charset="-122"/>
                <a:ea typeface="微软雅黑" pitchFamily="34" charset="-122"/>
                <a:cs typeface="经典粗黑简" pitchFamily="49" charset="-122"/>
              </a:rPr>
              <a:t>a</a:t>
            </a:r>
            <a:r>
              <a:rPr lang="en-US" altLang="zh-CN" sz="2400" baseline="-25000" dirty="0" err="1">
                <a:solidFill>
                  <a:srgbClr val="FF0000"/>
                </a:solidFill>
                <a:latin typeface="微软雅黑" pitchFamily="34" charset="-122"/>
                <a:ea typeface="微软雅黑" pitchFamily="34" charset="-122"/>
                <a:cs typeface="经典粗黑简" pitchFamily="49" charset="-122"/>
              </a:rPr>
              <a:t>ij</a:t>
            </a:r>
            <a:r>
              <a:rPr lang="en-US" altLang="zh-CN" sz="2400" baseline="-25000" dirty="0">
                <a:solidFill>
                  <a:srgbClr val="FF0000"/>
                </a:solidFill>
                <a:latin typeface="微软雅黑" pitchFamily="34" charset="-122"/>
                <a:ea typeface="微软雅黑" pitchFamily="34" charset="-122"/>
                <a:cs typeface="经典粗黑简" pitchFamily="49" charset="-122"/>
              </a:rPr>
              <a:t> </a:t>
            </a:r>
            <a:r>
              <a:rPr lang="en-US" altLang="zh-CN" sz="2400" dirty="0">
                <a:solidFill>
                  <a:srgbClr val="FF0000"/>
                </a:solidFill>
                <a:latin typeface="微软雅黑" pitchFamily="34" charset="-122"/>
                <a:ea typeface="微软雅黑" pitchFamily="34" charset="-122"/>
                <a:cs typeface="经典粗黑简" pitchFamily="49" charset="-122"/>
              </a:rPr>
              <a:t>)</a:t>
            </a:r>
            <a:r>
              <a:rPr lang="zh-CN" altLang="en-US" sz="2400" dirty="0">
                <a:latin typeface="微软雅黑" pitchFamily="34" charset="-122"/>
                <a:ea typeface="微软雅黑" pitchFamily="34" charset="-122"/>
                <a:cs typeface="经典粗黑简" pitchFamily="49" charset="-122"/>
              </a:rPr>
              <a:t>惟一确定了矩阵</a:t>
            </a:r>
            <a:r>
              <a:rPr lang="en-US" altLang="zh-CN" sz="2400" dirty="0">
                <a:latin typeface="微软雅黑" pitchFamily="34" charset="-122"/>
                <a:ea typeface="微软雅黑" pitchFamily="34" charset="-122"/>
                <a:cs typeface="经典粗黑简" pitchFamily="49" charset="-122"/>
              </a:rPr>
              <a:t>A</a:t>
            </a:r>
            <a:r>
              <a:rPr lang="zh-CN" altLang="en-US" sz="2400" dirty="0">
                <a:latin typeface="微软雅黑" pitchFamily="34" charset="-122"/>
                <a:ea typeface="微软雅黑" pitchFamily="34" charset="-122"/>
                <a:cs typeface="经典粗黑简" pitchFamily="49" charset="-122"/>
              </a:rPr>
              <a:t>的一个非零元。因此，稀疏矩阵可由表示非零元的三元组及其行列数唯一确定。</a:t>
            </a:r>
          </a:p>
        </p:txBody>
      </p:sp>
      <p:grpSp>
        <p:nvGrpSpPr>
          <p:cNvPr id="4" name="Group 4">
            <a:extLst>
              <a:ext uri="{FF2B5EF4-FFF2-40B4-BE49-F238E27FC236}">
                <a16:creationId xmlns:a16="http://schemas.microsoft.com/office/drawing/2014/main" id="{0EC6BE76-6A89-6337-90B1-0DDD4BE0ADCF}"/>
              </a:ext>
            </a:extLst>
          </p:cNvPr>
          <p:cNvGrpSpPr>
            <a:grpSpLocks/>
          </p:cNvGrpSpPr>
          <p:nvPr/>
        </p:nvGrpSpPr>
        <p:grpSpPr bwMode="auto">
          <a:xfrm>
            <a:off x="4438327" y="3638098"/>
            <a:ext cx="5690397" cy="2247131"/>
            <a:chOff x="567" y="2448"/>
            <a:chExt cx="3616" cy="1444"/>
          </a:xfrm>
        </p:grpSpPr>
        <p:sp>
          <p:nvSpPr>
            <p:cNvPr id="5" name="AutoShape 5">
              <a:extLst>
                <a:ext uri="{FF2B5EF4-FFF2-40B4-BE49-F238E27FC236}">
                  <a16:creationId xmlns:a16="http://schemas.microsoft.com/office/drawing/2014/main" id="{5D207A0B-565A-939D-7918-E338AC83F923}"/>
                </a:ext>
              </a:extLst>
            </p:cNvPr>
            <p:cNvSpPr>
              <a:spLocks/>
            </p:cNvSpPr>
            <p:nvPr/>
          </p:nvSpPr>
          <p:spPr bwMode="auto">
            <a:xfrm>
              <a:off x="1008" y="2496"/>
              <a:ext cx="96" cy="1333"/>
            </a:xfrm>
            <a:prstGeom prst="lef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 name="AutoShape 6">
              <a:extLst>
                <a:ext uri="{FF2B5EF4-FFF2-40B4-BE49-F238E27FC236}">
                  <a16:creationId xmlns:a16="http://schemas.microsoft.com/office/drawing/2014/main" id="{1429EA37-2E36-60E0-4602-66CF8BED11C1}"/>
                </a:ext>
              </a:extLst>
            </p:cNvPr>
            <p:cNvSpPr>
              <a:spLocks/>
            </p:cNvSpPr>
            <p:nvPr/>
          </p:nvSpPr>
          <p:spPr bwMode="auto">
            <a:xfrm>
              <a:off x="3908" y="2457"/>
              <a:ext cx="96" cy="1372"/>
            </a:xfrm>
            <a:prstGeom prst="righ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Text Box 7">
              <a:extLst>
                <a:ext uri="{FF2B5EF4-FFF2-40B4-BE49-F238E27FC236}">
                  <a16:creationId xmlns:a16="http://schemas.microsoft.com/office/drawing/2014/main" id="{EC244FF8-CCB2-0806-A571-8562C446DE61}"/>
                </a:ext>
              </a:extLst>
            </p:cNvPr>
            <p:cNvSpPr txBox="1">
              <a:spLocks noChangeArrowheads="1"/>
            </p:cNvSpPr>
            <p:nvPr/>
          </p:nvSpPr>
          <p:spPr bwMode="auto">
            <a:xfrm flipH="1">
              <a:off x="567" y="3021"/>
              <a:ext cx="48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400" dirty="0">
                  <a:latin typeface="Times New Roman" pitchFamily="18" charset="0"/>
                  <a:ea typeface="楷体_GB2312" pitchFamily="49" charset="-122"/>
                </a:rPr>
                <a:t>M=</a:t>
              </a:r>
            </a:p>
          </p:txBody>
        </p:sp>
        <p:sp>
          <p:nvSpPr>
            <p:cNvPr id="11" name="Text Box 8">
              <a:extLst>
                <a:ext uri="{FF2B5EF4-FFF2-40B4-BE49-F238E27FC236}">
                  <a16:creationId xmlns:a16="http://schemas.microsoft.com/office/drawing/2014/main" id="{DB8E68EA-C121-33DC-43E7-08CDAE26CADB}"/>
                </a:ext>
              </a:extLst>
            </p:cNvPr>
            <p:cNvSpPr txBox="1">
              <a:spLocks noChangeArrowheads="1"/>
            </p:cNvSpPr>
            <p:nvPr/>
          </p:nvSpPr>
          <p:spPr bwMode="auto">
            <a:xfrm>
              <a:off x="1104" y="2448"/>
              <a:ext cx="3079" cy="1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buClr>
                  <a:schemeClr val="folHlink"/>
                </a:buClr>
                <a:buSzPct val="60000"/>
                <a:buFont typeface="Wingdings" pitchFamily="2" charset="2"/>
                <a:buNone/>
              </a:pPr>
              <a:r>
                <a:rPr kumimoji="1" lang="zh-CN" altLang="en-US" sz="2000" dirty="0">
                  <a:latin typeface="楷体_GB2312" pitchFamily="49" charset="-122"/>
                  <a:ea typeface="楷体_GB2312" pitchFamily="49" charset="-122"/>
                </a:rPr>
                <a:t> </a:t>
              </a:r>
              <a:r>
                <a:rPr kumimoji="1" lang="en-US" altLang="zh-CN" sz="2000" b="1" dirty="0">
                  <a:latin typeface="宋体" pitchFamily="2" charset="-122"/>
                </a:rPr>
                <a:t>0   12    9    0    0    0    0 </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0    0    0    0    0    0    0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-3    0    0    0    0   14    0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0    0   24    0    0    0    0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0   18    0    0    0    0    0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15    0    0   –7   0    0    0</a:t>
              </a:r>
            </a:p>
          </p:txBody>
        </p:sp>
      </p:grpSp>
      <p:sp>
        <p:nvSpPr>
          <p:cNvPr id="19" name="Text Box 9">
            <a:extLst>
              <a:ext uri="{FF2B5EF4-FFF2-40B4-BE49-F238E27FC236}">
                <a16:creationId xmlns:a16="http://schemas.microsoft.com/office/drawing/2014/main" id="{8E5B4E33-217F-2085-5DC4-B5E6C2C3CAC9}"/>
              </a:ext>
            </a:extLst>
          </p:cNvPr>
          <p:cNvSpPr txBox="1">
            <a:spLocks noChangeArrowheads="1"/>
          </p:cNvSpPr>
          <p:nvPr/>
        </p:nvSpPr>
        <p:spPr bwMode="auto">
          <a:xfrm>
            <a:off x="2773499" y="3915546"/>
            <a:ext cx="188824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spcBef>
                <a:spcPct val="20000"/>
              </a:spcBef>
              <a:buClr>
                <a:schemeClr val="folHlink"/>
              </a:buClr>
              <a:buSzPct val="80000"/>
            </a:pPr>
            <a:r>
              <a:rPr lang="zh-CN" altLang="en-US" sz="2000" dirty="0">
                <a:latin typeface="微软雅黑" pitchFamily="34" charset="-122"/>
                <a:ea typeface="微软雅黑" pitchFamily="34" charset="-122"/>
                <a:cs typeface="经典粗黑简" pitchFamily="49" charset="-122"/>
              </a:rPr>
              <a:t>例如，一个</a:t>
            </a:r>
            <a:r>
              <a:rPr lang="en-US" altLang="zh-CN" sz="2000" dirty="0">
                <a:latin typeface="微软雅黑" pitchFamily="34" charset="-122"/>
                <a:ea typeface="微软雅黑" pitchFamily="34" charset="-122"/>
                <a:cs typeface="经典粗黑简" pitchFamily="49" charset="-122"/>
              </a:rPr>
              <a:t>6*7</a:t>
            </a:r>
            <a:r>
              <a:rPr lang="zh-CN" altLang="en-US" sz="2000" dirty="0">
                <a:latin typeface="微软雅黑" pitchFamily="34" charset="-122"/>
                <a:ea typeface="微软雅黑" pitchFamily="34" charset="-122"/>
                <a:cs typeface="经典粗黑简" pitchFamily="49" charset="-122"/>
              </a:rPr>
              <a:t>的稀疏矩阵</a:t>
            </a:r>
          </a:p>
        </p:txBody>
      </p:sp>
      <p:sp>
        <p:nvSpPr>
          <p:cNvPr id="20" name="矩形 19">
            <a:extLst>
              <a:ext uri="{FF2B5EF4-FFF2-40B4-BE49-F238E27FC236}">
                <a16:creationId xmlns:a16="http://schemas.microsoft.com/office/drawing/2014/main" id="{EF65E130-0957-27BE-E1C5-B7F971B8A4B8}"/>
              </a:ext>
            </a:extLst>
          </p:cNvPr>
          <p:cNvSpPr/>
          <p:nvPr/>
        </p:nvSpPr>
        <p:spPr>
          <a:xfrm>
            <a:off x="2279576" y="5427714"/>
            <a:ext cx="2749471" cy="400110"/>
          </a:xfrm>
          <a:prstGeom prst="rect">
            <a:avLst/>
          </a:prstGeom>
        </p:spPr>
        <p:txBody>
          <a:bodyPr wrap="none">
            <a:spAutoFit/>
          </a:bodyPr>
          <a:lstStyle/>
          <a:p>
            <a:pPr>
              <a:spcBef>
                <a:spcPct val="20000"/>
              </a:spcBef>
              <a:buClr>
                <a:schemeClr val="folHlink"/>
              </a:buClr>
              <a:buSzPct val="80000"/>
            </a:pPr>
            <a:r>
              <a:rPr lang="zh-CN" altLang="en-US" sz="2000" dirty="0">
                <a:latin typeface="微软雅黑" pitchFamily="34" charset="-122"/>
                <a:ea typeface="微软雅黑" pitchFamily="34" charset="-122"/>
                <a:cs typeface="经典粗黑简" pitchFamily="49" charset="-122"/>
              </a:rPr>
              <a:t>稀疏矩阵中的非零元素</a:t>
            </a:r>
          </a:p>
        </p:txBody>
      </p:sp>
      <p:sp>
        <p:nvSpPr>
          <p:cNvPr id="21" name="Text Box 2">
            <a:extLst>
              <a:ext uri="{FF2B5EF4-FFF2-40B4-BE49-F238E27FC236}">
                <a16:creationId xmlns:a16="http://schemas.microsoft.com/office/drawing/2014/main" id="{0F900ECB-1D61-5B11-426F-1F6238CBFCE4}"/>
              </a:ext>
            </a:extLst>
          </p:cNvPr>
          <p:cNvSpPr txBox="1">
            <a:spLocks noChangeArrowheads="1"/>
          </p:cNvSpPr>
          <p:nvPr/>
        </p:nvSpPr>
        <p:spPr bwMode="auto">
          <a:xfrm>
            <a:off x="1703512" y="5879343"/>
            <a:ext cx="910850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buClr>
                <a:schemeClr val="folHlink"/>
              </a:buClr>
              <a:buSzPct val="60000"/>
              <a:buFont typeface="Wingdings" pitchFamily="2" charset="2"/>
              <a:buNone/>
            </a:pPr>
            <a:r>
              <a:rPr kumimoji="1" lang="en-US" altLang="zh-CN" sz="2200" dirty="0">
                <a:latin typeface="Tahoma" pitchFamily="34" charset="0"/>
              </a:rPr>
              <a:t>((1,2,12), (1,3,9), (3,1,-3), (3,6,14), (4,3,24),(5,2,18),(6,1,15), (6,4,-7))</a:t>
            </a:r>
            <a:endParaRPr kumimoji="1" lang="en-US" altLang="zh-CN" sz="2200" dirty="0">
              <a:latin typeface="楷体_GB2312" pitchFamily="49" charset="-122"/>
              <a:ea typeface="楷体_GB2312" pitchFamily="49" charset="-122"/>
            </a:endParaRPr>
          </a:p>
        </p:txBody>
      </p:sp>
    </p:spTree>
    <p:extLst>
      <p:ext uri="{BB962C8B-B14F-4D97-AF65-F5344CB8AC3E}">
        <p14:creationId xmlns:p14="http://schemas.microsoft.com/office/powerpoint/2010/main" val="1479340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0" grpId="0"/>
      <p:bldP spid="2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33A77-6F89-EA6C-816E-0BCDA9CE0ACB}"/>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F0AEAB05-842C-26C0-FD49-519FCBE55A04}"/>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7" name="直接连接符 6">
            <a:extLst>
              <a:ext uri="{FF2B5EF4-FFF2-40B4-BE49-F238E27FC236}">
                <a16:creationId xmlns:a16="http://schemas.microsoft.com/office/drawing/2014/main" id="{EB9B91F2-85F2-8380-7DAA-D253882F7A83}"/>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3">
            <a:extLst>
              <a:ext uri="{FF2B5EF4-FFF2-40B4-BE49-F238E27FC236}">
                <a16:creationId xmlns:a16="http://schemas.microsoft.com/office/drawing/2014/main" id="{EC81D2CF-AC8B-330C-8612-6FCCA91A868F}"/>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sp>
        <p:nvSpPr>
          <p:cNvPr id="3" name="Text Box 2">
            <a:extLst>
              <a:ext uri="{FF2B5EF4-FFF2-40B4-BE49-F238E27FC236}">
                <a16:creationId xmlns:a16="http://schemas.microsoft.com/office/drawing/2014/main" id="{7023865F-C005-A86A-C29D-BF9A00281F9A}"/>
              </a:ext>
            </a:extLst>
          </p:cNvPr>
          <p:cNvSpPr txBox="1">
            <a:spLocks noChangeArrowheads="1"/>
          </p:cNvSpPr>
          <p:nvPr/>
        </p:nvSpPr>
        <p:spPr bwMode="auto">
          <a:xfrm>
            <a:off x="482226" y="1691570"/>
            <a:ext cx="10222286" cy="462819"/>
          </a:xfrm>
          <a:prstGeom prst="rect">
            <a:avLst/>
          </a:prstGeom>
          <a:noFill/>
          <a:ln w="9525">
            <a:noFill/>
            <a:miter lim="800000"/>
            <a:headEnd/>
            <a:tailEnd/>
          </a:ln>
          <a:effectLst/>
        </p:spPr>
        <p:txBody>
          <a:bodyPr wrap="square">
            <a:spAutoFit/>
          </a:bodyPr>
          <a:lstStyle/>
          <a:p>
            <a:pPr algn="just">
              <a:lnSpc>
                <a:spcPts val="3200"/>
              </a:lnSpc>
              <a:spcBef>
                <a:spcPts val="0"/>
              </a:spcBef>
            </a:pPr>
            <a:r>
              <a:rPr kumimoji="1" lang="en-US" altLang="zh-CN" sz="2000" dirty="0">
                <a:solidFill>
                  <a:srgbClr val="FF0000"/>
                </a:solidFill>
                <a:ea typeface="楷体" pitchFamily="49" charset="-122"/>
                <a:cs typeface="Times New Roman" pitchFamily="18" charset="0"/>
              </a:rPr>
              <a:t>   </a:t>
            </a:r>
            <a:r>
              <a:rPr kumimoji="1" lang="zh-CN" altLang="en-US" sz="2000" dirty="0">
                <a:solidFill>
                  <a:srgbClr val="FF0000"/>
                </a:solidFill>
                <a:ea typeface="楷体" pitchFamily="49" charset="-122"/>
                <a:cs typeface="Times New Roman" pitchFamily="18" charset="0"/>
              </a:rPr>
              <a:t>　</a:t>
            </a:r>
            <a:r>
              <a:rPr kumimoji="1" lang="zh-CN" altLang="en-US" sz="2000" dirty="0">
                <a:ea typeface="楷体" pitchFamily="49" charset="-122"/>
                <a:cs typeface="Times New Roman" pitchFamily="18" charset="0"/>
              </a:rPr>
              <a:t>把稀疏矩阵的三元组线性表按顺序存储结构存储，则称为</a:t>
            </a:r>
            <a:r>
              <a:rPr kumimoji="1" lang="zh-CN" altLang="en-US" sz="2000" dirty="0">
                <a:solidFill>
                  <a:srgbClr val="FF0000"/>
                </a:solidFill>
                <a:latin typeface="微软雅黑" pitchFamily="34" charset="-122"/>
                <a:ea typeface="微软雅黑" pitchFamily="34" charset="-122"/>
                <a:cs typeface="Times New Roman" pitchFamily="18" charset="0"/>
              </a:rPr>
              <a:t>稀疏矩阵的三元组顺序表</a:t>
            </a:r>
            <a:r>
              <a:rPr kumimoji="1" lang="zh-CN" altLang="en-US" sz="2000" dirty="0">
                <a:ea typeface="楷体" pitchFamily="49" charset="-122"/>
                <a:cs typeface="Times New Roman" pitchFamily="18" charset="0"/>
              </a:rPr>
              <a:t>。</a:t>
            </a:r>
          </a:p>
        </p:txBody>
      </p:sp>
      <p:sp>
        <p:nvSpPr>
          <p:cNvPr id="12" name="Text Box 2">
            <a:extLst>
              <a:ext uri="{FF2B5EF4-FFF2-40B4-BE49-F238E27FC236}">
                <a16:creationId xmlns:a16="http://schemas.microsoft.com/office/drawing/2014/main" id="{E94EFA74-2588-824A-67BA-0409255A2CE7}"/>
              </a:ext>
            </a:extLst>
          </p:cNvPr>
          <p:cNvSpPr txBox="1">
            <a:spLocks noChangeArrowheads="1"/>
          </p:cNvSpPr>
          <p:nvPr/>
        </p:nvSpPr>
        <p:spPr bwMode="auto">
          <a:xfrm>
            <a:off x="1775520" y="2199607"/>
            <a:ext cx="7631708" cy="4299089"/>
          </a:xfrm>
          <a:prstGeom prst="rect">
            <a:avLst/>
          </a:prstGeom>
          <a:solidFill>
            <a:schemeClr val="bg1"/>
          </a:solidFill>
          <a:ln>
            <a:headEnd/>
            <a:tailEnd/>
          </a:ln>
        </p:spPr>
        <p:style>
          <a:lnRef idx="1">
            <a:schemeClr val="accent3"/>
          </a:lnRef>
          <a:fillRef idx="2">
            <a:schemeClr val="accent3"/>
          </a:fillRef>
          <a:effectRef idx="1">
            <a:schemeClr val="accent3"/>
          </a:effectRef>
          <a:fontRef idx="minor">
            <a:schemeClr val="dk1"/>
          </a:fontRef>
        </p:style>
        <p:txBody>
          <a:bodyPr wrap="square" lIns="216000" tIns="144000" bIns="144000">
            <a:spAutoFit/>
          </a:bodyPr>
          <a:lstStyle/>
          <a:p>
            <a:pPr algn="just">
              <a:lnSpc>
                <a:spcPts val="1500"/>
              </a:lnSpc>
              <a:spcBef>
                <a:spcPts val="1200"/>
              </a:spcBef>
            </a:pPr>
            <a:r>
              <a:rPr kumimoji="1" lang="en-US" altLang="zh-CN" sz="1800" dirty="0">
                <a:solidFill>
                  <a:srgbClr val="0000FF"/>
                </a:solidFill>
                <a:latin typeface="Consolas" pitchFamily="49" charset="0"/>
                <a:ea typeface="仿宋" pitchFamily="49" charset="-122"/>
                <a:cs typeface="Consolas" pitchFamily="49" charset="0"/>
              </a:rPr>
              <a:t>#define </a:t>
            </a:r>
            <a:r>
              <a:rPr kumimoji="1" lang="en-US" altLang="zh-CN" sz="1800" dirty="0" err="1">
                <a:solidFill>
                  <a:srgbClr val="0000FF"/>
                </a:solidFill>
                <a:latin typeface="Consolas" pitchFamily="49" charset="0"/>
                <a:ea typeface="仿宋" pitchFamily="49" charset="-122"/>
                <a:cs typeface="Consolas" pitchFamily="49" charset="0"/>
              </a:rPr>
              <a:t>MaxSize</a:t>
            </a:r>
            <a:r>
              <a:rPr kumimoji="1" lang="en-US" altLang="zh-CN" sz="1800" dirty="0">
                <a:solidFill>
                  <a:srgbClr val="0000FF"/>
                </a:solidFill>
                <a:latin typeface="Consolas" pitchFamily="49" charset="0"/>
                <a:ea typeface="仿宋" pitchFamily="49" charset="-122"/>
                <a:cs typeface="Consolas" pitchFamily="49" charset="0"/>
              </a:rPr>
              <a:t>  100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矩阵中非零元素最多个数</a:t>
            </a:r>
          </a:p>
          <a:p>
            <a:pPr algn="just">
              <a:lnSpc>
                <a:spcPts val="1500"/>
              </a:lnSpc>
              <a:spcBef>
                <a:spcPts val="1200"/>
              </a:spcBef>
            </a:pPr>
            <a:r>
              <a:rPr kumimoji="1" lang="en-US" altLang="zh-CN" sz="1800" dirty="0">
                <a:solidFill>
                  <a:srgbClr val="0000FF"/>
                </a:solidFill>
                <a:latin typeface="Consolas" pitchFamily="49" charset="0"/>
                <a:ea typeface="仿宋" pitchFamily="49" charset="-122"/>
                <a:cs typeface="Consolas" pitchFamily="49" charset="0"/>
              </a:rPr>
              <a:t>typedef struct </a:t>
            </a:r>
          </a:p>
          <a:p>
            <a:pPr algn="just">
              <a:lnSpc>
                <a:spcPts val="1500"/>
              </a:lnSpc>
              <a:spcBef>
                <a:spcPts val="1200"/>
              </a:spcBef>
            </a:pPr>
            <a:r>
              <a:rPr kumimoji="1" lang="en-US" altLang="zh-CN" sz="1800" dirty="0">
                <a:solidFill>
                  <a:srgbClr val="0000FF"/>
                </a:solidFill>
                <a:latin typeface="Consolas" pitchFamily="49" charset="0"/>
                <a:ea typeface="仿宋" pitchFamily="49" charset="-122"/>
                <a:cs typeface="Consolas" pitchFamily="49" charset="0"/>
              </a:rPr>
              <a:t>{  int r;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行号</a:t>
            </a:r>
          </a:p>
          <a:p>
            <a:pPr algn="just">
              <a:lnSpc>
                <a:spcPts val="1500"/>
              </a:lnSpc>
              <a:spcBef>
                <a:spcPts val="12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int c;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列号</a:t>
            </a:r>
          </a:p>
          <a:p>
            <a:pPr algn="just">
              <a:lnSpc>
                <a:spcPts val="1500"/>
              </a:lnSpc>
              <a:spcBef>
                <a:spcPts val="12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ElemType</a:t>
            </a:r>
            <a:r>
              <a:rPr kumimoji="1" lang="en-US" altLang="zh-CN" sz="1800" dirty="0">
                <a:solidFill>
                  <a:srgbClr val="0000FF"/>
                </a:solidFill>
                <a:latin typeface="Consolas" pitchFamily="49" charset="0"/>
                <a:ea typeface="仿宋" pitchFamily="49" charset="-122"/>
                <a:cs typeface="Consolas" pitchFamily="49" charset="0"/>
              </a:rPr>
              <a:t> d;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元素值</a:t>
            </a:r>
            <a:endParaRPr kumimoji="1" lang="en-US" altLang="zh-CN" sz="1800" dirty="0">
              <a:solidFill>
                <a:srgbClr val="00B0F0"/>
              </a:solidFill>
              <a:latin typeface="Consolas" pitchFamily="49" charset="0"/>
              <a:ea typeface="仿宋" pitchFamily="49" charset="-122"/>
              <a:cs typeface="Consolas" pitchFamily="49" charset="0"/>
            </a:endParaRPr>
          </a:p>
          <a:p>
            <a:pPr algn="just">
              <a:lnSpc>
                <a:spcPts val="1500"/>
              </a:lnSpc>
              <a:spcBef>
                <a:spcPts val="1200"/>
              </a:spcBef>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FF00FF"/>
                </a:solidFill>
                <a:latin typeface="Consolas" pitchFamily="49" charset="0"/>
                <a:ea typeface="仿宋" pitchFamily="49" charset="-122"/>
                <a:cs typeface="Consolas" pitchFamily="49" charset="0"/>
              </a:rPr>
              <a:t>TupNode</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三元组定义</a:t>
            </a:r>
          </a:p>
          <a:p>
            <a:pPr algn="just">
              <a:lnSpc>
                <a:spcPts val="1500"/>
              </a:lnSpc>
              <a:spcBef>
                <a:spcPts val="1200"/>
              </a:spcBef>
            </a:pPr>
            <a:r>
              <a:rPr kumimoji="1" lang="en-US" altLang="zh-CN" sz="1800" dirty="0">
                <a:solidFill>
                  <a:srgbClr val="0000FF"/>
                </a:solidFill>
                <a:latin typeface="Consolas" pitchFamily="49" charset="0"/>
                <a:ea typeface="仿宋" pitchFamily="49" charset="-122"/>
                <a:cs typeface="Consolas" pitchFamily="49" charset="0"/>
              </a:rPr>
              <a:t>typedef struct </a:t>
            </a:r>
          </a:p>
          <a:p>
            <a:pPr algn="just">
              <a:lnSpc>
                <a:spcPts val="1500"/>
              </a:lnSpc>
              <a:spcBef>
                <a:spcPts val="1200"/>
              </a:spcBef>
            </a:pPr>
            <a:r>
              <a:rPr kumimoji="1" lang="en-US" altLang="zh-CN" sz="1800" dirty="0">
                <a:solidFill>
                  <a:srgbClr val="0000FF"/>
                </a:solidFill>
                <a:latin typeface="Consolas" pitchFamily="49" charset="0"/>
                <a:ea typeface="仿宋" pitchFamily="49" charset="-122"/>
                <a:cs typeface="Consolas" pitchFamily="49" charset="0"/>
              </a:rPr>
              <a:t>{  int rows;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行数值</a:t>
            </a:r>
          </a:p>
          <a:p>
            <a:pPr algn="just">
              <a:lnSpc>
                <a:spcPts val="1500"/>
              </a:lnSpc>
              <a:spcBef>
                <a:spcPts val="12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int cols;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列数值</a:t>
            </a:r>
          </a:p>
          <a:p>
            <a:pPr algn="just">
              <a:lnSpc>
                <a:spcPts val="1500"/>
              </a:lnSpc>
              <a:spcBef>
                <a:spcPts val="12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int </a:t>
            </a:r>
            <a:r>
              <a:rPr kumimoji="1" lang="en-US" altLang="zh-CN" sz="1800" dirty="0" err="1">
                <a:solidFill>
                  <a:srgbClr val="0000FF"/>
                </a:solidFill>
                <a:latin typeface="Consolas" pitchFamily="49" charset="0"/>
                <a:ea typeface="仿宋" pitchFamily="49" charset="-122"/>
                <a:cs typeface="Consolas" pitchFamily="49" charset="0"/>
              </a:rPr>
              <a:t>nums</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非零元素个数</a:t>
            </a:r>
          </a:p>
          <a:p>
            <a:pPr algn="just">
              <a:lnSpc>
                <a:spcPts val="1500"/>
              </a:lnSpc>
              <a:spcBef>
                <a:spcPts val="1200"/>
              </a:spcBef>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FF00FF"/>
                </a:solidFill>
                <a:latin typeface="Consolas" pitchFamily="49" charset="0"/>
                <a:ea typeface="仿宋" pitchFamily="49" charset="-122"/>
                <a:cs typeface="Consolas" pitchFamily="49" charset="0"/>
              </a:rPr>
              <a:t>TupNode</a:t>
            </a:r>
            <a:r>
              <a:rPr kumimoji="1" lang="en-US" altLang="zh-CN" sz="1800" dirty="0">
                <a:solidFill>
                  <a:srgbClr val="0000FF"/>
                </a:solidFill>
                <a:latin typeface="Consolas" pitchFamily="49" charset="0"/>
                <a:ea typeface="仿宋" pitchFamily="49" charset="-122"/>
                <a:cs typeface="Consolas" pitchFamily="49" charset="0"/>
              </a:rPr>
              <a:t> data[</a:t>
            </a:r>
            <a:r>
              <a:rPr kumimoji="1" lang="en-US" altLang="zh-CN" sz="1800" dirty="0" err="1">
                <a:solidFill>
                  <a:srgbClr val="0000FF"/>
                </a:solidFill>
                <a:latin typeface="Consolas" pitchFamily="49" charset="0"/>
                <a:ea typeface="仿宋" pitchFamily="49" charset="-122"/>
                <a:cs typeface="Consolas" pitchFamily="49" charset="0"/>
              </a:rPr>
              <a:t>MaxSize</a:t>
            </a:r>
            <a:r>
              <a:rPr kumimoji="1" lang="en-US" altLang="zh-CN" sz="1800" dirty="0">
                <a:solidFill>
                  <a:srgbClr val="0000FF"/>
                </a:solidFill>
                <a:latin typeface="Consolas" pitchFamily="49" charset="0"/>
                <a:ea typeface="仿宋" pitchFamily="49" charset="-122"/>
                <a:cs typeface="Consolas" pitchFamily="49" charset="0"/>
              </a:rPr>
              <a:t>];</a:t>
            </a:r>
          </a:p>
          <a:p>
            <a:pPr algn="just">
              <a:lnSpc>
                <a:spcPts val="1500"/>
              </a:lnSpc>
              <a:spcBef>
                <a:spcPts val="1200"/>
              </a:spcBef>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FF0000"/>
                </a:solidFill>
                <a:latin typeface="Consolas" pitchFamily="49" charset="0"/>
                <a:ea typeface="仿宋" pitchFamily="49" charset="-122"/>
                <a:cs typeface="Consolas" pitchFamily="49" charset="0"/>
              </a:rPr>
              <a:t>TSMatrix</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 	//</a:t>
            </a:r>
            <a:r>
              <a:rPr kumimoji="1" lang="zh-CN" altLang="en-US" sz="1800" dirty="0">
                <a:solidFill>
                  <a:srgbClr val="00B0F0"/>
                </a:solidFill>
                <a:latin typeface="Consolas" pitchFamily="49" charset="0"/>
                <a:ea typeface="仿宋" pitchFamily="49" charset="-122"/>
                <a:cs typeface="Consolas" pitchFamily="49" charset="0"/>
              </a:rPr>
              <a:t>三元组顺序表定义</a:t>
            </a:r>
            <a:endParaRPr kumimoji="1" lang="zh-CN" altLang="en-US" sz="1800" b="0" dirty="0">
              <a:solidFill>
                <a:srgbClr val="00B0F0"/>
              </a:solidFill>
              <a:latin typeface="Consolas" pitchFamily="49" charset="0"/>
              <a:ea typeface="仿宋" pitchFamily="49" charset="-122"/>
              <a:cs typeface="Consolas" pitchFamily="49" charset="0"/>
            </a:endParaRPr>
          </a:p>
        </p:txBody>
      </p:sp>
      <p:grpSp>
        <p:nvGrpSpPr>
          <p:cNvPr id="13" name="组合 11">
            <a:extLst>
              <a:ext uri="{FF2B5EF4-FFF2-40B4-BE49-F238E27FC236}">
                <a16:creationId xmlns:a16="http://schemas.microsoft.com/office/drawing/2014/main" id="{0F7CE7E8-2176-24CD-751F-6654B914788E}"/>
              </a:ext>
            </a:extLst>
          </p:cNvPr>
          <p:cNvGrpSpPr/>
          <p:nvPr/>
        </p:nvGrpSpPr>
        <p:grpSpPr>
          <a:xfrm>
            <a:off x="1920396" y="2228685"/>
            <a:ext cx="8352928" cy="2120466"/>
            <a:chOff x="1428728" y="1517397"/>
            <a:chExt cx="6786610" cy="2483107"/>
          </a:xfrm>
        </p:grpSpPr>
        <p:sp>
          <p:nvSpPr>
            <p:cNvPr id="14" name="矩形 13">
              <a:extLst>
                <a:ext uri="{FF2B5EF4-FFF2-40B4-BE49-F238E27FC236}">
                  <a16:creationId xmlns:a16="http://schemas.microsoft.com/office/drawing/2014/main" id="{DB61E046-92DE-306C-67E2-1FF968C5E0A1}"/>
                </a:ext>
              </a:extLst>
            </p:cNvPr>
            <p:cNvSpPr/>
            <p:nvPr/>
          </p:nvSpPr>
          <p:spPr>
            <a:xfrm>
              <a:off x="1428728" y="1928802"/>
              <a:ext cx="4714908" cy="2071702"/>
            </a:xfrm>
            <a:prstGeom prst="rect">
              <a:avLst/>
            </a:prstGeom>
            <a:solidFill>
              <a:schemeClr val="accent1">
                <a:alpha val="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ea typeface="仿宋" pitchFamily="49" charset="-122"/>
                <a:cs typeface="Consolas" pitchFamily="49" charset="0"/>
              </a:endParaRPr>
            </a:p>
          </p:txBody>
        </p:sp>
        <p:cxnSp>
          <p:nvCxnSpPr>
            <p:cNvPr id="15" name="直接箭头连接符 14">
              <a:extLst>
                <a:ext uri="{FF2B5EF4-FFF2-40B4-BE49-F238E27FC236}">
                  <a16:creationId xmlns:a16="http://schemas.microsoft.com/office/drawing/2014/main" id="{900C1C1D-BA2F-D4F9-D41E-ECB5A21F857E}"/>
                </a:ext>
              </a:extLst>
            </p:cNvPr>
            <p:cNvCxnSpPr>
              <a:stCxn id="14" idx="3"/>
            </p:cNvCxnSpPr>
            <p:nvPr/>
          </p:nvCxnSpPr>
          <p:spPr>
            <a:xfrm flipV="1">
              <a:off x="6143636" y="2928934"/>
              <a:ext cx="1714512" cy="0"/>
            </a:xfrm>
            <a:prstGeom prst="straightConnector1">
              <a:avLst/>
            </a:prstGeom>
            <a:ln w="28575">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16" name="TextBox 6">
              <a:extLst>
                <a:ext uri="{FF2B5EF4-FFF2-40B4-BE49-F238E27FC236}">
                  <a16:creationId xmlns:a16="http://schemas.microsoft.com/office/drawing/2014/main" id="{6B30F0CA-7CF1-E7A1-26A3-99A0C2AEBB92}"/>
                </a:ext>
              </a:extLst>
            </p:cNvPr>
            <p:cNvSpPr txBox="1"/>
            <p:nvPr/>
          </p:nvSpPr>
          <p:spPr>
            <a:xfrm>
              <a:off x="7858148" y="1517397"/>
              <a:ext cx="357190" cy="2308324"/>
            </a:xfrm>
            <a:prstGeom prst="rect">
              <a:avLst/>
            </a:prstGeom>
            <a:noFill/>
          </p:spPr>
          <p:txBody>
            <a:bodyPr wrap="square" rtlCol="0">
              <a:spAutoFit/>
            </a:bodyPr>
            <a:lstStyle/>
            <a:p>
              <a:r>
                <a:rPr lang="zh-CN" altLang="en-US" sz="1800" dirty="0">
                  <a:latin typeface="Consolas" pitchFamily="49" charset="0"/>
                  <a:ea typeface="仿宋" pitchFamily="49" charset="-122"/>
                  <a:cs typeface="Consolas" pitchFamily="49" charset="0"/>
                </a:rPr>
                <a:t>存放一个非</a:t>
              </a:r>
              <a:endParaRPr lang="en-US" altLang="zh-CN" sz="1800" dirty="0">
                <a:latin typeface="Consolas" pitchFamily="49" charset="0"/>
                <a:ea typeface="仿宋" pitchFamily="49" charset="-122"/>
                <a:cs typeface="Consolas" pitchFamily="49" charset="0"/>
              </a:endParaRPr>
            </a:p>
            <a:p>
              <a:r>
                <a:rPr lang="en-US" altLang="zh-CN" sz="1800" dirty="0">
                  <a:latin typeface="Consolas" pitchFamily="49" charset="0"/>
                  <a:ea typeface="仿宋" pitchFamily="49" charset="-122"/>
                  <a:cs typeface="Consolas" pitchFamily="49" charset="0"/>
                </a:rPr>
                <a:t>0</a:t>
              </a:r>
            </a:p>
            <a:p>
              <a:r>
                <a:rPr lang="zh-CN" altLang="en-US" sz="1800" dirty="0">
                  <a:latin typeface="Consolas" pitchFamily="49" charset="0"/>
                  <a:ea typeface="仿宋" pitchFamily="49" charset="-122"/>
                  <a:cs typeface="Consolas" pitchFamily="49" charset="0"/>
                </a:rPr>
                <a:t>元素</a:t>
              </a:r>
            </a:p>
          </p:txBody>
        </p:sp>
      </p:grpSp>
      <p:grpSp>
        <p:nvGrpSpPr>
          <p:cNvPr id="17" name="组合 12">
            <a:extLst>
              <a:ext uri="{FF2B5EF4-FFF2-40B4-BE49-F238E27FC236}">
                <a16:creationId xmlns:a16="http://schemas.microsoft.com/office/drawing/2014/main" id="{AE40CDAA-BA95-9160-7DD8-80879A1F3FFC}"/>
              </a:ext>
            </a:extLst>
          </p:cNvPr>
          <p:cNvGrpSpPr/>
          <p:nvPr/>
        </p:nvGrpSpPr>
        <p:grpSpPr>
          <a:xfrm>
            <a:off x="1918858" y="4349152"/>
            <a:ext cx="8354466" cy="2149544"/>
            <a:chOff x="1428728" y="4243633"/>
            <a:chExt cx="6786610" cy="2496915"/>
          </a:xfrm>
        </p:grpSpPr>
        <p:sp>
          <p:nvSpPr>
            <p:cNvPr id="18" name="矩形 17">
              <a:extLst>
                <a:ext uri="{FF2B5EF4-FFF2-40B4-BE49-F238E27FC236}">
                  <a16:creationId xmlns:a16="http://schemas.microsoft.com/office/drawing/2014/main" id="{9492F57C-6642-B7D2-8808-9969B38F208E}"/>
                </a:ext>
              </a:extLst>
            </p:cNvPr>
            <p:cNvSpPr/>
            <p:nvPr/>
          </p:nvSpPr>
          <p:spPr>
            <a:xfrm>
              <a:off x="1428728" y="4243633"/>
              <a:ext cx="4714908" cy="2425477"/>
            </a:xfrm>
            <a:prstGeom prst="rect">
              <a:avLst/>
            </a:prstGeom>
            <a:solidFill>
              <a:schemeClr val="accent1">
                <a:alpha val="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ea typeface="仿宋" pitchFamily="49" charset="-122"/>
                <a:cs typeface="Consolas" pitchFamily="49" charset="0"/>
              </a:endParaRPr>
            </a:p>
          </p:txBody>
        </p:sp>
        <p:cxnSp>
          <p:nvCxnSpPr>
            <p:cNvPr id="22" name="直接箭头连接符 21">
              <a:extLst>
                <a:ext uri="{FF2B5EF4-FFF2-40B4-BE49-F238E27FC236}">
                  <a16:creationId xmlns:a16="http://schemas.microsoft.com/office/drawing/2014/main" id="{EF685D90-F34A-0054-537E-DEE17F9D39E2}"/>
                </a:ext>
              </a:extLst>
            </p:cNvPr>
            <p:cNvCxnSpPr>
              <a:stCxn id="18" idx="3"/>
            </p:cNvCxnSpPr>
            <p:nvPr/>
          </p:nvCxnSpPr>
          <p:spPr>
            <a:xfrm flipV="1">
              <a:off x="6143636" y="5454664"/>
              <a:ext cx="1714512" cy="1708"/>
            </a:xfrm>
            <a:prstGeom prst="straightConnector1">
              <a:avLst/>
            </a:prstGeom>
            <a:ln w="28575">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AE3C40E5-2BAF-C208-ED4E-C2E327933145}"/>
                </a:ext>
              </a:extLst>
            </p:cNvPr>
            <p:cNvSpPr txBox="1"/>
            <p:nvPr/>
          </p:nvSpPr>
          <p:spPr>
            <a:xfrm>
              <a:off x="7858148" y="4432224"/>
              <a:ext cx="357190" cy="2308324"/>
            </a:xfrm>
            <a:prstGeom prst="rect">
              <a:avLst/>
            </a:prstGeom>
            <a:noFill/>
          </p:spPr>
          <p:txBody>
            <a:bodyPr wrap="square" rtlCol="0">
              <a:spAutoFit/>
            </a:bodyPr>
            <a:lstStyle/>
            <a:p>
              <a:r>
                <a:rPr lang="zh-CN" altLang="en-US" sz="1800" dirty="0">
                  <a:latin typeface="Consolas" pitchFamily="49" charset="0"/>
                  <a:ea typeface="仿宋" pitchFamily="49" charset="-122"/>
                  <a:cs typeface="Consolas" pitchFamily="49" charset="0"/>
                </a:rPr>
                <a:t>存放整个</a:t>
              </a:r>
              <a:endParaRPr lang="en-US" altLang="zh-CN" sz="1800" dirty="0">
                <a:latin typeface="Consolas" pitchFamily="49" charset="0"/>
                <a:ea typeface="仿宋" pitchFamily="49" charset="-122"/>
                <a:cs typeface="Consolas" pitchFamily="49" charset="0"/>
              </a:endParaRPr>
            </a:p>
            <a:p>
              <a:r>
                <a:rPr kumimoji="1" lang="zh-CN" altLang="en-US" sz="1800" dirty="0">
                  <a:latin typeface="Consolas" pitchFamily="49" charset="0"/>
                  <a:ea typeface="仿宋" pitchFamily="49" charset="-122"/>
                  <a:cs typeface="Consolas" pitchFamily="49" charset="0"/>
                </a:rPr>
                <a:t>稀疏矩阵</a:t>
              </a:r>
              <a:endParaRPr lang="zh-CN" altLang="en-US" sz="1800" dirty="0">
                <a:latin typeface="Consolas" pitchFamily="49" charset="0"/>
                <a:ea typeface="仿宋" pitchFamily="49" charset="-122"/>
                <a:cs typeface="Consolas" pitchFamily="49" charset="0"/>
              </a:endParaRPr>
            </a:p>
          </p:txBody>
        </p:sp>
      </p:grpSp>
    </p:spTree>
    <p:extLst>
      <p:ext uri="{BB962C8B-B14F-4D97-AF65-F5344CB8AC3E}">
        <p14:creationId xmlns:p14="http://schemas.microsoft.com/office/powerpoint/2010/main" val="34820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xit" presetSubtype="4" fill="hold" nodeType="clickEffect">
                                  <p:stCondLst>
                                    <p:cond delay="0"/>
                                  </p:stCondLst>
                                  <p:childTnLst>
                                    <p:animEffect transition="out" filter="wipe(down)">
                                      <p:cBhvr>
                                        <p:cTn id="10" dur="500"/>
                                        <p:tgtEl>
                                          <p:spTgt spid="13"/>
                                        </p:tgtEl>
                                      </p:cBhvr>
                                    </p:animEffect>
                                    <p:set>
                                      <p:cBhvr>
                                        <p:cTn id="11" dur="1" fill="hold">
                                          <p:stCondLst>
                                            <p:cond delay="499"/>
                                          </p:stCondLst>
                                        </p:cTn>
                                        <p:tgtEl>
                                          <p:spTgt spid="13"/>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表格 11"/>
          <p:cNvGraphicFramePr>
            <a:graphicFrameLocks noGrp="1"/>
          </p:cNvGraphicFramePr>
          <p:nvPr>
            <p:extLst>
              <p:ext uri="{D42A27DB-BD31-4B8C-83A1-F6EECF244321}">
                <p14:modId xmlns:p14="http://schemas.microsoft.com/office/powerpoint/2010/main" val="193434492"/>
              </p:ext>
            </p:extLst>
          </p:nvPr>
        </p:nvGraphicFramePr>
        <p:xfrm>
          <a:off x="7785448" y="1789966"/>
          <a:ext cx="2133600" cy="4015295"/>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0609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0"/>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1"/>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2"/>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3"/>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4"/>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5</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5"/>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6"/>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7"/>
                  </a:ext>
                </a:extLst>
              </a:tr>
              <a:tr h="352396">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52396">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437640">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2570708722"/>
              </p:ext>
            </p:extLst>
          </p:nvPr>
        </p:nvGraphicFramePr>
        <p:xfrm>
          <a:off x="7768031" y="1406022"/>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15" name="表格 14"/>
          <p:cNvGraphicFramePr>
            <a:graphicFrameLocks noGrp="1"/>
          </p:cNvGraphicFramePr>
          <p:nvPr>
            <p:extLst>
              <p:ext uri="{D42A27DB-BD31-4B8C-83A1-F6EECF244321}">
                <p14:modId xmlns:p14="http://schemas.microsoft.com/office/powerpoint/2010/main" val="2913191110"/>
              </p:ext>
            </p:extLst>
          </p:nvPr>
        </p:nvGraphicFramePr>
        <p:xfrm>
          <a:off x="10047000" y="1789966"/>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16" name="Text Box 7"/>
          <p:cNvSpPr txBox="1">
            <a:spLocks noChangeArrowheads="1"/>
          </p:cNvSpPr>
          <p:nvPr/>
        </p:nvSpPr>
        <p:spPr bwMode="auto">
          <a:xfrm flipH="1">
            <a:off x="7180997" y="1268760"/>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grpSp>
        <p:nvGrpSpPr>
          <p:cNvPr id="27" name="Group 4"/>
          <p:cNvGrpSpPr>
            <a:grpSpLocks/>
          </p:cNvGrpSpPr>
          <p:nvPr/>
        </p:nvGrpSpPr>
        <p:grpSpPr bwMode="auto">
          <a:xfrm>
            <a:off x="1574662" y="3054078"/>
            <a:ext cx="5745475" cy="2247131"/>
            <a:chOff x="532" y="2448"/>
            <a:chExt cx="3651" cy="1444"/>
          </a:xfrm>
        </p:grpSpPr>
        <p:sp>
          <p:nvSpPr>
            <p:cNvPr id="28" name="AutoShape 5"/>
            <p:cNvSpPr>
              <a:spLocks/>
            </p:cNvSpPr>
            <p:nvPr/>
          </p:nvSpPr>
          <p:spPr bwMode="auto">
            <a:xfrm>
              <a:off x="1008" y="2496"/>
              <a:ext cx="96" cy="1333"/>
            </a:xfrm>
            <a:prstGeom prst="lef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 name="AutoShape 6"/>
            <p:cNvSpPr>
              <a:spLocks/>
            </p:cNvSpPr>
            <p:nvPr/>
          </p:nvSpPr>
          <p:spPr bwMode="auto">
            <a:xfrm>
              <a:off x="3908" y="2457"/>
              <a:ext cx="96" cy="1372"/>
            </a:xfrm>
            <a:prstGeom prst="righ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0" name="Text Box 7"/>
            <p:cNvSpPr txBox="1">
              <a:spLocks noChangeArrowheads="1"/>
            </p:cNvSpPr>
            <p:nvPr/>
          </p:nvSpPr>
          <p:spPr bwMode="auto">
            <a:xfrm flipH="1">
              <a:off x="532" y="3021"/>
              <a:ext cx="48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400" dirty="0">
                  <a:latin typeface="Times New Roman" pitchFamily="18" charset="0"/>
                  <a:ea typeface="楷体_GB2312" pitchFamily="49" charset="-122"/>
                </a:rPr>
                <a:t>A=</a:t>
              </a:r>
            </a:p>
          </p:txBody>
        </p:sp>
        <p:sp>
          <p:nvSpPr>
            <p:cNvPr id="31" name="Text Box 8"/>
            <p:cNvSpPr txBox="1">
              <a:spLocks noChangeArrowheads="1"/>
            </p:cNvSpPr>
            <p:nvPr/>
          </p:nvSpPr>
          <p:spPr bwMode="auto">
            <a:xfrm>
              <a:off x="1104" y="2448"/>
              <a:ext cx="3079" cy="1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buClr>
                  <a:schemeClr val="folHlink"/>
                </a:buClr>
                <a:buSzPct val="60000"/>
                <a:buFont typeface="Wingdings" pitchFamily="2" charset="2"/>
                <a:buNone/>
              </a:pPr>
              <a:r>
                <a:rPr kumimoji="1" lang="zh-CN" altLang="en-US" sz="2000" dirty="0">
                  <a:latin typeface="楷体_GB2312" pitchFamily="49" charset="-122"/>
                  <a:ea typeface="楷体_GB2312" pitchFamily="49" charset="-122"/>
                </a:rPr>
                <a:t> </a:t>
              </a:r>
              <a:r>
                <a:rPr kumimoji="1" lang="en-US" altLang="zh-CN" sz="2000" b="1" dirty="0">
                  <a:latin typeface="宋体" pitchFamily="2" charset="-122"/>
                </a:rPr>
                <a:t>0   12    9    0    0    0    0 </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0    0    0    0    0    0    0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-3    0    0    0    0   14    0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0    0   24    0    0    0    0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0   18    0    0    0    0    0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15    0    0   –7   0    0    0</a:t>
              </a:r>
            </a:p>
          </p:txBody>
        </p:sp>
      </p:grpSp>
      <p:sp>
        <p:nvSpPr>
          <p:cNvPr id="2" name="右大括号 1"/>
          <p:cNvSpPr/>
          <p:nvPr/>
        </p:nvSpPr>
        <p:spPr>
          <a:xfrm>
            <a:off x="9912424" y="1791980"/>
            <a:ext cx="216024" cy="2861156"/>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18" name="表格 17"/>
          <p:cNvGraphicFramePr>
            <a:graphicFrameLocks noGrp="1"/>
          </p:cNvGraphicFramePr>
          <p:nvPr>
            <p:extLst>
              <p:ext uri="{D42A27DB-BD31-4B8C-83A1-F6EECF244321}">
                <p14:modId xmlns:p14="http://schemas.microsoft.com/office/powerpoint/2010/main" val="424519523"/>
              </p:ext>
            </p:extLst>
          </p:nvPr>
        </p:nvGraphicFramePr>
        <p:xfrm>
          <a:off x="7334054" y="1882781"/>
          <a:ext cx="345440" cy="2842360"/>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0</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sp>
        <p:nvSpPr>
          <p:cNvPr id="3" name="Rectangle 2">
            <a:extLst>
              <a:ext uri="{FF2B5EF4-FFF2-40B4-BE49-F238E27FC236}">
                <a16:creationId xmlns:a16="http://schemas.microsoft.com/office/drawing/2014/main" id="{9A0809FD-780F-A39F-7321-A4A62FA4CADF}"/>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4" name="直接连接符 3">
            <a:extLst>
              <a:ext uri="{FF2B5EF4-FFF2-40B4-BE49-F238E27FC236}">
                <a16:creationId xmlns:a16="http://schemas.microsoft.com/office/drawing/2014/main" id="{F6C78894-0E77-0286-60F2-748B616E9845}"/>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id="{FF9987E4-B1A1-491C-EAF1-FED23563355F}"/>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spTree>
    <p:extLst>
      <p:ext uri="{BB962C8B-B14F-4D97-AF65-F5344CB8AC3E}">
        <p14:creationId xmlns:p14="http://schemas.microsoft.com/office/powerpoint/2010/main" val="39876615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42C2CA-FBE4-7BEC-B279-040681211E96}"/>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4BE3C4FE-6145-E8D1-17EA-556C96B43770}"/>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465B5DFD-F374-9BE4-CF9D-5467ED37495C}"/>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sp>
        <p:nvSpPr>
          <p:cNvPr id="7" name="Text Box 50">
            <a:extLst>
              <a:ext uri="{FF2B5EF4-FFF2-40B4-BE49-F238E27FC236}">
                <a16:creationId xmlns:a16="http://schemas.microsoft.com/office/drawing/2014/main" id="{5F01DFAD-2D8B-E111-DB41-30F65C967E4C}"/>
              </a:ext>
            </a:extLst>
          </p:cNvPr>
          <p:cNvSpPr txBox="1">
            <a:spLocks noChangeArrowheads="1"/>
          </p:cNvSpPr>
          <p:nvPr/>
        </p:nvSpPr>
        <p:spPr bwMode="auto">
          <a:xfrm>
            <a:off x="11610" y="1642601"/>
            <a:ext cx="5428890" cy="1423338"/>
          </a:xfrm>
          <a:prstGeom prst="rect">
            <a:avLst/>
          </a:prstGeom>
          <a:noFill/>
          <a:ln w="9525">
            <a:noFill/>
            <a:miter lim="800000"/>
            <a:headEnd/>
            <a:tailEnd/>
          </a:ln>
          <a:effectLst/>
        </p:spPr>
        <p:txBody>
          <a:bodyPr wrap="square">
            <a:spAutoFit/>
          </a:bodyPr>
          <a:lstStyle/>
          <a:p>
            <a:pPr algn="l">
              <a:lnSpc>
                <a:spcPct val="150000"/>
              </a:lnSpc>
            </a:pP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）从一个二维矩阵创建其三元组表示</a:t>
            </a:r>
          </a:p>
          <a:p>
            <a:pPr algn="l">
              <a:lnSpc>
                <a:spcPct val="150000"/>
              </a:lnSpc>
            </a:pPr>
            <a:r>
              <a:rPr kumimoji="1" lang="zh-CN" altLang="en-US" sz="2000" dirty="0">
                <a:latin typeface="Consolas" pitchFamily="49" charset="0"/>
                <a:ea typeface="仿宋" pitchFamily="49" charset="-122"/>
                <a:cs typeface="Consolas" pitchFamily="49" charset="0"/>
              </a:rPr>
              <a:t>以行序方式扫描二维矩阵</a:t>
            </a:r>
            <a:r>
              <a:rPr kumimoji="1" lang="en-US" altLang="zh-CN" sz="2000" i="1" dirty="0">
                <a:latin typeface="Consolas" pitchFamily="49" charset="0"/>
                <a:ea typeface="仿宋" pitchFamily="49" charset="-122"/>
                <a:cs typeface="Consolas" pitchFamily="49" charset="0"/>
              </a:rPr>
              <a:t>A</a:t>
            </a:r>
            <a:r>
              <a:rPr kumimoji="1" lang="zh-CN" altLang="en-US" sz="2000" dirty="0">
                <a:latin typeface="Consolas" pitchFamily="49" charset="0"/>
                <a:ea typeface="仿宋" pitchFamily="49" charset="-122"/>
                <a:cs typeface="Consolas" pitchFamily="49" charset="0"/>
              </a:rPr>
              <a:t>，将其非零的元素插入到三元组</a:t>
            </a:r>
            <a:r>
              <a:rPr kumimoji="1" lang="en-US" altLang="zh-CN" sz="2000" dirty="0">
                <a:latin typeface="Consolas" pitchFamily="49" charset="0"/>
                <a:ea typeface="仿宋" pitchFamily="49" charset="-122"/>
                <a:cs typeface="Consolas" pitchFamily="49" charset="0"/>
              </a:rPr>
              <a:t>t</a:t>
            </a:r>
            <a:r>
              <a:rPr kumimoji="1" lang="zh-CN" altLang="en-US" sz="2000" dirty="0">
                <a:latin typeface="Consolas" pitchFamily="49" charset="0"/>
                <a:ea typeface="仿宋" pitchFamily="49" charset="-122"/>
                <a:cs typeface="Consolas" pitchFamily="49" charset="0"/>
              </a:rPr>
              <a:t>的后面。</a:t>
            </a:r>
          </a:p>
        </p:txBody>
      </p:sp>
      <p:graphicFrame>
        <p:nvGraphicFramePr>
          <p:cNvPr id="14" name="表格 13">
            <a:extLst>
              <a:ext uri="{FF2B5EF4-FFF2-40B4-BE49-F238E27FC236}">
                <a16:creationId xmlns:a16="http://schemas.microsoft.com/office/drawing/2014/main" id="{A30FA960-AB62-0BD2-DB4D-4D7D8939D1E3}"/>
              </a:ext>
            </a:extLst>
          </p:cNvPr>
          <p:cNvGraphicFramePr>
            <a:graphicFrameLocks noGrp="1"/>
          </p:cNvGraphicFramePr>
          <p:nvPr>
            <p:extLst>
              <p:ext uri="{D42A27DB-BD31-4B8C-83A1-F6EECF244321}">
                <p14:modId xmlns:p14="http://schemas.microsoft.com/office/powerpoint/2010/main" val="127279720"/>
              </p:ext>
            </p:extLst>
          </p:nvPr>
        </p:nvGraphicFramePr>
        <p:xfrm>
          <a:off x="7937848" y="1942366"/>
          <a:ext cx="2133600" cy="4015295"/>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0609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0"/>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1"/>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2"/>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3"/>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4"/>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5</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5"/>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6"/>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7"/>
                  </a:ext>
                </a:extLst>
              </a:tr>
              <a:tr h="352396">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52396">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437640">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15" name="表格 14">
            <a:extLst>
              <a:ext uri="{FF2B5EF4-FFF2-40B4-BE49-F238E27FC236}">
                <a16:creationId xmlns:a16="http://schemas.microsoft.com/office/drawing/2014/main" id="{19240DFB-D47D-4340-0B16-8EF23CC38067}"/>
              </a:ext>
            </a:extLst>
          </p:cNvPr>
          <p:cNvGraphicFramePr>
            <a:graphicFrameLocks noGrp="1"/>
          </p:cNvGraphicFramePr>
          <p:nvPr>
            <p:extLst>
              <p:ext uri="{D42A27DB-BD31-4B8C-83A1-F6EECF244321}">
                <p14:modId xmlns:p14="http://schemas.microsoft.com/office/powerpoint/2010/main" val="2146530052"/>
              </p:ext>
            </p:extLst>
          </p:nvPr>
        </p:nvGraphicFramePr>
        <p:xfrm>
          <a:off x="7920431" y="1558422"/>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18" name="表格 17">
            <a:extLst>
              <a:ext uri="{FF2B5EF4-FFF2-40B4-BE49-F238E27FC236}">
                <a16:creationId xmlns:a16="http://schemas.microsoft.com/office/drawing/2014/main" id="{836F70C3-7A4B-349D-7394-8DE7E2C4AD9A}"/>
              </a:ext>
            </a:extLst>
          </p:cNvPr>
          <p:cNvGraphicFramePr>
            <a:graphicFrameLocks noGrp="1"/>
          </p:cNvGraphicFramePr>
          <p:nvPr>
            <p:extLst>
              <p:ext uri="{D42A27DB-BD31-4B8C-83A1-F6EECF244321}">
                <p14:modId xmlns:p14="http://schemas.microsoft.com/office/powerpoint/2010/main" val="392290101"/>
              </p:ext>
            </p:extLst>
          </p:nvPr>
        </p:nvGraphicFramePr>
        <p:xfrm>
          <a:off x="10199400" y="1942366"/>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22" name="Text Box 7">
            <a:extLst>
              <a:ext uri="{FF2B5EF4-FFF2-40B4-BE49-F238E27FC236}">
                <a16:creationId xmlns:a16="http://schemas.microsoft.com/office/drawing/2014/main" id="{27DA5E8E-9B8C-75B4-886C-1FFC60C35450}"/>
              </a:ext>
            </a:extLst>
          </p:cNvPr>
          <p:cNvSpPr txBox="1">
            <a:spLocks noChangeArrowheads="1"/>
          </p:cNvSpPr>
          <p:nvPr/>
        </p:nvSpPr>
        <p:spPr bwMode="auto">
          <a:xfrm flipH="1">
            <a:off x="7333397" y="1421160"/>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sp>
        <p:nvSpPr>
          <p:cNvPr id="24" name="右大括号 23">
            <a:extLst>
              <a:ext uri="{FF2B5EF4-FFF2-40B4-BE49-F238E27FC236}">
                <a16:creationId xmlns:a16="http://schemas.microsoft.com/office/drawing/2014/main" id="{A889C556-3D2C-724C-82BA-285C54ADC82B}"/>
              </a:ext>
            </a:extLst>
          </p:cNvPr>
          <p:cNvSpPr/>
          <p:nvPr/>
        </p:nvSpPr>
        <p:spPr>
          <a:xfrm>
            <a:off x="10064824" y="1944380"/>
            <a:ext cx="216024" cy="2861156"/>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5" name="表格 24">
            <a:extLst>
              <a:ext uri="{FF2B5EF4-FFF2-40B4-BE49-F238E27FC236}">
                <a16:creationId xmlns:a16="http://schemas.microsoft.com/office/drawing/2014/main" id="{E0E90622-4215-EB41-651A-3268BD361B15}"/>
              </a:ext>
            </a:extLst>
          </p:cNvPr>
          <p:cNvGraphicFramePr>
            <a:graphicFrameLocks noGrp="1"/>
          </p:cNvGraphicFramePr>
          <p:nvPr>
            <p:extLst>
              <p:ext uri="{D42A27DB-BD31-4B8C-83A1-F6EECF244321}">
                <p14:modId xmlns:p14="http://schemas.microsoft.com/office/powerpoint/2010/main" val="1989765301"/>
              </p:ext>
            </p:extLst>
          </p:nvPr>
        </p:nvGraphicFramePr>
        <p:xfrm>
          <a:off x="7486454" y="2035181"/>
          <a:ext cx="345440" cy="2842360"/>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0</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sp>
        <p:nvSpPr>
          <p:cNvPr id="26" name="Text Box 2">
            <a:extLst>
              <a:ext uri="{FF2B5EF4-FFF2-40B4-BE49-F238E27FC236}">
                <a16:creationId xmlns:a16="http://schemas.microsoft.com/office/drawing/2014/main" id="{7A9CE21A-FF11-D6D2-F325-8298EA68034B}"/>
              </a:ext>
            </a:extLst>
          </p:cNvPr>
          <p:cNvSpPr txBox="1">
            <a:spLocks noChangeArrowheads="1"/>
          </p:cNvSpPr>
          <p:nvPr/>
        </p:nvSpPr>
        <p:spPr bwMode="auto">
          <a:xfrm>
            <a:off x="479376" y="3099169"/>
            <a:ext cx="5040561" cy="3556743"/>
          </a:xfrm>
          <a:prstGeom prst="rect">
            <a:avLst/>
          </a:prstGeom>
          <a:solidFill>
            <a:schemeClr val="bg1"/>
          </a:solidFill>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just">
              <a:lnSpc>
                <a:spcPts val="13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void </a:t>
            </a:r>
            <a:r>
              <a:rPr kumimoji="1" lang="en-US" altLang="zh-CN" sz="1400" dirty="0" err="1">
                <a:solidFill>
                  <a:srgbClr val="FF0000"/>
                </a:solidFill>
                <a:latin typeface="Consolas" pitchFamily="49" charset="0"/>
                <a:ea typeface="仿宋" pitchFamily="49" charset="-122"/>
                <a:cs typeface="Consolas" pitchFamily="49" charset="0"/>
              </a:rPr>
              <a:t>CreatMat</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TSMatrix</a:t>
            </a:r>
            <a:r>
              <a:rPr kumimoji="1" lang="en-US" altLang="zh-CN" sz="1400" dirty="0">
                <a:solidFill>
                  <a:srgbClr val="0000FF"/>
                </a:solidFill>
                <a:latin typeface="Consolas" pitchFamily="49" charset="0"/>
                <a:ea typeface="仿宋" pitchFamily="49" charset="-122"/>
                <a:cs typeface="Consolas" pitchFamily="49" charset="0"/>
              </a:rPr>
              <a:t> &amp;</a:t>
            </a:r>
            <a:r>
              <a:rPr kumimoji="1" lang="en-US" altLang="zh-CN" sz="1400" dirty="0" err="1">
                <a:solidFill>
                  <a:srgbClr val="0000FF"/>
                </a:solidFill>
                <a:latin typeface="Consolas" pitchFamily="49" charset="0"/>
                <a:ea typeface="仿宋" pitchFamily="49" charset="-122"/>
                <a:cs typeface="Consolas" pitchFamily="49" charset="0"/>
              </a:rPr>
              <a:t>t,ElemType</a:t>
            </a:r>
            <a:r>
              <a:rPr kumimoji="1" lang="en-US" altLang="zh-CN" sz="1400" dirty="0">
                <a:solidFill>
                  <a:srgbClr val="0000FF"/>
                </a:solidFill>
                <a:latin typeface="Consolas" pitchFamily="49" charset="0"/>
                <a:ea typeface="仿宋" pitchFamily="49" charset="-122"/>
                <a:cs typeface="Consolas" pitchFamily="49" charset="0"/>
              </a:rPr>
              <a:t> A[M][N])</a:t>
            </a:r>
          </a:p>
          <a:p>
            <a:pPr algn="just">
              <a:lnSpc>
                <a:spcPts val="13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int </a:t>
            </a:r>
            <a:r>
              <a:rPr kumimoji="1" lang="en-US" altLang="zh-CN" sz="1400" dirty="0" err="1">
                <a:solidFill>
                  <a:srgbClr val="0000FF"/>
                </a:solidFill>
                <a:latin typeface="Consolas" pitchFamily="49" charset="0"/>
                <a:ea typeface="仿宋" pitchFamily="49" charset="-122"/>
                <a:cs typeface="Consolas" pitchFamily="49" charset="0"/>
              </a:rPr>
              <a:t>i,j</a:t>
            </a:r>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t.rows</a:t>
            </a:r>
            <a:r>
              <a:rPr kumimoji="1" lang="en-US" altLang="zh-CN" sz="1400" dirty="0">
                <a:solidFill>
                  <a:srgbClr val="0000FF"/>
                </a:solidFill>
                <a:latin typeface="Consolas" pitchFamily="49" charset="0"/>
                <a:ea typeface="仿宋" pitchFamily="49" charset="-122"/>
                <a:cs typeface="Consolas" pitchFamily="49" charset="0"/>
              </a:rPr>
              <a:t>=M; </a:t>
            </a:r>
            <a:r>
              <a:rPr kumimoji="1" lang="en-US" altLang="zh-CN" sz="1400" dirty="0" err="1">
                <a:solidFill>
                  <a:srgbClr val="0000FF"/>
                </a:solidFill>
                <a:latin typeface="Consolas" pitchFamily="49" charset="0"/>
                <a:ea typeface="仿宋" pitchFamily="49" charset="-122"/>
                <a:cs typeface="Consolas" pitchFamily="49" charset="0"/>
              </a:rPr>
              <a:t>t.cols</a:t>
            </a:r>
            <a:r>
              <a:rPr kumimoji="1" lang="en-US" altLang="zh-CN" sz="1400" dirty="0">
                <a:solidFill>
                  <a:srgbClr val="0000FF"/>
                </a:solidFill>
                <a:latin typeface="Consolas" pitchFamily="49" charset="0"/>
                <a:ea typeface="仿宋" pitchFamily="49" charset="-122"/>
                <a:cs typeface="Consolas" pitchFamily="49" charset="0"/>
              </a:rPr>
              <a:t>=N; </a:t>
            </a:r>
            <a:r>
              <a:rPr kumimoji="1" lang="en-US" altLang="zh-CN" sz="1400" dirty="0" err="1">
                <a:solidFill>
                  <a:srgbClr val="0000FF"/>
                </a:solidFill>
                <a:latin typeface="Consolas" pitchFamily="49" charset="0"/>
                <a:ea typeface="仿宋" pitchFamily="49" charset="-122"/>
                <a:cs typeface="Consolas" pitchFamily="49" charset="0"/>
              </a:rPr>
              <a:t>t.nums</a:t>
            </a:r>
            <a:r>
              <a:rPr kumimoji="1" lang="en-US" altLang="zh-CN" sz="1400" dirty="0">
                <a:solidFill>
                  <a:srgbClr val="0000FF"/>
                </a:solidFill>
                <a:latin typeface="Consolas" pitchFamily="49" charset="0"/>
                <a:ea typeface="仿宋" pitchFamily="49" charset="-122"/>
                <a:cs typeface="Consolas" pitchFamily="49" charset="0"/>
              </a:rPr>
              <a:t>=0;</a:t>
            </a:r>
          </a:p>
          <a:p>
            <a:pPr algn="just">
              <a:lnSpc>
                <a:spcPts val="13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for (</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=0;i&lt;</a:t>
            </a:r>
            <a:r>
              <a:rPr kumimoji="1" lang="en-US" altLang="zh-CN" sz="1400" dirty="0" err="1">
                <a:solidFill>
                  <a:srgbClr val="0000FF"/>
                </a:solidFill>
                <a:latin typeface="Consolas" pitchFamily="49" charset="0"/>
                <a:ea typeface="仿宋" pitchFamily="49" charset="-122"/>
                <a:cs typeface="Consolas" pitchFamily="49" charset="0"/>
              </a:rPr>
              <a:t>M;i</a:t>
            </a:r>
            <a:r>
              <a:rPr kumimoji="1" lang="en-US" altLang="zh-CN" sz="1400" dirty="0">
                <a:solidFill>
                  <a:srgbClr val="0000FF"/>
                </a:solidFill>
                <a:latin typeface="Consolas" pitchFamily="49" charset="0"/>
                <a:ea typeface="仿宋" pitchFamily="49" charset="-122"/>
                <a:cs typeface="Consolas" pitchFamily="49" charset="0"/>
              </a:rPr>
              <a:t>++)</a:t>
            </a:r>
          </a:p>
          <a:p>
            <a:pPr algn="just">
              <a:lnSpc>
                <a:spcPts val="13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  for (j=0;j&lt;</a:t>
            </a:r>
            <a:r>
              <a:rPr kumimoji="1" lang="en-US" altLang="zh-CN" sz="1400" dirty="0" err="1">
                <a:solidFill>
                  <a:srgbClr val="0000FF"/>
                </a:solidFill>
                <a:latin typeface="Consolas" pitchFamily="49" charset="0"/>
                <a:ea typeface="仿宋" pitchFamily="49" charset="-122"/>
                <a:cs typeface="Consolas" pitchFamily="49" charset="0"/>
              </a:rPr>
              <a:t>N;j</a:t>
            </a:r>
            <a:r>
              <a:rPr kumimoji="1" lang="en-US" altLang="zh-CN" sz="1400" dirty="0">
                <a:solidFill>
                  <a:srgbClr val="0000FF"/>
                </a:solidFill>
                <a:latin typeface="Consolas" pitchFamily="49" charset="0"/>
                <a:ea typeface="仿宋" pitchFamily="49" charset="-122"/>
                <a:cs typeface="Consolas" pitchFamily="49" charset="0"/>
              </a:rPr>
              <a:t>++) </a:t>
            </a:r>
          </a:p>
          <a:p>
            <a:pPr algn="just">
              <a:lnSpc>
                <a:spcPts val="1300"/>
              </a:lnSpc>
              <a:spcBef>
                <a:spcPct val="50000"/>
              </a:spcBef>
            </a:pPr>
            <a:endParaRPr kumimoji="1" lang="en-US" altLang="zh-CN" sz="1400" dirty="0">
              <a:solidFill>
                <a:srgbClr val="0000FF"/>
              </a:solidFill>
              <a:latin typeface="Consolas" pitchFamily="49" charset="0"/>
              <a:ea typeface="仿宋" pitchFamily="49" charset="-122"/>
              <a:cs typeface="Consolas" pitchFamily="49" charset="0"/>
            </a:endParaRPr>
          </a:p>
          <a:p>
            <a:pPr algn="just">
              <a:lnSpc>
                <a:spcPts val="13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if (A[</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][j]!=0)   </a:t>
            </a:r>
            <a:endParaRPr kumimoji="1" lang="zh-CN" altLang="en-US" sz="1400" dirty="0">
              <a:solidFill>
                <a:srgbClr val="0000FF"/>
              </a:solidFill>
              <a:latin typeface="Consolas" pitchFamily="49" charset="0"/>
              <a:ea typeface="仿宋" pitchFamily="49" charset="-122"/>
              <a:cs typeface="Consolas" pitchFamily="49" charset="0"/>
            </a:endParaRPr>
          </a:p>
          <a:p>
            <a:pPr algn="just">
              <a:lnSpc>
                <a:spcPts val="1300"/>
              </a:lnSpc>
              <a:spcBef>
                <a:spcPct val="50000"/>
              </a:spcBef>
            </a:pPr>
            <a:r>
              <a:rPr kumimoji="1" lang="zh-CN" altLang="en-US" sz="1400" dirty="0">
                <a:solidFill>
                  <a:srgbClr val="0000FF"/>
                </a:solidFill>
                <a:latin typeface="Consolas" pitchFamily="49" charset="0"/>
                <a:ea typeface="仿宋" pitchFamily="49" charset="-122"/>
                <a:cs typeface="Consolas" pitchFamily="49" charset="0"/>
              </a:rPr>
              <a:t>         </a:t>
            </a:r>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t.data</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t.nums</a:t>
            </a:r>
            <a:r>
              <a:rPr kumimoji="1" lang="en-US" altLang="zh-CN" sz="1400" dirty="0">
                <a:solidFill>
                  <a:srgbClr val="0000FF"/>
                </a:solidFill>
                <a:latin typeface="Consolas" pitchFamily="49" charset="0"/>
                <a:ea typeface="仿宋" pitchFamily="49" charset="-122"/>
                <a:cs typeface="Consolas" pitchFamily="49" charset="0"/>
              </a:rPr>
              <a:t>].r=</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a:t>
            </a:r>
          </a:p>
          <a:p>
            <a:pPr algn="just">
              <a:lnSpc>
                <a:spcPts val="13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t.data</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t.nums</a:t>
            </a:r>
            <a:r>
              <a:rPr kumimoji="1" lang="en-US" altLang="zh-CN" sz="1400" dirty="0">
                <a:solidFill>
                  <a:srgbClr val="0000FF"/>
                </a:solidFill>
                <a:latin typeface="Consolas" pitchFamily="49" charset="0"/>
                <a:ea typeface="仿宋" pitchFamily="49" charset="-122"/>
                <a:cs typeface="Consolas" pitchFamily="49" charset="0"/>
              </a:rPr>
              <a:t>].c=j;</a:t>
            </a:r>
          </a:p>
          <a:p>
            <a:pPr algn="just">
              <a:lnSpc>
                <a:spcPts val="13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t.data</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t.nums</a:t>
            </a:r>
            <a:r>
              <a:rPr kumimoji="1" lang="en-US" altLang="zh-CN" sz="1400" dirty="0">
                <a:solidFill>
                  <a:srgbClr val="0000FF"/>
                </a:solidFill>
                <a:latin typeface="Consolas" pitchFamily="49" charset="0"/>
                <a:ea typeface="仿宋" pitchFamily="49" charset="-122"/>
                <a:cs typeface="Consolas" pitchFamily="49" charset="0"/>
              </a:rPr>
              <a:t>].d=A[</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][j];</a:t>
            </a:r>
          </a:p>
          <a:p>
            <a:pPr algn="just">
              <a:lnSpc>
                <a:spcPts val="13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t.nums</a:t>
            </a:r>
            <a:r>
              <a:rPr kumimoji="1" lang="en-US" altLang="zh-CN" sz="1400" dirty="0">
                <a:solidFill>
                  <a:srgbClr val="0000FF"/>
                </a:solidFill>
                <a:latin typeface="Consolas" pitchFamily="49" charset="0"/>
                <a:ea typeface="仿宋" pitchFamily="49" charset="-122"/>
                <a:cs typeface="Consolas" pitchFamily="49" charset="0"/>
              </a:rPr>
              <a:t>++;</a:t>
            </a:r>
          </a:p>
          <a:p>
            <a:pPr algn="just">
              <a:lnSpc>
                <a:spcPts val="13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a:t>
            </a:r>
          </a:p>
          <a:p>
            <a:pPr algn="just">
              <a:lnSpc>
                <a:spcPts val="13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a:t>
            </a:r>
          </a:p>
          <a:p>
            <a:pPr algn="just">
              <a:lnSpc>
                <a:spcPts val="13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a:t>
            </a:r>
          </a:p>
        </p:txBody>
      </p:sp>
      <p:cxnSp>
        <p:nvCxnSpPr>
          <p:cNvPr id="35" name="直接箭头连接符 34">
            <a:extLst>
              <a:ext uri="{FF2B5EF4-FFF2-40B4-BE49-F238E27FC236}">
                <a16:creationId xmlns:a16="http://schemas.microsoft.com/office/drawing/2014/main" id="{2133B01F-DACA-6288-92F2-EFB237A6AAFC}"/>
              </a:ext>
            </a:extLst>
          </p:cNvPr>
          <p:cNvCxnSpPr>
            <a:cxnSpLocks/>
          </p:cNvCxnSpPr>
          <p:nvPr/>
        </p:nvCxnSpPr>
        <p:spPr>
          <a:xfrm>
            <a:off x="7471608" y="2092660"/>
            <a:ext cx="0" cy="267268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2" name="Text Box 7">
            <a:extLst>
              <a:ext uri="{FF2B5EF4-FFF2-40B4-BE49-F238E27FC236}">
                <a16:creationId xmlns:a16="http://schemas.microsoft.com/office/drawing/2014/main" id="{30BBA2A9-EC85-D1E3-F117-84E674E63BD2}"/>
              </a:ext>
            </a:extLst>
          </p:cNvPr>
          <p:cNvSpPr txBox="1">
            <a:spLocks noChangeArrowheads="1"/>
          </p:cNvSpPr>
          <p:nvPr/>
        </p:nvSpPr>
        <p:spPr bwMode="auto">
          <a:xfrm flipH="1">
            <a:off x="5825259" y="1916222"/>
            <a:ext cx="10497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err="1">
                <a:latin typeface="Times New Roman" pitchFamily="18" charset="0"/>
                <a:ea typeface="楷体_GB2312" pitchFamily="49" charset="-122"/>
              </a:rPr>
              <a:t>t.num</a:t>
            </a:r>
            <a:endParaRPr kumimoji="1" lang="en-US" altLang="zh-CN" sz="2800" dirty="0">
              <a:latin typeface="Times New Roman" pitchFamily="18" charset="0"/>
              <a:ea typeface="楷体_GB2312" pitchFamily="49" charset="-122"/>
            </a:endParaRPr>
          </a:p>
        </p:txBody>
      </p:sp>
      <p:cxnSp>
        <p:nvCxnSpPr>
          <p:cNvPr id="8" name="直接箭头连接符 7">
            <a:extLst>
              <a:ext uri="{FF2B5EF4-FFF2-40B4-BE49-F238E27FC236}">
                <a16:creationId xmlns:a16="http://schemas.microsoft.com/office/drawing/2014/main" id="{F1A78CA5-BE1E-393F-585B-B11FAE6C41E4}"/>
              </a:ext>
            </a:extLst>
          </p:cNvPr>
          <p:cNvCxnSpPr>
            <a:cxnSpLocks/>
          </p:cNvCxnSpPr>
          <p:nvPr/>
        </p:nvCxnSpPr>
        <p:spPr>
          <a:xfrm>
            <a:off x="6829341" y="2204864"/>
            <a:ext cx="50405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92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138FA-77F6-0292-3C91-EB3DB1C0528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A89F53D-FE9C-F3B5-3F98-CAEA9A52DCA5}"/>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79B90462-4172-1474-D534-5DAB477D0B78}"/>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5FA3B80B-34BE-EB99-20BA-A3A0EE80D43E}"/>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graphicFrame>
        <p:nvGraphicFramePr>
          <p:cNvPr id="14" name="表格 13">
            <a:extLst>
              <a:ext uri="{FF2B5EF4-FFF2-40B4-BE49-F238E27FC236}">
                <a16:creationId xmlns:a16="http://schemas.microsoft.com/office/drawing/2014/main" id="{56C03884-A3DC-B2FB-D7A5-E9259083E5EE}"/>
              </a:ext>
            </a:extLst>
          </p:cNvPr>
          <p:cNvGraphicFramePr>
            <a:graphicFrameLocks noGrp="1"/>
          </p:cNvGraphicFramePr>
          <p:nvPr>
            <p:extLst>
              <p:ext uri="{D42A27DB-BD31-4B8C-83A1-F6EECF244321}">
                <p14:modId xmlns:p14="http://schemas.microsoft.com/office/powerpoint/2010/main" val="2313598703"/>
              </p:ext>
            </p:extLst>
          </p:nvPr>
        </p:nvGraphicFramePr>
        <p:xfrm>
          <a:off x="7937848" y="1942366"/>
          <a:ext cx="2133600" cy="4015295"/>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0609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0"/>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1"/>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2"/>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rgbClr val="FF0000"/>
                          </a:solidFill>
                          <a:latin typeface="宋体" pitchFamily="2" charset="-122"/>
                          <a:ea typeface="宋体" pitchFamily="2" charset="-122"/>
                          <a:cs typeface="+mn-cs"/>
                        </a:rPr>
                        <a:t>14</a:t>
                      </a:r>
                      <a:endParaRPr kumimoji="1" lang="zh-CN" sz="2000" b="1" kern="1200" dirty="0">
                        <a:solidFill>
                          <a:srgbClr val="FF0000"/>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3"/>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4"/>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5</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5"/>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6"/>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7"/>
                  </a:ext>
                </a:extLst>
              </a:tr>
              <a:tr h="352396">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52396">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437640">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15" name="表格 14">
            <a:extLst>
              <a:ext uri="{FF2B5EF4-FFF2-40B4-BE49-F238E27FC236}">
                <a16:creationId xmlns:a16="http://schemas.microsoft.com/office/drawing/2014/main" id="{6189B242-98A1-131E-3BB8-44068E87B8A6}"/>
              </a:ext>
            </a:extLst>
          </p:cNvPr>
          <p:cNvGraphicFramePr>
            <a:graphicFrameLocks noGrp="1"/>
          </p:cNvGraphicFramePr>
          <p:nvPr/>
        </p:nvGraphicFramePr>
        <p:xfrm>
          <a:off x="7920431" y="1558422"/>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18" name="表格 17">
            <a:extLst>
              <a:ext uri="{FF2B5EF4-FFF2-40B4-BE49-F238E27FC236}">
                <a16:creationId xmlns:a16="http://schemas.microsoft.com/office/drawing/2014/main" id="{64E462AB-7B84-274E-EE1A-9A79F7348DAC}"/>
              </a:ext>
            </a:extLst>
          </p:cNvPr>
          <p:cNvGraphicFramePr>
            <a:graphicFrameLocks noGrp="1"/>
          </p:cNvGraphicFramePr>
          <p:nvPr/>
        </p:nvGraphicFramePr>
        <p:xfrm>
          <a:off x="10199400" y="1942366"/>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22" name="Text Box 7">
            <a:extLst>
              <a:ext uri="{FF2B5EF4-FFF2-40B4-BE49-F238E27FC236}">
                <a16:creationId xmlns:a16="http://schemas.microsoft.com/office/drawing/2014/main" id="{2CD05EEC-CE73-7015-6A07-BE6D5A7BF455}"/>
              </a:ext>
            </a:extLst>
          </p:cNvPr>
          <p:cNvSpPr txBox="1">
            <a:spLocks noChangeArrowheads="1"/>
          </p:cNvSpPr>
          <p:nvPr/>
        </p:nvSpPr>
        <p:spPr bwMode="auto">
          <a:xfrm flipH="1">
            <a:off x="7333397" y="1421160"/>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sp>
        <p:nvSpPr>
          <p:cNvPr id="24" name="右大括号 23">
            <a:extLst>
              <a:ext uri="{FF2B5EF4-FFF2-40B4-BE49-F238E27FC236}">
                <a16:creationId xmlns:a16="http://schemas.microsoft.com/office/drawing/2014/main" id="{9A947D1C-5876-49D5-9E34-0796C40B2114}"/>
              </a:ext>
            </a:extLst>
          </p:cNvPr>
          <p:cNvSpPr/>
          <p:nvPr/>
        </p:nvSpPr>
        <p:spPr>
          <a:xfrm>
            <a:off x="10064824" y="1944380"/>
            <a:ext cx="216024" cy="2861156"/>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5" name="表格 24">
            <a:extLst>
              <a:ext uri="{FF2B5EF4-FFF2-40B4-BE49-F238E27FC236}">
                <a16:creationId xmlns:a16="http://schemas.microsoft.com/office/drawing/2014/main" id="{08E88C50-F1DE-EC82-5FE3-97C002743459}"/>
              </a:ext>
            </a:extLst>
          </p:cNvPr>
          <p:cNvGraphicFramePr>
            <a:graphicFrameLocks noGrp="1"/>
          </p:cNvGraphicFramePr>
          <p:nvPr/>
        </p:nvGraphicFramePr>
        <p:xfrm>
          <a:off x="7486454" y="2035181"/>
          <a:ext cx="345440" cy="2842360"/>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0</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sp>
        <p:nvSpPr>
          <p:cNvPr id="2" name="Text Box 2">
            <a:extLst>
              <a:ext uri="{FF2B5EF4-FFF2-40B4-BE49-F238E27FC236}">
                <a16:creationId xmlns:a16="http://schemas.microsoft.com/office/drawing/2014/main" id="{DC46DDA5-C054-92D7-D978-7DA3F4242909}"/>
              </a:ext>
            </a:extLst>
          </p:cNvPr>
          <p:cNvSpPr txBox="1">
            <a:spLocks noChangeArrowheads="1"/>
          </p:cNvSpPr>
          <p:nvPr/>
        </p:nvSpPr>
        <p:spPr bwMode="auto">
          <a:xfrm>
            <a:off x="902779" y="1942366"/>
            <a:ext cx="6423196" cy="1231106"/>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2</a:t>
            </a:r>
            <a:r>
              <a:rPr kumimoji="1" lang="zh-CN" altLang="en-US" sz="2000" dirty="0">
                <a:latin typeface="Consolas" pitchFamily="49" charset="0"/>
                <a:ea typeface="微软雅黑" pitchFamily="34" charset="-122"/>
                <a:cs typeface="Consolas" pitchFamily="49" charset="0"/>
              </a:rPr>
              <a:t>）三元组元素赋值：</a:t>
            </a:r>
            <a:r>
              <a:rPr kumimoji="1" lang="en-US" altLang="zh-CN" sz="2000" i="1" dirty="0">
                <a:latin typeface="Consolas" pitchFamily="49" charset="0"/>
                <a:ea typeface="微软雅黑" pitchFamily="34" charset="-122"/>
                <a:cs typeface="Consolas" pitchFamily="49" charset="0"/>
              </a:rPr>
              <a:t>A</a:t>
            </a:r>
            <a:r>
              <a:rPr kumimoji="1" lang="en-US" altLang="zh-CN" sz="2000" dirty="0">
                <a:latin typeface="Consolas" pitchFamily="49" charset="0"/>
                <a:ea typeface="微软雅黑" pitchFamily="34" charset="-122"/>
                <a:cs typeface="Consolas" pitchFamily="49" charset="0"/>
              </a:rPr>
              <a:t>[</a:t>
            </a:r>
            <a:r>
              <a:rPr kumimoji="1" lang="en-US" altLang="zh-CN" sz="2000" i="1" dirty="0" err="1">
                <a:latin typeface="Consolas" pitchFamily="49" charset="0"/>
                <a:ea typeface="微软雅黑" pitchFamily="34" charset="-122"/>
                <a:cs typeface="Consolas" pitchFamily="49" charset="0"/>
              </a:rPr>
              <a:t>i</a:t>
            </a:r>
            <a:r>
              <a:rPr kumimoji="1" lang="en-US" altLang="zh-CN" sz="2000" dirty="0">
                <a:latin typeface="Consolas" pitchFamily="49" charset="0"/>
                <a:ea typeface="微软雅黑" pitchFamily="34" charset="-122"/>
                <a:cs typeface="Consolas" pitchFamily="49" charset="0"/>
              </a:rPr>
              <a:t>][</a:t>
            </a:r>
            <a:r>
              <a:rPr kumimoji="1" lang="en-US" altLang="zh-CN" sz="2000" i="1" dirty="0">
                <a:latin typeface="Consolas" pitchFamily="49" charset="0"/>
                <a:ea typeface="微软雅黑" pitchFamily="34" charset="-122"/>
                <a:cs typeface="Consolas" pitchFamily="49" charset="0"/>
              </a:rPr>
              <a:t>j</a:t>
            </a:r>
            <a:r>
              <a:rPr kumimoji="1" lang="en-US" altLang="zh-CN" sz="2000" dirty="0">
                <a:latin typeface="Consolas" pitchFamily="49" charset="0"/>
                <a:ea typeface="微软雅黑" pitchFamily="34" charset="-122"/>
                <a:cs typeface="Consolas" pitchFamily="49" charset="0"/>
              </a:rPr>
              <a:t>]=</a:t>
            </a:r>
            <a:r>
              <a:rPr kumimoji="1" lang="en-US" altLang="zh-CN" sz="2000" i="1" dirty="0">
                <a:latin typeface="Consolas" pitchFamily="49" charset="0"/>
                <a:ea typeface="微软雅黑" pitchFamily="34" charset="-122"/>
                <a:cs typeface="Consolas" pitchFamily="49" charset="0"/>
              </a:rPr>
              <a:t>x</a:t>
            </a:r>
            <a:r>
              <a:rPr kumimoji="1" lang="en-US" altLang="zh-CN" sz="2000" dirty="0">
                <a:latin typeface="Consolas" pitchFamily="49" charset="0"/>
                <a:ea typeface="微软雅黑" pitchFamily="34" charset="-122"/>
                <a:cs typeface="Consolas" pitchFamily="49" charset="0"/>
              </a:rPr>
              <a:t> </a:t>
            </a:r>
            <a:endParaRPr kumimoji="1" lang="zh-CN" altLang="en-US" sz="2000" dirty="0">
              <a:latin typeface="Consolas" pitchFamily="49" charset="0"/>
              <a:ea typeface="微软雅黑" pitchFamily="34" charset="-122"/>
              <a:cs typeface="Consolas" pitchFamily="49" charset="0"/>
            </a:endParaRPr>
          </a:p>
          <a:p>
            <a:pPr algn="just">
              <a:lnSpc>
                <a:spcPct val="90000"/>
              </a:lnSpc>
              <a:spcBef>
                <a:spcPct val="50000"/>
              </a:spcBef>
            </a:pPr>
            <a:r>
              <a:rPr kumimoji="1" lang="zh-CN" altLang="en-US" sz="2000" dirty="0">
                <a:latin typeface="Consolas" pitchFamily="49" charset="0"/>
                <a:ea typeface="仿宋" pitchFamily="49" charset="-122"/>
                <a:cs typeface="Consolas" pitchFamily="49" charset="0"/>
              </a:rPr>
              <a:t>分为两种情况：</a:t>
            </a:r>
            <a:endParaRPr kumimoji="1" lang="en-US" altLang="zh-CN" sz="2000" dirty="0">
              <a:latin typeface="Consolas" pitchFamily="49" charset="0"/>
              <a:ea typeface="仿宋" pitchFamily="49" charset="-122"/>
              <a:cs typeface="Consolas" pitchFamily="49" charset="0"/>
            </a:endParaRPr>
          </a:p>
          <a:p>
            <a:pPr algn="just">
              <a:lnSpc>
                <a:spcPct val="90000"/>
              </a:lnSpc>
              <a:spcBef>
                <a:spcPct val="50000"/>
              </a:spcBef>
            </a:pPr>
            <a:r>
              <a:rPr kumimoji="1" lang="zh-CN" altLang="en-US" sz="2000" dirty="0">
                <a:latin typeface="Consolas" pitchFamily="49" charset="0"/>
                <a:ea typeface="仿宋" pitchFamily="49" charset="-122"/>
                <a:cs typeface="Consolas" pitchFamily="49" charset="0"/>
              </a:rPr>
              <a:t>①将一个非</a:t>
            </a:r>
            <a:r>
              <a:rPr kumimoji="1" lang="en-US" altLang="zh-CN" sz="2000" dirty="0">
                <a:latin typeface="Consolas" pitchFamily="49" charset="0"/>
                <a:ea typeface="仿宋" pitchFamily="49" charset="-122"/>
                <a:cs typeface="Consolas" pitchFamily="49" charset="0"/>
              </a:rPr>
              <a:t>0</a:t>
            </a:r>
            <a:r>
              <a:rPr kumimoji="1" lang="zh-CN" altLang="en-US" sz="2000" dirty="0">
                <a:latin typeface="Consolas" pitchFamily="49" charset="0"/>
                <a:ea typeface="仿宋" pitchFamily="49" charset="-122"/>
                <a:cs typeface="Consolas" pitchFamily="49" charset="0"/>
              </a:rPr>
              <a:t>元素修改为另一个非</a:t>
            </a:r>
            <a:r>
              <a:rPr kumimoji="1" lang="en-US" altLang="zh-CN" sz="2000" dirty="0">
                <a:latin typeface="Consolas" pitchFamily="49" charset="0"/>
                <a:ea typeface="仿宋" pitchFamily="49" charset="-122"/>
                <a:cs typeface="Consolas" pitchFamily="49" charset="0"/>
              </a:rPr>
              <a:t>0</a:t>
            </a:r>
            <a:r>
              <a:rPr kumimoji="1" lang="zh-CN" altLang="en-US" sz="2000" dirty="0">
                <a:latin typeface="Consolas" pitchFamily="49" charset="0"/>
                <a:ea typeface="仿宋" pitchFamily="49" charset="-122"/>
                <a:cs typeface="Consolas" pitchFamily="49" charset="0"/>
              </a:rPr>
              <a:t>值，如</a:t>
            </a:r>
            <a:r>
              <a:rPr kumimoji="1" lang="en-US" altLang="zh-CN" sz="2000" dirty="0">
                <a:latin typeface="Consolas" pitchFamily="49" charset="0"/>
                <a:ea typeface="仿宋" pitchFamily="49" charset="-122"/>
                <a:cs typeface="Consolas" pitchFamily="49" charset="0"/>
              </a:rPr>
              <a:t>A[3][6]=</a:t>
            </a:r>
            <a:r>
              <a:rPr kumimoji="1" lang="en-US" altLang="zh-CN" sz="2000" dirty="0">
                <a:solidFill>
                  <a:srgbClr val="FF0000"/>
                </a:solidFill>
                <a:latin typeface="Consolas" pitchFamily="49" charset="0"/>
                <a:ea typeface="仿宋" pitchFamily="49" charset="-122"/>
                <a:cs typeface="Consolas" pitchFamily="49" charset="0"/>
              </a:rPr>
              <a:t>8</a:t>
            </a:r>
            <a:r>
              <a:rPr kumimoji="1" lang="zh-CN" altLang="en-US" sz="2000" dirty="0">
                <a:latin typeface="Consolas" pitchFamily="49" charset="0"/>
                <a:ea typeface="仿宋" pitchFamily="49" charset="-122"/>
                <a:cs typeface="Consolas" pitchFamily="49" charset="0"/>
              </a:rPr>
              <a:t>。</a:t>
            </a:r>
          </a:p>
        </p:txBody>
      </p:sp>
      <p:grpSp>
        <p:nvGrpSpPr>
          <p:cNvPr id="8" name="Group 4">
            <a:extLst>
              <a:ext uri="{FF2B5EF4-FFF2-40B4-BE49-F238E27FC236}">
                <a16:creationId xmlns:a16="http://schemas.microsoft.com/office/drawing/2014/main" id="{49B23738-999C-82E2-33B1-85E448DBE749}"/>
              </a:ext>
            </a:extLst>
          </p:cNvPr>
          <p:cNvGrpSpPr>
            <a:grpSpLocks/>
          </p:cNvGrpSpPr>
          <p:nvPr/>
        </p:nvGrpSpPr>
        <p:grpSpPr bwMode="auto">
          <a:xfrm>
            <a:off x="1155549" y="3488603"/>
            <a:ext cx="5745475" cy="2247131"/>
            <a:chOff x="532" y="2448"/>
            <a:chExt cx="3651" cy="1444"/>
          </a:xfrm>
        </p:grpSpPr>
        <p:sp>
          <p:nvSpPr>
            <p:cNvPr id="9" name="AutoShape 5">
              <a:extLst>
                <a:ext uri="{FF2B5EF4-FFF2-40B4-BE49-F238E27FC236}">
                  <a16:creationId xmlns:a16="http://schemas.microsoft.com/office/drawing/2014/main" id="{CB73F5D6-890E-7277-A25F-0AD8552B20EC}"/>
                </a:ext>
              </a:extLst>
            </p:cNvPr>
            <p:cNvSpPr>
              <a:spLocks/>
            </p:cNvSpPr>
            <p:nvPr/>
          </p:nvSpPr>
          <p:spPr bwMode="auto">
            <a:xfrm>
              <a:off x="1008" y="2496"/>
              <a:ext cx="96" cy="1333"/>
            </a:xfrm>
            <a:prstGeom prst="lef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AutoShape 6">
              <a:extLst>
                <a:ext uri="{FF2B5EF4-FFF2-40B4-BE49-F238E27FC236}">
                  <a16:creationId xmlns:a16="http://schemas.microsoft.com/office/drawing/2014/main" id="{3159FC2F-DBA6-889D-69EE-176E2359201E}"/>
                </a:ext>
              </a:extLst>
            </p:cNvPr>
            <p:cNvSpPr>
              <a:spLocks/>
            </p:cNvSpPr>
            <p:nvPr/>
          </p:nvSpPr>
          <p:spPr bwMode="auto">
            <a:xfrm>
              <a:off x="3908" y="2457"/>
              <a:ext cx="96" cy="1372"/>
            </a:xfrm>
            <a:prstGeom prst="righ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Text Box 7">
              <a:extLst>
                <a:ext uri="{FF2B5EF4-FFF2-40B4-BE49-F238E27FC236}">
                  <a16:creationId xmlns:a16="http://schemas.microsoft.com/office/drawing/2014/main" id="{DEB3AC65-0AC8-4364-21C2-95EEB41B064A}"/>
                </a:ext>
              </a:extLst>
            </p:cNvPr>
            <p:cNvSpPr txBox="1">
              <a:spLocks noChangeArrowheads="1"/>
            </p:cNvSpPr>
            <p:nvPr/>
          </p:nvSpPr>
          <p:spPr bwMode="auto">
            <a:xfrm flipH="1">
              <a:off x="532" y="3021"/>
              <a:ext cx="48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400" dirty="0">
                  <a:latin typeface="Times New Roman" pitchFamily="18" charset="0"/>
                  <a:ea typeface="楷体_GB2312" pitchFamily="49" charset="-122"/>
                </a:rPr>
                <a:t>A=</a:t>
              </a:r>
            </a:p>
          </p:txBody>
        </p:sp>
        <p:sp>
          <p:nvSpPr>
            <p:cNvPr id="12" name="Text Box 8">
              <a:extLst>
                <a:ext uri="{FF2B5EF4-FFF2-40B4-BE49-F238E27FC236}">
                  <a16:creationId xmlns:a16="http://schemas.microsoft.com/office/drawing/2014/main" id="{6D4CE1CB-2208-49A3-9D99-5F8A4F38CCC8}"/>
                </a:ext>
              </a:extLst>
            </p:cNvPr>
            <p:cNvSpPr txBox="1">
              <a:spLocks noChangeArrowheads="1"/>
            </p:cNvSpPr>
            <p:nvPr/>
          </p:nvSpPr>
          <p:spPr bwMode="auto">
            <a:xfrm>
              <a:off x="1104" y="2448"/>
              <a:ext cx="3079" cy="1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buClr>
                  <a:schemeClr val="folHlink"/>
                </a:buClr>
                <a:buSzPct val="60000"/>
                <a:buFont typeface="Wingdings" pitchFamily="2" charset="2"/>
                <a:buNone/>
              </a:pPr>
              <a:r>
                <a:rPr kumimoji="1" lang="zh-CN" altLang="en-US" sz="2000" dirty="0">
                  <a:latin typeface="楷体_GB2312" pitchFamily="49" charset="-122"/>
                  <a:ea typeface="楷体_GB2312" pitchFamily="49" charset="-122"/>
                </a:rPr>
                <a:t> </a:t>
              </a:r>
              <a:r>
                <a:rPr kumimoji="1" lang="en-US" altLang="zh-CN" sz="2000" b="1" dirty="0">
                  <a:latin typeface="宋体" pitchFamily="2" charset="-122"/>
                </a:rPr>
                <a:t>0   12    9    0    0    0    0 </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0    0    0    0    0    0    0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-3    0    0    0    0   </a:t>
              </a:r>
              <a:r>
                <a:rPr kumimoji="1" lang="en-US" altLang="zh-CN" sz="2000" b="1" dirty="0">
                  <a:solidFill>
                    <a:srgbClr val="FF0000"/>
                  </a:solidFill>
                  <a:latin typeface="宋体" pitchFamily="2" charset="-122"/>
                </a:rPr>
                <a:t>14</a:t>
              </a:r>
              <a:r>
                <a:rPr kumimoji="1" lang="en-US" altLang="zh-CN" sz="2000" b="1" dirty="0">
                  <a:latin typeface="宋体" pitchFamily="2" charset="-122"/>
                </a:rPr>
                <a:t>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0    0   24    0    0    0    0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0   18    0    0    0    0    0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15    0    0   –7   0    0    0</a:t>
              </a:r>
            </a:p>
          </p:txBody>
        </p:sp>
      </p:grpSp>
    </p:spTree>
    <p:extLst>
      <p:ext uri="{BB962C8B-B14F-4D97-AF65-F5344CB8AC3E}">
        <p14:creationId xmlns:p14="http://schemas.microsoft.com/office/powerpoint/2010/main" val="10577919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60CF5-5839-1027-53EC-95C10C0A2AE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18D7528-313B-1902-B317-21C2960EB989}"/>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63F86594-F69C-C688-A239-5CC1F23003F1}"/>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50F811C0-C3A4-979D-1081-9FE9D155CB2D}"/>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graphicFrame>
        <p:nvGraphicFramePr>
          <p:cNvPr id="14" name="表格 13">
            <a:extLst>
              <a:ext uri="{FF2B5EF4-FFF2-40B4-BE49-F238E27FC236}">
                <a16:creationId xmlns:a16="http://schemas.microsoft.com/office/drawing/2014/main" id="{BE579531-9479-73E1-D385-65AB393535BC}"/>
              </a:ext>
            </a:extLst>
          </p:cNvPr>
          <p:cNvGraphicFramePr>
            <a:graphicFrameLocks noGrp="1"/>
          </p:cNvGraphicFramePr>
          <p:nvPr>
            <p:extLst>
              <p:ext uri="{D42A27DB-BD31-4B8C-83A1-F6EECF244321}">
                <p14:modId xmlns:p14="http://schemas.microsoft.com/office/powerpoint/2010/main" val="3255733762"/>
              </p:ext>
            </p:extLst>
          </p:nvPr>
        </p:nvGraphicFramePr>
        <p:xfrm>
          <a:off x="7937848" y="1942366"/>
          <a:ext cx="2133600" cy="4015295"/>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0609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0"/>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1"/>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2"/>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rgbClr val="FF0000"/>
                          </a:solidFill>
                          <a:latin typeface="宋体" pitchFamily="2" charset="-122"/>
                          <a:ea typeface="宋体" pitchFamily="2" charset="-122"/>
                          <a:cs typeface="+mn-cs"/>
                        </a:rPr>
                        <a:t>8</a:t>
                      </a:r>
                      <a:endParaRPr kumimoji="1" lang="zh-CN" sz="2000" b="1" kern="1200" dirty="0">
                        <a:solidFill>
                          <a:srgbClr val="FF0000"/>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3"/>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4"/>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5</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5"/>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6"/>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7"/>
                  </a:ext>
                </a:extLst>
              </a:tr>
              <a:tr h="352396">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52396">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437640">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15" name="表格 14">
            <a:extLst>
              <a:ext uri="{FF2B5EF4-FFF2-40B4-BE49-F238E27FC236}">
                <a16:creationId xmlns:a16="http://schemas.microsoft.com/office/drawing/2014/main" id="{5EEF5FA4-AC42-B9A3-04E6-CC0B5AC10F36}"/>
              </a:ext>
            </a:extLst>
          </p:cNvPr>
          <p:cNvGraphicFramePr>
            <a:graphicFrameLocks noGrp="1"/>
          </p:cNvGraphicFramePr>
          <p:nvPr/>
        </p:nvGraphicFramePr>
        <p:xfrm>
          <a:off x="7920431" y="1558422"/>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18" name="表格 17">
            <a:extLst>
              <a:ext uri="{FF2B5EF4-FFF2-40B4-BE49-F238E27FC236}">
                <a16:creationId xmlns:a16="http://schemas.microsoft.com/office/drawing/2014/main" id="{3E262E79-895B-ACBC-EF77-4053CAE071BA}"/>
              </a:ext>
            </a:extLst>
          </p:cNvPr>
          <p:cNvGraphicFramePr>
            <a:graphicFrameLocks noGrp="1"/>
          </p:cNvGraphicFramePr>
          <p:nvPr/>
        </p:nvGraphicFramePr>
        <p:xfrm>
          <a:off x="10199400" y="1942366"/>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22" name="Text Box 7">
            <a:extLst>
              <a:ext uri="{FF2B5EF4-FFF2-40B4-BE49-F238E27FC236}">
                <a16:creationId xmlns:a16="http://schemas.microsoft.com/office/drawing/2014/main" id="{D35AD163-72C2-2E07-77C3-55A5ECCD90B5}"/>
              </a:ext>
            </a:extLst>
          </p:cNvPr>
          <p:cNvSpPr txBox="1">
            <a:spLocks noChangeArrowheads="1"/>
          </p:cNvSpPr>
          <p:nvPr/>
        </p:nvSpPr>
        <p:spPr bwMode="auto">
          <a:xfrm flipH="1">
            <a:off x="7333397" y="1421160"/>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sp>
        <p:nvSpPr>
          <p:cNvPr id="24" name="右大括号 23">
            <a:extLst>
              <a:ext uri="{FF2B5EF4-FFF2-40B4-BE49-F238E27FC236}">
                <a16:creationId xmlns:a16="http://schemas.microsoft.com/office/drawing/2014/main" id="{EDFC5F98-F823-8F59-5973-E8A49010CBE8}"/>
              </a:ext>
            </a:extLst>
          </p:cNvPr>
          <p:cNvSpPr/>
          <p:nvPr/>
        </p:nvSpPr>
        <p:spPr>
          <a:xfrm>
            <a:off x="10064824" y="1944380"/>
            <a:ext cx="216024" cy="2861156"/>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5" name="表格 24">
            <a:extLst>
              <a:ext uri="{FF2B5EF4-FFF2-40B4-BE49-F238E27FC236}">
                <a16:creationId xmlns:a16="http://schemas.microsoft.com/office/drawing/2014/main" id="{183688ED-52E9-6859-9C74-969F23B93E76}"/>
              </a:ext>
            </a:extLst>
          </p:cNvPr>
          <p:cNvGraphicFramePr>
            <a:graphicFrameLocks noGrp="1"/>
          </p:cNvGraphicFramePr>
          <p:nvPr/>
        </p:nvGraphicFramePr>
        <p:xfrm>
          <a:off x="7486454" y="2035181"/>
          <a:ext cx="345440" cy="2842360"/>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0</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sp>
        <p:nvSpPr>
          <p:cNvPr id="2" name="Text Box 2">
            <a:extLst>
              <a:ext uri="{FF2B5EF4-FFF2-40B4-BE49-F238E27FC236}">
                <a16:creationId xmlns:a16="http://schemas.microsoft.com/office/drawing/2014/main" id="{DF708286-C4C8-3B2E-DEB5-13512A1EFD1E}"/>
              </a:ext>
            </a:extLst>
          </p:cNvPr>
          <p:cNvSpPr txBox="1">
            <a:spLocks noChangeArrowheads="1"/>
          </p:cNvSpPr>
          <p:nvPr/>
        </p:nvSpPr>
        <p:spPr bwMode="auto">
          <a:xfrm>
            <a:off x="902779" y="1942366"/>
            <a:ext cx="6423196" cy="1231106"/>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2</a:t>
            </a:r>
            <a:r>
              <a:rPr kumimoji="1" lang="zh-CN" altLang="en-US" sz="2000" dirty="0">
                <a:latin typeface="Consolas" pitchFamily="49" charset="0"/>
                <a:ea typeface="微软雅黑" pitchFamily="34" charset="-122"/>
                <a:cs typeface="Consolas" pitchFamily="49" charset="0"/>
              </a:rPr>
              <a:t>）三元组元素赋值：</a:t>
            </a:r>
            <a:r>
              <a:rPr kumimoji="1" lang="en-US" altLang="zh-CN" sz="2000" i="1" dirty="0">
                <a:latin typeface="Consolas" pitchFamily="49" charset="0"/>
                <a:ea typeface="微软雅黑" pitchFamily="34" charset="-122"/>
                <a:cs typeface="Consolas" pitchFamily="49" charset="0"/>
              </a:rPr>
              <a:t>A</a:t>
            </a:r>
            <a:r>
              <a:rPr kumimoji="1" lang="en-US" altLang="zh-CN" sz="2000" dirty="0">
                <a:latin typeface="Consolas" pitchFamily="49" charset="0"/>
                <a:ea typeface="微软雅黑" pitchFamily="34" charset="-122"/>
                <a:cs typeface="Consolas" pitchFamily="49" charset="0"/>
              </a:rPr>
              <a:t>[</a:t>
            </a:r>
            <a:r>
              <a:rPr kumimoji="1" lang="en-US" altLang="zh-CN" sz="2000" i="1" dirty="0" err="1">
                <a:latin typeface="Consolas" pitchFamily="49" charset="0"/>
                <a:ea typeface="微软雅黑" pitchFamily="34" charset="-122"/>
                <a:cs typeface="Consolas" pitchFamily="49" charset="0"/>
              </a:rPr>
              <a:t>i</a:t>
            </a:r>
            <a:r>
              <a:rPr kumimoji="1" lang="en-US" altLang="zh-CN" sz="2000" dirty="0">
                <a:latin typeface="Consolas" pitchFamily="49" charset="0"/>
                <a:ea typeface="微软雅黑" pitchFamily="34" charset="-122"/>
                <a:cs typeface="Consolas" pitchFamily="49" charset="0"/>
              </a:rPr>
              <a:t>][</a:t>
            </a:r>
            <a:r>
              <a:rPr kumimoji="1" lang="en-US" altLang="zh-CN" sz="2000" i="1" dirty="0">
                <a:latin typeface="Consolas" pitchFamily="49" charset="0"/>
                <a:ea typeface="微软雅黑" pitchFamily="34" charset="-122"/>
                <a:cs typeface="Consolas" pitchFamily="49" charset="0"/>
              </a:rPr>
              <a:t>j</a:t>
            </a:r>
            <a:r>
              <a:rPr kumimoji="1" lang="en-US" altLang="zh-CN" sz="2000" dirty="0">
                <a:latin typeface="Consolas" pitchFamily="49" charset="0"/>
                <a:ea typeface="微软雅黑" pitchFamily="34" charset="-122"/>
                <a:cs typeface="Consolas" pitchFamily="49" charset="0"/>
              </a:rPr>
              <a:t>]=</a:t>
            </a:r>
            <a:r>
              <a:rPr kumimoji="1" lang="en-US" altLang="zh-CN" sz="2000" i="1" dirty="0">
                <a:latin typeface="Consolas" pitchFamily="49" charset="0"/>
                <a:ea typeface="微软雅黑" pitchFamily="34" charset="-122"/>
                <a:cs typeface="Consolas" pitchFamily="49" charset="0"/>
              </a:rPr>
              <a:t>x</a:t>
            </a:r>
            <a:r>
              <a:rPr kumimoji="1" lang="en-US" altLang="zh-CN" sz="2000" dirty="0">
                <a:latin typeface="Consolas" pitchFamily="49" charset="0"/>
                <a:ea typeface="微软雅黑" pitchFamily="34" charset="-122"/>
                <a:cs typeface="Consolas" pitchFamily="49" charset="0"/>
              </a:rPr>
              <a:t> </a:t>
            </a:r>
            <a:endParaRPr kumimoji="1" lang="zh-CN" altLang="en-US" sz="2000" dirty="0">
              <a:latin typeface="Consolas" pitchFamily="49" charset="0"/>
              <a:ea typeface="微软雅黑" pitchFamily="34" charset="-122"/>
              <a:cs typeface="Consolas" pitchFamily="49" charset="0"/>
            </a:endParaRPr>
          </a:p>
          <a:p>
            <a:pPr algn="just">
              <a:lnSpc>
                <a:spcPct val="90000"/>
              </a:lnSpc>
              <a:spcBef>
                <a:spcPct val="50000"/>
              </a:spcBef>
            </a:pPr>
            <a:r>
              <a:rPr kumimoji="1" lang="zh-CN" altLang="en-US" sz="2000" dirty="0">
                <a:latin typeface="Consolas" pitchFamily="49" charset="0"/>
                <a:ea typeface="仿宋" pitchFamily="49" charset="-122"/>
                <a:cs typeface="Consolas" pitchFamily="49" charset="0"/>
              </a:rPr>
              <a:t>分为两种情况：</a:t>
            </a:r>
            <a:endParaRPr kumimoji="1" lang="en-US" altLang="zh-CN" sz="2000" dirty="0">
              <a:latin typeface="Consolas" pitchFamily="49" charset="0"/>
              <a:ea typeface="仿宋" pitchFamily="49" charset="-122"/>
              <a:cs typeface="Consolas" pitchFamily="49" charset="0"/>
            </a:endParaRPr>
          </a:p>
          <a:p>
            <a:pPr algn="just">
              <a:lnSpc>
                <a:spcPct val="90000"/>
              </a:lnSpc>
              <a:spcBef>
                <a:spcPct val="50000"/>
              </a:spcBef>
            </a:pPr>
            <a:r>
              <a:rPr kumimoji="1" lang="zh-CN" altLang="en-US" sz="2000" dirty="0">
                <a:latin typeface="Consolas" pitchFamily="49" charset="0"/>
                <a:ea typeface="仿宋" pitchFamily="49" charset="-122"/>
                <a:cs typeface="Consolas" pitchFamily="49" charset="0"/>
              </a:rPr>
              <a:t>①将一个非</a:t>
            </a:r>
            <a:r>
              <a:rPr kumimoji="1" lang="en-US" altLang="zh-CN" sz="2000" dirty="0">
                <a:latin typeface="Consolas" pitchFamily="49" charset="0"/>
                <a:ea typeface="仿宋" pitchFamily="49" charset="-122"/>
                <a:cs typeface="Consolas" pitchFamily="49" charset="0"/>
              </a:rPr>
              <a:t>0</a:t>
            </a:r>
            <a:r>
              <a:rPr kumimoji="1" lang="zh-CN" altLang="en-US" sz="2000" dirty="0">
                <a:latin typeface="Consolas" pitchFamily="49" charset="0"/>
                <a:ea typeface="仿宋" pitchFamily="49" charset="-122"/>
                <a:cs typeface="Consolas" pitchFamily="49" charset="0"/>
              </a:rPr>
              <a:t>元素修改为另一个非</a:t>
            </a:r>
            <a:r>
              <a:rPr kumimoji="1" lang="en-US" altLang="zh-CN" sz="2000" dirty="0">
                <a:latin typeface="Consolas" pitchFamily="49" charset="0"/>
                <a:ea typeface="仿宋" pitchFamily="49" charset="-122"/>
                <a:cs typeface="Consolas" pitchFamily="49" charset="0"/>
              </a:rPr>
              <a:t>0</a:t>
            </a:r>
            <a:r>
              <a:rPr kumimoji="1" lang="zh-CN" altLang="en-US" sz="2000" dirty="0">
                <a:latin typeface="Consolas" pitchFamily="49" charset="0"/>
                <a:ea typeface="仿宋" pitchFamily="49" charset="-122"/>
                <a:cs typeface="Consolas" pitchFamily="49" charset="0"/>
              </a:rPr>
              <a:t>值，如</a:t>
            </a:r>
            <a:r>
              <a:rPr kumimoji="1" lang="en-US" altLang="zh-CN" sz="2000" dirty="0">
                <a:latin typeface="Consolas" pitchFamily="49" charset="0"/>
                <a:ea typeface="仿宋" pitchFamily="49" charset="-122"/>
                <a:cs typeface="Consolas" pitchFamily="49" charset="0"/>
              </a:rPr>
              <a:t>A[3][6]=</a:t>
            </a:r>
            <a:r>
              <a:rPr kumimoji="1" lang="en-US" altLang="zh-CN" sz="2000" dirty="0">
                <a:solidFill>
                  <a:srgbClr val="FF0000"/>
                </a:solidFill>
                <a:latin typeface="Consolas" pitchFamily="49" charset="0"/>
                <a:ea typeface="仿宋" pitchFamily="49" charset="-122"/>
                <a:cs typeface="Consolas" pitchFamily="49" charset="0"/>
              </a:rPr>
              <a:t>8</a:t>
            </a:r>
            <a:r>
              <a:rPr kumimoji="1" lang="zh-CN" altLang="en-US" sz="2000" dirty="0">
                <a:latin typeface="Consolas" pitchFamily="49" charset="0"/>
                <a:ea typeface="仿宋" pitchFamily="49" charset="-122"/>
                <a:cs typeface="Consolas" pitchFamily="49" charset="0"/>
              </a:rPr>
              <a:t>。</a:t>
            </a:r>
          </a:p>
        </p:txBody>
      </p:sp>
      <p:grpSp>
        <p:nvGrpSpPr>
          <p:cNvPr id="8" name="Group 4">
            <a:extLst>
              <a:ext uri="{FF2B5EF4-FFF2-40B4-BE49-F238E27FC236}">
                <a16:creationId xmlns:a16="http://schemas.microsoft.com/office/drawing/2014/main" id="{6EEBA4CB-3316-E334-CB79-359A15ECB40B}"/>
              </a:ext>
            </a:extLst>
          </p:cNvPr>
          <p:cNvGrpSpPr>
            <a:grpSpLocks/>
          </p:cNvGrpSpPr>
          <p:nvPr/>
        </p:nvGrpSpPr>
        <p:grpSpPr bwMode="auto">
          <a:xfrm>
            <a:off x="1155549" y="3488603"/>
            <a:ext cx="5745475" cy="2247131"/>
            <a:chOff x="532" y="2448"/>
            <a:chExt cx="3651" cy="1444"/>
          </a:xfrm>
        </p:grpSpPr>
        <p:sp>
          <p:nvSpPr>
            <p:cNvPr id="9" name="AutoShape 5">
              <a:extLst>
                <a:ext uri="{FF2B5EF4-FFF2-40B4-BE49-F238E27FC236}">
                  <a16:creationId xmlns:a16="http://schemas.microsoft.com/office/drawing/2014/main" id="{9F8176A7-4D0C-1376-FF72-E58B5BF69A91}"/>
                </a:ext>
              </a:extLst>
            </p:cNvPr>
            <p:cNvSpPr>
              <a:spLocks/>
            </p:cNvSpPr>
            <p:nvPr/>
          </p:nvSpPr>
          <p:spPr bwMode="auto">
            <a:xfrm>
              <a:off x="1008" y="2496"/>
              <a:ext cx="96" cy="1333"/>
            </a:xfrm>
            <a:prstGeom prst="lef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AutoShape 6">
              <a:extLst>
                <a:ext uri="{FF2B5EF4-FFF2-40B4-BE49-F238E27FC236}">
                  <a16:creationId xmlns:a16="http://schemas.microsoft.com/office/drawing/2014/main" id="{DDDC4532-FC76-B532-B93D-C6F5D33BD2DA}"/>
                </a:ext>
              </a:extLst>
            </p:cNvPr>
            <p:cNvSpPr>
              <a:spLocks/>
            </p:cNvSpPr>
            <p:nvPr/>
          </p:nvSpPr>
          <p:spPr bwMode="auto">
            <a:xfrm>
              <a:off x="3908" y="2457"/>
              <a:ext cx="96" cy="1372"/>
            </a:xfrm>
            <a:prstGeom prst="righ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Text Box 7">
              <a:extLst>
                <a:ext uri="{FF2B5EF4-FFF2-40B4-BE49-F238E27FC236}">
                  <a16:creationId xmlns:a16="http://schemas.microsoft.com/office/drawing/2014/main" id="{0B512F68-2C40-8817-EDF2-65034AAEB3AC}"/>
                </a:ext>
              </a:extLst>
            </p:cNvPr>
            <p:cNvSpPr txBox="1">
              <a:spLocks noChangeArrowheads="1"/>
            </p:cNvSpPr>
            <p:nvPr/>
          </p:nvSpPr>
          <p:spPr bwMode="auto">
            <a:xfrm flipH="1">
              <a:off x="532" y="3021"/>
              <a:ext cx="48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400" dirty="0">
                  <a:latin typeface="Times New Roman" pitchFamily="18" charset="0"/>
                  <a:ea typeface="楷体_GB2312" pitchFamily="49" charset="-122"/>
                </a:rPr>
                <a:t>A=</a:t>
              </a:r>
            </a:p>
          </p:txBody>
        </p:sp>
        <p:sp>
          <p:nvSpPr>
            <p:cNvPr id="12" name="Text Box 8">
              <a:extLst>
                <a:ext uri="{FF2B5EF4-FFF2-40B4-BE49-F238E27FC236}">
                  <a16:creationId xmlns:a16="http://schemas.microsoft.com/office/drawing/2014/main" id="{32DF599C-E90F-0901-77DC-39A6F146263A}"/>
                </a:ext>
              </a:extLst>
            </p:cNvPr>
            <p:cNvSpPr txBox="1">
              <a:spLocks noChangeArrowheads="1"/>
            </p:cNvSpPr>
            <p:nvPr/>
          </p:nvSpPr>
          <p:spPr bwMode="auto">
            <a:xfrm>
              <a:off x="1104" y="2448"/>
              <a:ext cx="3079" cy="1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buClr>
                  <a:schemeClr val="folHlink"/>
                </a:buClr>
                <a:buSzPct val="60000"/>
                <a:buFont typeface="Wingdings" pitchFamily="2" charset="2"/>
                <a:buNone/>
              </a:pPr>
              <a:r>
                <a:rPr kumimoji="1" lang="zh-CN" altLang="en-US" sz="2000" dirty="0">
                  <a:latin typeface="楷体_GB2312" pitchFamily="49" charset="-122"/>
                  <a:ea typeface="楷体_GB2312" pitchFamily="49" charset="-122"/>
                </a:rPr>
                <a:t> </a:t>
              </a:r>
              <a:r>
                <a:rPr kumimoji="1" lang="en-US" altLang="zh-CN" sz="2000" b="1" dirty="0">
                  <a:latin typeface="宋体" pitchFamily="2" charset="-122"/>
                </a:rPr>
                <a:t>0   12    9    0    0    0    0 </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0    0    0    0    0    0    0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-3    0    0    0    0    </a:t>
              </a:r>
              <a:r>
                <a:rPr kumimoji="1" lang="en-US" altLang="zh-CN" sz="2000" b="1" dirty="0">
                  <a:solidFill>
                    <a:srgbClr val="FF0000"/>
                  </a:solidFill>
                  <a:latin typeface="宋体" pitchFamily="2" charset="-122"/>
                </a:rPr>
                <a:t>8</a:t>
              </a:r>
              <a:r>
                <a:rPr kumimoji="1" lang="en-US" altLang="zh-CN" sz="2000" b="1" dirty="0">
                  <a:latin typeface="宋体" pitchFamily="2" charset="-122"/>
                </a:rPr>
                <a:t>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0    0   24    0    0    0    0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0   18    0    0    0    0    0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15    0    0   –7   0    0    0</a:t>
              </a:r>
            </a:p>
          </p:txBody>
        </p:sp>
      </p:grpSp>
    </p:spTree>
    <p:extLst>
      <p:ext uri="{BB962C8B-B14F-4D97-AF65-F5344CB8AC3E}">
        <p14:creationId xmlns:p14="http://schemas.microsoft.com/office/powerpoint/2010/main" val="2532137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5FD3C-AE16-C948-C6F8-2ABD6B5C77B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1C389C3-776D-720D-6FEE-6ED9C9AFEFBE}"/>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403BF2B6-0061-355C-1027-6D9E437ECC5F}"/>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511F17C6-377F-3AA5-0241-5C0C388114F4}"/>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graphicFrame>
        <p:nvGraphicFramePr>
          <p:cNvPr id="14" name="表格 13">
            <a:extLst>
              <a:ext uri="{FF2B5EF4-FFF2-40B4-BE49-F238E27FC236}">
                <a16:creationId xmlns:a16="http://schemas.microsoft.com/office/drawing/2014/main" id="{8E498D9E-8F88-7AB0-EC15-89B76F3905E2}"/>
              </a:ext>
            </a:extLst>
          </p:cNvPr>
          <p:cNvGraphicFramePr>
            <a:graphicFrameLocks noGrp="1"/>
          </p:cNvGraphicFramePr>
          <p:nvPr>
            <p:extLst>
              <p:ext uri="{D42A27DB-BD31-4B8C-83A1-F6EECF244321}">
                <p14:modId xmlns:p14="http://schemas.microsoft.com/office/powerpoint/2010/main" val="3175097864"/>
              </p:ext>
            </p:extLst>
          </p:nvPr>
        </p:nvGraphicFramePr>
        <p:xfrm>
          <a:off x="7937848" y="1942366"/>
          <a:ext cx="2133600" cy="4015295"/>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0609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0"/>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1"/>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2"/>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3"/>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4"/>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5</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5"/>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6"/>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7"/>
                  </a:ext>
                </a:extLst>
              </a:tr>
              <a:tr h="352396">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52396">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437640">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15" name="表格 14">
            <a:extLst>
              <a:ext uri="{FF2B5EF4-FFF2-40B4-BE49-F238E27FC236}">
                <a16:creationId xmlns:a16="http://schemas.microsoft.com/office/drawing/2014/main" id="{A3BEED51-5003-1F2D-2736-68D79629C4A6}"/>
              </a:ext>
            </a:extLst>
          </p:cNvPr>
          <p:cNvGraphicFramePr>
            <a:graphicFrameLocks noGrp="1"/>
          </p:cNvGraphicFramePr>
          <p:nvPr/>
        </p:nvGraphicFramePr>
        <p:xfrm>
          <a:off x="7920431" y="1558422"/>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18" name="表格 17">
            <a:extLst>
              <a:ext uri="{FF2B5EF4-FFF2-40B4-BE49-F238E27FC236}">
                <a16:creationId xmlns:a16="http://schemas.microsoft.com/office/drawing/2014/main" id="{36AFBD54-9200-FEB8-D1FD-F61D7DD5BC9B}"/>
              </a:ext>
            </a:extLst>
          </p:cNvPr>
          <p:cNvGraphicFramePr>
            <a:graphicFrameLocks noGrp="1"/>
          </p:cNvGraphicFramePr>
          <p:nvPr/>
        </p:nvGraphicFramePr>
        <p:xfrm>
          <a:off x="10199400" y="1942366"/>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22" name="Text Box 7">
            <a:extLst>
              <a:ext uri="{FF2B5EF4-FFF2-40B4-BE49-F238E27FC236}">
                <a16:creationId xmlns:a16="http://schemas.microsoft.com/office/drawing/2014/main" id="{EBED642C-ABC5-8D34-4410-14DE1286EC2B}"/>
              </a:ext>
            </a:extLst>
          </p:cNvPr>
          <p:cNvSpPr txBox="1">
            <a:spLocks noChangeArrowheads="1"/>
          </p:cNvSpPr>
          <p:nvPr/>
        </p:nvSpPr>
        <p:spPr bwMode="auto">
          <a:xfrm flipH="1">
            <a:off x="7333397" y="1421160"/>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sp>
        <p:nvSpPr>
          <p:cNvPr id="24" name="右大括号 23">
            <a:extLst>
              <a:ext uri="{FF2B5EF4-FFF2-40B4-BE49-F238E27FC236}">
                <a16:creationId xmlns:a16="http://schemas.microsoft.com/office/drawing/2014/main" id="{74BDF29E-71E2-D7B6-E532-C16A6A9B0675}"/>
              </a:ext>
            </a:extLst>
          </p:cNvPr>
          <p:cNvSpPr/>
          <p:nvPr/>
        </p:nvSpPr>
        <p:spPr>
          <a:xfrm>
            <a:off x="10064824" y="1944380"/>
            <a:ext cx="216024" cy="2861156"/>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5" name="表格 24">
            <a:extLst>
              <a:ext uri="{FF2B5EF4-FFF2-40B4-BE49-F238E27FC236}">
                <a16:creationId xmlns:a16="http://schemas.microsoft.com/office/drawing/2014/main" id="{ED6A8678-2D80-5936-83D6-FD08FD0791CE}"/>
              </a:ext>
            </a:extLst>
          </p:cNvPr>
          <p:cNvGraphicFramePr>
            <a:graphicFrameLocks noGrp="1"/>
          </p:cNvGraphicFramePr>
          <p:nvPr/>
        </p:nvGraphicFramePr>
        <p:xfrm>
          <a:off x="7486454" y="2035181"/>
          <a:ext cx="345440" cy="2842360"/>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0</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sp>
        <p:nvSpPr>
          <p:cNvPr id="2" name="Text Box 2">
            <a:extLst>
              <a:ext uri="{FF2B5EF4-FFF2-40B4-BE49-F238E27FC236}">
                <a16:creationId xmlns:a16="http://schemas.microsoft.com/office/drawing/2014/main" id="{D6F49237-2E98-4B5D-4982-DF35E0C52DF3}"/>
              </a:ext>
            </a:extLst>
          </p:cNvPr>
          <p:cNvSpPr txBox="1">
            <a:spLocks noChangeArrowheads="1"/>
          </p:cNvSpPr>
          <p:nvPr/>
        </p:nvSpPr>
        <p:spPr bwMode="auto">
          <a:xfrm>
            <a:off x="902779" y="1942366"/>
            <a:ext cx="6423196" cy="1231106"/>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2</a:t>
            </a:r>
            <a:r>
              <a:rPr kumimoji="1" lang="zh-CN" altLang="en-US" sz="2000" dirty="0">
                <a:latin typeface="Consolas" pitchFamily="49" charset="0"/>
                <a:ea typeface="微软雅黑" pitchFamily="34" charset="-122"/>
                <a:cs typeface="Consolas" pitchFamily="49" charset="0"/>
              </a:rPr>
              <a:t>）三元组元素赋值：</a:t>
            </a:r>
            <a:r>
              <a:rPr kumimoji="1" lang="en-US" altLang="zh-CN" sz="2000" i="1" dirty="0">
                <a:latin typeface="Consolas" pitchFamily="49" charset="0"/>
                <a:ea typeface="微软雅黑" pitchFamily="34" charset="-122"/>
                <a:cs typeface="Consolas" pitchFamily="49" charset="0"/>
              </a:rPr>
              <a:t>A</a:t>
            </a:r>
            <a:r>
              <a:rPr kumimoji="1" lang="en-US" altLang="zh-CN" sz="2000" dirty="0">
                <a:latin typeface="Consolas" pitchFamily="49" charset="0"/>
                <a:ea typeface="微软雅黑" pitchFamily="34" charset="-122"/>
                <a:cs typeface="Consolas" pitchFamily="49" charset="0"/>
              </a:rPr>
              <a:t>[</a:t>
            </a:r>
            <a:r>
              <a:rPr kumimoji="1" lang="en-US" altLang="zh-CN" sz="2000" i="1" dirty="0" err="1">
                <a:latin typeface="Consolas" pitchFamily="49" charset="0"/>
                <a:ea typeface="微软雅黑" pitchFamily="34" charset="-122"/>
                <a:cs typeface="Consolas" pitchFamily="49" charset="0"/>
              </a:rPr>
              <a:t>i</a:t>
            </a:r>
            <a:r>
              <a:rPr kumimoji="1" lang="en-US" altLang="zh-CN" sz="2000" dirty="0">
                <a:latin typeface="Consolas" pitchFamily="49" charset="0"/>
                <a:ea typeface="微软雅黑" pitchFamily="34" charset="-122"/>
                <a:cs typeface="Consolas" pitchFamily="49" charset="0"/>
              </a:rPr>
              <a:t>][</a:t>
            </a:r>
            <a:r>
              <a:rPr kumimoji="1" lang="en-US" altLang="zh-CN" sz="2000" i="1" dirty="0">
                <a:latin typeface="Consolas" pitchFamily="49" charset="0"/>
                <a:ea typeface="微软雅黑" pitchFamily="34" charset="-122"/>
                <a:cs typeface="Consolas" pitchFamily="49" charset="0"/>
              </a:rPr>
              <a:t>j</a:t>
            </a:r>
            <a:r>
              <a:rPr kumimoji="1" lang="en-US" altLang="zh-CN" sz="2000" dirty="0">
                <a:latin typeface="Consolas" pitchFamily="49" charset="0"/>
                <a:ea typeface="微软雅黑" pitchFamily="34" charset="-122"/>
                <a:cs typeface="Consolas" pitchFamily="49" charset="0"/>
              </a:rPr>
              <a:t>]=</a:t>
            </a:r>
            <a:r>
              <a:rPr kumimoji="1" lang="en-US" altLang="zh-CN" sz="2000" i="1" dirty="0">
                <a:latin typeface="Consolas" pitchFamily="49" charset="0"/>
                <a:ea typeface="微软雅黑" pitchFamily="34" charset="-122"/>
                <a:cs typeface="Consolas" pitchFamily="49" charset="0"/>
              </a:rPr>
              <a:t>x</a:t>
            </a:r>
            <a:r>
              <a:rPr kumimoji="1" lang="en-US" altLang="zh-CN" sz="2000" dirty="0">
                <a:latin typeface="Consolas" pitchFamily="49" charset="0"/>
                <a:ea typeface="微软雅黑" pitchFamily="34" charset="-122"/>
                <a:cs typeface="Consolas" pitchFamily="49" charset="0"/>
              </a:rPr>
              <a:t> </a:t>
            </a:r>
            <a:endParaRPr kumimoji="1" lang="zh-CN" altLang="en-US" sz="2000" dirty="0">
              <a:latin typeface="Consolas" pitchFamily="49" charset="0"/>
              <a:ea typeface="微软雅黑" pitchFamily="34" charset="-122"/>
              <a:cs typeface="Consolas" pitchFamily="49" charset="0"/>
            </a:endParaRPr>
          </a:p>
          <a:p>
            <a:pPr algn="just">
              <a:lnSpc>
                <a:spcPct val="90000"/>
              </a:lnSpc>
              <a:spcBef>
                <a:spcPct val="50000"/>
              </a:spcBef>
            </a:pPr>
            <a:r>
              <a:rPr kumimoji="1" lang="zh-CN" altLang="en-US" sz="2000" dirty="0">
                <a:latin typeface="Consolas" pitchFamily="49" charset="0"/>
                <a:ea typeface="仿宋" pitchFamily="49" charset="-122"/>
                <a:cs typeface="Consolas" pitchFamily="49" charset="0"/>
              </a:rPr>
              <a:t>分为两种情况：</a:t>
            </a:r>
            <a:endParaRPr kumimoji="1" lang="en-US" altLang="zh-CN" sz="2000" dirty="0">
              <a:latin typeface="Consolas" pitchFamily="49" charset="0"/>
              <a:ea typeface="仿宋" pitchFamily="49" charset="-122"/>
              <a:cs typeface="Consolas" pitchFamily="49" charset="0"/>
            </a:endParaRPr>
          </a:p>
          <a:p>
            <a:pPr algn="just">
              <a:lnSpc>
                <a:spcPct val="90000"/>
              </a:lnSpc>
              <a:spcBef>
                <a:spcPct val="50000"/>
              </a:spcBef>
            </a:pPr>
            <a:r>
              <a:rPr kumimoji="1" lang="en-US" altLang="zh-CN" sz="2000" dirty="0">
                <a:latin typeface="Consolas" pitchFamily="49" charset="0"/>
                <a:ea typeface="楷体" pitchFamily="49" charset="-122"/>
                <a:cs typeface="Consolas" pitchFamily="49" charset="0"/>
              </a:rPr>
              <a:t> ②</a:t>
            </a:r>
            <a:r>
              <a:rPr kumimoji="1" lang="zh-CN" altLang="en-US" sz="2000" dirty="0">
                <a:latin typeface="Consolas" pitchFamily="49" charset="0"/>
                <a:ea typeface="楷体" pitchFamily="49" charset="-122"/>
                <a:cs typeface="Consolas" pitchFamily="49" charset="0"/>
              </a:rPr>
              <a:t>将一个</a:t>
            </a:r>
            <a:r>
              <a:rPr kumimoji="1" lang="en-US" altLang="zh-CN" sz="2000" dirty="0">
                <a:latin typeface="Consolas" pitchFamily="49" charset="0"/>
                <a:ea typeface="楷体" pitchFamily="49" charset="-122"/>
                <a:cs typeface="Consolas" pitchFamily="49" charset="0"/>
              </a:rPr>
              <a:t>0</a:t>
            </a:r>
            <a:r>
              <a:rPr kumimoji="1" lang="zh-CN" altLang="en-US" sz="2000" dirty="0">
                <a:latin typeface="Consolas" pitchFamily="49" charset="0"/>
                <a:ea typeface="楷体" pitchFamily="49" charset="-122"/>
                <a:cs typeface="Consolas" pitchFamily="49" charset="0"/>
              </a:rPr>
              <a:t>元素修改为非</a:t>
            </a:r>
            <a:r>
              <a:rPr kumimoji="1" lang="en-US" altLang="zh-CN" sz="2000" dirty="0">
                <a:latin typeface="Consolas" pitchFamily="49" charset="0"/>
                <a:ea typeface="楷体" pitchFamily="49" charset="-122"/>
                <a:cs typeface="Consolas" pitchFamily="49" charset="0"/>
              </a:rPr>
              <a:t>0</a:t>
            </a:r>
            <a:r>
              <a:rPr kumimoji="1" lang="zh-CN" altLang="en-US" sz="2000" dirty="0">
                <a:latin typeface="Consolas" pitchFamily="49" charset="0"/>
                <a:ea typeface="楷体" pitchFamily="49" charset="-122"/>
                <a:cs typeface="Consolas" pitchFamily="49" charset="0"/>
              </a:rPr>
              <a:t>值。如</a:t>
            </a:r>
            <a:r>
              <a:rPr kumimoji="1" lang="en-US" altLang="zh-CN" sz="2000" i="1" dirty="0">
                <a:solidFill>
                  <a:srgbClr val="FF0000"/>
                </a:solidFill>
                <a:latin typeface="Consolas" pitchFamily="49" charset="0"/>
                <a:ea typeface="楷体" pitchFamily="49" charset="-122"/>
                <a:cs typeface="Consolas" pitchFamily="49" charset="0"/>
              </a:rPr>
              <a:t>A</a:t>
            </a:r>
            <a:r>
              <a:rPr kumimoji="1" lang="en-US" altLang="zh-CN" sz="2000" dirty="0">
                <a:solidFill>
                  <a:srgbClr val="FF0000"/>
                </a:solidFill>
                <a:latin typeface="Consolas" pitchFamily="49" charset="0"/>
                <a:ea typeface="楷体" pitchFamily="49" charset="-122"/>
                <a:cs typeface="Consolas" pitchFamily="49" charset="0"/>
              </a:rPr>
              <a:t>[3][5]=8</a:t>
            </a:r>
            <a:endParaRPr kumimoji="1" lang="en-US" altLang="zh-CN" sz="2000" dirty="0">
              <a:latin typeface="Consolas" pitchFamily="49" charset="0"/>
              <a:ea typeface="仿宋" pitchFamily="49" charset="-122"/>
              <a:cs typeface="Consolas" pitchFamily="49" charset="0"/>
            </a:endParaRPr>
          </a:p>
        </p:txBody>
      </p:sp>
      <p:grpSp>
        <p:nvGrpSpPr>
          <p:cNvPr id="8" name="Group 4">
            <a:extLst>
              <a:ext uri="{FF2B5EF4-FFF2-40B4-BE49-F238E27FC236}">
                <a16:creationId xmlns:a16="http://schemas.microsoft.com/office/drawing/2014/main" id="{6C1BA196-034F-7365-E8F6-569394A06D5F}"/>
              </a:ext>
            </a:extLst>
          </p:cNvPr>
          <p:cNvGrpSpPr>
            <a:grpSpLocks/>
          </p:cNvGrpSpPr>
          <p:nvPr/>
        </p:nvGrpSpPr>
        <p:grpSpPr bwMode="auto">
          <a:xfrm>
            <a:off x="1155549" y="3488603"/>
            <a:ext cx="5745475" cy="2247131"/>
            <a:chOff x="532" y="2448"/>
            <a:chExt cx="3651" cy="1444"/>
          </a:xfrm>
        </p:grpSpPr>
        <p:sp>
          <p:nvSpPr>
            <p:cNvPr id="9" name="AutoShape 5">
              <a:extLst>
                <a:ext uri="{FF2B5EF4-FFF2-40B4-BE49-F238E27FC236}">
                  <a16:creationId xmlns:a16="http://schemas.microsoft.com/office/drawing/2014/main" id="{8DD12D9D-8166-4A9A-7883-C1E630E8A2FE}"/>
                </a:ext>
              </a:extLst>
            </p:cNvPr>
            <p:cNvSpPr>
              <a:spLocks/>
            </p:cNvSpPr>
            <p:nvPr/>
          </p:nvSpPr>
          <p:spPr bwMode="auto">
            <a:xfrm>
              <a:off x="1008" y="2496"/>
              <a:ext cx="96" cy="1333"/>
            </a:xfrm>
            <a:prstGeom prst="lef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AutoShape 6">
              <a:extLst>
                <a:ext uri="{FF2B5EF4-FFF2-40B4-BE49-F238E27FC236}">
                  <a16:creationId xmlns:a16="http://schemas.microsoft.com/office/drawing/2014/main" id="{284AA170-CB1A-17D1-0714-12152ECE70A6}"/>
                </a:ext>
              </a:extLst>
            </p:cNvPr>
            <p:cNvSpPr>
              <a:spLocks/>
            </p:cNvSpPr>
            <p:nvPr/>
          </p:nvSpPr>
          <p:spPr bwMode="auto">
            <a:xfrm>
              <a:off x="3908" y="2457"/>
              <a:ext cx="96" cy="1372"/>
            </a:xfrm>
            <a:prstGeom prst="righ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Text Box 7">
              <a:extLst>
                <a:ext uri="{FF2B5EF4-FFF2-40B4-BE49-F238E27FC236}">
                  <a16:creationId xmlns:a16="http://schemas.microsoft.com/office/drawing/2014/main" id="{8EF5BF46-0DFA-7AA4-F6C1-E2B849C8ED84}"/>
                </a:ext>
              </a:extLst>
            </p:cNvPr>
            <p:cNvSpPr txBox="1">
              <a:spLocks noChangeArrowheads="1"/>
            </p:cNvSpPr>
            <p:nvPr/>
          </p:nvSpPr>
          <p:spPr bwMode="auto">
            <a:xfrm flipH="1">
              <a:off x="532" y="3021"/>
              <a:ext cx="48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400" dirty="0">
                  <a:latin typeface="Times New Roman" pitchFamily="18" charset="0"/>
                  <a:ea typeface="楷体_GB2312" pitchFamily="49" charset="-122"/>
                </a:rPr>
                <a:t>A=</a:t>
              </a:r>
            </a:p>
          </p:txBody>
        </p:sp>
        <p:sp>
          <p:nvSpPr>
            <p:cNvPr id="12" name="Text Box 8">
              <a:extLst>
                <a:ext uri="{FF2B5EF4-FFF2-40B4-BE49-F238E27FC236}">
                  <a16:creationId xmlns:a16="http://schemas.microsoft.com/office/drawing/2014/main" id="{09AA24E0-CCA3-363A-87B1-D244FC3CC772}"/>
                </a:ext>
              </a:extLst>
            </p:cNvPr>
            <p:cNvSpPr txBox="1">
              <a:spLocks noChangeArrowheads="1"/>
            </p:cNvSpPr>
            <p:nvPr/>
          </p:nvSpPr>
          <p:spPr bwMode="auto">
            <a:xfrm>
              <a:off x="1104" y="2448"/>
              <a:ext cx="3079" cy="1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buClr>
                  <a:schemeClr val="folHlink"/>
                </a:buClr>
                <a:buSzPct val="60000"/>
                <a:buFont typeface="Wingdings" pitchFamily="2" charset="2"/>
                <a:buNone/>
              </a:pPr>
              <a:r>
                <a:rPr kumimoji="1" lang="zh-CN" altLang="en-US" sz="2000" dirty="0">
                  <a:latin typeface="楷体_GB2312" pitchFamily="49" charset="-122"/>
                  <a:ea typeface="楷体_GB2312" pitchFamily="49" charset="-122"/>
                </a:rPr>
                <a:t> </a:t>
              </a:r>
              <a:r>
                <a:rPr kumimoji="1" lang="en-US" altLang="zh-CN" sz="2000" b="1" dirty="0">
                  <a:latin typeface="宋体" pitchFamily="2" charset="-122"/>
                </a:rPr>
                <a:t>0   12    9    0    0    0    0 </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0    0    0    0    0    0    0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-3    0    0    0    </a:t>
              </a:r>
              <a:r>
                <a:rPr kumimoji="1" lang="en-US" altLang="zh-CN" sz="2000" b="1" dirty="0">
                  <a:solidFill>
                    <a:srgbClr val="FF0000"/>
                  </a:solidFill>
                  <a:latin typeface="宋体" pitchFamily="2" charset="-122"/>
                </a:rPr>
                <a:t>0</a:t>
              </a:r>
              <a:r>
                <a:rPr kumimoji="1" lang="en-US" altLang="zh-CN" sz="2000" b="1" dirty="0">
                  <a:latin typeface="宋体" pitchFamily="2" charset="-122"/>
                </a:rPr>
                <a:t>   14    0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0    0   24    0    0    0    0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0   18    0    0    0    0    0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15    0    0   –7   0    0    0</a:t>
              </a:r>
            </a:p>
          </p:txBody>
        </p:sp>
      </p:grpSp>
    </p:spTree>
    <p:extLst>
      <p:ext uri="{BB962C8B-B14F-4D97-AF65-F5344CB8AC3E}">
        <p14:creationId xmlns:p14="http://schemas.microsoft.com/office/powerpoint/2010/main" val="6887444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8270F-3916-043F-4BE0-21B36C01885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9DAB7C3-F837-DE24-FA5A-CDC4A08DBFF7}"/>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3622486B-98B4-0981-B2ED-1FE8C15E18ED}"/>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ACFA3312-0257-E077-0D53-E307DE1DA55A}"/>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graphicFrame>
        <p:nvGraphicFramePr>
          <p:cNvPr id="14" name="表格 13">
            <a:extLst>
              <a:ext uri="{FF2B5EF4-FFF2-40B4-BE49-F238E27FC236}">
                <a16:creationId xmlns:a16="http://schemas.microsoft.com/office/drawing/2014/main" id="{EF8844F3-3225-ED40-154A-F12F3816B85D}"/>
              </a:ext>
            </a:extLst>
          </p:cNvPr>
          <p:cNvGraphicFramePr>
            <a:graphicFrameLocks noGrp="1"/>
          </p:cNvGraphicFramePr>
          <p:nvPr>
            <p:extLst>
              <p:ext uri="{D42A27DB-BD31-4B8C-83A1-F6EECF244321}">
                <p14:modId xmlns:p14="http://schemas.microsoft.com/office/powerpoint/2010/main" val="1288702554"/>
              </p:ext>
            </p:extLst>
          </p:nvPr>
        </p:nvGraphicFramePr>
        <p:xfrm>
          <a:off x="7937848" y="1942366"/>
          <a:ext cx="2269308" cy="4082866"/>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758734">
                  <a:extLst>
                    <a:ext uri="{9D8B030D-6E8A-4147-A177-3AD203B41FA5}">
                      <a16:colId xmlns:a16="http://schemas.microsoft.com/office/drawing/2014/main" val="20001"/>
                    </a:ext>
                  </a:extLst>
                </a:gridCol>
                <a:gridCol w="93980">
                  <a:extLst>
                    <a:ext uri="{9D8B030D-6E8A-4147-A177-3AD203B41FA5}">
                      <a16:colId xmlns:a16="http://schemas.microsoft.com/office/drawing/2014/main" val="20002"/>
                    </a:ext>
                  </a:extLst>
                </a:gridCol>
                <a:gridCol w="711200">
                  <a:extLst>
                    <a:ext uri="{9D8B030D-6E8A-4147-A177-3AD203B41FA5}">
                      <a16:colId xmlns:a16="http://schemas.microsoft.com/office/drawing/2014/main" val="263519782"/>
                    </a:ext>
                  </a:extLst>
                </a:gridCol>
              </a:tblGrid>
              <a:tr h="40609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0"/>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1"/>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2"/>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rgbClr val="FF0000"/>
                          </a:solidFill>
                          <a:latin typeface="宋体" pitchFamily="2" charset="-122"/>
                          <a:ea typeface="+mn-ea"/>
                          <a:cs typeface="+mn-cs"/>
                        </a:rPr>
                        <a:t>3</a:t>
                      </a:r>
                      <a:endParaRPr kumimoji="1" lang="zh-CN" altLang="zh-CN" sz="2000" b="1" kern="1200" dirty="0">
                        <a:solidFill>
                          <a:srgbClr val="FF0000"/>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rgbClr val="FF0000"/>
                          </a:solidFill>
                          <a:latin typeface="宋体" pitchFamily="2" charset="-122"/>
                          <a:ea typeface="宋体" pitchFamily="2" charset="-122"/>
                          <a:cs typeface="+mn-cs"/>
                        </a:rPr>
                        <a:t>5</a:t>
                      </a:r>
                      <a:endParaRPr kumimoji="1" lang="zh-CN" sz="2000" b="1" kern="1200" dirty="0">
                        <a:solidFill>
                          <a:srgbClr val="FF0000"/>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sz="2000" b="1" kern="1200" dirty="0">
                          <a:solidFill>
                            <a:srgbClr val="FF0000"/>
                          </a:solidFill>
                          <a:latin typeface="宋体" pitchFamily="2" charset="-122"/>
                          <a:ea typeface="宋体" pitchFamily="2" charset="-122"/>
                          <a:cs typeface="+mn-cs"/>
                        </a:rPr>
                        <a:t>8</a:t>
                      </a:r>
                      <a:endParaRPr kumimoji="1" lang="zh-CN" sz="2000" b="1" kern="1200" dirty="0">
                        <a:solidFill>
                          <a:srgbClr val="FF0000"/>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3"/>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3</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6</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gridSpan="2">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14</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4"/>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4</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3</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gridSpan="2">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24</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5"/>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5</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2</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gridSpan="2">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18</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6"/>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6</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7"/>
                  </a:ext>
                </a:extLst>
              </a:tr>
              <a:tr h="352396">
                <a:tc>
                  <a:txBody>
                    <a:bodyPr/>
                    <a:lstStyle/>
                    <a:p>
                      <a:pPr marL="0" marR="0" lvl="0" indent="406400" algn="ctr"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宋体" pitchFamily="2" charset="-122"/>
                          <a:cs typeface="+mn-cs"/>
                        </a:rPr>
                        <a:t>6</a:t>
                      </a:r>
                      <a:endParaRPr kumimoji="1" lang="zh-CN" altLang="zh-CN" sz="2000" b="1" kern="1200" dirty="0">
                        <a:solidFill>
                          <a:schemeClr val="tx1"/>
                        </a:solidFill>
                        <a:latin typeface="宋体" pitchFamily="2" charset="-122"/>
                        <a:ea typeface="宋体" pitchFamily="2" charset="-122"/>
                        <a:cs typeface="+mn-cs"/>
                      </a:endParaRPr>
                    </a:p>
                  </a:txBody>
                  <a:tcPr marL="0" marR="68580" marT="0" marB="0" anchor="ctr" anchorCtr="1"/>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宋体" pitchFamily="2" charset="-122"/>
                          <a:cs typeface="+mn-cs"/>
                        </a:rPr>
                        <a:t>4</a:t>
                      </a:r>
                      <a:endParaRPr kumimoji="1" lang="zh-CN" alt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a:txBody>
                    <a:bodyPr/>
                    <a:lstStyle/>
                    <a:p>
                      <a:pPr algn="just">
                        <a:lnSpc>
                          <a:spcPts val="2000"/>
                        </a:lnSpc>
                        <a:spcAft>
                          <a:spcPts val="0"/>
                        </a:spcAft>
                      </a:pPr>
                      <a:r>
                        <a:rPr kumimoji="1" lang="en-US" altLang="zh-CN" sz="2000" b="1" kern="1200" dirty="0">
                          <a:solidFill>
                            <a:schemeClr val="tx1"/>
                          </a:solidFill>
                          <a:latin typeface="宋体" pitchFamily="2" charset="-122"/>
                          <a:ea typeface="+mn-ea"/>
                          <a:cs typeface="+mn-cs"/>
                        </a:rPr>
                        <a:t>-7</a:t>
                      </a:r>
                      <a:endParaRPr kumimoji="1" lang="zh-CN" altLang="zh-CN" sz="2000" b="1" kern="1200" dirty="0">
                        <a:solidFill>
                          <a:schemeClr val="tx1"/>
                        </a:solidFill>
                        <a:latin typeface="宋体" pitchFamily="2" charset="-122"/>
                        <a:ea typeface="+mn-ea"/>
                        <a:cs typeface="+mn-cs"/>
                      </a:endParaRPr>
                    </a:p>
                  </a:txBody>
                  <a:tcPr marL="0" marR="68580" marT="0" marB="0" anchor="ctr" anchorCtr="1"/>
                </a:tc>
                <a:extLst>
                  <a:ext uri="{0D108BD9-81ED-4DB2-BD59-A6C34878D82A}">
                    <a16:rowId xmlns:a16="http://schemas.microsoft.com/office/drawing/2014/main" val="10008"/>
                  </a:ext>
                </a:extLst>
              </a:tr>
              <a:tr h="349607">
                <a:tc gridSpan="4">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sz="2000" b="1" kern="1200" dirty="0">
                          <a:solidFill>
                            <a:schemeClr val="tx1"/>
                          </a:solidFill>
                          <a:latin typeface="宋体" pitchFamily="2" charset="-122"/>
                          <a:ea typeface="宋体" pitchFamily="2" charset="-122"/>
                          <a:cs typeface="+mn-cs"/>
                        </a:rPr>
                        <a:t> </a:t>
                      </a:r>
                      <a:r>
                        <a:rPr kumimoji="1" lang="en-US" altLang="zh-CN" sz="2000" b="1" kern="1200" dirty="0">
                          <a:solidFill>
                            <a:schemeClr val="tx1"/>
                          </a:solidFill>
                          <a:latin typeface="宋体" pitchFamily="2" charset="-122"/>
                          <a:ea typeface="+mn-ea"/>
                          <a:cs typeface="+mn-cs"/>
                        </a:rPr>
                        <a:t>6</a:t>
                      </a:r>
                      <a:endParaRPr kumimoji="1" lang="zh-CN" altLang="zh-CN" sz="2000" b="1" kern="1200" dirty="0">
                        <a:solidFill>
                          <a:schemeClr val="tx1"/>
                        </a:solidFill>
                        <a:latin typeface="宋体" pitchFamily="2" charset="-122"/>
                        <a:ea typeface="+mn-ea"/>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218820">
                <a:tc gridSpan="4">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a:t>
                      </a:r>
                      <a:r>
                        <a:rPr kumimoji="1" lang="en-US" altLang="zh-CN" sz="2000" b="1" kern="1200" dirty="0">
                          <a:solidFill>
                            <a:schemeClr val="tx1"/>
                          </a:solidFill>
                          <a:latin typeface="宋体" pitchFamily="2" charset="-122"/>
                          <a:ea typeface="+mn-ea"/>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r h="218820">
                <a:tc gridSpan="4">
                  <a:txBody>
                    <a:bodyPr/>
                    <a:lstStyle/>
                    <a:p>
                      <a:pPr algn="just">
                        <a:lnSpc>
                          <a:spcPts val="2000"/>
                        </a:lnSpc>
                        <a:spcAft>
                          <a:spcPts val="0"/>
                        </a:spcAft>
                      </a:pPr>
                      <a:r>
                        <a:rPr kumimoji="1" lang="en-US" altLang="zh-CN" sz="2000" b="1" kern="1200" dirty="0">
                          <a:solidFill>
                            <a:srgbClr val="FF0000"/>
                          </a:solidFill>
                          <a:latin typeface="宋体" pitchFamily="2" charset="-122"/>
                          <a:ea typeface="+mn-ea"/>
                          <a:cs typeface="+mn-cs"/>
                        </a:rPr>
                        <a:t>9</a:t>
                      </a:r>
                      <a:endParaRPr kumimoji="1" lang="zh-CN" sz="2000" b="1" kern="1200" dirty="0">
                        <a:solidFill>
                          <a:srgbClr val="FF0000"/>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54164060"/>
                  </a:ext>
                </a:extLst>
              </a:tr>
            </a:tbl>
          </a:graphicData>
        </a:graphic>
      </p:graphicFrame>
      <p:graphicFrame>
        <p:nvGraphicFramePr>
          <p:cNvPr id="15" name="表格 14">
            <a:extLst>
              <a:ext uri="{FF2B5EF4-FFF2-40B4-BE49-F238E27FC236}">
                <a16:creationId xmlns:a16="http://schemas.microsoft.com/office/drawing/2014/main" id="{F01286FD-D30E-9A06-884B-D6D56A72D612}"/>
              </a:ext>
            </a:extLst>
          </p:cNvPr>
          <p:cNvGraphicFramePr>
            <a:graphicFrameLocks noGrp="1"/>
          </p:cNvGraphicFramePr>
          <p:nvPr/>
        </p:nvGraphicFramePr>
        <p:xfrm>
          <a:off x="7920431" y="1558422"/>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18" name="表格 17">
            <a:extLst>
              <a:ext uri="{FF2B5EF4-FFF2-40B4-BE49-F238E27FC236}">
                <a16:creationId xmlns:a16="http://schemas.microsoft.com/office/drawing/2014/main" id="{2F597592-6868-AF83-00D2-907549DFD925}"/>
              </a:ext>
            </a:extLst>
          </p:cNvPr>
          <p:cNvGraphicFramePr>
            <a:graphicFrameLocks noGrp="1"/>
          </p:cNvGraphicFramePr>
          <p:nvPr>
            <p:extLst>
              <p:ext uri="{D42A27DB-BD31-4B8C-83A1-F6EECF244321}">
                <p14:modId xmlns:p14="http://schemas.microsoft.com/office/powerpoint/2010/main" val="976654940"/>
              </p:ext>
            </p:extLst>
          </p:nvPr>
        </p:nvGraphicFramePr>
        <p:xfrm>
          <a:off x="10280848" y="1931645"/>
          <a:ext cx="801528" cy="4150928"/>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970266">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d</a:t>
                      </a:r>
                      <a:r>
                        <a:rPr kumimoji="1" lang="en-US" sz="2000" kern="1200" dirty="0">
                          <a:solidFill>
                            <a:schemeClr val="tx1"/>
                          </a:solidFill>
                          <a:latin typeface="Times New Roman" pitchFamily="18" charset="0"/>
                          <a:ea typeface="楷体_GB2312" pitchFamily="49" charset="-122"/>
                          <a:cs typeface="+mn-cs"/>
                        </a:rPr>
                        <a:t>ata</a:t>
                      </a:r>
                    </a:p>
                    <a:p>
                      <a:pPr marL="0" algn="just" defTabSz="914400" rtl="0" eaLnBrk="1" latinLnBrk="0" hangingPunct="1">
                        <a:lnSpc>
                          <a:spcPts val="2000"/>
                        </a:lnSpc>
                        <a:spcAft>
                          <a:spcPts val="0"/>
                        </a:spcAft>
                      </a:pP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73507">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73507">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33648">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22" name="Text Box 7">
            <a:extLst>
              <a:ext uri="{FF2B5EF4-FFF2-40B4-BE49-F238E27FC236}">
                <a16:creationId xmlns:a16="http://schemas.microsoft.com/office/drawing/2014/main" id="{6508CBA7-811F-A2F6-B5B9-2340ACF074E6}"/>
              </a:ext>
            </a:extLst>
          </p:cNvPr>
          <p:cNvSpPr txBox="1">
            <a:spLocks noChangeArrowheads="1"/>
          </p:cNvSpPr>
          <p:nvPr/>
        </p:nvSpPr>
        <p:spPr bwMode="auto">
          <a:xfrm flipH="1">
            <a:off x="7333397" y="1421160"/>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sp>
        <p:nvSpPr>
          <p:cNvPr id="24" name="右大括号 23">
            <a:extLst>
              <a:ext uri="{FF2B5EF4-FFF2-40B4-BE49-F238E27FC236}">
                <a16:creationId xmlns:a16="http://schemas.microsoft.com/office/drawing/2014/main" id="{3D7CDB27-C46A-4690-0484-E24715299D76}"/>
              </a:ext>
            </a:extLst>
          </p:cNvPr>
          <p:cNvSpPr/>
          <p:nvPr/>
        </p:nvSpPr>
        <p:spPr>
          <a:xfrm>
            <a:off x="10064824" y="1944379"/>
            <a:ext cx="216024" cy="3068779"/>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5" name="表格 24">
            <a:extLst>
              <a:ext uri="{FF2B5EF4-FFF2-40B4-BE49-F238E27FC236}">
                <a16:creationId xmlns:a16="http://schemas.microsoft.com/office/drawing/2014/main" id="{BA6A4899-B83D-72F9-1F86-F91BC5985C13}"/>
              </a:ext>
            </a:extLst>
          </p:cNvPr>
          <p:cNvGraphicFramePr>
            <a:graphicFrameLocks noGrp="1"/>
          </p:cNvGraphicFramePr>
          <p:nvPr>
            <p:extLst>
              <p:ext uri="{D42A27DB-BD31-4B8C-83A1-F6EECF244321}">
                <p14:modId xmlns:p14="http://schemas.microsoft.com/office/powerpoint/2010/main" val="567709619"/>
              </p:ext>
            </p:extLst>
          </p:nvPr>
        </p:nvGraphicFramePr>
        <p:xfrm>
          <a:off x="7486454" y="2035181"/>
          <a:ext cx="345440" cy="3122009"/>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70354">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0</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70354">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529531">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p>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8</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sp>
        <p:nvSpPr>
          <p:cNvPr id="2" name="Text Box 2">
            <a:extLst>
              <a:ext uri="{FF2B5EF4-FFF2-40B4-BE49-F238E27FC236}">
                <a16:creationId xmlns:a16="http://schemas.microsoft.com/office/drawing/2014/main" id="{FE4994E3-11DE-65B8-3DEB-32295F4BBB77}"/>
              </a:ext>
            </a:extLst>
          </p:cNvPr>
          <p:cNvSpPr txBox="1">
            <a:spLocks noChangeArrowheads="1"/>
          </p:cNvSpPr>
          <p:nvPr/>
        </p:nvSpPr>
        <p:spPr bwMode="auto">
          <a:xfrm>
            <a:off x="902779" y="1942366"/>
            <a:ext cx="6423196" cy="1231106"/>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2</a:t>
            </a:r>
            <a:r>
              <a:rPr kumimoji="1" lang="zh-CN" altLang="en-US" sz="2000" dirty="0">
                <a:latin typeface="Consolas" pitchFamily="49" charset="0"/>
                <a:ea typeface="微软雅黑" pitchFamily="34" charset="-122"/>
                <a:cs typeface="Consolas" pitchFamily="49" charset="0"/>
              </a:rPr>
              <a:t>）三元组元素赋值：</a:t>
            </a:r>
            <a:r>
              <a:rPr kumimoji="1" lang="en-US" altLang="zh-CN" sz="2000" i="1" dirty="0">
                <a:latin typeface="Consolas" pitchFamily="49" charset="0"/>
                <a:ea typeface="微软雅黑" pitchFamily="34" charset="-122"/>
                <a:cs typeface="Consolas" pitchFamily="49" charset="0"/>
              </a:rPr>
              <a:t>A</a:t>
            </a:r>
            <a:r>
              <a:rPr kumimoji="1" lang="en-US" altLang="zh-CN" sz="2000" dirty="0">
                <a:latin typeface="Consolas" pitchFamily="49" charset="0"/>
                <a:ea typeface="微软雅黑" pitchFamily="34" charset="-122"/>
                <a:cs typeface="Consolas" pitchFamily="49" charset="0"/>
              </a:rPr>
              <a:t>[</a:t>
            </a:r>
            <a:r>
              <a:rPr kumimoji="1" lang="en-US" altLang="zh-CN" sz="2000" i="1" dirty="0" err="1">
                <a:latin typeface="Consolas" pitchFamily="49" charset="0"/>
                <a:ea typeface="微软雅黑" pitchFamily="34" charset="-122"/>
                <a:cs typeface="Consolas" pitchFamily="49" charset="0"/>
              </a:rPr>
              <a:t>i</a:t>
            </a:r>
            <a:r>
              <a:rPr kumimoji="1" lang="en-US" altLang="zh-CN" sz="2000" dirty="0">
                <a:latin typeface="Consolas" pitchFamily="49" charset="0"/>
                <a:ea typeface="微软雅黑" pitchFamily="34" charset="-122"/>
                <a:cs typeface="Consolas" pitchFamily="49" charset="0"/>
              </a:rPr>
              <a:t>][</a:t>
            </a:r>
            <a:r>
              <a:rPr kumimoji="1" lang="en-US" altLang="zh-CN" sz="2000" i="1" dirty="0">
                <a:latin typeface="Consolas" pitchFamily="49" charset="0"/>
                <a:ea typeface="微软雅黑" pitchFamily="34" charset="-122"/>
                <a:cs typeface="Consolas" pitchFamily="49" charset="0"/>
              </a:rPr>
              <a:t>j</a:t>
            </a:r>
            <a:r>
              <a:rPr kumimoji="1" lang="en-US" altLang="zh-CN" sz="2000" dirty="0">
                <a:latin typeface="Consolas" pitchFamily="49" charset="0"/>
                <a:ea typeface="微软雅黑" pitchFamily="34" charset="-122"/>
                <a:cs typeface="Consolas" pitchFamily="49" charset="0"/>
              </a:rPr>
              <a:t>]=</a:t>
            </a:r>
            <a:r>
              <a:rPr kumimoji="1" lang="en-US" altLang="zh-CN" sz="2000" i="1" dirty="0">
                <a:latin typeface="Consolas" pitchFamily="49" charset="0"/>
                <a:ea typeface="微软雅黑" pitchFamily="34" charset="-122"/>
                <a:cs typeface="Consolas" pitchFamily="49" charset="0"/>
              </a:rPr>
              <a:t>x</a:t>
            </a:r>
            <a:r>
              <a:rPr kumimoji="1" lang="en-US" altLang="zh-CN" sz="2000" dirty="0">
                <a:latin typeface="Consolas" pitchFamily="49" charset="0"/>
                <a:ea typeface="微软雅黑" pitchFamily="34" charset="-122"/>
                <a:cs typeface="Consolas" pitchFamily="49" charset="0"/>
              </a:rPr>
              <a:t> </a:t>
            </a:r>
            <a:endParaRPr kumimoji="1" lang="zh-CN" altLang="en-US" sz="2000" dirty="0">
              <a:latin typeface="Consolas" pitchFamily="49" charset="0"/>
              <a:ea typeface="微软雅黑" pitchFamily="34" charset="-122"/>
              <a:cs typeface="Consolas" pitchFamily="49" charset="0"/>
            </a:endParaRPr>
          </a:p>
          <a:p>
            <a:pPr algn="just">
              <a:lnSpc>
                <a:spcPct val="90000"/>
              </a:lnSpc>
              <a:spcBef>
                <a:spcPct val="50000"/>
              </a:spcBef>
            </a:pPr>
            <a:r>
              <a:rPr kumimoji="1" lang="zh-CN" altLang="en-US" sz="2000" dirty="0">
                <a:latin typeface="Consolas" pitchFamily="49" charset="0"/>
                <a:ea typeface="仿宋" pitchFamily="49" charset="-122"/>
                <a:cs typeface="Consolas" pitchFamily="49" charset="0"/>
              </a:rPr>
              <a:t>分为两种情况：</a:t>
            </a:r>
            <a:endParaRPr kumimoji="1" lang="en-US" altLang="zh-CN" sz="2000" dirty="0">
              <a:latin typeface="Consolas" pitchFamily="49" charset="0"/>
              <a:ea typeface="仿宋" pitchFamily="49" charset="-122"/>
              <a:cs typeface="Consolas" pitchFamily="49" charset="0"/>
            </a:endParaRPr>
          </a:p>
          <a:p>
            <a:pPr algn="just">
              <a:lnSpc>
                <a:spcPct val="90000"/>
              </a:lnSpc>
              <a:spcBef>
                <a:spcPct val="50000"/>
              </a:spcBef>
            </a:pPr>
            <a:r>
              <a:rPr kumimoji="1" lang="en-US" altLang="zh-CN" sz="2000" dirty="0">
                <a:latin typeface="Consolas" pitchFamily="49" charset="0"/>
                <a:ea typeface="楷体" pitchFamily="49" charset="-122"/>
                <a:cs typeface="Consolas" pitchFamily="49" charset="0"/>
              </a:rPr>
              <a:t> ②</a:t>
            </a:r>
            <a:r>
              <a:rPr kumimoji="1" lang="zh-CN" altLang="en-US" sz="2000" dirty="0">
                <a:latin typeface="Consolas" pitchFamily="49" charset="0"/>
                <a:ea typeface="楷体" pitchFamily="49" charset="-122"/>
                <a:cs typeface="Consolas" pitchFamily="49" charset="0"/>
              </a:rPr>
              <a:t>将一个</a:t>
            </a:r>
            <a:r>
              <a:rPr kumimoji="1" lang="en-US" altLang="zh-CN" sz="2000" dirty="0">
                <a:latin typeface="Consolas" pitchFamily="49" charset="0"/>
                <a:ea typeface="楷体" pitchFamily="49" charset="-122"/>
                <a:cs typeface="Consolas" pitchFamily="49" charset="0"/>
              </a:rPr>
              <a:t>0</a:t>
            </a:r>
            <a:r>
              <a:rPr kumimoji="1" lang="zh-CN" altLang="en-US" sz="2000" dirty="0">
                <a:latin typeface="Consolas" pitchFamily="49" charset="0"/>
                <a:ea typeface="楷体" pitchFamily="49" charset="-122"/>
                <a:cs typeface="Consolas" pitchFamily="49" charset="0"/>
              </a:rPr>
              <a:t>元素修改为非</a:t>
            </a:r>
            <a:r>
              <a:rPr kumimoji="1" lang="en-US" altLang="zh-CN" sz="2000" dirty="0">
                <a:latin typeface="Consolas" pitchFamily="49" charset="0"/>
                <a:ea typeface="楷体" pitchFamily="49" charset="-122"/>
                <a:cs typeface="Consolas" pitchFamily="49" charset="0"/>
              </a:rPr>
              <a:t>0</a:t>
            </a:r>
            <a:r>
              <a:rPr kumimoji="1" lang="zh-CN" altLang="en-US" sz="2000" dirty="0">
                <a:latin typeface="Consolas" pitchFamily="49" charset="0"/>
                <a:ea typeface="楷体" pitchFamily="49" charset="-122"/>
                <a:cs typeface="Consolas" pitchFamily="49" charset="0"/>
              </a:rPr>
              <a:t>值。如</a:t>
            </a:r>
            <a:r>
              <a:rPr kumimoji="1" lang="en-US" altLang="zh-CN" sz="2000" i="1" dirty="0">
                <a:solidFill>
                  <a:srgbClr val="FF0000"/>
                </a:solidFill>
                <a:latin typeface="Consolas" pitchFamily="49" charset="0"/>
                <a:ea typeface="楷体" pitchFamily="49" charset="-122"/>
                <a:cs typeface="Consolas" pitchFamily="49" charset="0"/>
              </a:rPr>
              <a:t>A</a:t>
            </a:r>
            <a:r>
              <a:rPr kumimoji="1" lang="en-US" altLang="zh-CN" sz="2000" dirty="0">
                <a:solidFill>
                  <a:srgbClr val="FF0000"/>
                </a:solidFill>
                <a:latin typeface="Consolas" pitchFamily="49" charset="0"/>
                <a:ea typeface="楷体" pitchFamily="49" charset="-122"/>
                <a:cs typeface="Consolas" pitchFamily="49" charset="0"/>
              </a:rPr>
              <a:t>[3][5]=8</a:t>
            </a:r>
            <a:endParaRPr kumimoji="1" lang="en-US" altLang="zh-CN" sz="2000" dirty="0">
              <a:latin typeface="Consolas" pitchFamily="49" charset="0"/>
              <a:ea typeface="仿宋" pitchFamily="49" charset="-122"/>
              <a:cs typeface="Consolas" pitchFamily="49" charset="0"/>
            </a:endParaRPr>
          </a:p>
        </p:txBody>
      </p:sp>
      <p:grpSp>
        <p:nvGrpSpPr>
          <p:cNvPr id="8" name="Group 4">
            <a:extLst>
              <a:ext uri="{FF2B5EF4-FFF2-40B4-BE49-F238E27FC236}">
                <a16:creationId xmlns:a16="http://schemas.microsoft.com/office/drawing/2014/main" id="{9A3FF374-8F0F-5B65-F5FC-3FF804764237}"/>
              </a:ext>
            </a:extLst>
          </p:cNvPr>
          <p:cNvGrpSpPr>
            <a:grpSpLocks/>
          </p:cNvGrpSpPr>
          <p:nvPr/>
        </p:nvGrpSpPr>
        <p:grpSpPr bwMode="auto">
          <a:xfrm>
            <a:off x="1155549" y="3488603"/>
            <a:ext cx="5745475" cy="2247131"/>
            <a:chOff x="532" y="2448"/>
            <a:chExt cx="3651" cy="1444"/>
          </a:xfrm>
        </p:grpSpPr>
        <p:sp>
          <p:nvSpPr>
            <p:cNvPr id="9" name="AutoShape 5">
              <a:extLst>
                <a:ext uri="{FF2B5EF4-FFF2-40B4-BE49-F238E27FC236}">
                  <a16:creationId xmlns:a16="http://schemas.microsoft.com/office/drawing/2014/main" id="{DBC72461-0B78-C3D1-84A8-D69675BD250C}"/>
                </a:ext>
              </a:extLst>
            </p:cNvPr>
            <p:cNvSpPr>
              <a:spLocks/>
            </p:cNvSpPr>
            <p:nvPr/>
          </p:nvSpPr>
          <p:spPr bwMode="auto">
            <a:xfrm>
              <a:off x="1008" y="2496"/>
              <a:ext cx="96" cy="1333"/>
            </a:xfrm>
            <a:prstGeom prst="lef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AutoShape 6">
              <a:extLst>
                <a:ext uri="{FF2B5EF4-FFF2-40B4-BE49-F238E27FC236}">
                  <a16:creationId xmlns:a16="http://schemas.microsoft.com/office/drawing/2014/main" id="{DABD16BF-E44B-D6C3-17E1-F5980EB26637}"/>
                </a:ext>
              </a:extLst>
            </p:cNvPr>
            <p:cNvSpPr>
              <a:spLocks/>
            </p:cNvSpPr>
            <p:nvPr/>
          </p:nvSpPr>
          <p:spPr bwMode="auto">
            <a:xfrm>
              <a:off x="3908" y="2457"/>
              <a:ext cx="96" cy="1372"/>
            </a:xfrm>
            <a:prstGeom prst="righ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Text Box 7">
              <a:extLst>
                <a:ext uri="{FF2B5EF4-FFF2-40B4-BE49-F238E27FC236}">
                  <a16:creationId xmlns:a16="http://schemas.microsoft.com/office/drawing/2014/main" id="{3BEC5DA0-82F8-1199-096A-D5BEC33B7D35}"/>
                </a:ext>
              </a:extLst>
            </p:cNvPr>
            <p:cNvSpPr txBox="1">
              <a:spLocks noChangeArrowheads="1"/>
            </p:cNvSpPr>
            <p:nvPr/>
          </p:nvSpPr>
          <p:spPr bwMode="auto">
            <a:xfrm flipH="1">
              <a:off x="532" y="3021"/>
              <a:ext cx="48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400" dirty="0">
                  <a:latin typeface="Times New Roman" pitchFamily="18" charset="0"/>
                  <a:ea typeface="楷体_GB2312" pitchFamily="49" charset="-122"/>
                </a:rPr>
                <a:t>A=</a:t>
              </a:r>
            </a:p>
          </p:txBody>
        </p:sp>
        <p:sp>
          <p:nvSpPr>
            <p:cNvPr id="12" name="Text Box 8">
              <a:extLst>
                <a:ext uri="{FF2B5EF4-FFF2-40B4-BE49-F238E27FC236}">
                  <a16:creationId xmlns:a16="http://schemas.microsoft.com/office/drawing/2014/main" id="{931DC7DD-25AD-ADD9-0A21-A0E93D21C8CA}"/>
                </a:ext>
              </a:extLst>
            </p:cNvPr>
            <p:cNvSpPr txBox="1">
              <a:spLocks noChangeArrowheads="1"/>
            </p:cNvSpPr>
            <p:nvPr/>
          </p:nvSpPr>
          <p:spPr bwMode="auto">
            <a:xfrm>
              <a:off x="1104" y="2448"/>
              <a:ext cx="3079" cy="1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buClr>
                  <a:schemeClr val="folHlink"/>
                </a:buClr>
                <a:buSzPct val="60000"/>
                <a:buFont typeface="Wingdings" pitchFamily="2" charset="2"/>
                <a:buNone/>
              </a:pPr>
              <a:r>
                <a:rPr kumimoji="1" lang="zh-CN" altLang="en-US" sz="2000" dirty="0">
                  <a:latin typeface="楷体_GB2312" pitchFamily="49" charset="-122"/>
                  <a:ea typeface="楷体_GB2312" pitchFamily="49" charset="-122"/>
                </a:rPr>
                <a:t> </a:t>
              </a:r>
              <a:r>
                <a:rPr kumimoji="1" lang="en-US" altLang="zh-CN" sz="2000" b="1" dirty="0">
                  <a:latin typeface="宋体" pitchFamily="2" charset="-122"/>
                </a:rPr>
                <a:t>0   12    9    0    0    0    0 </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0    0    0    0    0    0    0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-3    0    0    0    </a:t>
              </a:r>
              <a:r>
                <a:rPr kumimoji="1" lang="en-US" altLang="zh-CN" sz="2000" b="1" dirty="0">
                  <a:solidFill>
                    <a:srgbClr val="FF0000"/>
                  </a:solidFill>
                  <a:latin typeface="宋体" pitchFamily="2" charset="-122"/>
                </a:rPr>
                <a:t>0</a:t>
              </a:r>
              <a:r>
                <a:rPr kumimoji="1" lang="en-US" altLang="zh-CN" sz="2000" b="1" dirty="0">
                  <a:latin typeface="宋体" pitchFamily="2" charset="-122"/>
                </a:rPr>
                <a:t>   14    0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0    0   24    0    0    0    0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 0   18    0    0    0    0    0</a:t>
              </a:r>
            </a:p>
            <a:p>
              <a:pPr algn="l" eaLnBrk="1" hangingPunct="1">
                <a:spcBef>
                  <a:spcPct val="20000"/>
                </a:spcBef>
                <a:buClr>
                  <a:schemeClr val="folHlink"/>
                </a:buClr>
                <a:buSzPct val="60000"/>
                <a:buFont typeface="Wingdings" pitchFamily="2" charset="2"/>
                <a:buNone/>
              </a:pPr>
              <a:r>
                <a:rPr kumimoji="1" lang="en-US" altLang="zh-CN" sz="2000" b="1" dirty="0">
                  <a:latin typeface="宋体" pitchFamily="2" charset="-122"/>
                </a:rPr>
                <a:t>15    0    0   –7   0    0    0</a:t>
              </a:r>
            </a:p>
          </p:txBody>
        </p:sp>
      </p:grpSp>
    </p:spTree>
    <p:extLst>
      <p:ext uri="{BB962C8B-B14F-4D97-AF65-F5344CB8AC3E}">
        <p14:creationId xmlns:p14="http://schemas.microsoft.com/office/powerpoint/2010/main" val="31581192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8AABF-C4BE-94F5-FDF7-6BCE9BFAC58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4B8576A-1253-D782-CE8B-880918FF0A6B}"/>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88474316-6B0E-EE2D-A86A-FBB24EAC4CE9}"/>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7E9B7170-4A00-BBEB-9FA4-C784E2E6A0FA}"/>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graphicFrame>
        <p:nvGraphicFramePr>
          <p:cNvPr id="14" name="表格 13">
            <a:extLst>
              <a:ext uri="{FF2B5EF4-FFF2-40B4-BE49-F238E27FC236}">
                <a16:creationId xmlns:a16="http://schemas.microsoft.com/office/drawing/2014/main" id="{175CF10F-AF54-EF22-A815-ED20876445A2}"/>
              </a:ext>
            </a:extLst>
          </p:cNvPr>
          <p:cNvGraphicFramePr>
            <a:graphicFrameLocks noGrp="1"/>
          </p:cNvGraphicFramePr>
          <p:nvPr>
            <p:extLst>
              <p:ext uri="{D42A27DB-BD31-4B8C-83A1-F6EECF244321}">
                <p14:modId xmlns:p14="http://schemas.microsoft.com/office/powerpoint/2010/main" val="4244975985"/>
              </p:ext>
            </p:extLst>
          </p:nvPr>
        </p:nvGraphicFramePr>
        <p:xfrm>
          <a:off x="7937848" y="1942366"/>
          <a:ext cx="2269308" cy="4082866"/>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758734">
                  <a:extLst>
                    <a:ext uri="{9D8B030D-6E8A-4147-A177-3AD203B41FA5}">
                      <a16:colId xmlns:a16="http://schemas.microsoft.com/office/drawing/2014/main" val="20001"/>
                    </a:ext>
                  </a:extLst>
                </a:gridCol>
                <a:gridCol w="93980">
                  <a:extLst>
                    <a:ext uri="{9D8B030D-6E8A-4147-A177-3AD203B41FA5}">
                      <a16:colId xmlns:a16="http://schemas.microsoft.com/office/drawing/2014/main" val="20002"/>
                    </a:ext>
                  </a:extLst>
                </a:gridCol>
                <a:gridCol w="711200">
                  <a:extLst>
                    <a:ext uri="{9D8B030D-6E8A-4147-A177-3AD203B41FA5}">
                      <a16:colId xmlns:a16="http://schemas.microsoft.com/office/drawing/2014/main" val="263519782"/>
                    </a:ext>
                  </a:extLst>
                </a:gridCol>
              </a:tblGrid>
              <a:tr h="40609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0"/>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1"/>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2"/>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rgbClr val="FF0000"/>
                          </a:solidFill>
                          <a:latin typeface="宋体" pitchFamily="2" charset="-122"/>
                          <a:ea typeface="+mn-ea"/>
                          <a:cs typeface="+mn-cs"/>
                        </a:rPr>
                        <a:t>3</a:t>
                      </a:r>
                      <a:endParaRPr kumimoji="1" lang="zh-CN" altLang="zh-CN" sz="2000" b="1" kern="1200" dirty="0">
                        <a:solidFill>
                          <a:srgbClr val="FF0000"/>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rgbClr val="FF0000"/>
                          </a:solidFill>
                          <a:latin typeface="宋体" pitchFamily="2" charset="-122"/>
                          <a:ea typeface="宋体" pitchFamily="2" charset="-122"/>
                          <a:cs typeface="+mn-cs"/>
                        </a:rPr>
                        <a:t>5</a:t>
                      </a:r>
                      <a:endParaRPr kumimoji="1" lang="zh-CN" sz="2000" b="1" kern="1200" dirty="0">
                        <a:solidFill>
                          <a:srgbClr val="FF0000"/>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sz="2000" b="1" kern="1200" dirty="0">
                          <a:solidFill>
                            <a:srgbClr val="FF0000"/>
                          </a:solidFill>
                          <a:latin typeface="宋体" pitchFamily="2" charset="-122"/>
                          <a:ea typeface="宋体" pitchFamily="2" charset="-122"/>
                          <a:cs typeface="+mn-cs"/>
                        </a:rPr>
                        <a:t>8</a:t>
                      </a:r>
                      <a:endParaRPr kumimoji="1" lang="zh-CN" sz="2000" b="1" kern="1200" dirty="0">
                        <a:solidFill>
                          <a:srgbClr val="FF0000"/>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3"/>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3</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6</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gridSpan="2">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14</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4"/>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4</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3</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gridSpan="2">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24</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5"/>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5</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2</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gridSpan="2">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18</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6"/>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6</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7"/>
                  </a:ext>
                </a:extLst>
              </a:tr>
              <a:tr h="352396">
                <a:tc>
                  <a:txBody>
                    <a:bodyPr/>
                    <a:lstStyle/>
                    <a:p>
                      <a:pPr marL="0" marR="0" lvl="0" indent="406400" algn="ctr"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宋体" pitchFamily="2" charset="-122"/>
                          <a:cs typeface="+mn-cs"/>
                        </a:rPr>
                        <a:t>6</a:t>
                      </a:r>
                      <a:endParaRPr kumimoji="1" lang="zh-CN" altLang="zh-CN" sz="2000" b="1" kern="1200" dirty="0">
                        <a:solidFill>
                          <a:schemeClr val="tx1"/>
                        </a:solidFill>
                        <a:latin typeface="宋体" pitchFamily="2" charset="-122"/>
                        <a:ea typeface="宋体" pitchFamily="2" charset="-122"/>
                        <a:cs typeface="+mn-cs"/>
                      </a:endParaRPr>
                    </a:p>
                  </a:txBody>
                  <a:tcPr marL="0" marR="68580" marT="0" marB="0" anchor="ctr" anchorCtr="1"/>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宋体" pitchFamily="2" charset="-122"/>
                          <a:cs typeface="+mn-cs"/>
                        </a:rPr>
                        <a:t>4</a:t>
                      </a:r>
                      <a:endParaRPr kumimoji="1" lang="zh-CN" alt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a:txBody>
                    <a:bodyPr/>
                    <a:lstStyle/>
                    <a:p>
                      <a:pPr algn="just">
                        <a:lnSpc>
                          <a:spcPts val="2000"/>
                        </a:lnSpc>
                        <a:spcAft>
                          <a:spcPts val="0"/>
                        </a:spcAft>
                      </a:pPr>
                      <a:r>
                        <a:rPr kumimoji="1" lang="en-US" altLang="zh-CN" sz="2000" b="1" kern="1200" dirty="0">
                          <a:solidFill>
                            <a:schemeClr val="tx1"/>
                          </a:solidFill>
                          <a:latin typeface="宋体" pitchFamily="2" charset="-122"/>
                          <a:ea typeface="+mn-ea"/>
                          <a:cs typeface="+mn-cs"/>
                        </a:rPr>
                        <a:t>-7</a:t>
                      </a:r>
                      <a:endParaRPr kumimoji="1" lang="zh-CN" altLang="zh-CN" sz="2000" b="1" kern="1200" dirty="0">
                        <a:solidFill>
                          <a:schemeClr val="tx1"/>
                        </a:solidFill>
                        <a:latin typeface="宋体" pitchFamily="2" charset="-122"/>
                        <a:ea typeface="+mn-ea"/>
                        <a:cs typeface="+mn-cs"/>
                      </a:endParaRPr>
                    </a:p>
                  </a:txBody>
                  <a:tcPr marL="0" marR="68580" marT="0" marB="0" anchor="ctr" anchorCtr="1"/>
                </a:tc>
                <a:extLst>
                  <a:ext uri="{0D108BD9-81ED-4DB2-BD59-A6C34878D82A}">
                    <a16:rowId xmlns:a16="http://schemas.microsoft.com/office/drawing/2014/main" val="10008"/>
                  </a:ext>
                </a:extLst>
              </a:tr>
              <a:tr h="349607">
                <a:tc gridSpan="4">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sz="2000" b="1" kern="1200" dirty="0">
                          <a:solidFill>
                            <a:schemeClr val="tx1"/>
                          </a:solidFill>
                          <a:latin typeface="宋体" pitchFamily="2" charset="-122"/>
                          <a:ea typeface="宋体" pitchFamily="2" charset="-122"/>
                          <a:cs typeface="+mn-cs"/>
                        </a:rPr>
                        <a:t> </a:t>
                      </a:r>
                      <a:r>
                        <a:rPr kumimoji="1" lang="en-US" altLang="zh-CN" sz="2000" b="1" kern="1200" dirty="0">
                          <a:solidFill>
                            <a:schemeClr val="tx1"/>
                          </a:solidFill>
                          <a:latin typeface="宋体" pitchFamily="2" charset="-122"/>
                          <a:ea typeface="+mn-ea"/>
                          <a:cs typeface="+mn-cs"/>
                        </a:rPr>
                        <a:t>6</a:t>
                      </a:r>
                      <a:endParaRPr kumimoji="1" lang="zh-CN" altLang="zh-CN" sz="2000" b="1" kern="1200" dirty="0">
                        <a:solidFill>
                          <a:schemeClr val="tx1"/>
                        </a:solidFill>
                        <a:latin typeface="宋体" pitchFamily="2" charset="-122"/>
                        <a:ea typeface="+mn-ea"/>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218820">
                <a:tc gridSpan="4">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a:t>
                      </a:r>
                      <a:r>
                        <a:rPr kumimoji="1" lang="en-US" altLang="zh-CN" sz="2000" b="1" kern="1200" dirty="0">
                          <a:solidFill>
                            <a:schemeClr val="tx1"/>
                          </a:solidFill>
                          <a:latin typeface="宋体" pitchFamily="2" charset="-122"/>
                          <a:ea typeface="+mn-ea"/>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r h="218820">
                <a:tc gridSpan="4">
                  <a:txBody>
                    <a:bodyPr/>
                    <a:lstStyle/>
                    <a:p>
                      <a:pPr algn="just">
                        <a:lnSpc>
                          <a:spcPts val="2000"/>
                        </a:lnSpc>
                        <a:spcAft>
                          <a:spcPts val="0"/>
                        </a:spcAft>
                      </a:pPr>
                      <a:r>
                        <a:rPr kumimoji="1" lang="en-US" altLang="zh-CN" sz="2000" b="1" kern="1200" dirty="0">
                          <a:solidFill>
                            <a:schemeClr val="tx1"/>
                          </a:solidFill>
                          <a:latin typeface="宋体" pitchFamily="2" charset="-122"/>
                          <a:ea typeface="+mn-ea"/>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54164060"/>
                  </a:ext>
                </a:extLst>
              </a:tr>
            </a:tbl>
          </a:graphicData>
        </a:graphic>
      </p:graphicFrame>
      <p:graphicFrame>
        <p:nvGraphicFramePr>
          <p:cNvPr id="15" name="表格 14">
            <a:extLst>
              <a:ext uri="{FF2B5EF4-FFF2-40B4-BE49-F238E27FC236}">
                <a16:creationId xmlns:a16="http://schemas.microsoft.com/office/drawing/2014/main" id="{94A4E2FB-06DD-020A-DE72-5492BB47B79E}"/>
              </a:ext>
            </a:extLst>
          </p:cNvPr>
          <p:cNvGraphicFramePr>
            <a:graphicFrameLocks noGrp="1"/>
          </p:cNvGraphicFramePr>
          <p:nvPr/>
        </p:nvGraphicFramePr>
        <p:xfrm>
          <a:off x="7920431" y="1558422"/>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18" name="表格 17">
            <a:extLst>
              <a:ext uri="{FF2B5EF4-FFF2-40B4-BE49-F238E27FC236}">
                <a16:creationId xmlns:a16="http://schemas.microsoft.com/office/drawing/2014/main" id="{7381D30A-B366-2F75-76DA-241C7628433B}"/>
              </a:ext>
            </a:extLst>
          </p:cNvPr>
          <p:cNvGraphicFramePr>
            <a:graphicFrameLocks noGrp="1"/>
          </p:cNvGraphicFramePr>
          <p:nvPr/>
        </p:nvGraphicFramePr>
        <p:xfrm>
          <a:off x="10280848" y="1931645"/>
          <a:ext cx="801528" cy="4150928"/>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970266">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d</a:t>
                      </a:r>
                      <a:r>
                        <a:rPr kumimoji="1" lang="en-US" sz="2000" kern="1200" dirty="0">
                          <a:solidFill>
                            <a:schemeClr val="tx1"/>
                          </a:solidFill>
                          <a:latin typeface="Times New Roman" pitchFamily="18" charset="0"/>
                          <a:ea typeface="楷体_GB2312" pitchFamily="49" charset="-122"/>
                          <a:cs typeface="+mn-cs"/>
                        </a:rPr>
                        <a:t>ata</a:t>
                      </a:r>
                    </a:p>
                    <a:p>
                      <a:pPr marL="0" algn="just" defTabSz="914400" rtl="0" eaLnBrk="1" latinLnBrk="0" hangingPunct="1">
                        <a:lnSpc>
                          <a:spcPts val="2000"/>
                        </a:lnSpc>
                        <a:spcAft>
                          <a:spcPts val="0"/>
                        </a:spcAft>
                      </a:pP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73507">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73507">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33648">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22" name="Text Box 7">
            <a:extLst>
              <a:ext uri="{FF2B5EF4-FFF2-40B4-BE49-F238E27FC236}">
                <a16:creationId xmlns:a16="http://schemas.microsoft.com/office/drawing/2014/main" id="{50F98109-50A4-756F-B58E-2BF192DD4B0D}"/>
              </a:ext>
            </a:extLst>
          </p:cNvPr>
          <p:cNvSpPr txBox="1">
            <a:spLocks noChangeArrowheads="1"/>
          </p:cNvSpPr>
          <p:nvPr/>
        </p:nvSpPr>
        <p:spPr bwMode="auto">
          <a:xfrm flipH="1">
            <a:off x="7333397" y="1421160"/>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sp>
        <p:nvSpPr>
          <p:cNvPr id="24" name="右大括号 23">
            <a:extLst>
              <a:ext uri="{FF2B5EF4-FFF2-40B4-BE49-F238E27FC236}">
                <a16:creationId xmlns:a16="http://schemas.microsoft.com/office/drawing/2014/main" id="{E59CD825-B979-0461-D377-0ED1FCC7B72C}"/>
              </a:ext>
            </a:extLst>
          </p:cNvPr>
          <p:cNvSpPr/>
          <p:nvPr/>
        </p:nvSpPr>
        <p:spPr>
          <a:xfrm>
            <a:off x="10064824" y="1944379"/>
            <a:ext cx="216024" cy="3068779"/>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5" name="表格 24">
            <a:extLst>
              <a:ext uri="{FF2B5EF4-FFF2-40B4-BE49-F238E27FC236}">
                <a16:creationId xmlns:a16="http://schemas.microsoft.com/office/drawing/2014/main" id="{2E2352A4-8C52-E5C4-DF07-F418876C3A66}"/>
              </a:ext>
            </a:extLst>
          </p:cNvPr>
          <p:cNvGraphicFramePr>
            <a:graphicFrameLocks noGrp="1"/>
          </p:cNvGraphicFramePr>
          <p:nvPr/>
        </p:nvGraphicFramePr>
        <p:xfrm>
          <a:off x="7486454" y="2035181"/>
          <a:ext cx="345440" cy="3122009"/>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70354">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0</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70354">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529531">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p>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8</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cxnSp>
        <p:nvCxnSpPr>
          <p:cNvPr id="35" name="直接箭头连接符 34">
            <a:extLst>
              <a:ext uri="{FF2B5EF4-FFF2-40B4-BE49-F238E27FC236}">
                <a16:creationId xmlns:a16="http://schemas.microsoft.com/office/drawing/2014/main" id="{23E9ED8E-5692-46AD-3FE8-28E67FAF3B1D}"/>
              </a:ext>
            </a:extLst>
          </p:cNvPr>
          <p:cNvCxnSpPr>
            <a:cxnSpLocks/>
          </p:cNvCxnSpPr>
          <p:nvPr/>
        </p:nvCxnSpPr>
        <p:spPr>
          <a:xfrm>
            <a:off x="7471608" y="2092660"/>
            <a:ext cx="0" cy="267268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2" name="Text Box 2">
            <a:extLst>
              <a:ext uri="{FF2B5EF4-FFF2-40B4-BE49-F238E27FC236}">
                <a16:creationId xmlns:a16="http://schemas.microsoft.com/office/drawing/2014/main" id="{FC23A194-4479-CEC3-8296-E213AD17BEC1}"/>
              </a:ext>
            </a:extLst>
          </p:cNvPr>
          <p:cNvSpPr txBox="1">
            <a:spLocks noChangeArrowheads="1"/>
          </p:cNvSpPr>
          <p:nvPr/>
        </p:nvSpPr>
        <p:spPr bwMode="auto">
          <a:xfrm>
            <a:off x="902779" y="1942366"/>
            <a:ext cx="6423196" cy="1231106"/>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2</a:t>
            </a:r>
            <a:r>
              <a:rPr kumimoji="1" lang="zh-CN" altLang="en-US" sz="2000" dirty="0">
                <a:latin typeface="Consolas" pitchFamily="49" charset="0"/>
                <a:ea typeface="微软雅黑" pitchFamily="34" charset="-122"/>
                <a:cs typeface="Consolas" pitchFamily="49" charset="0"/>
              </a:rPr>
              <a:t>）三元组元素赋值：</a:t>
            </a:r>
            <a:r>
              <a:rPr kumimoji="1" lang="en-US" altLang="zh-CN" sz="2000" i="1" dirty="0">
                <a:latin typeface="Consolas" pitchFamily="49" charset="0"/>
                <a:ea typeface="微软雅黑" pitchFamily="34" charset="-122"/>
                <a:cs typeface="Consolas" pitchFamily="49" charset="0"/>
              </a:rPr>
              <a:t>A</a:t>
            </a:r>
            <a:r>
              <a:rPr kumimoji="1" lang="en-US" altLang="zh-CN" sz="2000" dirty="0">
                <a:latin typeface="Consolas" pitchFamily="49" charset="0"/>
                <a:ea typeface="微软雅黑" pitchFamily="34" charset="-122"/>
                <a:cs typeface="Consolas" pitchFamily="49" charset="0"/>
              </a:rPr>
              <a:t>[</a:t>
            </a:r>
            <a:r>
              <a:rPr kumimoji="1" lang="en-US" altLang="zh-CN" sz="2000" i="1" dirty="0" err="1">
                <a:latin typeface="Consolas" pitchFamily="49" charset="0"/>
                <a:ea typeface="微软雅黑" pitchFamily="34" charset="-122"/>
                <a:cs typeface="Consolas" pitchFamily="49" charset="0"/>
              </a:rPr>
              <a:t>i</a:t>
            </a:r>
            <a:r>
              <a:rPr kumimoji="1" lang="en-US" altLang="zh-CN" sz="2000" dirty="0">
                <a:latin typeface="Consolas" pitchFamily="49" charset="0"/>
                <a:ea typeface="微软雅黑" pitchFamily="34" charset="-122"/>
                <a:cs typeface="Consolas" pitchFamily="49" charset="0"/>
              </a:rPr>
              <a:t>][</a:t>
            </a:r>
            <a:r>
              <a:rPr kumimoji="1" lang="en-US" altLang="zh-CN" sz="2000" i="1" dirty="0">
                <a:latin typeface="Consolas" pitchFamily="49" charset="0"/>
                <a:ea typeface="微软雅黑" pitchFamily="34" charset="-122"/>
                <a:cs typeface="Consolas" pitchFamily="49" charset="0"/>
              </a:rPr>
              <a:t>j</a:t>
            </a:r>
            <a:r>
              <a:rPr kumimoji="1" lang="en-US" altLang="zh-CN" sz="2000" dirty="0">
                <a:latin typeface="Consolas" pitchFamily="49" charset="0"/>
                <a:ea typeface="微软雅黑" pitchFamily="34" charset="-122"/>
                <a:cs typeface="Consolas" pitchFamily="49" charset="0"/>
              </a:rPr>
              <a:t>]=</a:t>
            </a:r>
            <a:r>
              <a:rPr kumimoji="1" lang="en-US" altLang="zh-CN" sz="2000" i="1" dirty="0">
                <a:latin typeface="Consolas" pitchFamily="49" charset="0"/>
                <a:ea typeface="微软雅黑" pitchFamily="34" charset="-122"/>
                <a:cs typeface="Consolas" pitchFamily="49" charset="0"/>
              </a:rPr>
              <a:t>x</a:t>
            </a:r>
            <a:r>
              <a:rPr kumimoji="1" lang="en-US" altLang="zh-CN" sz="2000" dirty="0">
                <a:latin typeface="Consolas" pitchFamily="49" charset="0"/>
                <a:ea typeface="微软雅黑" pitchFamily="34" charset="-122"/>
                <a:cs typeface="Consolas" pitchFamily="49" charset="0"/>
              </a:rPr>
              <a:t> </a:t>
            </a:r>
            <a:endParaRPr kumimoji="1" lang="zh-CN" altLang="en-US" sz="2000" dirty="0">
              <a:latin typeface="Consolas" pitchFamily="49" charset="0"/>
              <a:ea typeface="微软雅黑" pitchFamily="34" charset="-122"/>
              <a:cs typeface="Consolas" pitchFamily="49" charset="0"/>
            </a:endParaRPr>
          </a:p>
          <a:p>
            <a:pPr algn="just">
              <a:lnSpc>
                <a:spcPct val="90000"/>
              </a:lnSpc>
              <a:spcBef>
                <a:spcPct val="50000"/>
              </a:spcBef>
            </a:pPr>
            <a:r>
              <a:rPr kumimoji="1" lang="zh-CN" altLang="en-US" sz="2000" dirty="0">
                <a:latin typeface="Consolas" pitchFamily="49" charset="0"/>
                <a:ea typeface="仿宋" pitchFamily="49" charset="-122"/>
                <a:cs typeface="Consolas" pitchFamily="49" charset="0"/>
              </a:rPr>
              <a:t>分为两种情况：</a:t>
            </a:r>
            <a:endParaRPr kumimoji="1" lang="en-US" altLang="zh-CN" sz="2000" dirty="0">
              <a:latin typeface="Consolas" pitchFamily="49" charset="0"/>
              <a:ea typeface="仿宋" pitchFamily="49" charset="-122"/>
              <a:cs typeface="Consolas" pitchFamily="49" charset="0"/>
            </a:endParaRPr>
          </a:p>
          <a:p>
            <a:pPr algn="just">
              <a:lnSpc>
                <a:spcPct val="90000"/>
              </a:lnSpc>
              <a:spcBef>
                <a:spcPct val="50000"/>
              </a:spcBef>
            </a:pPr>
            <a:r>
              <a:rPr kumimoji="1" lang="en-US" altLang="zh-CN" sz="2000" dirty="0">
                <a:latin typeface="Consolas" pitchFamily="49" charset="0"/>
                <a:ea typeface="楷体" pitchFamily="49" charset="-122"/>
                <a:cs typeface="Consolas" pitchFamily="49" charset="0"/>
              </a:rPr>
              <a:t> ②</a:t>
            </a:r>
            <a:r>
              <a:rPr kumimoji="1" lang="zh-CN" altLang="en-US" sz="2000" dirty="0">
                <a:latin typeface="Consolas" pitchFamily="49" charset="0"/>
                <a:ea typeface="楷体" pitchFamily="49" charset="-122"/>
                <a:cs typeface="Consolas" pitchFamily="49" charset="0"/>
              </a:rPr>
              <a:t>将一个</a:t>
            </a:r>
            <a:r>
              <a:rPr kumimoji="1" lang="en-US" altLang="zh-CN" sz="2000" dirty="0">
                <a:latin typeface="Consolas" pitchFamily="49" charset="0"/>
                <a:ea typeface="楷体" pitchFamily="49" charset="-122"/>
                <a:cs typeface="Consolas" pitchFamily="49" charset="0"/>
              </a:rPr>
              <a:t>0</a:t>
            </a:r>
            <a:r>
              <a:rPr kumimoji="1" lang="zh-CN" altLang="en-US" sz="2000" dirty="0">
                <a:latin typeface="Consolas" pitchFamily="49" charset="0"/>
                <a:ea typeface="楷体" pitchFamily="49" charset="-122"/>
                <a:cs typeface="Consolas" pitchFamily="49" charset="0"/>
              </a:rPr>
              <a:t>元素修改为非</a:t>
            </a:r>
            <a:r>
              <a:rPr kumimoji="1" lang="en-US" altLang="zh-CN" sz="2000" dirty="0">
                <a:latin typeface="Consolas" pitchFamily="49" charset="0"/>
                <a:ea typeface="楷体" pitchFamily="49" charset="-122"/>
                <a:cs typeface="Consolas" pitchFamily="49" charset="0"/>
              </a:rPr>
              <a:t>0</a:t>
            </a:r>
            <a:r>
              <a:rPr kumimoji="1" lang="zh-CN" altLang="en-US" sz="2000" dirty="0">
                <a:latin typeface="Consolas" pitchFamily="49" charset="0"/>
                <a:ea typeface="楷体" pitchFamily="49" charset="-122"/>
                <a:cs typeface="Consolas" pitchFamily="49" charset="0"/>
              </a:rPr>
              <a:t>值。如</a:t>
            </a:r>
            <a:r>
              <a:rPr kumimoji="1" lang="en-US" altLang="zh-CN" sz="2000" i="1" dirty="0">
                <a:solidFill>
                  <a:srgbClr val="FF0000"/>
                </a:solidFill>
                <a:latin typeface="Consolas" pitchFamily="49" charset="0"/>
                <a:ea typeface="楷体" pitchFamily="49" charset="-122"/>
                <a:cs typeface="Consolas" pitchFamily="49" charset="0"/>
              </a:rPr>
              <a:t>A</a:t>
            </a:r>
            <a:r>
              <a:rPr kumimoji="1" lang="en-US" altLang="zh-CN" sz="2000" dirty="0">
                <a:solidFill>
                  <a:srgbClr val="FF0000"/>
                </a:solidFill>
                <a:latin typeface="Consolas" pitchFamily="49" charset="0"/>
                <a:ea typeface="楷体" pitchFamily="49" charset="-122"/>
                <a:cs typeface="Consolas" pitchFamily="49" charset="0"/>
              </a:rPr>
              <a:t>[3][5]=8</a:t>
            </a:r>
            <a:endParaRPr kumimoji="1" lang="en-US" altLang="zh-CN" sz="2000" dirty="0">
              <a:latin typeface="Consolas" pitchFamily="49" charset="0"/>
              <a:ea typeface="仿宋" pitchFamily="49" charset="-122"/>
              <a:cs typeface="Consolas" pitchFamily="49" charset="0"/>
            </a:endParaRPr>
          </a:p>
        </p:txBody>
      </p:sp>
      <p:sp>
        <p:nvSpPr>
          <p:cNvPr id="7" name="Text Box 4">
            <a:extLst>
              <a:ext uri="{FF2B5EF4-FFF2-40B4-BE49-F238E27FC236}">
                <a16:creationId xmlns:a16="http://schemas.microsoft.com/office/drawing/2014/main" id="{840E202F-F0AB-A2AA-7F8B-469179902AF8}"/>
              </a:ext>
            </a:extLst>
          </p:cNvPr>
          <p:cNvSpPr txBox="1">
            <a:spLocks noChangeArrowheads="1"/>
          </p:cNvSpPr>
          <p:nvPr/>
        </p:nvSpPr>
        <p:spPr bwMode="auto">
          <a:xfrm>
            <a:off x="639629" y="3353311"/>
            <a:ext cx="6280595" cy="2451953"/>
          </a:xfrm>
          <a:prstGeom prst="rect">
            <a:avLst/>
          </a:prstGeom>
          <a:solidFill>
            <a:schemeClr val="bg1"/>
          </a:solidFill>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ts val="2300"/>
              </a:lnSpc>
            </a:pPr>
            <a:r>
              <a:rPr kumimoji="1" lang="nb-NO" altLang="zh-CN" sz="1600" dirty="0">
                <a:solidFill>
                  <a:srgbClr val="0000FF"/>
                </a:solidFill>
                <a:latin typeface="Consolas" pitchFamily="49" charset="0"/>
                <a:ea typeface="仿宋" pitchFamily="49" charset="-122"/>
                <a:cs typeface="Consolas" pitchFamily="49" charset="0"/>
              </a:rPr>
              <a:t>bool </a:t>
            </a:r>
            <a:r>
              <a:rPr kumimoji="1" lang="nb-NO" altLang="zh-CN" sz="1600" dirty="0">
                <a:solidFill>
                  <a:srgbClr val="FF0000"/>
                </a:solidFill>
                <a:latin typeface="Consolas" pitchFamily="49" charset="0"/>
                <a:ea typeface="仿宋" pitchFamily="49" charset="-122"/>
                <a:cs typeface="Consolas" pitchFamily="49" charset="0"/>
              </a:rPr>
              <a:t>Value</a:t>
            </a:r>
            <a:r>
              <a:rPr kumimoji="1" lang="nb-NO" altLang="zh-CN" sz="1600" dirty="0">
                <a:solidFill>
                  <a:srgbClr val="0000FF"/>
                </a:solidFill>
                <a:latin typeface="Consolas" pitchFamily="49" charset="0"/>
                <a:ea typeface="仿宋" pitchFamily="49" charset="-122"/>
                <a:cs typeface="Consolas" pitchFamily="49" charset="0"/>
              </a:rPr>
              <a:t>(TSMatrix &amp;t,ElemType x,int i,int j)</a:t>
            </a:r>
          </a:p>
          <a:p>
            <a:pPr algn="l">
              <a:lnSpc>
                <a:spcPts val="2300"/>
              </a:lnSpc>
            </a:pPr>
            <a:r>
              <a:rPr kumimoji="1" lang="nb-NO" altLang="zh-CN" sz="1600" dirty="0">
                <a:solidFill>
                  <a:srgbClr val="0000FF"/>
                </a:solidFill>
                <a:latin typeface="Consolas" pitchFamily="49" charset="0"/>
                <a:ea typeface="仿宋" pitchFamily="49" charset="-122"/>
                <a:cs typeface="Consolas" pitchFamily="49" charset="0"/>
              </a:rPr>
              <a:t>{  int k=0,k1;</a:t>
            </a:r>
          </a:p>
          <a:p>
            <a:pPr algn="l">
              <a:lnSpc>
                <a:spcPts val="2300"/>
              </a:lnSpc>
            </a:pPr>
            <a:r>
              <a:rPr kumimoji="1" lang="en-US" altLang="zh-CN" sz="1600" dirty="0">
                <a:solidFill>
                  <a:srgbClr val="0000FF"/>
                </a:solidFill>
                <a:latin typeface="Consolas" pitchFamily="49" charset="0"/>
                <a:ea typeface="仿宋" pitchFamily="49" charset="-122"/>
                <a:cs typeface="Consolas" pitchFamily="49" charset="0"/>
              </a:rPr>
              <a:t>   if (</a:t>
            </a:r>
            <a:r>
              <a:rPr kumimoji="1" lang="en-US" altLang="zh-CN" sz="1600" dirty="0" err="1">
                <a:solidFill>
                  <a:srgbClr val="0000FF"/>
                </a:solidFill>
                <a:latin typeface="Consolas" pitchFamily="49" charset="0"/>
                <a:ea typeface="仿宋" pitchFamily="49" charset="-122"/>
                <a:cs typeface="Consolas" pitchFamily="49" charset="0"/>
              </a:rPr>
              <a:t>i</a:t>
            </a:r>
            <a:r>
              <a:rPr kumimoji="1" lang="en-US" altLang="zh-CN" sz="1600" dirty="0">
                <a:solidFill>
                  <a:srgbClr val="0000FF"/>
                </a:solidFill>
                <a:latin typeface="Consolas" pitchFamily="49" charset="0"/>
                <a:ea typeface="仿宋" pitchFamily="49" charset="-122"/>
                <a:cs typeface="Consolas" pitchFamily="49" charset="0"/>
              </a:rPr>
              <a:t>&gt;=</a:t>
            </a:r>
            <a:r>
              <a:rPr kumimoji="1" lang="en-US" altLang="zh-CN" sz="1600" dirty="0" err="1">
                <a:solidFill>
                  <a:srgbClr val="0000FF"/>
                </a:solidFill>
                <a:latin typeface="Consolas" pitchFamily="49" charset="0"/>
                <a:ea typeface="仿宋" pitchFamily="49" charset="-122"/>
                <a:cs typeface="Consolas" pitchFamily="49" charset="0"/>
              </a:rPr>
              <a:t>t.rows</a:t>
            </a:r>
            <a:r>
              <a:rPr kumimoji="1" lang="en-US" altLang="zh-CN" sz="1600" dirty="0">
                <a:solidFill>
                  <a:srgbClr val="0000FF"/>
                </a:solidFill>
                <a:latin typeface="Consolas" pitchFamily="49" charset="0"/>
                <a:ea typeface="仿宋" pitchFamily="49" charset="-122"/>
                <a:cs typeface="Consolas" pitchFamily="49" charset="0"/>
              </a:rPr>
              <a:t> || j&gt;=</a:t>
            </a:r>
            <a:r>
              <a:rPr kumimoji="1" lang="en-US" altLang="zh-CN" sz="1600" dirty="0" err="1">
                <a:solidFill>
                  <a:srgbClr val="0000FF"/>
                </a:solidFill>
                <a:latin typeface="Consolas" pitchFamily="49" charset="0"/>
                <a:ea typeface="仿宋" pitchFamily="49" charset="-122"/>
                <a:cs typeface="Consolas" pitchFamily="49" charset="0"/>
              </a:rPr>
              <a:t>t.cols</a:t>
            </a:r>
            <a:r>
              <a:rPr kumimoji="1" lang="en-US" altLang="zh-CN" sz="1600" dirty="0">
                <a:solidFill>
                  <a:srgbClr val="0000FF"/>
                </a:solidFill>
                <a:latin typeface="Consolas" pitchFamily="49" charset="0"/>
                <a:ea typeface="仿宋" pitchFamily="49" charset="-122"/>
                <a:cs typeface="Consolas" pitchFamily="49" charset="0"/>
              </a:rPr>
              <a:t>)</a:t>
            </a:r>
          </a:p>
          <a:p>
            <a:pPr algn="l">
              <a:lnSpc>
                <a:spcPts val="2300"/>
              </a:lnSpc>
            </a:pPr>
            <a:r>
              <a:rPr kumimoji="1" lang="en-US" altLang="zh-CN" sz="1600" dirty="0">
                <a:solidFill>
                  <a:srgbClr val="0000FF"/>
                </a:solidFill>
                <a:latin typeface="Consolas" pitchFamily="49" charset="0"/>
                <a:ea typeface="仿宋" pitchFamily="49" charset="-122"/>
                <a:cs typeface="Consolas" pitchFamily="49" charset="0"/>
              </a:rPr>
              <a:t>      return false;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失败时返回</a:t>
            </a:r>
            <a:r>
              <a:rPr kumimoji="1" lang="en-US" altLang="zh-CN" sz="1600" dirty="0">
                <a:solidFill>
                  <a:srgbClr val="00B0F0"/>
                </a:solidFill>
                <a:latin typeface="Consolas" pitchFamily="49" charset="0"/>
                <a:ea typeface="仿宋" pitchFamily="49" charset="-122"/>
                <a:cs typeface="Consolas" pitchFamily="49" charset="0"/>
              </a:rPr>
              <a:t>false</a:t>
            </a:r>
          </a:p>
          <a:p>
            <a:pPr algn="l">
              <a:lnSpc>
                <a:spcPts val="2300"/>
              </a:lnSpc>
            </a:pPr>
            <a:r>
              <a:rPr kumimoji="1" lang="en-US" altLang="zh-CN" sz="1600" dirty="0">
                <a:solidFill>
                  <a:srgbClr val="0000FF"/>
                </a:solidFill>
                <a:latin typeface="Consolas" pitchFamily="49" charset="0"/>
                <a:ea typeface="仿宋" pitchFamily="49" charset="-122"/>
                <a:cs typeface="Consolas" pitchFamily="49" charset="0"/>
              </a:rPr>
              <a:t>   while (k&lt;</a:t>
            </a:r>
            <a:r>
              <a:rPr kumimoji="1" lang="en-US" altLang="zh-CN" sz="1600" dirty="0" err="1">
                <a:solidFill>
                  <a:srgbClr val="0000FF"/>
                </a:solidFill>
                <a:latin typeface="Consolas" pitchFamily="49" charset="0"/>
                <a:ea typeface="仿宋" pitchFamily="49" charset="-122"/>
                <a:cs typeface="Consolas" pitchFamily="49" charset="0"/>
              </a:rPr>
              <a:t>t.nums</a:t>
            </a:r>
            <a:r>
              <a:rPr kumimoji="1" lang="en-US" altLang="zh-CN" sz="1600" dirty="0">
                <a:solidFill>
                  <a:srgbClr val="0000FF"/>
                </a:solidFill>
                <a:latin typeface="Consolas" pitchFamily="49" charset="0"/>
                <a:ea typeface="仿宋" pitchFamily="49" charset="-122"/>
                <a:cs typeface="Consolas" pitchFamily="49" charset="0"/>
              </a:rPr>
              <a:t> &amp;&amp; </a:t>
            </a:r>
            <a:r>
              <a:rPr kumimoji="1" lang="en-US" altLang="zh-CN" sz="1600" dirty="0" err="1">
                <a:solidFill>
                  <a:srgbClr val="0000FF"/>
                </a:solidFill>
                <a:latin typeface="Consolas" pitchFamily="49" charset="0"/>
                <a:ea typeface="仿宋" pitchFamily="49" charset="-122"/>
                <a:cs typeface="Consolas" pitchFamily="49" charset="0"/>
              </a:rPr>
              <a:t>i</a:t>
            </a:r>
            <a:r>
              <a:rPr kumimoji="1" lang="en-US" altLang="zh-CN" sz="1600" dirty="0">
                <a:solidFill>
                  <a:srgbClr val="0000FF"/>
                </a:solidFill>
                <a:latin typeface="Consolas" pitchFamily="49" charset="0"/>
                <a:ea typeface="仿宋" pitchFamily="49" charset="-122"/>
                <a:cs typeface="Consolas" pitchFamily="49" charset="0"/>
              </a:rPr>
              <a:t>&gt;</a:t>
            </a:r>
            <a:r>
              <a:rPr kumimoji="1" lang="en-US" altLang="zh-CN" sz="1600" dirty="0" err="1">
                <a:solidFill>
                  <a:srgbClr val="0000FF"/>
                </a:solidFill>
                <a:latin typeface="Consolas" pitchFamily="49" charset="0"/>
                <a:ea typeface="仿宋" pitchFamily="49" charset="-122"/>
                <a:cs typeface="Consolas" pitchFamily="49" charset="0"/>
              </a:rPr>
              <a:t>t.data</a:t>
            </a:r>
            <a:r>
              <a:rPr kumimoji="1" lang="en-US" altLang="zh-CN" sz="1600" dirty="0">
                <a:solidFill>
                  <a:srgbClr val="0000FF"/>
                </a:solidFill>
                <a:latin typeface="Consolas" pitchFamily="49" charset="0"/>
                <a:ea typeface="仿宋" pitchFamily="49" charset="-122"/>
                <a:cs typeface="Consolas" pitchFamily="49" charset="0"/>
              </a:rPr>
              <a:t>[k].r) </a:t>
            </a:r>
            <a:r>
              <a:rPr kumimoji="1" lang="en-US" altLang="zh-CN" sz="1600" dirty="0">
                <a:solidFill>
                  <a:srgbClr val="FF00FF"/>
                </a:solidFill>
                <a:latin typeface="Consolas" pitchFamily="49" charset="0"/>
                <a:ea typeface="仿宋" pitchFamily="49" charset="-122"/>
                <a:cs typeface="Consolas" pitchFamily="49" charset="0"/>
              </a:rPr>
              <a:t>k++</a:t>
            </a: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查找行</a:t>
            </a:r>
          </a:p>
          <a:p>
            <a:pPr algn="l">
              <a:lnSpc>
                <a:spcPts val="2300"/>
              </a:lnSpc>
            </a:pPr>
            <a:r>
              <a:rPr kumimoji="1" lang="zh-CN" altLang="en-US"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00FF"/>
                </a:solidFill>
                <a:latin typeface="Consolas" pitchFamily="49" charset="0"/>
                <a:ea typeface="仿宋" pitchFamily="49" charset="-122"/>
                <a:cs typeface="Consolas" pitchFamily="49" charset="0"/>
              </a:rPr>
              <a:t>while (k&lt;</a:t>
            </a:r>
            <a:r>
              <a:rPr kumimoji="1" lang="en-US" altLang="zh-CN" sz="1600" dirty="0" err="1">
                <a:solidFill>
                  <a:srgbClr val="0000FF"/>
                </a:solidFill>
                <a:latin typeface="Consolas" pitchFamily="49" charset="0"/>
                <a:ea typeface="仿宋" pitchFamily="49" charset="-122"/>
                <a:cs typeface="Consolas" pitchFamily="49" charset="0"/>
              </a:rPr>
              <a:t>t.nums</a:t>
            </a:r>
            <a:r>
              <a:rPr kumimoji="1" lang="en-US" altLang="zh-CN" sz="1600" dirty="0">
                <a:solidFill>
                  <a:srgbClr val="0000FF"/>
                </a:solidFill>
                <a:latin typeface="Consolas" pitchFamily="49" charset="0"/>
                <a:ea typeface="仿宋" pitchFamily="49" charset="-122"/>
                <a:cs typeface="Consolas" pitchFamily="49" charset="0"/>
              </a:rPr>
              <a:t> &amp;&amp; </a:t>
            </a:r>
            <a:r>
              <a:rPr kumimoji="1" lang="en-US" altLang="zh-CN" sz="1600" dirty="0" err="1">
                <a:solidFill>
                  <a:srgbClr val="0000FF"/>
                </a:solidFill>
                <a:latin typeface="Consolas" pitchFamily="49" charset="0"/>
                <a:ea typeface="仿宋" pitchFamily="49" charset="-122"/>
                <a:cs typeface="Consolas" pitchFamily="49" charset="0"/>
              </a:rPr>
              <a:t>i</a:t>
            </a:r>
            <a:r>
              <a:rPr kumimoji="1" lang="en-US" altLang="zh-CN" sz="1600" dirty="0">
                <a:solidFill>
                  <a:srgbClr val="0000FF"/>
                </a:solidFill>
                <a:latin typeface="Consolas" pitchFamily="49" charset="0"/>
                <a:ea typeface="仿宋" pitchFamily="49" charset="-122"/>
                <a:cs typeface="Consolas" pitchFamily="49" charset="0"/>
              </a:rPr>
              <a:t>==</a:t>
            </a:r>
            <a:r>
              <a:rPr kumimoji="1" lang="en-US" altLang="zh-CN" sz="1600" dirty="0" err="1">
                <a:solidFill>
                  <a:srgbClr val="0000FF"/>
                </a:solidFill>
                <a:latin typeface="Consolas" pitchFamily="49" charset="0"/>
                <a:ea typeface="仿宋" pitchFamily="49" charset="-122"/>
                <a:cs typeface="Consolas" pitchFamily="49" charset="0"/>
              </a:rPr>
              <a:t>t.data</a:t>
            </a:r>
            <a:r>
              <a:rPr kumimoji="1" lang="en-US" altLang="zh-CN" sz="1600" dirty="0">
                <a:solidFill>
                  <a:srgbClr val="0000FF"/>
                </a:solidFill>
                <a:latin typeface="Consolas" pitchFamily="49" charset="0"/>
                <a:ea typeface="仿宋" pitchFamily="49" charset="-122"/>
                <a:cs typeface="Consolas" pitchFamily="49" charset="0"/>
              </a:rPr>
              <a:t>[k].r </a:t>
            </a:r>
          </a:p>
          <a:p>
            <a:pPr algn="l">
              <a:lnSpc>
                <a:spcPts val="2300"/>
              </a:lnSpc>
            </a:pPr>
            <a:r>
              <a:rPr kumimoji="1" lang="en-US" altLang="zh-CN" sz="1600" dirty="0">
                <a:solidFill>
                  <a:srgbClr val="0000FF"/>
                </a:solidFill>
                <a:latin typeface="Consolas" pitchFamily="49" charset="0"/>
                <a:ea typeface="仿宋" pitchFamily="49" charset="-122"/>
                <a:cs typeface="Consolas" pitchFamily="49" charset="0"/>
              </a:rPr>
              <a:t>		&amp;&amp; j&gt;</a:t>
            </a:r>
            <a:r>
              <a:rPr kumimoji="1" lang="en-US" altLang="zh-CN" sz="1600" dirty="0" err="1">
                <a:solidFill>
                  <a:srgbClr val="0000FF"/>
                </a:solidFill>
                <a:latin typeface="Consolas" pitchFamily="49" charset="0"/>
                <a:ea typeface="仿宋" pitchFamily="49" charset="-122"/>
                <a:cs typeface="Consolas" pitchFamily="49" charset="0"/>
              </a:rPr>
              <a:t>t.data</a:t>
            </a:r>
            <a:r>
              <a:rPr kumimoji="1" lang="en-US" altLang="zh-CN" sz="1600" dirty="0">
                <a:solidFill>
                  <a:srgbClr val="0000FF"/>
                </a:solidFill>
                <a:latin typeface="Consolas" pitchFamily="49" charset="0"/>
                <a:ea typeface="仿宋" pitchFamily="49" charset="-122"/>
                <a:cs typeface="Consolas" pitchFamily="49" charset="0"/>
              </a:rPr>
              <a:t>[k].c) </a:t>
            </a:r>
            <a:r>
              <a:rPr kumimoji="1" lang="en-US" altLang="zh-CN" sz="1600" dirty="0">
                <a:solidFill>
                  <a:srgbClr val="FF00FF"/>
                </a:solidFill>
                <a:latin typeface="Consolas" pitchFamily="49" charset="0"/>
                <a:ea typeface="仿宋" pitchFamily="49" charset="-122"/>
                <a:cs typeface="Consolas" pitchFamily="49" charset="0"/>
              </a:rPr>
              <a:t>k++</a:t>
            </a: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查找列</a:t>
            </a:r>
            <a:endParaRPr kumimoji="1" lang="en-US" altLang="zh-CN" sz="1600" dirty="0">
              <a:solidFill>
                <a:srgbClr val="00B0F0"/>
              </a:solidFill>
              <a:latin typeface="Consolas" pitchFamily="49" charset="0"/>
              <a:ea typeface="仿宋" pitchFamily="49" charset="-122"/>
              <a:cs typeface="Consolas" pitchFamily="49" charset="0"/>
            </a:endParaRPr>
          </a:p>
          <a:p>
            <a:pPr algn="l">
              <a:lnSpc>
                <a:spcPts val="2300"/>
              </a:lnSpc>
            </a:pPr>
            <a:endParaRPr kumimoji="1" lang="zh-CN" altLang="en-US" sz="2000" dirty="0">
              <a:solidFill>
                <a:srgbClr val="0000FF"/>
              </a:solidFill>
              <a:latin typeface="Consolas" pitchFamily="49" charset="0"/>
              <a:ea typeface="仿宋" pitchFamily="49" charset="-122"/>
              <a:cs typeface="Consolas" pitchFamily="49" charset="0"/>
            </a:endParaRPr>
          </a:p>
        </p:txBody>
      </p:sp>
      <p:sp>
        <p:nvSpPr>
          <p:cNvPr id="8" name="Text Box 7">
            <a:extLst>
              <a:ext uri="{FF2B5EF4-FFF2-40B4-BE49-F238E27FC236}">
                <a16:creationId xmlns:a16="http://schemas.microsoft.com/office/drawing/2014/main" id="{83D57271-9F27-2A33-9BFD-C82E2467A3CE}"/>
              </a:ext>
            </a:extLst>
          </p:cNvPr>
          <p:cNvSpPr txBox="1">
            <a:spLocks noChangeArrowheads="1"/>
          </p:cNvSpPr>
          <p:nvPr/>
        </p:nvSpPr>
        <p:spPr bwMode="auto">
          <a:xfrm flipH="1">
            <a:off x="6456039" y="1916222"/>
            <a:ext cx="418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k</a:t>
            </a:r>
          </a:p>
        </p:txBody>
      </p:sp>
      <p:cxnSp>
        <p:nvCxnSpPr>
          <p:cNvPr id="9" name="直接箭头连接符 8">
            <a:extLst>
              <a:ext uri="{FF2B5EF4-FFF2-40B4-BE49-F238E27FC236}">
                <a16:creationId xmlns:a16="http://schemas.microsoft.com/office/drawing/2014/main" id="{D1EA61B7-F951-6395-FF45-DBA8DD7B5B4C}"/>
              </a:ext>
            </a:extLst>
          </p:cNvPr>
          <p:cNvCxnSpPr>
            <a:cxnSpLocks/>
          </p:cNvCxnSpPr>
          <p:nvPr/>
        </p:nvCxnSpPr>
        <p:spPr>
          <a:xfrm>
            <a:off x="6829341" y="2204864"/>
            <a:ext cx="50405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03652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F062F-8C7C-EBDC-6AB0-E9DAB3BD78C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06A0C1B-0288-A65C-BB6C-96EBAC9D4D95}"/>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51340369-31D0-E4CD-2848-5E69A1FCE6D2}"/>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70AEFD02-C30B-8716-59EE-1CFFCC5BE139}"/>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graphicFrame>
        <p:nvGraphicFramePr>
          <p:cNvPr id="14" name="表格 13">
            <a:extLst>
              <a:ext uri="{FF2B5EF4-FFF2-40B4-BE49-F238E27FC236}">
                <a16:creationId xmlns:a16="http://schemas.microsoft.com/office/drawing/2014/main" id="{4BFCEA7C-865C-123E-EE36-71D52E53FAFA}"/>
              </a:ext>
            </a:extLst>
          </p:cNvPr>
          <p:cNvGraphicFramePr>
            <a:graphicFrameLocks noGrp="1"/>
          </p:cNvGraphicFramePr>
          <p:nvPr>
            <p:extLst>
              <p:ext uri="{D42A27DB-BD31-4B8C-83A1-F6EECF244321}">
                <p14:modId xmlns:p14="http://schemas.microsoft.com/office/powerpoint/2010/main" val="1211017371"/>
              </p:ext>
            </p:extLst>
          </p:nvPr>
        </p:nvGraphicFramePr>
        <p:xfrm>
          <a:off x="7937848" y="1942366"/>
          <a:ext cx="2269308" cy="4082866"/>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758734">
                  <a:extLst>
                    <a:ext uri="{9D8B030D-6E8A-4147-A177-3AD203B41FA5}">
                      <a16:colId xmlns:a16="http://schemas.microsoft.com/office/drawing/2014/main" val="20001"/>
                    </a:ext>
                  </a:extLst>
                </a:gridCol>
                <a:gridCol w="93980">
                  <a:extLst>
                    <a:ext uri="{9D8B030D-6E8A-4147-A177-3AD203B41FA5}">
                      <a16:colId xmlns:a16="http://schemas.microsoft.com/office/drawing/2014/main" val="20002"/>
                    </a:ext>
                  </a:extLst>
                </a:gridCol>
                <a:gridCol w="711200">
                  <a:extLst>
                    <a:ext uri="{9D8B030D-6E8A-4147-A177-3AD203B41FA5}">
                      <a16:colId xmlns:a16="http://schemas.microsoft.com/office/drawing/2014/main" val="263519782"/>
                    </a:ext>
                  </a:extLst>
                </a:gridCol>
              </a:tblGrid>
              <a:tr h="40609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0"/>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1"/>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2"/>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rgbClr val="FF0000"/>
                          </a:solidFill>
                          <a:latin typeface="宋体" pitchFamily="2" charset="-122"/>
                          <a:ea typeface="+mn-ea"/>
                          <a:cs typeface="+mn-cs"/>
                        </a:rPr>
                        <a:t>3</a:t>
                      </a:r>
                      <a:endParaRPr kumimoji="1" lang="zh-CN" altLang="zh-CN" sz="2000" b="1" kern="1200" dirty="0">
                        <a:solidFill>
                          <a:srgbClr val="FF0000"/>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rgbClr val="FF0000"/>
                          </a:solidFill>
                          <a:latin typeface="宋体" pitchFamily="2" charset="-122"/>
                          <a:ea typeface="宋体" pitchFamily="2" charset="-122"/>
                          <a:cs typeface="+mn-cs"/>
                        </a:rPr>
                        <a:t>5</a:t>
                      </a:r>
                      <a:endParaRPr kumimoji="1" lang="zh-CN" sz="2000" b="1" kern="1200" dirty="0">
                        <a:solidFill>
                          <a:srgbClr val="FF0000"/>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sz="2000" b="1" kern="1200" dirty="0">
                          <a:solidFill>
                            <a:srgbClr val="FF0000"/>
                          </a:solidFill>
                          <a:latin typeface="宋体" pitchFamily="2" charset="-122"/>
                          <a:ea typeface="宋体" pitchFamily="2" charset="-122"/>
                          <a:cs typeface="+mn-cs"/>
                        </a:rPr>
                        <a:t>8</a:t>
                      </a:r>
                      <a:endParaRPr kumimoji="1" lang="zh-CN" sz="2000" b="1" kern="1200" dirty="0">
                        <a:solidFill>
                          <a:srgbClr val="FF0000"/>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3"/>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3</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6</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gridSpan="2">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14</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4"/>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4</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3</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gridSpan="2">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24</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5"/>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5</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2</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gridSpan="2">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18</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6"/>
                  </a:ext>
                </a:extLst>
              </a:tr>
              <a:tr h="352396">
                <a:tc>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mn-ea"/>
                          <a:cs typeface="+mn-cs"/>
                        </a:rPr>
                        <a:t>6</a:t>
                      </a:r>
                      <a:endParaRPr kumimoji="1" lang="zh-CN" altLang="zh-CN" sz="2000" b="1" kern="1200" dirty="0">
                        <a:solidFill>
                          <a:schemeClr val="tx1"/>
                        </a:solidFill>
                        <a:latin typeface="宋体" pitchFamily="2" charset="-122"/>
                        <a:ea typeface="+mn-ea"/>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gridSpan="2">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hMerge="1">
                  <a:txBody>
                    <a:bodyPr/>
                    <a:lstStyle/>
                    <a:p>
                      <a:endParaRPr lang="zh-CN" altLang="en-US"/>
                    </a:p>
                  </a:txBody>
                  <a:tcPr/>
                </a:tc>
                <a:extLst>
                  <a:ext uri="{0D108BD9-81ED-4DB2-BD59-A6C34878D82A}">
                    <a16:rowId xmlns:a16="http://schemas.microsoft.com/office/drawing/2014/main" val="10007"/>
                  </a:ext>
                </a:extLst>
              </a:tr>
              <a:tr h="352396">
                <a:tc>
                  <a:txBody>
                    <a:bodyPr/>
                    <a:lstStyle/>
                    <a:p>
                      <a:pPr marL="0" marR="0" lvl="0" indent="406400" algn="ctr" defTabSz="914400" rtl="0" eaLnBrk="1" fontAlgn="auto" latinLnBrk="0" hangingPunct="1">
                        <a:lnSpc>
                          <a:spcPts val="2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宋体" pitchFamily="2" charset="-122"/>
                          <a:cs typeface="+mn-cs"/>
                        </a:rPr>
                        <a:t>6</a:t>
                      </a:r>
                      <a:endParaRPr kumimoji="1" lang="zh-CN" altLang="zh-CN" sz="2000" b="1" kern="1200" dirty="0">
                        <a:solidFill>
                          <a:schemeClr val="tx1"/>
                        </a:solidFill>
                        <a:latin typeface="宋体" pitchFamily="2" charset="-122"/>
                        <a:ea typeface="宋体" pitchFamily="2" charset="-122"/>
                        <a:cs typeface="+mn-cs"/>
                      </a:endParaRPr>
                    </a:p>
                  </a:txBody>
                  <a:tcPr marL="0" marR="68580" marT="0" marB="0" anchor="ctr" anchorCtr="1"/>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000" b="1" kern="1200" dirty="0">
                          <a:solidFill>
                            <a:schemeClr val="tx1"/>
                          </a:solidFill>
                          <a:latin typeface="宋体" pitchFamily="2" charset="-122"/>
                          <a:ea typeface="宋体" pitchFamily="2" charset="-122"/>
                          <a:cs typeface="+mn-cs"/>
                        </a:rPr>
                        <a:t>4</a:t>
                      </a:r>
                      <a:endParaRPr kumimoji="1" lang="zh-CN" alt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a:txBody>
                    <a:bodyPr/>
                    <a:lstStyle/>
                    <a:p>
                      <a:pPr algn="just">
                        <a:lnSpc>
                          <a:spcPts val="2000"/>
                        </a:lnSpc>
                        <a:spcAft>
                          <a:spcPts val="0"/>
                        </a:spcAft>
                      </a:pPr>
                      <a:r>
                        <a:rPr kumimoji="1" lang="en-US" altLang="zh-CN" sz="2000" b="1" kern="1200" dirty="0">
                          <a:solidFill>
                            <a:schemeClr val="tx1"/>
                          </a:solidFill>
                          <a:latin typeface="宋体" pitchFamily="2" charset="-122"/>
                          <a:ea typeface="+mn-ea"/>
                          <a:cs typeface="+mn-cs"/>
                        </a:rPr>
                        <a:t>-7</a:t>
                      </a:r>
                      <a:endParaRPr kumimoji="1" lang="zh-CN" altLang="zh-CN" sz="2000" b="1" kern="1200" dirty="0">
                        <a:solidFill>
                          <a:schemeClr val="tx1"/>
                        </a:solidFill>
                        <a:latin typeface="宋体" pitchFamily="2" charset="-122"/>
                        <a:ea typeface="+mn-ea"/>
                        <a:cs typeface="+mn-cs"/>
                      </a:endParaRPr>
                    </a:p>
                  </a:txBody>
                  <a:tcPr marL="0" marR="68580" marT="0" marB="0" anchor="ctr" anchorCtr="1"/>
                </a:tc>
                <a:extLst>
                  <a:ext uri="{0D108BD9-81ED-4DB2-BD59-A6C34878D82A}">
                    <a16:rowId xmlns:a16="http://schemas.microsoft.com/office/drawing/2014/main" val="10008"/>
                  </a:ext>
                </a:extLst>
              </a:tr>
              <a:tr h="349607">
                <a:tc gridSpan="4">
                  <a:txBody>
                    <a:bodyPr/>
                    <a:lstStyle/>
                    <a:p>
                      <a:pPr marL="0" marR="0" lvl="0" indent="0" algn="just" defTabSz="914400" rtl="0" eaLnBrk="1" fontAlgn="auto" latinLnBrk="0" hangingPunct="1">
                        <a:lnSpc>
                          <a:spcPts val="2000"/>
                        </a:lnSpc>
                        <a:spcBef>
                          <a:spcPts val="0"/>
                        </a:spcBef>
                        <a:spcAft>
                          <a:spcPts val="0"/>
                        </a:spcAft>
                        <a:buClrTx/>
                        <a:buSzTx/>
                        <a:buFontTx/>
                        <a:buNone/>
                        <a:tabLst/>
                        <a:defRPr/>
                      </a:pPr>
                      <a:r>
                        <a:rPr kumimoji="1" lang="en-US" sz="2000" b="1" kern="1200" dirty="0">
                          <a:solidFill>
                            <a:schemeClr val="tx1"/>
                          </a:solidFill>
                          <a:latin typeface="宋体" pitchFamily="2" charset="-122"/>
                          <a:ea typeface="宋体" pitchFamily="2" charset="-122"/>
                          <a:cs typeface="+mn-cs"/>
                        </a:rPr>
                        <a:t> </a:t>
                      </a:r>
                      <a:r>
                        <a:rPr kumimoji="1" lang="en-US" altLang="zh-CN" sz="2000" b="1" kern="1200" dirty="0">
                          <a:solidFill>
                            <a:schemeClr val="tx1"/>
                          </a:solidFill>
                          <a:latin typeface="宋体" pitchFamily="2" charset="-122"/>
                          <a:ea typeface="+mn-ea"/>
                          <a:cs typeface="+mn-cs"/>
                        </a:rPr>
                        <a:t>6</a:t>
                      </a:r>
                      <a:endParaRPr kumimoji="1" lang="zh-CN" altLang="zh-CN" sz="2000" b="1" kern="1200" dirty="0">
                        <a:solidFill>
                          <a:schemeClr val="tx1"/>
                        </a:solidFill>
                        <a:latin typeface="宋体" pitchFamily="2" charset="-122"/>
                        <a:ea typeface="+mn-ea"/>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218820">
                <a:tc gridSpan="4">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a:t>
                      </a:r>
                      <a:r>
                        <a:rPr kumimoji="1" lang="en-US" altLang="zh-CN" sz="2000" b="1" kern="1200" dirty="0">
                          <a:solidFill>
                            <a:schemeClr val="tx1"/>
                          </a:solidFill>
                          <a:latin typeface="宋体" pitchFamily="2" charset="-122"/>
                          <a:ea typeface="+mn-ea"/>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r h="218820">
                <a:tc gridSpan="4">
                  <a:txBody>
                    <a:bodyPr/>
                    <a:lstStyle/>
                    <a:p>
                      <a:pPr algn="just">
                        <a:lnSpc>
                          <a:spcPts val="2000"/>
                        </a:lnSpc>
                        <a:spcAft>
                          <a:spcPts val="0"/>
                        </a:spcAft>
                      </a:pPr>
                      <a:r>
                        <a:rPr kumimoji="1" lang="en-US" altLang="zh-CN" sz="2000" b="1" kern="1200" dirty="0">
                          <a:solidFill>
                            <a:srgbClr val="FF0000"/>
                          </a:solidFill>
                          <a:latin typeface="宋体" pitchFamily="2" charset="-122"/>
                          <a:ea typeface="+mn-ea"/>
                          <a:cs typeface="+mn-cs"/>
                        </a:rPr>
                        <a:t>9</a:t>
                      </a:r>
                      <a:endParaRPr kumimoji="1" lang="zh-CN" sz="2000" b="1" kern="1200" dirty="0">
                        <a:solidFill>
                          <a:srgbClr val="FF0000"/>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54164060"/>
                  </a:ext>
                </a:extLst>
              </a:tr>
            </a:tbl>
          </a:graphicData>
        </a:graphic>
      </p:graphicFrame>
      <p:graphicFrame>
        <p:nvGraphicFramePr>
          <p:cNvPr id="15" name="表格 14">
            <a:extLst>
              <a:ext uri="{FF2B5EF4-FFF2-40B4-BE49-F238E27FC236}">
                <a16:creationId xmlns:a16="http://schemas.microsoft.com/office/drawing/2014/main" id="{CB5036C4-79FD-457B-27AA-BFF438D09BEB}"/>
              </a:ext>
            </a:extLst>
          </p:cNvPr>
          <p:cNvGraphicFramePr>
            <a:graphicFrameLocks noGrp="1"/>
          </p:cNvGraphicFramePr>
          <p:nvPr/>
        </p:nvGraphicFramePr>
        <p:xfrm>
          <a:off x="7920431" y="1558422"/>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18" name="表格 17">
            <a:extLst>
              <a:ext uri="{FF2B5EF4-FFF2-40B4-BE49-F238E27FC236}">
                <a16:creationId xmlns:a16="http://schemas.microsoft.com/office/drawing/2014/main" id="{7D921BE9-FF41-1AC1-998D-ECCCDB0B8FDD}"/>
              </a:ext>
            </a:extLst>
          </p:cNvPr>
          <p:cNvGraphicFramePr>
            <a:graphicFrameLocks noGrp="1"/>
          </p:cNvGraphicFramePr>
          <p:nvPr/>
        </p:nvGraphicFramePr>
        <p:xfrm>
          <a:off x="10280848" y="1931645"/>
          <a:ext cx="801528" cy="4150928"/>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970266">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d</a:t>
                      </a:r>
                      <a:r>
                        <a:rPr kumimoji="1" lang="en-US" sz="2000" kern="1200" dirty="0">
                          <a:solidFill>
                            <a:schemeClr val="tx1"/>
                          </a:solidFill>
                          <a:latin typeface="Times New Roman" pitchFamily="18" charset="0"/>
                          <a:ea typeface="楷体_GB2312" pitchFamily="49" charset="-122"/>
                          <a:cs typeface="+mn-cs"/>
                        </a:rPr>
                        <a:t>ata</a:t>
                      </a:r>
                    </a:p>
                    <a:p>
                      <a:pPr marL="0" algn="just" defTabSz="914400" rtl="0" eaLnBrk="1" latinLnBrk="0" hangingPunct="1">
                        <a:lnSpc>
                          <a:spcPts val="2000"/>
                        </a:lnSpc>
                        <a:spcAft>
                          <a:spcPts val="0"/>
                        </a:spcAft>
                      </a:pP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73507">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73507">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33648">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22" name="Text Box 7">
            <a:extLst>
              <a:ext uri="{FF2B5EF4-FFF2-40B4-BE49-F238E27FC236}">
                <a16:creationId xmlns:a16="http://schemas.microsoft.com/office/drawing/2014/main" id="{B5A5120A-FACC-4B66-8C88-741343AA2EC9}"/>
              </a:ext>
            </a:extLst>
          </p:cNvPr>
          <p:cNvSpPr txBox="1">
            <a:spLocks noChangeArrowheads="1"/>
          </p:cNvSpPr>
          <p:nvPr/>
        </p:nvSpPr>
        <p:spPr bwMode="auto">
          <a:xfrm flipH="1">
            <a:off x="7333397" y="1421160"/>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sp>
        <p:nvSpPr>
          <p:cNvPr id="24" name="右大括号 23">
            <a:extLst>
              <a:ext uri="{FF2B5EF4-FFF2-40B4-BE49-F238E27FC236}">
                <a16:creationId xmlns:a16="http://schemas.microsoft.com/office/drawing/2014/main" id="{2C45CEF3-4A54-50A2-6A11-91CE36959195}"/>
              </a:ext>
            </a:extLst>
          </p:cNvPr>
          <p:cNvSpPr/>
          <p:nvPr/>
        </p:nvSpPr>
        <p:spPr>
          <a:xfrm>
            <a:off x="10064824" y="1944379"/>
            <a:ext cx="216024" cy="3068779"/>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5" name="表格 24">
            <a:extLst>
              <a:ext uri="{FF2B5EF4-FFF2-40B4-BE49-F238E27FC236}">
                <a16:creationId xmlns:a16="http://schemas.microsoft.com/office/drawing/2014/main" id="{8DE7E9E6-5522-C98F-9928-76F63255ABD4}"/>
              </a:ext>
            </a:extLst>
          </p:cNvPr>
          <p:cNvGraphicFramePr>
            <a:graphicFrameLocks noGrp="1"/>
          </p:cNvGraphicFramePr>
          <p:nvPr/>
        </p:nvGraphicFramePr>
        <p:xfrm>
          <a:off x="7486454" y="2035181"/>
          <a:ext cx="345440" cy="3122009"/>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70354">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0</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70354">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370354">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529531">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p>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8</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cxnSp>
        <p:nvCxnSpPr>
          <p:cNvPr id="35" name="直接箭头连接符 34">
            <a:extLst>
              <a:ext uri="{FF2B5EF4-FFF2-40B4-BE49-F238E27FC236}">
                <a16:creationId xmlns:a16="http://schemas.microsoft.com/office/drawing/2014/main" id="{ED2BB792-24C2-03F8-8CBC-3CD9D90CB9FF}"/>
              </a:ext>
            </a:extLst>
          </p:cNvPr>
          <p:cNvCxnSpPr>
            <a:cxnSpLocks/>
          </p:cNvCxnSpPr>
          <p:nvPr/>
        </p:nvCxnSpPr>
        <p:spPr>
          <a:xfrm flipV="1">
            <a:off x="7435820" y="3212976"/>
            <a:ext cx="0" cy="1615988"/>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2" name="Text Box 2">
            <a:extLst>
              <a:ext uri="{FF2B5EF4-FFF2-40B4-BE49-F238E27FC236}">
                <a16:creationId xmlns:a16="http://schemas.microsoft.com/office/drawing/2014/main" id="{D74015D5-2CDA-C32F-9C99-2164501B0458}"/>
              </a:ext>
            </a:extLst>
          </p:cNvPr>
          <p:cNvSpPr txBox="1">
            <a:spLocks noChangeArrowheads="1"/>
          </p:cNvSpPr>
          <p:nvPr/>
        </p:nvSpPr>
        <p:spPr bwMode="auto">
          <a:xfrm>
            <a:off x="902779" y="1942366"/>
            <a:ext cx="6423196" cy="1231106"/>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2</a:t>
            </a:r>
            <a:r>
              <a:rPr kumimoji="1" lang="zh-CN" altLang="en-US" sz="2000" dirty="0">
                <a:latin typeface="Consolas" pitchFamily="49" charset="0"/>
                <a:ea typeface="微软雅黑" pitchFamily="34" charset="-122"/>
                <a:cs typeface="Consolas" pitchFamily="49" charset="0"/>
              </a:rPr>
              <a:t>）三元组元素赋值：</a:t>
            </a:r>
            <a:r>
              <a:rPr kumimoji="1" lang="en-US" altLang="zh-CN" sz="2000" i="1" dirty="0">
                <a:latin typeface="Consolas" pitchFamily="49" charset="0"/>
                <a:ea typeface="微软雅黑" pitchFamily="34" charset="-122"/>
                <a:cs typeface="Consolas" pitchFamily="49" charset="0"/>
              </a:rPr>
              <a:t>A</a:t>
            </a:r>
            <a:r>
              <a:rPr kumimoji="1" lang="en-US" altLang="zh-CN" sz="2000" dirty="0">
                <a:latin typeface="Consolas" pitchFamily="49" charset="0"/>
                <a:ea typeface="微软雅黑" pitchFamily="34" charset="-122"/>
                <a:cs typeface="Consolas" pitchFamily="49" charset="0"/>
              </a:rPr>
              <a:t>[</a:t>
            </a:r>
            <a:r>
              <a:rPr kumimoji="1" lang="en-US" altLang="zh-CN" sz="2000" i="1" dirty="0" err="1">
                <a:latin typeface="Consolas" pitchFamily="49" charset="0"/>
                <a:ea typeface="微软雅黑" pitchFamily="34" charset="-122"/>
                <a:cs typeface="Consolas" pitchFamily="49" charset="0"/>
              </a:rPr>
              <a:t>i</a:t>
            </a:r>
            <a:r>
              <a:rPr kumimoji="1" lang="en-US" altLang="zh-CN" sz="2000" dirty="0">
                <a:latin typeface="Consolas" pitchFamily="49" charset="0"/>
                <a:ea typeface="微软雅黑" pitchFamily="34" charset="-122"/>
                <a:cs typeface="Consolas" pitchFamily="49" charset="0"/>
              </a:rPr>
              <a:t>][</a:t>
            </a:r>
            <a:r>
              <a:rPr kumimoji="1" lang="en-US" altLang="zh-CN" sz="2000" i="1" dirty="0">
                <a:latin typeface="Consolas" pitchFamily="49" charset="0"/>
                <a:ea typeface="微软雅黑" pitchFamily="34" charset="-122"/>
                <a:cs typeface="Consolas" pitchFamily="49" charset="0"/>
              </a:rPr>
              <a:t>j</a:t>
            </a:r>
            <a:r>
              <a:rPr kumimoji="1" lang="en-US" altLang="zh-CN" sz="2000" dirty="0">
                <a:latin typeface="Consolas" pitchFamily="49" charset="0"/>
                <a:ea typeface="微软雅黑" pitchFamily="34" charset="-122"/>
                <a:cs typeface="Consolas" pitchFamily="49" charset="0"/>
              </a:rPr>
              <a:t>]=</a:t>
            </a:r>
            <a:r>
              <a:rPr kumimoji="1" lang="en-US" altLang="zh-CN" sz="2000" i="1" dirty="0">
                <a:latin typeface="Consolas" pitchFamily="49" charset="0"/>
                <a:ea typeface="微软雅黑" pitchFamily="34" charset="-122"/>
                <a:cs typeface="Consolas" pitchFamily="49" charset="0"/>
              </a:rPr>
              <a:t>x</a:t>
            </a:r>
            <a:r>
              <a:rPr kumimoji="1" lang="en-US" altLang="zh-CN" sz="2000" dirty="0">
                <a:latin typeface="Consolas" pitchFamily="49" charset="0"/>
                <a:ea typeface="微软雅黑" pitchFamily="34" charset="-122"/>
                <a:cs typeface="Consolas" pitchFamily="49" charset="0"/>
              </a:rPr>
              <a:t> </a:t>
            </a:r>
            <a:endParaRPr kumimoji="1" lang="zh-CN" altLang="en-US" sz="2000" dirty="0">
              <a:latin typeface="Consolas" pitchFamily="49" charset="0"/>
              <a:ea typeface="微软雅黑" pitchFamily="34" charset="-122"/>
              <a:cs typeface="Consolas" pitchFamily="49" charset="0"/>
            </a:endParaRPr>
          </a:p>
          <a:p>
            <a:pPr algn="just">
              <a:lnSpc>
                <a:spcPct val="90000"/>
              </a:lnSpc>
              <a:spcBef>
                <a:spcPct val="50000"/>
              </a:spcBef>
            </a:pPr>
            <a:r>
              <a:rPr kumimoji="1" lang="zh-CN" altLang="en-US" sz="2000" dirty="0">
                <a:latin typeface="Consolas" pitchFamily="49" charset="0"/>
                <a:ea typeface="仿宋" pitchFamily="49" charset="-122"/>
                <a:cs typeface="Consolas" pitchFamily="49" charset="0"/>
              </a:rPr>
              <a:t>分为两种情况：</a:t>
            </a:r>
            <a:endParaRPr kumimoji="1" lang="en-US" altLang="zh-CN" sz="2000" dirty="0">
              <a:latin typeface="Consolas" pitchFamily="49" charset="0"/>
              <a:ea typeface="仿宋" pitchFamily="49" charset="-122"/>
              <a:cs typeface="Consolas" pitchFamily="49" charset="0"/>
            </a:endParaRPr>
          </a:p>
          <a:p>
            <a:pPr algn="just">
              <a:lnSpc>
                <a:spcPct val="90000"/>
              </a:lnSpc>
              <a:spcBef>
                <a:spcPct val="50000"/>
              </a:spcBef>
            </a:pPr>
            <a:r>
              <a:rPr kumimoji="1" lang="en-US" altLang="zh-CN" sz="2000" dirty="0">
                <a:latin typeface="Consolas" pitchFamily="49" charset="0"/>
                <a:ea typeface="楷体" pitchFamily="49" charset="-122"/>
                <a:cs typeface="Consolas" pitchFamily="49" charset="0"/>
              </a:rPr>
              <a:t> ②</a:t>
            </a:r>
            <a:r>
              <a:rPr kumimoji="1" lang="zh-CN" altLang="en-US" sz="2000" dirty="0">
                <a:latin typeface="Consolas" pitchFamily="49" charset="0"/>
                <a:ea typeface="楷体" pitchFamily="49" charset="-122"/>
                <a:cs typeface="Consolas" pitchFamily="49" charset="0"/>
              </a:rPr>
              <a:t>将一个</a:t>
            </a:r>
            <a:r>
              <a:rPr kumimoji="1" lang="en-US" altLang="zh-CN" sz="2000" dirty="0">
                <a:latin typeface="Consolas" pitchFamily="49" charset="0"/>
                <a:ea typeface="楷体" pitchFamily="49" charset="-122"/>
                <a:cs typeface="Consolas" pitchFamily="49" charset="0"/>
              </a:rPr>
              <a:t>0</a:t>
            </a:r>
            <a:r>
              <a:rPr kumimoji="1" lang="zh-CN" altLang="en-US" sz="2000" dirty="0">
                <a:latin typeface="Consolas" pitchFamily="49" charset="0"/>
                <a:ea typeface="楷体" pitchFamily="49" charset="-122"/>
                <a:cs typeface="Consolas" pitchFamily="49" charset="0"/>
              </a:rPr>
              <a:t>元素修改为非</a:t>
            </a:r>
            <a:r>
              <a:rPr kumimoji="1" lang="en-US" altLang="zh-CN" sz="2000" dirty="0">
                <a:latin typeface="Consolas" pitchFamily="49" charset="0"/>
                <a:ea typeface="楷体" pitchFamily="49" charset="-122"/>
                <a:cs typeface="Consolas" pitchFamily="49" charset="0"/>
              </a:rPr>
              <a:t>0</a:t>
            </a:r>
            <a:r>
              <a:rPr kumimoji="1" lang="zh-CN" altLang="en-US" sz="2000" dirty="0">
                <a:latin typeface="Consolas" pitchFamily="49" charset="0"/>
                <a:ea typeface="楷体" pitchFamily="49" charset="-122"/>
                <a:cs typeface="Consolas" pitchFamily="49" charset="0"/>
              </a:rPr>
              <a:t>值。如</a:t>
            </a:r>
            <a:r>
              <a:rPr kumimoji="1" lang="en-US" altLang="zh-CN" sz="2000" i="1" dirty="0">
                <a:solidFill>
                  <a:srgbClr val="FF0000"/>
                </a:solidFill>
                <a:latin typeface="Consolas" pitchFamily="49" charset="0"/>
                <a:ea typeface="楷体" pitchFamily="49" charset="-122"/>
                <a:cs typeface="Consolas" pitchFamily="49" charset="0"/>
              </a:rPr>
              <a:t>A</a:t>
            </a:r>
            <a:r>
              <a:rPr kumimoji="1" lang="en-US" altLang="zh-CN" sz="2000" dirty="0">
                <a:solidFill>
                  <a:srgbClr val="FF0000"/>
                </a:solidFill>
                <a:latin typeface="Consolas" pitchFamily="49" charset="0"/>
                <a:ea typeface="楷体" pitchFamily="49" charset="-122"/>
                <a:cs typeface="Consolas" pitchFamily="49" charset="0"/>
              </a:rPr>
              <a:t>[3][5]=8</a:t>
            </a:r>
            <a:endParaRPr kumimoji="1" lang="en-US" altLang="zh-CN" sz="2000" dirty="0">
              <a:latin typeface="Consolas" pitchFamily="49" charset="0"/>
              <a:ea typeface="仿宋" pitchFamily="49" charset="-122"/>
              <a:cs typeface="Consolas" pitchFamily="49" charset="0"/>
            </a:endParaRPr>
          </a:p>
        </p:txBody>
      </p:sp>
      <p:sp>
        <p:nvSpPr>
          <p:cNvPr id="4" name="Text Box 4">
            <a:extLst>
              <a:ext uri="{FF2B5EF4-FFF2-40B4-BE49-F238E27FC236}">
                <a16:creationId xmlns:a16="http://schemas.microsoft.com/office/drawing/2014/main" id="{4511B07F-2A7D-E448-0200-AEE895D953E0}"/>
              </a:ext>
            </a:extLst>
          </p:cNvPr>
          <p:cNvSpPr txBox="1">
            <a:spLocks noChangeArrowheads="1"/>
          </p:cNvSpPr>
          <p:nvPr/>
        </p:nvSpPr>
        <p:spPr bwMode="auto">
          <a:xfrm>
            <a:off x="290906" y="3173472"/>
            <a:ext cx="7021970" cy="3492476"/>
          </a:xfrm>
          <a:prstGeom prst="rect">
            <a:avLst/>
          </a:prstGeom>
          <a:solidFill>
            <a:schemeClr val="bg1"/>
          </a:solidFill>
          <a:ln>
            <a:headEnd/>
            <a:tailEnd/>
          </a:ln>
        </p:spPr>
        <p:style>
          <a:lnRef idx="1">
            <a:schemeClr val="accent3"/>
          </a:lnRef>
          <a:fillRef idx="2">
            <a:schemeClr val="accent3"/>
          </a:fillRef>
          <a:effectRef idx="1">
            <a:schemeClr val="accent3"/>
          </a:effectRef>
          <a:fontRef idx="minor">
            <a:schemeClr val="dk1"/>
          </a:fontRef>
        </p:style>
        <p:txBody>
          <a:bodyPr wrap="square" tIns="36000" bIns="108000">
            <a:spAutoFit/>
          </a:bodyPr>
          <a:lstStyle/>
          <a:p>
            <a:pPr algn="l">
              <a:lnSpc>
                <a:spcPts val="2300"/>
              </a:lnSpc>
            </a:pPr>
            <a:endParaRPr kumimoji="1" lang="en-US" altLang="zh-CN" sz="1800" dirty="0">
              <a:solidFill>
                <a:srgbClr val="0000FF"/>
              </a:solidFill>
              <a:latin typeface="Consolas" pitchFamily="49" charset="0"/>
              <a:ea typeface="仿宋" pitchFamily="49" charset="-122"/>
              <a:cs typeface="Consolas" pitchFamily="49" charset="0"/>
            </a:endParaRPr>
          </a:p>
          <a:p>
            <a:pPr algn="l">
              <a:lnSpc>
                <a:spcPts val="1700"/>
              </a:lnSpc>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600" dirty="0">
                <a:solidFill>
                  <a:srgbClr val="0000FF"/>
                </a:solidFill>
                <a:latin typeface="Consolas" pitchFamily="49" charset="0"/>
                <a:ea typeface="仿宋" pitchFamily="49" charset="-122"/>
                <a:cs typeface="Consolas" pitchFamily="49" charset="0"/>
              </a:rPr>
              <a:t>if (</a:t>
            </a:r>
            <a:r>
              <a:rPr kumimoji="1" lang="en-US" altLang="zh-CN" sz="1600" dirty="0" err="1">
                <a:solidFill>
                  <a:srgbClr val="0000FF"/>
                </a:solidFill>
                <a:latin typeface="Consolas" pitchFamily="49" charset="0"/>
                <a:ea typeface="仿宋" pitchFamily="49" charset="-122"/>
                <a:cs typeface="Consolas" pitchFamily="49" charset="0"/>
              </a:rPr>
              <a:t>t.data</a:t>
            </a:r>
            <a:r>
              <a:rPr kumimoji="1" lang="en-US" altLang="zh-CN" sz="1600" dirty="0">
                <a:solidFill>
                  <a:srgbClr val="0000FF"/>
                </a:solidFill>
                <a:latin typeface="Consolas" pitchFamily="49" charset="0"/>
                <a:ea typeface="仿宋" pitchFamily="49" charset="-122"/>
                <a:cs typeface="Consolas" pitchFamily="49" charset="0"/>
              </a:rPr>
              <a:t>[k].r==</a:t>
            </a:r>
            <a:r>
              <a:rPr kumimoji="1" lang="en-US" altLang="zh-CN" sz="1600" dirty="0" err="1">
                <a:solidFill>
                  <a:srgbClr val="0000FF"/>
                </a:solidFill>
                <a:latin typeface="Consolas" pitchFamily="49" charset="0"/>
                <a:ea typeface="仿宋" pitchFamily="49" charset="-122"/>
                <a:cs typeface="Consolas" pitchFamily="49" charset="0"/>
              </a:rPr>
              <a:t>i</a:t>
            </a:r>
            <a:r>
              <a:rPr kumimoji="1" lang="en-US" altLang="zh-CN" sz="1600" dirty="0">
                <a:solidFill>
                  <a:srgbClr val="0000FF"/>
                </a:solidFill>
                <a:latin typeface="Consolas" pitchFamily="49" charset="0"/>
                <a:ea typeface="仿宋" pitchFamily="49" charset="-122"/>
                <a:cs typeface="Consolas" pitchFamily="49" charset="0"/>
              </a:rPr>
              <a:t> &amp;&amp; </a:t>
            </a:r>
            <a:r>
              <a:rPr kumimoji="1" lang="en-US" altLang="zh-CN" sz="1600" dirty="0" err="1">
                <a:solidFill>
                  <a:srgbClr val="0000FF"/>
                </a:solidFill>
                <a:latin typeface="Consolas" pitchFamily="49" charset="0"/>
                <a:ea typeface="仿宋" pitchFamily="49" charset="-122"/>
                <a:cs typeface="Consolas" pitchFamily="49" charset="0"/>
              </a:rPr>
              <a:t>t.data</a:t>
            </a:r>
            <a:r>
              <a:rPr kumimoji="1" lang="en-US" altLang="zh-CN" sz="1600" dirty="0">
                <a:solidFill>
                  <a:srgbClr val="0000FF"/>
                </a:solidFill>
                <a:latin typeface="Consolas" pitchFamily="49" charset="0"/>
                <a:ea typeface="仿宋" pitchFamily="49" charset="-122"/>
                <a:cs typeface="Consolas" pitchFamily="49" charset="0"/>
              </a:rPr>
              <a:t>[k].c==j)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存在这样的元素</a:t>
            </a:r>
          </a:p>
          <a:p>
            <a:pPr algn="l">
              <a:lnSpc>
                <a:spcPts val="1700"/>
              </a:lnSpc>
            </a:pP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err="1">
                <a:solidFill>
                  <a:srgbClr val="0000FF"/>
                </a:solidFill>
                <a:latin typeface="Consolas" pitchFamily="49" charset="0"/>
                <a:ea typeface="仿宋" pitchFamily="49" charset="-122"/>
                <a:cs typeface="Consolas" pitchFamily="49" charset="0"/>
              </a:rPr>
              <a:t>t.data</a:t>
            </a:r>
            <a:r>
              <a:rPr kumimoji="1" lang="en-US" altLang="zh-CN" sz="1600" dirty="0">
                <a:solidFill>
                  <a:srgbClr val="0000FF"/>
                </a:solidFill>
                <a:latin typeface="Consolas" pitchFamily="49" charset="0"/>
                <a:ea typeface="仿宋" pitchFamily="49" charset="-122"/>
                <a:cs typeface="Consolas" pitchFamily="49" charset="0"/>
              </a:rPr>
              <a:t>[k].d=x;</a:t>
            </a:r>
          </a:p>
          <a:p>
            <a:pPr algn="l">
              <a:lnSpc>
                <a:spcPts val="1700"/>
              </a:lnSpc>
            </a:pPr>
            <a:endParaRPr kumimoji="1" lang="en-US" altLang="zh-CN" sz="1600" dirty="0">
              <a:solidFill>
                <a:srgbClr val="0000FF"/>
              </a:solidFill>
              <a:latin typeface="Consolas" pitchFamily="49" charset="0"/>
              <a:ea typeface="仿宋" pitchFamily="49" charset="-122"/>
              <a:cs typeface="Consolas" pitchFamily="49" charset="0"/>
            </a:endParaRPr>
          </a:p>
          <a:p>
            <a:pPr algn="l">
              <a:lnSpc>
                <a:spcPts val="1700"/>
              </a:lnSpc>
            </a:pPr>
            <a:r>
              <a:rPr kumimoji="1" lang="en-US" altLang="zh-CN" sz="1600" dirty="0">
                <a:solidFill>
                  <a:srgbClr val="0000FF"/>
                </a:solidFill>
                <a:latin typeface="Consolas" pitchFamily="49" charset="0"/>
                <a:ea typeface="仿宋" pitchFamily="49" charset="-122"/>
                <a:cs typeface="Consolas" pitchFamily="49" charset="0"/>
              </a:rPr>
              <a:t>   else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不存在这样的元素时插入一个元素</a:t>
            </a:r>
          </a:p>
          <a:p>
            <a:pPr algn="l">
              <a:lnSpc>
                <a:spcPts val="1700"/>
              </a:lnSpc>
            </a:pPr>
            <a:r>
              <a:rPr kumimoji="1" lang="zh-CN" altLang="en-US" sz="1600" dirty="0">
                <a:solidFill>
                  <a:srgbClr val="0000FF"/>
                </a:solidFill>
                <a:latin typeface="Consolas" pitchFamily="49" charset="0"/>
                <a:ea typeface="仿宋" pitchFamily="49" charset="-122"/>
                <a:cs typeface="Consolas" pitchFamily="49" charset="0"/>
              </a:rPr>
              <a:t>   </a:t>
            </a:r>
            <a:r>
              <a:rPr kumimoji="1" lang="nb-NO" altLang="zh-CN" sz="1600" dirty="0">
                <a:solidFill>
                  <a:srgbClr val="0000FF"/>
                </a:solidFill>
                <a:latin typeface="Consolas" pitchFamily="49" charset="0"/>
                <a:ea typeface="仿宋" pitchFamily="49" charset="-122"/>
                <a:cs typeface="Consolas" pitchFamily="49" charset="0"/>
              </a:rPr>
              <a:t>{   for (k1=t.nums-1;k1&gt;=k;k1--)</a:t>
            </a:r>
          </a:p>
          <a:p>
            <a:pPr algn="l">
              <a:lnSpc>
                <a:spcPts val="1700"/>
              </a:lnSpc>
            </a:pPr>
            <a:r>
              <a:rPr kumimoji="1" lang="nb-NO" altLang="zh-CN" sz="1600" dirty="0">
                <a:solidFill>
                  <a:srgbClr val="0000FF"/>
                </a:solidFill>
                <a:latin typeface="Consolas" pitchFamily="49" charset="0"/>
                <a:ea typeface="仿宋" pitchFamily="49" charset="-122"/>
                <a:cs typeface="Consolas" pitchFamily="49" charset="0"/>
              </a:rPr>
              <a:t>	</a:t>
            </a:r>
            <a:r>
              <a:rPr kumimoji="1" lang="pt-BR" altLang="zh-CN" sz="1600" dirty="0">
                <a:solidFill>
                  <a:srgbClr val="0000FF"/>
                </a:solidFill>
                <a:latin typeface="Consolas" pitchFamily="49" charset="0"/>
                <a:ea typeface="仿宋" pitchFamily="49" charset="-122"/>
                <a:cs typeface="Consolas" pitchFamily="49" charset="0"/>
              </a:rPr>
              <a:t>{  t.data[k1+1].r=t.data[k1].r;</a:t>
            </a:r>
          </a:p>
          <a:p>
            <a:pPr algn="l">
              <a:lnSpc>
                <a:spcPts val="1700"/>
              </a:lnSpc>
            </a:pPr>
            <a:r>
              <a:rPr kumimoji="1" lang="pt-BR" altLang="zh-CN" sz="1600" dirty="0">
                <a:solidFill>
                  <a:srgbClr val="0000FF"/>
                </a:solidFill>
                <a:latin typeface="Consolas" pitchFamily="49" charset="0"/>
                <a:ea typeface="仿宋" pitchFamily="49" charset="-122"/>
                <a:cs typeface="Consolas" pitchFamily="49" charset="0"/>
              </a:rPr>
              <a:t>	   t.data[k1+1].c=t.data[k1].c;</a:t>
            </a:r>
          </a:p>
          <a:p>
            <a:pPr algn="l">
              <a:lnSpc>
                <a:spcPts val="1700"/>
              </a:lnSpc>
            </a:pPr>
            <a:r>
              <a:rPr kumimoji="1" lang="pt-BR" altLang="zh-CN" sz="1600" dirty="0">
                <a:solidFill>
                  <a:srgbClr val="0000FF"/>
                </a:solidFill>
                <a:latin typeface="Consolas" pitchFamily="49" charset="0"/>
                <a:ea typeface="仿宋" pitchFamily="49" charset="-122"/>
                <a:cs typeface="Consolas" pitchFamily="49" charset="0"/>
              </a:rPr>
              <a:t>	   t.data[k1+1].d=t.data[k1].d;</a:t>
            </a:r>
          </a:p>
          <a:p>
            <a:pPr algn="l">
              <a:lnSpc>
                <a:spcPts val="1700"/>
              </a:lnSpc>
            </a:pPr>
            <a:r>
              <a:rPr kumimoji="1" lang="pt-BR" altLang="zh-CN" sz="1600" dirty="0">
                <a:solidFill>
                  <a:srgbClr val="0000FF"/>
                </a:solidFill>
                <a:latin typeface="Consolas" pitchFamily="49" charset="0"/>
                <a:ea typeface="仿宋" pitchFamily="49" charset="-122"/>
                <a:cs typeface="Consolas" pitchFamily="49" charset="0"/>
              </a:rPr>
              <a:t>	}</a:t>
            </a:r>
          </a:p>
          <a:p>
            <a:pPr algn="l">
              <a:lnSpc>
                <a:spcPts val="1700"/>
              </a:lnSpc>
            </a:pPr>
            <a:r>
              <a:rPr kumimoji="1" lang="pt-BR" altLang="zh-CN" sz="1600" dirty="0">
                <a:solidFill>
                  <a:srgbClr val="0000FF"/>
                </a:solidFill>
                <a:latin typeface="Consolas" pitchFamily="49" charset="0"/>
                <a:ea typeface="仿宋" pitchFamily="49" charset="-122"/>
                <a:cs typeface="Consolas" pitchFamily="49" charset="0"/>
              </a:rPr>
              <a:t>	t.data[k].r=i;t.data[k].c=j;t.data[k].d=x;</a:t>
            </a:r>
          </a:p>
          <a:p>
            <a:pPr algn="l">
              <a:lnSpc>
                <a:spcPts val="1700"/>
              </a:lnSpc>
            </a:pPr>
            <a:r>
              <a:rPr kumimoji="1" lang="pt-BR" altLang="zh-CN" sz="1600" dirty="0">
                <a:solidFill>
                  <a:srgbClr val="0000FF"/>
                </a:solidFill>
                <a:latin typeface="Consolas" pitchFamily="49" charset="0"/>
                <a:ea typeface="仿宋" pitchFamily="49" charset="-122"/>
                <a:cs typeface="Consolas" pitchFamily="49" charset="0"/>
              </a:rPr>
              <a:t>	</a:t>
            </a:r>
            <a:r>
              <a:rPr kumimoji="1" lang="en-US" altLang="zh-CN" sz="1600" dirty="0" err="1">
                <a:solidFill>
                  <a:srgbClr val="0000FF"/>
                </a:solidFill>
                <a:latin typeface="Consolas" pitchFamily="49" charset="0"/>
                <a:ea typeface="仿宋" pitchFamily="49" charset="-122"/>
                <a:cs typeface="Consolas" pitchFamily="49" charset="0"/>
              </a:rPr>
              <a:t>t.nums</a:t>
            </a:r>
            <a:r>
              <a:rPr kumimoji="1" lang="en-US" altLang="zh-CN" sz="1600" dirty="0">
                <a:solidFill>
                  <a:srgbClr val="0000FF"/>
                </a:solidFill>
                <a:latin typeface="Consolas" pitchFamily="49" charset="0"/>
                <a:ea typeface="仿宋" pitchFamily="49" charset="-122"/>
                <a:cs typeface="Consolas" pitchFamily="49" charset="0"/>
              </a:rPr>
              <a:t>++;</a:t>
            </a:r>
          </a:p>
          <a:p>
            <a:pPr algn="l">
              <a:lnSpc>
                <a:spcPts val="1700"/>
              </a:lnSpc>
            </a:pPr>
            <a:r>
              <a:rPr kumimoji="1" lang="en-US" altLang="zh-CN" sz="1600" dirty="0">
                <a:solidFill>
                  <a:srgbClr val="0000FF"/>
                </a:solidFill>
                <a:latin typeface="Consolas" pitchFamily="49" charset="0"/>
                <a:ea typeface="仿宋" pitchFamily="49" charset="-122"/>
                <a:cs typeface="Consolas" pitchFamily="49" charset="0"/>
              </a:rPr>
              <a:t>   }</a:t>
            </a:r>
          </a:p>
          <a:p>
            <a:pPr algn="l">
              <a:lnSpc>
                <a:spcPts val="1700"/>
              </a:lnSpc>
            </a:pPr>
            <a:r>
              <a:rPr kumimoji="1" lang="en-US" altLang="zh-CN" sz="1600" dirty="0">
                <a:solidFill>
                  <a:srgbClr val="0000FF"/>
                </a:solidFill>
                <a:latin typeface="Consolas" pitchFamily="49" charset="0"/>
                <a:ea typeface="仿宋" pitchFamily="49" charset="-122"/>
                <a:cs typeface="Consolas" pitchFamily="49" charset="0"/>
              </a:rPr>
              <a:t>   return true;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成功时返回</a:t>
            </a:r>
            <a:r>
              <a:rPr kumimoji="1" lang="en-US" altLang="zh-CN" sz="1600" dirty="0">
                <a:solidFill>
                  <a:srgbClr val="00B0F0"/>
                </a:solidFill>
                <a:latin typeface="Consolas" pitchFamily="49" charset="0"/>
                <a:ea typeface="仿宋" pitchFamily="49" charset="-122"/>
                <a:cs typeface="Consolas" pitchFamily="49" charset="0"/>
              </a:rPr>
              <a:t>true</a:t>
            </a:r>
          </a:p>
          <a:p>
            <a:pPr algn="l">
              <a:lnSpc>
                <a:spcPts val="1700"/>
              </a:lnSpc>
            </a:pPr>
            <a:r>
              <a:rPr kumimoji="1" lang="en-US" altLang="zh-CN" sz="1600" dirty="0">
                <a:solidFill>
                  <a:srgbClr val="0000FF"/>
                </a:solidFill>
                <a:latin typeface="Consolas" pitchFamily="49" charset="0"/>
                <a:ea typeface="仿宋" pitchFamily="49" charset="-122"/>
                <a:cs typeface="Consolas" pitchFamily="49" charset="0"/>
              </a:rPr>
              <a:t>}</a:t>
            </a:r>
            <a:endParaRPr lang="en-US" altLang="zh-CN" sz="1600" dirty="0">
              <a:solidFill>
                <a:srgbClr val="0000FF"/>
              </a:solidFill>
              <a:latin typeface="Consolas" pitchFamily="49" charset="0"/>
              <a:ea typeface="仿宋" pitchFamily="49" charset="-122"/>
              <a:cs typeface="Consolas" pitchFamily="49" charset="0"/>
            </a:endParaRPr>
          </a:p>
        </p:txBody>
      </p:sp>
      <p:sp>
        <p:nvSpPr>
          <p:cNvPr id="7" name="Text Box 7">
            <a:extLst>
              <a:ext uri="{FF2B5EF4-FFF2-40B4-BE49-F238E27FC236}">
                <a16:creationId xmlns:a16="http://schemas.microsoft.com/office/drawing/2014/main" id="{32BBF46D-158F-8DB3-98F0-FAC35F6C3C83}"/>
              </a:ext>
            </a:extLst>
          </p:cNvPr>
          <p:cNvSpPr txBox="1">
            <a:spLocks noChangeArrowheads="1"/>
          </p:cNvSpPr>
          <p:nvPr/>
        </p:nvSpPr>
        <p:spPr bwMode="auto">
          <a:xfrm flipH="1">
            <a:off x="6577895" y="2905780"/>
            <a:ext cx="418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k</a:t>
            </a:r>
          </a:p>
        </p:txBody>
      </p:sp>
      <p:cxnSp>
        <p:nvCxnSpPr>
          <p:cNvPr id="8" name="直接箭头连接符 7">
            <a:extLst>
              <a:ext uri="{FF2B5EF4-FFF2-40B4-BE49-F238E27FC236}">
                <a16:creationId xmlns:a16="http://schemas.microsoft.com/office/drawing/2014/main" id="{3EB717A4-ADFA-92B9-4D51-D4ACA3B9F528}"/>
              </a:ext>
            </a:extLst>
          </p:cNvPr>
          <p:cNvCxnSpPr>
            <a:cxnSpLocks/>
          </p:cNvCxnSpPr>
          <p:nvPr/>
        </p:nvCxnSpPr>
        <p:spPr>
          <a:xfrm>
            <a:off x="6895396" y="3173472"/>
            <a:ext cx="50405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 Box 7">
            <a:extLst>
              <a:ext uri="{FF2B5EF4-FFF2-40B4-BE49-F238E27FC236}">
                <a16:creationId xmlns:a16="http://schemas.microsoft.com/office/drawing/2014/main" id="{B1AA8D00-036D-508A-9D8D-C9F2FF936040}"/>
              </a:ext>
            </a:extLst>
          </p:cNvPr>
          <p:cNvSpPr txBox="1">
            <a:spLocks noChangeArrowheads="1"/>
          </p:cNvSpPr>
          <p:nvPr/>
        </p:nvSpPr>
        <p:spPr bwMode="auto">
          <a:xfrm flipH="1">
            <a:off x="6496938" y="4567354"/>
            <a:ext cx="65048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k1</a:t>
            </a:r>
          </a:p>
        </p:txBody>
      </p:sp>
      <p:cxnSp>
        <p:nvCxnSpPr>
          <p:cNvPr id="10" name="直接箭头连接符 9">
            <a:extLst>
              <a:ext uri="{FF2B5EF4-FFF2-40B4-BE49-F238E27FC236}">
                <a16:creationId xmlns:a16="http://schemas.microsoft.com/office/drawing/2014/main" id="{F98D71BC-48A8-7FEE-F3DD-65E7735905C0}"/>
              </a:ext>
            </a:extLst>
          </p:cNvPr>
          <p:cNvCxnSpPr>
            <a:cxnSpLocks/>
          </p:cNvCxnSpPr>
          <p:nvPr/>
        </p:nvCxnSpPr>
        <p:spPr>
          <a:xfrm>
            <a:off x="6985564" y="4828964"/>
            <a:ext cx="388784" cy="104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3818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1DC28-012F-80CD-6AB2-996BE5D05FE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A7E4A03-F6A8-038C-DF5E-A2C5F7495FC8}"/>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70D08FD0-5EFD-D8BE-C9A7-488AC95BA60D}"/>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8FD670F8-6B9A-3A72-7F59-55EA91E26B57}"/>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graphicFrame>
        <p:nvGraphicFramePr>
          <p:cNvPr id="14" name="表格 13">
            <a:extLst>
              <a:ext uri="{FF2B5EF4-FFF2-40B4-BE49-F238E27FC236}">
                <a16:creationId xmlns:a16="http://schemas.microsoft.com/office/drawing/2014/main" id="{16F6714A-3056-9141-B77E-39B678F0A29D}"/>
              </a:ext>
            </a:extLst>
          </p:cNvPr>
          <p:cNvGraphicFramePr>
            <a:graphicFrameLocks noGrp="1"/>
          </p:cNvGraphicFramePr>
          <p:nvPr/>
        </p:nvGraphicFramePr>
        <p:xfrm>
          <a:off x="7937848" y="1942366"/>
          <a:ext cx="2133600" cy="4015295"/>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0609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0"/>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1"/>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2"/>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3"/>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4"/>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5</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5"/>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6"/>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7"/>
                  </a:ext>
                </a:extLst>
              </a:tr>
              <a:tr h="352396">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52396">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437640">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15" name="表格 14">
            <a:extLst>
              <a:ext uri="{FF2B5EF4-FFF2-40B4-BE49-F238E27FC236}">
                <a16:creationId xmlns:a16="http://schemas.microsoft.com/office/drawing/2014/main" id="{189A38BC-9D6E-ECAB-4136-DD5879DA57A5}"/>
              </a:ext>
            </a:extLst>
          </p:cNvPr>
          <p:cNvGraphicFramePr>
            <a:graphicFrameLocks noGrp="1"/>
          </p:cNvGraphicFramePr>
          <p:nvPr/>
        </p:nvGraphicFramePr>
        <p:xfrm>
          <a:off x="7920431" y="1558422"/>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18" name="表格 17">
            <a:extLst>
              <a:ext uri="{FF2B5EF4-FFF2-40B4-BE49-F238E27FC236}">
                <a16:creationId xmlns:a16="http://schemas.microsoft.com/office/drawing/2014/main" id="{38DA44DA-0C04-9480-34F4-D32701263FF3}"/>
              </a:ext>
            </a:extLst>
          </p:cNvPr>
          <p:cNvGraphicFramePr>
            <a:graphicFrameLocks noGrp="1"/>
          </p:cNvGraphicFramePr>
          <p:nvPr/>
        </p:nvGraphicFramePr>
        <p:xfrm>
          <a:off x="10199400" y="1942366"/>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22" name="Text Box 7">
            <a:extLst>
              <a:ext uri="{FF2B5EF4-FFF2-40B4-BE49-F238E27FC236}">
                <a16:creationId xmlns:a16="http://schemas.microsoft.com/office/drawing/2014/main" id="{C90C22FF-BA0C-1930-D0C7-4891319AD27F}"/>
              </a:ext>
            </a:extLst>
          </p:cNvPr>
          <p:cNvSpPr txBox="1">
            <a:spLocks noChangeArrowheads="1"/>
          </p:cNvSpPr>
          <p:nvPr/>
        </p:nvSpPr>
        <p:spPr bwMode="auto">
          <a:xfrm flipH="1">
            <a:off x="7333397" y="1421160"/>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sp>
        <p:nvSpPr>
          <p:cNvPr id="24" name="右大括号 23">
            <a:extLst>
              <a:ext uri="{FF2B5EF4-FFF2-40B4-BE49-F238E27FC236}">
                <a16:creationId xmlns:a16="http://schemas.microsoft.com/office/drawing/2014/main" id="{5AE80C0E-1BF4-D94C-0C46-20A81867BE34}"/>
              </a:ext>
            </a:extLst>
          </p:cNvPr>
          <p:cNvSpPr/>
          <p:nvPr/>
        </p:nvSpPr>
        <p:spPr>
          <a:xfrm>
            <a:off x="10064824" y="1944380"/>
            <a:ext cx="216024" cy="2861156"/>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5" name="表格 24">
            <a:extLst>
              <a:ext uri="{FF2B5EF4-FFF2-40B4-BE49-F238E27FC236}">
                <a16:creationId xmlns:a16="http://schemas.microsoft.com/office/drawing/2014/main" id="{1FBAA361-674A-C212-0111-B7E9AD5006EF}"/>
              </a:ext>
            </a:extLst>
          </p:cNvPr>
          <p:cNvGraphicFramePr>
            <a:graphicFrameLocks noGrp="1"/>
          </p:cNvGraphicFramePr>
          <p:nvPr/>
        </p:nvGraphicFramePr>
        <p:xfrm>
          <a:off x="7486454" y="2035181"/>
          <a:ext cx="345440" cy="2842360"/>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0</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cxnSp>
        <p:nvCxnSpPr>
          <p:cNvPr id="35" name="直接箭头连接符 34">
            <a:extLst>
              <a:ext uri="{FF2B5EF4-FFF2-40B4-BE49-F238E27FC236}">
                <a16:creationId xmlns:a16="http://schemas.microsoft.com/office/drawing/2014/main" id="{C315FAE9-D545-8831-7497-CCD7DFD8C144}"/>
              </a:ext>
            </a:extLst>
          </p:cNvPr>
          <p:cNvCxnSpPr>
            <a:cxnSpLocks/>
          </p:cNvCxnSpPr>
          <p:nvPr/>
        </p:nvCxnSpPr>
        <p:spPr>
          <a:xfrm>
            <a:off x="7471608" y="2092660"/>
            <a:ext cx="0" cy="267268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2" name="Text Box 2">
            <a:extLst>
              <a:ext uri="{FF2B5EF4-FFF2-40B4-BE49-F238E27FC236}">
                <a16:creationId xmlns:a16="http://schemas.microsoft.com/office/drawing/2014/main" id="{1661D4A4-E2C6-B9F4-C16F-1EC315106819}"/>
              </a:ext>
            </a:extLst>
          </p:cNvPr>
          <p:cNvSpPr txBox="1">
            <a:spLocks noChangeArrowheads="1"/>
          </p:cNvSpPr>
          <p:nvPr/>
        </p:nvSpPr>
        <p:spPr bwMode="auto">
          <a:xfrm>
            <a:off x="902779" y="1942366"/>
            <a:ext cx="6423196" cy="369332"/>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3</a:t>
            </a:r>
            <a:r>
              <a:rPr kumimoji="1" lang="zh-CN" altLang="en-US" sz="2000" dirty="0">
                <a:latin typeface="Consolas" pitchFamily="49" charset="0"/>
                <a:ea typeface="微软雅黑" pitchFamily="34" charset="-122"/>
                <a:cs typeface="Consolas" pitchFamily="49" charset="0"/>
              </a:rPr>
              <a:t>）</a:t>
            </a:r>
            <a:r>
              <a:rPr kumimoji="1" lang="zh-CN" altLang="en-US" sz="2000" dirty="0">
                <a:latin typeface="Consolas" pitchFamily="49" charset="0"/>
                <a:ea typeface="微软雅黑" pitchFamily="34" charset="-122"/>
              </a:rPr>
              <a:t>将指定位置的元素值赋给变量　执行：</a:t>
            </a:r>
            <a:r>
              <a:rPr kumimoji="1" lang="en-US" altLang="zh-CN" sz="2000" i="1" dirty="0">
                <a:solidFill>
                  <a:srgbClr val="FF0000"/>
                </a:solidFill>
                <a:latin typeface="Consolas" pitchFamily="49" charset="0"/>
                <a:ea typeface="微软雅黑" pitchFamily="34" charset="-122"/>
                <a:cs typeface="Consolas" pitchFamily="49" charset="0"/>
              </a:rPr>
              <a:t>x</a:t>
            </a:r>
            <a:r>
              <a:rPr kumimoji="1" lang="en-US" altLang="zh-CN" sz="2000" dirty="0">
                <a:solidFill>
                  <a:srgbClr val="FF0000"/>
                </a:solidFill>
                <a:latin typeface="Consolas" pitchFamily="49" charset="0"/>
                <a:ea typeface="微软雅黑" pitchFamily="34" charset="-122"/>
                <a:cs typeface="Consolas" pitchFamily="49" charset="0"/>
              </a:rPr>
              <a:t>=</a:t>
            </a:r>
            <a:r>
              <a:rPr kumimoji="1" lang="en-US" altLang="zh-CN" sz="2000" i="1" dirty="0">
                <a:solidFill>
                  <a:srgbClr val="FF0000"/>
                </a:solidFill>
                <a:latin typeface="Consolas" pitchFamily="49" charset="0"/>
                <a:ea typeface="微软雅黑" pitchFamily="34" charset="-122"/>
                <a:cs typeface="Consolas" pitchFamily="49" charset="0"/>
              </a:rPr>
              <a:t>A</a:t>
            </a:r>
            <a:r>
              <a:rPr kumimoji="1" lang="en-US" altLang="zh-CN" sz="2000" dirty="0">
                <a:solidFill>
                  <a:srgbClr val="FF0000"/>
                </a:solidFill>
                <a:latin typeface="Consolas" pitchFamily="49" charset="0"/>
                <a:ea typeface="微软雅黑" pitchFamily="34" charset="-122"/>
                <a:cs typeface="Consolas" pitchFamily="49" charset="0"/>
              </a:rPr>
              <a:t>[</a:t>
            </a:r>
            <a:r>
              <a:rPr kumimoji="1" lang="en-US" altLang="zh-CN" sz="2000" i="1" dirty="0" err="1">
                <a:solidFill>
                  <a:srgbClr val="FF0000"/>
                </a:solidFill>
                <a:latin typeface="Consolas" pitchFamily="49" charset="0"/>
                <a:ea typeface="微软雅黑" pitchFamily="34" charset="-122"/>
                <a:cs typeface="Consolas" pitchFamily="49" charset="0"/>
              </a:rPr>
              <a:t>i</a:t>
            </a:r>
            <a:r>
              <a:rPr kumimoji="1" lang="en-US" altLang="zh-CN" sz="2000" dirty="0">
                <a:solidFill>
                  <a:srgbClr val="FF0000"/>
                </a:solidFill>
                <a:latin typeface="Consolas" pitchFamily="49" charset="0"/>
                <a:ea typeface="微软雅黑" pitchFamily="34" charset="-122"/>
                <a:cs typeface="Consolas" pitchFamily="49" charset="0"/>
              </a:rPr>
              <a:t>][</a:t>
            </a:r>
            <a:r>
              <a:rPr kumimoji="1" lang="en-US" altLang="zh-CN" sz="2000" i="1" dirty="0">
                <a:solidFill>
                  <a:srgbClr val="FF0000"/>
                </a:solidFill>
                <a:latin typeface="Consolas" pitchFamily="49" charset="0"/>
                <a:ea typeface="微软雅黑" pitchFamily="34" charset="-122"/>
                <a:cs typeface="Consolas" pitchFamily="49" charset="0"/>
              </a:rPr>
              <a:t>j</a:t>
            </a:r>
            <a:r>
              <a:rPr kumimoji="1" lang="en-US" altLang="zh-CN" sz="2000" dirty="0">
                <a:solidFill>
                  <a:srgbClr val="FF0000"/>
                </a:solidFill>
                <a:latin typeface="Consolas" pitchFamily="49" charset="0"/>
                <a:ea typeface="微软雅黑" pitchFamily="34" charset="-122"/>
                <a:cs typeface="Consolas" pitchFamily="49" charset="0"/>
              </a:rPr>
              <a:t>] </a:t>
            </a:r>
            <a:endParaRPr kumimoji="1" lang="en-US" altLang="zh-CN" sz="2000" dirty="0">
              <a:latin typeface="Consolas" pitchFamily="49" charset="0"/>
              <a:ea typeface="仿宋" pitchFamily="49" charset="-122"/>
              <a:cs typeface="Consolas" pitchFamily="49" charset="0"/>
            </a:endParaRPr>
          </a:p>
        </p:txBody>
      </p:sp>
      <p:sp>
        <p:nvSpPr>
          <p:cNvPr id="4" name="Text Box 4">
            <a:extLst>
              <a:ext uri="{FF2B5EF4-FFF2-40B4-BE49-F238E27FC236}">
                <a16:creationId xmlns:a16="http://schemas.microsoft.com/office/drawing/2014/main" id="{5E6FEFCB-CCFF-9208-FB95-034D97898BC3}"/>
              </a:ext>
            </a:extLst>
          </p:cNvPr>
          <p:cNvSpPr txBox="1">
            <a:spLocks noChangeArrowheads="1"/>
          </p:cNvSpPr>
          <p:nvPr/>
        </p:nvSpPr>
        <p:spPr bwMode="auto">
          <a:xfrm>
            <a:off x="1001946" y="2326737"/>
            <a:ext cx="6224861" cy="707886"/>
          </a:xfrm>
          <a:prstGeom prst="rect">
            <a:avLst/>
          </a:prstGeom>
          <a:noFill/>
          <a:ln w="38100" algn="ctr">
            <a:noFill/>
            <a:miter lim="800000"/>
            <a:headEnd/>
            <a:tailEnd/>
          </a:ln>
          <a:effectLst/>
        </p:spPr>
        <p:txBody>
          <a:bodyPr wrap="square">
            <a:spAutoFit/>
          </a:bodyPr>
          <a:lstStyle/>
          <a:p>
            <a:pPr algn="just">
              <a:spcBef>
                <a:spcPct val="50000"/>
              </a:spcBef>
            </a:pPr>
            <a:r>
              <a:rPr kumimoji="1" lang="zh-CN" altLang="en-US" sz="2000" dirty="0">
                <a:latin typeface="Consolas" pitchFamily="49" charset="0"/>
                <a:ea typeface="仿宋" pitchFamily="49" charset="-122"/>
                <a:cs typeface="Consolas" pitchFamily="49" charset="0"/>
              </a:rPr>
              <a:t>先在三元组</a:t>
            </a:r>
            <a:r>
              <a:rPr kumimoji="1" lang="en-US" altLang="zh-CN" sz="2000" dirty="0">
                <a:latin typeface="Consolas" pitchFamily="49" charset="0"/>
                <a:ea typeface="仿宋" pitchFamily="49" charset="-122"/>
                <a:cs typeface="Consolas" pitchFamily="49" charset="0"/>
              </a:rPr>
              <a:t>t</a:t>
            </a:r>
            <a:r>
              <a:rPr kumimoji="1" lang="zh-CN" altLang="en-US" sz="2000" dirty="0">
                <a:latin typeface="Consolas" pitchFamily="49" charset="0"/>
                <a:ea typeface="仿宋" pitchFamily="49" charset="-122"/>
                <a:cs typeface="Consolas" pitchFamily="49" charset="0"/>
              </a:rPr>
              <a:t>中找到指定的位置，再将该处的元素值赋给</a:t>
            </a:r>
            <a:r>
              <a:rPr kumimoji="1" lang="en-US" altLang="zh-CN" sz="2000" i="1" dirty="0">
                <a:latin typeface="Consolas" pitchFamily="49" charset="0"/>
                <a:ea typeface="仿宋" pitchFamily="49" charset="-122"/>
                <a:cs typeface="Consolas" pitchFamily="49" charset="0"/>
              </a:rPr>
              <a:t>x</a:t>
            </a:r>
            <a:r>
              <a:rPr kumimoji="1" lang="zh-CN" altLang="en-US" sz="2000" dirty="0">
                <a:latin typeface="Consolas" pitchFamily="49" charset="0"/>
                <a:ea typeface="仿宋" pitchFamily="49" charset="-122"/>
                <a:cs typeface="Consolas" pitchFamily="49" charset="0"/>
              </a:rPr>
              <a:t>。</a:t>
            </a:r>
            <a:endParaRPr lang="zh-CN" altLang="en-US" sz="2000" dirty="0">
              <a:latin typeface="Consolas" pitchFamily="49" charset="0"/>
              <a:ea typeface="仿宋" pitchFamily="49" charset="-122"/>
              <a:cs typeface="Consolas" pitchFamily="49" charset="0"/>
            </a:endParaRPr>
          </a:p>
        </p:txBody>
      </p:sp>
      <p:sp>
        <p:nvSpPr>
          <p:cNvPr id="7" name="Text Box 3">
            <a:extLst>
              <a:ext uri="{FF2B5EF4-FFF2-40B4-BE49-F238E27FC236}">
                <a16:creationId xmlns:a16="http://schemas.microsoft.com/office/drawing/2014/main" id="{0BDDE46B-D5F2-971B-4B05-AB17D870DDEF}"/>
              </a:ext>
            </a:extLst>
          </p:cNvPr>
          <p:cNvSpPr txBox="1">
            <a:spLocks noChangeArrowheads="1"/>
          </p:cNvSpPr>
          <p:nvPr/>
        </p:nvSpPr>
        <p:spPr bwMode="auto">
          <a:xfrm>
            <a:off x="983188" y="2987930"/>
            <a:ext cx="6224860" cy="3554819"/>
          </a:xfrm>
          <a:prstGeom prst="rect">
            <a:avLst/>
          </a:prstGeom>
          <a:solidFill>
            <a:schemeClr val="bg1"/>
          </a:solidFill>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ts val="1800"/>
              </a:lnSpc>
            </a:pPr>
            <a:r>
              <a:rPr lang="en-US" altLang="zh-CN" sz="1600" dirty="0">
                <a:solidFill>
                  <a:srgbClr val="0000FF"/>
                </a:solidFill>
                <a:latin typeface="Consolas" pitchFamily="49" charset="0"/>
                <a:ea typeface="仿宋" pitchFamily="49" charset="-122"/>
                <a:cs typeface="Consolas" pitchFamily="49" charset="0"/>
              </a:rPr>
              <a:t>bool </a:t>
            </a:r>
            <a:r>
              <a:rPr lang="en-US" altLang="zh-CN" sz="1600" dirty="0">
                <a:solidFill>
                  <a:srgbClr val="FF0000"/>
                </a:solidFill>
                <a:latin typeface="Consolas" pitchFamily="49" charset="0"/>
                <a:ea typeface="仿宋" pitchFamily="49" charset="-122"/>
                <a:cs typeface="Consolas" pitchFamily="49" charset="0"/>
              </a:rPr>
              <a:t>Assign</a:t>
            </a:r>
            <a:r>
              <a:rPr lang="en-US" altLang="zh-CN" sz="1600" dirty="0">
                <a:solidFill>
                  <a:srgbClr val="0000FF"/>
                </a:solidFill>
                <a:latin typeface="Consolas" pitchFamily="49" charset="0"/>
                <a:ea typeface="仿宋" pitchFamily="49" charset="-122"/>
                <a:cs typeface="Consolas" pitchFamily="49" charset="0"/>
              </a:rPr>
              <a:t>(</a:t>
            </a:r>
            <a:r>
              <a:rPr lang="en-US" altLang="zh-CN" sz="1600" dirty="0" err="1">
                <a:solidFill>
                  <a:srgbClr val="0000FF"/>
                </a:solidFill>
                <a:latin typeface="Consolas" pitchFamily="49" charset="0"/>
                <a:ea typeface="仿宋" pitchFamily="49" charset="-122"/>
                <a:cs typeface="Consolas" pitchFamily="49" charset="0"/>
              </a:rPr>
              <a:t>TSMatrix</a:t>
            </a:r>
            <a:r>
              <a:rPr lang="en-US" altLang="zh-CN" sz="1600" dirty="0">
                <a:solidFill>
                  <a:srgbClr val="0000FF"/>
                </a:solidFill>
                <a:latin typeface="Consolas" pitchFamily="49" charset="0"/>
                <a:ea typeface="仿宋" pitchFamily="49" charset="-122"/>
                <a:cs typeface="Consolas" pitchFamily="49" charset="0"/>
              </a:rPr>
              <a:t> </a:t>
            </a:r>
            <a:r>
              <a:rPr lang="en-US" altLang="zh-CN" sz="1600" dirty="0" err="1">
                <a:solidFill>
                  <a:srgbClr val="0000FF"/>
                </a:solidFill>
                <a:latin typeface="Consolas" pitchFamily="49" charset="0"/>
                <a:ea typeface="仿宋" pitchFamily="49" charset="-122"/>
                <a:cs typeface="Consolas" pitchFamily="49" charset="0"/>
              </a:rPr>
              <a:t>t,ElemType</a:t>
            </a:r>
            <a:r>
              <a:rPr lang="en-US" altLang="zh-CN" sz="1600" dirty="0">
                <a:solidFill>
                  <a:srgbClr val="0000FF"/>
                </a:solidFill>
                <a:latin typeface="Consolas" pitchFamily="49" charset="0"/>
                <a:ea typeface="仿宋" pitchFamily="49" charset="-122"/>
                <a:cs typeface="Consolas" pitchFamily="49" charset="0"/>
              </a:rPr>
              <a:t> &amp;</a:t>
            </a:r>
            <a:r>
              <a:rPr lang="en-US" altLang="zh-CN" sz="1600" dirty="0" err="1">
                <a:solidFill>
                  <a:srgbClr val="0000FF"/>
                </a:solidFill>
                <a:latin typeface="Consolas" pitchFamily="49" charset="0"/>
                <a:ea typeface="仿宋" pitchFamily="49" charset="-122"/>
                <a:cs typeface="Consolas" pitchFamily="49" charset="0"/>
              </a:rPr>
              <a:t>x,int</a:t>
            </a:r>
            <a:r>
              <a:rPr lang="en-US" altLang="zh-CN" sz="1600" dirty="0">
                <a:solidFill>
                  <a:srgbClr val="0000FF"/>
                </a:solidFill>
                <a:latin typeface="Consolas" pitchFamily="49" charset="0"/>
                <a:ea typeface="仿宋" pitchFamily="49" charset="-122"/>
                <a:cs typeface="Consolas" pitchFamily="49" charset="0"/>
              </a:rPr>
              <a:t> </a:t>
            </a:r>
            <a:r>
              <a:rPr lang="en-US" altLang="zh-CN" sz="1600" dirty="0" err="1">
                <a:solidFill>
                  <a:srgbClr val="0000FF"/>
                </a:solidFill>
                <a:latin typeface="Consolas" pitchFamily="49" charset="0"/>
                <a:ea typeface="仿宋" pitchFamily="49" charset="-122"/>
                <a:cs typeface="Consolas" pitchFamily="49" charset="0"/>
              </a:rPr>
              <a:t>i,int</a:t>
            </a:r>
            <a:r>
              <a:rPr lang="en-US" altLang="zh-CN" sz="1600" dirty="0">
                <a:solidFill>
                  <a:srgbClr val="0000FF"/>
                </a:solidFill>
                <a:latin typeface="Consolas" pitchFamily="49" charset="0"/>
                <a:ea typeface="仿宋" pitchFamily="49" charset="-122"/>
                <a:cs typeface="Consolas" pitchFamily="49" charset="0"/>
              </a:rPr>
              <a:t> j)</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  int k=0;</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   if (</a:t>
            </a:r>
            <a:r>
              <a:rPr lang="en-US" altLang="zh-CN" sz="1600"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&gt;=</a:t>
            </a:r>
            <a:r>
              <a:rPr lang="en-US" altLang="zh-CN" sz="1600" dirty="0" err="1">
                <a:solidFill>
                  <a:srgbClr val="0000FF"/>
                </a:solidFill>
                <a:latin typeface="Consolas" pitchFamily="49" charset="0"/>
                <a:ea typeface="仿宋" pitchFamily="49" charset="-122"/>
                <a:cs typeface="Consolas" pitchFamily="49" charset="0"/>
              </a:rPr>
              <a:t>t.rows</a:t>
            </a:r>
            <a:r>
              <a:rPr lang="en-US" altLang="zh-CN" sz="1600" dirty="0">
                <a:solidFill>
                  <a:srgbClr val="0000FF"/>
                </a:solidFill>
                <a:latin typeface="Consolas" pitchFamily="49" charset="0"/>
                <a:ea typeface="仿宋" pitchFamily="49" charset="-122"/>
                <a:cs typeface="Consolas" pitchFamily="49" charset="0"/>
              </a:rPr>
              <a:t> || j&gt;=</a:t>
            </a:r>
            <a:r>
              <a:rPr lang="en-US" altLang="zh-CN" sz="1600" dirty="0" err="1">
                <a:solidFill>
                  <a:srgbClr val="0000FF"/>
                </a:solidFill>
                <a:latin typeface="Consolas" pitchFamily="49" charset="0"/>
                <a:ea typeface="仿宋" pitchFamily="49" charset="-122"/>
                <a:cs typeface="Consolas" pitchFamily="49" charset="0"/>
              </a:rPr>
              <a:t>t.cols</a:t>
            </a:r>
            <a:r>
              <a:rPr lang="en-US" altLang="zh-CN" sz="1600" dirty="0">
                <a:solidFill>
                  <a:srgbClr val="0000FF"/>
                </a:solidFill>
                <a:latin typeface="Consolas" pitchFamily="49" charset="0"/>
                <a:ea typeface="仿宋" pitchFamily="49" charset="-122"/>
                <a:cs typeface="Consolas" pitchFamily="49" charset="0"/>
              </a:rPr>
              <a:t>)</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      return false;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失败时返回</a:t>
            </a:r>
            <a:r>
              <a:rPr lang="en-US" altLang="zh-CN" sz="1600" dirty="0">
                <a:solidFill>
                  <a:srgbClr val="00B0F0"/>
                </a:solidFill>
                <a:latin typeface="Consolas" pitchFamily="49" charset="0"/>
                <a:ea typeface="仿宋" pitchFamily="49" charset="-122"/>
                <a:cs typeface="Consolas" pitchFamily="49" charset="0"/>
              </a:rPr>
              <a:t>false</a:t>
            </a:r>
          </a:p>
          <a:p>
            <a:pPr algn="l">
              <a:lnSpc>
                <a:spcPts val="1800"/>
              </a:lnSpc>
            </a:pPr>
            <a:endParaRPr lang="en-US" altLang="zh-CN" sz="1600" dirty="0">
              <a:solidFill>
                <a:srgbClr val="0000FF"/>
              </a:solidFill>
              <a:latin typeface="Consolas" pitchFamily="49" charset="0"/>
              <a:ea typeface="仿宋" pitchFamily="49" charset="-122"/>
              <a:cs typeface="Consolas" pitchFamily="49" charset="0"/>
            </a:endParaRP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   while (k&lt;</a:t>
            </a:r>
            <a:r>
              <a:rPr lang="en-US" altLang="zh-CN" sz="1600" dirty="0" err="1">
                <a:solidFill>
                  <a:srgbClr val="0000FF"/>
                </a:solidFill>
                <a:latin typeface="Consolas" pitchFamily="49" charset="0"/>
                <a:ea typeface="仿宋" pitchFamily="49" charset="-122"/>
                <a:cs typeface="Consolas" pitchFamily="49" charset="0"/>
              </a:rPr>
              <a:t>t.nums</a:t>
            </a:r>
            <a:r>
              <a:rPr lang="en-US" altLang="zh-CN" sz="1600" dirty="0">
                <a:solidFill>
                  <a:srgbClr val="0000FF"/>
                </a:solidFill>
                <a:latin typeface="Consolas" pitchFamily="49" charset="0"/>
                <a:ea typeface="仿宋" pitchFamily="49" charset="-122"/>
                <a:cs typeface="Consolas" pitchFamily="49" charset="0"/>
              </a:rPr>
              <a:t> &amp;&amp; </a:t>
            </a:r>
            <a:r>
              <a:rPr lang="en-US" altLang="zh-CN" sz="1600"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&gt;</a:t>
            </a:r>
            <a:r>
              <a:rPr lang="en-US" altLang="zh-CN" sz="1600" dirty="0" err="1">
                <a:solidFill>
                  <a:srgbClr val="0000FF"/>
                </a:solidFill>
                <a:latin typeface="Consolas" pitchFamily="49" charset="0"/>
                <a:ea typeface="仿宋" pitchFamily="49" charset="-122"/>
                <a:cs typeface="Consolas" pitchFamily="49" charset="0"/>
              </a:rPr>
              <a:t>t.data</a:t>
            </a:r>
            <a:r>
              <a:rPr lang="en-US" altLang="zh-CN" sz="1600" dirty="0">
                <a:solidFill>
                  <a:srgbClr val="0000FF"/>
                </a:solidFill>
                <a:latin typeface="Consolas" pitchFamily="49" charset="0"/>
                <a:ea typeface="仿宋" pitchFamily="49" charset="-122"/>
                <a:cs typeface="Consolas" pitchFamily="49" charset="0"/>
              </a:rPr>
              <a:t>[k].r) </a:t>
            </a:r>
            <a:r>
              <a:rPr lang="en-US" altLang="zh-CN" sz="1600" dirty="0">
                <a:solidFill>
                  <a:srgbClr val="FF00FF"/>
                </a:solidFill>
                <a:latin typeface="Consolas" pitchFamily="49" charset="0"/>
                <a:ea typeface="仿宋" pitchFamily="49" charset="-122"/>
                <a:cs typeface="Consolas" pitchFamily="49" charset="0"/>
              </a:rPr>
              <a:t>k++</a:t>
            </a:r>
            <a:r>
              <a:rPr lang="en-US" altLang="zh-CN" sz="1600" dirty="0">
                <a:solidFill>
                  <a:srgbClr val="0000FF"/>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查找行</a:t>
            </a:r>
          </a:p>
          <a:p>
            <a:pPr algn="l">
              <a:lnSpc>
                <a:spcPts val="1800"/>
              </a:lnSpc>
            </a:pPr>
            <a:r>
              <a:rPr lang="zh-CN" altLang="en-US" sz="1600" dirty="0">
                <a:solidFill>
                  <a:srgbClr val="0000FF"/>
                </a:solidFill>
                <a:latin typeface="Consolas" pitchFamily="49" charset="0"/>
                <a:ea typeface="仿宋" pitchFamily="49" charset="-122"/>
                <a:cs typeface="Consolas" pitchFamily="49" charset="0"/>
              </a:rPr>
              <a:t>   </a:t>
            </a:r>
            <a:r>
              <a:rPr lang="en-US" altLang="zh-CN" sz="1600" dirty="0">
                <a:solidFill>
                  <a:srgbClr val="0000FF"/>
                </a:solidFill>
                <a:latin typeface="Consolas" pitchFamily="49" charset="0"/>
                <a:ea typeface="仿宋" pitchFamily="49" charset="-122"/>
                <a:cs typeface="Consolas" pitchFamily="49" charset="0"/>
              </a:rPr>
              <a:t>while (k&lt;</a:t>
            </a:r>
            <a:r>
              <a:rPr lang="en-US" altLang="zh-CN" sz="1600" dirty="0" err="1">
                <a:solidFill>
                  <a:srgbClr val="0000FF"/>
                </a:solidFill>
                <a:latin typeface="Consolas" pitchFamily="49" charset="0"/>
                <a:ea typeface="仿宋" pitchFamily="49" charset="-122"/>
                <a:cs typeface="Consolas" pitchFamily="49" charset="0"/>
              </a:rPr>
              <a:t>t.nums</a:t>
            </a:r>
            <a:r>
              <a:rPr lang="en-US" altLang="zh-CN" sz="1600" dirty="0">
                <a:solidFill>
                  <a:srgbClr val="0000FF"/>
                </a:solidFill>
                <a:latin typeface="Consolas" pitchFamily="49" charset="0"/>
                <a:ea typeface="仿宋" pitchFamily="49" charset="-122"/>
                <a:cs typeface="Consolas" pitchFamily="49" charset="0"/>
              </a:rPr>
              <a:t> &amp;&amp; </a:t>
            </a:r>
            <a:r>
              <a:rPr lang="en-US" altLang="zh-CN" sz="1600"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a:t>
            </a:r>
            <a:r>
              <a:rPr lang="en-US" altLang="zh-CN" sz="1600" dirty="0" err="1">
                <a:solidFill>
                  <a:srgbClr val="0000FF"/>
                </a:solidFill>
                <a:latin typeface="Consolas" pitchFamily="49" charset="0"/>
                <a:ea typeface="仿宋" pitchFamily="49" charset="-122"/>
                <a:cs typeface="Consolas" pitchFamily="49" charset="0"/>
              </a:rPr>
              <a:t>t.data</a:t>
            </a:r>
            <a:r>
              <a:rPr lang="en-US" altLang="zh-CN" sz="1600" dirty="0">
                <a:solidFill>
                  <a:srgbClr val="0000FF"/>
                </a:solidFill>
                <a:latin typeface="Consolas" pitchFamily="49" charset="0"/>
                <a:ea typeface="仿宋" pitchFamily="49" charset="-122"/>
                <a:cs typeface="Consolas" pitchFamily="49" charset="0"/>
              </a:rPr>
              <a:t>[k].r </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           &amp;&amp; j&gt;</a:t>
            </a:r>
            <a:r>
              <a:rPr lang="en-US" altLang="zh-CN" sz="1600" dirty="0" err="1">
                <a:solidFill>
                  <a:srgbClr val="0000FF"/>
                </a:solidFill>
                <a:latin typeface="Consolas" pitchFamily="49" charset="0"/>
                <a:ea typeface="仿宋" pitchFamily="49" charset="-122"/>
                <a:cs typeface="Consolas" pitchFamily="49" charset="0"/>
              </a:rPr>
              <a:t>t.data</a:t>
            </a:r>
            <a:r>
              <a:rPr lang="en-US" altLang="zh-CN" sz="1600" dirty="0">
                <a:solidFill>
                  <a:srgbClr val="0000FF"/>
                </a:solidFill>
                <a:latin typeface="Consolas" pitchFamily="49" charset="0"/>
                <a:ea typeface="仿宋" pitchFamily="49" charset="-122"/>
                <a:cs typeface="Consolas" pitchFamily="49" charset="0"/>
              </a:rPr>
              <a:t>[k].c) </a:t>
            </a:r>
            <a:r>
              <a:rPr lang="en-US" altLang="zh-CN" sz="1600" dirty="0">
                <a:solidFill>
                  <a:srgbClr val="FF00FF"/>
                </a:solidFill>
                <a:latin typeface="Consolas" pitchFamily="49" charset="0"/>
                <a:ea typeface="仿宋" pitchFamily="49" charset="-122"/>
                <a:cs typeface="Consolas" pitchFamily="49" charset="0"/>
              </a:rPr>
              <a:t>k++</a:t>
            </a:r>
            <a:r>
              <a:rPr lang="en-US" altLang="zh-CN" sz="1600" dirty="0">
                <a:solidFill>
                  <a:srgbClr val="0000FF"/>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查找列</a:t>
            </a:r>
            <a:endParaRPr lang="en-US" altLang="zh-CN" sz="1600" dirty="0">
              <a:solidFill>
                <a:srgbClr val="00B0F0"/>
              </a:solidFill>
              <a:latin typeface="Consolas" pitchFamily="49" charset="0"/>
              <a:ea typeface="仿宋" pitchFamily="49" charset="-122"/>
              <a:cs typeface="Consolas" pitchFamily="49" charset="0"/>
            </a:endParaRPr>
          </a:p>
          <a:p>
            <a:pPr algn="l">
              <a:lnSpc>
                <a:spcPts val="1800"/>
              </a:lnSpc>
            </a:pPr>
            <a:endParaRPr lang="zh-CN" altLang="en-US" sz="1600" dirty="0">
              <a:solidFill>
                <a:srgbClr val="0000FF"/>
              </a:solidFill>
              <a:latin typeface="Consolas" pitchFamily="49" charset="0"/>
              <a:ea typeface="仿宋" pitchFamily="49" charset="-122"/>
              <a:cs typeface="Consolas" pitchFamily="49" charset="0"/>
            </a:endParaRPr>
          </a:p>
          <a:p>
            <a:pPr algn="l">
              <a:lnSpc>
                <a:spcPts val="1800"/>
              </a:lnSpc>
            </a:pPr>
            <a:r>
              <a:rPr lang="zh-CN" altLang="en-US" sz="1600" dirty="0">
                <a:solidFill>
                  <a:srgbClr val="0000FF"/>
                </a:solidFill>
                <a:latin typeface="Consolas" pitchFamily="49" charset="0"/>
                <a:ea typeface="仿宋" pitchFamily="49" charset="-122"/>
                <a:cs typeface="Consolas" pitchFamily="49" charset="0"/>
              </a:rPr>
              <a:t>   </a:t>
            </a:r>
            <a:r>
              <a:rPr lang="en-US" altLang="zh-CN" sz="1600" dirty="0">
                <a:solidFill>
                  <a:srgbClr val="0000FF"/>
                </a:solidFill>
                <a:latin typeface="Consolas" pitchFamily="49" charset="0"/>
                <a:ea typeface="仿宋" pitchFamily="49" charset="-122"/>
                <a:cs typeface="Consolas" pitchFamily="49" charset="0"/>
              </a:rPr>
              <a:t>if (</a:t>
            </a:r>
            <a:r>
              <a:rPr lang="en-US" altLang="zh-CN" sz="1600" dirty="0" err="1">
                <a:solidFill>
                  <a:srgbClr val="0000FF"/>
                </a:solidFill>
                <a:latin typeface="Consolas" pitchFamily="49" charset="0"/>
                <a:ea typeface="仿宋" pitchFamily="49" charset="-122"/>
                <a:cs typeface="Consolas" pitchFamily="49" charset="0"/>
              </a:rPr>
              <a:t>t.data</a:t>
            </a:r>
            <a:r>
              <a:rPr lang="en-US" altLang="zh-CN" sz="1600" dirty="0">
                <a:solidFill>
                  <a:srgbClr val="0000FF"/>
                </a:solidFill>
                <a:latin typeface="Consolas" pitchFamily="49" charset="0"/>
                <a:ea typeface="仿宋" pitchFamily="49" charset="-122"/>
                <a:cs typeface="Consolas" pitchFamily="49" charset="0"/>
              </a:rPr>
              <a:t>[k].r==</a:t>
            </a:r>
            <a:r>
              <a:rPr lang="en-US" altLang="zh-CN" sz="1600"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 &amp;&amp; </a:t>
            </a:r>
            <a:r>
              <a:rPr lang="en-US" altLang="zh-CN" sz="1600" dirty="0" err="1">
                <a:solidFill>
                  <a:srgbClr val="0000FF"/>
                </a:solidFill>
                <a:latin typeface="Consolas" pitchFamily="49" charset="0"/>
                <a:ea typeface="仿宋" pitchFamily="49" charset="-122"/>
                <a:cs typeface="Consolas" pitchFamily="49" charset="0"/>
              </a:rPr>
              <a:t>t.data</a:t>
            </a:r>
            <a:r>
              <a:rPr lang="en-US" altLang="zh-CN" sz="1600" dirty="0">
                <a:solidFill>
                  <a:srgbClr val="0000FF"/>
                </a:solidFill>
                <a:latin typeface="Consolas" pitchFamily="49" charset="0"/>
                <a:ea typeface="仿宋" pitchFamily="49" charset="-122"/>
                <a:cs typeface="Consolas" pitchFamily="49" charset="0"/>
              </a:rPr>
              <a:t>[k].c==j)</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      x=</a:t>
            </a:r>
            <a:r>
              <a:rPr lang="en-US" altLang="zh-CN" sz="1600" dirty="0" err="1">
                <a:solidFill>
                  <a:srgbClr val="0000FF"/>
                </a:solidFill>
                <a:latin typeface="Consolas" pitchFamily="49" charset="0"/>
                <a:ea typeface="仿宋" pitchFamily="49" charset="-122"/>
                <a:cs typeface="Consolas" pitchFamily="49" charset="0"/>
              </a:rPr>
              <a:t>t.data</a:t>
            </a:r>
            <a:r>
              <a:rPr lang="en-US" altLang="zh-CN" sz="1600" dirty="0">
                <a:solidFill>
                  <a:srgbClr val="0000FF"/>
                </a:solidFill>
                <a:latin typeface="Consolas" pitchFamily="49" charset="0"/>
                <a:ea typeface="仿宋" pitchFamily="49" charset="-122"/>
                <a:cs typeface="Consolas" pitchFamily="49" charset="0"/>
              </a:rPr>
              <a:t>[k].d;</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   else</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      x=0;</a:t>
            </a:r>
            <a:endParaRPr lang="zh-CN" altLang="en-US" sz="1600" dirty="0">
              <a:solidFill>
                <a:srgbClr val="0000FF"/>
              </a:solidFill>
              <a:latin typeface="Consolas" pitchFamily="49" charset="0"/>
              <a:ea typeface="仿宋" pitchFamily="49" charset="-122"/>
              <a:cs typeface="Consolas" pitchFamily="49" charset="0"/>
            </a:endParaRPr>
          </a:p>
          <a:p>
            <a:pPr algn="l">
              <a:lnSpc>
                <a:spcPts val="1800"/>
              </a:lnSpc>
            </a:pPr>
            <a:r>
              <a:rPr lang="zh-CN" altLang="en-US" sz="1600" dirty="0">
                <a:solidFill>
                  <a:srgbClr val="0000FF"/>
                </a:solidFill>
                <a:latin typeface="Consolas" pitchFamily="49" charset="0"/>
                <a:ea typeface="仿宋" pitchFamily="49" charset="-122"/>
                <a:cs typeface="Consolas" pitchFamily="49" charset="0"/>
              </a:rPr>
              <a:t>   </a:t>
            </a:r>
            <a:r>
              <a:rPr lang="en-US" altLang="zh-CN" sz="1600" dirty="0">
                <a:solidFill>
                  <a:srgbClr val="0000FF"/>
                </a:solidFill>
                <a:latin typeface="Consolas" pitchFamily="49" charset="0"/>
                <a:ea typeface="仿宋" pitchFamily="49" charset="-122"/>
                <a:cs typeface="Consolas" pitchFamily="49" charset="0"/>
              </a:rPr>
              <a:t>return true;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成功时返回</a:t>
            </a:r>
            <a:r>
              <a:rPr lang="en-US" altLang="zh-CN" sz="1600" dirty="0">
                <a:solidFill>
                  <a:srgbClr val="00B0F0"/>
                </a:solidFill>
                <a:latin typeface="Consolas" pitchFamily="49" charset="0"/>
                <a:ea typeface="仿宋" pitchFamily="49" charset="-122"/>
                <a:cs typeface="Consolas" pitchFamily="49" charset="0"/>
              </a:rPr>
              <a:t>true</a:t>
            </a:r>
          </a:p>
          <a:p>
            <a:pPr algn="l">
              <a:lnSpc>
                <a:spcPts val="1800"/>
              </a:lnSpc>
            </a:pPr>
            <a:r>
              <a:rPr lang="en-US" altLang="zh-CN" sz="1600" dirty="0">
                <a:solidFill>
                  <a:srgbClr val="0000FF"/>
                </a:solidFill>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268749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EBEF-949E-4489-9726-4F931B700FB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28126DD-68B2-9F35-4F86-9C4B3AFCDDA5}"/>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7F3BF464-BA2A-FF88-763C-6BB445D24593}"/>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903FA2AC-D870-BA51-0DE4-73DEF6294388}"/>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graphicFrame>
        <p:nvGraphicFramePr>
          <p:cNvPr id="14" name="表格 13">
            <a:extLst>
              <a:ext uri="{FF2B5EF4-FFF2-40B4-BE49-F238E27FC236}">
                <a16:creationId xmlns:a16="http://schemas.microsoft.com/office/drawing/2014/main" id="{2041FBA5-46A7-0DD3-17D4-DC179224FA4C}"/>
              </a:ext>
            </a:extLst>
          </p:cNvPr>
          <p:cNvGraphicFramePr>
            <a:graphicFrameLocks noGrp="1"/>
          </p:cNvGraphicFramePr>
          <p:nvPr/>
        </p:nvGraphicFramePr>
        <p:xfrm>
          <a:off x="7937848" y="1942366"/>
          <a:ext cx="2133600" cy="4015295"/>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0609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0"/>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1"/>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2"/>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3"/>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4"/>
                  </a:ext>
                </a:extLst>
              </a:tr>
              <a:tr h="35239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5</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5"/>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6"/>
                  </a:ext>
                </a:extLst>
              </a:tr>
              <a:tr h="35239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solidFill>
                      <a:srgbClr val="FF0000">
                        <a:alpha val="0"/>
                      </a:srgbClr>
                    </a:solidFill>
                  </a:tcPr>
                </a:tc>
                <a:extLst>
                  <a:ext uri="{0D108BD9-81ED-4DB2-BD59-A6C34878D82A}">
                    <a16:rowId xmlns:a16="http://schemas.microsoft.com/office/drawing/2014/main" val="10007"/>
                  </a:ext>
                </a:extLst>
              </a:tr>
              <a:tr h="352396">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52396">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437640">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15" name="表格 14">
            <a:extLst>
              <a:ext uri="{FF2B5EF4-FFF2-40B4-BE49-F238E27FC236}">
                <a16:creationId xmlns:a16="http://schemas.microsoft.com/office/drawing/2014/main" id="{733CD8FC-7E57-8404-1FD3-F0CC8089683D}"/>
              </a:ext>
            </a:extLst>
          </p:cNvPr>
          <p:cNvGraphicFramePr>
            <a:graphicFrameLocks noGrp="1"/>
          </p:cNvGraphicFramePr>
          <p:nvPr/>
        </p:nvGraphicFramePr>
        <p:xfrm>
          <a:off x="7920431" y="1558422"/>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18" name="表格 17">
            <a:extLst>
              <a:ext uri="{FF2B5EF4-FFF2-40B4-BE49-F238E27FC236}">
                <a16:creationId xmlns:a16="http://schemas.microsoft.com/office/drawing/2014/main" id="{AD7B5259-21E4-9A84-9C5A-D84871115ADE}"/>
              </a:ext>
            </a:extLst>
          </p:cNvPr>
          <p:cNvGraphicFramePr>
            <a:graphicFrameLocks noGrp="1"/>
          </p:cNvGraphicFramePr>
          <p:nvPr/>
        </p:nvGraphicFramePr>
        <p:xfrm>
          <a:off x="10199400" y="1942366"/>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22" name="Text Box 7">
            <a:extLst>
              <a:ext uri="{FF2B5EF4-FFF2-40B4-BE49-F238E27FC236}">
                <a16:creationId xmlns:a16="http://schemas.microsoft.com/office/drawing/2014/main" id="{350B2888-219C-7F1B-A3E0-87301262645A}"/>
              </a:ext>
            </a:extLst>
          </p:cNvPr>
          <p:cNvSpPr txBox="1">
            <a:spLocks noChangeArrowheads="1"/>
          </p:cNvSpPr>
          <p:nvPr/>
        </p:nvSpPr>
        <p:spPr bwMode="auto">
          <a:xfrm flipH="1">
            <a:off x="7333397" y="1421160"/>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sp>
        <p:nvSpPr>
          <p:cNvPr id="24" name="右大括号 23">
            <a:extLst>
              <a:ext uri="{FF2B5EF4-FFF2-40B4-BE49-F238E27FC236}">
                <a16:creationId xmlns:a16="http://schemas.microsoft.com/office/drawing/2014/main" id="{9D74026B-15B1-6AFF-E5FE-B85E6AA7FA40}"/>
              </a:ext>
            </a:extLst>
          </p:cNvPr>
          <p:cNvSpPr/>
          <p:nvPr/>
        </p:nvSpPr>
        <p:spPr>
          <a:xfrm>
            <a:off x="10064824" y="1944380"/>
            <a:ext cx="216024" cy="2861156"/>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5" name="表格 24">
            <a:extLst>
              <a:ext uri="{FF2B5EF4-FFF2-40B4-BE49-F238E27FC236}">
                <a16:creationId xmlns:a16="http://schemas.microsoft.com/office/drawing/2014/main" id="{5E393F1B-2A9C-5273-196E-3E1159E5D066}"/>
              </a:ext>
            </a:extLst>
          </p:cNvPr>
          <p:cNvGraphicFramePr>
            <a:graphicFrameLocks noGrp="1"/>
          </p:cNvGraphicFramePr>
          <p:nvPr/>
        </p:nvGraphicFramePr>
        <p:xfrm>
          <a:off x="7486454" y="2035181"/>
          <a:ext cx="345440" cy="2842360"/>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0</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55295">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55295">
                <a:tc>
                  <a:txBody>
                    <a:bodyPr/>
                    <a:lstStyle/>
                    <a:p>
                      <a:pPr marL="0" algn="just" defTabSz="914400" rtl="0" eaLnBrk="1" latinLnBrk="0" hangingPunct="1">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cxnSp>
        <p:nvCxnSpPr>
          <p:cNvPr id="35" name="直接箭头连接符 34">
            <a:extLst>
              <a:ext uri="{FF2B5EF4-FFF2-40B4-BE49-F238E27FC236}">
                <a16:creationId xmlns:a16="http://schemas.microsoft.com/office/drawing/2014/main" id="{A0846406-D280-FC13-B962-3A86ABF1041A}"/>
              </a:ext>
            </a:extLst>
          </p:cNvPr>
          <p:cNvCxnSpPr>
            <a:cxnSpLocks/>
          </p:cNvCxnSpPr>
          <p:nvPr/>
        </p:nvCxnSpPr>
        <p:spPr>
          <a:xfrm>
            <a:off x="7471608" y="2092660"/>
            <a:ext cx="0" cy="267268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2" name="Text Box 2">
            <a:extLst>
              <a:ext uri="{FF2B5EF4-FFF2-40B4-BE49-F238E27FC236}">
                <a16:creationId xmlns:a16="http://schemas.microsoft.com/office/drawing/2014/main" id="{6989E267-D917-437F-B590-4C4B8A68EAA8}"/>
              </a:ext>
            </a:extLst>
          </p:cNvPr>
          <p:cNvSpPr txBox="1">
            <a:spLocks noChangeArrowheads="1"/>
          </p:cNvSpPr>
          <p:nvPr/>
        </p:nvSpPr>
        <p:spPr bwMode="auto">
          <a:xfrm>
            <a:off x="902779" y="1942366"/>
            <a:ext cx="6423196" cy="369332"/>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4</a:t>
            </a:r>
            <a:r>
              <a:rPr kumimoji="1" lang="zh-CN" altLang="en-US" sz="2000" dirty="0">
                <a:latin typeface="Consolas" pitchFamily="49" charset="0"/>
                <a:ea typeface="微软雅黑" pitchFamily="34" charset="-122"/>
                <a:cs typeface="Consolas" pitchFamily="49" charset="0"/>
              </a:rPr>
              <a:t>）</a:t>
            </a:r>
            <a:r>
              <a:rPr kumimoji="1" lang="zh-CN" altLang="en-US" sz="2000" dirty="0">
                <a:latin typeface="Consolas" pitchFamily="49" charset="0"/>
                <a:ea typeface="微软雅黑" pitchFamily="34" charset="-122"/>
              </a:rPr>
              <a:t>输出三元组</a:t>
            </a:r>
            <a:endParaRPr kumimoji="1" lang="en-US" altLang="zh-CN" sz="2000" dirty="0">
              <a:latin typeface="Consolas" pitchFamily="49" charset="0"/>
              <a:ea typeface="仿宋" pitchFamily="49" charset="-122"/>
              <a:cs typeface="Consolas" pitchFamily="49" charset="0"/>
            </a:endParaRPr>
          </a:p>
        </p:txBody>
      </p:sp>
      <p:sp>
        <p:nvSpPr>
          <p:cNvPr id="4" name="Text Box 4">
            <a:extLst>
              <a:ext uri="{FF2B5EF4-FFF2-40B4-BE49-F238E27FC236}">
                <a16:creationId xmlns:a16="http://schemas.microsoft.com/office/drawing/2014/main" id="{2201AFA3-8AC2-2F63-1468-ACDC11242139}"/>
              </a:ext>
            </a:extLst>
          </p:cNvPr>
          <p:cNvSpPr txBox="1">
            <a:spLocks noChangeArrowheads="1"/>
          </p:cNvSpPr>
          <p:nvPr/>
        </p:nvSpPr>
        <p:spPr bwMode="auto">
          <a:xfrm>
            <a:off x="1001947" y="2326737"/>
            <a:ext cx="5094054" cy="400110"/>
          </a:xfrm>
          <a:prstGeom prst="rect">
            <a:avLst/>
          </a:prstGeom>
          <a:noFill/>
          <a:ln w="38100" algn="ctr">
            <a:noFill/>
            <a:miter lim="800000"/>
            <a:headEnd/>
            <a:tailEnd/>
          </a:ln>
          <a:effectLst/>
        </p:spPr>
        <p:txBody>
          <a:bodyPr wrap="square">
            <a:spAutoFit/>
          </a:bodyPr>
          <a:lstStyle/>
          <a:p>
            <a:pPr algn="just">
              <a:spcBef>
                <a:spcPct val="50000"/>
              </a:spcBef>
            </a:pPr>
            <a:r>
              <a:rPr kumimoji="1" lang="zh-CN" altLang="en-US" sz="2000" dirty="0">
                <a:latin typeface="Consolas" pitchFamily="49" charset="0"/>
                <a:ea typeface="仿宋" pitchFamily="49" charset="-122"/>
                <a:cs typeface="Consolas" pitchFamily="49" charset="0"/>
              </a:rPr>
              <a:t>从头到尾扫描三元组</a:t>
            </a:r>
            <a:r>
              <a:rPr kumimoji="1" lang="en-US" altLang="zh-CN" sz="2000" dirty="0">
                <a:latin typeface="Consolas" pitchFamily="49" charset="0"/>
                <a:ea typeface="仿宋" pitchFamily="49" charset="-122"/>
                <a:cs typeface="Consolas" pitchFamily="49" charset="0"/>
              </a:rPr>
              <a:t>t</a:t>
            </a:r>
            <a:r>
              <a:rPr kumimoji="1" lang="zh-CN" altLang="en-US" sz="2000" dirty="0">
                <a:latin typeface="Consolas" pitchFamily="49" charset="0"/>
                <a:ea typeface="仿宋" pitchFamily="49" charset="-122"/>
                <a:cs typeface="Consolas" pitchFamily="49" charset="0"/>
              </a:rPr>
              <a:t>，依次输出元素值。</a:t>
            </a:r>
          </a:p>
        </p:txBody>
      </p:sp>
      <p:sp>
        <p:nvSpPr>
          <p:cNvPr id="8" name="Text Box 2">
            <a:extLst>
              <a:ext uri="{FF2B5EF4-FFF2-40B4-BE49-F238E27FC236}">
                <a16:creationId xmlns:a16="http://schemas.microsoft.com/office/drawing/2014/main" id="{CA826E9B-D7DE-D9D3-831A-09E9A0A9758E}"/>
              </a:ext>
            </a:extLst>
          </p:cNvPr>
          <p:cNvSpPr txBox="1">
            <a:spLocks noChangeArrowheads="1"/>
          </p:cNvSpPr>
          <p:nvPr/>
        </p:nvSpPr>
        <p:spPr bwMode="auto">
          <a:xfrm>
            <a:off x="518105" y="3133661"/>
            <a:ext cx="6938658" cy="2617603"/>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tIns="144000" bIns="144000">
            <a:spAutoFit/>
          </a:bodyPr>
          <a:lstStyle/>
          <a:p>
            <a:pPr algn="just">
              <a:spcBef>
                <a:spcPct val="50000"/>
              </a:spcBef>
            </a:pPr>
            <a:r>
              <a:rPr kumimoji="1" lang="en-US" altLang="zh-CN" sz="1400" dirty="0">
                <a:solidFill>
                  <a:srgbClr val="0000FF"/>
                </a:solidFill>
                <a:latin typeface="Consolas" pitchFamily="49" charset="0"/>
                <a:ea typeface="仿宋" pitchFamily="49" charset="-122"/>
                <a:cs typeface="Consolas" pitchFamily="49" charset="0"/>
              </a:rPr>
              <a:t>void </a:t>
            </a:r>
            <a:r>
              <a:rPr kumimoji="1" lang="en-US" altLang="zh-CN" sz="1400" dirty="0" err="1">
                <a:solidFill>
                  <a:srgbClr val="FF0000"/>
                </a:solidFill>
                <a:latin typeface="Consolas" pitchFamily="49" charset="0"/>
                <a:ea typeface="仿宋" pitchFamily="49" charset="-122"/>
                <a:cs typeface="Consolas" pitchFamily="49" charset="0"/>
              </a:rPr>
              <a:t>DispMat</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TSMatrix</a:t>
            </a:r>
            <a:r>
              <a:rPr kumimoji="1" lang="en-US" altLang="zh-CN" sz="1400" dirty="0">
                <a:solidFill>
                  <a:srgbClr val="0000FF"/>
                </a:solidFill>
                <a:latin typeface="Consolas" pitchFamily="49" charset="0"/>
                <a:ea typeface="仿宋" pitchFamily="49" charset="-122"/>
                <a:cs typeface="Consolas" pitchFamily="49" charset="0"/>
              </a:rPr>
              <a:t> t)</a:t>
            </a:r>
          </a:p>
          <a:p>
            <a:pPr algn="just">
              <a:lnSpc>
                <a:spcPct val="900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int </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a:t>
            </a:r>
          </a:p>
          <a:p>
            <a:pPr algn="just">
              <a:lnSpc>
                <a:spcPct val="900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if (</a:t>
            </a:r>
            <a:r>
              <a:rPr kumimoji="1" lang="en-US" altLang="zh-CN" sz="1400" dirty="0" err="1">
                <a:solidFill>
                  <a:srgbClr val="0000FF"/>
                </a:solidFill>
                <a:latin typeface="Consolas" pitchFamily="49" charset="0"/>
                <a:ea typeface="仿宋" pitchFamily="49" charset="-122"/>
                <a:cs typeface="Consolas" pitchFamily="49" charset="0"/>
              </a:rPr>
              <a:t>t.nums</a:t>
            </a:r>
            <a:r>
              <a:rPr kumimoji="1" lang="en-US" altLang="zh-CN" sz="1400" dirty="0">
                <a:solidFill>
                  <a:srgbClr val="0000FF"/>
                </a:solidFill>
                <a:latin typeface="Consolas" pitchFamily="49" charset="0"/>
                <a:ea typeface="仿宋" pitchFamily="49" charset="-122"/>
                <a:cs typeface="Consolas" pitchFamily="49" charset="0"/>
              </a:rPr>
              <a:t>&lt;=0) return;</a:t>
            </a:r>
          </a:p>
          <a:p>
            <a:pPr algn="just">
              <a:lnSpc>
                <a:spcPct val="900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printf</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t%d</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t%d</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t%d</a:t>
            </a:r>
            <a:r>
              <a:rPr kumimoji="1" lang="en-US" altLang="zh-CN" sz="1400" dirty="0">
                <a:solidFill>
                  <a:srgbClr val="0000FF"/>
                </a:solidFill>
                <a:latin typeface="Consolas" pitchFamily="49" charset="0"/>
                <a:ea typeface="仿宋" pitchFamily="49" charset="-122"/>
                <a:cs typeface="Consolas" pitchFamily="49" charset="0"/>
              </a:rPr>
              <a:t>\n",</a:t>
            </a:r>
            <a:r>
              <a:rPr kumimoji="1" lang="en-US" altLang="zh-CN" sz="1400" dirty="0" err="1">
                <a:solidFill>
                  <a:srgbClr val="0000FF"/>
                </a:solidFill>
                <a:latin typeface="Consolas" pitchFamily="49" charset="0"/>
                <a:ea typeface="仿宋" pitchFamily="49" charset="-122"/>
                <a:cs typeface="Consolas" pitchFamily="49" charset="0"/>
              </a:rPr>
              <a:t>t.rows,t.cols,t.nums</a:t>
            </a:r>
            <a:r>
              <a:rPr kumimoji="1" lang="en-US" altLang="zh-CN" sz="1400" dirty="0">
                <a:solidFill>
                  <a:srgbClr val="0000FF"/>
                </a:solidFill>
                <a:latin typeface="Consolas" pitchFamily="49" charset="0"/>
                <a:ea typeface="仿宋" pitchFamily="49" charset="-122"/>
                <a:cs typeface="Consolas" pitchFamily="49" charset="0"/>
              </a:rPr>
              <a:t>);</a:t>
            </a:r>
          </a:p>
          <a:p>
            <a:pPr algn="just">
              <a:lnSpc>
                <a:spcPct val="900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printf</a:t>
            </a:r>
            <a:r>
              <a:rPr kumimoji="1" lang="en-US" altLang="zh-CN" sz="1400" dirty="0">
                <a:solidFill>
                  <a:srgbClr val="0000FF"/>
                </a:solidFill>
                <a:latin typeface="Consolas" pitchFamily="49" charset="0"/>
                <a:ea typeface="仿宋" pitchFamily="49" charset="-122"/>
                <a:cs typeface="Consolas" pitchFamily="49" charset="0"/>
              </a:rPr>
              <a:t>("  ------------------\n");</a:t>
            </a:r>
          </a:p>
          <a:p>
            <a:pPr algn="just">
              <a:lnSpc>
                <a:spcPct val="900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for (</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=0;i&lt;</a:t>
            </a:r>
            <a:r>
              <a:rPr kumimoji="1" lang="en-US" altLang="zh-CN" sz="1400" dirty="0" err="1">
                <a:solidFill>
                  <a:srgbClr val="0000FF"/>
                </a:solidFill>
                <a:latin typeface="Consolas" pitchFamily="49" charset="0"/>
                <a:ea typeface="仿宋" pitchFamily="49" charset="-122"/>
                <a:cs typeface="Consolas" pitchFamily="49" charset="0"/>
              </a:rPr>
              <a:t>t.nums;i</a:t>
            </a:r>
            <a:r>
              <a:rPr kumimoji="1" lang="en-US" altLang="zh-CN" sz="1400" dirty="0">
                <a:solidFill>
                  <a:srgbClr val="0000FF"/>
                </a:solidFill>
                <a:latin typeface="Consolas" pitchFamily="49" charset="0"/>
                <a:ea typeface="仿宋" pitchFamily="49" charset="-122"/>
                <a:cs typeface="Consolas" pitchFamily="49" charset="0"/>
              </a:rPr>
              <a:t>++)</a:t>
            </a:r>
          </a:p>
          <a:p>
            <a:pPr algn="just">
              <a:lnSpc>
                <a:spcPct val="900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printf</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t%d</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t%d</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t%d</a:t>
            </a:r>
            <a:r>
              <a:rPr kumimoji="1" lang="en-US" altLang="zh-CN" sz="1400" dirty="0">
                <a:solidFill>
                  <a:srgbClr val="0000FF"/>
                </a:solidFill>
                <a:latin typeface="Consolas" pitchFamily="49" charset="0"/>
                <a:ea typeface="仿宋" pitchFamily="49" charset="-122"/>
                <a:cs typeface="Consolas" pitchFamily="49" charset="0"/>
              </a:rPr>
              <a:t>\n“,</a:t>
            </a:r>
            <a:r>
              <a:rPr kumimoji="1" lang="en-US" altLang="zh-CN" sz="1400" dirty="0" err="1">
                <a:solidFill>
                  <a:srgbClr val="0000FF"/>
                </a:solidFill>
                <a:latin typeface="Consolas" pitchFamily="49" charset="0"/>
                <a:ea typeface="仿宋" pitchFamily="49" charset="-122"/>
                <a:cs typeface="Consolas" pitchFamily="49" charset="0"/>
              </a:rPr>
              <a:t>t.data</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r,t.data</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c,t.data</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].d);</a:t>
            </a:r>
          </a:p>
          <a:p>
            <a:pPr algn="just">
              <a:lnSpc>
                <a:spcPct val="90000"/>
              </a:lnSpc>
              <a:spcBef>
                <a:spcPct val="50000"/>
              </a:spcBef>
            </a:pPr>
            <a:r>
              <a:rPr kumimoji="1" lang="en-US" altLang="zh-CN" sz="1400" dirty="0">
                <a:solidFill>
                  <a:srgbClr val="0000FF"/>
                </a:solidFill>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33856501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C169E-624C-8F7D-359C-CE398EBC30F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67DBF99-6026-1773-D4E3-C32A21BC67DE}"/>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47D9C856-A1BD-20AC-E583-F90727EA2C24}"/>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2694B75F-2401-25B6-3DFD-8FA63C358126}"/>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sp>
        <p:nvSpPr>
          <p:cNvPr id="2" name="Text Box 2">
            <a:extLst>
              <a:ext uri="{FF2B5EF4-FFF2-40B4-BE49-F238E27FC236}">
                <a16:creationId xmlns:a16="http://schemas.microsoft.com/office/drawing/2014/main" id="{F296CAFB-4C30-B7DC-8798-9DAEA24C3912}"/>
              </a:ext>
            </a:extLst>
          </p:cNvPr>
          <p:cNvSpPr txBox="1">
            <a:spLocks noChangeArrowheads="1"/>
          </p:cNvSpPr>
          <p:nvPr/>
        </p:nvSpPr>
        <p:spPr bwMode="auto">
          <a:xfrm>
            <a:off x="902779" y="1942366"/>
            <a:ext cx="1945804" cy="369332"/>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5</a:t>
            </a:r>
            <a:r>
              <a:rPr kumimoji="1" lang="zh-CN" altLang="en-US" sz="2000" dirty="0">
                <a:latin typeface="Consolas" pitchFamily="49" charset="0"/>
                <a:ea typeface="微软雅黑" pitchFamily="34" charset="-122"/>
                <a:cs typeface="Consolas" pitchFamily="49" charset="0"/>
              </a:rPr>
              <a:t>）</a:t>
            </a:r>
            <a:r>
              <a:rPr kumimoji="1" lang="zh-CN" altLang="en-US" sz="2000" dirty="0">
                <a:latin typeface="Consolas" pitchFamily="49" charset="0"/>
                <a:ea typeface="微软雅黑" pitchFamily="34" charset="-122"/>
              </a:rPr>
              <a:t>矩阵转置</a:t>
            </a:r>
            <a:endParaRPr kumimoji="1" lang="en-US" altLang="zh-CN" sz="2000" dirty="0">
              <a:latin typeface="Consolas" pitchFamily="49" charset="0"/>
              <a:ea typeface="仿宋" pitchFamily="49" charset="-122"/>
              <a:cs typeface="Consolas" pitchFamily="49" charset="0"/>
            </a:endParaRPr>
          </a:p>
        </p:txBody>
      </p:sp>
      <p:sp>
        <p:nvSpPr>
          <p:cNvPr id="7" name="AutoShape 5">
            <a:extLst>
              <a:ext uri="{FF2B5EF4-FFF2-40B4-BE49-F238E27FC236}">
                <a16:creationId xmlns:a16="http://schemas.microsoft.com/office/drawing/2014/main" id="{434E69F0-DE7B-ADC2-B1B5-9F7E4AE394A9}"/>
              </a:ext>
            </a:extLst>
          </p:cNvPr>
          <p:cNvSpPr>
            <a:spLocks/>
          </p:cNvSpPr>
          <p:nvPr/>
        </p:nvSpPr>
        <p:spPr bwMode="auto">
          <a:xfrm>
            <a:off x="2128502" y="2698806"/>
            <a:ext cx="151073" cy="1956123"/>
          </a:xfrm>
          <a:prstGeom prst="lef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AutoShape 6">
            <a:extLst>
              <a:ext uri="{FF2B5EF4-FFF2-40B4-BE49-F238E27FC236}">
                <a16:creationId xmlns:a16="http://schemas.microsoft.com/office/drawing/2014/main" id="{11F71F61-A45C-5F2A-2144-BCB736AEDFF9}"/>
              </a:ext>
            </a:extLst>
          </p:cNvPr>
          <p:cNvSpPr>
            <a:spLocks/>
          </p:cNvSpPr>
          <p:nvPr/>
        </p:nvSpPr>
        <p:spPr bwMode="auto">
          <a:xfrm>
            <a:off x="6207459" y="2729929"/>
            <a:ext cx="75536" cy="1924999"/>
          </a:xfrm>
          <a:prstGeom prst="righ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Text Box 7">
            <a:extLst>
              <a:ext uri="{FF2B5EF4-FFF2-40B4-BE49-F238E27FC236}">
                <a16:creationId xmlns:a16="http://schemas.microsoft.com/office/drawing/2014/main" id="{EA4DE16E-CD28-EB2F-F75E-1C2078BA9BDE}"/>
              </a:ext>
            </a:extLst>
          </p:cNvPr>
          <p:cNvSpPr txBox="1">
            <a:spLocks noChangeArrowheads="1"/>
          </p:cNvSpPr>
          <p:nvPr/>
        </p:nvSpPr>
        <p:spPr bwMode="auto">
          <a:xfrm flipH="1">
            <a:off x="1618383" y="3418469"/>
            <a:ext cx="5856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000" dirty="0">
                <a:latin typeface="Times New Roman" pitchFamily="18" charset="0"/>
                <a:ea typeface="楷体_GB2312" pitchFamily="49" charset="-122"/>
              </a:rPr>
              <a:t>t=</a:t>
            </a:r>
          </a:p>
        </p:txBody>
      </p:sp>
      <p:sp>
        <p:nvSpPr>
          <p:cNvPr id="11" name="Text Box 8">
            <a:extLst>
              <a:ext uri="{FF2B5EF4-FFF2-40B4-BE49-F238E27FC236}">
                <a16:creationId xmlns:a16="http://schemas.microsoft.com/office/drawing/2014/main" id="{DE6F9978-6B06-464B-8F82-E6540656C6AA}"/>
              </a:ext>
            </a:extLst>
          </p:cNvPr>
          <p:cNvSpPr txBox="1">
            <a:spLocks noChangeArrowheads="1"/>
          </p:cNvSpPr>
          <p:nvPr/>
        </p:nvSpPr>
        <p:spPr bwMode="auto">
          <a:xfrm>
            <a:off x="2279576" y="2624108"/>
            <a:ext cx="4129299" cy="2030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buClr>
                <a:schemeClr val="folHlink"/>
              </a:buClr>
              <a:buSzPct val="60000"/>
              <a:buFont typeface="Wingdings" pitchFamily="2" charset="2"/>
              <a:buNone/>
            </a:pPr>
            <a:r>
              <a:rPr kumimoji="1" lang="zh-CN" altLang="en-US" dirty="0">
                <a:latin typeface="楷体_GB2312" pitchFamily="49" charset="-122"/>
                <a:ea typeface="楷体_GB2312" pitchFamily="49" charset="-122"/>
              </a:rPr>
              <a:t> </a:t>
            </a:r>
            <a:r>
              <a:rPr kumimoji="1" lang="en-US" altLang="zh-CN" b="1" dirty="0">
                <a:latin typeface="宋体" pitchFamily="2" charset="-122"/>
              </a:rPr>
              <a:t>0   </a:t>
            </a:r>
            <a:r>
              <a:rPr kumimoji="1" lang="en-US" altLang="zh-CN" b="1" dirty="0">
                <a:solidFill>
                  <a:srgbClr val="FF0000"/>
                </a:solidFill>
                <a:latin typeface="宋体" pitchFamily="2" charset="-122"/>
              </a:rPr>
              <a:t>12</a:t>
            </a:r>
            <a:r>
              <a:rPr kumimoji="1" lang="en-US" altLang="zh-CN" b="1" dirty="0">
                <a:latin typeface="宋体" pitchFamily="2" charset="-122"/>
              </a:rPr>
              <a:t>    </a:t>
            </a:r>
            <a:r>
              <a:rPr kumimoji="1" lang="en-US" altLang="zh-CN" b="1" dirty="0">
                <a:solidFill>
                  <a:srgbClr val="FF0000"/>
                </a:solidFill>
                <a:latin typeface="宋体" pitchFamily="2" charset="-122"/>
              </a:rPr>
              <a:t>9 </a:t>
            </a:r>
            <a:r>
              <a:rPr kumimoji="1" lang="en-US" altLang="zh-CN" b="1" dirty="0">
                <a:latin typeface="宋体" pitchFamily="2" charset="-122"/>
              </a:rPr>
              <a:t>   0    0    0    0 </a:t>
            </a:r>
          </a:p>
          <a:p>
            <a:pPr algn="l" eaLnBrk="1" hangingPunct="1">
              <a:spcBef>
                <a:spcPct val="20000"/>
              </a:spcBef>
              <a:buClr>
                <a:schemeClr val="folHlink"/>
              </a:buClr>
              <a:buSzPct val="60000"/>
              <a:buFont typeface="Wingdings" pitchFamily="2" charset="2"/>
              <a:buNone/>
            </a:pPr>
            <a:r>
              <a:rPr kumimoji="1" lang="en-US" altLang="zh-CN" b="1" dirty="0">
                <a:latin typeface="宋体" pitchFamily="2" charset="-122"/>
              </a:rPr>
              <a:t> 0    0    0    0    0    0    0</a:t>
            </a:r>
          </a:p>
          <a:p>
            <a:pPr algn="l" eaLnBrk="1" hangingPunct="1">
              <a:spcBef>
                <a:spcPct val="20000"/>
              </a:spcBef>
              <a:buClr>
                <a:schemeClr val="folHlink"/>
              </a:buClr>
              <a:buSzPct val="60000"/>
              <a:buFont typeface="Wingdings" pitchFamily="2" charset="2"/>
              <a:buNone/>
            </a:pPr>
            <a:r>
              <a:rPr kumimoji="1" lang="en-US" altLang="zh-CN" b="1" dirty="0">
                <a:solidFill>
                  <a:srgbClr val="FF0000"/>
                </a:solidFill>
                <a:latin typeface="宋体" pitchFamily="2" charset="-122"/>
              </a:rPr>
              <a:t>-3</a:t>
            </a:r>
            <a:r>
              <a:rPr kumimoji="1" lang="en-US" altLang="zh-CN" b="1" dirty="0">
                <a:latin typeface="宋体" pitchFamily="2" charset="-122"/>
              </a:rPr>
              <a:t>    0    0    0    0   </a:t>
            </a:r>
            <a:r>
              <a:rPr kumimoji="1" lang="en-US" altLang="zh-CN" b="1" dirty="0">
                <a:solidFill>
                  <a:srgbClr val="FF0000"/>
                </a:solidFill>
                <a:latin typeface="宋体" pitchFamily="2" charset="-122"/>
              </a:rPr>
              <a:t>14</a:t>
            </a:r>
            <a:r>
              <a:rPr kumimoji="1" lang="en-US" altLang="zh-CN" b="1" dirty="0">
                <a:latin typeface="宋体" pitchFamily="2" charset="-122"/>
              </a:rPr>
              <a:t>    0</a:t>
            </a:r>
          </a:p>
          <a:p>
            <a:pPr algn="l" eaLnBrk="1" hangingPunct="1">
              <a:spcBef>
                <a:spcPct val="20000"/>
              </a:spcBef>
              <a:buClr>
                <a:schemeClr val="folHlink"/>
              </a:buClr>
              <a:buSzPct val="60000"/>
              <a:buFont typeface="Wingdings" pitchFamily="2" charset="2"/>
              <a:buNone/>
            </a:pPr>
            <a:r>
              <a:rPr kumimoji="1" lang="en-US" altLang="zh-CN" b="1" dirty="0">
                <a:latin typeface="宋体" pitchFamily="2" charset="-122"/>
              </a:rPr>
              <a:t> 0    0   </a:t>
            </a:r>
            <a:r>
              <a:rPr kumimoji="1" lang="en-US" altLang="zh-CN" b="1" dirty="0">
                <a:solidFill>
                  <a:srgbClr val="FF0000"/>
                </a:solidFill>
                <a:latin typeface="宋体" pitchFamily="2" charset="-122"/>
              </a:rPr>
              <a:t>24</a:t>
            </a:r>
            <a:r>
              <a:rPr kumimoji="1" lang="en-US" altLang="zh-CN" b="1" dirty="0">
                <a:latin typeface="宋体" pitchFamily="2" charset="-122"/>
              </a:rPr>
              <a:t>    0    0    0    0</a:t>
            </a:r>
          </a:p>
          <a:p>
            <a:pPr algn="l" eaLnBrk="1" hangingPunct="1">
              <a:spcBef>
                <a:spcPct val="20000"/>
              </a:spcBef>
              <a:buClr>
                <a:schemeClr val="folHlink"/>
              </a:buClr>
              <a:buSzPct val="60000"/>
              <a:buFont typeface="Wingdings" pitchFamily="2" charset="2"/>
              <a:buNone/>
            </a:pPr>
            <a:r>
              <a:rPr kumimoji="1" lang="en-US" altLang="zh-CN" b="1" dirty="0">
                <a:latin typeface="宋体" pitchFamily="2" charset="-122"/>
              </a:rPr>
              <a:t> 0   </a:t>
            </a:r>
            <a:r>
              <a:rPr kumimoji="1" lang="en-US" altLang="zh-CN" b="1" dirty="0">
                <a:solidFill>
                  <a:srgbClr val="FF0000"/>
                </a:solidFill>
                <a:latin typeface="宋体" pitchFamily="2" charset="-122"/>
              </a:rPr>
              <a:t>18</a:t>
            </a:r>
            <a:r>
              <a:rPr kumimoji="1" lang="en-US" altLang="zh-CN" b="1" dirty="0">
                <a:latin typeface="宋体" pitchFamily="2" charset="-122"/>
              </a:rPr>
              <a:t>    0    0    0    0    0</a:t>
            </a:r>
          </a:p>
          <a:p>
            <a:pPr algn="l" eaLnBrk="1" hangingPunct="1">
              <a:spcBef>
                <a:spcPct val="20000"/>
              </a:spcBef>
              <a:buClr>
                <a:schemeClr val="folHlink"/>
              </a:buClr>
              <a:buSzPct val="60000"/>
              <a:buFont typeface="Wingdings" pitchFamily="2" charset="2"/>
              <a:buNone/>
            </a:pPr>
            <a:r>
              <a:rPr kumimoji="1" lang="en-US" altLang="zh-CN" b="1" dirty="0">
                <a:solidFill>
                  <a:srgbClr val="FF0000"/>
                </a:solidFill>
                <a:latin typeface="宋体" pitchFamily="2" charset="-122"/>
              </a:rPr>
              <a:t>15 </a:t>
            </a:r>
            <a:r>
              <a:rPr kumimoji="1" lang="en-US" altLang="zh-CN" b="1" dirty="0">
                <a:latin typeface="宋体" pitchFamily="2" charset="-122"/>
              </a:rPr>
              <a:t>   0    0   </a:t>
            </a:r>
            <a:r>
              <a:rPr kumimoji="1" lang="en-US" altLang="zh-CN" b="1" dirty="0">
                <a:solidFill>
                  <a:srgbClr val="FF0000"/>
                </a:solidFill>
                <a:latin typeface="宋体" pitchFamily="2" charset="-122"/>
              </a:rPr>
              <a:t>–7</a:t>
            </a:r>
            <a:r>
              <a:rPr kumimoji="1" lang="en-US" altLang="zh-CN" b="1" dirty="0">
                <a:latin typeface="宋体" pitchFamily="2" charset="-122"/>
              </a:rPr>
              <a:t>   0    0    0</a:t>
            </a:r>
          </a:p>
        </p:txBody>
      </p:sp>
      <p:sp>
        <p:nvSpPr>
          <p:cNvPr id="12" name="AutoShape 9">
            <a:extLst>
              <a:ext uri="{FF2B5EF4-FFF2-40B4-BE49-F238E27FC236}">
                <a16:creationId xmlns:a16="http://schemas.microsoft.com/office/drawing/2014/main" id="{E4290A27-3629-78C6-F876-8934E8547852}"/>
              </a:ext>
            </a:extLst>
          </p:cNvPr>
          <p:cNvSpPr>
            <a:spLocks/>
          </p:cNvSpPr>
          <p:nvPr/>
        </p:nvSpPr>
        <p:spPr bwMode="auto">
          <a:xfrm>
            <a:off x="6850264" y="4522164"/>
            <a:ext cx="152400" cy="2193925"/>
          </a:xfrm>
          <a:prstGeom prst="leftBracket">
            <a:avLst>
              <a:gd name="adj" fmla="val 1541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 name="AutoShape 10">
            <a:extLst>
              <a:ext uri="{FF2B5EF4-FFF2-40B4-BE49-F238E27FC236}">
                <a16:creationId xmlns:a16="http://schemas.microsoft.com/office/drawing/2014/main" id="{2E064499-ABFE-98AA-3D4D-7A7E572A6132}"/>
              </a:ext>
            </a:extLst>
          </p:cNvPr>
          <p:cNvSpPr>
            <a:spLocks/>
          </p:cNvSpPr>
          <p:nvPr/>
        </p:nvSpPr>
        <p:spPr bwMode="auto">
          <a:xfrm>
            <a:off x="10227149" y="4427761"/>
            <a:ext cx="152400" cy="2213758"/>
          </a:xfrm>
          <a:prstGeom prst="rightBracket">
            <a:avLst>
              <a:gd name="adj" fmla="val 15312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 name="Text Box 11">
            <a:extLst>
              <a:ext uri="{FF2B5EF4-FFF2-40B4-BE49-F238E27FC236}">
                <a16:creationId xmlns:a16="http://schemas.microsoft.com/office/drawing/2014/main" id="{DDB73587-0EEB-1047-D041-4E0CED73F4D4}"/>
              </a:ext>
            </a:extLst>
          </p:cNvPr>
          <p:cNvSpPr txBox="1">
            <a:spLocks noChangeArrowheads="1"/>
          </p:cNvSpPr>
          <p:nvPr/>
        </p:nvSpPr>
        <p:spPr bwMode="auto">
          <a:xfrm flipH="1">
            <a:off x="6164750" y="5419071"/>
            <a:ext cx="6608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000" dirty="0">
                <a:latin typeface="Times New Roman" pitchFamily="18" charset="0"/>
                <a:ea typeface="楷体_GB2312" pitchFamily="49" charset="-122"/>
              </a:rPr>
              <a:t>tb =</a:t>
            </a:r>
          </a:p>
        </p:txBody>
      </p:sp>
      <p:sp>
        <p:nvSpPr>
          <p:cNvPr id="17" name="Text Box 12">
            <a:extLst>
              <a:ext uri="{FF2B5EF4-FFF2-40B4-BE49-F238E27FC236}">
                <a16:creationId xmlns:a16="http://schemas.microsoft.com/office/drawing/2014/main" id="{718BC543-BBBD-6A0C-13A3-DA8D0C662EA0}"/>
              </a:ext>
            </a:extLst>
          </p:cNvPr>
          <p:cNvSpPr txBox="1">
            <a:spLocks noChangeArrowheads="1"/>
          </p:cNvSpPr>
          <p:nvPr/>
        </p:nvSpPr>
        <p:spPr bwMode="auto">
          <a:xfrm>
            <a:off x="6850265" y="4352300"/>
            <a:ext cx="3376885" cy="236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buClr>
                <a:schemeClr val="folHlink"/>
              </a:buClr>
              <a:buSzPct val="60000"/>
              <a:buFont typeface="Wingdings" pitchFamily="2" charset="2"/>
              <a:buNone/>
            </a:pPr>
            <a:r>
              <a:rPr kumimoji="1" lang="zh-CN" altLang="en-US" dirty="0">
                <a:latin typeface="楷体_GB2312" pitchFamily="49" charset="-122"/>
                <a:ea typeface="楷体_GB2312" pitchFamily="49" charset="-122"/>
              </a:rPr>
              <a:t> </a:t>
            </a:r>
            <a:r>
              <a:rPr kumimoji="1" lang="en-US" altLang="zh-CN" b="1" dirty="0">
                <a:latin typeface="宋体" pitchFamily="2" charset="-122"/>
              </a:rPr>
              <a:t>0    0</a:t>
            </a:r>
            <a:r>
              <a:rPr kumimoji="1" lang="en-US" altLang="zh-CN" b="1" dirty="0">
                <a:solidFill>
                  <a:schemeClr val="folHlink"/>
                </a:solidFill>
                <a:latin typeface="宋体" pitchFamily="2" charset="-122"/>
              </a:rPr>
              <a:t>   </a:t>
            </a:r>
            <a:r>
              <a:rPr kumimoji="1" lang="en-US" altLang="zh-CN" b="1" dirty="0">
                <a:solidFill>
                  <a:srgbClr val="FF0000"/>
                </a:solidFill>
                <a:latin typeface="宋体" pitchFamily="2" charset="-122"/>
              </a:rPr>
              <a:t>-3</a:t>
            </a:r>
            <a:r>
              <a:rPr kumimoji="1" lang="en-US" altLang="zh-CN" b="1" dirty="0">
                <a:latin typeface="宋体" pitchFamily="2" charset="-122"/>
              </a:rPr>
              <a:t>    0    0   </a:t>
            </a:r>
            <a:r>
              <a:rPr kumimoji="1" lang="en-US" altLang="zh-CN" b="1" dirty="0">
                <a:solidFill>
                  <a:srgbClr val="FF0000"/>
                </a:solidFill>
                <a:latin typeface="宋体" pitchFamily="2" charset="-122"/>
              </a:rPr>
              <a:t>15</a:t>
            </a:r>
          </a:p>
          <a:p>
            <a:pPr algn="l" eaLnBrk="1" hangingPunct="1">
              <a:spcBef>
                <a:spcPct val="20000"/>
              </a:spcBef>
              <a:buClr>
                <a:schemeClr val="folHlink"/>
              </a:buClr>
              <a:buSzPct val="60000"/>
              <a:buFont typeface="Wingdings" pitchFamily="2" charset="2"/>
              <a:buNone/>
            </a:pPr>
            <a:r>
              <a:rPr kumimoji="1" lang="en-US" altLang="zh-CN" b="1" dirty="0">
                <a:solidFill>
                  <a:srgbClr val="FF0000"/>
                </a:solidFill>
                <a:latin typeface="宋体" pitchFamily="2" charset="-122"/>
              </a:rPr>
              <a:t>12</a:t>
            </a:r>
            <a:r>
              <a:rPr kumimoji="1" lang="en-US" altLang="zh-CN" b="1" dirty="0">
                <a:latin typeface="宋体" pitchFamily="2" charset="-122"/>
              </a:rPr>
              <a:t>    0    0    0   </a:t>
            </a:r>
            <a:r>
              <a:rPr kumimoji="1" lang="en-US" altLang="zh-CN" b="1" dirty="0">
                <a:solidFill>
                  <a:srgbClr val="FF0000"/>
                </a:solidFill>
                <a:latin typeface="宋体" pitchFamily="2" charset="-122"/>
              </a:rPr>
              <a:t>18</a:t>
            </a:r>
            <a:r>
              <a:rPr kumimoji="1" lang="en-US" altLang="zh-CN" b="1" dirty="0">
                <a:latin typeface="宋体" pitchFamily="2" charset="-122"/>
              </a:rPr>
              <a:t>    0 </a:t>
            </a:r>
          </a:p>
          <a:p>
            <a:pPr algn="l" eaLnBrk="1" hangingPunct="1">
              <a:spcBef>
                <a:spcPct val="20000"/>
              </a:spcBef>
              <a:buClr>
                <a:schemeClr val="folHlink"/>
              </a:buClr>
              <a:buSzPct val="60000"/>
              <a:buFont typeface="Wingdings" pitchFamily="2" charset="2"/>
              <a:buNone/>
            </a:pPr>
            <a:r>
              <a:rPr kumimoji="1" lang="en-US" altLang="zh-CN" b="1" dirty="0">
                <a:solidFill>
                  <a:schemeClr val="folHlink"/>
                </a:solidFill>
                <a:latin typeface="宋体" pitchFamily="2" charset="-122"/>
              </a:rPr>
              <a:t> </a:t>
            </a:r>
            <a:r>
              <a:rPr kumimoji="1" lang="en-US" altLang="zh-CN" b="1" dirty="0">
                <a:solidFill>
                  <a:srgbClr val="FF0000"/>
                </a:solidFill>
                <a:latin typeface="宋体" pitchFamily="2" charset="-122"/>
              </a:rPr>
              <a:t>9</a:t>
            </a:r>
            <a:r>
              <a:rPr kumimoji="1" lang="en-US" altLang="zh-CN" b="1" dirty="0">
                <a:latin typeface="宋体" pitchFamily="2" charset="-122"/>
              </a:rPr>
              <a:t>    0    0   </a:t>
            </a:r>
            <a:r>
              <a:rPr kumimoji="1" lang="en-US" altLang="zh-CN" b="1" dirty="0">
                <a:solidFill>
                  <a:srgbClr val="FF0000"/>
                </a:solidFill>
                <a:latin typeface="宋体" pitchFamily="2" charset="-122"/>
              </a:rPr>
              <a:t>24</a:t>
            </a:r>
            <a:r>
              <a:rPr kumimoji="1" lang="en-US" altLang="zh-CN" b="1" dirty="0">
                <a:latin typeface="宋体" pitchFamily="2" charset="-122"/>
              </a:rPr>
              <a:t>    0    0</a:t>
            </a:r>
          </a:p>
          <a:p>
            <a:pPr algn="l" eaLnBrk="1" hangingPunct="1">
              <a:spcBef>
                <a:spcPct val="20000"/>
              </a:spcBef>
              <a:buClr>
                <a:schemeClr val="folHlink"/>
              </a:buClr>
              <a:buSzPct val="60000"/>
              <a:buFont typeface="Wingdings" pitchFamily="2" charset="2"/>
              <a:buNone/>
            </a:pPr>
            <a:r>
              <a:rPr kumimoji="1" lang="en-US" altLang="zh-CN" b="1" dirty="0">
                <a:latin typeface="宋体" pitchFamily="2" charset="-122"/>
              </a:rPr>
              <a:t> 0    0    0    0    0   </a:t>
            </a:r>
            <a:r>
              <a:rPr kumimoji="1" lang="en-US" altLang="zh-CN" b="1" dirty="0">
                <a:solidFill>
                  <a:srgbClr val="FF0000"/>
                </a:solidFill>
                <a:latin typeface="宋体" pitchFamily="2" charset="-122"/>
              </a:rPr>
              <a:t>-7 </a:t>
            </a:r>
          </a:p>
          <a:p>
            <a:pPr algn="l" eaLnBrk="1" hangingPunct="1">
              <a:spcBef>
                <a:spcPct val="20000"/>
              </a:spcBef>
              <a:buClr>
                <a:schemeClr val="folHlink"/>
              </a:buClr>
              <a:buSzPct val="60000"/>
              <a:buFont typeface="Wingdings" pitchFamily="2" charset="2"/>
              <a:buNone/>
            </a:pPr>
            <a:r>
              <a:rPr kumimoji="1" lang="en-US" altLang="zh-CN" b="1" dirty="0">
                <a:latin typeface="宋体" pitchFamily="2" charset="-122"/>
              </a:rPr>
              <a:t> 0    0    0    0    0    0</a:t>
            </a:r>
          </a:p>
          <a:p>
            <a:pPr algn="l" eaLnBrk="1" hangingPunct="1">
              <a:spcBef>
                <a:spcPct val="20000"/>
              </a:spcBef>
              <a:buClr>
                <a:schemeClr val="folHlink"/>
              </a:buClr>
              <a:buSzPct val="60000"/>
              <a:buFont typeface="Wingdings" pitchFamily="2" charset="2"/>
              <a:buNone/>
            </a:pPr>
            <a:r>
              <a:rPr kumimoji="1" lang="en-US" altLang="zh-CN" b="1" dirty="0">
                <a:solidFill>
                  <a:schemeClr val="folHlink"/>
                </a:solidFill>
                <a:latin typeface="宋体" pitchFamily="2" charset="-122"/>
              </a:rPr>
              <a:t> </a:t>
            </a:r>
            <a:r>
              <a:rPr kumimoji="1" lang="en-US" altLang="zh-CN" b="1" dirty="0">
                <a:latin typeface="宋体" pitchFamily="2" charset="-122"/>
              </a:rPr>
              <a:t>0</a:t>
            </a:r>
            <a:r>
              <a:rPr kumimoji="1" lang="en-US" altLang="zh-CN" b="1" dirty="0">
                <a:solidFill>
                  <a:schemeClr val="folHlink"/>
                </a:solidFill>
                <a:latin typeface="宋体" pitchFamily="2" charset="-122"/>
              </a:rPr>
              <a:t> </a:t>
            </a:r>
            <a:r>
              <a:rPr kumimoji="1" lang="en-US" altLang="zh-CN" b="1" dirty="0">
                <a:latin typeface="宋体" pitchFamily="2" charset="-122"/>
              </a:rPr>
              <a:t>   0  </a:t>
            </a:r>
            <a:r>
              <a:rPr kumimoji="1" lang="en-US" altLang="zh-CN" b="1" dirty="0">
                <a:solidFill>
                  <a:schemeClr val="accent2"/>
                </a:solidFill>
                <a:latin typeface="宋体" pitchFamily="2" charset="-122"/>
              </a:rPr>
              <a:t> </a:t>
            </a:r>
            <a:r>
              <a:rPr kumimoji="1" lang="en-US" altLang="zh-CN" b="1" dirty="0">
                <a:solidFill>
                  <a:srgbClr val="FF0000"/>
                </a:solidFill>
                <a:latin typeface="宋体" pitchFamily="2" charset="-122"/>
              </a:rPr>
              <a:t>14 </a:t>
            </a:r>
            <a:r>
              <a:rPr kumimoji="1" lang="en-US" altLang="zh-CN" b="1" dirty="0">
                <a:solidFill>
                  <a:schemeClr val="folHlink"/>
                </a:solidFill>
                <a:latin typeface="宋体" pitchFamily="2" charset="-122"/>
              </a:rPr>
              <a:t>  </a:t>
            </a:r>
            <a:r>
              <a:rPr kumimoji="1" lang="en-US" altLang="zh-CN" b="1" dirty="0">
                <a:latin typeface="宋体" pitchFamily="2" charset="-122"/>
              </a:rPr>
              <a:t> 0    0    0</a:t>
            </a:r>
          </a:p>
          <a:p>
            <a:pPr algn="l" eaLnBrk="1" hangingPunct="1">
              <a:spcBef>
                <a:spcPct val="20000"/>
              </a:spcBef>
              <a:buClr>
                <a:schemeClr val="folHlink"/>
              </a:buClr>
              <a:buSzPct val="60000"/>
              <a:buFont typeface="Wingdings" pitchFamily="2" charset="2"/>
              <a:buNone/>
            </a:pPr>
            <a:r>
              <a:rPr kumimoji="1" lang="en-US" altLang="zh-CN" b="1" dirty="0">
                <a:latin typeface="宋体" pitchFamily="2" charset="-122"/>
              </a:rPr>
              <a:t> 0    0    0    0    0    0</a:t>
            </a:r>
          </a:p>
        </p:txBody>
      </p:sp>
      <p:sp>
        <p:nvSpPr>
          <p:cNvPr id="19" name="AutoShape 13">
            <a:extLst>
              <a:ext uri="{FF2B5EF4-FFF2-40B4-BE49-F238E27FC236}">
                <a16:creationId xmlns:a16="http://schemas.microsoft.com/office/drawing/2014/main" id="{008A8C31-692B-A80B-4CDD-C7D05C08FC6F}"/>
              </a:ext>
            </a:extLst>
          </p:cNvPr>
          <p:cNvSpPr>
            <a:spLocks noChangeArrowheads="1"/>
          </p:cNvSpPr>
          <p:nvPr/>
        </p:nvSpPr>
        <p:spPr bwMode="auto">
          <a:xfrm rot="18171912">
            <a:off x="5885648" y="4613659"/>
            <a:ext cx="534987" cy="914400"/>
          </a:xfrm>
          <a:prstGeom prst="downArrow">
            <a:avLst>
              <a:gd name="adj1" fmla="val 39352"/>
              <a:gd name="adj2" fmla="val 68099"/>
            </a:avLst>
          </a:prstGeom>
          <a:solidFill>
            <a:schemeClr val="accent1"/>
          </a:solidFill>
          <a:ln w="9525">
            <a:solidFill>
              <a:schemeClr val="tx1"/>
            </a:solidFill>
            <a:miter lim="800000"/>
            <a:headEnd/>
            <a:tailEnd/>
          </a:ln>
        </p:spPr>
        <p:txBody>
          <a:bodyPr wrap="none" anchor="ctr"/>
          <a:lstStyle/>
          <a:p>
            <a:endParaRPr lang="zh-CN" altLang="en-US"/>
          </a:p>
        </p:txBody>
      </p:sp>
      <p:sp>
        <p:nvSpPr>
          <p:cNvPr id="20" name="Rectangle 2">
            <a:extLst>
              <a:ext uri="{FF2B5EF4-FFF2-40B4-BE49-F238E27FC236}">
                <a16:creationId xmlns:a16="http://schemas.microsoft.com/office/drawing/2014/main" id="{10F2493D-7BF1-B87E-B6FE-9B1BBD2823F2}"/>
              </a:ext>
            </a:extLst>
          </p:cNvPr>
          <p:cNvSpPr txBox="1">
            <a:spLocks noChangeArrowheads="1"/>
          </p:cNvSpPr>
          <p:nvPr/>
        </p:nvSpPr>
        <p:spPr>
          <a:xfrm>
            <a:off x="5293769" y="5174927"/>
            <a:ext cx="762000" cy="457200"/>
          </a:xfrm>
          <a:prstGeom prst="rect">
            <a:avLst/>
          </a:prstGeom>
          <a:noFill/>
        </p:spPr>
        <p:txBody>
          <a:bodyPr vert="horz" lIns="0" tIns="0" rIns="0" bIns="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400" dirty="0">
                <a:latin typeface="微软雅黑" pitchFamily="34" charset="-122"/>
                <a:ea typeface="微软雅黑" pitchFamily="34" charset="-122"/>
                <a:cs typeface="经典粗黑简" pitchFamily="49" charset="-122"/>
              </a:rPr>
              <a:t>转置</a:t>
            </a:r>
          </a:p>
        </p:txBody>
      </p:sp>
    </p:spTree>
    <p:extLst>
      <p:ext uri="{BB962C8B-B14F-4D97-AF65-F5344CB8AC3E}">
        <p14:creationId xmlns:p14="http://schemas.microsoft.com/office/powerpoint/2010/main" val="1655540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6" grpId="0"/>
      <p:bldP spid="17" grpId="0"/>
      <p:bldP spid="19" grpId="0" animBg="1"/>
      <p:bldP spid="2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13"/>
          <p:cNvSpPr>
            <a:spLocks noChangeArrowheads="1"/>
          </p:cNvSpPr>
          <p:nvPr/>
        </p:nvSpPr>
        <p:spPr bwMode="auto">
          <a:xfrm rot="16200000">
            <a:off x="6426645" y="3207742"/>
            <a:ext cx="534987" cy="1728190"/>
          </a:xfrm>
          <a:prstGeom prst="downArrow">
            <a:avLst>
              <a:gd name="adj1" fmla="val 39352"/>
              <a:gd name="adj2" fmla="val 68099"/>
            </a:avLst>
          </a:prstGeom>
          <a:solidFill>
            <a:schemeClr val="accent1"/>
          </a:solidFill>
          <a:ln w="9525">
            <a:solidFill>
              <a:schemeClr val="tx1"/>
            </a:solidFill>
            <a:miter lim="800000"/>
            <a:headEnd/>
            <a:tailEnd/>
          </a:ln>
        </p:spPr>
        <p:txBody>
          <a:bodyPr wrap="none" anchor="ctr"/>
          <a:lstStyle/>
          <a:p>
            <a:endParaRPr lang="zh-CN" altLang="en-US"/>
          </a:p>
        </p:txBody>
      </p:sp>
      <p:sp>
        <p:nvSpPr>
          <p:cNvPr id="32" name="Rectangle 2"/>
          <p:cNvSpPr txBox="1">
            <a:spLocks noChangeArrowheads="1"/>
          </p:cNvSpPr>
          <p:nvPr/>
        </p:nvSpPr>
        <p:spPr>
          <a:xfrm>
            <a:off x="6444065" y="3281271"/>
            <a:ext cx="762000" cy="457200"/>
          </a:xfrm>
          <a:prstGeom prst="rect">
            <a:avLst/>
          </a:prstGeom>
          <a:noFill/>
        </p:spPr>
        <p:txBody>
          <a:bodyPr vert="horz" lIns="0" tIns="0" rIns="0" bIns="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400" dirty="0">
                <a:latin typeface="微软雅黑" pitchFamily="34" charset="-122"/>
                <a:ea typeface="微软雅黑" pitchFamily="34" charset="-122"/>
                <a:cs typeface="经典粗黑简" pitchFamily="49" charset="-122"/>
              </a:rPr>
              <a:t>转置</a:t>
            </a:r>
          </a:p>
        </p:txBody>
      </p:sp>
      <p:graphicFrame>
        <p:nvGraphicFramePr>
          <p:cNvPr id="16" name="表格 15"/>
          <p:cNvGraphicFramePr>
            <a:graphicFrameLocks noGrp="1"/>
          </p:cNvGraphicFramePr>
          <p:nvPr>
            <p:extLst>
              <p:ext uri="{D42A27DB-BD31-4B8C-83A1-F6EECF244321}">
                <p14:modId xmlns:p14="http://schemas.microsoft.com/office/powerpoint/2010/main" val="2496919987"/>
              </p:ext>
            </p:extLst>
          </p:nvPr>
        </p:nvGraphicFramePr>
        <p:xfrm>
          <a:off x="3593392" y="2332242"/>
          <a:ext cx="2133600" cy="3783520"/>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3072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0"/>
                  </a:ext>
                </a:extLst>
              </a:tr>
              <a:tr h="348343">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1</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1"/>
                  </a:ext>
                </a:extLst>
              </a:tr>
              <a:tr h="33092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2"/>
                  </a:ext>
                </a:extLst>
              </a:tr>
              <a:tr h="330925">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3"/>
                  </a:ext>
                </a:extLst>
              </a:tr>
              <a:tr h="357052">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4"/>
                  </a:ext>
                </a:extLst>
              </a:tr>
              <a:tr h="339634">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5</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5"/>
                  </a:ext>
                </a:extLst>
              </a:tr>
              <a:tr h="33092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6"/>
                  </a:ext>
                </a:extLst>
              </a:tr>
              <a:tr h="35705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7"/>
                  </a:ext>
                </a:extLst>
              </a:tr>
              <a:tr h="322217">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22217">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313508">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18" name="表格 17"/>
          <p:cNvGraphicFramePr>
            <a:graphicFrameLocks noGrp="1"/>
          </p:cNvGraphicFramePr>
          <p:nvPr>
            <p:extLst>
              <p:ext uri="{D42A27DB-BD31-4B8C-83A1-F6EECF244321}">
                <p14:modId xmlns:p14="http://schemas.microsoft.com/office/powerpoint/2010/main" val="3464068501"/>
              </p:ext>
            </p:extLst>
          </p:nvPr>
        </p:nvGraphicFramePr>
        <p:xfrm>
          <a:off x="3212765" y="2423327"/>
          <a:ext cx="345440" cy="2711635"/>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0697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24393">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278674">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8</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3805142729"/>
              </p:ext>
            </p:extLst>
          </p:nvPr>
        </p:nvGraphicFramePr>
        <p:xfrm>
          <a:off x="7975754" y="2335492"/>
          <a:ext cx="2133600" cy="3783520"/>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3072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0"/>
                  </a:ext>
                </a:extLst>
              </a:tr>
              <a:tr h="348343">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1</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1"/>
                  </a:ext>
                </a:extLst>
              </a:tr>
              <a:tr h="33092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2"/>
                  </a:ext>
                </a:extLst>
              </a:tr>
              <a:tr h="330925">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3"/>
                  </a:ext>
                </a:extLst>
              </a:tr>
              <a:tr h="357052">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4"/>
                  </a:ext>
                </a:extLst>
              </a:tr>
              <a:tr h="339634">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5"/>
                  </a:ext>
                </a:extLst>
              </a:tr>
              <a:tr h="33092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6"/>
                  </a:ext>
                </a:extLst>
              </a:tr>
              <a:tr h="35705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7"/>
                  </a:ext>
                </a:extLst>
              </a:tr>
              <a:tr h="322217">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22217">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313508">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33" name="表格 32"/>
          <p:cNvGraphicFramePr>
            <a:graphicFrameLocks noGrp="1"/>
          </p:cNvGraphicFramePr>
          <p:nvPr>
            <p:extLst>
              <p:ext uri="{D42A27DB-BD31-4B8C-83A1-F6EECF244321}">
                <p14:modId xmlns:p14="http://schemas.microsoft.com/office/powerpoint/2010/main" val="488480237"/>
              </p:ext>
            </p:extLst>
          </p:nvPr>
        </p:nvGraphicFramePr>
        <p:xfrm>
          <a:off x="7595127" y="2426577"/>
          <a:ext cx="345440" cy="2711635"/>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0697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24393">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278674">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8</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sp>
        <p:nvSpPr>
          <p:cNvPr id="35" name="Text Box 7"/>
          <p:cNvSpPr txBox="1">
            <a:spLocks noChangeArrowheads="1"/>
          </p:cNvSpPr>
          <p:nvPr/>
        </p:nvSpPr>
        <p:spPr bwMode="auto">
          <a:xfrm flipH="1">
            <a:off x="7031667" y="1913754"/>
            <a:ext cx="6665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tb</a:t>
            </a:r>
          </a:p>
        </p:txBody>
      </p:sp>
      <p:sp>
        <p:nvSpPr>
          <p:cNvPr id="36" name="Text Box 7"/>
          <p:cNvSpPr txBox="1">
            <a:spLocks noChangeArrowheads="1"/>
          </p:cNvSpPr>
          <p:nvPr/>
        </p:nvSpPr>
        <p:spPr bwMode="auto">
          <a:xfrm flipH="1">
            <a:off x="3087680" y="1867245"/>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sp>
        <p:nvSpPr>
          <p:cNvPr id="2" name="Rectangle 2">
            <a:extLst>
              <a:ext uri="{FF2B5EF4-FFF2-40B4-BE49-F238E27FC236}">
                <a16:creationId xmlns:a16="http://schemas.microsoft.com/office/drawing/2014/main" id="{662DA5EF-E094-AC45-7A26-B4FFE5BC36F1}"/>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95953911-E3E1-AF66-C959-5FEF461413C8}"/>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77E3E619-F5BA-A20C-18B3-29CEE4E09B7F}"/>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graphicFrame>
        <p:nvGraphicFramePr>
          <p:cNvPr id="6" name="表格 5">
            <a:extLst>
              <a:ext uri="{FF2B5EF4-FFF2-40B4-BE49-F238E27FC236}">
                <a16:creationId xmlns:a16="http://schemas.microsoft.com/office/drawing/2014/main" id="{C66FE9FC-2965-CD64-8446-F237F7531CEC}"/>
              </a:ext>
            </a:extLst>
          </p:cNvPr>
          <p:cNvGraphicFramePr>
            <a:graphicFrameLocks noGrp="1"/>
          </p:cNvGraphicFramePr>
          <p:nvPr>
            <p:extLst>
              <p:ext uri="{D42A27DB-BD31-4B8C-83A1-F6EECF244321}">
                <p14:modId xmlns:p14="http://schemas.microsoft.com/office/powerpoint/2010/main" val="1759922778"/>
              </p:ext>
            </p:extLst>
          </p:nvPr>
        </p:nvGraphicFramePr>
        <p:xfrm>
          <a:off x="7940567" y="1983994"/>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7" name="表格 6">
            <a:extLst>
              <a:ext uri="{FF2B5EF4-FFF2-40B4-BE49-F238E27FC236}">
                <a16:creationId xmlns:a16="http://schemas.microsoft.com/office/drawing/2014/main" id="{000C5ED6-B1FF-A921-B310-4D8C362AAA9B}"/>
              </a:ext>
            </a:extLst>
          </p:cNvPr>
          <p:cNvGraphicFramePr>
            <a:graphicFrameLocks noGrp="1"/>
          </p:cNvGraphicFramePr>
          <p:nvPr>
            <p:extLst>
              <p:ext uri="{D42A27DB-BD31-4B8C-83A1-F6EECF244321}">
                <p14:modId xmlns:p14="http://schemas.microsoft.com/office/powerpoint/2010/main" val="1759922778"/>
              </p:ext>
            </p:extLst>
          </p:nvPr>
        </p:nvGraphicFramePr>
        <p:xfrm>
          <a:off x="3624301" y="1966152"/>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8" name="表格 7">
            <a:extLst>
              <a:ext uri="{FF2B5EF4-FFF2-40B4-BE49-F238E27FC236}">
                <a16:creationId xmlns:a16="http://schemas.microsoft.com/office/drawing/2014/main" id="{D17AB9F2-CF9B-0094-1786-D91499E8FA5D}"/>
              </a:ext>
            </a:extLst>
          </p:cNvPr>
          <p:cNvGraphicFramePr>
            <a:graphicFrameLocks noGrp="1"/>
          </p:cNvGraphicFramePr>
          <p:nvPr>
            <p:extLst>
              <p:ext uri="{D42A27DB-BD31-4B8C-83A1-F6EECF244321}">
                <p14:modId xmlns:p14="http://schemas.microsoft.com/office/powerpoint/2010/main" val="610624177"/>
              </p:ext>
            </p:extLst>
          </p:nvPr>
        </p:nvGraphicFramePr>
        <p:xfrm>
          <a:off x="10199400" y="1942366"/>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graphicFrame>
        <p:nvGraphicFramePr>
          <p:cNvPr id="9" name="表格 8">
            <a:extLst>
              <a:ext uri="{FF2B5EF4-FFF2-40B4-BE49-F238E27FC236}">
                <a16:creationId xmlns:a16="http://schemas.microsoft.com/office/drawing/2014/main" id="{28C270AA-1C92-1F98-8F67-544FE33812FC}"/>
              </a:ext>
            </a:extLst>
          </p:cNvPr>
          <p:cNvGraphicFramePr>
            <a:graphicFrameLocks noGrp="1"/>
          </p:cNvGraphicFramePr>
          <p:nvPr>
            <p:extLst>
              <p:ext uri="{D42A27DB-BD31-4B8C-83A1-F6EECF244321}">
                <p14:modId xmlns:p14="http://schemas.microsoft.com/office/powerpoint/2010/main" val="610624177"/>
              </p:ext>
            </p:extLst>
          </p:nvPr>
        </p:nvGraphicFramePr>
        <p:xfrm>
          <a:off x="5869551" y="2223370"/>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10" name="Text Box 2">
            <a:extLst>
              <a:ext uri="{FF2B5EF4-FFF2-40B4-BE49-F238E27FC236}">
                <a16:creationId xmlns:a16="http://schemas.microsoft.com/office/drawing/2014/main" id="{90581C97-1CA4-564D-7B8A-13A47358FCB1}"/>
              </a:ext>
            </a:extLst>
          </p:cNvPr>
          <p:cNvSpPr txBox="1">
            <a:spLocks noChangeArrowheads="1"/>
          </p:cNvSpPr>
          <p:nvPr/>
        </p:nvSpPr>
        <p:spPr bwMode="auto">
          <a:xfrm>
            <a:off x="902779" y="1942366"/>
            <a:ext cx="1945804" cy="369332"/>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5</a:t>
            </a:r>
            <a:r>
              <a:rPr kumimoji="1" lang="zh-CN" altLang="en-US" sz="2000" dirty="0">
                <a:latin typeface="Consolas" pitchFamily="49" charset="0"/>
                <a:ea typeface="微软雅黑" pitchFamily="34" charset="-122"/>
                <a:cs typeface="Consolas" pitchFamily="49" charset="0"/>
              </a:rPr>
              <a:t>）</a:t>
            </a:r>
            <a:r>
              <a:rPr kumimoji="1" lang="zh-CN" altLang="en-US" sz="2000" dirty="0">
                <a:latin typeface="Consolas" pitchFamily="49" charset="0"/>
                <a:ea typeface="微软雅黑" pitchFamily="34" charset="-122"/>
              </a:rPr>
              <a:t>矩阵转置</a:t>
            </a:r>
            <a:endParaRPr kumimoji="1" lang="en-US" altLang="zh-CN" sz="2000" dirty="0">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3460660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13"/>
          <p:cNvSpPr>
            <a:spLocks noChangeArrowheads="1"/>
          </p:cNvSpPr>
          <p:nvPr/>
        </p:nvSpPr>
        <p:spPr bwMode="auto">
          <a:xfrm rot="16200000">
            <a:off x="5900516" y="3696495"/>
            <a:ext cx="534987" cy="1728190"/>
          </a:xfrm>
          <a:prstGeom prst="downArrow">
            <a:avLst>
              <a:gd name="adj1" fmla="val 39352"/>
              <a:gd name="adj2" fmla="val 68099"/>
            </a:avLst>
          </a:prstGeom>
          <a:solidFill>
            <a:schemeClr val="accent1"/>
          </a:solidFill>
          <a:ln w="9525">
            <a:solidFill>
              <a:schemeClr val="tx1"/>
            </a:solidFill>
            <a:miter lim="800000"/>
            <a:headEnd/>
            <a:tailEnd/>
          </a:ln>
        </p:spPr>
        <p:txBody>
          <a:bodyPr wrap="none" anchor="ctr"/>
          <a:lstStyle/>
          <a:p>
            <a:endParaRPr lang="zh-CN" altLang="en-US"/>
          </a:p>
        </p:txBody>
      </p:sp>
      <p:sp>
        <p:nvSpPr>
          <p:cNvPr id="32" name="Rectangle 2"/>
          <p:cNvSpPr txBox="1">
            <a:spLocks noChangeArrowheads="1"/>
          </p:cNvSpPr>
          <p:nvPr/>
        </p:nvSpPr>
        <p:spPr>
          <a:xfrm>
            <a:off x="5917936" y="3933056"/>
            <a:ext cx="762000" cy="457200"/>
          </a:xfrm>
          <a:prstGeom prst="rect">
            <a:avLst/>
          </a:prstGeom>
          <a:noFill/>
        </p:spPr>
        <p:txBody>
          <a:bodyPr vert="horz" lIns="0" tIns="0" rIns="0" bIns="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400" dirty="0">
                <a:latin typeface="微软雅黑" pitchFamily="34" charset="-122"/>
                <a:ea typeface="微软雅黑" pitchFamily="34" charset="-122"/>
                <a:cs typeface="经典粗黑简" pitchFamily="49" charset="-122"/>
              </a:rPr>
              <a:t>转置</a:t>
            </a:r>
          </a:p>
        </p:txBody>
      </p:sp>
      <p:graphicFrame>
        <p:nvGraphicFramePr>
          <p:cNvPr id="16" name="表格 15"/>
          <p:cNvGraphicFramePr>
            <a:graphicFrameLocks noGrp="1"/>
          </p:cNvGraphicFramePr>
          <p:nvPr>
            <p:extLst>
              <p:ext uri="{D42A27DB-BD31-4B8C-83A1-F6EECF244321}">
                <p14:modId xmlns:p14="http://schemas.microsoft.com/office/powerpoint/2010/main" val="635158607"/>
              </p:ext>
            </p:extLst>
          </p:nvPr>
        </p:nvGraphicFramePr>
        <p:xfrm>
          <a:off x="3067263" y="2716141"/>
          <a:ext cx="2133600" cy="3783520"/>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3072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0"/>
                  </a:ext>
                </a:extLst>
              </a:tr>
              <a:tr h="348343">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1</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1"/>
                  </a:ext>
                </a:extLst>
              </a:tr>
              <a:tr h="33092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2"/>
                  </a:ext>
                </a:extLst>
              </a:tr>
              <a:tr h="330925">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3"/>
                  </a:ext>
                </a:extLst>
              </a:tr>
              <a:tr h="357052">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4"/>
                  </a:ext>
                </a:extLst>
              </a:tr>
              <a:tr h="339634">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5</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5"/>
                  </a:ext>
                </a:extLst>
              </a:tr>
              <a:tr h="33092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6"/>
                  </a:ext>
                </a:extLst>
              </a:tr>
              <a:tr h="35705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7"/>
                  </a:ext>
                </a:extLst>
              </a:tr>
              <a:tr h="322217">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22217">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313508">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18" name="表格 17"/>
          <p:cNvGraphicFramePr>
            <a:graphicFrameLocks noGrp="1"/>
          </p:cNvGraphicFramePr>
          <p:nvPr>
            <p:extLst>
              <p:ext uri="{D42A27DB-BD31-4B8C-83A1-F6EECF244321}">
                <p14:modId xmlns:p14="http://schemas.microsoft.com/office/powerpoint/2010/main" val="259415605"/>
              </p:ext>
            </p:extLst>
          </p:nvPr>
        </p:nvGraphicFramePr>
        <p:xfrm>
          <a:off x="2686636" y="2807226"/>
          <a:ext cx="345440" cy="2711635"/>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0697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24393">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278674">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8</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3811960275"/>
              </p:ext>
            </p:extLst>
          </p:nvPr>
        </p:nvGraphicFramePr>
        <p:xfrm>
          <a:off x="7449625" y="2698610"/>
          <a:ext cx="2133600" cy="3783520"/>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3072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0"/>
                  </a:ext>
                </a:extLst>
              </a:tr>
              <a:tr h="348343">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1</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1"/>
                  </a:ext>
                </a:extLst>
              </a:tr>
              <a:tr h="33092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2"/>
                  </a:ext>
                </a:extLst>
              </a:tr>
              <a:tr h="330925">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3"/>
                  </a:ext>
                </a:extLst>
              </a:tr>
              <a:tr h="357052">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4"/>
                  </a:ext>
                </a:extLst>
              </a:tr>
              <a:tr h="339634">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5"/>
                  </a:ext>
                </a:extLst>
              </a:tr>
              <a:tr h="33092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6"/>
                  </a:ext>
                </a:extLst>
              </a:tr>
              <a:tr h="35705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7"/>
                  </a:ext>
                </a:extLst>
              </a:tr>
              <a:tr h="322217">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22217">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313508">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33" name="表格 32"/>
          <p:cNvGraphicFramePr>
            <a:graphicFrameLocks noGrp="1"/>
          </p:cNvGraphicFramePr>
          <p:nvPr>
            <p:extLst>
              <p:ext uri="{D42A27DB-BD31-4B8C-83A1-F6EECF244321}">
                <p14:modId xmlns:p14="http://schemas.microsoft.com/office/powerpoint/2010/main" val="4052226383"/>
              </p:ext>
            </p:extLst>
          </p:nvPr>
        </p:nvGraphicFramePr>
        <p:xfrm>
          <a:off x="7068998" y="2789695"/>
          <a:ext cx="345440" cy="2711635"/>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0697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24393">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278674">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8</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sp>
        <p:nvSpPr>
          <p:cNvPr id="35" name="Text Box 7"/>
          <p:cNvSpPr txBox="1">
            <a:spLocks noChangeArrowheads="1"/>
          </p:cNvSpPr>
          <p:nvPr/>
        </p:nvSpPr>
        <p:spPr bwMode="auto">
          <a:xfrm flipH="1">
            <a:off x="6490228" y="2276872"/>
            <a:ext cx="68182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tb</a:t>
            </a:r>
          </a:p>
        </p:txBody>
      </p:sp>
      <p:sp>
        <p:nvSpPr>
          <p:cNvPr id="36" name="Text Box 7"/>
          <p:cNvSpPr txBox="1">
            <a:spLocks noChangeArrowheads="1"/>
          </p:cNvSpPr>
          <p:nvPr/>
        </p:nvSpPr>
        <p:spPr bwMode="auto">
          <a:xfrm flipH="1">
            <a:off x="2561551" y="2251144"/>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sp>
        <p:nvSpPr>
          <p:cNvPr id="20" name="矩形 19"/>
          <p:cNvSpPr/>
          <p:nvPr/>
        </p:nvSpPr>
        <p:spPr>
          <a:xfrm>
            <a:off x="1933998" y="2776091"/>
            <a:ext cx="374469" cy="353943"/>
          </a:xfrm>
          <a:prstGeom prst="rect">
            <a:avLst/>
          </a:prstGeom>
        </p:spPr>
        <p:txBody>
          <a:bodyPr wrap="square" tIns="0">
            <a:spAutoFit/>
          </a:bodyPr>
          <a:lstStyle/>
          <a:p>
            <a:r>
              <a:rPr lang="en-US" altLang="zh-CN" sz="2000" dirty="0">
                <a:latin typeface="微软雅黑" pitchFamily="34" charset="-122"/>
                <a:ea typeface="微软雅黑" pitchFamily="34" charset="-122"/>
                <a:cs typeface="经典粗黑简" pitchFamily="49" charset="-122"/>
              </a:rPr>
              <a:t>p</a:t>
            </a:r>
            <a:endParaRPr lang="zh-CN" altLang="en-US" sz="2000" dirty="0">
              <a:latin typeface="微软雅黑" pitchFamily="34" charset="-122"/>
              <a:ea typeface="微软雅黑" pitchFamily="34" charset="-122"/>
              <a:cs typeface="经典粗黑简" pitchFamily="49" charset="-122"/>
            </a:endParaRPr>
          </a:p>
        </p:txBody>
      </p:sp>
      <p:cxnSp>
        <p:nvCxnSpPr>
          <p:cNvPr id="21" name="直接箭头连接符 20"/>
          <p:cNvCxnSpPr/>
          <p:nvPr/>
        </p:nvCxnSpPr>
        <p:spPr>
          <a:xfrm>
            <a:off x="2231123" y="2953061"/>
            <a:ext cx="43151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2662638" y="2827150"/>
            <a:ext cx="24343" cy="25770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2097236" y="3329340"/>
            <a:ext cx="545342" cy="353943"/>
          </a:xfrm>
          <a:prstGeom prst="rect">
            <a:avLst/>
          </a:prstGeom>
        </p:spPr>
        <p:txBody>
          <a:bodyPr wrap="square" tIns="0">
            <a:spAutoFit/>
          </a:bodyPr>
          <a:lstStyle/>
          <a:p>
            <a:r>
              <a:rPr lang="en-US" altLang="zh-CN" sz="2000" dirty="0">
                <a:latin typeface="微软雅黑" pitchFamily="34" charset="-122"/>
                <a:ea typeface="微软雅黑" pitchFamily="34" charset="-122"/>
                <a:cs typeface="经典粗黑简" pitchFamily="49" charset="-122"/>
              </a:rPr>
              <a:t>col</a:t>
            </a:r>
            <a:endParaRPr lang="zh-CN" altLang="en-US" sz="20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8AEF5F87-C9CB-BBC2-6B23-E39209DA2E8C}"/>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F763AAC6-74B7-49C2-56BC-6373CFF3A995}"/>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60F7B329-9860-89C1-77D7-5BA4C107544A}"/>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sp>
        <p:nvSpPr>
          <p:cNvPr id="5" name="Text Box 2">
            <a:extLst>
              <a:ext uri="{FF2B5EF4-FFF2-40B4-BE49-F238E27FC236}">
                <a16:creationId xmlns:a16="http://schemas.microsoft.com/office/drawing/2014/main" id="{73D9ABE1-EEC2-0263-92EF-30C09A24B754}"/>
              </a:ext>
            </a:extLst>
          </p:cNvPr>
          <p:cNvSpPr txBox="1">
            <a:spLocks noChangeArrowheads="1"/>
          </p:cNvSpPr>
          <p:nvPr/>
        </p:nvSpPr>
        <p:spPr bwMode="auto">
          <a:xfrm>
            <a:off x="902779" y="1942366"/>
            <a:ext cx="2129297" cy="369332"/>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5</a:t>
            </a:r>
            <a:r>
              <a:rPr kumimoji="1" lang="zh-CN" altLang="en-US" sz="2000" dirty="0">
                <a:latin typeface="Consolas" pitchFamily="49" charset="0"/>
                <a:ea typeface="微软雅黑" pitchFamily="34" charset="-122"/>
                <a:cs typeface="Consolas" pitchFamily="49" charset="0"/>
              </a:rPr>
              <a:t>）</a:t>
            </a:r>
            <a:r>
              <a:rPr kumimoji="1" lang="zh-CN" altLang="en-US" sz="2000" dirty="0">
                <a:latin typeface="Consolas" pitchFamily="49" charset="0"/>
                <a:ea typeface="微软雅黑" pitchFamily="34" charset="-122"/>
              </a:rPr>
              <a:t>矩阵转置</a:t>
            </a:r>
            <a:endParaRPr kumimoji="1" lang="en-US" altLang="zh-CN" sz="2000" dirty="0">
              <a:latin typeface="Consolas" pitchFamily="49" charset="0"/>
              <a:ea typeface="仿宋" pitchFamily="49" charset="-122"/>
              <a:cs typeface="Consolas" pitchFamily="49" charset="0"/>
            </a:endParaRPr>
          </a:p>
        </p:txBody>
      </p:sp>
      <p:graphicFrame>
        <p:nvGraphicFramePr>
          <p:cNvPr id="6" name="表格 5">
            <a:extLst>
              <a:ext uri="{FF2B5EF4-FFF2-40B4-BE49-F238E27FC236}">
                <a16:creationId xmlns:a16="http://schemas.microsoft.com/office/drawing/2014/main" id="{7425C397-63A2-C378-B191-8AEB4A16CA7D}"/>
              </a:ext>
            </a:extLst>
          </p:cNvPr>
          <p:cNvGraphicFramePr>
            <a:graphicFrameLocks noGrp="1"/>
          </p:cNvGraphicFramePr>
          <p:nvPr>
            <p:extLst>
              <p:ext uri="{D42A27DB-BD31-4B8C-83A1-F6EECF244321}">
                <p14:modId xmlns:p14="http://schemas.microsoft.com/office/powerpoint/2010/main" val="3058811983"/>
              </p:ext>
            </p:extLst>
          </p:nvPr>
        </p:nvGraphicFramePr>
        <p:xfrm>
          <a:off x="7435879" y="2332400"/>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7" name="表格 6">
            <a:extLst>
              <a:ext uri="{FF2B5EF4-FFF2-40B4-BE49-F238E27FC236}">
                <a16:creationId xmlns:a16="http://schemas.microsoft.com/office/drawing/2014/main" id="{38056CB6-B50E-452C-F3ED-1A6DE6D54757}"/>
              </a:ext>
            </a:extLst>
          </p:cNvPr>
          <p:cNvGraphicFramePr>
            <a:graphicFrameLocks noGrp="1"/>
          </p:cNvGraphicFramePr>
          <p:nvPr>
            <p:extLst>
              <p:ext uri="{D42A27DB-BD31-4B8C-83A1-F6EECF244321}">
                <p14:modId xmlns:p14="http://schemas.microsoft.com/office/powerpoint/2010/main" val="1968208486"/>
              </p:ext>
            </p:extLst>
          </p:nvPr>
        </p:nvGraphicFramePr>
        <p:xfrm>
          <a:off x="9694712" y="2290772"/>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graphicFrame>
        <p:nvGraphicFramePr>
          <p:cNvPr id="8" name="表格 7">
            <a:extLst>
              <a:ext uri="{FF2B5EF4-FFF2-40B4-BE49-F238E27FC236}">
                <a16:creationId xmlns:a16="http://schemas.microsoft.com/office/drawing/2014/main" id="{364DDD6D-44BE-2D75-4158-CDD0A7043EAC}"/>
              </a:ext>
            </a:extLst>
          </p:cNvPr>
          <p:cNvGraphicFramePr>
            <a:graphicFrameLocks noGrp="1"/>
          </p:cNvGraphicFramePr>
          <p:nvPr>
            <p:extLst>
              <p:ext uri="{D42A27DB-BD31-4B8C-83A1-F6EECF244321}">
                <p14:modId xmlns:p14="http://schemas.microsoft.com/office/powerpoint/2010/main" val="3058811983"/>
              </p:ext>
            </p:extLst>
          </p:nvPr>
        </p:nvGraphicFramePr>
        <p:xfrm>
          <a:off x="3040806" y="2437904"/>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9" name="表格 8">
            <a:extLst>
              <a:ext uri="{FF2B5EF4-FFF2-40B4-BE49-F238E27FC236}">
                <a16:creationId xmlns:a16="http://schemas.microsoft.com/office/drawing/2014/main" id="{176C328D-9396-1735-A0EB-D522A5E9D2C4}"/>
              </a:ext>
            </a:extLst>
          </p:cNvPr>
          <p:cNvGraphicFramePr>
            <a:graphicFrameLocks noGrp="1"/>
          </p:cNvGraphicFramePr>
          <p:nvPr>
            <p:extLst>
              <p:ext uri="{D42A27DB-BD31-4B8C-83A1-F6EECF244321}">
                <p14:modId xmlns:p14="http://schemas.microsoft.com/office/powerpoint/2010/main" val="218922008"/>
              </p:ext>
            </p:extLst>
          </p:nvPr>
        </p:nvGraphicFramePr>
        <p:xfrm>
          <a:off x="5267021" y="2607269"/>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428099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表格 15"/>
          <p:cNvGraphicFramePr>
            <a:graphicFrameLocks noGrp="1"/>
          </p:cNvGraphicFramePr>
          <p:nvPr>
            <p:extLst>
              <p:ext uri="{D42A27DB-BD31-4B8C-83A1-F6EECF244321}">
                <p14:modId xmlns:p14="http://schemas.microsoft.com/office/powerpoint/2010/main" val="2136481622"/>
              </p:ext>
            </p:extLst>
          </p:nvPr>
        </p:nvGraphicFramePr>
        <p:xfrm>
          <a:off x="3067263" y="2716141"/>
          <a:ext cx="2133600" cy="3783520"/>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3072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0"/>
                  </a:ext>
                </a:extLst>
              </a:tr>
              <a:tr h="348343">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1</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1"/>
                  </a:ext>
                </a:extLst>
              </a:tr>
              <a:tr h="330926">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2"/>
                  </a:ext>
                </a:extLst>
              </a:tr>
              <a:tr h="330925">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3</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3"/>
                  </a:ext>
                </a:extLst>
              </a:tr>
              <a:tr h="357052">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4"/>
                  </a:ext>
                </a:extLst>
              </a:tr>
              <a:tr h="339634">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5</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5"/>
                  </a:ext>
                </a:extLst>
              </a:tr>
              <a:tr h="33092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6"/>
                  </a:ext>
                </a:extLst>
              </a:tr>
              <a:tr h="35705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7"/>
                  </a:ext>
                </a:extLst>
              </a:tr>
              <a:tr h="322217">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22217">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313508">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18" name="表格 17"/>
          <p:cNvGraphicFramePr>
            <a:graphicFrameLocks noGrp="1"/>
          </p:cNvGraphicFramePr>
          <p:nvPr>
            <p:extLst>
              <p:ext uri="{D42A27DB-BD31-4B8C-83A1-F6EECF244321}">
                <p14:modId xmlns:p14="http://schemas.microsoft.com/office/powerpoint/2010/main" val="2447944202"/>
              </p:ext>
            </p:extLst>
          </p:nvPr>
        </p:nvGraphicFramePr>
        <p:xfrm>
          <a:off x="2686636" y="2807226"/>
          <a:ext cx="345440" cy="2711635"/>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0697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24393">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278674">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8</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sp>
        <p:nvSpPr>
          <p:cNvPr id="36" name="Text Box 7"/>
          <p:cNvSpPr txBox="1">
            <a:spLocks noChangeArrowheads="1"/>
          </p:cNvSpPr>
          <p:nvPr/>
        </p:nvSpPr>
        <p:spPr bwMode="auto">
          <a:xfrm flipH="1">
            <a:off x="2561551" y="2251144"/>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a:t>
            </a:r>
          </a:p>
        </p:txBody>
      </p:sp>
      <p:sp>
        <p:nvSpPr>
          <p:cNvPr id="20" name="矩形 19"/>
          <p:cNvSpPr/>
          <p:nvPr/>
        </p:nvSpPr>
        <p:spPr>
          <a:xfrm>
            <a:off x="1933998" y="2776091"/>
            <a:ext cx="374469" cy="353943"/>
          </a:xfrm>
          <a:prstGeom prst="rect">
            <a:avLst/>
          </a:prstGeom>
        </p:spPr>
        <p:txBody>
          <a:bodyPr wrap="square" tIns="0">
            <a:spAutoFit/>
          </a:bodyPr>
          <a:lstStyle/>
          <a:p>
            <a:r>
              <a:rPr lang="en-US" altLang="zh-CN" sz="2000" dirty="0">
                <a:latin typeface="微软雅黑" pitchFamily="34" charset="-122"/>
                <a:ea typeface="微软雅黑" pitchFamily="34" charset="-122"/>
                <a:cs typeface="经典粗黑简" pitchFamily="49" charset="-122"/>
              </a:rPr>
              <a:t>p</a:t>
            </a:r>
            <a:endParaRPr lang="zh-CN" altLang="en-US" sz="2000" dirty="0">
              <a:latin typeface="微软雅黑" pitchFamily="34" charset="-122"/>
              <a:ea typeface="微软雅黑" pitchFamily="34" charset="-122"/>
              <a:cs typeface="经典粗黑简" pitchFamily="49" charset="-122"/>
            </a:endParaRPr>
          </a:p>
        </p:txBody>
      </p:sp>
      <p:cxnSp>
        <p:nvCxnSpPr>
          <p:cNvPr id="21" name="直接箭头连接符 20"/>
          <p:cNvCxnSpPr/>
          <p:nvPr/>
        </p:nvCxnSpPr>
        <p:spPr>
          <a:xfrm>
            <a:off x="2231123" y="2953061"/>
            <a:ext cx="43151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2662638" y="2827150"/>
            <a:ext cx="24343" cy="25770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1933998" y="3329340"/>
            <a:ext cx="708580" cy="353943"/>
          </a:xfrm>
          <a:prstGeom prst="rect">
            <a:avLst/>
          </a:prstGeom>
        </p:spPr>
        <p:txBody>
          <a:bodyPr wrap="square" tIns="0">
            <a:spAutoFit/>
          </a:bodyPr>
          <a:lstStyle/>
          <a:p>
            <a:r>
              <a:rPr lang="en-US" altLang="zh-CN" sz="2000" dirty="0">
                <a:latin typeface="微软雅黑" pitchFamily="34" charset="-122"/>
                <a:ea typeface="微软雅黑" pitchFamily="34" charset="-122"/>
                <a:cs typeface="经典粗黑简" pitchFamily="49" charset="-122"/>
              </a:rPr>
              <a:t>cols</a:t>
            </a:r>
            <a:endParaRPr lang="zh-CN" altLang="en-US" sz="20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3A9C12E4-6300-9C3B-A4CF-D3DD603D34BF}"/>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AEA384D6-0869-4258-6597-3A21282E3C1C}"/>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6D14F09C-2ABB-833F-0E44-0F0E0986AFC5}"/>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sp>
        <p:nvSpPr>
          <p:cNvPr id="5" name="Text Box 2">
            <a:extLst>
              <a:ext uri="{FF2B5EF4-FFF2-40B4-BE49-F238E27FC236}">
                <a16:creationId xmlns:a16="http://schemas.microsoft.com/office/drawing/2014/main" id="{1B03DB8C-4ED5-9FAB-07EC-3420096B5752}"/>
              </a:ext>
            </a:extLst>
          </p:cNvPr>
          <p:cNvSpPr txBox="1">
            <a:spLocks noChangeArrowheads="1"/>
          </p:cNvSpPr>
          <p:nvPr/>
        </p:nvSpPr>
        <p:spPr bwMode="auto">
          <a:xfrm>
            <a:off x="902779" y="1942366"/>
            <a:ext cx="2744948" cy="369332"/>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5</a:t>
            </a:r>
            <a:r>
              <a:rPr kumimoji="1" lang="zh-CN" altLang="en-US" sz="2000" dirty="0">
                <a:latin typeface="Consolas" pitchFamily="49" charset="0"/>
                <a:ea typeface="微软雅黑" pitchFamily="34" charset="-122"/>
                <a:cs typeface="Consolas" pitchFamily="49" charset="0"/>
              </a:rPr>
              <a:t>）</a:t>
            </a:r>
            <a:r>
              <a:rPr kumimoji="1" lang="zh-CN" altLang="en-US" sz="2000" dirty="0">
                <a:latin typeface="Consolas" pitchFamily="49" charset="0"/>
                <a:ea typeface="微软雅黑" pitchFamily="34" charset="-122"/>
              </a:rPr>
              <a:t>矩阵转置</a:t>
            </a:r>
            <a:endParaRPr kumimoji="1" lang="en-US" altLang="zh-CN" sz="2000" dirty="0">
              <a:latin typeface="Consolas" pitchFamily="49" charset="0"/>
              <a:ea typeface="仿宋" pitchFamily="49" charset="-122"/>
              <a:cs typeface="Consolas" pitchFamily="49" charset="0"/>
            </a:endParaRPr>
          </a:p>
        </p:txBody>
      </p:sp>
      <p:graphicFrame>
        <p:nvGraphicFramePr>
          <p:cNvPr id="6" name="表格 5">
            <a:extLst>
              <a:ext uri="{FF2B5EF4-FFF2-40B4-BE49-F238E27FC236}">
                <a16:creationId xmlns:a16="http://schemas.microsoft.com/office/drawing/2014/main" id="{15DEAFB7-CFCF-45D6-E4CC-BFE0E0A31DD7}"/>
              </a:ext>
            </a:extLst>
          </p:cNvPr>
          <p:cNvGraphicFramePr>
            <a:graphicFrameLocks noGrp="1"/>
          </p:cNvGraphicFramePr>
          <p:nvPr>
            <p:extLst>
              <p:ext uri="{D42A27DB-BD31-4B8C-83A1-F6EECF244321}">
                <p14:modId xmlns:p14="http://schemas.microsoft.com/office/powerpoint/2010/main" val="1340029883"/>
              </p:ext>
            </p:extLst>
          </p:nvPr>
        </p:nvGraphicFramePr>
        <p:xfrm>
          <a:off x="2996762" y="2393898"/>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7" name="表格 6">
            <a:extLst>
              <a:ext uri="{FF2B5EF4-FFF2-40B4-BE49-F238E27FC236}">
                <a16:creationId xmlns:a16="http://schemas.microsoft.com/office/drawing/2014/main" id="{7B405607-3F59-B285-4DA4-F38C9B674E83}"/>
              </a:ext>
            </a:extLst>
          </p:cNvPr>
          <p:cNvGraphicFramePr>
            <a:graphicFrameLocks noGrp="1"/>
          </p:cNvGraphicFramePr>
          <p:nvPr>
            <p:extLst>
              <p:ext uri="{D42A27DB-BD31-4B8C-83A1-F6EECF244321}">
                <p14:modId xmlns:p14="http://schemas.microsoft.com/office/powerpoint/2010/main" val="1100404459"/>
              </p:ext>
            </p:extLst>
          </p:nvPr>
        </p:nvGraphicFramePr>
        <p:xfrm>
          <a:off x="5231904" y="2629146"/>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9" name="文本框 8">
            <a:extLst>
              <a:ext uri="{FF2B5EF4-FFF2-40B4-BE49-F238E27FC236}">
                <a16:creationId xmlns:a16="http://schemas.microsoft.com/office/drawing/2014/main" id="{A868FAAA-E624-8ABB-357B-6C870D915A08}"/>
              </a:ext>
            </a:extLst>
          </p:cNvPr>
          <p:cNvSpPr txBox="1"/>
          <p:nvPr/>
        </p:nvSpPr>
        <p:spPr>
          <a:xfrm>
            <a:off x="5501495" y="1150174"/>
            <a:ext cx="6499161" cy="2437590"/>
          </a:xfrm>
          <a:prstGeom prst="rect">
            <a:avLst/>
          </a:prstGeom>
          <a:noFill/>
        </p:spPr>
        <p:txBody>
          <a:bodyPr wrap="square">
            <a:spAutoFit/>
          </a:bodyPr>
          <a:lstStyle/>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for (</a:t>
            </a:r>
            <a:r>
              <a:rPr kumimoji="1" lang="en-US" altLang="zh-CN" sz="1800" dirty="0">
                <a:solidFill>
                  <a:srgbClr val="FF00FF"/>
                </a:solidFill>
                <a:latin typeface="Consolas" pitchFamily="49" charset="0"/>
                <a:ea typeface="仿宋" pitchFamily="49" charset="-122"/>
                <a:cs typeface="Consolas" pitchFamily="49" charset="0"/>
              </a:rPr>
              <a:t>v=0;v&lt;</a:t>
            </a:r>
            <a:r>
              <a:rPr kumimoji="1" lang="en-US" altLang="zh-CN" sz="1800" dirty="0" err="1">
                <a:solidFill>
                  <a:srgbClr val="FF00FF"/>
                </a:solidFill>
                <a:latin typeface="Consolas" pitchFamily="49" charset="0"/>
                <a:ea typeface="仿宋" pitchFamily="49" charset="-122"/>
                <a:cs typeface="Consolas" pitchFamily="49" charset="0"/>
              </a:rPr>
              <a:t>t.cols;v</a:t>
            </a:r>
            <a:r>
              <a:rPr kumimoji="1" lang="en-US" altLang="zh-CN" sz="1800" dirty="0">
                <a:solidFill>
                  <a:srgbClr val="FF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en-US" altLang="zh-CN" sz="1800" dirty="0" err="1">
                <a:solidFill>
                  <a:srgbClr val="00B0F0"/>
                </a:solidFill>
                <a:latin typeface="Consolas" pitchFamily="49" charset="0"/>
                <a:ea typeface="仿宋" pitchFamily="49" charset="-122"/>
                <a:cs typeface="Consolas" pitchFamily="49" charset="0"/>
              </a:rPr>
              <a:t>tb.data</a:t>
            </a:r>
            <a:r>
              <a:rPr kumimoji="1" lang="en-US" altLang="zh-CN" sz="1800" dirty="0">
                <a:solidFill>
                  <a:srgbClr val="00B0F0"/>
                </a:solidFill>
                <a:latin typeface="Consolas" pitchFamily="49" charset="0"/>
                <a:ea typeface="仿宋" pitchFamily="49" charset="-122"/>
                <a:cs typeface="Consolas" pitchFamily="49" charset="0"/>
              </a:rPr>
              <a:t>[q]</a:t>
            </a:r>
            <a:r>
              <a:rPr kumimoji="1" lang="zh-CN" altLang="en-US" sz="1800" dirty="0">
                <a:solidFill>
                  <a:srgbClr val="00B0F0"/>
                </a:solidFill>
                <a:latin typeface="Consolas" pitchFamily="49" charset="0"/>
                <a:ea typeface="仿宋" pitchFamily="49" charset="-122"/>
                <a:cs typeface="Consolas" pitchFamily="49" charset="0"/>
              </a:rPr>
              <a:t>中记录以列序排列</a:t>
            </a:r>
          </a:p>
          <a:p>
            <a:pPr algn="l">
              <a:lnSpc>
                <a:spcPts val="23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for (p=0;p&lt;</a:t>
            </a:r>
            <a:r>
              <a:rPr kumimoji="1" lang="en-US" altLang="zh-CN" sz="1800" dirty="0" err="1">
                <a:solidFill>
                  <a:srgbClr val="0000FF"/>
                </a:solidFill>
                <a:latin typeface="Consolas" pitchFamily="49" charset="0"/>
                <a:ea typeface="仿宋" pitchFamily="49" charset="-122"/>
                <a:cs typeface="Consolas" pitchFamily="49" charset="0"/>
              </a:rPr>
              <a:t>t.nums;p</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//p</a:t>
            </a:r>
            <a:r>
              <a:rPr kumimoji="1" lang="zh-CN" altLang="en-US" sz="1800" dirty="0">
                <a:solidFill>
                  <a:srgbClr val="00B0F0"/>
                </a:solidFill>
                <a:latin typeface="Consolas" pitchFamily="49" charset="0"/>
                <a:ea typeface="仿宋" pitchFamily="49" charset="-122"/>
                <a:cs typeface="Consolas" pitchFamily="49" charset="0"/>
              </a:rPr>
              <a:t>为</a:t>
            </a:r>
            <a:r>
              <a:rPr kumimoji="1" lang="en-US" altLang="zh-CN" sz="1800" dirty="0" err="1">
                <a:solidFill>
                  <a:srgbClr val="00B0F0"/>
                </a:solidFill>
                <a:latin typeface="Consolas" pitchFamily="49" charset="0"/>
                <a:ea typeface="仿宋" pitchFamily="49" charset="-122"/>
                <a:cs typeface="Consolas" pitchFamily="49" charset="0"/>
              </a:rPr>
              <a:t>t.data</a:t>
            </a:r>
            <a:r>
              <a:rPr kumimoji="1" lang="zh-CN" altLang="en-US" sz="1800" dirty="0">
                <a:solidFill>
                  <a:srgbClr val="00B0F0"/>
                </a:solidFill>
                <a:latin typeface="Consolas" pitchFamily="49" charset="0"/>
                <a:ea typeface="仿宋" pitchFamily="49" charset="-122"/>
                <a:cs typeface="Consolas" pitchFamily="49" charset="0"/>
              </a:rPr>
              <a:t>的下标</a:t>
            </a:r>
          </a:p>
          <a:p>
            <a:pPr algn="l">
              <a:lnSpc>
                <a:spcPts val="23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if (</a:t>
            </a:r>
            <a:r>
              <a:rPr kumimoji="1" lang="en-US" altLang="zh-CN" sz="1800" dirty="0" err="1">
                <a:solidFill>
                  <a:srgbClr val="0000FF"/>
                </a:solidFill>
                <a:latin typeface="Consolas" pitchFamily="49" charset="0"/>
                <a:ea typeface="仿宋" pitchFamily="49" charset="-122"/>
                <a:cs typeface="Consolas" pitchFamily="49" charset="0"/>
              </a:rPr>
              <a:t>t.data</a:t>
            </a:r>
            <a:r>
              <a:rPr kumimoji="1" lang="en-US" altLang="zh-CN" sz="1800" dirty="0">
                <a:solidFill>
                  <a:srgbClr val="0000FF"/>
                </a:solidFill>
                <a:latin typeface="Consolas" pitchFamily="49" charset="0"/>
                <a:ea typeface="仿宋" pitchFamily="49" charset="-122"/>
                <a:cs typeface="Consolas" pitchFamily="49" charset="0"/>
              </a:rPr>
              <a:t>[p].c==v)</a:t>
            </a:r>
          </a:p>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	    </a:t>
            </a:r>
            <a:r>
              <a:rPr kumimoji="1" lang="pt-BR" altLang="zh-CN" sz="1800" dirty="0">
                <a:solidFill>
                  <a:srgbClr val="0000FF"/>
                </a:solidFill>
                <a:latin typeface="Consolas" pitchFamily="49" charset="0"/>
                <a:ea typeface="仿宋" pitchFamily="49" charset="-122"/>
                <a:cs typeface="Consolas" pitchFamily="49" charset="0"/>
              </a:rPr>
              <a:t>{  tb.data[q].r=t.data[p].c;</a:t>
            </a:r>
          </a:p>
          <a:p>
            <a:pPr algn="l">
              <a:lnSpc>
                <a:spcPts val="2300"/>
              </a:lnSpc>
            </a:pPr>
            <a:r>
              <a:rPr kumimoji="1" lang="pt-BR"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tb.data</a:t>
            </a:r>
            <a:r>
              <a:rPr kumimoji="1" lang="en-US" altLang="zh-CN" sz="1800" dirty="0">
                <a:solidFill>
                  <a:srgbClr val="0000FF"/>
                </a:solidFill>
                <a:latin typeface="Consolas" pitchFamily="49" charset="0"/>
                <a:ea typeface="仿宋" pitchFamily="49" charset="-122"/>
                <a:cs typeface="Consolas" pitchFamily="49" charset="0"/>
              </a:rPr>
              <a:t>[q].c=</a:t>
            </a:r>
            <a:r>
              <a:rPr kumimoji="1" lang="en-US" altLang="zh-CN" sz="1800" dirty="0" err="1">
                <a:solidFill>
                  <a:srgbClr val="0000FF"/>
                </a:solidFill>
                <a:latin typeface="Consolas" pitchFamily="49" charset="0"/>
                <a:ea typeface="仿宋" pitchFamily="49" charset="-122"/>
                <a:cs typeface="Consolas" pitchFamily="49" charset="0"/>
              </a:rPr>
              <a:t>t.data</a:t>
            </a:r>
            <a:r>
              <a:rPr kumimoji="1" lang="en-US" altLang="zh-CN" sz="1800" dirty="0">
                <a:solidFill>
                  <a:srgbClr val="0000FF"/>
                </a:solidFill>
                <a:latin typeface="Consolas" pitchFamily="49" charset="0"/>
                <a:ea typeface="仿宋" pitchFamily="49" charset="-122"/>
                <a:cs typeface="Consolas" pitchFamily="49" charset="0"/>
              </a:rPr>
              <a:t>[p].r;</a:t>
            </a:r>
          </a:p>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tb.data</a:t>
            </a:r>
            <a:r>
              <a:rPr kumimoji="1" lang="en-US" altLang="zh-CN" sz="1800" dirty="0">
                <a:solidFill>
                  <a:srgbClr val="0000FF"/>
                </a:solidFill>
                <a:latin typeface="Consolas" pitchFamily="49" charset="0"/>
                <a:ea typeface="仿宋" pitchFamily="49" charset="-122"/>
                <a:cs typeface="Consolas" pitchFamily="49" charset="0"/>
              </a:rPr>
              <a:t>[q].d=</a:t>
            </a:r>
            <a:r>
              <a:rPr kumimoji="1" lang="en-US" altLang="zh-CN" sz="1800" dirty="0" err="1">
                <a:solidFill>
                  <a:srgbClr val="0000FF"/>
                </a:solidFill>
                <a:latin typeface="Consolas" pitchFamily="49" charset="0"/>
                <a:ea typeface="仿宋" pitchFamily="49" charset="-122"/>
                <a:cs typeface="Consolas" pitchFamily="49" charset="0"/>
              </a:rPr>
              <a:t>t.data</a:t>
            </a:r>
            <a:r>
              <a:rPr kumimoji="1" lang="en-US" altLang="zh-CN" sz="1800" dirty="0">
                <a:solidFill>
                  <a:srgbClr val="0000FF"/>
                </a:solidFill>
                <a:latin typeface="Consolas" pitchFamily="49" charset="0"/>
                <a:ea typeface="仿宋" pitchFamily="49" charset="-122"/>
                <a:cs typeface="Consolas" pitchFamily="49" charset="0"/>
              </a:rPr>
              <a:t>[p].d;</a:t>
            </a:r>
          </a:p>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		q++;</a:t>
            </a:r>
          </a:p>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	    }</a:t>
            </a:r>
          </a:p>
        </p:txBody>
      </p:sp>
    </p:spTree>
    <p:extLst>
      <p:ext uri="{BB962C8B-B14F-4D97-AF65-F5344CB8AC3E}">
        <p14:creationId xmlns:p14="http://schemas.microsoft.com/office/powerpoint/2010/main" val="33623436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表格 23"/>
          <p:cNvGraphicFramePr>
            <a:graphicFrameLocks noGrp="1"/>
          </p:cNvGraphicFramePr>
          <p:nvPr>
            <p:extLst>
              <p:ext uri="{D42A27DB-BD31-4B8C-83A1-F6EECF244321}">
                <p14:modId xmlns:p14="http://schemas.microsoft.com/office/powerpoint/2010/main" val="3439187238"/>
              </p:ext>
            </p:extLst>
          </p:nvPr>
        </p:nvGraphicFramePr>
        <p:xfrm>
          <a:off x="7449625" y="2554594"/>
          <a:ext cx="2133600" cy="3783520"/>
        </p:xfrm>
        <a:graphic>
          <a:graphicData uri="http://schemas.openxmlformats.org/drawingml/2006/table">
            <a:tbl>
              <a:tblPr firstRow="1" firstCol="1" bandRow="1">
                <a:tableStyleId>{5940675A-B579-460E-94D1-54222C63F5DA}</a:tableStyleId>
              </a:tblPr>
              <a:tblGrid>
                <a:gridCol w="705394">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757646">
                  <a:extLst>
                    <a:ext uri="{9D8B030D-6E8A-4147-A177-3AD203B41FA5}">
                      <a16:colId xmlns:a16="http://schemas.microsoft.com/office/drawing/2014/main" val="20002"/>
                    </a:ext>
                  </a:extLst>
                </a:gridCol>
              </a:tblGrid>
              <a:tr h="43072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0"/>
                  </a:ext>
                </a:extLst>
              </a:tr>
              <a:tr h="348343">
                <a:tc>
                  <a:txBody>
                    <a:bodyPr/>
                    <a:lstStyle/>
                    <a:p>
                      <a:pPr algn="just">
                        <a:lnSpc>
                          <a:spcPts val="2000"/>
                        </a:lnSpc>
                        <a:spcAft>
                          <a:spcPts val="0"/>
                        </a:spcAft>
                      </a:pPr>
                      <a:r>
                        <a:rPr kumimoji="1" lang="en-US" sz="2000" b="1" kern="1200">
                          <a:solidFill>
                            <a:schemeClr val="tx1"/>
                          </a:solidFill>
                          <a:latin typeface="宋体" pitchFamily="2" charset="-122"/>
                          <a:ea typeface="宋体" pitchFamily="2" charset="-122"/>
                          <a:cs typeface="+mn-cs"/>
                        </a:rPr>
                        <a:t>1</a:t>
                      </a:r>
                      <a:endParaRPr kumimoji="1" lang="zh-CN" sz="2000" b="1" kern="120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1"/>
                  </a:ext>
                </a:extLst>
              </a:tr>
              <a:tr h="33092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2"/>
                  </a:ext>
                </a:extLst>
              </a:tr>
              <a:tr h="330925">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3"/>
                  </a:ext>
                </a:extLst>
              </a:tr>
              <a:tr h="357052">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9</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4"/>
                  </a:ext>
                </a:extLst>
              </a:tr>
              <a:tr h="339634">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24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5"/>
                  </a:ext>
                </a:extLst>
              </a:tr>
              <a:tr h="330926">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6"/>
                  </a:ext>
                </a:extLst>
              </a:tr>
              <a:tr h="357051">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14</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extLst>
                  <a:ext uri="{0D108BD9-81ED-4DB2-BD59-A6C34878D82A}">
                    <a16:rowId xmlns:a16="http://schemas.microsoft.com/office/drawing/2014/main" val="10007"/>
                  </a:ext>
                </a:extLst>
              </a:tr>
              <a:tr h="322217">
                <a:tc gridSpan="3">
                  <a:txBody>
                    <a:bodyPr/>
                    <a:lstStyle/>
                    <a:p>
                      <a:pPr indent="406400" algn="just">
                        <a:lnSpc>
                          <a:spcPts val="2000"/>
                        </a:lnSpc>
                        <a:spcAft>
                          <a:spcPts val="0"/>
                        </a:spcAft>
                      </a:pPr>
                      <a:r>
                        <a:rPr kumimoji="1" lang="en-US" altLang="zh-CN"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322217">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6</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313508">
                <a:tc gridSpan="3">
                  <a:txBody>
                    <a:bodyPr/>
                    <a:lstStyle/>
                    <a:p>
                      <a:pPr algn="just">
                        <a:lnSpc>
                          <a:spcPts val="2000"/>
                        </a:lnSpc>
                        <a:spcAft>
                          <a:spcPts val="0"/>
                        </a:spcAft>
                      </a:pPr>
                      <a:r>
                        <a:rPr kumimoji="1" lang="en-US" sz="2000" b="1" kern="1200" dirty="0">
                          <a:solidFill>
                            <a:schemeClr val="tx1"/>
                          </a:solidFill>
                          <a:latin typeface="宋体" pitchFamily="2" charset="-122"/>
                          <a:ea typeface="宋体" pitchFamily="2" charset="-122"/>
                          <a:cs typeface="+mn-cs"/>
                        </a:rPr>
                        <a:t> 8</a:t>
                      </a:r>
                      <a:endParaRPr kumimoji="1" lang="zh-CN" sz="2000" b="1" kern="1200" dirty="0">
                        <a:solidFill>
                          <a:schemeClr val="tx1"/>
                        </a:solidFill>
                        <a:latin typeface="宋体" pitchFamily="2" charset="-122"/>
                        <a:ea typeface="宋体" pitchFamily="2" charset="-122"/>
                        <a:cs typeface="+mn-cs"/>
                      </a:endParaRPr>
                    </a:p>
                  </a:txBody>
                  <a:tcPr marL="68580" marR="68580" marT="0" marB="0" anchor="ctr" anchorCtr="1"/>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bl>
          </a:graphicData>
        </a:graphic>
      </p:graphicFrame>
      <p:graphicFrame>
        <p:nvGraphicFramePr>
          <p:cNvPr id="33" name="表格 32"/>
          <p:cNvGraphicFramePr>
            <a:graphicFrameLocks noGrp="1"/>
          </p:cNvGraphicFramePr>
          <p:nvPr>
            <p:extLst>
              <p:ext uri="{D42A27DB-BD31-4B8C-83A1-F6EECF244321}">
                <p14:modId xmlns:p14="http://schemas.microsoft.com/office/powerpoint/2010/main" val="706700140"/>
              </p:ext>
            </p:extLst>
          </p:nvPr>
        </p:nvGraphicFramePr>
        <p:xfrm>
          <a:off x="7068998" y="2645679"/>
          <a:ext cx="345440" cy="2711635"/>
        </p:xfrm>
        <a:graphic>
          <a:graphicData uri="http://schemas.openxmlformats.org/drawingml/2006/table">
            <a:tbl>
              <a:tblPr firstRow="1" firstCol="1" bandRow="1">
                <a:tableStyleId>{5C22544A-7EE6-4342-B048-85BDC9FD1C3A}</a:tableStyleId>
              </a:tblPr>
              <a:tblGrid>
                <a:gridCol w="345440">
                  <a:extLst>
                    <a:ext uri="{9D8B030D-6E8A-4147-A177-3AD203B41FA5}">
                      <a16:colId xmlns:a16="http://schemas.microsoft.com/office/drawing/2014/main" val="20000"/>
                    </a:ext>
                  </a:extLst>
                </a:gridCol>
              </a:tblGrid>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1</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2</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1"/>
                  </a:ext>
                </a:extLst>
              </a:tr>
              <a:tr h="30697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3</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2"/>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4</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3"/>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5</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4"/>
                  </a:ext>
                </a:extLst>
              </a:tr>
              <a:tr h="324393">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6</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5"/>
                  </a:ext>
                </a:extLst>
              </a:tr>
              <a:tr h="278674">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7</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6"/>
                  </a:ext>
                </a:extLst>
              </a:tr>
              <a:tr h="360318">
                <a:tc>
                  <a:txBody>
                    <a:bodyPr/>
                    <a:lstStyle/>
                    <a:p>
                      <a:pPr marL="0" algn="just" defTabSz="914400" rtl="0" eaLnBrk="1" latinLnBrk="0" hangingPunct="1">
                        <a:lnSpc>
                          <a:spcPts val="2000"/>
                        </a:lnSpc>
                        <a:spcAft>
                          <a:spcPts val="0"/>
                        </a:spcAft>
                      </a:pPr>
                      <a:r>
                        <a:rPr kumimoji="1" lang="en-US" sz="2000" b="1" kern="1200" dirty="0">
                          <a:solidFill>
                            <a:schemeClr val="tx1"/>
                          </a:solidFill>
                          <a:latin typeface="宋体" pitchFamily="2" charset="-122"/>
                          <a:ea typeface="宋体" pitchFamily="2" charset="-122"/>
                          <a:cs typeface="+mn-cs"/>
                        </a:rPr>
                        <a:t>8</a:t>
                      </a:r>
                      <a:endParaRPr kumimoji="1" lang="zh-CN" sz="20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7"/>
                  </a:ext>
                </a:extLst>
              </a:tr>
            </a:tbl>
          </a:graphicData>
        </a:graphic>
      </p:graphicFrame>
      <p:sp>
        <p:nvSpPr>
          <p:cNvPr id="35" name="Text Box 7"/>
          <p:cNvSpPr txBox="1">
            <a:spLocks noChangeArrowheads="1"/>
          </p:cNvSpPr>
          <p:nvPr/>
        </p:nvSpPr>
        <p:spPr bwMode="auto">
          <a:xfrm flipH="1">
            <a:off x="6684501" y="2132856"/>
            <a:ext cx="487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tb</a:t>
            </a:r>
          </a:p>
        </p:txBody>
      </p:sp>
      <p:cxnSp>
        <p:nvCxnSpPr>
          <p:cNvPr id="27" name="直接箭头连接符 26"/>
          <p:cNvCxnSpPr/>
          <p:nvPr/>
        </p:nvCxnSpPr>
        <p:spPr>
          <a:xfrm>
            <a:off x="6588419" y="2785516"/>
            <a:ext cx="43151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H="1">
            <a:off x="7032105" y="2656077"/>
            <a:ext cx="24343" cy="25770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6213951" y="2608545"/>
            <a:ext cx="374469" cy="353943"/>
          </a:xfrm>
          <a:prstGeom prst="rect">
            <a:avLst/>
          </a:prstGeom>
        </p:spPr>
        <p:txBody>
          <a:bodyPr wrap="square" tIns="0">
            <a:spAutoFit/>
          </a:bodyPr>
          <a:lstStyle/>
          <a:p>
            <a:r>
              <a:rPr lang="en-US" altLang="zh-CN" sz="2000" dirty="0">
                <a:latin typeface="微软雅黑" pitchFamily="34" charset="-122"/>
                <a:ea typeface="微软雅黑" pitchFamily="34" charset="-122"/>
                <a:cs typeface="经典粗黑简" pitchFamily="49" charset="-122"/>
              </a:rPr>
              <a:t>q</a:t>
            </a:r>
            <a:endParaRPr lang="zh-CN" altLang="en-US" sz="20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360B5D73-6159-88B4-047F-20BDB392C00F}"/>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A1CD69A0-0005-4A67-CF3C-3EEF4CB5B9AA}"/>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74AD2E9D-948E-5B4D-6B59-F9218B9B32BA}"/>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sp>
        <p:nvSpPr>
          <p:cNvPr id="5" name="Text Box 2">
            <a:extLst>
              <a:ext uri="{FF2B5EF4-FFF2-40B4-BE49-F238E27FC236}">
                <a16:creationId xmlns:a16="http://schemas.microsoft.com/office/drawing/2014/main" id="{A81BEBDF-536D-F761-82F4-72C11D6FF5AD}"/>
              </a:ext>
            </a:extLst>
          </p:cNvPr>
          <p:cNvSpPr txBox="1">
            <a:spLocks noChangeArrowheads="1"/>
          </p:cNvSpPr>
          <p:nvPr/>
        </p:nvSpPr>
        <p:spPr bwMode="auto">
          <a:xfrm>
            <a:off x="902779" y="1942366"/>
            <a:ext cx="2744948" cy="369332"/>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5</a:t>
            </a:r>
            <a:r>
              <a:rPr kumimoji="1" lang="zh-CN" altLang="en-US" sz="2000" dirty="0">
                <a:latin typeface="Consolas" pitchFamily="49" charset="0"/>
                <a:ea typeface="微软雅黑" pitchFamily="34" charset="-122"/>
                <a:cs typeface="Consolas" pitchFamily="49" charset="0"/>
              </a:rPr>
              <a:t>）</a:t>
            </a:r>
            <a:r>
              <a:rPr kumimoji="1" lang="zh-CN" altLang="en-US" sz="2000" dirty="0">
                <a:latin typeface="Consolas" pitchFamily="49" charset="0"/>
                <a:ea typeface="微软雅黑" pitchFamily="34" charset="-122"/>
              </a:rPr>
              <a:t>矩阵转置</a:t>
            </a:r>
            <a:endParaRPr kumimoji="1" lang="en-US" altLang="zh-CN" sz="2000" dirty="0">
              <a:latin typeface="Consolas" pitchFamily="49" charset="0"/>
              <a:ea typeface="仿宋" pitchFamily="49" charset="-122"/>
              <a:cs typeface="Consolas" pitchFamily="49" charset="0"/>
            </a:endParaRPr>
          </a:p>
        </p:txBody>
      </p:sp>
      <p:graphicFrame>
        <p:nvGraphicFramePr>
          <p:cNvPr id="6" name="表格 5">
            <a:extLst>
              <a:ext uri="{FF2B5EF4-FFF2-40B4-BE49-F238E27FC236}">
                <a16:creationId xmlns:a16="http://schemas.microsoft.com/office/drawing/2014/main" id="{166FE53E-3F1E-083F-DA42-9014B371F19A}"/>
              </a:ext>
            </a:extLst>
          </p:cNvPr>
          <p:cNvGraphicFramePr>
            <a:graphicFrameLocks noGrp="1"/>
          </p:cNvGraphicFramePr>
          <p:nvPr>
            <p:extLst>
              <p:ext uri="{D42A27DB-BD31-4B8C-83A1-F6EECF244321}">
                <p14:modId xmlns:p14="http://schemas.microsoft.com/office/powerpoint/2010/main" val="375922414"/>
              </p:ext>
            </p:extLst>
          </p:nvPr>
        </p:nvGraphicFramePr>
        <p:xfrm>
          <a:off x="7423498" y="2267466"/>
          <a:ext cx="2159727" cy="254000"/>
        </p:xfrm>
        <a:graphic>
          <a:graphicData uri="http://schemas.openxmlformats.org/drawingml/2006/table">
            <a:tbl>
              <a:tblPr firstRow="1" firstCol="1" bandRow="1">
                <a:tableStyleId>{5C22544A-7EE6-4342-B048-85BDC9FD1C3A}</a:tableStyleId>
              </a:tblPr>
              <a:tblGrid>
                <a:gridCol w="719909">
                  <a:extLst>
                    <a:ext uri="{9D8B030D-6E8A-4147-A177-3AD203B41FA5}">
                      <a16:colId xmlns:a16="http://schemas.microsoft.com/office/drawing/2014/main" val="20000"/>
                    </a:ext>
                  </a:extLst>
                </a:gridCol>
                <a:gridCol w="719909">
                  <a:extLst>
                    <a:ext uri="{9D8B030D-6E8A-4147-A177-3AD203B41FA5}">
                      <a16:colId xmlns:a16="http://schemas.microsoft.com/office/drawing/2014/main" val="20001"/>
                    </a:ext>
                  </a:extLst>
                </a:gridCol>
                <a:gridCol w="719909">
                  <a:extLst>
                    <a:ext uri="{9D8B030D-6E8A-4147-A177-3AD203B41FA5}">
                      <a16:colId xmlns:a16="http://schemas.microsoft.com/office/drawing/2014/main" val="20002"/>
                    </a:ext>
                  </a:extLst>
                </a:gridCol>
              </a:tblGrid>
              <a:tr h="0">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r</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a:t>
                      </a:r>
                      <a:r>
                        <a:rPr kumimoji="1" lang="en-US" altLang="zh-CN" sz="2400" b="1" kern="1200" dirty="0">
                          <a:solidFill>
                            <a:schemeClr val="tx1"/>
                          </a:solidFill>
                          <a:latin typeface="宋体" pitchFamily="2" charset="-122"/>
                          <a:ea typeface="宋体" pitchFamily="2" charset="-122"/>
                          <a:cs typeface="+mn-cs"/>
                        </a:rPr>
                        <a:t>c</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tc>
                  <a:txBody>
                    <a:bodyPr/>
                    <a:lstStyle/>
                    <a:p>
                      <a:pPr marL="0" algn="just" defTabSz="914400" rtl="0" eaLnBrk="1" latinLnBrk="0" hangingPunct="1">
                        <a:lnSpc>
                          <a:spcPts val="2000"/>
                        </a:lnSpc>
                        <a:spcAft>
                          <a:spcPts val="0"/>
                        </a:spcAft>
                      </a:pPr>
                      <a:r>
                        <a:rPr kumimoji="1" lang="en-US" sz="2400" b="1" kern="1200" dirty="0">
                          <a:solidFill>
                            <a:schemeClr val="tx1"/>
                          </a:solidFill>
                          <a:latin typeface="宋体" pitchFamily="2" charset="-122"/>
                          <a:ea typeface="宋体" pitchFamily="2" charset="-122"/>
                          <a:cs typeface="+mn-cs"/>
                        </a:rPr>
                        <a:t> d</a:t>
                      </a:r>
                      <a:endParaRPr kumimoji="1" lang="zh-CN" sz="2400" b="1" kern="1200" dirty="0">
                        <a:solidFill>
                          <a:schemeClr val="tx1"/>
                        </a:solidFill>
                        <a:latin typeface="宋体" pitchFamily="2" charset="-122"/>
                        <a:ea typeface="宋体" pitchFamily="2" charset="-122"/>
                        <a:cs typeface="+mn-cs"/>
                      </a:endParaRPr>
                    </a:p>
                  </a:txBody>
                  <a:tcPr marL="68580" marR="68580" marT="0" marB="0">
                    <a:noFill/>
                  </a:tcPr>
                </a:tc>
                <a:extLst>
                  <a:ext uri="{0D108BD9-81ED-4DB2-BD59-A6C34878D82A}">
                    <a16:rowId xmlns:a16="http://schemas.microsoft.com/office/drawing/2014/main" val="10000"/>
                  </a:ext>
                </a:extLst>
              </a:tr>
            </a:tbl>
          </a:graphicData>
        </a:graphic>
      </p:graphicFrame>
      <p:graphicFrame>
        <p:nvGraphicFramePr>
          <p:cNvPr id="7" name="表格 6">
            <a:extLst>
              <a:ext uri="{FF2B5EF4-FFF2-40B4-BE49-F238E27FC236}">
                <a16:creationId xmlns:a16="http://schemas.microsoft.com/office/drawing/2014/main" id="{62B41AD9-DD5E-C293-7FBD-D6DB01054368}"/>
              </a:ext>
            </a:extLst>
          </p:cNvPr>
          <p:cNvGraphicFramePr>
            <a:graphicFrameLocks noGrp="1"/>
          </p:cNvGraphicFramePr>
          <p:nvPr>
            <p:extLst>
              <p:ext uri="{D42A27DB-BD31-4B8C-83A1-F6EECF244321}">
                <p14:modId xmlns:p14="http://schemas.microsoft.com/office/powerpoint/2010/main" val="1949482095"/>
              </p:ext>
            </p:extLst>
          </p:nvPr>
        </p:nvGraphicFramePr>
        <p:xfrm>
          <a:off x="9637872" y="2448981"/>
          <a:ext cx="801528" cy="4001263"/>
        </p:xfrm>
        <a:graphic>
          <a:graphicData uri="http://schemas.openxmlformats.org/drawingml/2006/table">
            <a:tbl>
              <a:tblPr firstRow="1" firstCol="1" bandRow="1">
                <a:tableStyleId>{2D5ABB26-0587-4C30-8999-92F81FD0307C}</a:tableStyleId>
              </a:tblPr>
              <a:tblGrid>
                <a:gridCol w="801528">
                  <a:extLst>
                    <a:ext uri="{9D8B030D-6E8A-4147-A177-3AD203B41FA5}">
                      <a16:colId xmlns:a16="http://schemas.microsoft.com/office/drawing/2014/main" val="20000"/>
                    </a:ext>
                  </a:extLst>
                </a:gridCol>
              </a:tblGrid>
              <a:tr h="2863171">
                <a:tc>
                  <a:txBody>
                    <a:bodyPr/>
                    <a:lstStyle/>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r>
                        <a:rPr kumimoji="1" lang="en-US" sz="2400" kern="1200" dirty="0"/>
                        <a:t> </a:t>
                      </a:r>
                      <a:endParaRPr kumimoji="1" lang="zh-CN"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endParaRPr kumimoji="1" lang="en-US" sz="2400" kern="1200" dirty="0"/>
                    </a:p>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data</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tc>
                <a:extLst>
                  <a:ext uri="{0D108BD9-81ED-4DB2-BD59-A6C34878D82A}">
                    <a16:rowId xmlns:a16="http://schemas.microsoft.com/office/drawing/2014/main" val="10000"/>
                  </a:ext>
                </a:extLst>
              </a:tr>
              <a:tr h="360040">
                <a:tc>
                  <a:txBody>
                    <a:bodyPr/>
                    <a:lstStyle/>
                    <a:p>
                      <a:pPr marL="0" algn="just" defTabSz="914400" rtl="0" eaLnBrk="1" latinLnBrk="0" hangingPunct="1">
                        <a:lnSpc>
                          <a:spcPts val="2000"/>
                        </a:lnSpc>
                        <a:spcAft>
                          <a:spcPts val="0"/>
                        </a:spcAft>
                      </a:pPr>
                      <a:r>
                        <a:rPr kumimoji="1" lang="en-US" sz="2000" kern="1200" dirty="0">
                          <a:solidFill>
                            <a:schemeClr val="tx1"/>
                          </a:solidFill>
                          <a:latin typeface="Times New Roman" pitchFamily="18" charset="0"/>
                          <a:ea typeface="楷体_GB2312" pitchFamily="49" charset="-122"/>
                          <a:cs typeface="+mn-cs"/>
                        </a:rPr>
                        <a:t>rows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1"/>
                  </a:ext>
                </a:extLst>
              </a:tr>
              <a:tr h="360040">
                <a:tc>
                  <a:txBody>
                    <a:bodyPr/>
                    <a:lstStyle/>
                    <a:p>
                      <a:pPr marL="0" algn="just" defTabSz="914400" rtl="0" eaLnBrk="1" latinLnBrk="0" hangingPunct="1">
                        <a:lnSpc>
                          <a:spcPts val="2000"/>
                        </a:lnSpc>
                        <a:spcAft>
                          <a:spcPts val="0"/>
                        </a:spcAft>
                      </a:pPr>
                      <a:r>
                        <a:rPr kumimoji="1" lang="en-US" altLang="zh-CN" sz="2000" kern="1200" dirty="0">
                          <a:solidFill>
                            <a:schemeClr val="tx1"/>
                          </a:solidFill>
                          <a:latin typeface="Times New Roman" pitchFamily="18" charset="0"/>
                          <a:ea typeface="楷体_GB2312" pitchFamily="49" charset="-122"/>
                          <a:cs typeface="+mn-cs"/>
                        </a:rPr>
                        <a:t>cols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2"/>
                  </a:ext>
                </a:extLst>
              </a:tr>
              <a:tr h="418012">
                <a:tc>
                  <a:txBody>
                    <a:bodyPr/>
                    <a:lstStyle/>
                    <a:p>
                      <a:pPr marL="0" algn="just" defTabSz="914400" rtl="0" eaLnBrk="1" latinLnBrk="0" hangingPunct="1">
                        <a:lnSpc>
                          <a:spcPts val="2000"/>
                        </a:lnSpc>
                        <a:spcAft>
                          <a:spcPts val="0"/>
                        </a:spcAft>
                      </a:pPr>
                      <a:r>
                        <a:rPr kumimoji="1" lang="en-US" altLang="zh-CN" sz="2000" kern="1200" dirty="0" err="1">
                          <a:solidFill>
                            <a:schemeClr val="tx1"/>
                          </a:solidFill>
                          <a:latin typeface="Times New Roman" pitchFamily="18" charset="0"/>
                          <a:ea typeface="楷体_GB2312" pitchFamily="49" charset="-122"/>
                          <a:cs typeface="+mn-cs"/>
                        </a:rPr>
                        <a:t>nums</a:t>
                      </a:r>
                      <a:endParaRPr kumimoji="1" lang="zh-CN" sz="2000" kern="1200" dirty="0">
                        <a:solidFill>
                          <a:schemeClr val="tx1"/>
                        </a:solidFill>
                        <a:latin typeface="Times New Roman" pitchFamily="18" charset="0"/>
                        <a:ea typeface="楷体_GB2312" pitchFamily="49" charset="-122"/>
                        <a:cs typeface="+mn-cs"/>
                      </a:endParaRPr>
                    </a:p>
                  </a:txBody>
                  <a:tcPr marL="68580" marR="68580" marT="0" marB="0" anchor="ctr"/>
                </a:tc>
                <a:extLst>
                  <a:ext uri="{0D108BD9-81ED-4DB2-BD59-A6C34878D82A}">
                    <a16:rowId xmlns:a16="http://schemas.microsoft.com/office/drawing/2014/main" val="10003"/>
                  </a:ext>
                </a:extLst>
              </a:tr>
            </a:tbl>
          </a:graphicData>
        </a:graphic>
      </p:graphicFrame>
      <p:sp>
        <p:nvSpPr>
          <p:cNvPr id="8" name="文本框 7">
            <a:extLst>
              <a:ext uri="{FF2B5EF4-FFF2-40B4-BE49-F238E27FC236}">
                <a16:creationId xmlns:a16="http://schemas.microsoft.com/office/drawing/2014/main" id="{97AC404D-C7DA-0B40-FE35-A7D248B09B42}"/>
              </a:ext>
            </a:extLst>
          </p:cNvPr>
          <p:cNvSpPr txBox="1"/>
          <p:nvPr/>
        </p:nvSpPr>
        <p:spPr>
          <a:xfrm>
            <a:off x="191344" y="3170060"/>
            <a:ext cx="6499161" cy="2437590"/>
          </a:xfrm>
          <a:prstGeom prst="rect">
            <a:avLst/>
          </a:prstGeom>
          <a:noFill/>
        </p:spPr>
        <p:txBody>
          <a:bodyPr wrap="square">
            <a:spAutoFit/>
          </a:bodyPr>
          <a:lstStyle/>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for (</a:t>
            </a:r>
            <a:r>
              <a:rPr kumimoji="1" lang="en-US" altLang="zh-CN" sz="1800" dirty="0">
                <a:solidFill>
                  <a:srgbClr val="FF00FF"/>
                </a:solidFill>
                <a:latin typeface="Consolas" pitchFamily="49" charset="0"/>
                <a:ea typeface="仿宋" pitchFamily="49" charset="-122"/>
                <a:cs typeface="Consolas" pitchFamily="49" charset="0"/>
              </a:rPr>
              <a:t>v=0;v&lt;</a:t>
            </a:r>
            <a:r>
              <a:rPr kumimoji="1" lang="en-US" altLang="zh-CN" sz="1800" dirty="0" err="1">
                <a:solidFill>
                  <a:srgbClr val="FF00FF"/>
                </a:solidFill>
                <a:latin typeface="Consolas" pitchFamily="49" charset="0"/>
                <a:ea typeface="仿宋" pitchFamily="49" charset="-122"/>
                <a:cs typeface="Consolas" pitchFamily="49" charset="0"/>
              </a:rPr>
              <a:t>t.cols;v</a:t>
            </a:r>
            <a:r>
              <a:rPr kumimoji="1" lang="en-US" altLang="zh-CN" sz="1800" dirty="0">
                <a:solidFill>
                  <a:srgbClr val="FF00FF"/>
                </a:solidFill>
                <a:latin typeface="Consolas" pitchFamily="49" charset="0"/>
                <a:ea typeface="仿宋" pitchFamily="49" charset="-122"/>
                <a:cs typeface="Consolas" pitchFamily="49" charset="0"/>
              </a:rPr>
              <a:t>++</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en-US" altLang="zh-CN" sz="1800" dirty="0" err="1">
                <a:solidFill>
                  <a:srgbClr val="00B0F0"/>
                </a:solidFill>
                <a:latin typeface="Consolas" pitchFamily="49" charset="0"/>
                <a:ea typeface="仿宋" pitchFamily="49" charset="-122"/>
                <a:cs typeface="Consolas" pitchFamily="49" charset="0"/>
              </a:rPr>
              <a:t>tb.data</a:t>
            </a:r>
            <a:r>
              <a:rPr kumimoji="1" lang="en-US" altLang="zh-CN" sz="1800" dirty="0">
                <a:solidFill>
                  <a:srgbClr val="00B0F0"/>
                </a:solidFill>
                <a:latin typeface="Consolas" pitchFamily="49" charset="0"/>
                <a:ea typeface="仿宋" pitchFamily="49" charset="-122"/>
                <a:cs typeface="Consolas" pitchFamily="49" charset="0"/>
              </a:rPr>
              <a:t>[q]</a:t>
            </a:r>
            <a:r>
              <a:rPr kumimoji="1" lang="zh-CN" altLang="en-US" sz="1800" dirty="0">
                <a:solidFill>
                  <a:srgbClr val="00B0F0"/>
                </a:solidFill>
                <a:latin typeface="Consolas" pitchFamily="49" charset="0"/>
                <a:ea typeface="仿宋" pitchFamily="49" charset="-122"/>
                <a:cs typeface="Consolas" pitchFamily="49" charset="0"/>
              </a:rPr>
              <a:t>中记录以列序排列</a:t>
            </a:r>
          </a:p>
          <a:p>
            <a:pPr algn="l">
              <a:lnSpc>
                <a:spcPts val="23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for (p=0;p&lt;</a:t>
            </a:r>
            <a:r>
              <a:rPr kumimoji="1" lang="en-US" altLang="zh-CN" sz="1800" dirty="0" err="1">
                <a:solidFill>
                  <a:srgbClr val="0000FF"/>
                </a:solidFill>
                <a:latin typeface="Consolas" pitchFamily="49" charset="0"/>
                <a:ea typeface="仿宋" pitchFamily="49" charset="-122"/>
                <a:cs typeface="Consolas" pitchFamily="49" charset="0"/>
              </a:rPr>
              <a:t>t.nums;p</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//p</a:t>
            </a:r>
            <a:r>
              <a:rPr kumimoji="1" lang="zh-CN" altLang="en-US" sz="1800" dirty="0">
                <a:solidFill>
                  <a:srgbClr val="00B0F0"/>
                </a:solidFill>
                <a:latin typeface="Consolas" pitchFamily="49" charset="0"/>
                <a:ea typeface="仿宋" pitchFamily="49" charset="-122"/>
                <a:cs typeface="Consolas" pitchFamily="49" charset="0"/>
              </a:rPr>
              <a:t>为</a:t>
            </a:r>
            <a:r>
              <a:rPr kumimoji="1" lang="en-US" altLang="zh-CN" sz="1800" dirty="0" err="1">
                <a:solidFill>
                  <a:srgbClr val="00B0F0"/>
                </a:solidFill>
                <a:latin typeface="Consolas" pitchFamily="49" charset="0"/>
                <a:ea typeface="仿宋" pitchFamily="49" charset="-122"/>
                <a:cs typeface="Consolas" pitchFamily="49" charset="0"/>
              </a:rPr>
              <a:t>t.data</a:t>
            </a:r>
            <a:r>
              <a:rPr kumimoji="1" lang="zh-CN" altLang="en-US" sz="1800" dirty="0">
                <a:solidFill>
                  <a:srgbClr val="00B0F0"/>
                </a:solidFill>
                <a:latin typeface="Consolas" pitchFamily="49" charset="0"/>
                <a:ea typeface="仿宋" pitchFamily="49" charset="-122"/>
                <a:cs typeface="Consolas" pitchFamily="49" charset="0"/>
              </a:rPr>
              <a:t>的下标</a:t>
            </a:r>
          </a:p>
          <a:p>
            <a:pPr algn="l">
              <a:lnSpc>
                <a:spcPts val="2300"/>
              </a:lnSpc>
            </a:pP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rPr>
              <a:t>if (</a:t>
            </a:r>
            <a:r>
              <a:rPr kumimoji="1" lang="en-US" altLang="zh-CN" sz="1800" dirty="0" err="1">
                <a:solidFill>
                  <a:srgbClr val="0000FF"/>
                </a:solidFill>
                <a:latin typeface="Consolas" pitchFamily="49" charset="0"/>
                <a:ea typeface="仿宋" pitchFamily="49" charset="-122"/>
                <a:cs typeface="Consolas" pitchFamily="49" charset="0"/>
              </a:rPr>
              <a:t>t.data</a:t>
            </a:r>
            <a:r>
              <a:rPr kumimoji="1" lang="en-US" altLang="zh-CN" sz="1800" dirty="0">
                <a:solidFill>
                  <a:srgbClr val="0000FF"/>
                </a:solidFill>
                <a:latin typeface="Consolas" pitchFamily="49" charset="0"/>
                <a:ea typeface="仿宋" pitchFamily="49" charset="-122"/>
                <a:cs typeface="Consolas" pitchFamily="49" charset="0"/>
              </a:rPr>
              <a:t>[p].c==v)</a:t>
            </a:r>
          </a:p>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	    </a:t>
            </a:r>
            <a:r>
              <a:rPr kumimoji="1" lang="pt-BR" altLang="zh-CN" sz="1800" dirty="0">
                <a:solidFill>
                  <a:srgbClr val="0000FF"/>
                </a:solidFill>
                <a:latin typeface="Consolas" pitchFamily="49" charset="0"/>
                <a:ea typeface="仿宋" pitchFamily="49" charset="-122"/>
                <a:cs typeface="Consolas" pitchFamily="49" charset="0"/>
              </a:rPr>
              <a:t>{  tb.data[q].r=t.data[p].c;</a:t>
            </a:r>
          </a:p>
          <a:p>
            <a:pPr algn="l">
              <a:lnSpc>
                <a:spcPts val="2300"/>
              </a:lnSpc>
            </a:pPr>
            <a:r>
              <a:rPr kumimoji="1" lang="pt-BR"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tb.data</a:t>
            </a:r>
            <a:r>
              <a:rPr kumimoji="1" lang="en-US" altLang="zh-CN" sz="1800" dirty="0">
                <a:solidFill>
                  <a:srgbClr val="0000FF"/>
                </a:solidFill>
                <a:latin typeface="Consolas" pitchFamily="49" charset="0"/>
                <a:ea typeface="仿宋" pitchFamily="49" charset="-122"/>
                <a:cs typeface="Consolas" pitchFamily="49" charset="0"/>
              </a:rPr>
              <a:t>[q].c=</a:t>
            </a:r>
            <a:r>
              <a:rPr kumimoji="1" lang="en-US" altLang="zh-CN" sz="1800" dirty="0" err="1">
                <a:solidFill>
                  <a:srgbClr val="0000FF"/>
                </a:solidFill>
                <a:latin typeface="Consolas" pitchFamily="49" charset="0"/>
                <a:ea typeface="仿宋" pitchFamily="49" charset="-122"/>
                <a:cs typeface="Consolas" pitchFamily="49" charset="0"/>
              </a:rPr>
              <a:t>t.data</a:t>
            </a:r>
            <a:r>
              <a:rPr kumimoji="1" lang="en-US" altLang="zh-CN" sz="1800" dirty="0">
                <a:solidFill>
                  <a:srgbClr val="0000FF"/>
                </a:solidFill>
                <a:latin typeface="Consolas" pitchFamily="49" charset="0"/>
                <a:ea typeface="仿宋" pitchFamily="49" charset="-122"/>
                <a:cs typeface="Consolas" pitchFamily="49" charset="0"/>
              </a:rPr>
              <a:t>[p].r;</a:t>
            </a:r>
          </a:p>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err="1">
                <a:solidFill>
                  <a:srgbClr val="0000FF"/>
                </a:solidFill>
                <a:latin typeface="Consolas" pitchFamily="49" charset="0"/>
                <a:ea typeface="仿宋" pitchFamily="49" charset="-122"/>
                <a:cs typeface="Consolas" pitchFamily="49" charset="0"/>
              </a:rPr>
              <a:t>tb.data</a:t>
            </a:r>
            <a:r>
              <a:rPr kumimoji="1" lang="en-US" altLang="zh-CN" sz="1800" dirty="0">
                <a:solidFill>
                  <a:srgbClr val="0000FF"/>
                </a:solidFill>
                <a:latin typeface="Consolas" pitchFamily="49" charset="0"/>
                <a:ea typeface="仿宋" pitchFamily="49" charset="-122"/>
                <a:cs typeface="Consolas" pitchFamily="49" charset="0"/>
              </a:rPr>
              <a:t>[q].d=</a:t>
            </a:r>
            <a:r>
              <a:rPr kumimoji="1" lang="en-US" altLang="zh-CN" sz="1800" dirty="0" err="1">
                <a:solidFill>
                  <a:srgbClr val="0000FF"/>
                </a:solidFill>
                <a:latin typeface="Consolas" pitchFamily="49" charset="0"/>
                <a:ea typeface="仿宋" pitchFamily="49" charset="-122"/>
                <a:cs typeface="Consolas" pitchFamily="49" charset="0"/>
              </a:rPr>
              <a:t>t.data</a:t>
            </a:r>
            <a:r>
              <a:rPr kumimoji="1" lang="en-US" altLang="zh-CN" sz="1800" dirty="0">
                <a:solidFill>
                  <a:srgbClr val="0000FF"/>
                </a:solidFill>
                <a:latin typeface="Consolas" pitchFamily="49" charset="0"/>
                <a:ea typeface="仿宋" pitchFamily="49" charset="-122"/>
                <a:cs typeface="Consolas" pitchFamily="49" charset="0"/>
              </a:rPr>
              <a:t>[p].d;</a:t>
            </a:r>
          </a:p>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		q++;</a:t>
            </a:r>
          </a:p>
          <a:p>
            <a:pPr algn="l">
              <a:lnSpc>
                <a:spcPts val="2300"/>
              </a:lnSpc>
            </a:pPr>
            <a:r>
              <a:rPr kumimoji="1" lang="en-US" altLang="zh-CN" sz="1800" dirty="0">
                <a:solidFill>
                  <a:srgbClr val="0000FF"/>
                </a:solidFill>
                <a:latin typeface="Consolas" pitchFamily="49" charset="0"/>
                <a:ea typeface="仿宋" pitchFamily="49" charset="-122"/>
                <a:cs typeface="Consolas" pitchFamily="49" charset="0"/>
              </a:rPr>
              <a:t>	    }</a:t>
            </a:r>
          </a:p>
        </p:txBody>
      </p:sp>
    </p:spTree>
    <p:extLst>
      <p:ext uri="{BB962C8B-B14F-4D97-AF65-F5344CB8AC3E}">
        <p14:creationId xmlns:p14="http://schemas.microsoft.com/office/powerpoint/2010/main" val="10791891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a:extLst>
              <a:ext uri="{FF2B5EF4-FFF2-40B4-BE49-F238E27FC236}">
                <a16:creationId xmlns:a16="http://schemas.microsoft.com/office/drawing/2014/main" id="{E417FBCD-24D0-D8CB-F15E-7E221E140271}"/>
              </a:ext>
            </a:extLst>
          </p:cNvPr>
          <p:cNvSpPr txBox="1">
            <a:spLocks noChangeArrowheads="1"/>
          </p:cNvSpPr>
          <p:nvPr/>
        </p:nvSpPr>
        <p:spPr bwMode="auto">
          <a:xfrm>
            <a:off x="371971" y="2420888"/>
            <a:ext cx="7092181" cy="4199374"/>
          </a:xfrm>
          <a:prstGeom prst="rect">
            <a:avLst/>
          </a:prstGeom>
          <a:solidFill>
            <a:schemeClr val="bg1">
              <a:lumMod val="95000"/>
            </a:schemeClr>
          </a:solidFill>
          <a:ln>
            <a:headEnd/>
            <a:tailEnd/>
          </a:ln>
        </p:spPr>
        <p:style>
          <a:lnRef idx="1">
            <a:schemeClr val="accent3"/>
          </a:lnRef>
          <a:fillRef idx="2">
            <a:schemeClr val="accent3"/>
          </a:fillRef>
          <a:effectRef idx="1">
            <a:schemeClr val="accent3"/>
          </a:effectRef>
          <a:fontRef idx="minor">
            <a:schemeClr val="dk1"/>
          </a:fontRef>
        </p:style>
        <p:txBody>
          <a:bodyPr wrap="square" tIns="180000" bIns="180000">
            <a:spAutoFit/>
          </a:bodyPr>
          <a:lstStyle/>
          <a:p>
            <a:pPr algn="l">
              <a:lnSpc>
                <a:spcPts val="2000"/>
              </a:lnSpc>
            </a:pPr>
            <a:r>
              <a:rPr kumimoji="1" lang="en-US" altLang="zh-CN" sz="1600" dirty="0">
                <a:solidFill>
                  <a:srgbClr val="0000FF"/>
                </a:solidFill>
                <a:latin typeface="Consolas" pitchFamily="49" charset="0"/>
                <a:ea typeface="仿宋" pitchFamily="49" charset="-122"/>
                <a:cs typeface="Consolas" pitchFamily="49" charset="0"/>
              </a:rPr>
              <a:t>void </a:t>
            </a:r>
            <a:r>
              <a:rPr kumimoji="1" lang="en-US" altLang="zh-CN" sz="1600" dirty="0" err="1">
                <a:solidFill>
                  <a:srgbClr val="FF0000"/>
                </a:solidFill>
                <a:latin typeface="Consolas" pitchFamily="49" charset="0"/>
                <a:ea typeface="仿宋" pitchFamily="49" charset="-122"/>
                <a:cs typeface="Consolas" pitchFamily="49" charset="0"/>
              </a:rPr>
              <a:t>TranTat</a:t>
            </a:r>
            <a:r>
              <a:rPr kumimoji="1" lang="en-US" altLang="zh-CN" sz="1600" dirty="0">
                <a:solidFill>
                  <a:srgbClr val="0000FF"/>
                </a:solidFill>
                <a:latin typeface="Consolas" pitchFamily="49" charset="0"/>
                <a:ea typeface="仿宋" pitchFamily="49" charset="-122"/>
                <a:cs typeface="Consolas" pitchFamily="49" charset="0"/>
              </a:rPr>
              <a:t>(</a:t>
            </a:r>
            <a:r>
              <a:rPr kumimoji="1" lang="en-US" altLang="zh-CN" sz="1600" dirty="0" err="1">
                <a:solidFill>
                  <a:srgbClr val="0000FF"/>
                </a:solidFill>
                <a:latin typeface="Consolas" pitchFamily="49" charset="0"/>
                <a:ea typeface="仿宋" pitchFamily="49" charset="-122"/>
                <a:cs typeface="Consolas" pitchFamily="49" charset="0"/>
              </a:rPr>
              <a:t>TSMatrix</a:t>
            </a: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err="1">
                <a:solidFill>
                  <a:srgbClr val="0000FF"/>
                </a:solidFill>
                <a:latin typeface="Consolas" pitchFamily="49" charset="0"/>
                <a:ea typeface="仿宋" pitchFamily="49" charset="-122"/>
                <a:cs typeface="Consolas" pitchFamily="49" charset="0"/>
              </a:rPr>
              <a:t>t,TSMatrix</a:t>
            </a:r>
            <a:r>
              <a:rPr kumimoji="1" lang="en-US" altLang="zh-CN" sz="1600" dirty="0">
                <a:solidFill>
                  <a:srgbClr val="0000FF"/>
                </a:solidFill>
                <a:latin typeface="Consolas" pitchFamily="49" charset="0"/>
                <a:ea typeface="仿宋" pitchFamily="49" charset="-122"/>
                <a:cs typeface="Consolas" pitchFamily="49" charset="0"/>
              </a:rPr>
              <a:t> &amp;</a:t>
            </a:r>
            <a:r>
              <a:rPr kumimoji="1" lang="en-US" altLang="zh-CN" sz="1600" dirty="0" err="1">
                <a:solidFill>
                  <a:srgbClr val="0000FF"/>
                </a:solidFill>
                <a:latin typeface="Consolas" pitchFamily="49" charset="0"/>
                <a:ea typeface="仿宋" pitchFamily="49" charset="-122"/>
                <a:cs typeface="Consolas" pitchFamily="49" charset="0"/>
              </a:rPr>
              <a:t>tb</a:t>
            </a:r>
            <a:r>
              <a:rPr kumimoji="1" lang="en-US" altLang="zh-CN" sz="1600" dirty="0">
                <a:solidFill>
                  <a:srgbClr val="0000FF"/>
                </a:solidFill>
                <a:latin typeface="Consolas" pitchFamily="49" charset="0"/>
                <a:ea typeface="仿宋" pitchFamily="49" charset="-122"/>
                <a:cs typeface="Consolas" pitchFamily="49" charset="0"/>
              </a:rPr>
              <a:t>)</a:t>
            </a:r>
          </a:p>
          <a:p>
            <a:pPr algn="l">
              <a:lnSpc>
                <a:spcPts val="2000"/>
              </a:lnSpc>
            </a:pPr>
            <a:r>
              <a:rPr kumimoji="1" lang="en-US" altLang="zh-CN" sz="1600" dirty="0">
                <a:solidFill>
                  <a:srgbClr val="0000FF"/>
                </a:solidFill>
                <a:latin typeface="Consolas" pitchFamily="49" charset="0"/>
                <a:ea typeface="仿宋" pitchFamily="49" charset="-122"/>
                <a:cs typeface="Consolas" pitchFamily="49" charset="0"/>
              </a:rPr>
              <a:t>{  int </a:t>
            </a:r>
            <a:r>
              <a:rPr kumimoji="1" lang="en-US" altLang="zh-CN" sz="1600" dirty="0" err="1">
                <a:solidFill>
                  <a:srgbClr val="0000FF"/>
                </a:solidFill>
                <a:latin typeface="Consolas" pitchFamily="49" charset="0"/>
                <a:ea typeface="仿宋" pitchFamily="49" charset="-122"/>
                <a:cs typeface="Consolas" pitchFamily="49" charset="0"/>
              </a:rPr>
              <a:t>p,q</a:t>
            </a:r>
            <a:r>
              <a:rPr kumimoji="1" lang="en-US" altLang="zh-CN" sz="1600" dirty="0">
                <a:solidFill>
                  <a:srgbClr val="0000FF"/>
                </a:solidFill>
                <a:latin typeface="Consolas" pitchFamily="49" charset="0"/>
                <a:ea typeface="仿宋" pitchFamily="49" charset="-122"/>
                <a:cs typeface="Consolas" pitchFamily="49" charset="0"/>
              </a:rPr>
              <a:t>=0,v;			</a:t>
            </a:r>
            <a:r>
              <a:rPr kumimoji="1" lang="en-US" altLang="zh-CN" sz="1600" dirty="0">
                <a:solidFill>
                  <a:srgbClr val="00B0F0"/>
                </a:solidFill>
                <a:latin typeface="Consolas" pitchFamily="49" charset="0"/>
                <a:ea typeface="仿宋" pitchFamily="49" charset="-122"/>
                <a:cs typeface="Consolas" pitchFamily="49" charset="0"/>
              </a:rPr>
              <a:t>//q</a:t>
            </a:r>
            <a:r>
              <a:rPr kumimoji="1" lang="zh-CN" altLang="en-US" sz="1600" dirty="0">
                <a:solidFill>
                  <a:srgbClr val="00B0F0"/>
                </a:solidFill>
                <a:latin typeface="Consolas" pitchFamily="49" charset="0"/>
                <a:ea typeface="仿宋" pitchFamily="49" charset="-122"/>
                <a:cs typeface="Consolas" pitchFamily="49" charset="0"/>
              </a:rPr>
              <a:t>为</a:t>
            </a:r>
            <a:r>
              <a:rPr kumimoji="1" lang="en-US" altLang="zh-CN" sz="1600" dirty="0" err="1">
                <a:solidFill>
                  <a:srgbClr val="00B0F0"/>
                </a:solidFill>
                <a:latin typeface="Consolas" pitchFamily="49" charset="0"/>
                <a:ea typeface="仿宋" pitchFamily="49" charset="-122"/>
                <a:cs typeface="Consolas" pitchFamily="49" charset="0"/>
              </a:rPr>
              <a:t>tb.data</a:t>
            </a:r>
            <a:r>
              <a:rPr kumimoji="1" lang="zh-CN" altLang="en-US" sz="1600" dirty="0">
                <a:solidFill>
                  <a:srgbClr val="00B0F0"/>
                </a:solidFill>
                <a:latin typeface="Consolas" pitchFamily="49" charset="0"/>
                <a:ea typeface="仿宋" pitchFamily="49" charset="-122"/>
                <a:cs typeface="Consolas" pitchFamily="49" charset="0"/>
              </a:rPr>
              <a:t>的下标</a:t>
            </a:r>
          </a:p>
          <a:p>
            <a:pPr algn="l">
              <a:lnSpc>
                <a:spcPts val="2000"/>
              </a:lnSpc>
            </a:pPr>
            <a:r>
              <a:rPr kumimoji="1" lang="zh-CN" altLang="en-US" sz="1600" dirty="0">
                <a:solidFill>
                  <a:srgbClr val="0000FF"/>
                </a:solidFill>
                <a:latin typeface="Consolas" pitchFamily="49" charset="0"/>
                <a:ea typeface="仿宋" pitchFamily="49" charset="-122"/>
                <a:cs typeface="Consolas" pitchFamily="49" charset="0"/>
              </a:rPr>
              <a:t>   </a:t>
            </a:r>
            <a:r>
              <a:rPr kumimoji="1" lang="en-US" altLang="zh-CN" sz="1600" dirty="0" err="1">
                <a:solidFill>
                  <a:srgbClr val="0000FF"/>
                </a:solidFill>
                <a:latin typeface="Consolas" pitchFamily="49" charset="0"/>
                <a:ea typeface="仿宋" pitchFamily="49" charset="-122"/>
                <a:cs typeface="Consolas" pitchFamily="49" charset="0"/>
              </a:rPr>
              <a:t>tb.rows</a:t>
            </a:r>
            <a:r>
              <a:rPr kumimoji="1" lang="en-US" altLang="zh-CN" sz="1600" dirty="0">
                <a:solidFill>
                  <a:srgbClr val="0000FF"/>
                </a:solidFill>
                <a:latin typeface="Consolas" pitchFamily="49" charset="0"/>
                <a:ea typeface="仿宋" pitchFamily="49" charset="-122"/>
                <a:cs typeface="Consolas" pitchFamily="49" charset="0"/>
              </a:rPr>
              <a:t>=</a:t>
            </a:r>
            <a:r>
              <a:rPr kumimoji="1" lang="en-US" altLang="zh-CN" sz="1600" dirty="0" err="1">
                <a:solidFill>
                  <a:srgbClr val="0000FF"/>
                </a:solidFill>
                <a:latin typeface="Consolas" pitchFamily="49" charset="0"/>
                <a:ea typeface="仿宋" pitchFamily="49" charset="-122"/>
                <a:cs typeface="Consolas" pitchFamily="49" charset="0"/>
              </a:rPr>
              <a:t>t.cols</a:t>
            </a: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err="1">
                <a:solidFill>
                  <a:srgbClr val="0000FF"/>
                </a:solidFill>
                <a:latin typeface="Consolas" pitchFamily="49" charset="0"/>
                <a:ea typeface="仿宋" pitchFamily="49" charset="-122"/>
                <a:cs typeface="Consolas" pitchFamily="49" charset="0"/>
              </a:rPr>
              <a:t>tb.cols</a:t>
            </a:r>
            <a:r>
              <a:rPr kumimoji="1" lang="en-US" altLang="zh-CN" sz="1600" dirty="0">
                <a:solidFill>
                  <a:srgbClr val="0000FF"/>
                </a:solidFill>
                <a:latin typeface="Consolas" pitchFamily="49" charset="0"/>
                <a:ea typeface="仿宋" pitchFamily="49" charset="-122"/>
                <a:cs typeface="Consolas" pitchFamily="49" charset="0"/>
              </a:rPr>
              <a:t>=</a:t>
            </a:r>
            <a:r>
              <a:rPr kumimoji="1" lang="en-US" altLang="zh-CN" sz="1600" dirty="0" err="1">
                <a:solidFill>
                  <a:srgbClr val="0000FF"/>
                </a:solidFill>
                <a:latin typeface="Consolas" pitchFamily="49" charset="0"/>
                <a:ea typeface="仿宋" pitchFamily="49" charset="-122"/>
                <a:cs typeface="Consolas" pitchFamily="49" charset="0"/>
              </a:rPr>
              <a:t>t.rows</a:t>
            </a: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err="1">
                <a:solidFill>
                  <a:srgbClr val="0000FF"/>
                </a:solidFill>
                <a:latin typeface="Consolas" pitchFamily="49" charset="0"/>
                <a:ea typeface="仿宋" pitchFamily="49" charset="-122"/>
                <a:cs typeface="Consolas" pitchFamily="49" charset="0"/>
              </a:rPr>
              <a:t>tb.nums</a:t>
            </a:r>
            <a:r>
              <a:rPr kumimoji="1" lang="en-US" altLang="zh-CN" sz="1600" dirty="0">
                <a:solidFill>
                  <a:srgbClr val="0000FF"/>
                </a:solidFill>
                <a:latin typeface="Consolas" pitchFamily="49" charset="0"/>
                <a:ea typeface="仿宋" pitchFamily="49" charset="-122"/>
                <a:cs typeface="Consolas" pitchFamily="49" charset="0"/>
              </a:rPr>
              <a:t>=</a:t>
            </a:r>
            <a:r>
              <a:rPr kumimoji="1" lang="en-US" altLang="zh-CN" sz="1600" dirty="0" err="1">
                <a:solidFill>
                  <a:srgbClr val="0000FF"/>
                </a:solidFill>
                <a:latin typeface="Consolas" pitchFamily="49" charset="0"/>
                <a:ea typeface="仿宋" pitchFamily="49" charset="-122"/>
                <a:cs typeface="Consolas" pitchFamily="49" charset="0"/>
              </a:rPr>
              <a:t>t.nums</a:t>
            </a:r>
            <a:r>
              <a:rPr kumimoji="1" lang="en-US" altLang="zh-CN" sz="1600" dirty="0">
                <a:solidFill>
                  <a:srgbClr val="0000FF"/>
                </a:solidFill>
                <a:latin typeface="Consolas" pitchFamily="49" charset="0"/>
                <a:ea typeface="仿宋" pitchFamily="49" charset="-122"/>
                <a:cs typeface="Consolas" pitchFamily="49" charset="0"/>
              </a:rPr>
              <a:t>;</a:t>
            </a:r>
          </a:p>
          <a:p>
            <a:pPr algn="l">
              <a:lnSpc>
                <a:spcPts val="2000"/>
              </a:lnSpc>
            </a:pPr>
            <a:r>
              <a:rPr kumimoji="1" lang="en-US" altLang="zh-CN" sz="1600" dirty="0">
                <a:solidFill>
                  <a:srgbClr val="0000FF"/>
                </a:solidFill>
                <a:latin typeface="Consolas" pitchFamily="49" charset="0"/>
                <a:ea typeface="仿宋" pitchFamily="49" charset="-122"/>
                <a:cs typeface="Consolas" pitchFamily="49" charset="0"/>
              </a:rPr>
              <a:t>   if (</a:t>
            </a:r>
            <a:r>
              <a:rPr kumimoji="1" lang="en-US" altLang="zh-CN" sz="1600" dirty="0" err="1">
                <a:solidFill>
                  <a:srgbClr val="0000FF"/>
                </a:solidFill>
                <a:latin typeface="Consolas" pitchFamily="49" charset="0"/>
                <a:ea typeface="仿宋" pitchFamily="49" charset="-122"/>
                <a:cs typeface="Consolas" pitchFamily="49" charset="0"/>
              </a:rPr>
              <a:t>t.nums</a:t>
            </a:r>
            <a:r>
              <a:rPr kumimoji="1" lang="en-US" altLang="zh-CN" sz="1600" dirty="0">
                <a:solidFill>
                  <a:srgbClr val="0000FF"/>
                </a:solidFill>
                <a:latin typeface="Consolas" pitchFamily="49" charset="0"/>
                <a:ea typeface="仿宋" pitchFamily="49" charset="-122"/>
                <a:cs typeface="Consolas" pitchFamily="49" charset="0"/>
              </a:rPr>
              <a:t>!=0)		</a:t>
            </a:r>
            <a:r>
              <a:rPr kumimoji="1" lang="en-US" altLang="zh-CN" sz="1600" dirty="0">
                <a:solidFill>
                  <a:srgbClr val="00B0F0"/>
                </a:solidFill>
                <a:latin typeface="Consolas" pitchFamily="49" charset="0"/>
                <a:ea typeface="仿宋" pitchFamily="49" charset="-122"/>
                <a:cs typeface="Consolas" pitchFamily="49" charset="0"/>
              </a:rPr>
              <a:t>//</a:t>
            </a:r>
            <a:r>
              <a:rPr kumimoji="1" lang="zh-CN" altLang="en-US" sz="1600" dirty="0">
                <a:solidFill>
                  <a:srgbClr val="00B0F0"/>
                </a:solidFill>
                <a:latin typeface="Consolas" pitchFamily="49" charset="0"/>
                <a:ea typeface="仿宋" pitchFamily="49" charset="-122"/>
                <a:cs typeface="Consolas" pitchFamily="49" charset="0"/>
              </a:rPr>
              <a:t>当存在非零元素时执行转置</a:t>
            </a:r>
          </a:p>
          <a:p>
            <a:pPr algn="l">
              <a:lnSpc>
                <a:spcPts val="2000"/>
              </a:lnSpc>
            </a:pPr>
            <a:r>
              <a:rPr kumimoji="1" lang="zh-CN" altLang="en-US"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00FF"/>
                </a:solidFill>
                <a:latin typeface="Consolas" pitchFamily="49" charset="0"/>
                <a:ea typeface="仿宋" pitchFamily="49" charset="-122"/>
                <a:cs typeface="Consolas" pitchFamily="49" charset="0"/>
              </a:rPr>
              <a:t>{  </a:t>
            </a:r>
          </a:p>
          <a:p>
            <a:pPr algn="l">
              <a:lnSpc>
                <a:spcPts val="2000"/>
              </a:lnSpc>
            </a:pPr>
            <a:r>
              <a:rPr kumimoji="1" lang="en-US" altLang="zh-CN" sz="1600" dirty="0">
                <a:solidFill>
                  <a:srgbClr val="0000FF"/>
                </a:solidFill>
                <a:latin typeface="Consolas" pitchFamily="49" charset="0"/>
                <a:ea typeface="仿宋" pitchFamily="49" charset="-122"/>
                <a:cs typeface="Consolas" pitchFamily="49" charset="0"/>
              </a:rPr>
              <a:t>      for (</a:t>
            </a:r>
            <a:r>
              <a:rPr kumimoji="1" lang="en-US" altLang="zh-CN" sz="1600" dirty="0">
                <a:solidFill>
                  <a:srgbClr val="FF00FF"/>
                </a:solidFill>
                <a:latin typeface="Consolas" pitchFamily="49" charset="0"/>
                <a:ea typeface="仿宋" pitchFamily="49" charset="-122"/>
                <a:cs typeface="Consolas" pitchFamily="49" charset="0"/>
              </a:rPr>
              <a:t>v=0;v&lt;</a:t>
            </a:r>
            <a:r>
              <a:rPr kumimoji="1" lang="en-US" altLang="zh-CN" sz="1600" dirty="0" err="1">
                <a:solidFill>
                  <a:srgbClr val="FF00FF"/>
                </a:solidFill>
                <a:latin typeface="Consolas" pitchFamily="49" charset="0"/>
                <a:ea typeface="仿宋" pitchFamily="49" charset="-122"/>
                <a:cs typeface="Consolas" pitchFamily="49" charset="0"/>
              </a:rPr>
              <a:t>t.cols;v</a:t>
            </a:r>
            <a:r>
              <a:rPr kumimoji="1" lang="en-US" altLang="zh-CN" sz="1600" dirty="0">
                <a:solidFill>
                  <a:srgbClr val="FF00FF"/>
                </a:solidFill>
                <a:latin typeface="Consolas" pitchFamily="49" charset="0"/>
                <a:ea typeface="仿宋" pitchFamily="49" charset="-122"/>
                <a:cs typeface="Consolas" pitchFamily="49" charset="0"/>
              </a:rPr>
              <a:t>++</a:t>
            </a: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B0F0"/>
                </a:solidFill>
                <a:latin typeface="Consolas" pitchFamily="49" charset="0"/>
                <a:ea typeface="仿宋" pitchFamily="49" charset="-122"/>
                <a:cs typeface="Consolas" pitchFamily="49" charset="0"/>
              </a:rPr>
              <a:t>//</a:t>
            </a:r>
            <a:r>
              <a:rPr kumimoji="1" lang="en-US" altLang="zh-CN" sz="1600" dirty="0" err="1">
                <a:solidFill>
                  <a:srgbClr val="00B0F0"/>
                </a:solidFill>
                <a:latin typeface="Consolas" pitchFamily="49" charset="0"/>
                <a:ea typeface="仿宋" pitchFamily="49" charset="-122"/>
                <a:cs typeface="Consolas" pitchFamily="49" charset="0"/>
              </a:rPr>
              <a:t>tb.data</a:t>
            </a:r>
            <a:r>
              <a:rPr kumimoji="1" lang="en-US" altLang="zh-CN" sz="1600" dirty="0">
                <a:solidFill>
                  <a:srgbClr val="00B0F0"/>
                </a:solidFill>
                <a:latin typeface="Consolas" pitchFamily="49" charset="0"/>
                <a:ea typeface="仿宋" pitchFamily="49" charset="-122"/>
                <a:cs typeface="Consolas" pitchFamily="49" charset="0"/>
              </a:rPr>
              <a:t>[q]</a:t>
            </a:r>
            <a:r>
              <a:rPr kumimoji="1" lang="zh-CN" altLang="en-US" sz="1600" dirty="0">
                <a:solidFill>
                  <a:srgbClr val="00B0F0"/>
                </a:solidFill>
                <a:latin typeface="Consolas" pitchFamily="49" charset="0"/>
                <a:ea typeface="仿宋" pitchFamily="49" charset="-122"/>
                <a:cs typeface="Consolas" pitchFamily="49" charset="0"/>
              </a:rPr>
              <a:t>中记录以列序排列</a:t>
            </a:r>
          </a:p>
          <a:p>
            <a:pPr algn="l">
              <a:lnSpc>
                <a:spcPts val="2000"/>
              </a:lnSpc>
            </a:pPr>
            <a:r>
              <a:rPr kumimoji="1" lang="zh-CN" altLang="en-US"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00FF"/>
                </a:solidFill>
                <a:latin typeface="Consolas" pitchFamily="49" charset="0"/>
                <a:ea typeface="仿宋" pitchFamily="49" charset="-122"/>
                <a:cs typeface="Consolas" pitchFamily="49" charset="0"/>
              </a:rPr>
              <a:t>for (p=0;p&lt;</a:t>
            </a:r>
            <a:r>
              <a:rPr kumimoji="1" lang="en-US" altLang="zh-CN" sz="1600" dirty="0" err="1">
                <a:solidFill>
                  <a:srgbClr val="0000FF"/>
                </a:solidFill>
                <a:latin typeface="Consolas" pitchFamily="49" charset="0"/>
                <a:ea typeface="仿宋" pitchFamily="49" charset="-122"/>
                <a:cs typeface="Consolas" pitchFamily="49" charset="0"/>
              </a:rPr>
              <a:t>t.nums;p</a:t>
            </a: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B0F0"/>
                </a:solidFill>
                <a:latin typeface="Consolas" pitchFamily="49" charset="0"/>
                <a:ea typeface="仿宋" pitchFamily="49" charset="-122"/>
                <a:cs typeface="Consolas" pitchFamily="49" charset="0"/>
              </a:rPr>
              <a:t>//p</a:t>
            </a:r>
            <a:r>
              <a:rPr kumimoji="1" lang="zh-CN" altLang="en-US" sz="1600" dirty="0">
                <a:solidFill>
                  <a:srgbClr val="00B0F0"/>
                </a:solidFill>
                <a:latin typeface="Consolas" pitchFamily="49" charset="0"/>
                <a:ea typeface="仿宋" pitchFamily="49" charset="-122"/>
                <a:cs typeface="Consolas" pitchFamily="49" charset="0"/>
              </a:rPr>
              <a:t>为</a:t>
            </a:r>
            <a:r>
              <a:rPr kumimoji="1" lang="en-US" altLang="zh-CN" sz="1600" dirty="0" err="1">
                <a:solidFill>
                  <a:srgbClr val="00B0F0"/>
                </a:solidFill>
                <a:latin typeface="Consolas" pitchFamily="49" charset="0"/>
                <a:ea typeface="仿宋" pitchFamily="49" charset="-122"/>
                <a:cs typeface="Consolas" pitchFamily="49" charset="0"/>
              </a:rPr>
              <a:t>t.data</a:t>
            </a:r>
            <a:r>
              <a:rPr kumimoji="1" lang="zh-CN" altLang="en-US" sz="1600" dirty="0">
                <a:solidFill>
                  <a:srgbClr val="00B0F0"/>
                </a:solidFill>
                <a:latin typeface="Consolas" pitchFamily="49" charset="0"/>
                <a:ea typeface="仿宋" pitchFamily="49" charset="-122"/>
                <a:cs typeface="Consolas" pitchFamily="49" charset="0"/>
              </a:rPr>
              <a:t>的下标</a:t>
            </a:r>
          </a:p>
          <a:p>
            <a:pPr algn="l">
              <a:lnSpc>
                <a:spcPts val="2000"/>
              </a:lnSpc>
            </a:pPr>
            <a:r>
              <a:rPr kumimoji="1" lang="zh-CN" altLang="en-US" sz="1600" dirty="0">
                <a:solidFill>
                  <a:srgbClr val="0000FF"/>
                </a:solidFill>
                <a:latin typeface="Consolas" pitchFamily="49" charset="0"/>
                <a:ea typeface="仿宋" pitchFamily="49" charset="-122"/>
                <a:cs typeface="Consolas" pitchFamily="49" charset="0"/>
              </a:rPr>
              <a:t>	    </a:t>
            </a:r>
            <a:r>
              <a:rPr kumimoji="1" lang="en-US" altLang="zh-CN" sz="1600" dirty="0">
                <a:solidFill>
                  <a:srgbClr val="0000FF"/>
                </a:solidFill>
                <a:latin typeface="Consolas" pitchFamily="49" charset="0"/>
                <a:ea typeface="仿宋" pitchFamily="49" charset="-122"/>
                <a:cs typeface="Consolas" pitchFamily="49" charset="0"/>
              </a:rPr>
              <a:t>if (</a:t>
            </a:r>
            <a:r>
              <a:rPr kumimoji="1" lang="en-US" altLang="zh-CN" sz="1600" dirty="0" err="1">
                <a:solidFill>
                  <a:srgbClr val="0000FF"/>
                </a:solidFill>
                <a:latin typeface="Consolas" pitchFamily="49" charset="0"/>
                <a:ea typeface="仿宋" pitchFamily="49" charset="-122"/>
                <a:cs typeface="Consolas" pitchFamily="49" charset="0"/>
              </a:rPr>
              <a:t>t.data</a:t>
            </a:r>
            <a:r>
              <a:rPr kumimoji="1" lang="en-US" altLang="zh-CN" sz="1600" dirty="0">
                <a:solidFill>
                  <a:srgbClr val="0000FF"/>
                </a:solidFill>
                <a:latin typeface="Consolas" pitchFamily="49" charset="0"/>
                <a:ea typeface="仿宋" pitchFamily="49" charset="-122"/>
                <a:cs typeface="Consolas" pitchFamily="49" charset="0"/>
              </a:rPr>
              <a:t>[p].c==v)</a:t>
            </a:r>
          </a:p>
          <a:p>
            <a:pPr algn="l">
              <a:lnSpc>
                <a:spcPts val="2000"/>
              </a:lnSpc>
            </a:pPr>
            <a:r>
              <a:rPr kumimoji="1" lang="en-US" altLang="zh-CN" sz="1600" dirty="0">
                <a:solidFill>
                  <a:srgbClr val="0000FF"/>
                </a:solidFill>
                <a:latin typeface="Consolas" pitchFamily="49" charset="0"/>
                <a:ea typeface="仿宋" pitchFamily="49" charset="-122"/>
                <a:cs typeface="Consolas" pitchFamily="49" charset="0"/>
              </a:rPr>
              <a:t>	    </a:t>
            </a:r>
            <a:r>
              <a:rPr kumimoji="1" lang="pt-BR" altLang="zh-CN" sz="1600" dirty="0">
                <a:solidFill>
                  <a:srgbClr val="0000FF"/>
                </a:solidFill>
                <a:latin typeface="Consolas" pitchFamily="49" charset="0"/>
                <a:ea typeface="仿宋" pitchFamily="49" charset="-122"/>
                <a:cs typeface="Consolas" pitchFamily="49" charset="0"/>
              </a:rPr>
              <a:t>{  tb.data[q].r=t.data[p].c;</a:t>
            </a:r>
          </a:p>
          <a:p>
            <a:pPr algn="l">
              <a:lnSpc>
                <a:spcPts val="2000"/>
              </a:lnSpc>
            </a:pPr>
            <a:r>
              <a:rPr kumimoji="1" lang="pt-BR" altLang="zh-CN" sz="1600" dirty="0">
                <a:solidFill>
                  <a:srgbClr val="0000FF"/>
                </a:solidFill>
                <a:latin typeface="Consolas" pitchFamily="49" charset="0"/>
                <a:ea typeface="仿宋" pitchFamily="49" charset="-122"/>
                <a:cs typeface="Consolas" pitchFamily="49" charset="0"/>
              </a:rPr>
              <a:t>		</a:t>
            </a:r>
            <a:r>
              <a:rPr kumimoji="1" lang="en-US" altLang="zh-CN" sz="1600" dirty="0" err="1">
                <a:solidFill>
                  <a:srgbClr val="0000FF"/>
                </a:solidFill>
                <a:latin typeface="Consolas" pitchFamily="49" charset="0"/>
                <a:ea typeface="仿宋" pitchFamily="49" charset="-122"/>
                <a:cs typeface="Consolas" pitchFamily="49" charset="0"/>
              </a:rPr>
              <a:t>tb.data</a:t>
            </a:r>
            <a:r>
              <a:rPr kumimoji="1" lang="en-US" altLang="zh-CN" sz="1600" dirty="0">
                <a:solidFill>
                  <a:srgbClr val="0000FF"/>
                </a:solidFill>
                <a:latin typeface="Consolas" pitchFamily="49" charset="0"/>
                <a:ea typeface="仿宋" pitchFamily="49" charset="-122"/>
                <a:cs typeface="Consolas" pitchFamily="49" charset="0"/>
              </a:rPr>
              <a:t>[q].c=</a:t>
            </a:r>
            <a:r>
              <a:rPr kumimoji="1" lang="en-US" altLang="zh-CN" sz="1600" dirty="0" err="1">
                <a:solidFill>
                  <a:srgbClr val="0000FF"/>
                </a:solidFill>
                <a:latin typeface="Consolas" pitchFamily="49" charset="0"/>
                <a:ea typeface="仿宋" pitchFamily="49" charset="-122"/>
                <a:cs typeface="Consolas" pitchFamily="49" charset="0"/>
              </a:rPr>
              <a:t>t.data</a:t>
            </a:r>
            <a:r>
              <a:rPr kumimoji="1" lang="en-US" altLang="zh-CN" sz="1600" dirty="0">
                <a:solidFill>
                  <a:srgbClr val="0000FF"/>
                </a:solidFill>
                <a:latin typeface="Consolas" pitchFamily="49" charset="0"/>
                <a:ea typeface="仿宋" pitchFamily="49" charset="-122"/>
                <a:cs typeface="Consolas" pitchFamily="49" charset="0"/>
              </a:rPr>
              <a:t>[p].r;</a:t>
            </a:r>
          </a:p>
          <a:p>
            <a:pPr algn="l">
              <a:lnSpc>
                <a:spcPts val="2000"/>
              </a:lnSpc>
            </a:pPr>
            <a:r>
              <a:rPr kumimoji="1" lang="en-US" altLang="zh-CN" sz="1600" dirty="0">
                <a:solidFill>
                  <a:srgbClr val="0000FF"/>
                </a:solidFill>
                <a:latin typeface="Consolas" pitchFamily="49" charset="0"/>
                <a:ea typeface="仿宋" pitchFamily="49" charset="-122"/>
                <a:cs typeface="Consolas" pitchFamily="49" charset="0"/>
              </a:rPr>
              <a:t>		</a:t>
            </a:r>
            <a:r>
              <a:rPr kumimoji="1" lang="en-US" altLang="zh-CN" sz="1600" dirty="0" err="1">
                <a:solidFill>
                  <a:srgbClr val="0000FF"/>
                </a:solidFill>
                <a:latin typeface="Consolas" pitchFamily="49" charset="0"/>
                <a:ea typeface="仿宋" pitchFamily="49" charset="-122"/>
                <a:cs typeface="Consolas" pitchFamily="49" charset="0"/>
              </a:rPr>
              <a:t>tb.data</a:t>
            </a:r>
            <a:r>
              <a:rPr kumimoji="1" lang="en-US" altLang="zh-CN" sz="1600" dirty="0">
                <a:solidFill>
                  <a:srgbClr val="0000FF"/>
                </a:solidFill>
                <a:latin typeface="Consolas" pitchFamily="49" charset="0"/>
                <a:ea typeface="仿宋" pitchFamily="49" charset="-122"/>
                <a:cs typeface="Consolas" pitchFamily="49" charset="0"/>
              </a:rPr>
              <a:t>[q].d=</a:t>
            </a:r>
            <a:r>
              <a:rPr kumimoji="1" lang="en-US" altLang="zh-CN" sz="1600" dirty="0" err="1">
                <a:solidFill>
                  <a:srgbClr val="0000FF"/>
                </a:solidFill>
                <a:latin typeface="Consolas" pitchFamily="49" charset="0"/>
                <a:ea typeface="仿宋" pitchFamily="49" charset="-122"/>
                <a:cs typeface="Consolas" pitchFamily="49" charset="0"/>
              </a:rPr>
              <a:t>t.data</a:t>
            </a:r>
            <a:r>
              <a:rPr kumimoji="1" lang="en-US" altLang="zh-CN" sz="1600" dirty="0">
                <a:solidFill>
                  <a:srgbClr val="0000FF"/>
                </a:solidFill>
                <a:latin typeface="Consolas" pitchFamily="49" charset="0"/>
                <a:ea typeface="仿宋" pitchFamily="49" charset="-122"/>
                <a:cs typeface="Consolas" pitchFamily="49" charset="0"/>
              </a:rPr>
              <a:t>[p].d;</a:t>
            </a:r>
          </a:p>
          <a:p>
            <a:pPr algn="l">
              <a:lnSpc>
                <a:spcPts val="2000"/>
              </a:lnSpc>
            </a:pPr>
            <a:r>
              <a:rPr kumimoji="1" lang="en-US" altLang="zh-CN" sz="1600" dirty="0">
                <a:solidFill>
                  <a:srgbClr val="0000FF"/>
                </a:solidFill>
                <a:latin typeface="Consolas" pitchFamily="49" charset="0"/>
                <a:ea typeface="仿宋" pitchFamily="49" charset="-122"/>
                <a:cs typeface="Consolas" pitchFamily="49" charset="0"/>
              </a:rPr>
              <a:t>		q++;</a:t>
            </a:r>
          </a:p>
          <a:p>
            <a:pPr algn="l">
              <a:lnSpc>
                <a:spcPts val="2000"/>
              </a:lnSpc>
            </a:pPr>
            <a:r>
              <a:rPr kumimoji="1" lang="en-US" altLang="zh-CN" sz="1600" dirty="0">
                <a:solidFill>
                  <a:srgbClr val="0000FF"/>
                </a:solidFill>
                <a:latin typeface="Consolas" pitchFamily="49" charset="0"/>
                <a:ea typeface="仿宋" pitchFamily="49" charset="-122"/>
                <a:cs typeface="Consolas" pitchFamily="49" charset="0"/>
              </a:rPr>
              <a:t>	    }</a:t>
            </a:r>
          </a:p>
          <a:p>
            <a:pPr algn="l">
              <a:lnSpc>
                <a:spcPts val="2000"/>
              </a:lnSpc>
            </a:pPr>
            <a:r>
              <a:rPr kumimoji="1" lang="en-US" altLang="zh-CN" sz="1600" dirty="0">
                <a:solidFill>
                  <a:srgbClr val="0000FF"/>
                </a:solidFill>
                <a:latin typeface="Consolas" pitchFamily="49" charset="0"/>
                <a:ea typeface="仿宋" pitchFamily="49" charset="-122"/>
                <a:cs typeface="Consolas" pitchFamily="49" charset="0"/>
              </a:rPr>
              <a:t>   }</a:t>
            </a:r>
          </a:p>
          <a:p>
            <a:pPr algn="l">
              <a:lnSpc>
                <a:spcPts val="2000"/>
              </a:lnSpc>
            </a:pPr>
            <a:r>
              <a:rPr kumimoji="1" lang="en-US" altLang="zh-CN" sz="1600" dirty="0">
                <a:solidFill>
                  <a:srgbClr val="0000FF"/>
                </a:solidFill>
                <a:latin typeface="Consolas" pitchFamily="49" charset="0"/>
                <a:ea typeface="仿宋" pitchFamily="49" charset="-122"/>
                <a:cs typeface="Consolas" pitchFamily="49" charset="0"/>
              </a:rPr>
              <a:t>}</a:t>
            </a:r>
          </a:p>
        </p:txBody>
      </p:sp>
      <p:sp>
        <p:nvSpPr>
          <p:cNvPr id="21" name="矩形 20"/>
          <p:cNvSpPr/>
          <p:nvPr/>
        </p:nvSpPr>
        <p:spPr>
          <a:xfrm>
            <a:off x="7518298" y="4365104"/>
            <a:ext cx="4320480" cy="830997"/>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时间复杂度：</a:t>
            </a:r>
            <a:r>
              <a:rPr lang="en-US" altLang="zh-CN" sz="2400" dirty="0">
                <a:latin typeface="微软雅黑" pitchFamily="34" charset="-122"/>
                <a:ea typeface="微软雅黑" pitchFamily="34" charset="-122"/>
                <a:cs typeface="经典粗黑简" pitchFamily="49" charset="-122"/>
              </a:rPr>
              <a:t>O(</a:t>
            </a:r>
            <a:r>
              <a:rPr lang="en-US" altLang="zh-CN" sz="2400" dirty="0" err="1">
                <a:latin typeface="微软雅黑" pitchFamily="34" charset="-122"/>
                <a:ea typeface="微软雅黑" pitchFamily="34" charset="-122"/>
                <a:cs typeface="经典粗黑简" pitchFamily="49" charset="-122"/>
              </a:rPr>
              <a:t>nⅩt</a:t>
            </a:r>
            <a:r>
              <a:rPr lang="en-US" altLang="zh-CN" sz="2400" dirty="0">
                <a:latin typeface="微软雅黑" pitchFamily="34" charset="-122"/>
                <a:ea typeface="微软雅黑" pitchFamily="34" charset="-122"/>
                <a:cs typeface="经典粗黑简" pitchFamily="49" charset="-122"/>
              </a:rPr>
              <a:t>),</a:t>
            </a:r>
          </a:p>
          <a:p>
            <a:r>
              <a:rPr lang="zh-CN" altLang="zh-CN" sz="2400" dirty="0">
                <a:latin typeface="微软雅黑" pitchFamily="34" charset="-122"/>
                <a:ea typeface="微软雅黑" pitchFamily="34" charset="-122"/>
                <a:cs typeface="经典粗黑简" pitchFamily="49" charset="-122"/>
              </a:rPr>
              <a:t>空间复杂度</a:t>
            </a:r>
            <a:r>
              <a:rPr lang="zh-CN" altLang="en-US"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O(1)</a:t>
            </a:r>
            <a:endParaRPr lang="zh-CN" altLang="zh-CN"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61F8D784-2463-F9A2-8E35-6F94B5C69CBE}"/>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51EEA4AE-5703-715E-3312-1AEC64C9EA8A}"/>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8F9FF23C-FD95-13B5-DBD3-7D024AFBBD11}"/>
              </a:ext>
            </a:extLst>
          </p:cNvPr>
          <p:cNvSpPr txBox="1">
            <a:spLocks noChangeArrowheads="1"/>
          </p:cNvSpPr>
          <p:nvPr/>
        </p:nvSpPr>
        <p:spPr>
          <a:xfrm>
            <a:off x="191344" y="1106736"/>
            <a:ext cx="50405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6.2.1 </a:t>
            </a:r>
            <a:r>
              <a:rPr lang="zh-CN" altLang="en-US" sz="2800" b="1" dirty="0">
                <a:solidFill>
                  <a:schemeClr val="bg1"/>
                </a:solidFill>
                <a:latin typeface="经典粗黑简" pitchFamily="49" charset="-122"/>
                <a:ea typeface="经典粗黑简" pitchFamily="49" charset="-122"/>
                <a:cs typeface="经典粗黑简" pitchFamily="49" charset="-122"/>
              </a:rPr>
              <a:t>稀疏矩阵的三元组表示</a:t>
            </a:r>
          </a:p>
        </p:txBody>
      </p:sp>
      <p:sp>
        <p:nvSpPr>
          <p:cNvPr id="5" name="Text Box 2">
            <a:extLst>
              <a:ext uri="{FF2B5EF4-FFF2-40B4-BE49-F238E27FC236}">
                <a16:creationId xmlns:a16="http://schemas.microsoft.com/office/drawing/2014/main" id="{260F40F5-11A2-3529-0B06-BEB01B216844}"/>
              </a:ext>
            </a:extLst>
          </p:cNvPr>
          <p:cNvSpPr txBox="1">
            <a:spLocks noChangeArrowheads="1"/>
          </p:cNvSpPr>
          <p:nvPr/>
        </p:nvSpPr>
        <p:spPr bwMode="auto">
          <a:xfrm>
            <a:off x="902779" y="1942366"/>
            <a:ext cx="2744948" cy="369332"/>
          </a:xfrm>
          <a:prstGeom prst="rect">
            <a:avLst/>
          </a:prstGeom>
          <a:noFill/>
          <a:ln w="9525">
            <a:noFill/>
            <a:miter lim="800000"/>
            <a:headEnd/>
            <a:tailEnd/>
          </a:ln>
          <a:effectLst/>
        </p:spPr>
        <p:txBody>
          <a:bodyPr wrap="square">
            <a:spAutoFit/>
          </a:bodyPr>
          <a:lstStyle/>
          <a:p>
            <a:pPr algn="just">
              <a:lnSpc>
                <a:spcPct val="90000"/>
              </a:lnSpc>
              <a:spcBef>
                <a:spcPct val="50000"/>
              </a:spcBef>
            </a:pPr>
            <a:r>
              <a:rPr kumimoji="1" lang="zh-CN" altLang="en-US" sz="2000" dirty="0">
                <a:latin typeface="Consolas" pitchFamily="49" charset="0"/>
                <a:ea typeface="微软雅黑" pitchFamily="34" charset="-122"/>
                <a:cs typeface="Consolas" pitchFamily="49" charset="0"/>
              </a:rPr>
              <a:t>（</a:t>
            </a:r>
            <a:r>
              <a:rPr kumimoji="1" lang="en-US" altLang="zh-CN" sz="2000" dirty="0">
                <a:latin typeface="Consolas" pitchFamily="49" charset="0"/>
                <a:ea typeface="微软雅黑" pitchFamily="34" charset="-122"/>
                <a:cs typeface="Consolas" pitchFamily="49" charset="0"/>
              </a:rPr>
              <a:t>5</a:t>
            </a:r>
            <a:r>
              <a:rPr kumimoji="1" lang="zh-CN" altLang="en-US" sz="2000" dirty="0">
                <a:latin typeface="Consolas" pitchFamily="49" charset="0"/>
                <a:ea typeface="微软雅黑" pitchFamily="34" charset="-122"/>
                <a:cs typeface="Consolas" pitchFamily="49" charset="0"/>
              </a:rPr>
              <a:t>）</a:t>
            </a:r>
            <a:r>
              <a:rPr kumimoji="1" lang="zh-CN" altLang="en-US" sz="2000" dirty="0">
                <a:latin typeface="Consolas" pitchFamily="49" charset="0"/>
                <a:ea typeface="微软雅黑" pitchFamily="34" charset="-122"/>
              </a:rPr>
              <a:t>矩阵转置</a:t>
            </a:r>
            <a:endParaRPr kumimoji="1" lang="en-US" altLang="zh-CN" sz="2000" dirty="0">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2275294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EA60A-821E-16F4-3960-2F0850EFE12E}"/>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CF42BFDF-7FC9-32D7-ADCD-D2B0E5DC994E}"/>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43E8A394-A361-9002-382A-50D2CE46572B}"/>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D3746392-4EA2-01C3-D8FD-F8F9EA1B1C9A}"/>
              </a:ext>
            </a:extLst>
          </p:cNvPr>
          <p:cNvSpPr txBox="1">
            <a:spLocks noChangeArrowheads="1"/>
          </p:cNvSpPr>
          <p:nvPr/>
        </p:nvSpPr>
        <p:spPr>
          <a:xfrm>
            <a:off x="191344" y="1106736"/>
            <a:ext cx="52565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6.2.2 </a:t>
            </a:r>
            <a:r>
              <a:rPr lang="zh-CN" altLang="en-US" sz="2800" b="1" dirty="0">
                <a:solidFill>
                  <a:schemeClr val="bg1"/>
                </a:solidFill>
                <a:latin typeface="经典粗黑简" pitchFamily="49" charset="-122"/>
                <a:ea typeface="经典粗黑简" pitchFamily="49" charset="-122"/>
                <a:cs typeface="经典粗黑简" pitchFamily="49" charset="-122"/>
              </a:rPr>
              <a:t>稀疏矩阵的十字链表表示</a:t>
            </a:r>
          </a:p>
        </p:txBody>
      </p:sp>
      <p:sp>
        <p:nvSpPr>
          <p:cNvPr id="11" name="Rectangle 7"/>
          <p:cNvSpPr>
            <a:spLocks noChangeArrowheads="1"/>
          </p:cNvSpPr>
          <p:nvPr/>
        </p:nvSpPr>
        <p:spPr bwMode="auto">
          <a:xfrm>
            <a:off x="2706044" y="2879904"/>
            <a:ext cx="3024336" cy="23637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marL="457200" indent="-457200">
              <a:spcBef>
                <a:spcPct val="20000"/>
              </a:spcBef>
              <a:buClr>
                <a:schemeClr val="folHlink"/>
              </a:buClr>
              <a:buSzPct val="60000"/>
            </a:pPr>
            <a:r>
              <a:rPr lang="en-US" altLang="zh-CN" dirty="0" err="1">
                <a:latin typeface="Times New Roman" pitchFamily="18" charset="0"/>
              </a:rPr>
              <a:t>typedef</a:t>
            </a:r>
            <a:r>
              <a:rPr lang="en-US" altLang="zh-CN" dirty="0">
                <a:latin typeface="Times New Roman" pitchFamily="18" charset="0"/>
              </a:rPr>
              <a:t>  </a:t>
            </a:r>
            <a:r>
              <a:rPr lang="en-US" altLang="zh-CN" dirty="0" err="1">
                <a:latin typeface="Times New Roman" pitchFamily="18" charset="0"/>
              </a:rPr>
              <a:t>int</a:t>
            </a:r>
            <a:r>
              <a:rPr lang="en-US" altLang="zh-CN" dirty="0">
                <a:latin typeface="Times New Roman" pitchFamily="18" charset="0"/>
              </a:rPr>
              <a:t> </a:t>
            </a:r>
            <a:r>
              <a:rPr lang="en-US" altLang="zh-CN" dirty="0" err="1">
                <a:latin typeface="Times New Roman" pitchFamily="18" charset="0"/>
              </a:rPr>
              <a:t>ElemType</a:t>
            </a:r>
            <a:r>
              <a:rPr lang="en-US" altLang="zh-CN" dirty="0">
                <a:latin typeface="Times New Roman" pitchFamily="18" charset="0"/>
              </a:rPr>
              <a:t>;</a:t>
            </a:r>
          </a:p>
          <a:p>
            <a:pPr marL="457200" indent="-457200">
              <a:spcBef>
                <a:spcPct val="20000"/>
              </a:spcBef>
              <a:buClr>
                <a:schemeClr val="folHlink"/>
              </a:buClr>
              <a:buSzPct val="60000"/>
            </a:pPr>
            <a:r>
              <a:rPr lang="en-US" altLang="zh-CN" dirty="0" err="1">
                <a:latin typeface="Times New Roman" pitchFamily="18" charset="0"/>
              </a:rPr>
              <a:t>typedef</a:t>
            </a:r>
            <a:r>
              <a:rPr lang="en-US" altLang="zh-CN" dirty="0">
                <a:latin typeface="Times New Roman" pitchFamily="18" charset="0"/>
              </a:rPr>
              <a:t> </a:t>
            </a:r>
            <a:r>
              <a:rPr lang="en-US" altLang="zh-CN" dirty="0" err="1">
                <a:latin typeface="Times New Roman" pitchFamily="18" charset="0"/>
              </a:rPr>
              <a:t>struct</a:t>
            </a:r>
            <a:r>
              <a:rPr lang="en-US" altLang="zh-CN" dirty="0">
                <a:latin typeface="Times New Roman" pitchFamily="18" charset="0"/>
              </a:rPr>
              <a:t> Node</a:t>
            </a:r>
          </a:p>
          <a:p>
            <a:pPr marL="457200" indent="-457200">
              <a:spcBef>
                <a:spcPct val="20000"/>
              </a:spcBef>
              <a:buClr>
                <a:schemeClr val="folHlink"/>
              </a:buClr>
              <a:buSzPct val="60000"/>
            </a:pPr>
            <a:r>
              <a:rPr lang="en-US" altLang="zh-CN" dirty="0">
                <a:latin typeface="Times New Roman" pitchFamily="18" charset="0"/>
              </a:rPr>
              <a:t>{</a:t>
            </a:r>
          </a:p>
          <a:p>
            <a:pPr marL="457200" indent="-457200">
              <a:spcBef>
                <a:spcPct val="20000"/>
              </a:spcBef>
              <a:buClr>
                <a:schemeClr val="folHlink"/>
              </a:buClr>
              <a:buSzPct val="60000"/>
            </a:pPr>
            <a:r>
              <a:rPr lang="en-US" altLang="zh-CN" dirty="0">
                <a:latin typeface="Times New Roman" pitchFamily="18" charset="0"/>
              </a:rPr>
              <a:t>       </a:t>
            </a:r>
            <a:r>
              <a:rPr lang="en-US" altLang="zh-CN" dirty="0" err="1">
                <a:latin typeface="Times New Roman" pitchFamily="18" charset="0"/>
              </a:rPr>
              <a:t>int</a:t>
            </a:r>
            <a:r>
              <a:rPr lang="en-US" altLang="zh-CN" dirty="0">
                <a:latin typeface="Times New Roman" pitchFamily="18" charset="0"/>
              </a:rPr>
              <a:t>   </a:t>
            </a:r>
            <a:r>
              <a:rPr lang="en-US" altLang="zh-CN" dirty="0" err="1">
                <a:latin typeface="Times New Roman" pitchFamily="18" charset="0"/>
              </a:rPr>
              <a:t>i,j</a:t>
            </a:r>
            <a:r>
              <a:rPr lang="en-US" altLang="zh-CN" dirty="0">
                <a:latin typeface="Times New Roman" pitchFamily="18" charset="0"/>
              </a:rPr>
              <a:t>;</a:t>
            </a:r>
          </a:p>
          <a:p>
            <a:pPr marL="457200" indent="-457200">
              <a:spcBef>
                <a:spcPct val="20000"/>
              </a:spcBef>
              <a:buClr>
                <a:schemeClr val="folHlink"/>
              </a:buClr>
              <a:buSzPct val="60000"/>
            </a:pPr>
            <a:r>
              <a:rPr lang="en-US" altLang="zh-CN" dirty="0">
                <a:latin typeface="Times New Roman" pitchFamily="18" charset="0"/>
              </a:rPr>
              <a:t>       </a:t>
            </a:r>
            <a:r>
              <a:rPr lang="en-US" altLang="zh-CN" dirty="0" err="1">
                <a:latin typeface="Times New Roman" pitchFamily="18" charset="0"/>
              </a:rPr>
              <a:t>ElemType</a:t>
            </a:r>
            <a:r>
              <a:rPr lang="en-US" altLang="zh-CN" dirty="0">
                <a:latin typeface="Times New Roman" pitchFamily="18" charset="0"/>
              </a:rPr>
              <a:t> e;</a:t>
            </a:r>
          </a:p>
          <a:p>
            <a:pPr marL="457200" indent="-457200">
              <a:spcBef>
                <a:spcPct val="20000"/>
              </a:spcBef>
              <a:buClr>
                <a:schemeClr val="folHlink"/>
              </a:buClr>
              <a:buSzPct val="60000"/>
            </a:pPr>
            <a:r>
              <a:rPr lang="en-US" altLang="zh-CN" dirty="0">
                <a:latin typeface="Times New Roman" pitchFamily="18" charset="0"/>
              </a:rPr>
              <a:t>       </a:t>
            </a:r>
            <a:r>
              <a:rPr lang="en-US" altLang="zh-CN" dirty="0" err="1">
                <a:latin typeface="Times New Roman" pitchFamily="18" charset="0"/>
              </a:rPr>
              <a:t>struct</a:t>
            </a:r>
            <a:r>
              <a:rPr lang="en-US" altLang="zh-CN" dirty="0">
                <a:latin typeface="Times New Roman" pitchFamily="18" charset="0"/>
              </a:rPr>
              <a:t> Node *right,*down;</a:t>
            </a:r>
          </a:p>
          <a:p>
            <a:pPr marL="457200" indent="-457200">
              <a:spcBef>
                <a:spcPct val="20000"/>
              </a:spcBef>
              <a:buClr>
                <a:schemeClr val="folHlink"/>
              </a:buClr>
              <a:buSzPct val="60000"/>
            </a:pPr>
            <a:r>
              <a:rPr lang="en-US" altLang="zh-CN" dirty="0">
                <a:latin typeface="Times New Roman" pitchFamily="18" charset="0"/>
              </a:rPr>
              <a:t>} Node;*</a:t>
            </a:r>
            <a:r>
              <a:rPr lang="en-US" altLang="zh-CN" dirty="0" err="1">
                <a:latin typeface="Times New Roman" pitchFamily="18" charset="0"/>
              </a:rPr>
              <a:t>pNode</a:t>
            </a:r>
            <a:r>
              <a:rPr lang="en-US" altLang="zh-CN" dirty="0">
                <a:latin typeface="Times New Roman" pitchFamily="18" charset="0"/>
              </a:rPr>
              <a:t>;</a:t>
            </a:r>
          </a:p>
        </p:txBody>
      </p:sp>
      <p:sp>
        <p:nvSpPr>
          <p:cNvPr id="12" name="Rectangle 7"/>
          <p:cNvSpPr>
            <a:spLocks noChangeArrowheads="1"/>
          </p:cNvSpPr>
          <p:nvPr/>
        </p:nvSpPr>
        <p:spPr bwMode="auto">
          <a:xfrm>
            <a:off x="7215851" y="2033090"/>
            <a:ext cx="3138316" cy="16989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marL="457200" indent="-457200">
              <a:spcBef>
                <a:spcPct val="20000"/>
              </a:spcBef>
              <a:buClr>
                <a:schemeClr val="folHlink"/>
              </a:buClr>
              <a:buSzPct val="60000"/>
            </a:pPr>
            <a:r>
              <a:rPr lang="en-US" altLang="zh-CN" dirty="0" err="1">
                <a:latin typeface="Times New Roman" pitchFamily="18" charset="0"/>
              </a:rPr>
              <a:t>typedef</a:t>
            </a:r>
            <a:r>
              <a:rPr lang="en-US" altLang="zh-CN" dirty="0">
                <a:latin typeface="Times New Roman" pitchFamily="18" charset="0"/>
              </a:rPr>
              <a:t> </a:t>
            </a:r>
            <a:r>
              <a:rPr lang="en-US" altLang="zh-CN" dirty="0" err="1">
                <a:latin typeface="Times New Roman" pitchFamily="18" charset="0"/>
              </a:rPr>
              <a:t>struct</a:t>
            </a:r>
            <a:r>
              <a:rPr lang="en-US" altLang="zh-CN" dirty="0">
                <a:latin typeface="Times New Roman" pitchFamily="18" charset="0"/>
              </a:rPr>
              <a:t> </a:t>
            </a:r>
          </a:p>
          <a:p>
            <a:pPr marL="457200" indent="-457200">
              <a:spcBef>
                <a:spcPct val="20000"/>
              </a:spcBef>
              <a:buClr>
                <a:schemeClr val="folHlink"/>
              </a:buClr>
              <a:buSzPct val="60000"/>
            </a:pPr>
            <a:r>
              <a:rPr lang="en-US" altLang="zh-CN" dirty="0">
                <a:latin typeface="Times New Roman" pitchFamily="18" charset="0"/>
              </a:rPr>
              <a:t>{</a:t>
            </a:r>
          </a:p>
          <a:p>
            <a:pPr marL="457200" indent="-457200">
              <a:spcBef>
                <a:spcPct val="20000"/>
              </a:spcBef>
              <a:buClr>
                <a:schemeClr val="folHlink"/>
              </a:buClr>
              <a:buSzPct val="60000"/>
            </a:pPr>
            <a:r>
              <a:rPr lang="en-US" altLang="zh-CN" dirty="0">
                <a:latin typeface="Times New Roman" pitchFamily="18" charset="0"/>
              </a:rPr>
              <a:t>       </a:t>
            </a:r>
            <a:r>
              <a:rPr lang="en-US" altLang="zh-CN" dirty="0" err="1">
                <a:latin typeface="Times New Roman" pitchFamily="18" charset="0"/>
              </a:rPr>
              <a:t>pNode</a:t>
            </a:r>
            <a:r>
              <a:rPr lang="en-US" altLang="zh-CN" dirty="0">
                <a:latin typeface="Times New Roman" pitchFamily="18" charset="0"/>
              </a:rPr>
              <a:t> *</a:t>
            </a:r>
            <a:r>
              <a:rPr lang="en-US" altLang="zh-CN" dirty="0" err="1">
                <a:latin typeface="Times New Roman" pitchFamily="18" charset="0"/>
              </a:rPr>
              <a:t>rowhead</a:t>
            </a:r>
            <a:r>
              <a:rPr lang="en-US" altLang="zh-CN" dirty="0">
                <a:latin typeface="Times New Roman" pitchFamily="18" charset="0"/>
              </a:rPr>
              <a:t>,*</a:t>
            </a:r>
            <a:r>
              <a:rPr lang="en-US" altLang="zh-CN" dirty="0" err="1">
                <a:latin typeface="Times New Roman" pitchFamily="18" charset="0"/>
              </a:rPr>
              <a:t>colhead</a:t>
            </a:r>
            <a:r>
              <a:rPr lang="en-US" altLang="zh-CN" dirty="0">
                <a:latin typeface="Times New Roman" pitchFamily="18" charset="0"/>
              </a:rPr>
              <a:t>;</a:t>
            </a:r>
          </a:p>
          <a:p>
            <a:pPr marL="457200" indent="-457200">
              <a:spcBef>
                <a:spcPct val="20000"/>
              </a:spcBef>
              <a:buClr>
                <a:schemeClr val="folHlink"/>
              </a:buClr>
              <a:buSzPct val="60000"/>
            </a:pPr>
            <a:r>
              <a:rPr lang="en-US" altLang="zh-CN" dirty="0">
                <a:latin typeface="Times New Roman" pitchFamily="18" charset="0"/>
              </a:rPr>
              <a:t>       </a:t>
            </a:r>
            <a:r>
              <a:rPr lang="en-US" altLang="zh-CN" dirty="0" err="1">
                <a:latin typeface="Times New Roman" pitchFamily="18" charset="0"/>
              </a:rPr>
              <a:t>int</a:t>
            </a:r>
            <a:r>
              <a:rPr lang="en-US" altLang="zh-CN" dirty="0">
                <a:latin typeface="Times New Roman" pitchFamily="18" charset="0"/>
              </a:rPr>
              <a:t> </a:t>
            </a:r>
            <a:r>
              <a:rPr lang="en-US" altLang="zh-CN" dirty="0" err="1">
                <a:latin typeface="Times New Roman" pitchFamily="18" charset="0"/>
              </a:rPr>
              <a:t>mu,nu,tu</a:t>
            </a:r>
            <a:r>
              <a:rPr lang="en-US" altLang="zh-CN" dirty="0">
                <a:latin typeface="Times New Roman" pitchFamily="18" charset="0"/>
              </a:rPr>
              <a:t>;</a:t>
            </a:r>
          </a:p>
          <a:p>
            <a:pPr marL="457200" indent="-457200">
              <a:spcBef>
                <a:spcPct val="20000"/>
              </a:spcBef>
              <a:buClr>
                <a:schemeClr val="folHlink"/>
              </a:buClr>
              <a:buSzPct val="60000"/>
            </a:pPr>
            <a:r>
              <a:rPr lang="en-US" altLang="zh-CN" dirty="0">
                <a:latin typeface="Times New Roman" pitchFamily="18" charset="0"/>
              </a:rPr>
              <a:t>} </a:t>
            </a:r>
            <a:r>
              <a:rPr lang="en-US" altLang="zh-CN" dirty="0" err="1">
                <a:latin typeface="Times New Roman" pitchFamily="18" charset="0"/>
              </a:rPr>
              <a:t>CrossMatrix</a:t>
            </a:r>
            <a:r>
              <a:rPr lang="en-US" altLang="zh-CN" dirty="0">
                <a:latin typeface="Times New Roman" pitchFamily="18" charset="0"/>
              </a:rPr>
              <a:t>;</a:t>
            </a:r>
          </a:p>
        </p:txBody>
      </p:sp>
      <p:grpSp>
        <p:nvGrpSpPr>
          <p:cNvPr id="13" name="组合 12"/>
          <p:cNvGrpSpPr/>
          <p:nvPr/>
        </p:nvGrpSpPr>
        <p:grpSpPr>
          <a:xfrm>
            <a:off x="2828489" y="5272693"/>
            <a:ext cx="2076447" cy="923330"/>
            <a:chOff x="9885326" y="2434548"/>
            <a:chExt cx="1462648" cy="923330"/>
          </a:xfrm>
        </p:grpSpPr>
        <p:sp>
          <p:nvSpPr>
            <p:cNvPr id="14" name="Text Box 7"/>
            <p:cNvSpPr txBox="1">
              <a:spLocks noChangeArrowheads="1"/>
            </p:cNvSpPr>
            <p:nvPr/>
          </p:nvSpPr>
          <p:spPr bwMode="auto">
            <a:xfrm flipH="1">
              <a:off x="9885327" y="2434548"/>
              <a:ext cx="487549" cy="52322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800" dirty="0">
                  <a:latin typeface="Times New Roman" pitchFamily="18" charset="0"/>
                  <a:ea typeface="楷体_GB2312" pitchFamily="49" charset="-122"/>
                </a:rPr>
                <a:t> i</a:t>
              </a:r>
            </a:p>
          </p:txBody>
        </p:sp>
        <p:sp>
          <p:nvSpPr>
            <p:cNvPr id="15" name="Text Box 7"/>
            <p:cNvSpPr txBox="1">
              <a:spLocks noChangeArrowheads="1"/>
            </p:cNvSpPr>
            <p:nvPr/>
          </p:nvSpPr>
          <p:spPr bwMode="auto">
            <a:xfrm flipH="1">
              <a:off x="10372876" y="2434548"/>
              <a:ext cx="487549" cy="52322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800" dirty="0">
                  <a:latin typeface="Times New Roman" pitchFamily="18" charset="0"/>
                  <a:ea typeface="楷体_GB2312" pitchFamily="49" charset="-122"/>
                </a:rPr>
                <a:t> j</a:t>
              </a:r>
            </a:p>
          </p:txBody>
        </p:sp>
        <p:sp>
          <p:nvSpPr>
            <p:cNvPr id="16" name="Text Box 7"/>
            <p:cNvSpPr txBox="1">
              <a:spLocks noChangeArrowheads="1"/>
            </p:cNvSpPr>
            <p:nvPr/>
          </p:nvSpPr>
          <p:spPr bwMode="auto">
            <a:xfrm flipH="1">
              <a:off x="10860425" y="2434548"/>
              <a:ext cx="487549" cy="52322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800" dirty="0">
                  <a:latin typeface="Times New Roman" pitchFamily="18" charset="0"/>
                  <a:ea typeface="楷体_GB2312" pitchFamily="49" charset="-122"/>
                </a:rPr>
                <a:t> e</a:t>
              </a:r>
            </a:p>
          </p:txBody>
        </p:sp>
        <p:sp>
          <p:nvSpPr>
            <p:cNvPr id="17" name="Text Box 7"/>
            <p:cNvSpPr txBox="1">
              <a:spLocks noChangeArrowheads="1"/>
            </p:cNvSpPr>
            <p:nvPr/>
          </p:nvSpPr>
          <p:spPr bwMode="auto">
            <a:xfrm flipH="1">
              <a:off x="9885326" y="2957768"/>
              <a:ext cx="731323"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000" dirty="0">
                  <a:latin typeface="Times New Roman" pitchFamily="18" charset="0"/>
                  <a:ea typeface="楷体_GB2312" pitchFamily="49" charset="-122"/>
                </a:rPr>
                <a:t> down</a:t>
              </a:r>
            </a:p>
          </p:txBody>
        </p:sp>
        <p:sp>
          <p:nvSpPr>
            <p:cNvPr id="18" name="Text Box 7"/>
            <p:cNvSpPr txBox="1">
              <a:spLocks noChangeArrowheads="1"/>
            </p:cNvSpPr>
            <p:nvPr/>
          </p:nvSpPr>
          <p:spPr bwMode="auto">
            <a:xfrm flipH="1">
              <a:off x="10616651" y="2957768"/>
              <a:ext cx="731323"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000" dirty="0">
                  <a:latin typeface="Times New Roman" pitchFamily="18" charset="0"/>
                  <a:ea typeface="楷体_GB2312" pitchFamily="49" charset="-122"/>
                </a:rPr>
                <a:t> right</a:t>
              </a:r>
            </a:p>
          </p:txBody>
        </p:sp>
      </p:grpSp>
      <p:sp>
        <p:nvSpPr>
          <p:cNvPr id="20" name="Text Box 7"/>
          <p:cNvSpPr txBox="1">
            <a:spLocks noChangeArrowheads="1"/>
          </p:cNvSpPr>
          <p:nvPr/>
        </p:nvSpPr>
        <p:spPr bwMode="auto">
          <a:xfrm flipH="1">
            <a:off x="8785010" y="4317991"/>
            <a:ext cx="948137"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000" dirty="0" err="1">
                <a:latin typeface="Times New Roman" pitchFamily="18" charset="0"/>
                <a:ea typeface="楷体_GB2312" pitchFamily="49" charset="-122"/>
              </a:rPr>
              <a:t>rhead</a:t>
            </a:r>
            <a:endParaRPr kumimoji="1" lang="en-US" altLang="zh-CN" sz="2000" dirty="0">
              <a:latin typeface="Times New Roman" pitchFamily="18" charset="0"/>
              <a:ea typeface="楷体_GB2312" pitchFamily="49" charset="-122"/>
            </a:endParaRPr>
          </a:p>
        </p:txBody>
      </p:sp>
      <p:sp>
        <p:nvSpPr>
          <p:cNvPr id="7" name="Text Box 7"/>
          <p:cNvSpPr txBox="1">
            <a:spLocks noChangeArrowheads="1"/>
          </p:cNvSpPr>
          <p:nvPr/>
        </p:nvSpPr>
        <p:spPr bwMode="auto">
          <a:xfrm flipH="1">
            <a:off x="8785010" y="4718101"/>
            <a:ext cx="948137"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000" dirty="0" err="1">
                <a:latin typeface="Times New Roman" pitchFamily="18" charset="0"/>
                <a:ea typeface="楷体_GB2312" pitchFamily="49" charset="-122"/>
              </a:rPr>
              <a:t>chead</a:t>
            </a:r>
            <a:endParaRPr kumimoji="1" lang="en-US" altLang="zh-CN" sz="2000" dirty="0">
              <a:latin typeface="Times New Roman" pitchFamily="18" charset="0"/>
              <a:ea typeface="楷体_GB2312" pitchFamily="49" charset="-122"/>
            </a:endParaRPr>
          </a:p>
        </p:txBody>
      </p:sp>
      <p:sp>
        <p:nvSpPr>
          <p:cNvPr id="22" name="Text Box 7"/>
          <p:cNvSpPr txBox="1">
            <a:spLocks noChangeArrowheads="1"/>
          </p:cNvSpPr>
          <p:nvPr/>
        </p:nvSpPr>
        <p:spPr bwMode="auto">
          <a:xfrm flipH="1">
            <a:off x="8785010" y="5118211"/>
            <a:ext cx="948137"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000" dirty="0">
                <a:latin typeface="Times New Roman" pitchFamily="18" charset="0"/>
                <a:ea typeface="楷体_GB2312" pitchFamily="49" charset="-122"/>
              </a:rPr>
              <a:t>mu</a:t>
            </a:r>
          </a:p>
        </p:txBody>
      </p:sp>
      <p:sp>
        <p:nvSpPr>
          <p:cNvPr id="23" name="Text Box 7"/>
          <p:cNvSpPr txBox="1">
            <a:spLocks noChangeArrowheads="1"/>
          </p:cNvSpPr>
          <p:nvPr/>
        </p:nvSpPr>
        <p:spPr bwMode="auto">
          <a:xfrm flipH="1">
            <a:off x="8785010" y="5518321"/>
            <a:ext cx="948137"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000" dirty="0">
                <a:latin typeface="Times New Roman" pitchFamily="18" charset="0"/>
                <a:ea typeface="楷体_GB2312" pitchFamily="49" charset="-122"/>
              </a:rPr>
              <a:t>nu</a:t>
            </a:r>
          </a:p>
        </p:txBody>
      </p:sp>
      <p:sp>
        <p:nvSpPr>
          <p:cNvPr id="24" name="Text Box 7"/>
          <p:cNvSpPr txBox="1">
            <a:spLocks noChangeArrowheads="1"/>
          </p:cNvSpPr>
          <p:nvPr/>
        </p:nvSpPr>
        <p:spPr bwMode="auto">
          <a:xfrm flipH="1">
            <a:off x="8785010" y="5918431"/>
            <a:ext cx="948137"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000" dirty="0" err="1">
                <a:latin typeface="Times New Roman" pitchFamily="18" charset="0"/>
                <a:ea typeface="楷体_GB2312" pitchFamily="49" charset="-122"/>
              </a:rPr>
              <a:t>tu</a:t>
            </a:r>
            <a:endParaRPr kumimoji="1" lang="en-US" altLang="zh-CN" sz="2000" dirty="0">
              <a:latin typeface="Times New Roman" pitchFamily="18" charset="0"/>
              <a:ea typeface="楷体_GB2312" pitchFamily="49" charset="-122"/>
            </a:endParaRPr>
          </a:p>
        </p:txBody>
      </p:sp>
      <p:sp>
        <p:nvSpPr>
          <p:cNvPr id="25" name="Rectangle 2"/>
          <p:cNvSpPr>
            <a:spLocks noChangeArrowheads="1"/>
          </p:cNvSpPr>
          <p:nvPr/>
        </p:nvSpPr>
        <p:spPr bwMode="auto">
          <a:xfrm>
            <a:off x="7279383" y="3760013"/>
            <a:ext cx="210864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36000" anchor="b"/>
          <a:lstStyle/>
          <a:p>
            <a:r>
              <a:rPr kumimoji="1" lang="en-US" altLang="zh-CN" b="1" dirty="0">
                <a:latin typeface="Times New Roman" pitchFamily="18" charset="0"/>
                <a:ea typeface="楷体_GB2312" pitchFamily="49" charset="-122"/>
                <a:cs typeface="Times New Roman" pitchFamily="18" charset="0"/>
              </a:rPr>
              <a:t>M. </a:t>
            </a:r>
            <a:r>
              <a:rPr kumimoji="1" lang="en-US" altLang="zh-CN" b="1" dirty="0" err="1">
                <a:latin typeface="Times New Roman" pitchFamily="18" charset="0"/>
                <a:ea typeface="楷体_GB2312" pitchFamily="49" charset="-122"/>
                <a:cs typeface="Times New Roman" pitchFamily="18" charset="0"/>
              </a:rPr>
              <a:t>CrossMatrix</a:t>
            </a:r>
            <a:r>
              <a:rPr kumimoji="1" lang="en-US" altLang="zh-CN" b="1" dirty="0">
                <a:latin typeface="Times New Roman" pitchFamily="18" charset="0"/>
                <a:ea typeface="楷体_GB2312" pitchFamily="49" charset="-122"/>
                <a:cs typeface="Times New Roman" pitchFamily="18" charset="0"/>
              </a:rPr>
              <a:t>;</a:t>
            </a:r>
            <a:endParaRPr lang="zh-CN" altLang="en-US" dirty="0">
              <a:ea typeface="楷体_GB2312" pitchFamily="49" charset="-122"/>
              <a:cs typeface="Times New Roman" pitchFamily="18" charset="0"/>
            </a:endParaRPr>
          </a:p>
        </p:txBody>
      </p:sp>
      <p:sp>
        <p:nvSpPr>
          <p:cNvPr id="26" name="Rectangle 2"/>
          <p:cNvSpPr>
            <a:spLocks noChangeArrowheads="1"/>
          </p:cNvSpPr>
          <p:nvPr/>
        </p:nvSpPr>
        <p:spPr bwMode="auto">
          <a:xfrm>
            <a:off x="8333704" y="4307373"/>
            <a:ext cx="45130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36000" anchor="b"/>
          <a:lstStyle/>
          <a:p>
            <a:r>
              <a:rPr kumimoji="1" lang="en-US" altLang="zh-CN" b="1" dirty="0">
                <a:latin typeface="Times New Roman" pitchFamily="18" charset="0"/>
                <a:ea typeface="楷体_GB2312" pitchFamily="49" charset="-122"/>
                <a:cs typeface="Times New Roman" pitchFamily="18" charset="0"/>
              </a:rPr>
              <a:t>M</a:t>
            </a:r>
            <a:endParaRPr lang="zh-CN" altLang="en-US" dirty="0">
              <a:ea typeface="楷体_GB2312" pitchFamily="49" charset="-122"/>
              <a:cs typeface="Times New Roman" pitchFamily="18" charset="0"/>
            </a:endParaRPr>
          </a:p>
        </p:txBody>
      </p:sp>
      <p:sp>
        <p:nvSpPr>
          <p:cNvPr id="8" name="Text Box 2">
            <a:extLst>
              <a:ext uri="{FF2B5EF4-FFF2-40B4-BE49-F238E27FC236}">
                <a16:creationId xmlns:a16="http://schemas.microsoft.com/office/drawing/2014/main" id="{1DF0D39F-A55B-C581-E446-EC48C5E6CD96}"/>
              </a:ext>
            </a:extLst>
          </p:cNvPr>
          <p:cNvSpPr txBox="1">
            <a:spLocks noChangeArrowheads="1"/>
          </p:cNvSpPr>
          <p:nvPr/>
        </p:nvSpPr>
        <p:spPr bwMode="auto">
          <a:xfrm>
            <a:off x="1127448" y="1836263"/>
            <a:ext cx="5032381" cy="453842"/>
          </a:xfrm>
          <a:prstGeom prst="rect">
            <a:avLst/>
          </a:prstGeom>
          <a:noFill/>
          <a:ln w="9525">
            <a:noFill/>
            <a:miter lim="800000"/>
            <a:headEnd/>
            <a:tailEnd/>
          </a:ln>
          <a:effectLst/>
        </p:spPr>
        <p:txBody>
          <a:bodyPr wrap="square">
            <a:spAutoFit/>
          </a:bodyPr>
          <a:lstStyle/>
          <a:p>
            <a:pPr marL="457200" indent="-457200" algn="l">
              <a:lnSpc>
                <a:spcPct val="130000"/>
              </a:lnSpc>
              <a:spcBef>
                <a:spcPct val="50000"/>
              </a:spcBef>
              <a:buBlip>
                <a:blip r:embed="rId3"/>
              </a:buBlip>
            </a:pPr>
            <a:r>
              <a:rPr kumimoji="1" lang="zh-CN" altLang="en-US" sz="2000" dirty="0">
                <a:latin typeface="Consolas" pitchFamily="49" charset="0"/>
                <a:ea typeface="楷体" pitchFamily="49" charset="-122"/>
                <a:cs typeface="Consolas" pitchFamily="49" charset="0"/>
              </a:rPr>
              <a:t>每个非零元素对应一个结点。</a:t>
            </a:r>
          </a:p>
        </p:txBody>
      </p:sp>
    </p:spTree>
    <p:extLst>
      <p:ext uri="{BB962C8B-B14F-4D97-AF65-F5344CB8AC3E}">
        <p14:creationId xmlns:p14="http://schemas.microsoft.com/office/powerpoint/2010/main" val="314622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0" grpId="0" animBg="1"/>
      <p:bldP spid="7" grpId="0" animBg="1"/>
      <p:bldP spid="22" grpId="0" animBg="1"/>
      <p:bldP spid="23" grpId="0" animBg="1"/>
      <p:bldP spid="24" grpId="0" animBg="1"/>
      <p:bldP spid="25" grpId="0"/>
      <p:bldP spid="2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4"/>
          <p:cNvGrpSpPr>
            <a:grpSpLocks/>
          </p:cNvGrpSpPr>
          <p:nvPr/>
        </p:nvGrpSpPr>
        <p:grpSpPr bwMode="auto">
          <a:xfrm>
            <a:off x="2700900" y="2996953"/>
            <a:ext cx="6203413" cy="2678193"/>
            <a:chOff x="528" y="2448"/>
            <a:chExt cx="3942" cy="1721"/>
          </a:xfrm>
        </p:grpSpPr>
        <p:sp>
          <p:nvSpPr>
            <p:cNvPr id="28" name="AutoShape 5"/>
            <p:cNvSpPr>
              <a:spLocks/>
            </p:cNvSpPr>
            <p:nvPr/>
          </p:nvSpPr>
          <p:spPr bwMode="auto">
            <a:xfrm>
              <a:off x="1008" y="2496"/>
              <a:ext cx="96" cy="1584"/>
            </a:xfrm>
            <a:prstGeom prst="lef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 name="AutoShape 6"/>
            <p:cNvSpPr>
              <a:spLocks/>
            </p:cNvSpPr>
            <p:nvPr/>
          </p:nvSpPr>
          <p:spPr bwMode="auto">
            <a:xfrm>
              <a:off x="4374" y="2516"/>
              <a:ext cx="96" cy="1584"/>
            </a:xfrm>
            <a:prstGeom prst="rightBracket">
              <a:avLst>
                <a:gd name="adj"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0" name="Text Box 7"/>
            <p:cNvSpPr txBox="1">
              <a:spLocks noChangeArrowheads="1"/>
            </p:cNvSpPr>
            <p:nvPr/>
          </p:nvSpPr>
          <p:spPr bwMode="auto">
            <a:xfrm flipH="1">
              <a:off x="528" y="3120"/>
              <a:ext cx="48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pPr>
              <a:r>
                <a:rPr kumimoji="1" lang="en-US" altLang="zh-CN" sz="2800" dirty="0">
                  <a:latin typeface="Times New Roman" pitchFamily="18" charset="0"/>
                  <a:ea typeface="楷体_GB2312" pitchFamily="49" charset="-122"/>
                </a:rPr>
                <a:t>M=</a:t>
              </a:r>
            </a:p>
          </p:txBody>
        </p:sp>
        <p:sp>
          <p:nvSpPr>
            <p:cNvPr id="31" name="Text Box 8"/>
            <p:cNvSpPr txBox="1">
              <a:spLocks noChangeArrowheads="1"/>
            </p:cNvSpPr>
            <p:nvPr/>
          </p:nvSpPr>
          <p:spPr bwMode="auto">
            <a:xfrm>
              <a:off x="1104" y="2448"/>
              <a:ext cx="3312" cy="1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l" eaLnBrk="1" hangingPunct="1">
                <a:spcBef>
                  <a:spcPct val="20000"/>
                </a:spcBef>
                <a:buClr>
                  <a:schemeClr val="folHlink"/>
                </a:buClr>
                <a:buSzPct val="60000"/>
                <a:buFont typeface="Wingdings" pitchFamily="2" charset="2"/>
                <a:buNone/>
              </a:pPr>
              <a:r>
                <a:rPr kumimoji="1" lang="zh-CN" altLang="en-US" sz="2000" dirty="0">
                  <a:latin typeface="楷体_GB2312" pitchFamily="49" charset="-122"/>
                  <a:ea typeface="楷体_GB2312" pitchFamily="49" charset="-122"/>
                </a:rPr>
                <a:t> </a:t>
              </a:r>
              <a:r>
                <a:rPr kumimoji="1" lang="en-US" altLang="zh-CN" sz="2400" b="1" dirty="0">
                  <a:latin typeface="宋体" pitchFamily="2" charset="-122"/>
                </a:rPr>
                <a:t>0   </a:t>
              </a:r>
              <a:r>
                <a:rPr kumimoji="1" lang="en-US" altLang="zh-CN" sz="2400" b="1" dirty="0">
                  <a:solidFill>
                    <a:srgbClr val="FF0000"/>
                  </a:solidFill>
                  <a:latin typeface="宋体" pitchFamily="2" charset="-122"/>
                </a:rPr>
                <a:t>12</a:t>
              </a:r>
              <a:r>
                <a:rPr kumimoji="1" lang="en-US" altLang="zh-CN" sz="2400" b="1" dirty="0">
                  <a:latin typeface="宋体" pitchFamily="2" charset="-122"/>
                </a:rPr>
                <a:t>    </a:t>
              </a:r>
              <a:r>
                <a:rPr kumimoji="1" lang="en-US" altLang="zh-CN" sz="2400" b="1" dirty="0">
                  <a:solidFill>
                    <a:srgbClr val="FF0000"/>
                  </a:solidFill>
                  <a:latin typeface="宋体" pitchFamily="2" charset="-122"/>
                </a:rPr>
                <a:t>9 </a:t>
              </a:r>
              <a:r>
                <a:rPr kumimoji="1" lang="en-US" altLang="zh-CN" sz="2400" b="1" dirty="0">
                  <a:latin typeface="宋体" pitchFamily="2" charset="-122"/>
                </a:rPr>
                <a:t>   0    0    0    0 </a:t>
              </a:r>
            </a:p>
            <a:p>
              <a:pPr algn="l" eaLnBrk="1" hangingPunct="1">
                <a:spcBef>
                  <a:spcPct val="20000"/>
                </a:spcBef>
                <a:buClr>
                  <a:schemeClr val="folHlink"/>
                </a:buClr>
                <a:buSzPct val="60000"/>
                <a:buFont typeface="Wingdings" pitchFamily="2" charset="2"/>
                <a:buNone/>
              </a:pPr>
              <a:r>
                <a:rPr kumimoji="1" lang="en-US" altLang="zh-CN" sz="2400" b="1" dirty="0">
                  <a:latin typeface="宋体" pitchFamily="2" charset="-122"/>
                </a:rPr>
                <a:t> 0    0    0    0    0    0    0</a:t>
              </a:r>
            </a:p>
            <a:p>
              <a:pPr algn="l" eaLnBrk="1" hangingPunct="1">
                <a:spcBef>
                  <a:spcPct val="20000"/>
                </a:spcBef>
                <a:buClr>
                  <a:schemeClr val="folHlink"/>
                </a:buClr>
                <a:buSzPct val="60000"/>
                <a:buFont typeface="Wingdings" pitchFamily="2" charset="2"/>
                <a:buNone/>
              </a:pPr>
              <a:r>
                <a:rPr kumimoji="1" lang="en-US" altLang="zh-CN" sz="2400" b="1" dirty="0">
                  <a:solidFill>
                    <a:srgbClr val="FF0000"/>
                  </a:solidFill>
                  <a:latin typeface="宋体" pitchFamily="2" charset="-122"/>
                </a:rPr>
                <a:t>-3</a:t>
              </a:r>
              <a:r>
                <a:rPr kumimoji="1" lang="en-US" altLang="zh-CN" sz="2400" b="1" dirty="0">
                  <a:latin typeface="宋体" pitchFamily="2" charset="-122"/>
                </a:rPr>
                <a:t>    0    0    0    0   </a:t>
              </a:r>
              <a:r>
                <a:rPr kumimoji="1" lang="en-US" altLang="zh-CN" sz="2400" b="1" dirty="0">
                  <a:solidFill>
                    <a:srgbClr val="FF0000"/>
                  </a:solidFill>
                  <a:latin typeface="宋体" pitchFamily="2" charset="-122"/>
                </a:rPr>
                <a:t>14</a:t>
              </a:r>
              <a:r>
                <a:rPr kumimoji="1" lang="en-US" altLang="zh-CN" sz="2400" b="1" dirty="0">
                  <a:latin typeface="宋体" pitchFamily="2" charset="-122"/>
                </a:rPr>
                <a:t>    0</a:t>
              </a:r>
            </a:p>
            <a:p>
              <a:pPr algn="l" eaLnBrk="1" hangingPunct="1">
                <a:spcBef>
                  <a:spcPct val="20000"/>
                </a:spcBef>
                <a:buClr>
                  <a:schemeClr val="folHlink"/>
                </a:buClr>
                <a:buSzPct val="60000"/>
                <a:buFont typeface="Wingdings" pitchFamily="2" charset="2"/>
                <a:buNone/>
              </a:pPr>
              <a:r>
                <a:rPr kumimoji="1" lang="en-US" altLang="zh-CN" sz="2400" b="1" dirty="0">
                  <a:latin typeface="宋体" pitchFamily="2" charset="-122"/>
                </a:rPr>
                <a:t> 0    0   </a:t>
              </a:r>
              <a:r>
                <a:rPr kumimoji="1" lang="en-US" altLang="zh-CN" sz="2400" b="1" dirty="0">
                  <a:solidFill>
                    <a:srgbClr val="FF0000"/>
                  </a:solidFill>
                  <a:latin typeface="宋体" pitchFamily="2" charset="-122"/>
                </a:rPr>
                <a:t>24</a:t>
              </a:r>
              <a:r>
                <a:rPr kumimoji="1" lang="en-US" altLang="zh-CN" sz="2400" b="1" dirty="0">
                  <a:latin typeface="宋体" pitchFamily="2" charset="-122"/>
                </a:rPr>
                <a:t>    0    0    0    0</a:t>
              </a:r>
            </a:p>
            <a:p>
              <a:pPr algn="l" eaLnBrk="1" hangingPunct="1">
                <a:spcBef>
                  <a:spcPct val="20000"/>
                </a:spcBef>
                <a:buClr>
                  <a:schemeClr val="folHlink"/>
                </a:buClr>
                <a:buSzPct val="60000"/>
                <a:buFont typeface="Wingdings" pitchFamily="2" charset="2"/>
                <a:buNone/>
              </a:pPr>
              <a:r>
                <a:rPr kumimoji="1" lang="en-US" altLang="zh-CN" sz="2400" b="1" dirty="0">
                  <a:latin typeface="宋体" pitchFamily="2" charset="-122"/>
                </a:rPr>
                <a:t> 0   </a:t>
              </a:r>
              <a:r>
                <a:rPr kumimoji="1" lang="en-US" altLang="zh-CN" sz="2400" b="1" dirty="0">
                  <a:solidFill>
                    <a:srgbClr val="FF0000"/>
                  </a:solidFill>
                  <a:latin typeface="宋体" pitchFamily="2" charset="-122"/>
                </a:rPr>
                <a:t>18</a:t>
              </a:r>
              <a:r>
                <a:rPr kumimoji="1" lang="en-US" altLang="zh-CN" sz="2400" b="1" dirty="0">
                  <a:latin typeface="宋体" pitchFamily="2" charset="-122"/>
                </a:rPr>
                <a:t>    0    0    0    0    0</a:t>
              </a:r>
            </a:p>
            <a:p>
              <a:pPr algn="l" eaLnBrk="1" hangingPunct="1">
                <a:spcBef>
                  <a:spcPct val="20000"/>
                </a:spcBef>
                <a:buClr>
                  <a:schemeClr val="folHlink"/>
                </a:buClr>
                <a:buSzPct val="60000"/>
                <a:buFont typeface="Wingdings" pitchFamily="2" charset="2"/>
                <a:buNone/>
              </a:pPr>
              <a:r>
                <a:rPr kumimoji="1" lang="en-US" altLang="zh-CN" sz="2400" b="1" dirty="0">
                  <a:solidFill>
                    <a:srgbClr val="FF0000"/>
                  </a:solidFill>
                  <a:latin typeface="宋体" pitchFamily="2" charset="-122"/>
                </a:rPr>
                <a:t>15 </a:t>
              </a:r>
              <a:r>
                <a:rPr kumimoji="1" lang="en-US" altLang="zh-CN" sz="2400" b="1" dirty="0">
                  <a:latin typeface="宋体" pitchFamily="2" charset="-122"/>
                </a:rPr>
                <a:t>   0    0   </a:t>
              </a:r>
              <a:r>
                <a:rPr kumimoji="1" lang="en-US" altLang="zh-CN" sz="2400" b="1" dirty="0">
                  <a:solidFill>
                    <a:srgbClr val="FF0000"/>
                  </a:solidFill>
                  <a:latin typeface="宋体" pitchFamily="2" charset="-122"/>
                </a:rPr>
                <a:t>–7</a:t>
              </a:r>
              <a:r>
                <a:rPr kumimoji="1" lang="en-US" altLang="zh-CN" sz="2400" b="1" dirty="0">
                  <a:latin typeface="宋体" pitchFamily="2" charset="-122"/>
                </a:rPr>
                <a:t>   0    0    0</a:t>
              </a:r>
            </a:p>
          </p:txBody>
        </p:sp>
      </p:grpSp>
      <p:sp>
        <p:nvSpPr>
          <p:cNvPr id="2" name="Rectangle 2">
            <a:extLst>
              <a:ext uri="{FF2B5EF4-FFF2-40B4-BE49-F238E27FC236}">
                <a16:creationId xmlns:a16="http://schemas.microsoft.com/office/drawing/2014/main" id="{ADCCF79C-6C74-9B29-7FFA-3C5D4CC20566}"/>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15A446ED-608C-CAC6-5724-1ACBEE1A4E39}"/>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00E9B4BB-57BB-2553-4F53-DD56EE3554E2}"/>
              </a:ext>
            </a:extLst>
          </p:cNvPr>
          <p:cNvSpPr txBox="1">
            <a:spLocks noChangeArrowheads="1"/>
          </p:cNvSpPr>
          <p:nvPr/>
        </p:nvSpPr>
        <p:spPr>
          <a:xfrm>
            <a:off x="191344" y="1106736"/>
            <a:ext cx="52565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6.2.2 </a:t>
            </a:r>
            <a:r>
              <a:rPr lang="zh-CN" altLang="en-US" sz="2800" b="1" dirty="0">
                <a:solidFill>
                  <a:schemeClr val="bg1"/>
                </a:solidFill>
                <a:latin typeface="经典粗黑简" pitchFamily="49" charset="-122"/>
                <a:ea typeface="经典粗黑简" pitchFamily="49" charset="-122"/>
                <a:cs typeface="经典粗黑简" pitchFamily="49" charset="-122"/>
              </a:rPr>
              <a:t>稀疏矩阵的十字链表表示</a:t>
            </a:r>
          </a:p>
        </p:txBody>
      </p:sp>
      <p:sp>
        <p:nvSpPr>
          <p:cNvPr id="5" name="Text Box 2">
            <a:extLst>
              <a:ext uri="{FF2B5EF4-FFF2-40B4-BE49-F238E27FC236}">
                <a16:creationId xmlns:a16="http://schemas.microsoft.com/office/drawing/2014/main" id="{2575D8B8-D225-781F-7CD7-6D7F68F6009B}"/>
              </a:ext>
            </a:extLst>
          </p:cNvPr>
          <p:cNvSpPr txBox="1">
            <a:spLocks noChangeArrowheads="1"/>
          </p:cNvSpPr>
          <p:nvPr/>
        </p:nvSpPr>
        <p:spPr bwMode="auto">
          <a:xfrm>
            <a:off x="1127448" y="1836263"/>
            <a:ext cx="5032381" cy="453842"/>
          </a:xfrm>
          <a:prstGeom prst="rect">
            <a:avLst/>
          </a:prstGeom>
          <a:noFill/>
          <a:ln w="9525">
            <a:noFill/>
            <a:miter lim="800000"/>
            <a:headEnd/>
            <a:tailEnd/>
          </a:ln>
          <a:effectLst/>
        </p:spPr>
        <p:txBody>
          <a:bodyPr wrap="square">
            <a:spAutoFit/>
          </a:bodyPr>
          <a:lstStyle/>
          <a:p>
            <a:pPr marL="457200" indent="-457200" algn="l">
              <a:lnSpc>
                <a:spcPct val="130000"/>
              </a:lnSpc>
              <a:spcBef>
                <a:spcPct val="50000"/>
              </a:spcBef>
              <a:buBlip>
                <a:blip r:embed="rId3"/>
              </a:buBlip>
            </a:pPr>
            <a:r>
              <a:rPr kumimoji="1" lang="zh-CN" altLang="en-US" sz="2000" dirty="0">
                <a:latin typeface="Consolas" pitchFamily="49" charset="0"/>
                <a:ea typeface="楷体" pitchFamily="49" charset="-122"/>
                <a:cs typeface="Consolas" pitchFamily="49" charset="0"/>
              </a:rPr>
              <a:t>每个非零元素对应一个结点。</a:t>
            </a:r>
          </a:p>
        </p:txBody>
      </p:sp>
    </p:spTree>
    <p:extLst>
      <p:ext uri="{BB962C8B-B14F-4D97-AF65-F5344CB8AC3E}">
        <p14:creationId xmlns:p14="http://schemas.microsoft.com/office/powerpoint/2010/main" val="11638394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413400" y="2792204"/>
            <a:ext cx="7075089" cy="3691386"/>
            <a:chOff x="2474148" y="2816582"/>
            <a:chExt cx="7876574" cy="3691386"/>
          </a:xfrm>
        </p:grpSpPr>
        <p:grpSp>
          <p:nvGrpSpPr>
            <p:cNvPr id="12" name="组合 11"/>
            <p:cNvGrpSpPr/>
            <p:nvPr/>
          </p:nvGrpSpPr>
          <p:grpSpPr>
            <a:xfrm>
              <a:off x="4357126" y="3347466"/>
              <a:ext cx="1045654" cy="553998"/>
              <a:chOff x="3884572" y="3035440"/>
              <a:chExt cx="1045654" cy="553998"/>
            </a:xfrm>
          </p:grpSpPr>
          <p:sp>
            <p:nvSpPr>
              <p:cNvPr id="84" name="Text Box 7"/>
              <p:cNvSpPr txBox="1">
                <a:spLocks noChangeArrowheads="1"/>
              </p:cNvSpPr>
              <p:nvPr/>
            </p:nvSpPr>
            <p:spPr bwMode="auto">
              <a:xfrm flipH="1">
                <a:off x="3884574" y="3035440"/>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1</a:t>
                </a:r>
              </a:p>
            </p:txBody>
          </p:sp>
          <p:sp>
            <p:nvSpPr>
              <p:cNvPr id="85" name="Text Box 7"/>
              <p:cNvSpPr txBox="1">
                <a:spLocks noChangeArrowheads="1"/>
              </p:cNvSpPr>
              <p:nvPr/>
            </p:nvSpPr>
            <p:spPr bwMode="auto">
              <a:xfrm flipH="1">
                <a:off x="4232938" y="3035440"/>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2</a:t>
                </a:r>
              </a:p>
            </p:txBody>
          </p:sp>
          <p:sp>
            <p:nvSpPr>
              <p:cNvPr id="86" name="Text Box 7"/>
              <p:cNvSpPr txBox="1">
                <a:spLocks noChangeArrowheads="1"/>
              </p:cNvSpPr>
              <p:nvPr/>
            </p:nvSpPr>
            <p:spPr bwMode="auto">
              <a:xfrm flipH="1">
                <a:off x="4581302" y="3035440"/>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12</a:t>
                </a:r>
              </a:p>
            </p:txBody>
          </p:sp>
          <p:sp>
            <p:nvSpPr>
              <p:cNvPr id="87" name="Text Box 7"/>
              <p:cNvSpPr txBox="1">
                <a:spLocks noChangeArrowheads="1"/>
              </p:cNvSpPr>
              <p:nvPr/>
            </p:nvSpPr>
            <p:spPr bwMode="auto">
              <a:xfrm flipH="1">
                <a:off x="3884572" y="3308419"/>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endParaRPr kumimoji="1" lang="en-US" altLang="zh-CN" dirty="0">
                  <a:latin typeface="Times New Roman" pitchFamily="18" charset="0"/>
                  <a:ea typeface="楷体_GB2312" pitchFamily="49" charset="-122"/>
                </a:endParaRPr>
              </a:p>
            </p:txBody>
          </p:sp>
          <p:sp>
            <p:nvSpPr>
              <p:cNvPr id="88" name="Text Box 7"/>
              <p:cNvSpPr txBox="1">
                <a:spLocks noChangeArrowheads="1"/>
              </p:cNvSpPr>
              <p:nvPr/>
            </p:nvSpPr>
            <p:spPr bwMode="auto">
              <a:xfrm flipH="1">
                <a:off x="4407678" y="3312439"/>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endParaRPr kumimoji="1" lang="en-US" altLang="zh-CN" dirty="0">
                  <a:latin typeface="Times New Roman" pitchFamily="18" charset="0"/>
                  <a:ea typeface="楷体_GB2312" pitchFamily="49" charset="-122"/>
                </a:endParaRPr>
              </a:p>
            </p:txBody>
          </p:sp>
        </p:grpSp>
        <p:sp>
          <p:nvSpPr>
            <p:cNvPr id="13" name="Text Box 7"/>
            <p:cNvSpPr txBox="1">
              <a:spLocks noChangeArrowheads="1"/>
            </p:cNvSpPr>
            <p:nvPr/>
          </p:nvSpPr>
          <p:spPr bwMode="auto">
            <a:xfrm flipH="1">
              <a:off x="3390667" y="2816582"/>
              <a:ext cx="992857"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endParaRPr kumimoji="1" lang="en-US" altLang="zh-CN" dirty="0">
                <a:latin typeface="Times New Roman" pitchFamily="18" charset="0"/>
                <a:ea typeface="楷体_GB2312" pitchFamily="49" charset="-122"/>
              </a:endParaRPr>
            </a:p>
          </p:txBody>
        </p:sp>
        <p:sp>
          <p:nvSpPr>
            <p:cNvPr id="14" name="Text Box 7"/>
            <p:cNvSpPr txBox="1">
              <a:spLocks noChangeArrowheads="1"/>
            </p:cNvSpPr>
            <p:nvPr/>
          </p:nvSpPr>
          <p:spPr bwMode="auto">
            <a:xfrm flipH="1">
              <a:off x="4383525" y="2816582"/>
              <a:ext cx="992857"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endParaRPr kumimoji="1" lang="en-US" altLang="zh-CN" dirty="0">
                <a:latin typeface="Times New Roman" pitchFamily="18" charset="0"/>
                <a:ea typeface="楷体_GB2312" pitchFamily="49" charset="-122"/>
              </a:endParaRPr>
            </a:p>
          </p:txBody>
        </p:sp>
        <p:sp>
          <p:nvSpPr>
            <p:cNvPr id="15" name="Text Box 7"/>
            <p:cNvSpPr txBox="1">
              <a:spLocks noChangeArrowheads="1"/>
            </p:cNvSpPr>
            <p:nvPr/>
          </p:nvSpPr>
          <p:spPr bwMode="auto">
            <a:xfrm flipH="1">
              <a:off x="5376382" y="2816582"/>
              <a:ext cx="992857"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endParaRPr kumimoji="1" lang="en-US" altLang="zh-CN" dirty="0">
                <a:latin typeface="Times New Roman" pitchFamily="18" charset="0"/>
                <a:ea typeface="楷体_GB2312" pitchFamily="49" charset="-122"/>
              </a:endParaRPr>
            </a:p>
          </p:txBody>
        </p:sp>
        <p:sp>
          <p:nvSpPr>
            <p:cNvPr id="16" name="Text Box 7"/>
            <p:cNvSpPr txBox="1">
              <a:spLocks noChangeArrowheads="1"/>
            </p:cNvSpPr>
            <p:nvPr/>
          </p:nvSpPr>
          <p:spPr bwMode="auto">
            <a:xfrm flipH="1">
              <a:off x="6379294" y="2816582"/>
              <a:ext cx="992857"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endParaRPr kumimoji="1" lang="en-US" altLang="zh-CN" dirty="0">
                <a:latin typeface="Times New Roman" pitchFamily="18" charset="0"/>
                <a:ea typeface="楷体_GB2312" pitchFamily="49" charset="-122"/>
              </a:endParaRPr>
            </a:p>
          </p:txBody>
        </p:sp>
        <p:sp>
          <p:nvSpPr>
            <p:cNvPr id="17" name="Text Box 7"/>
            <p:cNvSpPr txBox="1">
              <a:spLocks noChangeArrowheads="1"/>
            </p:cNvSpPr>
            <p:nvPr/>
          </p:nvSpPr>
          <p:spPr bwMode="auto">
            <a:xfrm flipH="1">
              <a:off x="7372151" y="2816582"/>
              <a:ext cx="992857"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b="1" dirty="0">
                  <a:latin typeface="Times New Roman" pitchFamily="18" charset="0"/>
                  <a:ea typeface="楷体_GB2312" pitchFamily="49" charset="-122"/>
                </a:rPr>
                <a:t>^</a:t>
              </a:r>
              <a:endParaRPr kumimoji="1" lang="zh-CN" altLang="en-US" b="1" dirty="0">
                <a:latin typeface="Times New Roman" pitchFamily="18" charset="0"/>
                <a:ea typeface="楷体_GB2312" pitchFamily="49" charset="-122"/>
              </a:endParaRPr>
            </a:p>
          </p:txBody>
        </p:sp>
        <p:sp>
          <p:nvSpPr>
            <p:cNvPr id="18" name="Text Box 7"/>
            <p:cNvSpPr txBox="1">
              <a:spLocks noChangeArrowheads="1"/>
            </p:cNvSpPr>
            <p:nvPr/>
          </p:nvSpPr>
          <p:spPr bwMode="auto">
            <a:xfrm flipH="1">
              <a:off x="8365008" y="2816582"/>
              <a:ext cx="992857"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endParaRPr kumimoji="1" lang="en-US" altLang="zh-CN" dirty="0">
                <a:latin typeface="Times New Roman" pitchFamily="18" charset="0"/>
                <a:ea typeface="楷体_GB2312" pitchFamily="49" charset="-122"/>
              </a:endParaRPr>
            </a:p>
          </p:txBody>
        </p:sp>
        <p:sp>
          <p:nvSpPr>
            <p:cNvPr id="19" name="Text Box 7"/>
            <p:cNvSpPr txBox="1">
              <a:spLocks noChangeArrowheads="1"/>
            </p:cNvSpPr>
            <p:nvPr/>
          </p:nvSpPr>
          <p:spPr bwMode="auto">
            <a:xfrm flipH="1">
              <a:off x="9357865" y="2816582"/>
              <a:ext cx="992857"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b="1" dirty="0">
                  <a:latin typeface="Times New Roman" pitchFamily="18" charset="0"/>
                  <a:ea typeface="楷体_GB2312" pitchFamily="49" charset="-122"/>
                </a:rPr>
                <a:t>^</a:t>
              </a:r>
              <a:endParaRPr kumimoji="1" lang="zh-CN" altLang="en-US" b="1" dirty="0">
                <a:latin typeface="Times New Roman" pitchFamily="18" charset="0"/>
                <a:ea typeface="楷体_GB2312" pitchFamily="49" charset="-122"/>
              </a:endParaRPr>
            </a:p>
          </p:txBody>
        </p:sp>
        <p:sp>
          <p:nvSpPr>
            <p:cNvPr id="20" name="Text Box 7"/>
            <p:cNvSpPr txBox="1">
              <a:spLocks noChangeArrowheads="1"/>
            </p:cNvSpPr>
            <p:nvPr/>
          </p:nvSpPr>
          <p:spPr bwMode="auto">
            <a:xfrm flipH="1">
              <a:off x="5637288" y="3347466"/>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1</a:t>
              </a:r>
            </a:p>
          </p:txBody>
        </p:sp>
        <p:sp>
          <p:nvSpPr>
            <p:cNvPr id="21" name="Text Box 7"/>
            <p:cNvSpPr txBox="1">
              <a:spLocks noChangeArrowheads="1"/>
            </p:cNvSpPr>
            <p:nvPr/>
          </p:nvSpPr>
          <p:spPr bwMode="auto">
            <a:xfrm flipH="1">
              <a:off x="5985652" y="3347466"/>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3</a:t>
              </a:r>
            </a:p>
          </p:txBody>
        </p:sp>
        <p:sp>
          <p:nvSpPr>
            <p:cNvPr id="22" name="Text Box 7"/>
            <p:cNvSpPr txBox="1">
              <a:spLocks noChangeArrowheads="1"/>
            </p:cNvSpPr>
            <p:nvPr/>
          </p:nvSpPr>
          <p:spPr bwMode="auto">
            <a:xfrm flipH="1">
              <a:off x="6334016" y="3347466"/>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9</a:t>
              </a:r>
            </a:p>
          </p:txBody>
        </p:sp>
        <p:sp>
          <p:nvSpPr>
            <p:cNvPr id="23" name="Text Box 7"/>
            <p:cNvSpPr txBox="1">
              <a:spLocks noChangeArrowheads="1"/>
            </p:cNvSpPr>
            <p:nvPr/>
          </p:nvSpPr>
          <p:spPr bwMode="auto">
            <a:xfrm flipH="1">
              <a:off x="5637286" y="3620445"/>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endParaRPr kumimoji="1" lang="en-US" altLang="zh-CN" dirty="0">
                <a:latin typeface="Times New Roman" pitchFamily="18" charset="0"/>
                <a:ea typeface="楷体_GB2312" pitchFamily="49" charset="-122"/>
              </a:endParaRPr>
            </a:p>
          </p:txBody>
        </p:sp>
        <p:sp>
          <p:nvSpPr>
            <p:cNvPr id="24" name="Text Box 7"/>
            <p:cNvSpPr txBox="1">
              <a:spLocks noChangeArrowheads="1"/>
            </p:cNvSpPr>
            <p:nvPr/>
          </p:nvSpPr>
          <p:spPr bwMode="auto">
            <a:xfrm flipH="1">
              <a:off x="6160392" y="3624465"/>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b="1" dirty="0">
                  <a:latin typeface="Times New Roman" pitchFamily="18" charset="0"/>
                  <a:ea typeface="楷体_GB2312" pitchFamily="49" charset="-122"/>
                </a:rPr>
                <a:t>^</a:t>
              </a:r>
              <a:endParaRPr kumimoji="1" lang="zh-CN" altLang="en-US" b="1" dirty="0">
                <a:latin typeface="Times New Roman" pitchFamily="18" charset="0"/>
                <a:ea typeface="楷体_GB2312" pitchFamily="49" charset="-122"/>
              </a:endParaRPr>
            </a:p>
          </p:txBody>
        </p:sp>
        <p:sp>
          <p:nvSpPr>
            <p:cNvPr id="25" name="Rectangle 2"/>
            <p:cNvSpPr>
              <a:spLocks noChangeArrowheads="1"/>
            </p:cNvSpPr>
            <p:nvPr/>
          </p:nvSpPr>
          <p:spPr bwMode="auto">
            <a:xfrm>
              <a:off x="2474148" y="3347467"/>
              <a:ext cx="451305" cy="5212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36000" bIns="36000" anchor="b"/>
            <a:lstStyle/>
            <a:p>
              <a:endParaRPr lang="zh-CN" altLang="en-US" dirty="0">
                <a:ea typeface="楷体_GB2312" pitchFamily="49" charset="-122"/>
                <a:cs typeface="Times New Roman" pitchFamily="18" charset="0"/>
              </a:endParaRPr>
            </a:p>
          </p:txBody>
        </p:sp>
        <p:sp>
          <p:nvSpPr>
            <p:cNvPr id="26" name="Rectangle 2"/>
            <p:cNvSpPr>
              <a:spLocks noChangeArrowheads="1"/>
            </p:cNvSpPr>
            <p:nvPr/>
          </p:nvSpPr>
          <p:spPr bwMode="auto">
            <a:xfrm>
              <a:off x="2474148" y="3868732"/>
              <a:ext cx="451305" cy="5212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36000" bIns="36000" anchor="b"/>
            <a:lstStyle/>
            <a:p>
              <a:pPr algn="ctr">
                <a:spcBef>
                  <a:spcPct val="20000"/>
                </a:spcBef>
              </a:pPr>
              <a:r>
                <a:rPr kumimoji="1" lang="en-US" altLang="zh-CN" sz="2400" b="1" dirty="0">
                  <a:latin typeface="Times New Roman" pitchFamily="18" charset="0"/>
                  <a:ea typeface="楷体_GB2312" pitchFamily="49" charset="-122"/>
                </a:rPr>
                <a:t>^</a:t>
              </a:r>
              <a:endParaRPr kumimoji="1" lang="zh-CN" altLang="en-US" sz="2400" b="1" dirty="0">
                <a:latin typeface="Times New Roman" pitchFamily="18" charset="0"/>
                <a:ea typeface="楷体_GB2312" pitchFamily="49" charset="-122"/>
              </a:endParaRPr>
            </a:p>
          </p:txBody>
        </p:sp>
        <p:sp>
          <p:nvSpPr>
            <p:cNvPr id="32" name="Rectangle 2"/>
            <p:cNvSpPr>
              <a:spLocks noChangeArrowheads="1"/>
            </p:cNvSpPr>
            <p:nvPr/>
          </p:nvSpPr>
          <p:spPr bwMode="auto">
            <a:xfrm>
              <a:off x="2474148" y="4389996"/>
              <a:ext cx="451305" cy="5212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36000" bIns="36000" anchor="b"/>
            <a:lstStyle/>
            <a:p>
              <a:endParaRPr lang="zh-CN" altLang="en-US" dirty="0">
                <a:ea typeface="楷体_GB2312" pitchFamily="49" charset="-122"/>
                <a:cs typeface="Times New Roman" pitchFamily="18" charset="0"/>
              </a:endParaRPr>
            </a:p>
          </p:txBody>
        </p:sp>
        <p:sp>
          <p:nvSpPr>
            <p:cNvPr id="33" name="Rectangle 2"/>
            <p:cNvSpPr>
              <a:spLocks noChangeArrowheads="1"/>
            </p:cNvSpPr>
            <p:nvPr/>
          </p:nvSpPr>
          <p:spPr bwMode="auto">
            <a:xfrm>
              <a:off x="2474148" y="4914410"/>
              <a:ext cx="451305" cy="5212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36000" bIns="36000" anchor="b"/>
            <a:lstStyle/>
            <a:p>
              <a:endParaRPr lang="zh-CN" altLang="en-US" dirty="0">
                <a:ea typeface="楷体_GB2312" pitchFamily="49" charset="-122"/>
                <a:cs typeface="Times New Roman" pitchFamily="18" charset="0"/>
              </a:endParaRPr>
            </a:p>
          </p:txBody>
        </p:sp>
        <p:sp>
          <p:nvSpPr>
            <p:cNvPr id="34" name="Rectangle 2"/>
            <p:cNvSpPr>
              <a:spLocks noChangeArrowheads="1"/>
            </p:cNvSpPr>
            <p:nvPr/>
          </p:nvSpPr>
          <p:spPr bwMode="auto">
            <a:xfrm>
              <a:off x="2474148" y="5444384"/>
              <a:ext cx="451305" cy="5212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36000" bIns="36000" anchor="b"/>
            <a:lstStyle/>
            <a:p>
              <a:endParaRPr lang="zh-CN" altLang="en-US" dirty="0">
                <a:ea typeface="楷体_GB2312" pitchFamily="49" charset="-122"/>
                <a:cs typeface="Times New Roman" pitchFamily="18" charset="0"/>
              </a:endParaRPr>
            </a:p>
          </p:txBody>
        </p:sp>
        <p:sp>
          <p:nvSpPr>
            <p:cNvPr id="35" name="Rectangle 2"/>
            <p:cNvSpPr>
              <a:spLocks noChangeArrowheads="1"/>
            </p:cNvSpPr>
            <p:nvPr/>
          </p:nvSpPr>
          <p:spPr bwMode="auto">
            <a:xfrm>
              <a:off x="2474148" y="5965648"/>
              <a:ext cx="451305" cy="5212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tIns="36000" bIns="36000" anchor="b"/>
            <a:lstStyle/>
            <a:p>
              <a:endParaRPr lang="zh-CN" altLang="en-US" dirty="0">
                <a:ea typeface="楷体_GB2312" pitchFamily="49" charset="-122"/>
                <a:cs typeface="Times New Roman" pitchFamily="18" charset="0"/>
              </a:endParaRPr>
            </a:p>
          </p:txBody>
        </p:sp>
        <p:grpSp>
          <p:nvGrpSpPr>
            <p:cNvPr id="36" name="组合 35"/>
            <p:cNvGrpSpPr/>
            <p:nvPr/>
          </p:nvGrpSpPr>
          <p:grpSpPr>
            <a:xfrm>
              <a:off x="3233720" y="4357263"/>
              <a:ext cx="1045654" cy="553998"/>
              <a:chOff x="3884572" y="3035440"/>
              <a:chExt cx="1045654" cy="553998"/>
            </a:xfrm>
          </p:grpSpPr>
          <p:sp>
            <p:nvSpPr>
              <p:cNvPr id="79" name="Text Box 7"/>
              <p:cNvSpPr txBox="1">
                <a:spLocks noChangeArrowheads="1"/>
              </p:cNvSpPr>
              <p:nvPr/>
            </p:nvSpPr>
            <p:spPr bwMode="auto">
              <a:xfrm flipH="1">
                <a:off x="3884574" y="3035440"/>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3</a:t>
                </a:r>
              </a:p>
            </p:txBody>
          </p:sp>
          <p:sp>
            <p:nvSpPr>
              <p:cNvPr id="80" name="Text Box 7"/>
              <p:cNvSpPr txBox="1">
                <a:spLocks noChangeArrowheads="1"/>
              </p:cNvSpPr>
              <p:nvPr/>
            </p:nvSpPr>
            <p:spPr bwMode="auto">
              <a:xfrm flipH="1">
                <a:off x="4232938" y="3035440"/>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1</a:t>
                </a:r>
              </a:p>
            </p:txBody>
          </p:sp>
          <p:sp>
            <p:nvSpPr>
              <p:cNvPr id="81" name="Text Box 7"/>
              <p:cNvSpPr txBox="1">
                <a:spLocks noChangeArrowheads="1"/>
              </p:cNvSpPr>
              <p:nvPr/>
            </p:nvSpPr>
            <p:spPr bwMode="auto">
              <a:xfrm flipH="1">
                <a:off x="4581302" y="3035440"/>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-3</a:t>
                </a:r>
              </a:p>
            </p:txBody>
          </p:sp>
          <p:sp>
            <p:nvSpPr>
              <p:cNvPr id="82" name="Text Box 7"/>
              <p:cNvSpPr txBox="1">
                <a:spLocks noChangeArrowheads="1"/>
              </p:cNvSpPr>
              <p:nvPr/>
            </p:nvSpPr>
            <p:spPr bwMode="auto">
              <a:xfrm flipH="1">
                <a:off x="3884572" y="3308419"/>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endParaRPr kumimoji="1" lang="en-US" altLang="zh-CN" dirty="0">
                  <a:latin typeface="Times New Roman" pitchFamily="18" charset="0"/>
                  <a:ea typeface="楷体_GB2312" pitchFamily="49" charset="-122"/>
                </a:endParaRPr>
              </a:p>
            </p:txBody>
          </p:sp>
          <p:sp>
            <p:nvSpPr>
              <p:cNvPr id="83" name="Text Box 7"/>
              <p:cNvSpPr txBox="1">
                <a:spLocks noChangeArrowheads="1"/>
              </p:cNvSpPr>
              <p:nvPr/>
            </p:nvSpPr>
            <p:spPr bwMode="auto">
              <a:xfrm flipH="1">
                <a:off x="4407678" y="3312439"/>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endParaRPr kumimoji="1" lang="en-US" altLang="zh-CN" dirty="0">
                  <a:latin typeface="Times New Roman" pitchFamily="18" charset="0"/>
                  <a:ea typeface="楷体_GB2312" pitchFamily="49" charset="-122"/>
                </a:endParaRPr>
              </a:p>
            </p:txBody>
          </p:sp>
        </p:grpSp>
        <p:sp>
          <p:nvSpPr>
            <p:cNvPr id="37" name="Text Box 7"/>
            <p:cNvSpPr txBox="1">
              <a:spLocks noChangeArrowheads="1"/>
            </p:cNvSpPr>
            <p:nvPr/>
          </p:nvSpPr>
          <p:spPr bwMode="auto">
            <a:xfrm flipH="1">
              <a:off x="8365010" y="4357263"/>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3</a:t>
              </a:r>
            </a:p>
          </p:txBody>
        </p:sp>
        <p:sp>
          <p:nvSpPr>
            <p:cNvPr id="38" name="Text Box 7"/>
            <p:cNvSpPr txBox="1">
              <a:spLocks noChangeArrowheads="1"/>
            </p:cNvSpPr>
            <p:nvPr/>
          </p:nvSpPr>
          <p:spPr bwMode="auto">
            <a:xfrm flipH="1">
              <a:off x="8713374" y="4357263"/>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6</a:t>
              </a:r>
            </a:p>
          </p:txBody>
        </p:sp>
        <p:sp>
          <p:nvSpPr>
            <p:cNvPr id="39" name="Text Box 7"/>
            <p:cNvSpPr txBox="1">
              <a:spLocks noChangeArrowheads="1"/>
            </p:cNvSpPr>
            <p:nvPr/>
          </p:nvSpPr>
          <p:spPr bwMode="auto">
            <a:xfrm flipH="1">
              <a:off x="9061738" y="4357263"/>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14</a:t>
              </a:r>
            </a:p>
          </p:txBody>
        </p:sp>
        <p:sp>
          <p:nvSpPr>
            <p:cNvPr id="40" name="Text Box 7"/>
            <p:cNvSpPr txBox="1">
              <a:spLocks noChangeArrowheads="1"/>
            </p:cNvSpPr>
            <p:nvPr/>
          </p:nvSpPr>
          <p:spPr bwMode="auto">
            <a:xfrm flipH="1">
              <a:off x="8365008" y="4630242"/>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b="1" dirty="0">
                  <a:latin typeface="Times New Roman" pitchFamily="18" charset="0"/>
                  <a:ea typeface="楷体_GB2312" pitchFamily="49" charset="-122"/>
                </a:rPr>
                <a:t>^</a:t>
              </a:r>
              <a:endParaRPr kumimoji="1" lang="zh-CN" altLang="en-US" b="1" dirty="0">
                <a:latin typeface="Times New Roman" pitchFamily="18" charset="0"/>
                <a:ea typeface="楷体_GB2312" pitchFamily="49" charset="-122"/>
              </a:endParaRPr>
            </a:p>
          </p:txBody>
        </p:sp>
        <p:sp>
          <p:nvSpPr>
            <p:cNvPr id="42" name="Text Box 7"/>
            <p:cNvSpPr txBox="1">
              <a:spLocks noChangeArrowheads="1"/>
            </p:cNvSpPr>
            <p:nvPr/>
          </p:nvSpPr>
          <p:spPr bwMode="auto">
            <a:xfrm flipH="1">
              <a:off x="8888114" y="4634262"/>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b="1" dirty="0">
                  <a:latin typeface="Times New Roman" pitchFamily="18" charset="0"/>
                  <a:ea typeface="楷体_GB2312" pitchFamily="49" charset="-122"/>
                </a:rPr>
                <a:t>^</a:t>
              </a:r>
              <a:endParaRPr kumimoji="1" lang="zh-CN" altLang="en-US" b="1" dirty="0">
                <a:latin typeface="Times New Roman" pitchFamily="18" charset="0"/>
                <a:ea typeface="楷体_GB2312" pitchFamily="49" charset="-122"/>
              </a:endParaRPr>
            </a:p>
          </p:txBody>
        </p:sp>
        <p:sp>
          <p:nvSpPr>
            <p:cNvPr id="43" name="Text Box 7"/>
            <p:cNvSpPr txBox="1">
              <a:spLocks noChangeArrowheads="1"/>
            </p:cNvSpPr>
            <p:nvPr/>
          </p:nvSpPr>
          <p:spPr bwMode="auto">
            <a:xfrm flipH="1">
              <a:off x="5637288" y="4923119"/>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4</a:t>
              </a:r>
            </a:p>
          </p:txBody>
        </p:sp>
        <p:sp>
          <p:nvSpPr>
            <p:cNvPr id="44" name="Text Box 7"/>
            <p:cNvSpPr txBox="1">
              <a:spLocks noChangeArrowheads="1"/>
            </p:cNvSpPr>
            <p:nvPr/>
          </p:nvSpPr>
          <p:spPr bwMode="auto">
            <a:xfrm flipH="1">
              <a:off x="5985652" y="4923119"/>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3</a:t>
              </a:r>
            </a:p>
          </p:txBody>
        </p:sp>
        <p:sp>
          <p:nvSpPr>
            <p:cNvPr id="45" name="Text Box 7"/>
            <p:cNvSpPr txBox="1">
              <a:spLocks noChangeArrowheads="1"/>
            </p:cNvSpPr>
            <p:nvPr/>
          </p:nvSpPr>
          <p:spPr bwMode="auto">
            <a:xfrm flipH="1">
              <a:off x="6334016" y="4923119"/>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24</a:t>
              </a:r>
            </a:p>
          </p:txBody>
        </p:sp>
        <p:sp>
          <p:nvSpPr>
            <p:cNvPr id="46" name="Text Box 7"/>
            <p:cNvSpPr txBox="1">
              <a:spLocks noChangeArrowheads="1"/>
            </p:cNvSpPr>
            <p:nvPr/>
          </p:nvSpPr>
          <p:spPr bwMode="auto">
            <a:xfrm flipH="1">
              <a:off x="5637286" y="5196098"/>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b="1" dirty="0">
                  <a:latin typeface="Times New Roman" pitchFamily="18" charset="0"/>
                  <a:ea typeface="楷体_GB2312" pitchFamily="49" charset="-122"/>
                </a:rPr>
                <a:t>^</a:t>
              </a:r>
              <a:endParaRPr kumimoji="1" lang="zh-CN" altLang="en-US" b="1" dirty="0">
                <a:latin typeface="Times New Roman" pitchFamily="18" charset="0"/>
                <a:ea typeface="楷体_GB2312" pitchFamily="49" charset="-122"/>
              </a:endParaRPr>
            </a:p>
          </p:txBody>
        </p:sp>
        <p:sp>
          <p:nvSpPr>
            <p:cNvPr id="47" name="Text Box 7"/>
            <p:cNvSpPr txBox="1">
              <a:spLocks noChangeArrowheads="1"/>
            </p:cNvSpPr>
            <p:nvPr/>
          </p:nvSpPr>
          <p:spPr bwMode="auto">
            <a:xfrm flipH="1">
              <a:off x="6160392" y="5200118"/>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b="1" dirty="0">
                  <a:latin typeface="Times New Roman" pitchFamily="18" charset="0"/>
                  <a:ea typeface="楷体_GB2312" pitchFamily="49" charset="-122"/>
                </a:rPr>
                <a:t>^</a:t>
              </a:r>
              <a:endParaRPr kumimoji="1" lang="zh-CN" altLang="en-US" b="1" dirty="0">
                <a:latin typeface="Times New Roman" pitchFamily="18" charset="0"/>
                <a:ea typeface="楷体_GB2312" pitchFamily="49" charset="-122"/>
              </a:endParaRPr>
            </a:p>
          </p:txBody>
        </p:sp>
        <p:sp>
          <p:nvSpPr>
            <p:cNvPr id="48" name="Text Box 7"/>
            <p:cNvSpPr txBox="1">
              <a:spLocks noChangeArrowheads="1"/>
            </p:cNvSpPr>
            <p:nvPr/>
          </p:nvSpPr>
          <p:spPr bwMode="auto">
            <a:xfrm flipH="1">
              <a:off x="4357128" y="5477117"/>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5</a:t>
              </a:r>
            </a:p>
          </p:txBody>
        </p:sp>
        <p:sp>
          <p:nvSpPr>
            <p:cNvPr id="49" name="Text Box 7"/>
            <p:cNvSpPr txBox="1">
              <a:spLocks noChangeArrowheads="1"/>
            </p:cNvSpPr>
            <p:nvPr/>
          </p:nvSpPr>
          <p:spPr bwMode="auto">
            <a:xfrm flipH="1">
              <a:off x="4705492" y="5477117"/>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2</a:t>
              </a:r>
            </a:p>
          </p:txBody>
        </p:sp>
        <p:sp>
          <p:nvSpPr>
            <p:cNvPr id="50" name="Text Box 7"/>
            <p:cNvSpPr txBox="1">
              <a:spLocks noChangeArrowheads="1"/>
            </p:cNvSpPr>
            <p:nvPr/>
          </p:nvSpPr>
          <p:spPr bwMode="auto">
            <a:xfrm flipH="1">
              <a:off x="5053856" y="5477117"/>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18</a:t>
              </a:r>
            </a:p>
          </p:txBody>
        </p:sp>
        <p:sp>
          <p:nvSpPr>
            <p:cNvPr id="51" name="Text Box 7"/>
            <p:cNvSpPr txBox="1">
              <a:spLocks noChangeArrowheads="1"/>
            </p:cNvSpPr>
            <p:nvPr/>
          </p:nvSpPr>
          <p:spPr bwMode="auto">
            <a:xfrm flipH="1">
              <a:off x="4357126" y="5758805"/>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b="1" dirty="0">
                  <a:latin typeface="Times New Roman" pitchFamily="18" charset="0"/>
                  <a:ea typeface="楷体_GB2312" pitchFamily="49" charset="-122"/>
                </a:rPr>
                <a:t>^</a:t>
              </a:r>
              <a:endParaRPr kumimoji="1" lang="zh-CN" altLang="en-US" b="1" dirty="0">
                <a:latin typeface="Times New Roman" pitchFamily="18" charset="0"/>
                <a:ea typeface="楷体_GB2312" pitchFamily="49" charset="-122"/>
              </a:endParaRPr>
            </a:p>
          </p:txBody>
        </p:sp>
        <p:sp>
          <p:nvSpPr>
            <p:cNvPr id="52" name="Text Box 7"/>
            <p:cNvSpPr txBox="1">
              <a:spLocks noChangeArrowheads="1"/>
            </p:cNvSpPr>
            <p:nvPr/>
          </p:nvSpPr>
          <p:spPr bwMode="auto">
            <a:xfrm flipH="1">
              <a:off x="4880232" y="5754116"/>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b="1" dirty="0">
                  <a:latin typeface="Times New Roman" pitchFamily="18" charset="0"/>
                  <a:ea typeface="楷体_GB2312" pitchFamily="49" charset="-122"/>
                </a:rPr>
                <a:t>^</a:t>
              </a:r>
              <a:endParaRPr kumimoji="1" lang="zh-CN" altLang="en-US" b="1" dirty="0">
                <a:latin typeface="Times New Roman" pitchFamily="18" charset="0"/>
                <a:ea typeface="楷体_GB2312" pitchFamily="49" charset="-122"/>
              </a:endParaRPr>
            </a:p>
          </p:txBody>
        </p:sp>
        <p:sp>
          <p:nvSpPr>
            <p:cNvPr id="53" name="Text Box 7"/>
            <p:cNvSpPr txBox="1">
              <a:spLocks noChangeArrowheads="1"/>
            </p:cNvSpPr>
            <p:nvPr/>
          </p:nvSpPr>
          <p:spPr bwMode="auto">
            <a:xfrm flipH="1">
              <a:off x="3233722" y="5949281"/>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6</a:t>
              </a:r>
            </a:p>
          </p:txBody>
        </p:sp>
        <p:sp>
          <p:nvSpPr>
            <p:cNvPr id="54" name="Text Box 7"/>
            <p:cNvSpPr txBox="1">
              <a:spLocks noChangeArrowheads="1"/>
            </p:cNvSpPr>
            <p:nvPr/>
          </p:nvSpPr>
          <p:spPr bwMode="auto">
            <a:xfrm flipH="1">
              <a:off x="3582086" y="5949281"/>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1</a:t>
              </a:r>
            </a:p>
          </p:txBody>
        </p:sp>
        <p:sp>
          <p:nvSpPr>
            <p:cNvPr id="55" name="Text Box 7"/>
            <p:cNvSpPr txBox="1">
              <a:spLocks noChangeArrowheads="1"/>
            </p:cNvSpPr>
            <p:nvPr/>
          </p:nvSpPr>
          <p:spPr bwMode="auto">
            <a:xfrm flipH="1">
              <a:off x="3930450" y="5949281"/>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15</a:t>
              </a:r>
            </a:p>
          </p:txBody>
        </p:sp>
        <p:sp>
          <p:nvSpPr>
            <p:cNvPr id="56" name="Text Box 7"/>
            <p:cNvSpPr txBox="1">
              <a:spLocks noChangeArrowheads="1"/>
            </p:cNvSpPr>
            <p:nvPr/>
          </p:nvSpPr>
          <p:spPr bwMode="auto">
            <a:xfrm flipH="1">
              <a:off x="3233720" y="6230969"/>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b="1" dirty="0">
                  <a:latin typeface="Times New Roman" pitchFamily="18" charset="0"/>
                  <a:ea typeface="楷体_GB2312" pitchFamily="49" charset="-122"/>
                </a:rPr>
                <a:t>^</a:t>
              </a:r>
              <a:endParaRPr kumimoji="1" lang="zh-CN" altLang="en-US" b="1" dirty="0">
                <a:latin typeface="Times New Roman" pitchFamily="18" charset="0"/>
                <a:ea typeface="楷体_GB2312" pitchFamily="49" charset="-122"/>
              </a:endParaRPr>
            </a:p>
          </p:txBody>
        </p:sp>
        <p:sp>
          <p:nvSpPr>
            <p:cNvPr id="57" name="Text Box 7"/>
            <p:cNvSpPr txBox="1">
              <a:spLocks noChangeArrowheads="1"/>
            </p:cNvSpPr>
            <p:nvPr/>
          </p:nvSpPr>
          <p:spPr bwMode="auto">
            <a:xfrm flipH="1">
              <a:off x="3756826" y="6226280"/>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endParaRPr kumimoji="1" lang="en-US" altLang="zh-CN" dirty="0">
                <a:latin typeface="Times New Roman" pitchFamily="18" charset="0"/>
                <a:ea typeface="楷体_GB2312" pitchFamily="49" charset="-122"/>
              </a:endParaRPr>
            </a:p>
          </p:txBody>
        </p:sp>
        <p:sp>
          <p:nvSpPr>
            <p:cNvPr id="58" name="Text Box 7"/>
            <p:cNvSpPr txBox="1">
              <a:spLocks noChangeArrowheads="1"/>
            </p:cNvSpPr>
            <p:nvPr/>
          </p:nvSpPr>
          <p:spPr bwMode="auto">
            <a:xfrm flipH="1">
              <a:off x="6526596" y="5949281"/>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6</a:t>
              </a:r>
            </a:p>
          </p:txBody>
        </p:sp>
        <p:sp>
          <p:nvSpPr>
            <p:cNvPr id="59" name="Text Box 7"/>
            <p:cNvSpPr txBox="1">
              <a:spLocks noChangeArrowheads="1"/>
            </p:cNvSpPr>
            <p:nvPr/>
          </p:nvSpPr>
          <p:spPr bwMode="auto">
            <a:xfrm flipH="1">
              <a:off x="6874960" y="5949281"/>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4</a:t>
              </a:r>
            </a:p>
          </p:txBody>
        </p:sp>
        <p:sp>
          <p:nvSpPr>
            <p:cNvPr id="60" name="Text Box 7"/>
            <p:cNvSpPr txBox="1">
              <a:spLocks noChangeArrowheads="1"/>
            </p:cNvSpPr>
            <p:nvPr/>
          </p:nvSpPr>
          <p:spPr bwMode="auto">
            <a:xfrm flipH="1">
              <a:off x="7223324" y="5949281"/>
              <a:ext cx="348364"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dirty="0">
                  <a:latin typeface="Times New Roman" pitchFamily="18" charset="0"/>
                  <a:ea typeface="楷体_GB2312" pitchFamily="49" charset="-122"/>
                </a:rPr>
                <a:t>-7</a:t>
              </a:r>
            </a:p>
          </p:txBody>
        </p:sp>
        <p:sp>
          <p:nvSpPr>
            <p:cNvPr id="61" name="Text Box 7"/>
            <p:cNvSpPr txBox="1">
              <a:spLocks noChangeArrowheads="1"/>
            </p:cNvSpPr>
            <p:nvPr/>
          </p:nvSpPr>
          <p:spPr bwMode="auto">
            <a:xfrm flipH="1">
              <a:off x="6526594" y="6230969"/>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b="1" dirty="0">
                  <a:latin typeface="Times New Roman" pitchFamily="18" charset="0"/>
                  <a:ea typeface="楷体_GB2312" pitchFamily="49" charset="-122"/>
                </a:rPr>
                <a:t>^</a:t>
              </a:r>
              <a:endParaRPr kumimoji="1" lang="zh-CN" altLang="en-US" b="1" dirty="0">
                <a:latin typeface="Times New Roman" pitchFamily="18" charset="0"/>
                <a:ea typeface="楷体_GB2312" pitchFamily="49" charset="-122"/>
              </a:endParaRPr>
            </a:p>
          </p:txBody>
        </p:sp>
        <p:sp>
          <p:nvSpPr>
            <p:cNvPr id="62" name="Text Box 7"/>
            <p:cNvSpPr txBox="1">
              <a:spLocks noChangeArrowheads="1"/>
            </p:cNvSpPr>
            <p:nvPr/>
          </p:nvSpPr>
          <p:spPr bwMode="auto">
            <a:xfrm flipH="1">
              <a:off x="7049700" y="6226280"/>
              <a:ext cx="522548" cy="2769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b="1" dirty="0">
                  <a:latin typeface="Times New Roman" pitchFamily="18" charset="0"/>
                  <a:ea typeface="楷体_GB2312" pitchFamily="49" charset="-122"/>
                </a:rPr>
                <a:t>^</a:t>
              </a:r>
              <a:endParaRPr kumimoji="1" lang="zh-CN" altLang="en-US" b="1" dirty="0">
                <a:latin typeface="Times New Roman" pitchFamily="18" charset="0"/>
                <a:ea typeface="楷体_GB2312" pitchFamily="49" charset="-122"/>
              </a:endParaRPr>
            </a:p>
          </p:txBody>
        </p:sp>
        <p:cxnSp>
          <p:nvCxnSpPr>
            <p:cNvPr id="63" name="直接箭头连接符 62"/>
            <p:cNvCxnSpPr>
              <a:endCxn id="84" idx="3"/>
            </p:cNvCxnSpPr>
            <p:nvPr/>
          </p:nvCxnSpPr>
          <p:spPr>
            <a:xfrm>
              <a:off x="2802208" y="3485965"/>
              <a:ext cx="1554920"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5228038" y="3767686"/>
              <a:ext cx="43151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2802206" y="4511027"/>
              <a:ext cx="43151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endCxn id="40" idx="3"/>
            </p:cNvCxnSpPr>
            <p:nvPr/>
          </p:nvCxnSpPr>
          <p:spPr>
            <a:xfrm>
              <a:off x="4104632" y="4768740"/>
              <a:ext cx="4260376" cy="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a:off x="2802206" y="6080032"/>
              <a:ext cx="43151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a:off x="2802206" y="5615616"/>
              <a:ext cx="155492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nvCxnSpPr>
          <p:spPr>
            <a:xfrm>
              <a:off x="2802206" y="5104722"/>
              <a:ext cx="28350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endCxn id="61" idx="3"/>
            </p:cNvCxnSpPr>
            <p:nvPr/>
          </p:nvCxnSpPr>
          <p:spPr>
            <a:xfrm>
              <a:off x="4104632" y="6364777"/>
              <a:ext cx="2421962" cy="46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a:endCxn id="84" idx="0"/>
            </p:cNvCxnSpPr>
            <p:nvPr/>
          </p:nvCxnSpPr>
          <p:spPr>
            <a:xfrm>
              <a:off x="4531310" y="2972884"/>
              <a:ext cx="0" cy="37458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5811470" y="2972884"/>
              <a:ext cx="0" cy="37458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endCxn id="43" idx="0"/>
            </p:cNvCxnSpPr>
            <p:nvPr/>
          </p:nvCxnSpPr>
          <p:spPr>
            <a:xfrm flipH="1">
              <a:off x="5811470" y="3820090"/>
              <a:ext cx="1" cy="11030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flipH="1">
              <a:off x="3582086" y="3002575"/>
              <a:ext cx="1" cy="135468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flipH="1">
              <a:off x="3571895" y="4799773"/>
              <a:ext cx="1" cy="114950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7025917" y="3002575"/>
              <a:ext cx="0" cy="29666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a:off x="8888114" y="2972884"/>
              <a:ext cx="0" cy="138437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endCxn id="48" idx="0"/>
            </p:cNvCxnSpPr>
            <p:nvPr/>
          </p:nvCxnSpPr>
          <p:spPr>
            <a:xfrm flipH="1">
              <a:off x="4531310" y="3767686"/>
              <a:ext cx="928" cy="17094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89" name="Text Box 7"/>
          <p:cNvSpPr txBox="1">
            <a:spLocks noChangeArrowheads="1"/>
          </p:cNvSpPr>
          <p:nvPr/>
        </p:nvSpPr>
        <p:spPr bwMode="auto">
          <a:xfrm flipH="1">
            <a:off x="2055816" y="2756083"/>
            <a:ext cx="948137"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000" dirty="0" err="1">
                <a:latin typeface="Times New Roman" pitchFamily="18" charset="0"/>
                <a:ea typeface="楷体_GB2312" pitchFamily="49" charset="-122"/>
              </a:rPr>
              <a:t>chead</a:t>
            </a:r>
            <a:endParaRPr kumimoji="1" lang="en-US" altLang="zh-CN" sz="2000" dirty="0">
              <a:latin typeface="Times New Roman" pitchFamily="18" charset="0"/>
              <a:ea typeface="楷体_GB2312" pitchFamily="49" charset="-122"/>
            </a:endParaRPr>
          </a:p>
        </p:txBody>
      </p:sp>
      <p:sp>
        <p:nvSpPr>
          <p:cNvPr id="90" name="Text Box 7"/>
          <p:cNvSpPr txBox="1">
            <a:spLocks noChangeArrowheads="1"/>
          </p:cNvSpPr>
          <p:nvPr/>
        </p:nvSpPr>
        <p:spPr bwMode="auto">
          <a:xfrm flipH="1">
            <a:off x="2055816" y="3156193"/>
            <a:ext cx="948137"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000" dirty="0" err="1">
                <a:latin typeface="Times New Roman" pitchFamily="18" charset="0"/>
                <a:ea typeface="楷体_GB2312" pitchFamily="49" charset="-122"/>
              </a:rPr>
              <a:t>rhead</a:t>
            </a:r>
            <a:endParaRPr kumimoji="1" lang="en-US" altLang="zh-CN" sz="2000" dirty="0">
              <a:latin typeface="Times New Roman" pitchFamily="18" charset="0"/>
              <a:ea typeface="楷体_GB2312" pitchFamily="49" charset="-122"/>
            </a:endParaRPr>
          </a:p>
        </p:txBody>
      </p:sp>
      <p:sp>
        <p:nvSpPr>
          <p:cNvPr id="91" name="Text Box 7"/>
          <p:cNvSpPr txBox="1">
            <a:spLocks noChangeArrowheads="1"/>
          </p:cNvSpPr>
          <p:nvPr/>
        </p:nvSpPr>
        <p:spPr bwMode="auto">
          <a:xfrm flipH="1">
            <a:off x="2055816" y="3556303"/>
            <a:ext cx="948137"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000" dirty="0">
                <a:latin typeface="Times New Roman" pitchFamily="18" charset="0"/>
                <a:ea typeface="楷体_GB2312" pitchFamily="49" charset="-122"/>
              </a:rPr>
              <a:t>6</a:t>
            </a:r>
          </a:p>
        </p:txBody>
      </p:sp>
      <p:sp>
        <p:nvSpPr>
          <p:cNvPr id="92" name="Text Box 7"/>
          <p:cNvSpPr txBox="1">
            <a:spLocks noChangeArrowheads="1"/>
          </p:cNvSpPr>
          <p:nvPr/>
        </p:nvSpPr>
        <p:spPr bwMode="auto">
          <a:xfrm flipH="1">
            <a:off x="2055816" y="3956413"/>
            <a:ext cx="948137"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000" dirty="0">
                <a:latin typeface="Times New Roman" pitchFamily="18" charset="0"/>
                <a:ea typeface="楷体_GB2312" pitchFamily="49" charset="-122"/>
              </a:rPr>
              <a:t>7</a:t>
            </a:r>
          </a:p>
        </p:txBody>
      </p:sp>
      <p:sp>
        <p:nvSpPr>
          <p:cNvPr id="93" name="Text Box 7"/>
          <p:cNvSpPr txBox="1">
            <a:spLocks noChangeArrowheads="1"/>
          </p:cNvSpPr>
          <p:nvPr/>
        </p:nvSpPr>
        <p:spPr bwMode="auto">
          <a:xfrm flipH="1">
            <a:off x="2055816" y="4356523"/>
            <a:ext cx="948137"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r" eaLnBrk="0" fontAlgn="base" hangingPunct="0">
              <a:spcBef>
                <a:spcPct val="0"/>
              </a:spcBef>
              <a:spcAft>
                <a:spcPct val="0"/>
              </a:spcAft>
              <a:defRPr>
                <a:solidFill>
                  <a:schemeClr val="tx1"/>
                </a:solidFill>
                <a:latin typeface="Arial" charset="0"/>
                <a:ea typeface="宋体" pitchFamily="2" charset="-122"/>
              </a:defRPr>
            </a:lvl6pPr>
            <a:lvl7pPr marL="2971800" indent="-228600" algn="r" eaLnBrk="0" fontAlgn="base" hangingPunct="0">
              <a:spcBef>
                <a:spcPct val="0"/>
              </a:spcBef>
              <a:spcAft>
                <a:spcPct val="0"/>
              </a:spcAft>
              <a:defRPr>
                <a:solidFill>
                  <a:schemeClr val="tx1"/>
                </a:solidFill>
                <a:latin typeface="Arial" charset="0"/>
                <a:ea typeface="宋体" pitchFamily="2" charset="-122"/>
              </a:defRPr>
            </a:lvl7pPr>
            <a:lvl8pPr marL="3429000" indent="-228600" algn="r" eaLnBrk="0" fontAlgn="base" hangingPunct="0">
              <a:spcBef>
                <a:spcPct val="0"/>
              </a:spcBef>
              <a:spcAft>
                <a:spcPct val="0"/>
              </a:spcAft>
              <a:defRPr>
                <a:solidFill>
                  <a:schemeClr val="tx1"/>
                </a:solidFill>
                <a:latin typeface="Arial" charset="0"/>
                <a:ea typeface="宋体" pitchFamily="2" charset="-122"/>
              </a:defRPr>
            </a:lvl8pPr>
            <a:lvl9pPr marL="3886200" indent="-228600" algn="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pPr>
            <a:r>
              <a:rPr kumimoji="1" lang="en-US" altLang="zh-CN" sz="2000" dirty="0">
                <a:latin typeface="Times New Roman" pitchFamily="18" charset="0"/>
                <a:ea typeface="楷体_GB2312" pitchFamily="49" charset="-122"/>
              </a:rPr>
              <a:t>8</a:t>
            </a:r>
          </a:p>
        </p:txBody>
      </p:sp>
      <p:sp>
        <p:nvSpPr>
          <p:cNvPr id="94" name="Rectangle 2"/>
          <p:cNvSpPr>
            <a:spLocks noChangeArrowheads="1"/>
          </p:cNvSpPr>
          <p:nvPr/>
        </p:nvSpPr>
        <p:spPr bwMode="auto">
          <a:xfrm>
            <a:off x="1604510" y="2771369"/>
            <a:ext cx="45130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36000" anchor="b"/>
          <a:lstStyle/>
          <a:p>
            <a:r>
              <a:rPr kumimoji="1" lang="en-US" altLang="zh-CN" b="1" dirty="0">
                <a:latin typeface="Times New Roman" pitchFamily="18" charset="0"/>
                <a:ea typeface="楷体_GB2312" pitchFamily="49" charset="-122"/>
                <a:cs typeface="Times New Roman" pitchFamily="18" charset="0"/>
              </a:rPr>
              <a:t>M</a:t>
            </a:r>
            <a:endParaRPr lang="zh-CN" altLang="en-US" dirty="0">
              <a:ea typeface="楷体_GB2312" pitchFamily="49" charset="-122"/>
              <a:cs typeface="Times New Roman" pitchFamily="18" charset="0"/>
            </a:endParaRPr>
          </a:p>
        </p:txBody>
      </p:sp>
      <p:cxnSp>
        <p:nvCxnSpPr>
          <p:cNvPr id="95" name="直接箭头连接符 94"/>
          <p:cNvCxnSpPr>
            <a:endCxn id="13" idx="3"/>
          </p:cNvCxnSpPr>
          <p:nvPr/>
        </p:nvCxnSpPr>
        <p:spPr>
          <a:xfrm flipV="1">
            <a:off x="2866747" y="2930704"/>
            <a:ext cx="1369910" cy="38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a:off x="2883985" y="3461972"/>
            <a:ext cx="52941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7" name="Rectangle 2"/>
          <p:cNvSpPr>
            <a:spLocks noChangeArrowheads="1"/>
          </p:cNvSpPr>
          <p:nvPr/>
        </p:nvSpPr>
        <p:spPr bwMode="auto">
          <a:xfrm>
            <a:off x="1981587" y="2355093"/>
            <a:ext cx="204473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6000" bIns="36000" anchor="b"/>
          <a:lstStyle/>
          <a:p>
            <a:r>
              <a:rPr kumimoji="1" lang="en-US" altLang="zh-CN" b="1" dirty="0">
                <a:latin typeface="Times New Roman" pitchFamily="18" charset="0"/>
                <a:ea typeface="楷体_GB2312" pitchFamily="49" charset="-122"/>
                <a:cs typeface="Times New Roman" pitchFamily="18" charset="0"/>
              </a:rPr>
              <a:t>M. </a:t>
            </a:r>
            <a:r>
              <a:rPr kumimoji="1" lang="en-US" altLang="zh-CN" b="1" dirty="0" err="1">
                <a:latin typeface="Times New Roman" pitchFamily="18" charset="0"/>
                <a:ea typeface="楷体_GB2312" pitchFamily="49" charset="-122"/>
                <a:cs typeface="Times New Roman" pitchFamily="18" charset="0"/>
              </a:rPr>
              <a:t>CrossMatrix</a:t>
            </a:r>
            <a:r>
              <a:rPr kumimoji="1" lang="en-US" altLang="zh-CN" b="1" dirty="0">
                <a:latin typeface="Times New Roman" pitchFamily="18" charset="0"/>
                <a:ea typeface="楷体_GB2312" pitchFamily="49" charset="-122"/>
                <a:cs typeface="Times New Roman" pitchFamily="18" charset="0"/>
              </a:rPr>
              <a:t>;</a:t>
            </a:r>
            <a:endParaRPr lang="zh-CN" altLang="en-US" dirty="0">
              <a:ea typeface="楷体_GB2312" pitchFamily="49" charset="-122"/>
              <a:cs typeface="Times New Roman" pitchFamily="18" charset="0"/>
            </a:endParaRPr>
          </a:p>
        </p:txBody>
      </p:sp>
      <p:sp>
        <p:nvSpPr>
          <p:cNvPr id="2" name="Rectangle 2">
            <a:extLst>
              <a:ext uri="{FF2B5EF4-FFF2-40B4-BE49-F238E27FC236}">
                <a16:creationId xmlns:a16="http://schemas.microsoft.com/office/drawing/2014/main" id="{B3DA1735-4289-E9AC-0AFA-E38DCBA197C5}"/>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4B9A5B4C-17D2-C072-069A-F8C446AA8E13}"/>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0865C218-0FDB-FEDB-2499-59DBEDB53DD0}"/>
              </a:ext>
            </a:extLst>
          </p:cNvPr>
          <p:cNvSpPr txBox="1">
            <a:spLocks noChangeArrowheads="1"/>
          </p:cNvSpPr>
          <p:nvPr/>
        </p:nvSpPr>
        <p:spPr>
          <a:xfrm>
            <a:off x="191344" y="1106736"/>
            <a:ext cx="52565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6.2.2 </a:t>
            </a:r>
            <a:r>
              <a:rPr lang="zh-CN" altLang="en-US" sz="2800" b="1" dirty="0">
                <a:solidFill>
                  <a:schemeClr val="bg1"/>
                </a:solidFill>
                <a:latin typeface="经典粗黑简" pitchFamily="49" charset="-122"/>
                <a:ea typeface="经典粗黑简" pitchFamily="49" charset="-122"/>
                <a:cs typeface="经典粗黑简" pitchFamily="49" charset="-122"/>
              </a:rPr>
              <a:t>稀疏矩阵的十字链表表示</a:t>
            </a:r>
          </a:p>
        </p:txBody>
      </p:sp>
      <p:sp>
        <p:nvSpPr>
          <p:cNvPr id="5" name="Text Box 2">
            <a:extLst>
              <a:ext uri="{FF2B5EF4-FFF2-40B4-BE49-F238E27FC236}">
                <a16:creationId xmlns:a16="http://schemas.microsoft.com/office/drawing/2014/main" id="{3871331E-D9A6-A978-3167-2EAAD2042E84}"/>
              </a:ext>
            </a:extLst>
          </p:cNvPr>
          <p:cNvSpPr txBox="1">
            <a:spLocks noChangeArrowheads="1"/>
          </p:cNvSpPr>
          <p:nvPr/>
        </p:nvSpPr>
        <p:spPr bwMode="auto">
          <a:xfrm>
            <a:off x="1127448" y="1836263"/>
            <a:ext cx="5032381" cy="453842"/>
          </a:xfrm>
          <a:prstGeom prst="rect">
            <a:avLst/>
          </a:prstGeom>
          <a:noFill/>
          <a:ln w="9525">
            <a:noFill/>
            <a:miter lim="800000"/>
            <a:headEnd/>
            <a:tailEnd/>
          </a:ln>
          <a:effectLst/>
        </p:spPr>
        <p:txBody>
          <a:bodyPr wrap="square">
            <a:spAutoFit/>
          </a:bodyPr>
          <a:lstStyle/>
          <a:p>
            <a:pPr marL="457200" indent="-457200" algn="l">
              <a:lnSpc>
                <a:spcPct val="130000"/>
              </a:lnSpc>
              <a:spcBef>
                <a:spcPct val="50000"/>
              </a:spcBef>
              <a:buBlip>
                <a:blip r:embed="rId3"/>
              </a:buBlip>
            </a:pPr>
            <a:r>
              <a:rPr kumimoji="1" lang="zh-CN" altLang="en-US" sz="2000" dirty="0">
                <a:latin typeface="Consolas" pitchFamily="49" charset="0"/>
                <a:ea typeface="楷体" pitchFamily="49" charset="-122"/>
                <a:cs typeface="Consolas" pitchFamily="49" charset="0"/>
              </a:rPr>
              <a:t>每个非零元素对应一个结点。</a:t>
            </a:r>
          </a:p>
        </p:txBody>
      </p:sp>
    </p:spTree>
    <p:extLst>
      <p:ext uri="{BB962C8B-B14F-4D97-AF65-F5344CB8AC3E}">
        <p14:creationId xmlns:p14="http://schemas.microsoft.com/office/powerpoint/2010/main" val="23777244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E6050-2B87-D208-DA91-7B609F1564DC}"/>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D81D74FD-515D-1B55-F8C5-E771C32BFF10}"/>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6.2 </a:t>
            </a:r>
            <a:r>
              <a:rPr lang="zh-CN" altLang="zh-CN" sz="3600" dirty="0">
                <a:latin typeface="微软雅黑" pitchFamily="34" charset="-122"/>
                <a:ea typeface="微软雅黑" pitchFamily="34" charset="-122"/>
                <a:cs typeface="经典粗黑简" pitchFamily="49" charset="-122"/>
              </a:rPr>
              <a:t>稀疏矩阵</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BBFFFE05-E28E-D178-E21C-E35D45362801}"/>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F5B01256-B04A-65EC-5E9B-E14836094947}"/>
              </a:ext>
            </a:extLst>
          </p:cNvPr>
          <p:cNvSpPr txBox="1">
            <a:spLocks noChangeArrowheads="1"/>
          </p:cNvSpPr>
          <p:nvPr/>
        </p:nvSpPr>
        <p:spPr>
          <a:xfrm>
            <a:off x="191344" y="1106736"/>
            <a:ext cx="525658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6.2.2 </a:t>
            </a:r>
            <a:r>
              <a:rPr lang="zh-CN" altLang="en-US" sz="2800" b="1" dirty="0">
                <a:solidFill>
                  <a:schemeClr val="bg1"/>
                </a:solidFill>
                <a:latin typeface="经典粗黑简" pitchFamily="49" charset="-122"/>
                <a:ea typeface="经典粗黑简" pitchFamily="49" charset="-122"/>
                <a:cs typeface="经典粗黑简" pitchFamily="49" charset="-122"/>
              </a:rPr>
              <a:t>稀疏矩阵的十字链表表示</a:t>
            </a:r>
          </a:p>
        </p:txBody>
      </p:sp>
      <p:sp>
        <p:nvSpPr>
          <p:cNvPr id="6" name="TextBox 1">
            <a:extLst>
              <a:ext uri="{FF2B5EF4-FFF2-40B4-BE49-F238E27FC236}">
                <a16:creationId xmlns:a16="http://schemas.microsoft.com/office/drawing/2014/main" id="{BD761707-4E34-354A-253F-37488DCAD62B}"/>
              </a:ext>
            </a:extLst>
          </p:cNvPr>
          <p:cNvSpPr txBox="1"/>
          <p:nvPr/>
        </p:nvSpPr>
        <p:spPr>
          <a:xfrm>
            <a:off x="2057447" y="2492896"/>
            <a:ext cx="8072494" cy="2010780"/>
          </a:xfrm>
          <a:prstGeom prst="rect">
            <a:avLst/>
          </a:prstGeom>
          <a:solidFill>
            <a:schemeClr val="accent6">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44000" tIns="108000" bIns="108000" rtlCol="0">
            <a:spAutoFit/>
          </a:bodyPr>
          <a:lstStyle/>
          <a:p>
            <a:pPr algn="l">
              <a:lnSpc>
                <a:spcPct val="150000"/>
              </a:lnSpc>
            </a:pPr>
            <a:r>
              <a:rPr lang="zh-CN" altLang="en-US" sz="2000" dirty="0">
                <a:solidFill>
                  <a:srgbClr val="0000FF"/>
                </a:solidFill>
                <a:latin typeface="Consolas" pitchFamily="49" charset="0"/>
                <a:ea typeface="楷体" pitchFamily="49" charset="-122"/>
                <a:cs typeface="Consolas" pitchFamily="49" charset="0"/>
              </a:rPr>
              <a:t>    一个稀疏矩阵采用压缩后，和直接采用二维数组存储相比会失去（  ）特性。</a:t>
            </a:r>
          </a:p>
          <a:p>
            <a:pPr algn="l">
              <a:lnSpc>
                <a:spcPct val="150000"/>
              </a:lnSpc>
            </a:pPr>
            <a:r>
              <a:rPr lang="en-US" sz="2000" dirty="0">
                <a:solidFill>
                  <a:srgbClr val="0000FF"/>
                </a:solidFill>
                <a:latin typeface="Consolas" pitchFamily="49" charset="0"/>
                <a:ea typeface="楷体" pitchFamily="49" charset="-122"/>
                <a:cs typeface="Consolas" pitchFamily="49" charset="0"/>
              </a:rPr>
              <a:t>    A.</a:t>
            </a:r>
            <a:r>
              <a:rPr lang="zh-CN" altLang="en-US" sz="2000" dirty="0">
                <a:solidFill>
                  <a:srgbClr val="0000FF"/>
                </a:solidFill>
                <a:latin typeface="Consolas" pitchFamily="49" charset="0"/>
                <a:ea typeface="楷体" pitchFamily="49" charset="-122"/>
                <a:cs typeface="Consolas" pitchFamily="49" charset="0"/>
              </a:rPr>
              <a:t>顺序存储</a:t>
            </a:r>
            <a:r>
              <a:rPr lang="en-US" sz="2000" dirty="0">
                <a:latin typeface="Consolas" pitchFamily="49" charset="0"/>
                <a:ea typeface="楷体" pitchFamily="49" charset="-122"/>
                <a:cs typeface="Consolas" pitchFamily="49" charset="0"/>
              </a:rPr>
              <a:t>			</a:t>
            </a:r>
            <a:r>
              <a:rPr lang="en-US" sz="2000" dirty="0">
                <a:solidFill>
                  <a:srgbClr val="0000FF"/>
                </a:solidFill>
                <a:latin typeface="Consolas" pitchFamily="49" charset="0"/>
                <a:ea typeface="楷体" pitchFamily="49" charset="-122"/>
              </a:rPr>
              <a:t>B.</a:t>
            </a:r>
            <a:r>
              <a:rPr lang="zh-CN" altLang="en-US" sz="2000" dirty="0">
                <a:solidFill>
                  <a:srgbClr val="0000FF"/>
                </a:solidFill>
                <a:latin typeface="Consolas" pitchFamily="49" charset="0"/>
                <a:ea typeface="楷体" pitchFamily="49" charset="-122"/>
              </a:rPr>
              <a:t>随机存取</a:t>
            </a:r>
            <a:r>
              <a:rPr lang="en-US" sz="2000" dirty="0">
                <a:solidFill>
                  <a:srgbClr val="0000FF"/>
                </a:solidFill>
                <a:latin typeface="Consolas" pitchFamily="49" charset="0"/>
                <a:ea typeface="楷体" pitchFamily="49" charset="-122"/>
              </a:rPr>
              <a:t>	</a:t>
            </a:r>
          </a:p>
          <a:p>
            <a:pPr algn="l">
              <a:lnSpc>
                <a:spcPct val="150000"/>
              </a:lnSpc>
            </a:pPr>
            <a:r>
              <a:rPr lang="en-US" sz="2000" dirty="0">
                <a:latin typeface="Consolas" pitchFamily="49" charset="0"/>
                <a:ea typeface="楷体" pitchFamily="49" charset="-122"/>
                <a:cs typeface="Consolas" pitchFamily="49" charset="0"/>
              </a:rPr>
              <a:t>  </a:t>
            </a:r>
            <a:r>
              <a:rPr lang="en-US" sz="2000" dirty="0">
                <a:solidFill>
                  <a:srgbClr val="0000FF"/>
                </a:solidFill>
                <a:latin typeface="Consolas" pitchFamily="49" charset="0"/>
                <a:ea typeface="楷体" pitchFamily="49" charset="-122"/>
                <a:cs typeface="Consolas" pitchFamily="49" charset="0"/>
              </a:rPr>
              <a:t>  C.</a:t>
            </a:r>
            <a:r>
              <a:rPr lang="zh-CN" altLang="en-US" sz="2000" dirty="0">
                <a:solidFill>
                  <a:srgbClr val="0000FF"/>
                </a:solidFill>
                <a:latin typeface="Consolas" pitchFamily="49" charset="0"/>
                <a:ea typeface="楷体" pitchFamily="49" charset="-122"/>
                <a:cs typeface="Consolas" pitchFamily="49" charset="0"/>
              </a:rPr>
              <a:t>输入输出</a:t>
            </a:r>
            <a:r>
              <a:rPr lang="en-US" sz="2000" dirty="0">
                <a:solidFill>
                  <a:srgbClr val="0000FF"/>
                </a:solidFill>
                <a:latin typeface="Consolas" pitchFamily="49" charset="0"/>
                <a:ea typeface="楷体" pitchFamily="49" charset="-122"/>
                <a:cs typeface="Consolas" pitchFamily="49" charset="0"/>
              </a:rPr>
              <a:t>			D.</a:t>
            </a:r>
            <a:r>
              <a:rPr lang="zh-CN" altLang="en-US" sz="2000" dirty="0">
                <a:solidFill>
                  <a:srgbClr val="0000FF"/>
                </a:solidFill>
                <a:latin typeface="Consolas" pitchFamily="49" charset="0"/>
                <a:ea typeface="楷体" pitchFamily="49" charset="-122"/>
                <a:cs typeface="Consolas" pitchFamily="49" charset="0"/>
              </a:rPr>
              <a:t>以上都不对</a:t>
            </a:r>
          </a:p>
        </p:txBody>
      </p:sp>
    </p:spTree>
    <p:extLst>
      <p:ext uri="{BB962C8B-B14F-4D97-AF65-F5344CB8AC3E}">
        <p14:creationId xmlns:p14="http://schemas.microsoft.com/office/powerpoint/2010/main" val="25016720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矩形 98"/>
          <p:cNvSpPr/>
          <p:nvPr/>
        </p:nvSpPr>
        <p:spPr>
          <a:xfrm>
            <a:off x="1858367" y="5013176"/>
            <a:ext cx="9289032" cy="1200329"/>
          </a:xfrm>
          <a:prstGeom prst="rect">
            <a:avLst/>
          </a:prstGeom>
        </p:spPr>
        <p:txBody>
          <a:bodyPr wrap="square">
            <a:spAutoFit/>
          </a:bodyPr>
          <a:lstStyle/>
          <a:p>
            <a:r>
              <a:rPr lang="en-US" altLang="zh-CN" sz="2400" dirty="0">
                <a:latin typeface="微软雅黑" pitchFamily="34" charset="-122"/>
                <a:ea typeface="微软雅黑" pitchFamily="34" charset="-122"/>
                <a:cs typeface="经典粗黑简" pitchFamily="49" charset="-122"/>
              </a:rPr>
              <a:t>LS</a:t>
            </a:r>
            <a:r>
              <a:rPr lang="zh-CN" altLang="zh-CN" sz="2400" dirty="0">
                <a:latin typeface="微软雅黑" pitchFamily="34" charset="-122"/>
                <a:ea typeface="微软雅黑" pitchFamily="34" charset="-122"/>
                <a:cs typeface="经典粗黑简" pitchFamily="49" charset="-122"/>
              </a:rPr>
              <a:t>是广义表的</a:t>
            </a:r>
            <a:r>
              <a:rPr lang="zh-CN" altLang="zh-CN" sz="2400" dirty="0">
                <a:solidFill>
                  <a:srgbClr val="FF0000"/>
                </a:solidFill>
                <a:latin typeface="微软雅黑" pitchFamily="34" charset="-122"/>
                <a:ea typeface="微软雅黑" pitchFamily="34" charset="-122"/>
                <a:cs typeface="经典粗黑简" pitchFamily="49" charset="-122"/>
              </a:rPr>
              <a:t>名称</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是它的</a:t>
            </a:r>
            <a:r>
              <a:rPr lang="zh-CN" altLang="zh-CN" sz="2400" dirty="0">
                <a:solidFill>
                  <a:srgbClr val="FF0000"/>
                </a:solidFill>
                <a:latin typeface="微软雅黑" pitchFamily="34" charset="-122"/>
                <a:ea typeface="微软雅黑" pitchFamily="34" charset="-122"/>
                <a:cs typeface="经典粗黑简" pitchFamily="49" charset="-122"/>
              </a:rPr>
              <a:t>长度</a:t>
            </a:r>
            <a:r>
              <a:rPr lang="zh-CN" altLang="zh-CN" sz="2400" dirty="0">
                <a:latin typeface="微软雅黑" pitchFamily="34" charset="-122"/>
                <a:ea typeface="微软雅黑" pitchFamily="34" charset="-122"/>
                <a:cs typeface="经典粗黑简" pitchFamily="49" charset="-122"/>
              </a:rPr>
              <a:t>。每个</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latin typeface="微软雅黑" pitchFamily="34" charset="-122"/>
                <a:ea typeface="微软雅黑" pitchFamily="34" charset="-122"/>
                <a:cs typeface="经典粗黑简" pitchFamily="49" charset="-122"/>
              </a:rPr>
              <a:t>i</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1</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i</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）是</a:t>
            </a:r>
            <a:r>
              <a:rPr lang="en-US" altLang="zh-CN" sz="2400" dirty="0">
                <a:latin typeface="微软雅黑" pitchFamily="34" charset="-122"/>
                <a:ea typeface="微软雅黑" pitchFamily="34" charset="-122"/>
                <a:cs typeface="经典粗黑简" pitchFamily="49" charset="-122"/>
              </a:rPr>
              <a:t>LS</a:t>
            </a:r>
            <a:r>
              <a:rPr lang="zh-CN" altLang="zh-CN" sz="2400" dirty="0">
                <a:latin typeface="微软雅黑" pitchFamily="34" charset="-122"/>
                <a:ea typeface="微软雅黑" pitchFamily="34" charset="-122"/>
                <a:cs typeface="经典粗黑简" pitchFamily="49" charset="-122"/>
              </a:rPr>
              <a:t>的成员，它可以是</a:t>
            </a:r>
            <a:r>
              <a:rPr lang="zh-CN" altLang="zh-CN" sz="2400" dirty="0">
                <a:solidFill>
                  <a:srgbClr val="FF0000"/>
                </a:solidFill>
                <a:latin typeface="微软雅黑" pitchFamily="34" charset="-122"/>
                <a:ea typeface="微软雅黑" pitchFamily="34" charset="-122"/>
                <a:cs typeface="经典粗黑简" pitchFamily="49" charset="-122"/>
              </a:rPr>
              <a:t>单个元素</a:t>
            </a:r>
            <a:r>
              <a:rPr lang="zh-CN" altLang="zh-CN" sz="2400" dirty="0">
                <a:latin typeface="微软雅黑" pitchFamily="34" charset="-122"/>
                <a:ea typeface="微软雅黑" pitchFamily="34" charset="-122"/>
                <a:cs typeface="经典粗黑简" pitchFamily="49" charset="-122"/>
              </a:rPr>
              <a:t>，也可以是一个</a:t>
            </a:r>
            <a:r>
              <a:rPr lang="zh-CN" altLang="zh-CN" sz="2400" dirty="0">
                <a:solidFill>
                  <a:srgbClr val="FF0000"/>
                </a:solidFill>
                <a:latin typeface="微软雅黑" pitchFamily="34" charset="-122"/>
                <a:ea typeface="微软雅黑" pitchFamily="34" charset="-122"/>
                <a:cs typeface="经典粗黑简" pitchFamily="49" charset="-122"/>
              </a:rPr>
              <a:t>广义表</a:t>
            </a:r>
            <a:r>
              <a:rPr lang="zh-CN" altLang="zh-CN" sz="2400" dirty="0">
                <a:latin typeface="微软雅黑" pitchFamily="34" charset="-122"/>
                <a:ea typeface="微软雅黑" pitchFamily="34" charset="-122"/>
                <a:cs typeface="经典粗黑简" pitchFamily="49" charset="-122"/>
              </a:rPr>
              <a:t>，分别称为广义表</a:t>
            </a:r>
            <a:r>
              <a:rPr lang="en-US" altLang="zh-CN" sz="2400" dirty="0">
                <a:latin typeface="微软雅黑" pitchFamily="34" charset="-122"/>
                <a:ea typeface="微软雅黑" pitchFamily="34" charset="-122"/>
                <a:cs typeface="经典粗黑简" pitchFamily="49" charset="-122"/>
              </a:rPr>
              <a:t>LS</a:t>
            </a:r>
            <a:r>
              <a:rPr lang="zh-CN" altLang="zh-CN" sz="2400" dirty="0">
                <a:latin typeface="微软雅黑" pitchFamily="34" charset="-122"/>
                <a:ea typeface="微软雅黑" pitchFamily="34" charset="-122"/>
                <a:cs typeface="经典粗黑简" pitchFamily="49" charset="-122"/>
              </a:rPr>
              <a:t>的</a:t>
            </a:r>
            <a:r>
              <a:rPr lang="zh-CN" altLang="zh-CN" sz="2400" dirty="0">
                <a:solidFill>
                  <a:srgbClr val="FF0000"/>
                </a:solidFill>
                <a:latin typeface="微软雅黑" pitchFamily="34" charset="-122"/>
                <a:ea typeface="微软雅黑" pitchFamily="34" charset="-122"/>
                <a:cs typeface="经典粗黑简" pitchFamily="49" charset="-122"/>
              </a:rPr>
              <a:t>原子</a:t>
            </a:r>
            <a:r>
              <a:rPr lang="zh-CN" altLang="zh-CN" sz="2400" dirty="0">
                <a:latin typeface="微软雅黑" pitchFamily="34" charset="-122"/>
                <a:ea typeface="微软雅黑" pitchFamily="34" charset="-122"/>
                <a:cs typeface="经典粗黑简" pitchFamily="49" charset="-122"/>
              </a:rPr>
              <a:t>和</a:t>
            </a:r>
            <a:r>
              <a:rPr lang="zh-CN" altLang="zh-CN" sz="2400" dirty="0">
                <a:solidFill>
                  <a:srgbClr val="FF0000"/>
                </a:solidFill>
                <a:latin typeface="微软雅黑" pitchFamily="34" charset="-122"/>
                <a:ea typeface="微软雅黑" pitchFamily="34" charset="-122"/>
                <a:cs typeface="经典粗黑简" pitchFamily="49" charset="-122"/>
              </a:rPr>
              <a:t>子表</a:t>
            </a:r>
            <a:r>
              <a:rPr lang="zh-CN" altLang="zh-CN" sz="2400" dirty="0">
                <a:latin typeface="微软雅黑" pitchFamily="34" charset="-122"/>
                <a:ea typeface="微软雅黑" pitchFamily="34" charset="-122"/>
                <a:cs typeface="经典粗黑简" pitchFamily="49" charset="-122"/>
              </a:rPr>
              <a:t>。</a:t>
            </a:r>
            <a:endParaRPr lang="zh-CN" altLang="en-US" sz="2400" dirty="0">
              <a:latin typeface="微软雅黑" pitchFamily="34" charset="-122"/>
              <a:ea typeface="微软雅黑" pitchFamily="34" charset="-122"/>
              <a:cs typeface="经典粗黑简" pitchFamily="49" charset="-122"/>
            </a:endParaRPr>
          </a:p>
        </p:txBody>
      </p:sp>
      <p:sp>
        <p:nvSpPr>
          <p:cNvPr id="100" name="矩形 99"/>
          <p:cNvSpPr/>
          <p:nvPr/>
        </p:nvSpPr>
        <p:spPr>
          <a:xfrm>
            <a:off x="1847528" y="1865121"/>
            <a:ext cx="6365845" cy="461665"/>
          </a:xfrm>
          <a:prstGeom prst="rect">
            <a:avLst/>
          </a:prstGeom>
        </p:spPr>
        <p:txBody>
          <a:bodyPr wrap="none">
            <a:spAutoFit/>
          </a:bodyPr>
          <a:lstStyle/>
          <a:p>
            <a:r>
              <a:rPr lang="zh-CN" altLang="zh-CN" sz="2400" dirty="0">
                <a:solidFill>
                  <a:srgbClr val="FF0000"/>
                </a:solidFill>
                <a:latin typeface="微软雅黑" pitchFamily="34" charset="-122"/>
                <a:ea typeface="微软雅黑" pitchFamily="34" charset="-122"/>
                <a:cs typeface="经典粗黑简" pitchFamily="49" charset="-122"/>
              </a:rPr>
              <a:t>广义表（</a:t>
            </a:r>
            <a:r>
              <a:rPr lang="en-US" altLang="zh-CN" sz="2400" dirty="0">
                <a:solidFill>
                  <a:srgbClr val="FF0000"/>
                </a:solidFill>
                <a:latin typeface="微软雅黑" pitchFamily="34" charset="-122"/>
                <a:ea typeface="微软雅黑" pitchFamily="34" charset="-122"/>
                <a:cs typeface="经典粗黑简" pitchFamily="49" charset="-122"/>
              </a:rPr>
              <a:t>Lists</a:t>
            </a:r>
            <a:r>
              <a:rPr lang="zh-CN" altLang="zh-CN" sz="2400" dirty="0">
                <a:solidFill>
                  <a:srgbClr val="FF0000"/>
                </a:solidFill>
                <a:latin typeface="微软雅黑" pitchFamily="34" charset="-122"/>
                <a:ea typeface="微软雅黑" pitchFamily="34" charset="-122"/>
                <a:cs typeface="经典粗黑简" pitchFamily="49" charset="-122"/>
              </a:rPr>
              <a:t>，又称列表）</a:t>
            </a:r>
            <a:r>
              <a:rPr lang="zh-CN" altLang="zh-CN" sz="2400" dirty="0">
                <a:latin typeface="微软雅黑" pitchFamily="34" charset="-122"/>
                <a:ea typeface="微软雅黑" pitchFamily="34" charset="-122"/>
                <a:cs typeface="经典粗黑简" pitchFamily="49" charset="-122"/>
              </a:rPr>
              <a:t>是线性表的推广。</a:t>
            </a:r>
            <a:endParaRPr lang="zh-CN" altLang="en-US" sz="2400" dirty="0">
              <a:latin typeface="微软雅黑" pitchFamily="34" charset="-122"/>
              <a:ea typeface="微软雅黑" pitchFamily="34" charset="-122"/>
              <a:cs typeface="经典粗黑简" pitchFamily="49" charset="-122"/>
            </a:endParaRPr>
          </a:p>
        </p:txBody>
      </p:sp>
      <p:sp>
        <p:nvSpPr>
          <p:cNvPr id="101" name="矩形 100"/>
          <p:cNvSpPr/>
          <p:nvPr/>
        </p:nvSpPr>
        <p:spPr>
          <a:xfrm>
            <a:off x="1847528" y="2598003"/>
            <a:ext cx="9217024" cy="830997"/>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线性表是由</a:t>
            </a:r>
            <a:r>
              <a:rPr lang="en-US" altLang="zh-CN" sz="24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个数据元素组成的有限序列</a:t>
            </a:r>
            <a:r>
              <a:rPr lang="zh-CN" altLang="en-US"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其中每个组成元素被限定为原子，有时这种限制需要拓宽。</a:t>
            </a:r>
            <a:endParaRPr lang="zh-CN" altLang="en-US" sz="2400" dirty="0">
              <a:latin typeface="微软雅黑" pitchFamily="34" charset="-122"/>
              <a:ea typeface="微软雅黑" pitchFamily="34" charset="-122"/>
              <a:cs typeface="经典粗黑简" pitchFamily="49" charset="-122"/>
            </a:endParaRPr>
          </a:p>
        </p:txBody>
      </p:sp>
      <p:sp>
        <p:nvSpPr>
          <p:cNvPr id="102" name="矩形 101"/>
          <p:cNvSpPr/>
          <p:nvPr/>
        </p:nvSpPr>
        <p:spPr>
          <a:xfrm>
            <a:off x="1847528" y="3573016"/>
            <a:ext cx="9289032" cy="1200329"/>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广义表是</a:t>
            </a:r>
            <a:r>
              <a:rPr lang="en-US" altLang="zh-CN" sz="24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0</a:t>
            </a:r>
            <a:r>
              <a:rPr lang="zh-CN" altLang="zh-CN" sz="2400" dirty="0">
                <a:latin typeface="微软雅黑" pitchFamily="34" charset="-122"/>
                <a:ea typeface="微软雅黑" pitchFamily="34" charset="-122"/>
                <a:cs typeface="经典粗黑简" pitchFamily="49" charset="-122"/>
              </a:rPr>
              <a:t>）个数据元素</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1</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2</a:t>
            </a:r>
            <a:r>
              <a:rPr lang="zh-CN" altLang="zh-CN" sz="2400" dirty="0">
                <a:latin typeface="微软雅黑" pitchFamily="34" charset="-122"/>
                <a:ea typeface="微软雅黑" pitchFamily="34" charset="-122"/>
                <a:cs typeface="经典粗黑简" pitchFamily="49" charset="-122"/>
              </a:rPr>
              <a:t>，…，</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latin typeface="微软雅黑" pitchFamily="34" charset="-122"/>
                <a:ea typeface="微软雅黑" pitchFamily="34" charset="-122"/>
                <a:cs typeface="经典粗黑简" pitchFamily="49" charset="-122"/>
              </a:rPr>
              <a:t>i</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的有序序列，</a:t>
            </a:r>
            <a:endParaRPr lang="en-US" altLang="zh-CN" sz="2400" dirty="0">
              <a:latin typeface="微软雅黑" pitchFamily="34" charset="-122"/>
              <a:ea typeface="微软雅黑" pitchFamily="34" charset="-122"/>
              <a:cs typeface="经典粗黑简" pitchFamily="49" charset="-122"/>
            </a:endParaRPr>
          </a:p>
          <a:p>
            <a:r>
              <a:rPr lang="zh-CN" altLang="zh-CN" sz="2400" dirty="0">
                <a:latin typeface="微软雅黑" pitchFamily="34" charset="-122"/>
                <a:ea typeface="微软雅黑" pitchFamily="34" charset="-122"/>
                <a:cs typeface="经典粗黑简" pitchFamily="49" charset="-122"/>
              </a:rPr>
              <a:t>一般记作：</a:t>
            </a:r>
          </a:p>
          <a:p>
            <a:r>
              <a:rPr lang="en-US" altLang="zh-CN" sz="2400" dirty="0">
                <a:latin typeface="微软雅黑" pitchFamily="34" charset="-122"/>
                <a:ea typeface="微软雅黑" pitchFamily="34" charset="-122"/>
                <a:cs typeface="经典粗黑简" pitchFamily="49" charset="-122"/>
              </a:rPr>
              <a:t>             LS </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1</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2</a:t>
            </a:r>
            <a:r>
              <a:rPr lang="zh-CN" altLang="zh-CN" sz="2400" dirty="0">
                <a:latin typeface="微软雅黑" pitchFamily="34" charset="-122"/>
                <a:ea typeface="微软雅黑" pitchFamily="34" charset="-122"/>
                <a:cs typeface="经典粗黑简" pitchFamily="49" charset="-122"/>
              </a:rPr>
              <a:t>，…，</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latin typeface="微软雅黑" pitchFamily="34" charset="-122"/>
                <a:ea typeface="微软雅黑" pitchFamily="34" charset="-122"/>
                <a:cs typeface="经典粗黑简" pitchFamily="49" charset="-122"/>
              </a:rPr>
              <a:t>i</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a:t>
            </a:r>
          </a:p>
        </p:txBody>
      </p:sp>
      <p:sp>
        <p:nvSpPr>
          <p:cNvPr id="2" name="Rectangle 2">
            <a:extLst>
              <a:ext uri="{FF2B5EF4-FFF2-40B4-BE49-F238E27FC236}">
                <a16:creationId xmlns:a16="http://schemas.microsoft.com/office/drawing/2014/main" id="{DF943915-96B0-A01E-6D81-148DBDC00D6F}"/>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B16C0666-5EED-CD78-0EC6-811047B621E9}"/>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9744F02-53EC-D5EB-406B-8D1092A4D647}"/>
              </a:ext>
            </a:extLst>
          </p:cNvPr>
          <p:cNvSpPr txBox="1">
            <a:spLocks noChangeArrowheads="1"/>
          </p:cNvSpPr>
          <p:nvPr/>
        </p:nvSpPr>
        <p:spPr>
          <a:xfrm>
            <a:off x="191344" y="1106736"/>
            <a:ext cx="374441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6.3.1 </a:t>
            </a:r>
            <a:r>
              <a:rPr lang="zh-CN" altLang="en-US" sz="2800" b="1" dirty="0">
                <a:solidFill>
                  <a:schemeClr val="bg1"/>
                </a:solidFill>
                <a:latin typeface="经典粗黑简" pitchFamily="49" charset="-122"/>
                <a:ea typeface="经典粗黑简" pitchFamily="49" charset="-122"/>
                <a:cs typeface="经典粗黑简" pitchFamily="49" charset="-122"/>
              </a:rPr>
              <a:t>广义表的定义</a:t>
            </a:r>
          </a:p>
        </p:txBody>
      </p:sp>
    </p:spTree>
    <p:extLst>
      <p:ext uri="{BB962C8B-B14F-4D97-AF65-F5344CB8AC3E}">
        <p14:creationId xmlns:p14="http://schemas.microsoft.com/office/powerpoint/2010/main" val="180857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100" grpId="0"/>
      <p:bldP spid="101" grpId="0"/>
      <p:bldP spid="10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873167" y="4917361"/>
            <a:ext cx="9289032" cy="830997"/>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当广义表</a:t>
            </a:r>
            <a:r>
              <a:rPr lang="en-US" altLang="zh-CN" sz="2400" dirty="0">
                <a:latin typeface="微软雅黑" pitchFamily="34" charset="-122"/>
                <a:ea typeface="微软雅黑" pitchFamily="34" charset="-122"/>
                <a:cs typeface="经典粗黑简" pitchFamily="49" charset="-122"/>
              </a:rPr>
              <a:t>LS</a:t>
            </a:r>
            <a:r>
              <a:rPr lang="zh-CN" altLang="zh-CN" sz="2400" dirty="0">
                <a:latin typeface="微软雅黑" pitchFamily="34" charset="-122"/>
                <a:ea typeface="微软雅黑" pitchFamily="34" charset="-122"/>
                <a:cs typeface="经典粗黑简" pitchFamily="49" charset="-122"/>
              </a:rPr>
              <a:t>非空时，称第一个元素</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1</a:t>
            </a:r>
            <a:r>
              <a:rPr lang="zh-CN" altLang="zh-CN" sz="2400" dirty="0">
                <a:latin typeface="微软雅黑" pitchFamily="34" charset="-122"/>
                <a:ea typeface="微软雅黑" pitchFamily="34" charset="-122"/>
                <a:cs typeface="经典粗黑简" pitchFamily="49" charset="-122"/>
              </a:rPr>
              <a:t>为</a:t>
            </a:r>
            <a:r>
              <a:rPr lang="en-US" altLang="zh-CN" sz="2400" dirty="0">
                <a:latin typeface="微软雅黑" pitchFamily="34" charset="-122"/>
                <a:ea typeface="微软雅黑" pitchFamily="34" charset="-122"/>
                <a:cs typeface="经典粗黑简" pitchFamily="49" charset="-122"/>
              </a:rPr>
              <a:t>LS</a:t>
            </a:r>
            <a:r>
              <a:rPr lang="zh-CN" altLang="zh-CN" sz="2400" dirty="0">
                <a:latin typeface="微软雅黑" pitchFamily="34" charset="-122"/>
                <a:ea typeface="微软雅黑" pitchFamily="34" charset="-122"/>
                <a:cs typeface="经典粗黑简" pitchFamily="49" charset="-122"/>
              </a:rPr>
              <a:t>的</a:t>
            </a:r>
            <a:r>
              <a:rPr lang="zh-CN" altLang="zh-CN" sz="2400" dirty="0">
                <a:solidFill>
                  <a:srgbClr val="FF0000"/>
                </a:solidFill>
                <a:latin typeface="微软雅黑" pitchFamily="34" charset="-122"/>
                <a:ea typeface="微软雅黑" pitchFamily="34" charset="-122"/>
                <a:cs typeface="经典粗黑简" pitchFamily="49" charset="-122"/>
              </a:rPr>
              <a:t>表头</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head</a:t>
            </a:r>
            <a:r>
              <a:rPr lang="zh-CN" altLang="zh-CN" sz="2400" dirty="0">
                <a:latin typeface="微软雅黑" pitchFamily="34" charset="-122"/>
                <a:ea typeface="微软雅黑" pitchFamily="34" charset="-122"/>
                <a:cs typeface="经典粗黑简" pitchFamily="49" charset="-122"/>
              </a:rPr>
              <a:t>），称其余元素组成的表（</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2</a:t>
            </a:r>
            <a:r>
              <a:rPr lang="zh-CN" altLang="zh-CN" sz="2400" dirty="0">
                <a:latin typeface="微软雅黑" pitchFamily="34" charset="-122"/>
                <a:ea typeface="微软雅黑" pitchFamily="34" charset="-122"/>
                <a:cs typeface="经典粗黑简" pitchFamily="49" charset="-122"/>
              </a:rPr>
              <a:t>，…，</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latin typeface="微软雅黑" pitchFamily="34" charset="-122"/>
                <a:ea typeface="微软雅黑" pitchFamily="34" charset="-122"/>
                <a:cs typeface="经典粗黑简" pitchFamily="49" charset="-122"/>
              </a:rPr>
              <a:t>i</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）为</a:t>
            </a:r>
            <a:r>
              <a:rPr lang="en-US" altLang="zh-CN" sz="2400" dirty="0">
                <a:latin typeface="微软雅黑" pitchFamily="34" charset="-122"/>
                <a:ea typeface="微软雅黑" pitchFamily="34" charset="-122"/>
                <a:cs typeface="经典粗黑简" pitchFamily="49" charset="-122"/>
              </a:rPr>
              <a:t>LS</a:t>
            </a:r>
            <a:r>
              <a:rPr lang="zh-CN" altLang="zh-CN" sz="2400" dirty="0">
                <a:latin typeface="微软雅黑" pitchFamily="34" charset="-122"/>
                <a:ea typeface="微软雅黑" pitchFamily="34" charset="-122"/>
                <a:cs typeface="经典粗黑简" pitchFamily="49" charset="-122"/>
              </a:rPr>
              <a:t>的</a:t>
            </a:r>
            <a:r>
              <a:rPr lang="zh-CN" altLang="zh-CN" sz="2400" dirty="0">
                <a:solidFill>
                  <a:srgbClr val="FF0000"/>
                </a:solidFill>
                <a:latin typeface="微软雅黑" pitchFamily="34" charset="-122"/>
                <a:ea typeface="微软雅黑" pitchFamily="34" charset="-122"/>
                <a:cs typeface="经典粗黑简" pitchFamily="49" charset="-122"/>
              </a:rPr>
              <a:t>表尾</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tail</a:t>
            </a:r>
            <a:r>
              <a:rPr lang="zh-CN" altLang="zh-CN" sz="2400" dirty="0">
                <a:latin typeface="微软雅黑" pitchFamily="34" charset="-122"/>
                <a:ea typeface="微软雅黑" pitchFamily="34" charset="-122"/>
                <a:cs typeface="经典粗黑简" pitchFamily="49" charset="-122"/>
              </a:rPr>
              <a:t>）。</a:t>
            </a:r>
            <a:endParaRPr lang="zh-CN" altLang="en-US" sz="2400" dirty="0">
              <a:latin typeface="微软雅黑" pitchFamily="34" charset="-122"/>
              <a:ea typeface="微软雅黑" pitchFamily="34" charset="-122"/>
              <a:cs typeface="经典粗黑简" pitchFamily="49" charset="-122"/>
            </a:endParaRPr>
          </a:p>
        </p:txBody>
      </p:sp>
      <p:sp>
        <p:nvSpPr>
          <p:cNvPr id="12" name="矩形 11"/>
          <p:cNvSpPr/>
          <p:nvPr/>
        </p:nvSpPr>
        <p:spPr>
          <a:xfrm>
            <a:off x="1873167" y="6096668"/>
            <a:ext cx="4392303" cy="400110"/>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显然，</a:t>
            </a:r>
            <a:r>
              <a:rPr lang="zh-CN" altLang="zh-CN" sz="2000" dirty="0">
                <a:solidFill>
                  <a:srgbClr val="FF0000"/>
                </a:solidFill>
                <a:latin typeface="微软雅黑" pitchFamily="34" charset="-122"/>
                <a:ea typeface="微软雅黑" pitchFamily="34" charset="-122"/>
                <a:cs typeface="经典粗黑简" pitchFamily="49" charset="-122"/>
              </a:rPr>
              <a:t>广义表的定义是递归的</a:t>
            </a:r>
            <a:r>
              <a:rPr lang="zh-CN" altLang="zh-CN" sz="2000" dirty="0">
                <a:latin typeface="微软雅黑" pitchFamily="34" charset="-122"/>
                <a:ea typeface="微软雅黑" pitchFamily="34" charset="-122"/>
                <a:cs typeface="经典粗黑简" pitchFamily="49" charset="-122"/>
              </a:rPr>
              <a:t>。</a:t>
            </a:r>
            <a:endParaRPr lang="zh-CN" altLang="en-US" sz="20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AB936D77-CEB2-A54C-E1B3-21C13548277B}"/>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027928FC-05C3-FAD2-5F32-A7E6E8927C98}"/>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6C29DF09-C60D-CECE-DE0C-943CC21A573F}"/>
              </a:ext>
            </a:extLst>
          </p:cNvPr>
          <p:cNvSpPr txBox="1">
            <a:spLocks noChangeArrowheads="1"/>
          </p:cNvSpPr>
          <p:nvPr/>
        </p:nvSpPr>
        <p:spPr>
          <a:xfrm>
            <a:off x="191344" y="1106736"/>
            <a:ext cx="374441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6.3.1 </a:t>
            </a:r>
            <a:r>
              <a:rPr lang="zh-CN" altLang="en-US" sz="2800" b="1" dirty="0">
                <a:solidFill>
                  <a:schemeClr val="bg1"/>
                </a:solidFill>
                <a:latin typeface="经典粗黑简" pitchFamily="49" charset="-122"/>
                <a:ea typeface="经典粗黑简" pitchFamily="49" charset="-122"/>
                <a:cs typeface="经典粗黑简" pitchFamily="49" charset="-122"/>
              </a:rPr>
              <a:t>广义表的定义</a:t>
            </a:r>
          </a:p>
        </p:txBody>
      </p:sp>
      <p:sp>
        <p:nvSpPr>
          <p:cNvPr id="5" name="矩形 4">
            <a:extLst>
              <a:ext uri="{FF2B5EF4-FFF2-40B4-BE49-F238E27FC236}">
                <a16:creationId xmlns:a16="http://schemas.microsoft.com/office/drawing/2014/main" id="{611160B1-0AC6-CF11-AF22-5EE56BD893E3}"/>
              </a:ext>
            </a:extLst>
          </p:cNvPr>
          <p:cNvSpPr/>
          <p:nvPr/>
        </p:nvSpPr>
        <p:spPr>
          <a:xfrm>
            <a:off x="1847528" y="1865121"/>
            <a:ext cx="6365845" cy="461665"/>
          </a:xfrm>
          <a:prstGeom prst="rect">
            <a:avLst/>
          </a:prstGeom>
        </p:spPr>
        <p:txBody>
          <a:bodyPr wrap="none">
            <a:spAutoFit/>
          </a:bodyPr>
          <a:lstStyle/>
          <a:p>
            <a:r>
              <a:rPr lang="zh-CN" altLang="zh-CN" sz="2400" dirty="0">
                <a:solidFill>
                  <a:srgbClr val="FF0000"/>
                </a:solidFill>
                <a:latin typeface="微软雅黑" pitchFamily="34" charset="-122"/>
                <a:ea typeface="微软雅黑" pitchFamily="34" charset="-122"/>
                <a:cs typeface="经典粗黑简" pitchFamily="49" charset="-122"/>
              </a:rPr>
              <a:t>广义表（</a:t>
            </a:r>
            <a:r>
              <a:rPr lang="en-US" altLang="zh-CN" sz="2400" dirty="0">
                <a:solidFill>
                  <a:srgbClr val="FF0000"/>
                </a:solidFill>
                <a:latin typeface="微软雅黑" pitchFamily="34" charset="-122"/>
                <a:ea typeface="微软雅黑" pitchFamily="34" charset="-122"/>
                <a:cs typeface="经典粗黑简" pitchFamily="49" charset="-122"/>
              </a:rPr>
              <a:t>Lists</a:t>
            </a:r>
            <a:r>
              <a:rPr lang="zh-CN" altLang="zh-CN" sz="2400" dirty="0">
                <a:solidFill>
                  <a:srgbClr val="FF0000"/>
                </a:solidFill>
                <a:latin typeface="微软雅黑" pitchFamily="34" charset="-122"/>
                <a:ea typeface="微软雅黑" pitchFamily="34" charset="-122"/>
                <a:cs typeface="经典粗黑简" pitchFamily="49" charset="-122"/>
              </a:rPr>
              <a:t>，又称列表）</a:t>
            </a:r>
            <a:r>
              <a:rPr lang="zh-CN" altLang="zh-CN" sz="2400" dirty="0">
                <a:latin typeface="微软雅黑" pitchFamily="34" charset="-122"/>
                <a:ea typeface="微软雅黑" pitchFamily="34" charset="-122"/>
                <a:cs typeface="经典粗黑简" pitchFamily="49" charset="-122"/>
              </a:rPr>
              <a:t>是线性表的推广。</a:t>
            </a:r>
            <a:endParaRPr lang="zh-CN" altLang="en-US" sz="2400" dirty="0">
              <a:latin typeface="微软雅黑" pitchFamily="34" charset="-122"/>
              <a:ea typeface="微软雅黑" pitchFamily="34" charset="-122"/>
              <a:cs typeface="经典粗黑简" pitchFamily="49" charset="-122"/>
            </a:endParaRPr>
          </a:p>
        </p:txBody>
      </p:sp>
      <p:sp>
        <p:nvSpPr>
          <p:cNvPr id="6" name="矩形 5">
            <a:extLst>
              <a:ext uri="{FF2B5EF4-FFF2-40B4-BE49-F238E27FC236}">
                <a16:creationId xmlns:a16="http://schemas.microsoft.com/office/drawing/2014/main" id="{E919BEC9-31F6-7D05-EA1F-11892C9CF987}"/>
              </a:ext>
            </a:extLst>
          </p:cNvPr>
          <p:cNvSpPr/>
          <p:nvPr/>
        </p:nvSpPr>
        <p:spPr>
          <a:xfrm>
            <a:off x="1847528" y="2598003"/>
            <a:ext cx="9217024" cy="830997"/>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线性表是由</a:t>
            </a:r>
            <a:r>
              <a:rPr lang="en-US" altLang="zh-CN" sz="24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个数据元素组成的有限序列</a:t>
            </a:r>
            <a:r>
              <a:rPr lang="zh-CN" altLang="en-US"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其中每个组成元素被限定为原子，有时这种限制需要拓宽。</a:t>
            </a:r>
            <a:endParaRPr lang="zh-CN" altLang="en-US" sz="2400" dirty="0">
              <a:latin typeface="微软雅黑" pitchFamily="34" charset="-122"/>
              <a:ea typeface="微软雅黑" pitchFamily="34" charset="-122"/>
              <a:cs typeface="经典粗黑简" pitchFamily="49" charset="-122"/>
            </a:endParaRPr>
          </a:p>
        </p:txBody>
      </p:sp>
      <p:sp>
        <p:nvSpPr>
          <p:cNvPr id="7" name="矩形 6">
            <a:extLst>
              <a:ext uri="{FF2B5EF4-FFF2-40B4-BE49-F238E27FC236}">
                <a16:creationId xmlns:a16="http://schemas.microsoft.com/office/drawing/2014/main" id="{91C8042D-0906-A048-0539-94CA6A314ED9}"/>
              </a:ext>
            </a:extLst>
          </p:cNvPr>
          <p:cNvSpPr/>
          <p:nvPr/>
        </p:nvSpPr>
        <p:spPr>
          <a:xfrm>
            <a:off x="1847528" y="3573016"/>
            <a:ext cx="9289032" cy="1200329"/>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广义表是</a:t>
            </a:r>
            <a:r>
              <a:rPr lang="en-US" altLang="zh-CN" sz="24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0</a:t>
            </a:r>
            <a:r>
              <a:rPr lang="zh-CN" altLang="zh-CN" sz="2400" dirty="0">
                <a:latin typeface="微软雅黑" pitchFamily="34" charset="-122"/>
                <a:ea typeface="微软雅黑" pitchFamily="34" charset="-122"/>
                <a:cs typeface="经典粗黑简" pitchFamily="49" charset="-122"/>
              </a:rPr>
              <a:t>）个数据元素</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1</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2</a:t>
            </a:r>
            <a:r>
              <a:rPr lang="zh-CN" altLang="zh-CN" sz="2400" dirty="0">
                <a:latin typeface="微软雅黑" pitchFamily="34" charset="-122"/>
                <a:ea typeface="微软雅黑" pitchFamily="34" charset="-122"/>
                <a:cs typeface="经典粗黑简" pitchFamily="49" charset="-122"/>
              </a:rPr>
              <a:t>，…，</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latin typeface="微软雅黑" pitchFamily="34" charset="-122"/>
                <a:ea typeface="微软雅黑" pitchFamily="34" charset="-122"/>
                <a:cs typeface="经典粗黑简" pitchFamily="49" charset="-122"/>
              </a:rPr>
              <a:t>i</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的有序序列，</a:t>
            </a:r>
            <a:endParaRPr lang="en-US" altLang="zh-CN" sz="2400" dirty="0">
              <a:latin typeface="微软雅黑" pitchFamily="34" charset="-122"/>
              <a:ea typeface="微软雅黑" pitchFamily="34" charset="-122"/>
              <a:cs typeface="经典粗黑简" pitchFamily="49" charset="-122"/>
            </a:endParaRPr>
          </a:p>
          <a:p>
            <a:r>
              <a:rPr lang="zh-CN" altLang="zh-CN" sz="2400" dirty="0">
                <a:latin typeface="微软雅黑" pitchFamily="34" charset="-122"/>
                <a:ea typeface="微软雅黑" pitchFamily="34" charset="-122"/>
                <a:cs typeface="经典粗黑简" pitchFamily="49" charset="-122"/>
              </a:rPr>
              <a:t>一般记作：</a:t>
            </a:r>
          </a:p>
          <a:p>
            <a:r>
              <a:rPr lang="en-US" altLang="zh-CN" sz="2400" dirty="0">
                <a:latin typeface="微软雅黑" pitchFamily="34" charset="-122"/>
                <a:ea typeface="微软雅黑" pitchFamily="34" charset="-122"/>
                <a:cs typeface="经典粗黑简" pitchFamily="49" charset="-122"/>
              </a:rPr>
              <a:t>             LS </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1</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2</a:t>
            </a:r>
            <a:r>
              <a:rPr lang="zh-CN" altLang="zh-CN" sz="2400" dirty="0">
                <a:latin typeface="微软雅黑" pitchFamily="34" charset="-122"/>
                <a:ea typeface="微软雅黑" pitchFamily="34" charset="-122"/>
                <a:cs typeface="经典粗黑简" pitchFamily="49" charset="-122"/>
              </a:rPr>
              <a:t>，…，</a:t>
            </a:r>
            <a:r>
              <a:rPr lang="en-US" altLang="zh-CN" sz="2400" dirty="0" err="1">
                <a:latin typeface="微软雅黑" pitchFamily="34" charset="-122"/>
                <a:ea typeface="微软雅黑" pitchFamily="34" charset="-122"/>
                <a:cs typeface="经典粗黑简" pitchFamily="49" charset="-122"/>
              </a:rPr>
              <a:t>a</a:t>
            </a:r>
            <a:r>
              <a:rPr lang="en-US" altLang="zh-CN" sz="2400" baseline="-25000" dirty="0" err="1">
                <a:latin typeface="微软雅黑" pitchFamily="34" charset="-122"/>
                <a:ea typeface="微软雅黑" pitchFamily="34" charset="-122"/>
                <a:cs typeface="经典粗黑简" pitchFamily="49" charset="-122"/>
              </a:rPr>
              <a:t>i</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a:t>
            </a:r>
            <a:r>
              <a:rPr lang="en-US" altLang="zh-CN" sz="2400" baseline="-25000" dirty="0">
                <a:latin typeface="微软雅黑" pitchFamily="34" charset="-122"/>
                <a:ea typeface="微软雅黑" pitchFamily="34" charset="-122"/>
                <a:cs typeface="经典粗黑简" pitchFamily="49" charset="-122"/>
              </a:rPr>
              <a:t>n</a:t>
            </a:r>
            <a:r>
              <a:rPr lang="zh-CN" altLang="zh-CN" sz="2400" dirty="0">
                <a:latin typeface="微软雅黑" pitchFamily="34" charset="-122"/>
                <a:ea typeface="微软雅黑" pitchFamily="34" charset="-122"/>
                <a:cs typeface="经典粗黑简" pitchFamily="49" charset="-122"/>
              </a:rPr>
              <a:t>）</a:t>
            </a:r>
          </a:p>
        </p:txBody>
      </p:sp>
    </p:spTree>
    <p:extLst>
      <p:ext uri="{BB962C8B-B14F-4D97-AF65-F5344CB8AC3E}">
        <p14:creationId xmlns:p14="http://schemas.microsoft.com/office/powerpoint/2010/main" val="240421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1603470" y="1889118"/>
            <a:ext cx="8885018" cy="1200329"/>
          </a:xfrm>
          <a:prstGeom prst="rect">
            <a:avLst/>
          </a:prstGeom>
        </p:spPr>
        <p:txBody>
          <a:bodyPr wrap="square">
            <a:spAutoFit/>
          </a:bodyPr>
          <a:lstStyle/>
          <a:p>
            <a:r>
              <a:rPr lang="en-US" altLang="zh-CN" sz="2400" dirty="0">
                <a:latin typeface="微软雅黑" pitchFamily="34" charset="-122"/>
                <a:ea typeface="微软雅黑" pitchFamily="34" charset="-122"/>
                <a:cs typeface="经典粗黑简" pitchFamily="49" charset="-122"/>
              </a:rPr>
              <a:t>      </a:t>
            </a:r>
            <a:r>
              <a:rPr lang="zh-CN" altLang="zh-CN" sz="2400" dirty="0">
                <a:latin typeface="微软雅黑" pitchFamily="34" charset="-122"/>
                <a:ea typeface="微软雅黑" pitchFamily="34" charset="-122"/>
                <a:cs typeface="经典粗黑简" pitchFamily="49" charset="-122"/>
              </a:rPr>
              <a:t>为书写清楚起见，通常用大写字母表示广义表，用小写字母表示单个数据元素，广义表用括号括起来，括号内的数据元素用逗号分隔开。例如：</a:t>
            </a:r>
          </a:p>
        </p:txBody>
      </p:sp>
      <p:sp>
        <p:nvSpPr>
          <p:cNvPr id="18" name="矩形 17"/>
          <p:cNvSpPr/>
          <p:nvPr/>
        </p:nvSpPr>
        <p:spPr>
          <a:xfrm>
            <a:off x="2121406" y="3499370"/>
            <a:ext cx="6494875"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B = (e) ,B</a:t>
            </a:r>
            <a:r>
              <a:rPr lang="zh-CN" altLang="zh-CN" sz="2000" dirty="0">
                <a:latin typeface="微软雅黑" pitchFamily="34" charset="-122"/>
                <a:ea typeface="微软雅黑" pitchFamily="34" charset="-122"/>
                <a:cs typeface="经典粗黑简" pitchFamily="49" charset="-122"/>
              </a:rPr>
              <a:t>是长度为</a:t>
            </a:r>
            <a:r>
              <a:rPr lang="en-US" altLang="zh-CN" sz="2000" dirty="0">
                <a:latin typeface="微软雅黑" pitchFamily="34" charset="-122"/>
                <a:ea typeface="微软雅黑" pitchFamily="34" charset="-122"/>
                <a:cs typeface="经典粗黑简" pitchFamily="49" charset="-122"/>
              </a:rPr>
              <a:t>1</a:t>
            </a:r>
            <a:r>
              <a:rPr lang="zh-CN" altLang="zh-CN" sz="2000" dirty="0">
                <a:latin typeface="微软雅黑" pitchFamily="34" charset="-122"/>
                <a:ea typeface="微软雅黑" pitchFamily="34" charset="-122"/>
                <a:cs typeface="经典粗黑简" pitchFamily="49" charset="-122"/>
              </a:rPr>
              <a:t>的广义表，它的元素是一个原子。</a:t>
            </a:r>
            <a:endParaRPr lang="en-US" altLang="zh-CN" sz="2000" dirty="0">
              <a:latin typeface="微软雅黑" pitchFamily="34" charset="-122"/>
              <a:ea typeface="微软雅黑" pitchFamily="34" charset="-122"/>
              <a:cs typeface="经典粗黑简" pitchFamily="49" charset="-122"/>
            </a:endParaRPr>
          </a:p>
        </p:txBody>
      </p:sp>
      <p:sp>
        <p:nvSpPr>
          <p:cNvPr id="19" name="矩形 18"/>
          <p:cNvSpPr/>
          <p:nvPr/>
        </p:nvSpPr>
        <p:spPr>
          <a:xfrm>
            <a:off x="2121406" y="3929780"/>
            <a:ext cx="4982707" cy="707886"/>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C = (a,(</a:t>
            </a:r>
            <a:r>
              <a:rPr lang="en-US" altLang="zh-CN" sz="2000" dirty="0" err="1">
                <a:latin typeface="微软雅黑" pitchFamily="34" charset="-122"/>
                <a:ea typeface="微软雅黑" pitchFamily="34" charset="-122"/>
                <a:cs typeface="经典粗黑简" pitchFamily="49" charset="-122"/>
              </a:rPr>
              <a:t>b,c,d</a:t>
            </a:r>
            <a:r>
              <a:rPr lang="en-US" altLang="zh-CN" sz="2000" dirty="0">
                <a:latin typeface="微软雅黑" pitchFamily="34" charset="-122"/>
                <a:ea typeface="微软雅黑" pitchFamily="34" charset="-122"/>
                <a:cs typeface="经典粗黑简" pitchFamily="49" charset="-122"/>
              </a:rPr>
              <a:t>)) C</a:t>
            </a:r>
            <a:r>
              <a:rPr lang="zh-CN" altLang="zh-CN" sz="2000" dirty="0">
                <a:latin typeface="微软雅黑" pitchFamily="34" charset="-122"/>
                <a:ea typeface="微软雅黑" pitchFamily="34" charset="-122"/>
                <a:cs typeface="经典粗黑简" pitchFamily="49" charset="-122"/>
              </a:rPr>
              <a:t>是长度为</a:t>
            </a:r>
            <a:r>
              <a:rPr lang="en-US" altLang="zh-CN" sz="2000" dirty="0">
                <a:latin typeface="微软雅黑" pitchFamily="34" charset="-122"/>
                <a:ea typeface="微软雅黑" pitchFamily="34" charset="-122"/>
                <a:cs typeface="经典粗黑简" pitchFamily="49" charset="-122"/>
              </a:rPr>
              <a:t>2</a:t>
            </a:r>
            <a:r>
              <a:rPr lang="zh-CN" altLang="zh-CN" sz="2000" dirty="0">
                <a:latin typeface="微软雅黑" pitchFamily="34" charset="-122"/>
                <a:ea typeface="微软雅黑" pitchFamily="34" charset="-122"/>
                <a:cs typeface="经典粗黑简" pitchFamily="49" charset="-122"/>
              </a:rPr>
              <a:t>的广义表，</a:t>
            </a:r>
            <a:endParaRPr lang="en-US" altLang="zh-CN" sz="2000" dirty="0">
              <a:latin typeface="微软雅黑" pitchFamily="34" charset="-122"/>
              <a:ea typeface="微软雅黑" pitchFamily="34" charset="-122"/>
              <a:cs typeface="经典粗黑简" pitchFamily="49" charset="-122"/>
            </a:endParaRPr>
          </a:p>
          <a:p>
            <a:r>
              <a:rPr lang="zh-CN" altLang="zh-CN" sz="2000" dirty="0">
                <a:latin typeface="微软雅黑" pitchFamily="34" charset="-122"/>
                <a:ea typeface="微软雅黑" pitchFamily="34" charset="-122"/>
                <a:cs typeface="经典粗黑简" pitchFamily="49" charset="-122"/>
              </a:rPr>
              <a:t>第一个元素是原子，第二个元素是子表。</a:t>
            </a:r>
            <a:endParaRPr lang="en-US" altLang="zh-CN" sz="2000" dirty="0">
              <a:latin typeface="微软雅黑" pitchFamily="34" charset="-122"/>
              <a:ea typeface="微软雅黑" pitchFamily="34" charset="-122"/>
              <a:cs typeface="经典粗黑简" pitchFamily="49" charset="-122"/>
            </a:endParaRPr>
          </a:p>
        </p:txBody>
      </p:sp>
      <p:sp>
        <p:nvSpPr>
          <p:cNvPr id="20" name="矩形 19"/>
          <p:cNvSpPr/>
          <p:nvPr/>
        </p:nvSpPr>
        <p:spPr>
          <a:xfrm>
            <a:off x="2121406" y="4668605"/>
            <a:ext cx="6854915"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D = (A,B,C) D</a:t>
            </a:r>
            <a:r>
              <a:rPr lang="zh-CN" altLang="zh-CN" sz="2000" dirty="0">
                <a:latin typeface="微软雅黑" pitchFamily="34" charset="-122"/>
                <a:ea typeface="微软雅黑" pitchFamily="34" charset="-122"/>
                <a:cs typeface="经典粗黑简" pitchFamily="49" charset="-122"/>
              </a:rPr>
              <a:t>是长度为</a:t>
            </a:r>
            <a:r>
              <a:rPr lang="en-US" altLang="zh-CN" sz="2000" dirty="0">
                <a:latin typeface="微软雅黑" pitchFamily="34" charset="-122"/>
                <a:ea typeface="微软雅黑" pitchFamily="34" charset="-122"/>
                <a:cs typeface="经典粗黑简" pitchFamily="49" charset="-122"/>
              </a:rPr>
              <a:t>3</a:t>
            </a:r>
            <a:r>
              <a:rPr lang="zh-CN" altLang="zh-CN" sz="2000" dirty="0">
                <a:latin typeface="微软雅黑" pitchFamily="34" charset="-122"/>
                <a:ea typeface="微软雅黑" pitchFamily="34" charset="-122"/>
                <a:cs typeface="经典粗黑简" pitchFamily="49" charset="-122"/>
              </a:rPr>
              <a:t>的广义表，三个元素都是子表。</a:t>
            </a:r>
            <a:endParaRPr lang="en-US" altLang="zh-CN" sz="2000" dirty="0">
              <a:latin typeface="微软雅黑" pitchFamily="34" charset="-122"/>
              <a:ea typeface="微软雅黑" pitchFamily="34" charset="-122"/>
              <a:cs typeface="经典粗黑简" pitchFamily="49" charset="-122"/>
            </a:endParaRPr>
          </a:p>
        </p:txBody>
      </p:sp>
      <p:sp>
        <p:nvSpPr>
          <p:cNvPr id="21" name="矩形 20"/>
          <p:cNvSpPr/>
          <p:nvPr/>
        </p:nvSpPr>
        <p:spPr>
          <a:xfrm>
            <a:off x="2121406" y="5099015"/>
            <a:ext cx="7214955" cy="707886"/>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E = (</a:t>
            </a:r>
            <a:r>
              <a:rPr lang="en-US" altLang="zh-CN" sz="2000" dirty="0" err="1">
                <a:latin typeface="微软雅黑" pitchFamily="34" charset="-122"/>
                <a:ea typeface="微软雅黑" pitchFamily="34" charset="-122"/>
                <a:cs typeface="经典粗黑简" pitchFamily="49" charset="-122"/>
              </a:rPr>
              <a:t>a,E</a:t>
            </a:r>
            <a:r>
              <a:rPr lang="en-US" altLang="zh-CN" sz="2000" dirty="0">
                <a:latin typeface="微软雅黑" pitchFamily="34" charset="-122"/>
                <a:ea typeface="微软雅黑" pitchFamily="34" charset="-122"/>
                <a:cs typeface="经典粗黑简" pitchFamily="49" charset="-122"/>
              </a:rPr>
              <a:t>) E</a:t>
            </a:r>
            <a:r>
              <a:rPr lang="zh-CN" altLang="zh-CN" sz="2000" dirty="0">
                <a:latin typeface="微软雅黑" pitchFamily="34" charset="-122"/>
                <a:ea typeface="微软雅黑" pitchFamily="34" charset="-122"/>
                <a:cs typeface="经典粗黑简" pitchFamily="49" charset="-122"/>
              </a:rPr>
              <a:t>的长度为</a:t>
            </a:r>
            <a:r>
              <a:rPr lang="en-US" altLang="zh-CN" sz="2000" dirty="0">
                <a:latin typeface="微软雅黑" pitchFamily="34" charset="-122"/>
                <a:ea typeface="微软雅黑" pitchFamily="34" charset="-122"/>
                <a:cs typeface="经典粗黑简" pitchFamily="49" charset="-122"/>
              </a:rPr>
              <a:t>2</a:t>
            </a:r>
            <a:r>
              <a:rPr lang="zh-CN" altLang="zh-CN" sz="2000" dirty="0">
                <a:latin typeface="微软雅黑" pitchFamily="34" charset="-122"/>
                <a:ea typeface="微软雅黑" pitchFamily="34" charset="-122"/>
                <a:cs typeface="经典粗黑简" pitchFamily="49" charset="-122"/>
              </a:rPr>
              <a:t>，第一个元素是原子，第二个元素是</a:t>
            </a:r>
            <a:r>
              <a:rPr lang="en-US" altLang="zh-CN" sz="2000" dirty="0">
                <a:latin typeface="微软雅黑" pitchFamily="34" charset="-122"/>
                <a:ea typeface="微软雅黑" pitchFamily="34" charset="-122"/>
                <a:cs typeface="经典粗黑简" pitchFamily="49" charset="-122"/>
              </a:rPr>
              <a:t>E</a:t>
            </a:r>
            <a:r>
              <a:rPr lang="zh-CN" altLang="zh-CN" sz="2000" dirty="0">
                <a:latin typeface="微软雅黑" pitchFamily="34" charset="-122"/>
                <a:ea typeface="微软雅黑" pitchFamily="34" charset="-122"/>
                <a:cs typeface="经典粗黑简" pitchFamily="49" charset="-122"/>
              </a:rPr>
              <a:t>自身，展开后它是一个无限的广义表。</a:t>
            </a:r>
            <a:endParaRPr lang="en-US" altLang="zh-CN" sz="2000" dirty="0">
              <a:latin typeface="微软雅黑" pitchFamily="34" charset="-122"/>
              <a:ea typeface="微软雅黑" pitchFamily="34" charset="-122"/>
              <a:cs typeface="经典粗黑简" pitchFamily="49" charset="-122"/>
            </a:endParaRPr>
          </a:p>
        </p:txBody>
      </p:sp>
      <p:sp>
        <p:nvSpPr>
          <p:cNvPr id="22" name="矩形 21"/>
          <p:cNvSpPr/>
          <p:nvPr/>
        </p:nvSpPr>
        <p:spPr>
          <a:xfrm>
            <a:off x="2121405" y="3068960"/>
            <a:ext cx="4366060" cy="400110"/>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A = (), A</a:t>
            </a:r>
            <a:r>
              <a:rPr lang="zh-CN" altLang="zh-CN" sz="2000" dirty="0">
                <a:latin typeface="微软雅黑" pitchFamily="34" charset="-122"/>
                <a:ea typeface="微软雅黑" pitchFamily="34" charset="-122"/>
                <a:cs typeface="经典粗黑简" pitchFamily="49" charset="-122"/>
              </a:rPr>
              <a:t>是一个空表，其长度为</a:t>
            </a:r>
            <a:r>
              <a:rPr lang="en-US" altLang="zh-CN" sz="2000" dirty="0">
                <a:latin typeface="微软雅黑" pitchFamily="34" charset="-122"/>
                <a:ea typeface="微软雅黑" pitchFamily="34" charset="-122"/>
                <a:cs typeface="经典粗黑简" pitchFamily="49" charset="-122"/>
              </a:rPr>
              <a:t>0</a:t>
            </a:r>
            <a:r>
              <a:rPr lang="zh-CN" altLang="zh-CN" sz="2000" dirty="0">
                <a:latin typeface="微软雅黑" pitchFamily="34" charset="-122"/>
                <a:ea typeface="微软雅黑" pitchFamily="34" charset="-122"/>
                <a:cs typeface="经典粗黑简" pitchFamily="49" charset="-122"/>
              </a:rPr>
              <a:t>。</a:t>
            </a:r>
            <a:endParaRPr lang="en-US" altLang="zh-CN" sz="2000" dirty="0">
              <a:latin typeface="微软雅黑" pitchFamily="34" charset="-122"/>
              <a:ea typeface="微软雅黑" pitchFamily="34" charset="-122"/>
              <a:cs typeface="经典粗黑简" pitchFamily="49" charset="-122"/>
            </a:endParaRPr>
          </a:p>
        </p:txBody>
      </p:sp>
      <p:sp>
        <p:nvSpPr>
          <p:cNvPr id="23" name="矩形 22"/>
          <p:cNvSpPr/>
          <p:nvPr/>
        </p:nvSpPr>
        <p:spPr>
          <a:xfrm>
            <a:off x="2121405" y="5837202"/>
            <a:ext cx="4751622" cy="400110"/>
          </a:xfrm>
          <a:prstGeom prst="rect">
            <a:avLst/>
          </a:prstGeom>
        </p:spPr>
        <p:txBody>
          <a:bodyPr wrap="none">
            <a:spAutoFit/>
          </a:bodyPr>
          <a:lstStyle/>
          <a:p>
            <a:r>
              <a:rPr lang="en-US" altLang="zh-CN" sz="2000" dirty="0">
                <a:latin typeface="微软雅黑" pitchFamily="34" charset="-122"/>
                <a:ea typeface="微软雅黑" pitchFamily="34" charset="-122"/>
                <a:cs typeface="经典粗黑简" pitchFamily="49" charset="-122"/>
              </a:rPr>
              <a:t>F </a:t>
            </a:r>
            <a:r>
              <a:rPr lang="zh-CN" altLang="zh-CN"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 F</a:t>
            </a:r>
            <a:r>
              <a:rPr lang="zh-CN" altLang="zh-CN" sz="2000" dirty="0">
                <a:latin typeface="微软雅黑" pitchFamily="34" charset="-122"/>
                <a:ea typeface="微软雅黑" pitchFamily="34" charset="-122"/>
                <a:cs typeface="经典粗黑简" pitchFamily="49" charset="-122"/>
              </a:rPr>
              <a:t>的长度为</a:t>
            </a:r>
            <a:r>
              <a:rPr lang="en-US" altLang="zh-CN" sz="2000" dirty="0">
                <a:latin typeface="微软雅黑" pitchFamily="34" charset="-122"/>
                <a:ea typeface="微软雅黑" pitchFamily="34" charset="-122"/>
                <a:cs typeface="经典粗黑简" pitchFamily="49" charset="-122"/>
              </a:rPr>
              <a:t>1</a:t>
            </a:r>
            <a:r>
              <a:rPr lang="zh-CN" altLang="zh-CN" sz="2000" dirty="0">
                <a:latin typeface="微软雅黑" pitchFamily="34" charset="-122"/>
                <a:ea typeface="微软雅黑" pitchFamily="34" charset="-122"/>
                <a:cs typeface="经典粗黑简" pitchFamily="49" charset="-122"/>
              </a:rPr>
              <a:t>，元素是一个子表。</a:t>
            </a:r>
          </a:p>
        </p:txBody>
      </p:sp>
      <p:sp>
        <p:nvSpPr>
          <p:cNvPr id="2" name="Rectangle 2">
            <a:extLst>
              <a:ext uri="{FF2B5EF4-FFF2-40B4-BE49-F238E27FC236}">
                <a16:creationId xmlns:a16="http://schemas.microsoft.com/office/drawing/2014/main" id="{CB7C5BA4-824E-2744-DD92-377758BCD784}"/>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01F01D67-9027-97C9-FC73-C4DA0CA2F0FB}"/>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F6482916-9D33-7723-F948-E19952E22753}"/>
              </a:ext>
            </a:extLst>
          </p:cNvPr>
          <p:cNvSpPr txBox="1">
            <a:spLocks noChangeArrowheads="1"/>
          </p:cNvSpPr>
          <p:nvPr/>
        </p:nvSpPr>
        <p:spPr>
          <a:xfrm>
            <a:off x="191344" y="1106736"/>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6.3.2 </a:t>
            </a:r>
            <a:r>
              <a:rPr lang="zh-CN" altLang="en-US" sz="2800" b="1" dirty="0">
                <a:solidFill>
                  <a:schemeClr val="bg1"/>
                </a:solidFill>
                <a:latin typeface="经典粗黑简" pitchFamily="49" charset="-122"/>
                <a:ea typeface="经典粗黑简" pitchFamily="49" charset="-122"/>
                <a:cs typeface="经典粗黑简" pitchFamily="49" charset="-122"/>
              </a:rPr>
              <a:t>广义表的逻辑结构</a:t>
            </a:r>
          </a:p>
        </p:txBody>
      </p:sp>
    </p:spTree>
    <p:extLst>
      <p:ext uri="{BB962C8B-B14F-4D97-AF65-F5344CB8AC3E}">
        <p14:creationId xmlns:p14="http://schemas.microsoft.com/office/powerpoint/2010/main" val="152072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207569" y="2129024"/>
            <a:ext cx="3129559" cy="461665"/>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列表的三个重要结论：</a:t>
            </a:r>
            <a:endParaRPr lang="zh-CN" altLang="zh-CN" sz="2400" dirty="0">
              <a:latin typeface="微软雅黑" pitchFamily="34" charset="-122"/>
              <a:ea typeface="微软雅黑" pitchFamily="34" charset="-122"/>
              <a:cs typeface="经典粗黑简" pitchFamily="49" charset="-122"/>
            </a:endParaRPr>
          </a:p>
        </p:txBody>
      </p:sp>
      <p:sp>
        <p:nvSpPr>
          <p:cNvPr id="13" name="矩形 12"/>
          <p:cNvSpPr/>
          <p:nvPr/>
        </p:nvSpPr>
        <p:spPr>
          <a:xfrm>
            <a:off x="2207568" y="2724614"/>
            <a:ext cx="8064896" cy="1200329"/>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     （</a:t>
            </a:r>
            <a:r>
              <a:rPr lang="en-US" altLang="zh-CN" sz="2400" dirty="0">
                <a:latin typeface="微软雅黑" pitchFamily="34" charset="-122"/>
                <a:ea typeface="微软雅黑" pitchFamily="34" charset="-122"/>
                <a:cs typeface="经典粗黑简" pitchFamily="49" charset="-122"/>
              </a:rPr>
              <a:t>1</a:t>
            </a:r>
            <a:r>
              <a:rPr lang="zh-CN" altLang="en-US"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广义表</a:t>
            </a:r>
            <a:r>
              <a:rPr lang="zh-CN" altLang="en-US" sz="2400" dirty="0">
                <a:latin typeface="微软雅黑" pitchFamily="34" charset="-122"/>
                <a:ea typeface="微软雅黑" pitchFamily="34" charset="-122"/>
                <a:cs typeface="经典粗黑简" pitchFamily="49" charset="-122"/>
              </a:rPr>
              <a:t>的</a:t>
            </a:r>
            <a:r>
              <a:rPr lang="zh-CN" altLang="zh-CN" sz="2400" dirty="0">
                <a:latin typeface="微软雅黑" pitchFamily="34" charset="-122"/>
                <a:ea typeface="微软雅黑" pitchFamily="34" charset="-122"/>
                <a:cs typeface="经典粗黑简" pitchFamily="49" charset="-122"/>
              </a:rPr>
              <a:t>元素可以是原子，也可以是子表，而子表的元素还可以是子表，…</a:t>
            </a:r>
            <a:r>
              <a:rPr lang="zh-CN" altLang="en-US" sz="2400" dirty="0">
                <a:latin typeface="微软雅黑" pitchFamily="34" charset="-122"/>
                <a:ea typeface="微软雅黑" pitchFamily="34" charset="-122"/>
                <a:cs typeface="经典粗黑简" pitchFamily="49" charset="-122"/>
              </a:rPr>
              <a:t>，所以，</a:t>
            </a:r>
            <a:r>
              <a:rPr lang="zh-CN" altLang="zh-CN" sz="2400" dirty="0">
                <a:latin typeface="微软雅黑" pitchFamily="34" charset="-122"/>
                <a:ea typeface="微软雅黑" pitchFamily="34" charset="-122"/>
                <a:cs typeface="经典粗黑简" pitchFamily="49" charset="-122"/>
              </a:rPr>
              <a:t>广义表是一种多层次的数据结构。</a:t>
            </a:r>
            <a:endParaRPr lang="zh-CN" altLang="en-US" sz="2400" dirty="0">
              <a:latin typeface="微软雅黑" pitchFamily="34" charset="-122"/>
              <a:ea typeface="微软雅黑" pitchFamily="34" charset="-122"/>
              <a:cs typeface="经典粗黑简" pitchFamily="49" charset="-122"/>
            </a:endParaRPr>
          </a:p>
        </p:txBody>
      </p:sp>
      <p:sp>
        <p:nvSpPr>
          <p:cNvPr id="14" name="矩形 13"/>
          <p:cNvSpPr/>
          <p:nvPr/>
        </p:nvSpPr>
        <p:spPr>
          <a:xfrm>
            <a:off x="2207569" y="3904900"/>
            <a:ext cx="8136904" cy="1200329"/>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     （</a:t>
            </a:r>
            <a:r>
              <a:rPr lang="en-US" altLang="zh-CN" sz="2400" dirty="0">
                <a:latin typeface="微软雅黑" pitchFamily="34" charset="-122"/>
                <a:ea typeface="微软雅黑" pitchFamily="34" charset="-122"/>
                <a:cs typeface="经典粗黑简" pitchFamily="49" charset="-122"/>
              </a:rPr>
              <a:t>2</a:t>
            </a:r>
            <a:r>
              <a:rPr lang="zh-CN" altLang="en-US"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广义表还可以为其他表所共享，例如，表</a:t>
            </a:r>
            <a:r>
              <a:rPr lang="en-US" altLang="zh-CN" sz="2400" dirty="0">
                <a:latin typeface="微软雅黑" pitchFamily="34" charset="-122"/>
                <a:ea typeface="微软雅黑" pitchFamily="34" charset="-122"/>
                <a:cs typeface="经典粗黑简" pitchFamily="49" charset="-122"/>
              </a:rPr>
              <a:t>A</a:t>
            </a:r>
            <a:r>
              <a:rPr lang="zh-CN" altLang="zh-CN" sz="2400" dirty="0">
                <a:latin typeface="微软雅黑" pitchFamily="34" charset="-122"/>
                <a:ea typeface="微软雅黑" pitchFamily="34" charset="-122"/>
                <a:cs typeface="经典粗黑简" pitchFamily="49" charset="-122"/>
              </a:rPr>
              <a:t>、表</a:t>
            </a:r>
            <a:r>
              <a:rPr lang="en-US" altLang="zh-CN" sz="2400" dirty="0">
                <a:latin typeface="微软雅黑" pitchFamily="34" charset="-122"/>
                <a:ea typeface="微软雅黑" pitchFamily="34" charset="-122"/>
                <a:cs typeface="经典粗黑简" pitchFamily="49" charset="-122"/>
              </a:rPr>
              <a:t>B</a:t>
            </a:r>
            <a:r>
              <a:rPr lang="zh-CN" altLang="zh-CN" sz="2400" dirty="0">
                <a:latin typeface="微软雅黑" pitchFamily="34" charset="-122"/>
                <a:ea typeface="微软雅黑" pitchFamily="34" charset="-122"/>
                <a:cs typeface="经典粗黑简" pitchFamily="49" charset="-122"/>
              </a:rPr>
              <a:t>、表</a:t>
            </a:r>
            <a:r>
              <a:rPr lang="en-US" altLang="zh-CN" sz="2400" dirty="0">
                <a:latin typeface="微软雅黑" pitchFamily="34" charset="-122"/>
                <a:ea typeface="微软雅黑" pitchFamily="34" charset="-122"/>
                <a:cs typeface="经典粗黑简" pitchFamily="49" charset="-122"/>
              </a:rPr>
              <a:t>C</a:t>
            </a:r>
            <a:r>
              <a:rPr lang="zh-CN" altLang="zh-CN" sz="2400" dirty="0">
                <a:latin typeface="微软雅黑" pitchFamily="34" charset="-122"/>
                <a:ea typeface="微软雅黑" pitchFamily="34" charset="-122"/>
                <a:cs typeface="经典粗黑简" pitchFamily="49" charset="-122"/>
              </a:rPr>
              <a:t>是表</a:t>
            </a:r>
            <a:r>
              <a:rPr lang="en-US" altLang="zh-CN" sz="2400" dirty="0">
                <a:latin typeface="微软雅黑" pitchFamily="34" charset="-122"/>
                <a:ea typeface="微软雅黑" pitchFamily="34" charset="-122"/>
                <a:cs typeface="经典粗黑简" pitchFamily="49" charset="-122"/>
              </a:rPr>
              <a:t>D</a:t>
            </a:r>
            <a:r>
              <a:rPr lang="zh-CN" altLang="zh-CN" sz="2400" dirty="0">
                <a:latin typeface="微软雅黑" pitchFamily="34" charset="-122"/>
                <a:ea typeface="微软雅黑" pitchFamily="34" charset="-122"/>
                <a:cs typeface="经典粗黑简" pitchFamily="49" charset="-122"/>
              </a:rPr>
              <a:t>的共享子表。在</a:t>
            </a:r>
            <a:r>
              <a:rPr lang="en-US" altLang="zh-CN" sz="2400" dirty="0">
                <a:latin typeface="微软雅黑" pitchFamily="34" charset="-122"/>
                <a:ea typeface="微软雅黑" pitchFamily="34" charset="-122"/>
                <a:cs typeface="经典粗黑简" pitchFamily="49" charset="-122"/>
              </a:rPr>
              <a:t>D</a:t>
            </a:r>
            <a:r>
              <a:rPr lang="zh-CN" altLang="zh-CN" sz="2400" dirty="0">
                <a:latin typeface="微软雅黑" pitchFamily="34" charset="-122"/>
                <a:ea typeface="微软雅黑" pitchFamily="34" charset="-122"/>
                <a:cs typeface="经典粗黑简" pitchFamily="49" charset="-122"/>
              </a:rPr>
              <a:t>中可以不必列出子表的值，而用子表的名称来引用。</a:t>
            </a:r>
          </a:p>
        </p:txBody>
      </p:sp>
      <p:sp>
        <p:nvSpPr>
          <p:cNvPr id="15" name="矩形 14"/>
          <p:cNvSpPr/>
          <p:nvPr/>
        </p:nvSpPr>
        <p:spPr>
          <a:xfrm>
            <a:off x="2207569" y="5085185"/>
            <a:ext cx="8136905" cy="830997"/>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     （</a:t>
            </a:r>
            <a:r>
              <a:rPr lang="en-US" altLang="zh-CN" sz="2400" dirty="0">
                <a:latin typeface="微软雅黑" pitchFamily="34" charset="-122"/>
                <a:ea typeface="微软雅黑" pitchFamily="34" charset="-122"/>
                <a:cs typeface="经典粗黑简" pitchFamily="49" charset="-122"/>
              </a:rPr>
              <a:t>3</a:t>
            </a:r>
            <a:r>
              <a:rPr lang="zh-CN" altLang="en-US"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广义表可以是递归的表，即可以是其自身的子表，例如表</a:t>
            </a:r>
            <a:r>
              <a:rPr lang="en-US" altLang="zh-CN" sz="2400" dirty="0">
                <a:latin typeface="微软雅黑" pitchFamily="34" charset="-122"/>
                <a:ea typeface="微软雅黑" pitchFamily="34" charset="-122"/>
                <a:cs typeface="经典粗黑简" pitchFamily="49" charset="-122"/>
              </a:rPr>
              <a:t>E</a:t>
            </a:r>
            <a:r>
              <a:rPr lang="zh-CN" altLang="zh-CN" sz="2400" dirty="0">
                <a:latin typeface="微软雅黑" pitchFamily="34" charset="-122"/>
                <a:ea typeface="微软雅黑" pitchFamily="34" charset="-122"/>
                <a:cs typeface="经典粗黑简" pitchFamily="49" charset="-122"/>
              </a:rPr>
              <a:t>就是一个递归的表。</a:t>
            </a:r>
            <a:endParaRPr lang="zh-CN" altLang="en-US"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77281C65-2F74-FFC6-C175-090267B06761}"/>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58BF1B32-7887-544D-9C7C-BB53C383B12E}"/>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05CB52F1-9DB8-2314-EC00-FE888E0C9F0D}"/>
              </a:ext>
            </a:extLst>
          </p:cNvPr>
          <p:cNvSpPr txBox="1">
            <a:spLocks noChangeArrowheads="1"/>
          </p:cNvSpPr>
          <p:nvPr/>
        </p:nvSpPr>
        <p:spPr>
          <a:xfrm>
            <a:off x="191344" y="1106736"/>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6.3.2 </a:t>
            </a:r>
            <a:r>
              <a:rPr lang="zh-CN" altLang="en-US" sz="2800" b="1" dirty="0">
                <a:solidFill>
                  <a:schemeClr val="bg1"/>
                </a:solidFill>
                <a:latin typeface="经典粗黑简" pitchFamily="49" charset="-122"/>
                <a:ea typeface="经典粗黑简" pitchFamily="49" charset="-122"/>
                <a:cs typeface="经典粗黑简" pitchFamily="49" charset="-122"/>
              </a:rPr>
              <a:t>广义表的逻辑结构</a:t>
            </a:r>
          </a:p>
        </p:txBody>
      </p:sp>
    </p:spTree>
    <p:extLst>
      <p:ext uri="{BB962C8B-B14F-4D97-AF65-F5344CB8AC3E}">
        <p14:creationId xmlns:p14="http://schemas.microsoft.com/office/powerpoint/2010/main" val="4172131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654629" y="1622406"/>
            <a:ext cx="8473820" cy="5262979"/>
          </a:xfrm>
          <a:prstGeom prst="rect">
            <a:avLst/>
          </a:prstGeom>
        </p:spPr>
        <p:txBody>
          <a:bodyPr wrap="square">
            <a:spAutoFit/>
          </a:bodyPr>
          <a:lstStyle/>
          <a:p>
            <a:pPr lvl="1">
              <a:buClr>
                <a:schemeClr val="tx1"/>
              </a:buClr>
              <a:buFont typeface="Wingdings" pitchFamily="2" charset="2"/>
              <a:buNone/>
            </a:pPr>
            <a:r>
              <a:rPr lang="en-US" altLang="zh-CN" sz="2000" dirty="0"/>
              <a:t>ADT </a:t>
            </a:r>
            <a:r>
              <a:rPr lang="en-US" altLang="zh-CN" sz="2000" dirty="0" err="1"/>
              <a:t>GList</a:t>
            </a:r>
            <a:r>
              <a:rPr lang="en-US" altLang="zh-CN" sz="2000" dirty="0"/>
              <a:t> {</a:t>
            </a:r>
          </a:p>
          <a:p>
            <a:pPr lvl="1">
              <a:buClr>
                <a:schemeClr val="tx1"/>
              </a:buClr>
              <a:buFont typeface="Wingdings" pitchFamily="2" charset="2"/>
              <a:buNone/>
            </a:pPr>
            <a:r>
              <a:rPr lang="en-US" altLang="zh-CN" sz="2000" dirty="0"/>
              <a:t>        </a:t>
            </a:r>
            <a:r>
              <a:rPr lang="zh-CN" altLang="en-US" sz="2000" dirty="0"/>
              <a:t>数据对象：</a:t>
            </a:r>
            <a:r>
              <a:rPr lang="en-US" altLang="zh-CN" sz="2000" dirty="0"/>
              <a:t>D={ </a:t>
            </a:r>
            <a:r>
              <a:rPr lang="en-US" altLang="zh-CN" sz="2000" dirty="0" err="1"/>
              <a:t>e</a:t>
            </a:r>
            <a:r>
              <a:rPr lang="en-US" altLang="zh-CN" sz="2000" baseline="-25000" dirty="0" err="1"/>
              <a:t>i</a:t>
            </a:r>
            <a:r>
              <a:rPr lang="en-US" altLang="zh-CN" sz="2000" baseline="-25000" dirty="0"/>
              <a:t> </a:t>
            </a:r>
            <a:r>
              <a:rPr lang="en-US" altLang="zh-CN" sz="2000" dirty="0"/>
              <a:t>| </a:t>
            </a:r>
            <a:r>
              <a:rPr lang="en-US" altLang="zh-CN" sz="2000" dirty="0" err="1"/>
              <a:t>e</a:t>
            </a:r>
            <a:r>
              <a:rPr lang="en-US" altLang="zh-CN" sz="2000" baseline="-25000" dirty="0" err="1"/>
              <a:t>i</a:t>
            </a:r>
            <a:r>
              <a:rPr lang="en-US" altLang="zh-CN" sz="2000" baseline="-25000" dirty="0"/>
              <a:t> </a:t>
            </a:r>
            <a:r>
              <a:rPr lang="en-US" altLang="zh-CN" sz="2000" dirty="0">
                <a:sym typeface="Symbol" pitchFamily="18" charset="2"/>
              </a:rPr>
              <a:t> </a:t>
            </a:r>
            <a:r>
              <a:rPr lang="en-US" altLang="zh-CN" sz="2000" dirty="0" err="1">
                <a:sym typeface="Symbol" pitchFamily="18" charset="2"/>
              </a:rPr>
              <a:t>AtomSet</a:t>
            </a:r>
            <a:r>
              <a:rPr lang="zh-CN" altLang="en-US" sz="2000" dirty="0">
                <a:sym typeface="Symbol" pitchFamily="18" charset="2"/>
              </a:rPr>
              <a:t>或者 </a:t>
            </a:r>
            <a:endParaRPr lang="en-US" altLang="zh-CN" sz="2000" dirty="0">
              <a:sym typeface="Symbol" pitchFamily="18" charset="2"/>
            </a:endParaRPr>
          </a:p>
          <a:p>
            <a:pPr lvl="1">
              <a:buClr>
                <a:schemeClr val="tx1"/>
              </a:buClr>
              <a:buFont typeface="Wingdings" pitchFamily="2" charset="2"/>
              <a:buNone/>
            </a:pPr>
            <a:r>
              <a:rPr lang="en-US" altLang="zh-CN" sz="2000" dirty="0">
                <a:sym typeface="Symbol" pitchFamily="18" charset="2"/>
              </a:rPr>
              <a:t>                                    </a:t>
            </a:r>
            <a:r>
              <a:rPr lang="en-US" altLang="zh-CN" sz="2000" dirty="0" err="1"/>
              <a:t>e</a:t>
            </a:r>
            <a:r>
              <a:rPr lang="en-US" altLang="zh-CN" sz="2000" baseline="-25000" dirty="0" err="1"/>
              <a:t>i</a:t>
            </a:r>
            <a:r>
              <a:rPr lang="en-US" altLang="zh-CN" sz="2000" baseline="-25000" dirty="0"/>
              <a:t> </a:t>
            </a:r>
            <a:r>
              <a:rPr lang="en-US" altLang="zh-CN" sz="2000" dirty="0">
                <a:sym typeface="Symbol" pitchFamily="18" charset="2"/>
              </a:rPr>
              <a:t> </a:t>
            </a:r>
            <a:r>
              <a:rPr lang="en-US" altLang="zh-CN" sz="2000" dirty="0" err="1">
                <a:sym typeface="Symbol" pitchFamily="18" charset="2"/>
              </a:rPr>
              <a:t>DList</a:t>
            </a:r>
            <a:r>
              <a:rPr lang="en-US" altLang="zh-CN" sz="2000" dirty="0">
                <a:sym typeface="Symbol" pitchFamily="18" charset="2"/>
              </a:rPr>
              <a:t>, </a:t>
            </a:r>
            <a:r>
              <a:rPr lang="en-US" altLang="zh-CN" sz="2000" dirty="0" err="1">
                <a:sym typeface="Symbol" pitchFamily="18" charset="2"/>
              </a:rPr>
              <a:t>AtomSet</a:t>
            </a:r>
            <a:r>
              <a:rPr lang="en-US" altLang="zh-CN" sz="2000" dirty="0">
                <a:sym typeface="Symbol" pitchFamily="18" charset="2"/>
              </a:rPr>
              <a:t> </a:t>
            </a:r>
            <a:r>
              <a:rPr lang="zh-CN" altLang="en-US" sz="2000" dirty="0">
                <a:sym typeface="Symbol" pitchFamily="18" charset="2"/>
              </a:rPr>
              <a:t>为某个数据对象，</a:t>
            </a:r>
            <a:r>
              <a:rPr lang="en-US" altLang="zh-CN" sz="2000" dirty="0">
                <a:sym typeface="Symbol" pitchFamily="18" charset="2"/>
              </a:rPr>
              <a:t>i=1,2,…n, n0 </a:t>
            </a:r>
            <a:r>
              <a:rPr lang="en-US" altLang="zh-CN" sz="2000" dirty="0"/>
              <a:t>}</a:t>
            </a:r>
          </a:p>
          <a:p>
            <a:pPr lvl="1">
              <a:buClr>
                <a:schemeClr val="tx1"/>
              </a:buClr>
              <a:buFont typeface="Wingdings" pitchFamily="2" charset="2"/>
              <a:buNone/>
            </a:pPr>
            <a:r>
              <a:rPr lang="zh-CN" altLang="en-US" sz="2000" dirty="0"/>
              <a:t>        数据关系：</a:t>
            </a:r>
            <a:r>
              <a:rPr lang="en-US" altLang="zh-CN" sz="2000" dirty="0"/>
              <a:t>R1={&lt;e</a:t>
            </a:r>
            <a:r>
              <a:rPr lang="en-US" altLang="zh-CN" sz="2000" baseline="-25000" dirty="0"/>
              <a:t>i-1</a:t>
            </a:r>
            <a:r>
              <a:rPr lang="en-US" altLang="zh-CN" sz="2000" dirty="0"/>
              <a:t>,e</a:t>
            </a:r>
            <a:r>
              <a:rPr lang="en-US" altLang="zh-CN" sz="2000" baseline="-25000" dirty="0"/>
              <a:t>i</a:t>
            </a:r>
            <a:r>
              <a:rPr lang="en-US" altLang="zh-CN" sz="2000" dirty="0"/>
              <a:t>&gt; | e</a:t>
            </a:r>
            <a:r>
              <a:rPr lang="en-US" altLang="zh-CN" sz="2000" baseline="-25000" dirty="0"/>
              <a:t>i-1</a:t>
            </a:r>
            <a:r>
              <a:rPr lang="en-US" altLang="zh-CN" sz="2000" dirty="0"/>
              <a:t>,e</a:t>
            </a:r>
            <a:r>
              <a:rPr lang="en-US" altLang="zh-CN" sz="2000" baseline="-25000" dirty="0"/>
              <a:t>i </a:t>
            </a:r>
            <a:r>
              <a:rPr lang="en-US" altLang="zh-CN" sz="2000" dirty="0">
                <a:sym typeface="Symbol" pitchFamily="18" charset="2"/>
              </a:rPr>
              <a:t>D, i=,2,…n</a:t>
            </a:r>
            <a:r>
              <a:rPr lang="en-US" altLang="zh-CN" sz="2000" dirty="0"/>
              <a:t>}</a:t>
            </a:r>
          </a:p>
          <a:p>
            <a:pPr lvl="1">
              <a:buClr>
                <a:schemeClr val="tx1"/>
              </a:buClr>
              <a:buFont typeface="Wingdings" pitchFamily="2" charset="2"/>
              <a:buNone/>
            </a:pPr>
            <a:r>
              <a:rPr lang="zh-CN" altLang="en-US" sz="2000" dirty="0"/>
              <a:t>        基本运算：</a:t>
            </a:r>
            <a:endParaRPr lang="en-US" altLang="zh-CN" sz="2000" dirty="0"/>
          </a:p>
          <a:p>
            <a:pPr lvl="2">
              <a:buClr>
                <a:schemeClr val="tx1"/>
              </a:buClr>
              <a:buFont typeface="Wingdings" pitchFamily="2" charset="2"/>
              <a:buNone/>
            </a:pPr>
            <a:r>
              <a:rPr lang="en-US" altLang="zh-CN" dirty="0"/>
              <a:t>                      </a:t>
            </a:r>
            <a:r>
              <a:rPr lang="en-US" altLang="zh-CN" dirty="0" err="1"/>
              <a:t>Init</a:t>
            </a:r>
            <a:r>
              <a:rPr lang="en-US" altLang="zh-CN" dirty="0"/>
              <a:t> </a:t>
            </a:r>
            <a:r>
              <a:rPr lang="en-US" altLang="zh-CN" dirty="0" err="1"/>
              <a:t>GList</a:t>
            </a:r>
            <a:r>
              <a:rPr lang="en-US" altLang="zh-CN" dirty="0"/>
              <a:t>(&amp;L);</a:t>
            </a:r>
          </a:p>
          <a:p>
            <a:pPr lvl="2">
              <a:buClr>
                <a:schemeClr val="tx1"/>
              </a:buClr>
            </a:pPr>
            <a:r>
              <a:rPr lang="en-US" altLang="zh-CN" dirty="0"/>
              <a:t>                      </a:t>
            </a:r>
            <a:r>
              <a:rPr lang="en-US" altLang="zh-CN" dirty="0" err="1"/>
              <a:t>CreateGList</a:t>
            </a:r>
            <a:r>
              <a:rPr lang="en-US" altLang="zh-CN" dirty="0"/>
              <a:t>(&amp;L,S);</a:t>
            </a:r>
          </a:p>
          <a:p>
            <a:pPr lvl="2">
              <a:buClr>
                <a:schemeClr val="tx1"/>
              </a:buClr>
              <a:buFont typeface="Wingdings" pitchFamily="2" charset="2"/>
              <a:buNone/>
            </a:pPr>
            <a:r>
              <a:rPr lang="en-US" altLang="zh-CN" dirty="0"/>
              <a:t>                      </a:t>
            </a:r>
            <a:r>
              <a:rPr lang="en-US" altLang="zh-CN" dirty="0" err="1"/>
              <a:t>DestroyGList</a:t>
            </a:r>
            <a:r>
              <a:rPr lang="en-US" altLang="zh-CN" dirty="0"/>
              <a:t> (&amp;L);</a:t>
            </a:r>
          </a:p>
          <a:p>
            <a:pPr lvl="2">
              <a:buClr>
                <a:schemeClr val="tx1"/>
              </a:buClr>
              <a:buFont typeface="Wingdings" pitchFamily="2" charset="2"/>
              <a:buNone/>
            </a:pPr>
            <a:r>
              <a:rPr lang="en-US" altLang="zh-CN" dirty="0"/>
              <a:t>                      </a:t>
            </a:r>
            <a:r>
              <a:rPr lang="en-US" altLang="zh-CN" dirty="0" err="1"/>
              <a:t>CopyGList</a:t>
            </a:r>
            <a:r>
              <a:rPr lang="en-US" altLang="zh-CN" dirty="0"/>
              <a:t> (&amp;T,L);</a:t>
            </a:r>
          </a:p>
          <a:p>
            <a:pPr lvl="2">
              <a:buClr>
                <a:schemeClr val="tx1"/>
              </a:buClr>
            </a:pPr>
            <a:r>
              <a:rPr lang="en-US" altLang="zh-CN" dirty="0"/>
              <a:t>                      </a:t>
            </a:r>
            <a:r>
              <a:rPr lang="en-US" altLang="zh-CN" dirty="0" err="1"/>
              <a:t>GListLength</a:t>
            </a:r>
            <a:r>
              <a:rPr lang="en-US" altLang="zh-CN" dirty="0"/>
              <a:t>(L);</a:t>
            </a:r>
          </a:p>
          <a:p>
            <a:pPr lvl="2">
              <a:buClr>
                <a:schemeClr val="tx1"/>
              </a:buClr>
              <a:buFont typeface="Wingdings" pitchFamily="2" charset="2"/>
              <a:buNone/>
            </a:pPr>
            <a:r>
              <a:rPr lang="en-US" altLang="zh-CN" dirty="0"/>
              <a:t>                      </a:t>
            </a:r>
            <a:r>
              <a:rPr lang="en-US" altLang="zh-CN" dirty="0" err="1"/>
              <a:t>GListDepth</a:t>
            </a:r>
            <a:r>
              <a:rPr lang="en-US" altLang="zh-CN" dirty="0"/>
              <a:t>(L); </a:t>
            </a:r>
          </a:p>
          <a:p>
            <a:pPr lvl="2">
              <a:buClr>
                <a:schemeClr val="tx1"/>
              </a:buClr>
              <a:buFont typeface="Wingdings" pitchFamily="2" charset="2"/>
              <a:buNone/>
            </a:pPr>
            <a:r>
              <a:rPr lang="en-US" altLang="zh-CN" dirty="0"/>
              <a:t>                      </a:t>
            </a:r>
            <a:r>
              <a:rPr lang="en-US" altLang="zh-CN" dirty="0" err="1"/>
              <a:t>GListEmpty</a:t>
            </a:r>
            <a:r>
              <a:rPr lang="en-US" altLang="zh-CN" dirty="0"/>
              <a:t>(L);</a:t>
            </a:r>
          </a:p>
          <a:p>
            <a:pPr lvl="2">
              <a:buClr>
                <a:schemeClr val="tx1"/>
              </a:buClr>
              <a:buFont typeface="Wingdings" pitchFamily="2" charset="2"/>
              <a:buNone/>
            </a:pPr>
            <a:r>
              <a:rPr lang="en-US" altLang="zh-CN" dirty="0"/>
              <a:t>                      </a:t>
            </a:r>
            <a:r>
              <a:rPr lang="en-US" altLang="zh-CN" b="1" dirty="0" err="1">
                <a:solidFill>
                  <a:srgbClr val="FF0000"/>
                </a:solidFill>
              </a:rPr>
              <a:t>GetHead</a:t>
            </a:r>
            <a:r>
              <a:rPr lang="en-US" altLang="zh-CN" b="1" dirty="0">
                <a:solidFill>
                  <a:srgbClr val="FF0000"/>
                </a:solidFill>
              </a:rPr>
              <a:t>(L);</a:t>
            </a:r>
          </a:p>
          <a:p>
            <a:pPr lvl="2">
              <a:buClr>
                <a:schemeClr val="tx1"/>
              </a:buClr>
              <a:buFont typeface="Wingdings" pitchFamily="2" charset="2"/>
              <a:buNone/>
            </a:pPr>
            <a:r>
              <a:rPr lang="en-US" altLang="zh-CN" b="1" dirty="0">
                <a:solidFill>
                  <a:srgbClr val="FF0000"/>
                </a:solidFill>
              </a:rPr>
              <a:t>                      </a:t>
            </a:r>
            <a:r>
              <a:rPr lang="en-US" altLang="zh-CN" b="1" dirty="0" err="1">
                <a:solidFill>
                  <a:srgbClr val="FF0000"/>
                </a:solidFill>
              </a:rPr>
              <a:t>GetTail</a:t>
            </a:r>
            <a:r>
              <a:rPr lang="en-US" altLang="zh-CN" b="1" dirty="0">
                <a:solidFill>
                  <a:srgbClr val="FF0000"/>
                </a:solidFill>
              </a:rPr>
              <a:t>(L); </a:t>
            </a:r>
          </a:p>
          <a:p>
            <a:pPr lvl="2">
              <a:buClr>
                <a:schemeClr val="tx1"/>
              </a:buClr>
              <a:buFont typeface="Wingdings" pitchFamily="2" charset="2"/>
              <a:buNone/>
            </a:pPr>
            <a:r>
              <a:rPr lang="en-US" altLang="zh-CN" dirty="0"/>
              <a:t>                      </a:t>
            </a:r>
            <a:r>
              <a:rPr lang="en-US" altLang="zh-CN" dirty="0" err="1"/>
              <a:t>InsertFirst_GL</a:t>
            </a:r>
            <a:r>
              <a:rPr lang="en-US" altLang="zh-CN" dirty="0"/>
              <a:t>(&amp;</a:t>
            </a:r>
            <a:r>
              <a:rPr lang="en-US" altLang="zh-CN" dirty="0" err="1"/>
              <a:t>L,e</a:t>
            </a:r>
            <a:r>
              <a:rPr lang="en-US" altLang="zh-CN" dirty="0"/>
              <a:t>);</a:t>
            </a:r>
          </a:p>
          <a:p>
            <a:pPr lvl="2">
              <a:buClr>
                <a:schemeClr val="tx1"/>
              </a:buClr>
              <a:buFont typeface="Wingdings" pitchFamily="2" charset="2"/>
              <a:buNone/>
            </a:pPr>
            <a:r>
              <a:rPr lang="en-US" altLang="zh-CN" dirty="0"/>
              <a:t>                      </a:t>
            </a:r>
            <a:r>
              <a:rPr lang="en-US" altLang="zh-CN" dirty="0" err="1"/>
              <a:t>DeleteFirst_GL</a:t>
            </a:r>
            <a:r>
              <a:rPr lang="en-US" altLang="zh-CN" dirty="0"/>
              <a:t>(&amp;</a:t>
            </a:r>
            <a:r>
              <a:rPr lang="en-US" altLang="zh-CN" dirty="0" err="1"/>
              <a:t>L,&amp;e</a:t>
            </a:r>
            <a:r>
              <a:rPr lang="en-US" altLang="zh-CN" dirty="0"/>
              <a:t>);</a:t>
            </a:r>
          </a:p>
          <a:p>
            <a:pPr lvl="2">
              <a:buClr>
                <a:schemeClr val="tx1"/>
              </a:buClr>
              <a:buFont typeface="Wingdings" pitchFamily="2" charset="2"/>
              <a:buNone/>
            </a:pPr>
            <a:r>
              <a:rPr lang="en-US" altLang="zh-CN" dirty="0"/>
              <a:t>                      </a:t>
            </a:r>
            <a:r>
              <a:rPr lang="en-US" altLang="zh-CN" dirty="0" err="1"/>
              <a:t>Traverse_GL</a:t>
            </a:r>
            <a:r>
              <a:rPr lang="en-US" altLang="zh-CN" dirty="0"/>
              <a:t>(</a:t>
            </a:r>
            <a:r>
              <a:rPr lang="en-US" altLang="zh-CN" dirty="0" err="1"/>
              <a:t>L,Visit</a:t>
            </a:r>
            <a:r>
              <a:rPr lang="en-US" altLang="zh-CN" dirty="0"/>
              <a:t>());</a:t>
            </a:r>
          </a:p>
          <a:p>
            <a:pPr lvl="1">
              <a:buClr>
                <a:schemeClr val="tx1"/>
              </a:buClr>
              <a:buFont typeface="Wingdings" pitchFamily="2" charset="2"/>
              <a:buNone/>
            </a:pPr>
            <a:r>
              <a:rPr lang="en-US" altLang="zh-CN" sz="2000" dirty="0"/>
              <a:t>} ADT </a:t>
            </a:r>
            <a:r>
              <a:rPr lang="en-US" altLang="zh-CN" sz="2000" dirty="0" err="1"/>
              <a:t>GList</a:t>
            </a:r>
            <a:r>
              <a:rPr lang="en-US" altLang="zh-CN" sz="2000" dirty="0"/>
              <a:t> </a:t>
            </a:r>
            <a:endParaRPr lang="zh-CN" altLang="en-US" dirty="0"/>
          </a:p>
        </p:txBody>
      </p:sp>
      <p:sp>
        <p:nvSpPr>
          <p:cNvPr id="11" name="矩形 10"/>
          <p:cNvSpPr/>
          <p:nvPr/>
        </p:nvSpPr>
        <p:spPr>
          <a:xfrm>
            <a:off x="5663952" y="4535018"/>
            <a:ext cx="4841966" cy="830997"/>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广义表有两个特殊的基本操作，</a:t>
            </a:r>
            <a:endParaRPr lang="en-US" altLang="zh-CN" sz="2400" dirty="0">
              <a:latin typeface="微软雅黑" pitchFamily="34" charset="-122"/>
              <a:ea typeface="微软雅黑" pitchFamily="34" charset="-122"/>
              <a:cs typeface="经典粗黑简" pitchFamily="49" charset="-122"/>
            </a:endParaRPr>
          </a:p>
          <a:p>
            <a:r>
              <a:rPr lang="zh-CN" altLang="zh-CN" sz="2400" dirty="0">
                <a:latin typeface="微软雅黑" pitchFamily="34" charset="-122"/>
                <a:ea typeface="微软雅黑" pitchFamily="34" charset="-122"/>
                <a:cs typeface="经典粗黑简" pitchFamily="49" charset="-122"/>
              </a:rPr>
              <a:t>即</a:t>
            </a:r>
            <a:r>
              <a:rPr lang="zh-CN" altLang="en-US" sz="2400" dirty="0">
                <a:latin typeface="微软雅黑" pitchFamily="34" charset="-122"/>
                <a:ea typeface="微软雅黑" pitchFamily="34" charset="-122"/>
                <a:cs typeface="经典粗黑简" pitchFamily="49" charset="-122"/>
              </a:rPr>
              <a:t>：</a:t>
            </a:r>
            <a:r>
              <a:rPr lang="en-US" altLang="zh-CN" sz="2400" dirty="0" err="1">
                <a:latin typeface="微软雅黑" pitchFamily="34" charset="-122"/>
                <a:ea typeface="微软雅黑" pitchFamily="34" charset="-122"/>
                <a:cs typeface="经典粗黑简" pitchFamily="49" charset="-122"/>
              </a:rPr>
              <a:t>GetHead</a:t>
            </a:r>
            <a:r>
              <a:rPr lang="zh-CN" altLang="zh-CN" sz="2400" dirty="0">
                <a:latin typeface="微软雅黑" pitchFamily="34" charset="-122"/>
                <a:ea typeface="微软雅黑" pitchFamily="34" charset="-122"/>
                <a:cs typeface="经典粗黑简" pitchFamily="49" charset="-122"/>
              </a:rPr>
              <a:t>操作和</a:t>
            </a:r>
            <a:r>
              <a:rPr lang="en-US" altLang="zh-CN" sz="2400" dirty="0" err="1">
                <a:latin typeface="微软雅黑" pitchFamily="34" charset="-122"/>
                <a:ea typeface="微软雅黑" pitchFamily="34" charset="-122"/>
                <a:cs typeface="经典粗黑简" pitchFamily="49" charset="-122"/>
              </a:rPr>
              <a:t>GetTail</a:t>
            </a:r>
            <a:r>
              <a:rPr lang="zh-CN" altLang="zh-CN" sz="2400" dirty="0">
                <a:latin typeface="微软雅黑" pitchFamily="34" charset="-122"/>
                <a:ea typeface="微软雅黑" pitchFamily="34" charset="-122"/>
                <a:cs typeface="经典粗黑简" pitchFamily="49" charset="-122"/>
              </a:rPr>
              <a:t>操作。</a:t>
            </a:r>
          </a:p>
        </p:txBody>
      </p:sp>
      <p:sp>
        <p:nvSpPr>
          <p:cNvPr id="2" name="Rectangle 2">
            <a:extLst>
              <a:ext uri="{FF2B5EF4-FFF2-40B4-BE49-F238E27FC236}">
                <a16:creationId xmlns:a16="http://schemas.microsoft.com/office/drawing/2014/main" id="{3B77B48E-DC30-EE15-2B6B-C41AE774DDC5}"/>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F5F9024E-8122-445E-6745-9B42E220D2CA}"/>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45E11AFE-47B6-B7BF-EC84-06B3F2605F4A}"/>
              </a:ext>
            </a:extLst>
          </p:cNvPr>
          <p:cNvSpPr txBox="1">
            <a:spLocks noChangeArrowheads="1"/>
          </p:cNvSpPr>
          <p:nvPr/>
        </p:nvSpPr>
        <p:spPr>
          <a:xfrm>
            <a:off x="191344" y="1106736"/>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6.3.2 </a:t>
            </a:r>
            <a:r>
              <a:rPr lang="zh-CN" altLang="en-US" sz="2800" b="1" dirty="0">
                <a:solidFill>
                  <a:schemeClr val="bg1"/>
                </a:solidFill>
                <a:latin typeface="经典粗黑简" pitchFamily="49" charset="-122"/>
                <a:ea typeface="经典粗黑简" pitchFamily="49" charset="-122"/>
                <a:cs typeface="经典粗黑简" pitchFamily="49" charset="-122"/>
              </a:rPr>
              <a:t>广义表的逻辑结构</a:t>
            </a:r>
          </a:p>
        </p:txBody>
      </p:sp>
    </p:spTree>
    <p:extLst>
      <p:ext uri="{BB962C8B-B14F-4D97-AF65-F5344CB8AC3E}">
        <p14:creationId xmlns:p14="http://schemas.microsoft.com/office/powerpoint/2010/main" val="986409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841664" y="3010786"/>
            <a:ext cx="5502808" cy="830997"/>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例如：</a:t>
            </a:r>
          </a:p>
          <a:p>
            <a:r>
              <a:rPr lang="en-US" altLang="zh-CN" sz="2400" dirty="0" err="1">
                <a:latin typeface="微软雅黑" pitchFamily="34" charset="-122"/>
                <a:ea typeface="微软雅黑" pitchFamily="34" charset="-122"/>
                <a:cs typeface="经典粗黑简" pitchFamily="49" charset="-122"/>
              </a:rPr>
              <a:t>GetHead</a:t>
            </a:r>
            <a:r>
              <a:rPr lang="en-US" altLang="zh-CN" sz="2400" dirty="0">
                <a:latin typeface="微软雅黑" pitchFamily="34" charset="-122"/>
                <a:ea typeface="微软雅黑" pitchFamily="34" charset="-122"/>
                <a:cs typeface="经典粗黑简" pitchFamily="49" charset="-122"/>
              </a:rPr>
              <a:t>(B)</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 e    </a:t>
            </a:r>
            <a:r>
              <a:rPr lang="en-US" altLang="zh-CN" sz="2400" dirty="0" err="1">
                <a:latin typeface="微软雅黑" pitchFamily="34" charset="-122"/>
                <a:ea typeface="微软雅黑" pitchFamily="34" charset="-122"/>
                <a:cs typeface="经典粗黑简" pitchFamily="49" charset="-122"/>
              </a:rPr>
              <a:t>GetTail</a:t>
            </a:r>
            <a:r>
              <a:rPr lang="en-US" altLang="zh-CN" sz="2400" dirty="0">
                <a:latin typeface="微软雅黑" pitchFamily="34" charset="-122"/>
                <a:ea typeface="微软雅黑" pitchFamily="34" charset="-122"/>
                <a:cs typeface="经典粗黑简" pitchFamily="49" charset="-122"/>
              </a:rPr>
              <a:t>(B)</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 ()</a:t>
            </a:r>
            <a:endParaRPr lang="zh-CN" altLang="zh-CN" sz="2400" dirty="0">
              <a:latin typeface="微软雅黑" pitchFamily="34" charset="-122"/>
              <a:ea typeface="微软雅黑" pitchFamily="34" charset="-122"/>
              <a:cs typeface="经典粗黑简" pitchFamily="49" charset="-122"/>
            </a:endParaRPr>
          </a:p>
        </p:txBody>
      </p:sp>
      <p:sp>
        <p:nvSpPr>
          <p:cNvPr id="8" name="矩形 7"/>
          <p:cNvSpPr/>
          <p:nvPr/>
        </p:nvSpPr>
        <p:spPr>
          <a:xfrm>
            <a:off x="1708984" y="1916833"/>
            <a:ext cx="8851513" cy="1200329"/>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根据广义表的表头、表尾的定义可知，任意一个非空广义表的表头是表中第一个元素，其可能是原子也可能是列表，而表尾必为列表。</a:t>
            </a:r>
            <a:endParaRPr lang="zh-CN" altLang="en-US" sz="2400" dirty="0">
              <a:latin typeface="微软雅黑" pitchFamily="34" charset="-122"/>
              <a:ea typeface="微软雅黑" pitchFamily="34" charset="-122"/>
              <a:cs typeface="经典粗黑简" pitchFamily="49" charset="-122"/>
            </a:endParaRPr>
          </a:p>
        </p:txBody>
      </p:sp>
      <p:sp>
        <p:nvSpPr>
          <p:cNvPr id="12" name="矩形 11"/>
          <p:cNvSpPr/>
          <p:nvPr/>
        </p:nvSpPr>
        <p:spPr>
          <a:xfrm>
            <a:off x="2127470" y="3232497"/>
            <a:ext cx="2384355" cy="2308324"/>
          </a:xfrm>
          <a:prstGeom prst="rect">
            <a:avLst/>
          </a:prstGeom>
        </p:spPr>
        <p:txBody>
          <a:bodyPr wrap="square">
            <a:spAutoFit/>
          </a:bodyPr>
          <a:lstStyle/>
          <a:p>
            <a:r>
              <a:rPr lang="en-US" altLang="zh-CN" sz="2400" dirty="0">
                <a:latin typeface="微软雅黑" pitchFamily="34" charset="-122"/>
                <a:ea typeface="微软雅黑" pitchFamily="34" charset="-122"/>
                <a:cs typeface="经典粗黑简" pitchFamily="49" charset="-122"/>
              </a:rPr>
              <a:t>A = ()</a:t>
            </a:r>
          </a:p>
          <a:p>
            <a:r>
              <a:rPr lang="en-US" altLang="zh-CN" sz="2400" dirty="0">
                <a:latin typeface="微软雅黑" pitchFamily="34" charset="-122"/>
                <a:ea typeface="微软雅黑" pitchFamily="34" charset="-122"/>
                <a:cs typeface="经典粗黑简" pitchFamily="49" charset="-122"/>
              </a:rPr>
              <a:t>B = (e)</a:t>
            </a:r>
          </a:p>
          <a:p>
            <a:r>
              <a:rPr lang="en-US" altLang="zh-CN" sz="2400" dirty="0">
                <a:latin typeface="微软雅黑" pitchFamily="34" charset="-122"/>
                <a:ea typeface="微软雅黑" pitchFamily="34" charset="-122"/>
                <a:cs typeface="经典粗黑简" pitchFamily="49" charset="-122"/>
              </a:rPr>
              <a:t>C = (a,(</a:t>
            </a:r>
            <a:r>
              <a:rPr lang="en-US" altLang="zh-CN" sz="2400" dirty="0" err="1">
                <a:latin typeface="微软雅黑" pitchFamily="34" charset="-122"/>
                <a:ea typeface="微软雅黑" pitchFamily="34" charset="-122"/>
                <a:cs typeface="经典粗黑简" pitchFamily="49" charset="-122"/>
              </a:rPr>
              <a:t>b,c,d</a:t>
            </a:r>
            <a:r>
              <a:rPr lang="en-US" altLang="zh-CN" sz="2400" dirty="0">
                <a:latin typeface="微软雅黑" pitchFamily="34" charset="-122"/>
                <a:ea typeface="微软雅黑" pitchFamily="34" charset="-122"/>
                <a:cs typeface="经典粗黑简" pitchFamily="49" charset="-122"/>
              </a:rPr>
              <a:t>))</a:t>
            </a:r>
          </a:p>
          <a:p>
            <a:r>
              <a:rPr lang="en-US" altLang="zh-CN" sz="2400" dirty="0">
                <a:latin typeface="微软雅黑" pitchFamily="34" charset="-122"/>
                <a:ea typeface="微软雅黑" pitchFamily="34" charset="-122"/>
                <a:cs typeface="经典粗黑简" pitchFamily="49" charset="-122"/>
              </a:rPr>
              <a:t>D = (A,B,C)</a:t>
            </a:r>
          </a:p>
          <a:p>
            <a:r>
              <a:rPr lang="en-US" altLang="zh-CN" sz="2400" dirty="0">
                <a:latin typeface="微软雅黑" pitchFamily="34" charset="-122"/>
                <a:ea typeface="微软雅黑" pitchFamily="34" charset="-122"/>
                <a:cs typeface="经典粗黑简" pitchFamily="49" charset="-122"/>
              </a:rPr>
              <a:t>E = (</a:t>
            </a:r>
            <a:r>
              <a:rPr lang="en-US" altLang="zh-CN" sz="2400" dirty="0" err="1">
                <a:latin typeface="微软雅黑" pitchFamily="34" charset="-122"/>
                <a:ea typeface="微软雅黑" pitchFamily="34" charset="-122"/>
                <a:cs typeface="经典粗黑简" pitchFamily="49" charset="-122"/>
              </a:rPr>
              <a:t>a,E</a:t>
            </a:r>
            <a:r>
              <a:rPr lang="en-US" altLang="zh-CN" sz="2400" dirty="0">
                <a:latin typeface="微软雅黑" pitchFamily="34" charset="-122"/>
                <a:ea typeface="微软雅黑" pitchFamily="34" charset="-122"/>
                <a:cs typeface="经典粗黑简" pitchFamily="49" charset="-122"/>
              </a:rPr>
              <a:t>)</a:t>
            </a:r>
          </a:p>
          <a:p>
            <a:r>
              <a:rPr lang="en-US" altLang="zh-CN" sz="2400" dirty="0">
                <a:latin typeface="微软雅黑" pitchFamily="34" charset="-122"/>
                <a:ea typeface="微软雅黑" pitchFamily="34" charset="-122"/>
                <a:cs typeface="经典粗黑简" pitchFamily="49" charset="-122"/>
              </a:rPr>
              <a:t>F </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t>
            </a:r>
          </a:p>
        </p:txBody>
      </p:sp>
      <p:sp>
        <p:nvSpPr>
          <p:cNvPr id="13" name="矩形 12"/>
          <p:cNvSpPr/>
          <p:nvPr/>
        </p:nvSpPr>
        <p:spPr>
          <a:xfrm>
            <a:off x="4841664" y="3924995"/>
            <a:ext cx="5718832" cy="461665"/>
          </a:xfrm>
          <a:prstGeom prst="rect">
            <a:avLst/>
          </a:prstGeom>
        </p:spPr>
        <p:txBody>
          <a:bodyPr wrap="square">
            <a:spAutoFit/>
          </a:bodyPr>
          <a:lstStyle/>
          <a:p>
            <a:r>
              <a:rPr lang="en-US" altLang="zh-CN" sz="2400" dirty="0" err="1">
                <a:latin typeface="微软雅黑" pitchFamily="34" charset="-122"/>
                <a:ea typeface="微软雅黑" pitchFamily="34" charset="-122"/>
                <a:cs typeface="经典粗黑简" pitchFamily="49" charset="-122"/>
              </a:rPr>
              <a:t>GetHead</a:t>
            </a:r>
            <a:r>
              <a:rPr lang="en-US" altLang="zh-CN" sz="2400" dirty="0">
                <a:latin typeface="微软雅黑" pitchFamily="34" charset="-122"/>
                <a:ea typeface="微软雅黑" pitchFamily="34" charset="-122"/>
                <a:cs typeface="经典粗黑简" pitchFamily="49" charset="-122"/>
              </a:rPr>
              <a:t>(C)</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 a    </a:t>
            </a:r>
            <a:r>
              <a:rPr lang="en-US" altLang="zh-CN" sz="2400" dirty="0" err="1">
                <a:latin typeface="微软雅黑" pitchFamily="34" charset="-122"/>
                <a:ea typeface="微软雅黑" pitchFamily="34" charset="-122"/>
                <a:cs typeface="经典粗黑简" pitchFamily="49" charset="-122"/>
              </a:rPr>
              <a:t>GetTail</a:t>
            </a:r>
            <a:r>
              <a:rPr lang="en-US" altLang="zh-CN" sz="2400" dirty="0">
                <a:latin typeface="微软雅黑" pitchFamily="34" charset="-122"/>
                <a:ea typeface="微软雅黑" pitchFamily="34" charset="-122"/>
                <a:cs typeface="经典粗黑简" pitchFamily="49" charset="-122"/>
              </a:rPr>
              <a:t>(C)</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t>
            </a:r>
            <a:r>
              <a:rPr lang="en-US" altLang="zh-CN" sz="2400" dirty="0" err="1">
                <a:latin typeface="微软雅黑" pitchFamily="34" charset="-122"/>
                <a:ea typeface="微软雅黑" pitchFamily="34" charset="-122"/>
                <a:cs typeface="经典粗黑简" pitchFamily="49" charset="-122"/>
              </a:rPr>
              <a:t>b,c,d</a:t>
            </a:r>
            <a:r>
              <a:rPr lang="en-US" altLang="zh-CN" sz="2400" dirty="0">
                <a:latin typeface="微软雅黑" pitchFamily="34" charset="-122"/>
                <a:ea typeface="微软雅黑" pitchFamily="34" charset="-122"/>
                <a:cs typeface="经典粗黑简" pitchFamily="49" charset="-122"/>
              </a:rPr>
              <a:t>))</a:t>
            </a:r>
            <a:endParaRPr lang="zh-CN" altLang="zh-CN" sz="2400" dirty="0">
              <a:latin typeface="微软雅黑" pitchFamily="34" charset="-122"/>
              <a:ea typeface="微软雅黑" pitchFamily="34" charset="-122"/>
              <a:cs typeface="经典粗黑简" pitchFamily="49" charset="-122"/>
            </a:endParaRPr>
          </a:p>
        </p:txBody>
      </p:sp>
      <p:sp>
        <p:nvSpPr>
          <p:cNvPr id="14" name="矩形 13"/>
          <p:cNvSpPr/>
          <p:nvPr/>
        </p:nvSpPr>
        <p:spPr>
          <a:xfrm>
            <a:off x="4841664" y="4469872"/>
            <a:ext cx="5430800" cy="461665"/>
          </a:xfrm>
          <a:prstGeom prst="rect">
            <a:avLst/>
          </a:prstGeom>
        </p:spPr>
        <p:txBody>
          <a:bodyPr wrap="square">
            <a:spAutoFit/>
          </a:bodyPr>
          <a:lstStyle/>
          <a:p>
            <a:r>
              <a:rPr lang="en-US" altLang="zh-CN" sz="2400" dirty="0" err="1">
                <a:latin typeface="微软雅黑" pitchFamily="34" charset="-122"/>
                <a:ea typeface="微软雅黑" pitchFamily="34" charset="-122"/>
                <a:cs typeface="经典粗黑简" pitchFamily="49" charset="-122"/>
              </a:rPr>
              <a:t>GetHead</a:t>
            </a:r>
            <a:r>
              <a:rPr lang="en-US" altLang="zh-CN" sz="2400" dirty="0">
                <a:latin typeface="微软雅黑" pitchFamily="34" charset="-122"/>
                <a:ea typeface="微软雅黑" pitchFamily="34" charset="-122"/>
                <a:cs typeface="经典粗黑简" pitchFamily="49" charset="-122"/>
              </a:rPr>
              <a:t>(D)</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 A   </a:t>
            </a:r>
            <a:r>
              <a:rPr lang="en-US" altLang="zh-CN" sz="2400" dirty="0" err="1">
                <a:latin typeface="微软雅黑" pitchFamily="34" charset="-122"/>
                <a:ea typeface="微软雅黑" pitchFamily="34" charset="-122"/>
                <a:cs typeface="经典粗黑简" pitchFamily="49" charset="-122"/>
              </a:rPr>
              <a:t>GetTail</a:t>
            </a:r>
            <a:r>
              <a:rPr lang="en-US" altLang="zh-CN" sz="2400" dirty="0">
                <a:latin typeface="微软雅黑" pitchFamily="34" charset="-122"/>
                <a:ea typeface="微软雅黑" pitchFamily="34" charset="-122"/>
                <a:cs typeface="经典粗黑简" pitchFamily="49" charset="-122"/>
              </a:rPr>
              <a:t>(D)</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(B,C)</a:t>
            </a:r>
            <a:endParaRPr lang="zh-CN" altLang="zh-CN" sz="2400" dirty="0">
              <a:latin typeface="微软雅黑" pitchFamily="34" charset="-122"/>
              <a:ea typeface="微软雅黑" pitchFamily="34" charset="-122"/>
              <a:cs typeface="经典粗黑简" pitchFamily="49" charset="-122"/>
            </a:endParaRPr>
          </a:p>
        </p:txBody>
      </p:sp>
      <p:sp>
        <p:nvSpPr>
          <p:cNvPr id="15" name="矩形 14"/>
          <p:cNvSpPr/>
          <p:nvPr/>
        </p:nvSpPr>
        <p:spPr>
          <a:xfrm>
            <a:off x="4841664" y="5014749"/>
            <a:ext cx="5142768" cy="461665"/>
          </a:xfrm>
          <a:prstGeom prst="rect">
            <a:avLst/>
          </a:prstGeom>
        </p:spPr>
        <p:txBody>
          <a:bodyPr wrap="square">
            <a:spAutoFit/>
          </a:bodyPr>
          <a:lstStyle/>
          <a:p>
            <a:r>
              <a:rPr lang="en-US" altLang="zh-CN" sz="2400" dirty="0" err="1">
                <a:latin typeface="微软雅黑" pitchFamily="34" charset="-122"/>
                <a:ea typeface="微软雅黑" pitchFamily="34" charset="-122"/>
                <a:cs typeface="经典粗黑简" pitchFamily="49" charset="-122"/>
              </a:rPr>
              <a:t>GetHead</a:t>
            </a:r>
            <a:r>
              <a:rPr lang="en-US" altLang="zh-CN" sz="2400" dirty="0">
                <a:latin typeface="微软雅黑" pitchFamily="34" charset="-122"/>
                <a:ea typeface="微软雅黑" pitchFamily="34" charset="-122"/>
                <a:cs typeface="经典粗黑简" pitchFamily="49" charset="-122"/>
              </a:rPr>
              <a:t>(E)</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 a    </a:t>
            </a:r>
            <a:r>
              <a:rPr lang="en-US" altLang="zh-CN" sz="2400" dirty="0" err="1">
                <a:latin typeface="微软雅黑" pitchFamily="34" charset="-122"/>
                <a:ea typeface="微软雅黑" pitchFamily="34" charset="-122"/>
                <a:cs typeface="经典粗黑简" pitchFamily="49" charset="-122"/>
              </a:rPr>
              <a:t>GetTail</a:t>
            </a:r>
            <a:r>
              <a:rPr lang="en-US" altLang="zh-CN" sz="2400" dirty="0">
                <a:latin typeface="微软雅黑" pitchFamily="34" charset="-122"/>
                <a:ea typeface="微软雅黑" pitchFamily="34" charset="-122"/>
                <a:cs typeface="经典粗黑简" pitchFamily="49" charset="-122"/>
              </a:rPr>
              <a:t>(E)</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(E)</a:t>
            </a:r>
            <a:endParaRPr lang="zh-CN" altLang="zh-CN" sz="2400" dirty="0">
              <a:latin typeface="微软雅黑" pitchFamily="34" charset="-122"/>
              <a:ea typeface="微软雅黑" pitchFamily="34" charset="-122"/>
              <a:cs typeface="经典粗黑简" pitchFamily="49" charset="-122"/>
            </a:endParaRPr>
          </a:p>
        </p:txBody>
      </p:sp>
      <p:sp>
        <p:nvSpPr>
          <p:cNvPr id="16" name="矩形 15"/>
          <p:cNvSpPr/>
          <p:nvPr/>
        </p:nvSpPr>
        <p:spPr>
          <a:xfrm>
            <a:off x="4841664" y="5559624"/>
            <a:ext cx="4698850" cy="461665"/>
          </a:xfrm>
          <a:prstGeom prst="rect">
            <a:avLst/>
          </a:prstGeom>
        </p:spPr>
        <p:txBody>
          <a:bodyPr wrap="none">
            <a:spAutoFit/>
          </a:bodyPr>
          <a:lstStyle/>
          <a:p>
            <a:r>
              <a:rPr lang="en-US" altLang="zh-CN" sz="2400" dirty="0" err="1">
                <a:latin typeface="微软雅黑" pitchFamily="34" charset="-122"/>
                <a:ea typeface="微软雅黑" pitchFamily="34" charset="-122"/>
                <a:cs typeface="经典粗黑简" pitchFamily="49" charset="-122"/>
              </a:rPr>
              <a:t>GetHead</a:t>
            </a:r>
            <a:r>
              <a:rPr lang="en-US" altLang="zh-CN" sz="2400" dirty="0">
                <a:latin typeface="微软雅黑" pitchFamily="34" charset="-122"/>
                <a:ea typeface="微软雅黑" pitchFamily="34" charset="-122"/>
                <a:cs typeface="经典粗黑简" pitchFamily="49" charset="-122"/>
              </a:rPr>
              <a:t>(F)</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 ()    </a:t>
            </a:r>
            <a:r>
              <a:rPr lang="en-US" altLang="zh-CN" sz="2400" dirty="0" err="1">
                <a:latin typeface="微软雅黑" pitchFamily="34" charset="-122"/>
                <a:ea typeface="微软雅黑" pitchFamily="34" charset="-122"/>
                <a:cs typeface="经典粗黑简" pitchFamily="49" charset="-122"/>
              </a:rPr>
              <a:t>GetTail</a:t>
            </a:r>
            <a:r>
              <a:rPr lang="en-US" altLang="zh-CN" sz="2400" dirty="0">
                <a:latin typeface="微软雅黑" pitchFamily="34" charset="-122"/>
                <a:ea typeface="微软雅黑" pitchFamily="34" charset="-122"/>
                <a:cs typeface="经典粗黑简" pitchFamily="49" charset="-122"/>
              </a:rPr>
              <a:t>(F)</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t>
            </a:r>
            <a:endParaRPr lang="zh-CN" altLang="zh-CN"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6E6E8527-A190-2A49-52C9-73125239066E}"/>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FE5E43A9-0094-ED53-CE5A-25A6C5BF5E84}"/>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565276B-00DF-FE25-D494-1FB408C8BFEE}"/>
              </a:ext>
            </a:extLst>
          </p:cNvPr>
          <p:cNvSpPr txBox="1">
            <a:spLocks noChangeArrowheads="1"/>
          </p:cNvSpPr>
          <p:nvPr/>
        </p:nvSpPr>
        <p:spPr>
          <a:xfrm>
            <a:off x="191344" y="1106736"/>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6.3.2 </a:t>
            </a:r>
            <a:r>
              <a:rPr lang="zh-CN" altLang="en-US" sz="2800" b="1" dirty="0">
                <a:solidFill>
                  <a:schemeClr val="bg1"/>
                </a:solidFill>
                <a:latin typeface="经典粗黑简" pitchFamily="49" charset="-122"/>
                <a:ea typeface="经典粗黑简" pitchFamily="49" charset="-122"/>
                <a:cs typeface="经典粗黑简" pitchFamily="49" charset="-122"/>
              </a:rPr>
              <a:t>广义表的逻辑结构</a:t>
            </a:r>
          </a:p>
        </p:txBody>
      </p:sp>
    </p:spTree>
    <p:extLst>
      <p:ext uri="{BB962C8B-B14F-4D97-AF65-F5344CB8AC3E}">
        <p14:creationId xmlns:p14="http://schemas.microsoft.com/office/powerpoint/2010/main" val="401217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14" grpId="0"/>
      <p:bldP spid="15" grpId="0"/>
      <p:bldP spid="1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1708984" y="1916833"/>
            <a:ext cx="8851513" cy="1200329"/>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根据广义表的表头、表尾的定义可知，任意一个非空广义表的表头是表中第一个元素，其可能是原子也可能是列表，而表尾必为列表。</a:t>
            </a:r>
            <a:endParaRPr lang="zh-CN" altLang="en-US" sz="2400" dirty="0">
              <a:latin typeface="微软雅黑" pitchFamily="34" charset="-122"/>
              <a:ea typeface="微软雅黑" pitchFamily="34" charset="-122"/>
              <a:cs typeface="经典粗黑简" pitchFamily="49" charset="-122"/>
            </a:endParaRPr>
          </a:p>
        </p:txBody>
      </p:sp>
      <p:sp>
        <p:nvSpPr>
          <p:cNvPr id="18" name="矩形 17"/>
          <p:cNvSpPr/>
          <p:nvPr/>
        </p:nvSpPr>
        <p:spPr>
          <a:xfrm>
            <a:off x="1775520" y="3284984"/>
            <a:ext cx="8712968" cy="1569660"/>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值得注意的是广义表</a:t>
            </a:r>
            <a:r>
              <a:rPr lang="en-US" altLang="zh-CN"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和</a:t>
            </a:r>
            <a:r>
              <a:rPr lang="en-US" altLang="zh-CN"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是不同的。</a:t>
            </a:r>
            <a:endParaRPr lang="en-US" altLang="zh-CN" sz="2400" dirty="0">
              <a:latin typeface="微软雅黑" pitchFamily="34" charset="-122"/>
              <a:ea typeface="微软雅黑" pitchFamily="34" charset="-122"/>
              <a:cs typeface="经典粗黑简" pitchFamily="49" charset="-122"/>
            </a:endParaRPr>
          </a:p>
          <a:p>
            <a:r>
              <a:rPr lang="zh-CN" altLang="zh-CN" sz="2400" dirty="0">
                <a:latin typeface="微软雅黑" pitchFamily="34" charset="-122"/>
                <a:ea typeface="微软雅黑" pitchFamily="34" charset="-122"/>
                <a:cs typeface="经典粗黑简" pitchFamily="49" charset="-122"/>
              </a:rPr>
              <a:t>前者是长度长度为</a:t>
            </a:r>
            <a:r>
              <a:rPr lang="en-US" altLang="zh-CN" sz="2400" dirty="0">
                <a:latin typeface="微软雅黑" pitchFamily="34" charset="-122"/>
                <a:ea typeface="微软雅黑" pitchFamily="34" charset="-122"/>
                <a:cs typeface="经典粗黑简" pitchFamily="49" charset="-122"/>
              </a:rPr>
              <a:t>0</a:t>
            </a:r>
            <a:r>
              <a:rPr lang="zh-CN" altLang="zh-CN" sz="2400" dirty="0">
                <a:latin typeface="微软雅黑" pitchFamily="34" charset="-122"/>
                <a:ea typeface="微软雅黑" pitchFamily="34" charset="-122"/>
                <a:cs typeface="经典粗黑简" pitchFamily="49" charset="-122"/>
              </a:rPr>
              <a:t>的空表，对其不能做取表头和取表尾的操作；</a:t>
            </a:r>
            <a:endParaRPr lang="en-US" altLang="zh-CN" sz="2400" dirty="0">
              <a:latin typeface="微软雅黑" pitchFamily="34" charset="-122"/>
              <a:ea typeface="微软雅黑" pitchFamily="34" charset="-122"/>
              <a:cs typeface="经典粗黑简" pitchFamily="49" charset="-122"/>
            </a:endParaRPr>
          </a:p>
          <a:p>
            <a:r>
              <a:rPr lang="zh-CN" altLang="zh-CN" sz="2400" dirty="0">
                <a:latin typeface="微软雅黑" pitchFamily="34" charset="-122"/>
                <a:ea typeface="微软雅黑" pitchFamily="34" charset="-122"/>
                <a:cs typeface="经典粗黑简" pitchFamily="49" charset="-122"/>
              </a:rPr>
              <a:t>而后者是长度为</a:t>
            </a:r>
            <a:r>
              <a:rPr lang="en-US" altLang="zh-CN" sz="2400" dirty="0">
                <a:latin typeface="微软雅黑" pitchFamily="34" charset="-122"/>
                <a:ea typeface="微软雅黑" pitchFamily="34" charset="-122"/>
                <a:cs typeface="经典粗黑简" pitchFamily="49" charset="-122"/>
              </a:rPr>
              <a:t>1</a:t>
            </a:r>
            <a:r>
              <a:rPr lang="zh-CN" altLang="zh-CN" sz="2400" dirty="0">
                <a:latin typeface="微软雅黑" pitchFamily="34" charset="-122"/>
                <a:ea typeface="微软雅黑" pitchFamily="34" charset="-122"/>
                <a:cs typeface="经典粗黑简" pitchFamily="49" charset="-122"/>
              </a:rPr>
              <a:t>的非空表，该表中惟一的一个元素是空表，对其可以做取表头和取表尾的操作，得到的结果均是空表</a:t>
            </a:r>
            <a:r>
              <a:rPr lang="en-US" altLang="zh-CN" sz="2400" dirty="0">
                <a:latin typeface="微软雅黑" pitchFamily="34" charset="-122"/>
                <a:ea typeface="微软雅黑" pitchFamily="34" charset="-122"/>
                <a:cs typeface="经典粗黑简" pitchFamily="49" charset="-122"/>
              </a:rPr>
              <a:t>()</a:t>
            </a:r>
            <a:r>
              <a:rPr lang="zh-CN" altLang="zh-CN" sz="2400" dirty="0">
                <a:latin typeface="微软雅黑" pitchFamily="34" charset="-122"/>
                <a:ea typeface="微软雅黑" pitchFamily="34" charset="-122"/>
                <a:cs typeface="经典粗黑简" pitchFamily="49" charset="-122"/>
              </a:rPr>
              <a:t>。</a:t>
            </a:r>
          </a:p>
        </p:txBody>
      </p:sp>
      <p:sp>
        <p:nvSpPr>
          <p:cNvPr id="2" name="Rectangle 2">
            <a:extLst>
              <a:ext uri="{FF2B5EF4-FFF2-40B4-BE49-F238E27FC236}">
                <a16:creationId xmlns:a16="http://schemas.microsoft.com/office/drawing/2014/main" id="{34DC0F1E-6235-4060-99F7-491C5C584DC8}"/>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5E5E14FC-F7B1-2A60-7F58-9A3123059881}"/>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22B252CA-A580-D8AF-6F09-39AFD33211BB}"/>
              </a:ext>
            </a:extLst>
          </p:cNvPr>
          <p:cNvSpPr txBox="1">
            <a:spLocks noChangeArrowheads="1"/>
          </p:cNvSpPr>
          <p:nvPr/>
        </p:nvSpPr>
        <p:spPr>
          <a:xfrm>
            <a:off x="191344" y="1106736"/>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6.3.2 </a:t>
            </a:r>
            <a:r>
              <a:rPr lang="zh-CN" altLang="en-US" sz="2800" b="1" dirty="0">
                <a:solidFill>
                  <a:schemeClr val="bg1"/>
                </a:solidFill>
                <a:latin typeface="经典粗黑简" pitchFamily="49" charset="-122"/>
                <a:ea typeface="经典粗黑简" pitchFamily="49" charset="-122"/>
                <a:cs typeface="经典粗黑简" pitchFamily="49" charset="-122"/>
              </a:rPr>
              <a:t>广义表的逻辑结构</a:t>
            </a:r>
          </a:p>
        </p:txBody>
      </p:sp>
    </p:spTree>
    <p:extLst>
      <p:ext uri="{BB962C8B-B14F-4D97-AF65-F5344CB8AC3E}">
        <p14:creationId xmlns:p14="http://schemas.microsoft.com/office/powerpoint/2010/main" val="21229524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317844" y="1684152"/>
            <a:ext cx="10322772" cy="1569660"/>
          </a:xfrm>
          <a:prstGeom prst="rect">
            <a:avLst/>
          </a:prstGeom>
        </p:spPr>
        <p:txBody>
          <a:bodyPr wrap="square">
            <a:spAutoFit/>
          </a:bodyPr>
          <a:lstStyle/>
          <a:p>
            <a:r>
              <a:rPr lang="en-US" altLang="zh-CN" sz="2400" dirty="0">
                <a:latin typeface="微软雅黑" pitchFamily="34" charset="-122"/>
                <a:ea typeface="微软雅黑" pitchFamily="34" charset="-122"/>
                <a:cs typeface="经典粗黑简" pitchFamily="49" charset="-122"/>
              </a:rPr>
              <a:t>       </a:t>
            </a:r>
            <a:r>
              <a:rPr lang="zh-CN" altLang="zh-CN" sz="2400" dirty="0">
                <a:latin typeface="微软雅黑" pitchFamily="34" charset="-122"/>
                <a:ea typeface="微软雅黑" pitchFamily="34" charset="-122"/>
                <a:cs typeface="经典粗黑简" pitchFamily="49" charset="-122"/>
              </a:rPr>
              <a:t>由于广义表中的数据元素可以具有不同的结构，因此很难用顺序存储结构来表示。而链式的存储结构分配较为灵活，易于解决广义表的共享与递归问题，所以</a:t>
            </a:r>
            <a:r>
              <a:rPr lang="zh-CN" altLang="zh-CN" sz="2400" dirty="0">
                <a:solidFill>
                  <a:srgbClr val="FF0000"/>
                </a:solidFill>
                <a:latin typeface="微软雅黑" pitchFamily="34" charset="-122"/>
                <a:ea typeface="微软雅黑" pitchFamily="34" charset="-122"/>
                <a:cs typeface="经典粗黑简" pitchFamily="49" charset="-122"/>
              </a:rPr>
              <a:t>通常都采用链式的存储结构来存储广义表</a:t>
            </a:r>
            <a:r>
              <a:rPr lang="zh-CN" altLang="zh-CN" sz="2400" dirty="0">
                <a:latin typeface="微软雅黑" pitchFamily="34" charset="-122"/>
                <a:ea typeface="微软雅黑" pitchFamily="34" charset="-122"/>
                <a:cs typeface="经典粗黑简" pitchFamily="49" charset="-122"/>
              </a:rPr>
              <a:t>，每个数据元素可用一个结点来表示。</a:t>
            </a:r>
            <a:endParaRPr lang="zh-CN" altLang="en-US" sz="2400" dirty="0">
              <a:latin typeface="微软雅黑" pitchFamily="34" charset="-122"/>
              <a:ea typeface="微软雅黑" pitchFamily="34" charset="-122"/>
              <a:cs typeface="经典粗黑简" pitchFamily="49" charset="-122"/>
            </a:endParaRPr>
          </a:p>
        </p:txBody>
      </p:sp>
      <p:sp>
        <p:nvSpPr>
          <p:cNvPr id="9" name="矩形 8"/>
          <p:cNvSpPr/>
          <p:nvPr/>
        </p:nvSpPr>
        <p:spPr>
          <a:xfrm>
            <a:off x="1284724" y="3281981"/>
            <a:ext cx="10441160" cy="461665"/>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按结点形式的不同，广义表的链式存储结构又可以分为不同的两种存储方式。</a:t>
            </a:r>
          </a:p>
        </p:txBody>
      </p:sp>
      <p:sp>
        <p:nvSpPr>
          <p:cNvPr id="11" name="矩形 10"/>
          <p:cNvSpPr/>
          <p:nvPr/>
        </p:nvSpPr>
        <p:spPr>
          <a:xfrm>
            <a:off x="1271465" y="3806241"/>
            <a:ext cx="9721078" cy="707886"/>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一种是</a:t>
            </a:r>
            <a:r>
              <a:rPr lang="zh-CN" altLang="zh-CN" sz="2000" dirty="0">
                <a:solidFill>
                  <a:srgbClr val="FF0000"/>
                </a:solidFill>
                <a:latin typeface="微软雅黑" pitchFamily="34" charset="-122"/>
                <a:ea typeface="微软雅黑" pitchFamily="34" charset="-122"/>
                <a:cs typeface="经典粗黑简" pitchFamily="49" charset="-122"/>
              </a:rPr>
              <a:t>头尾表示法</a:t>
            </a:r>
            <a:r>
              <a:rPr lang="zh-CN" altLang="zh-CN" sz="2000" dirty="0">
                <a:latin typeface="微软雅黑" pitchFamily="34" charset="-122"/>
                <a:ea typeface="微软雅黑" pitchFamily="34" charset="-122"/>
                <a:cs typeface="经典粗黑简" pitchFamily="49" charset="-122"/>
              </a:rPr>
              <a:t>。若广义表不空，则可分解成表头和表尾</a:t>
            </a:r>
            <a:r>
              <a:rPr lang="zh-CN" altLang="en-US" sz="2000" dirty="0">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一对确定的表头和表尾可唯一地确定一个广义表。</a:t>
            </a:r>
            <a:endParaRPr lang="zh-CN" altLang="en-US" sz="2000" dirty="0">
              <a:latin typeface="微软雅黑" pitchFamily="34" charset="-122"/>
              <a:ea typeface="微软雅黑" pitchFamily="34" charset="-122"/>
              <a:cs typeface="经典粗黑简" pitchFamily="49" charset="-122"/>
            </a:endParaRPr>
          </a:p>
        </p:txBody>
      </p:sp>
      <p:sp>
        <p:nvSpPr>
          <p:cNvPr id="12" name="矩形 11"/>
          <p:cNvSpPr/>
          <p:nvPr/>
        </p:nvSpPr>
        <p:spPr>
          <a:xfrm>
            <a:off x="1343472" y="4576722"/>
            <a:ext cx="9649071" cy="707886"/>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头尾表示法中结点的结构形式有两种：一种是</a:t>
            </a:r>
            <a:r>
              <a:rPr lang="zh-CN" altLang="zh-CN" sz="2000" dirty="0">
                <a:solidFill>
                  <a:srgbClr val="FF0000"/>
                </a:solidFill>
                <a:latin typeface="微软雅黑" pitchFamily="34" charset="-122"/>
                <a:ea typeface="微软雅黑" pitchFamily="34" charset="-122"/>
                <a:cs typeface="经典粗黑简" pitchFamily="49" charset="-122"/>
              </a:rPr>
              <a:t>表结点</a:t>
            </a:r>
            <a:r>
              <a:rPr lang="zh-CN" altLang="zh-CN" sz="2000" dirty="0">
                <a:latin typeface="微软雅黑" pitchFamily="34" charset="-122"/>
                <a:ea typeface="微软雅黑" pitchFamily="34" charset="-122"/>
                <a:cs typeface="经典粗黑简" pitchFamily="49" charset="-122"/>
              </a:rPr>
              <a:t>，用以表示列表；另一种是</a:t>
            </a:r>
            <a:r>
              <a:rPr lang="zh-CN" altLang="zh-CN" sz="2000" dirty="0">
                <a:solidFill>
                  <a:srgbClr val="FF0000"/>
                </a:solidFill>
                <a:latin typeface="微软雅黑" pitchFamily="34" charset="-122"/>
                <a:ea typeface="微软雅黑" pitchFamily="34" charset="-122"/>
                <a:cs typeface="经典粗黑简" pitchFamily="49" charset="-122"/>
              </a:rPr>
              <a:t>元素结点</a:t>
            </a:r>
            <a:r>
              <a:rPr lang="zh-CN" altLang="zh-CN" sz="2000" dirty="0">
                <a:latin typeface="微软雅黑" pitchFamily="34" charset="-122"/>
                <a:ea typeface="微软雅黑" pitchFamily="34" charset="-122"/>
                <a:cs typeface="经典粗黑简" pitchFamily="49" charset="-122"/>
              </a:rPr>
              <a:t>，用以表示原子。</a:t>
            </a:r>
            <a:endParaRPr lang="zh-CN" altLang="en-US" sz="2000" dirty="0">
              <a:latin typeface="微软雅黑" pitchFamily="34" charset="-122"/>
              <a:ea typeface="微软雅黑" pitchFamily="34" charset="-122"/>
              <a:cs typeface="经典粗黑简" pitchFamily="49" charset="-122"/>
            </a:endParaRPr>
          </a:p>
        </p:txBody>
      </p:sp>
      <p:sp>
        <p:nvSpPr>
          <p:cNvPr id="13" name="矩形 12"/>
          <p:cNvSpPr/>
          <p:nvPr/>
        </p:nvSpPr>
        <p:spPr>
          <a:xfrm>
            <a:off x="1343473" y="5347203"/>
            <a:ext cx="9649070" cy="707886"/>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在表结点中包括一个指向表头的指针和指向表尾的指针；而在元素结点中应该包括所表示原子的元素值。</a:t>
            </a:r>
            <a:endParaRPr lang="zh-CN" altLang="en-US" sz="2000" dirty="0">
              <a:latin typeface="微软雅黑" pitchFamily="34" charset="-122"/>
              <a:ea typeface="微软雅黑" pitchFamily="34" charset="-122"/>
              <a:cs typeface="经典粗黑简" pitchFamily="49" charset="-122"/>
            </a:endParaRPr>
          </a:p>
        </p:txBody>
      </p:sp>
      <p:sp>
        <p:nvSpPr>
          <p:cNvPr id="14" name="矩形 13"/>
          <p:cNvSpPr/>
          <p:nvPr/>
        </p:nvSpPr>
        <p:spPr>
          <a:xfrm>
            <a:off x="1343473" y="6033482"/>
            <a:ext cx="9505054" cy="707886"/>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为了区分这两类结点，在结点中还要设置一个标志域，如果标志为</a:t>
            </a:r>
            <a:r>
              <a:rPr lang="en-US" altLang="zh-CN" sz="2000" dirty="0">
                <a:latin typeface="微软雅黑" pitchFamily="34" charset="-122"/>
                <a:ea typeface="微软雅黑" pitchFamily="34" charset="-122"/>
                <a:cs typeface="经典粗黑简" pitchFamily="49" charset="-122"/>
              </a:rPr>
              <a:t>1</a:t>
            </a:r>
            <a:r>
              <a:rPr lang="zh-CN" altLang="zh-CN" sz="2000" dirty="0">
                <a:latin typeface="微软雅黑" pitchFamily="34" charset="-122"/>
                <a:ea typeface="微软雅黑" pitchFamily="34" charset="-122"/>
                <a:cs typeface="经典粗黑简" pitchFamily="49" charset="-122"/>
              </a:rPr>
              <a:t>，则表示该结点为表结点；如果标志为</a:t>
            </a:r>
            <a:r>
              <a:rPr lang="en-US" altLang="zh-CN" sz="2000" dirty="0">
                <a:latin typeface="微软雅黑" pitchFamily="34" charset="-122"/>
                <a:ea typeface="微软雅黑" pitchFamily="34" charset="-122"/>
                <a:cs typeface="经典粗黑简" pitchFamily="49" charset="-122"/>
              </a:rPr>
              <a:t>0</a:t>
            </a:r>
            <a:r>
              <a:rPr lang="zh-CN" altLang="zh-CN" sz="2000" dirty="0">
                <a:latin typeface="微软雅黑" pitchFamily="34" charset="-122"/>
                <a:ea typeface="微软雅黑" pitchFamily="34" charset="-122"/>
                <a:cs typeface="经典粗黑简" pitchFamily="49" charset="-122"/>
              </a:rPr>
              <a:t>，则表示该结点为元素结点。</a:t>
            </a:r>
            <a:endParaRPr lang="zh-CN" altLang="en-US" sz="20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63B09F80-0DBC-6DE9-1388-D15B0CCE8DDD}"/>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AD6E26A9-B8BD-9FCD-257D-B9A63163A679}"/>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FD6A0C67-667A-5238-5118-9B3308DDB2B6}"/>
              </a:ext>
            </a:extLst>
          </p:cNvPr>
          <p:cNvSpPr txBox="1">
            <a:spLocks noChangeArrowheads="1"/>
          </p:cNvSpPr>
          <p:nvPr/>
        </p:nvSpPr>
        <p:spPr>
          <a:xfrm>
            <a:off x="191344" y="1106736"/>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6.3.2 </a:t>
            </a:r>
            <a:r>
              <a:rPr lang="zh-CN" altLang="en-US" sz="2800" b="1" dirty="0">
                <a:solidFill>
                  <a:schemeClr val="bg1"/>
                </a:solidFill>
                <a:latin typeface="经典粗黑简" pitchFamily="49" charset="-122"/>
                <a:ea typeface="经典粗黑简" pitchFamily="49" charset="-122"/>
                <a:cs typeface="经典粗黑简" pitchFamily="49" charset="-122"/>
              </a:rPr>
              <a:t>广义表的存储结构</a:t>
            </a:r>
          </a:p>
        </p:txBody>
      </p:sp>
    </p:spTree>
    <p:extLst>
      <p:ext uri="{BB962C8B-B14F-4D97-AF65-F5344CB8AC3E}">
        <p14:creationId xmlns:p14="http://schemas.microsoft.com/office/powerpoint/2010/main" val="747125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847529" y="3648769"/>
            <a:ext cx="2031325"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链表结点结构</a:t>
            </a:r>
          </a:p>
        </p:txBody>
      </p:sp>
      <p:sp>
        <p:nvSpPr>
          <p:cNvPr id="16" name="Rectangle 4"/>
          <p:cNvSpPr>
            <a:spLocks noChangeArrowheads="1"/>
          </p:cNvSpPr>
          <p:nvPr/>
        </p:nvSpPr>
        <p:spPr bwMode="auto">
          <a:xfrm>
            <a:off x="2576327" y="4270703"/>
            <a:ext cx="9906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tag=1</a:t>
            </a:r>
          </a:p>
        </p:txBody>
      </p:sp>
      <p:sp>
        <p:nvSpPr>
          <p:cNvPr id="17" name="Rectangle 5"/>
          <p:cNvSpPr>
            <a:spLocks noChangeArrowheads="1"/>
          </p:cNvSpPr>
          <p:nvPr/>
        </p:nvSpPr>
        <p:spPr bwMode="auto">
          <a:xfrm>
            <a:off x="3566927" y="4270703"/>
            <a:ext cx="9144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hp</a:t>
            </a:r>
          </a:p>
        </p:txBody>
      </p:sp>
      <p:sp>
        <p:nvSpPr>
          <p:cNvPr id="18" name="Rectangle 6"/>
          <p:cNvSpPr>
            <a:spLocks noChangeArrowheads="1"/>
          </p:cNvSpPr>
          <p:nvPr/>
        </p:nvSpPr>
        <p:spPr bwMode="auto">
          <a:xfrm>
            <a:off x="4481327" y="4270703"/>
            <a:ext cx="9144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tp</a:t>
            </a:r>
          </a:p>
        </p:txBody>
      </p:sp>
      <p:sp>
        <p:nvSpPr>
          <p:cNvPr id="19" name="Text Box 7"/>
          <p:cNvSpPr txBox="1">
            <a:spLocks noChangeArrowheads="1"/>
          </p:cNvSpPr>
          <p:nvPr/>
        </p:nvSpPr>
        <p:spPr bwMode="auto">
          <a:xfrm>
            <a:off x="3357377" y="5010930"/>
            <a:ext cx="1143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lang="zh-CN" altLang="en-US" sz="2000" dirty="0">
                <a:latin typeface="微软雅黑" pitchFamily="34" charset="-122"/>
                <a:ea typeface="微软雅黑" pitchFamily="34" charset="-122"/>
                <a:cs typeface="经典粗黑简" pitchFamily="49" charset="-122"/>
              </a:rPr>
              <a:t>表结点</a:t>
            </a:r>
          </a:p>
        </p:txBody>
      </p:sp>
      <p:sp>
        <p:nvSpPr>
          <p:cNvPr id="20" name="Rectangle 8"/>
          <p:cNvSpPr>
            <a:spLocks noChangeArrowheads="1"/>
          </p:cNvSpPr>
          <p:nvPr/>
        </p:nvSpPr>
        <p:spPr bwMode="auto">
          <a:xfrm>
            <a:off x="2713442" y="5593364"/>
            <a:ext cx="9906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tag=0</a:t>
            </a:r>
          </a:p>
        </p:txBody>
      </p:sp>
      <p:sp>
        <p:nvSpPr>
          <p:cNvPr id="21" name="Rectangle 9"/>
          <p:cNvSpPr>
            <a:spLocks noChangeArrowheads="1"/>
          </p:cNvSpPr>
          <p:nvPr/>
        </p:nvSpPr>
        <p:spPr bwMode="auto">
          <a:xfrm>
            <a:off x="3712796" y="5593364"/>
            <a:ext cx="9144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atom</a:t>
            </a:r>
          </a:p>
        </p:txBody>
      </p:sp>
      <p:sp>
        <p:nvSpPr>
          <p:cNvPr id="22" name="Text Box 10"/>
          <p:cNvSpPr txBox="1">
            <a:spLocks noChangeArrowheads="1"/>
          </p:cNvSpPr>
          <p:nvPr/>
        </p:nvSpPr>
        <p:spPr bwMode="auto">
          <a:xfrm>
            <a:off x="3066729" y="6341258"/>
            <a:ext cx="12611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原子结点</a:t>
            </a:r>
          </a:p>
        </p:txBody>
      </p:sp>
      <p:sp>
        <p:nvSpPr>
          <p:cNvPr id="23" name="Rectangle 13"/>
          <p:cNvSpPr>
            <a:spLocks noChangeArrowheads="1"/>
          </p:cNvSpPr>
          <p:nvPr/>
        </p:nvSpPr>
        <p:spPr bwMode="auto">
          <a:xfrm>
            <a:off x="6312025" y="2955716"/>
            <a:ext cx="4248473" cy="3785652"/>
          </a:xfrm>
          <a:prstGeom prst="rect">
            <a:avLst/>
          </a:prstGeom>
          <a:noFill/>
          <a:ln>
            <a:noFill/>
          </a:ln>
          <a:effectLst/>
          <a:extLst>
            <a:ext uri="{909E8E84-426E-40DD-AFC4-6F175D3DCCD1}">
              <a14:hiddenFill xmlns:a14="http://schemas.microsoft.com/office/drawing/2010/main">
                <a:gradFill rotWithShape="0">
                  <a:gsLst>
                    <a:gs pos="0">
                      <a:schemeClr val="bg1">
                        <a:gamma/>
                        <a:shade val="46275"/>
                        <a:invGamma/>
                      </a:schemeClr>
                    </a:gs>
                    <a:gs pos="50000">
                      <a:schemeClr val="bg1"/>
                    </a:gs>
                    <a:gs pos="100000">
                      <a:schemeClr val="bg1">
                        <a:gamma/>
                        <a:shade val="46275"/>
                        <a:invGamma/>
                      </a:schemeClr>
                    </a:gs>
                  </a:gsLst>
                  <a:lin ang="5400000" scaled="1"/>
                </a:gradFill>
              </a14:hiddenFill>
            </a:ext>
            <a:ext uri="{91240B29-F687-4F45-9708-019B960494DF}">
              <a14:hiddenLine xmlns:a14="http://schemas.microsoft.com/office/drawing/2010/main" w="38100">
                <a:solidFill>
                  <a:srgbClr val="33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eaLnBrk="0" hangingPunct="0">
              <a:defRPr/>
            </a:pPr>
            <a:r>
              <a:rPr lang="en-US" altLang="zh-CN" sz="2000" dirty="0" err="1">
                <a:latin typeface="Times New Roman" pitchFamily="18" charset="0"/>
              </a:rPr>
              <a:t>typedef</a:t>
            </a:r>
            <a:r>
              <a:rPr lang="en-US" altLang="zh-CN" sz="2000" dirty="0">
                <a:latin typeface="Times New Roman" pitchFamily="18" charset="0"/>
              </a:rPr>
              <a:t> </a:t>
            </a:r>
            <a:r>
              <a:rPr lang="en-US" altLang="zh-CN" sz="2000" dirty="0" err="1">
                <a:latin typeface="Times New Roman" pitchFamily="18" charset="0"/>
              </a:rPr>
              <a:t>enum</a:t>
            </a:r>
            <a:r>
              <a:rPr lang="en-US" altLang="zh-CN" sz="2000" dirty="0">
                <a:latin typeface="Times New Roman" pitchFamily="18" charset="0"/>
              </a:rPr>
              <a:t> {ATOM,LIST} </a:t>
            </a:r>
            <a:r>
              <a:rPr lang="en-US" altLang="zh-CN" sz="2000" dirty="0" err="1">
                <a:latin typeface="Times New Roman" pitchFamily="18" charset="0"/>
              </a:rPr>
              <a:t>Elemtag</a:t>
            </a:r>
            <a:r>
              <a:rPr lang="en-US" altLang="zh-CN" sz="2000" dirty="0">
                <a:latin typeface="Times New Roman" pitchFamily="18" charset="0"/>
              </a:rPr>
              <a:t>;</a:t>
            </a:r>
            <a:br>
              <a:rPr lang="en-US" altLang="zh-CN" sz="2000" dirty="0">
                <a:latin typeface="Times New Roman" pitchFamily="18" charset="0"/>
              </a:rPr>
            </a:br>
            <a:r>
              <a:rPr lang="en-US" altLang="zh-CN" sz="2000" dirty="0" err="1">
                <a:latin typeface="Times New Roman" pitchFamily="18" charset="0"/>
              </a:rPr>
              <a:t>typedef</a:t>
            </a:r>
            <a:r>
              <a:rPr lang="en-US" altLang="zh-CN" sz="2000" dirty="0">
                <a:latin typeface="Times New Roman" pitchFamily="18" charset="0"/>
              </a:rPr>
              <a:t> </a:t>
            </a:r>
            <a:r>
              <a:rPr lang="en-US" altLang="zh-CN" sz="2000" dirty="0" err="1">
                <a:latin typeface="Times New Roman" pitchFamily="18" charset="0"/>
              </a:rPr>
              <a:t>struct</a:t>
            </a:r>
            <a:r>
              <a:rPr lang="en-US" altLang="zh-CN" sz="2000" dirty="0">
                <a:latin typeface="Times New Roman" pitchFamily="18" charset="0"/>
              </a:rPr>
              <a:t> </a:t>
            </a:r>
            <a:r>
              <a:rPr lang="en-US" altLang="zh-CN" sz="2000" dirty="0" err="1">
                <a:latin typeface="Times New Roman" pitchFamily="18" charset="0"/>
              </a:rPr>
              <a:t>GLNode</a:t>
            </a:r>
            <a:endParaRPr lang="en-US" altLang="zh-CN" sz="2000" dirty="0">
              <a:latin typeface="Times New Roman" pitchFamily="18" charset="0"/>
            </a:endParaRPr>
          </a:p>
          <a:p>
            <a:pPr algn="l" eaLnBrk="0" hangingPunct="0">
              <a:defRPr/>
            </a:pPr>
            <a:r>
              <a:rPr lang="en-US" altLang="zh-CN" sz="2000" dirty="0">
                <a:latin typeface="Times New Roman" pitchFamily="18" charset="0"/>
              </a:rPr>
              <a:t>{</a:t>
            </a:r>
            <a:br>
              <a:rPr lang="en-US" altLang="zh-CN" sz="2000" dirty="0">
                <a:latin typeface="Times New Roman" pitchFamily="18" charset="0"/>
              </a:rPr>
            </a:br>
            <a:r>
              <a:rPr lang="en-US" altLang="zh-CN" sz="2000" dirty="0">
                <a:latin typeface="Times New Roman" pitchFamily="18" charset="0"/>
              </a:rPr>
              <a:t>      </a:t>
            </a:r>
            <a:r>
              <a:rPr lang="en-US" altLang="zh-CN" sz="2000" dirty="0" err="1">
                <a:latin typeface="Times New Roman" pitchFamily="18" charset="0"/>
              </a:rPr>
              <a:t>Elemtag</a:t>
            </a:r>
            <a:r>
              <a:rPr lang="en-US" altLang="zh-CN" sz="2000" dirty="0">
                <a:latin typeface="Times New Roman" pitchFamily="18" charset="0"/>
              </a:rPr>
              <a:t> tag;</a:t>
            </a:r>
            <a:br>
              <a:rPr lang="en-US" altLang="zh-CN" sz="2000" dirty="0">
                <a:latin typeface="Times New Roman" pitchFamily="18" charset="0"/>
              </a:rPr>
            </a:br>
            <a:r>
              <a:rPr lang="en-US" altLang="zh-CN" sz="2000" dirty="0">
                <a:latin typeface="Times New Roman" pitchFamily="18" charset="0"/>
              </a:rPr>
              <a:t>      union{</a:t>
            </a:r>
            <a:br>
              <a:rPr lang="en-US" altLang="zh-CN" sz="2000" dirty="0">
                <a:latin typeface="Times New Roman" pitchFamily="18" charset="0"/>
              </a:rPr>
            </a:br>
            <a:r>
              <a:rPr lang="en-US" altLang="zh-CN" sz="2000" dirty="0">
                <a:latin typeface="Times New Roman" pitchFamily="18" charset="0"/>
              </a:rPr>
              <a:t>         </a:t>
            </a:r>
            <a:r>
              <a:rPr lang="en-US" altLang="zh-CN" sz="2000" dirty="0" err="1">
                <a:latin typeface="Times New Roman" pitchFamily="18" charset="0"/>
              </a:rPr>
              <a:t>AtomType</a:t>
            </a:r>
            <a:r>
              <a:rPr lang="en-US" altLang="zh-CN" sz="2000" dirty="0">
                <a:latin typeface="Times New Roman" pitchFamily="18" charset="0"/>
              </a:rPr>
              <a:t> atom;</a:t>
            </a:r>
            <a:br>
              <a:rPr lang="en-US" altLang="zh-CN" sz="2000" dirty="0">
                <a:latin typeface="Times New Roman" pitchFamily="18" charset="0"/>
              </a:rPr>
            </a:br>
            <a:r>
              <a:rPr lang="en-US" altLang="zh-CN" sz="2000" dirty="0">
                <a:latin typeface="Times New Roman" pitchFamily="18" charset="0"/>
              </a:rPr>
              <a:t>         </a:t>
            </a:r>
            <a:r>
              <a:rPr lang="en-US" altLang="zh-CN" sz="2000" dirty="0" err="1">
                <a:latin typeface="Times New Roman" pitchFamily="18" charset="0"/>
              </a:rPr>
              <a:t>struct</a:t>
            </a:r>
            <a:r>
              <a:rPr lang="en-US" altLang="zh-CN" sz="2000" dirty="0">
                <a:latin typeface="Times New Roman" pitchFamily="18" charset="0"/>
              </a:rPr>
              <a:t> </a:t>
            </a:r>
          </a:p>
          <a:p>
            <a:pPr algn="l" eaLnBrk="0" hangingPunct="0">
              <a:defRPr/>
            </a:pPr>
            <a:r>
              <a:rPr lang="en-US" altLang="zh-CN" sz="2000" dirty="0">
                <a:latin typeface="Times New Roman" pitchFamily="18" charset="0"/>
              </a:rPr>
              <a:t>          { </a:t>
            </a:r>
            <a:br>
              <a:rPr lang="en-US" altLang="zh-CN" sz="2000" dirty="0">
                <a:latin typeface="Times New Roman" pitchFamily="18" charset="0"/>
              </a:rPr>
            </a:br>
            <a:r>
              <a:rPr lang="en-US" altLang="zh-CN" sz="2000" dirty="0">
                <a:latin typeface="Times New Roman" pitchFamily="18" charset="0"/>
              </a:rPr>
              <a:t>              </a:t>
            </a:r>
            <a:r>
              <a:rPr lang="en-US" altLang="zh-CN" sz="2000" dirty="0" err="1">
                <a:latin typeface="Times New Roman" pitchFamily="18" charset="0"/>
              </a:rPr>
              <a:t>struct</a:t>
            </a:r>
            <a:r>
              <a:rPr lang="en-US" altLang="zh-CN" sz="2000" dirty="0">
                <a:latin typeface="Times New Roman" pitchFamily="18" charset="0"/>
              </a:rPr>
              <a:t> </a:t>
            </a:r>
            <a:r>
              <a:rPr lang="en-US" altLang="zh-CN" sz="2000" dirty="0" err="1">
                <a:latin typeface="Times New Roman" pitchFamily="18" charset="0"/>
              </a:rPr>
              <a:t>GLNode</a:t>
            </a:r>
            <a:r>
              <a:rPr lang="en-US" altLang="zh-CN" sz="2000" dirty="0">
                <a:latin typeface="Times New Roman" pitchFamily="18" charset="0"/>
              </a:rPr>
              <a:t> *</a:t>
            </a:r>
            <a:r>
              <a:rPr lang="en-US" altLang="zh-CN" sz="2000" dirty="0" err="1">
                <a:latin typeface="Times New Roman" pitchFamily="18" charset="0"/>
              </a:rPr>
              <a:t>hp</a:t>
            </a:r>
            <a:r>
              <a:rPr lang="en-US" altLang="zh-CN" sz="2000" dirty="0">
                <a:latin typeface="Times New Roman" pitchFamily="18" charset="0"/>
              </a:rPr>
              <a:t>,*</a:t>
            </a:r>
            <a:r>
              <a:rPr lang="en-US" altLang="zh-CN" sz="2000" dirty="0" err="1">
                <a:latin typeface="Times New Roman" pitchFamily="18" charset="0"/>
              </a:rPr>
              <a:t>tp</a:t>
            </a:r>
            <a:r>
              <a:rPr lang="en-US" altLang="zh-CN" sz="2000" dirty="0">
                <a:latin typeface="Times New Roman" pitchFamily="18" charset="0"/>
              </a:rPr>
              <a:t>;</a:t>
            </a:r>
            <a:br>
              <a:rPr lang="en-US" altLang="zh-CN" sz="2000" dirty="0">
                <a:latin typeface="Times New Roman" pitchFamily="18" charset="0"/>
              </a:rPr>
            </a:br>
            <a:r>
              <a:rPr lang="en-US" altLang="zh-CN" sz="2000" dirty="0">
                <a:latin typeface="Times New Roman" pitchFamily="18" charset="0"/>
              </a:rPr>
              <a:t>         }</a:t>
            </a:r>
            <a:r>
              <a:rPr lang="en-US" altLang="zh-CN" sz="2000" dirty="0" err="1">
                <a:latin typeface="Times New Roman" pitchFamily="18" charset="0"/>
              </a:rPr>
              <a:t>ptr</a:t>
            </a:r>
            <a:r>
              <a:rPr lang="en-US" altLang="zh-CN" sz="2000" dirty="0">
                <a:latin typeface="Times New Roman" pitchFamily="18" charset="0"/>
              </a:rPr>
              <a:t>;</a:t>
            </a:r>
            <a:br>
              <a:rPr lang="en-US" altLang="zh-CN" sz="2000" dirty="0">
                <a:latin typeface="Times New Roman" pitchFamily="18" charset="0"/>
              </a:rPr>
            </a:br>
            <a:r>
              <a:rPr lang="en-US" altLang="zh-CN" sz="2000" dirty="0">
                <a:latin typeface="Times New Roman" pitchFamily="18" charset="0"/>
              </a:rPr>
              <a:t>      };</a:t>
            </a:r>
            <a:br>
              <a:rPr lang="en-US" altLang="zh-CN" sz="2000" dirty="0">
                <a:latin typeface="Times New Roman" pitchFamily="18" charset="0"/>
              </a:rPr>
            </a:br>
            <a:r>
              <a:rPr lang="en-US" altLang="zh-CN" sz="2000" dirty="0">
                <a:latin typeface="Times New Roman" pitchFamily="18" charset="0"/>
              </a:rPr>
              <a:t>}*</a:t>
            </a:r>
            <a:r>
              <a:rPr lang="en-US" altLang="zh-CN" sz="2000" dirty="0" err="1">
                <a:latin typeface="Times New Roman" pitchFamily="18" charset="0"/>
              </a:rPr>
              <a:t>GList</a:t>
            </a:r>
            <a:r>
              <a:rPr lang="en-US" altLang="zh-CN" sz="2000" dirty="0">
                <a:latin typeface="Times New Roman" pitchFamily="18" charset="0"/>
              </a:rPr>
              <a:t>;</a:t>
            </a:r>
          </a:p>
        </p:txBody>
      </p:sp>
      <p:sp>
        <p:nvSpPr>
          <p:cNvPr id="24" name="矩形 23"/>
          <p:cNvSpPr/>
          <p:nvPr/>
        </p:nvSpPr>
        <p:spPr>
          <a:xfrm>
            <a:off x="1847528" y="3184013"/>
            <a:ext cx="4801314" cy="461665"/>
          </a:xfrm>
          <a:prstGeom prst="rect">
            <a:avLst/>
          </a:prstGeom>
        </p:spPr>
        <p:txBody>
          <a:bodyPr wrap="none">
            <a:spAutoFit/>
          </a:bodyPr>
          <a:lstStyle/>
          <a:p>
            <a:r>
              <a:rPr lang="zh-CN" altLang="zh-CN" sz="2400" dirty="0">
                <a:latin typeface="微软雅黑" pitchFamily="34" charset="-122"/>
                <a:ea typeface="微软雅黑" pitchFamily="34" charset="-122"/>
                <a:cs typeface="经典粗黑简" pitchFamily="49" charset="-122"/>
              </a:rPr>
              <a:t>头尾表示法的存储结构实现如下：</a:t>
            </a:r>
          </a:p>
        </p:txBody>
      </p:sp>
      <p:sp>
        <p:nvSpPr>
          <p:cNvPr id="28" name="矩形 27">
            <a:extLst>
              <a:ext uri="{FF2B5EF4-FFF2-40B4-BE49-F238E27FC236}">
                <a16:creationId xmlns:a16="http://schemas.microsoft.com/office/drawing/2014/main" id="{8C7EEF92-D445-4BBE-9E44-C30438256C59}"/>
              </a:ext>
            </a:extLst>
          </p:cNvPr>
          <p:cNvSpPr/>
          <p:nvPr/>
        </p:nvSpPr>
        <p:spPr>
          <a:xfrm>
            <a:off x="1317844" y="1715324"/>
            <a:ext cx="10322772" cy="1569660"/>
          </a:xfrm>
          <a:prstGeom prst="rect">
            <a:avLst/>
          </a:prstGeom>
        </p:spPr>
        <p:txBody>
          <a:bodyPr wrap="square">
            <a:spAutoFit/>
          </a:bodyPr>
          <a:lstStyle/>
          <a:p>
            <a:r>
              <a:rPr lang="en-US" altLang="zh-CN" sz="2400" dirty="0">
                <a:latin typeface="微软雅黑" pitchFamily="34" charset="-122"/>
                <a:ea typeface="微软雅黑" pitchFamily="34" charset="-122"/>
                <a:cs typeface="经典粗黑简" pitchFamily="49" charset="-122"/>
              </a:rPr>
              <a:t>       </a:t>
            </a:r>
            <a:r>
              <a:rPr lang="zh-CN" altLang="zh-CN" sz="2400" dirty="0">
                <a:latin typeface="微软雅黑" pitchFamily="34" charset="-122"/>
                <a:ea typeface="微软雅黑" pitchFamily="34" charset="-122"/>
                <a:cs typeface="经典粗黑简" pitchFamily="49" charset="-122"/>
              </a:rPr>
              <a:t>由于广义表中的数据元素可以具有不同的结构，因此很难用顺序存储结构来表示。而链式的存储结构分配较为灵活，易于解决广义表的共享与递归问题，所以</a:t>
            </a:r>
            <a:r>
              <a:rPr lang="zh-CN" altLang="zh-CN" sz="2400" dirty="0">
                <a:solidFill>
                  <a:srgbClr val="FF0000"/>
                </a:solidFill>
                <a:latin typeface="微软雅黑" pitchFamily="34" charset="-122"/>
                <a:ea typeface="微软雅黑" pitchFamily="34" charset="-122"/>
                <a:cs typeface="经典粗黑简" pitchFamily="49" charset="-122"/>
              </a:rPr>
              <a:t>通常都采用链式的存储结构来存储广义表</a:t>
            </a:r>
            <a:r>
              <a:rPr lang="zh-CN" altLang="zh-CN" sz="2400" dirty="0">
                <a:latin typeface="微软雅黑" pitchFamily="34" charset="-122"/>
                <a:ea typeface="微软雅黑" pitchFamily="34" charset="-122"/>
                <a:cs typeface="经典粗黑简" pitchFamily="49" charset="-122"/>
              </a:rPr>
              <a:t>，每个数据元素可用一个结点来表示。</a:t>
            </a:r>
            <a:endParaRPr lang="zh-CN" altLang="en-US"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18FDE87A-9971-2CD4-C46F-BF402354C727}"/>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B9EB80B5-BBD7-40E2-557B-69BE6A5D7AF2}"/>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CBF28D69-13A6-65A9-600E-BE562621C313}"/>
              </a:ext>
            </a:extLst>
          </p:cNvPr>
          <p:cNvSpPr txBox="1">
            <a:spLocks noChangeArrowheads="1"/>
          </p:cNvSpPr>
          <p:nvPr/>
        </p:nvSpPr>
        <p:spPr>
          <a:xfrm>
            <a:off x="191344" y="1106736"/>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6.3.2 </a:t>
            </a:r>
            <a:r>
              <a:rPr lang="zh-CN" altLang="en-US" sz="2800" b="1" dirty="0">
                <a:solidFill>
                  <a:schemeClr val="bg1"/>
                </a:solidFill>
                <a:latin typeface="经典粗黑简" pitchFamily="49" charset="-122"/>
                <a:ea typeface="经典粗黑简" pitchFamily="49" charset="-122"/>
                <a:cs typeface="经典粗黑简" pitchFamily="49" charset="-122"/>
              </a:rPr>
              <a:t>广义表的存储结构</a:t>
            </a:r>
          </a:p>
        </p:txBody>
      </p:sp>
    </p:spTree>
    <p:extLst>
      <p:ext uri="{BB962C8B-B14F-4D97-AF65-F5344CB8AC3E}">
        <p14:creationId xmlns:p14="http://schemas.microsoft.com/office/powerpoint/2010/main" val="3994373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animBg="1"/>
      <p:bldP spid="18" grpId="0" animBg="1"/>
      <p:bldP spid="19" grpId="0"/>
      <p:bldP spid="20" grpId="0" animBg="1"/>
      <p:bldP spid="21" grpId="0" animBg="1"/>
      <p:bldP spid="22" grpId="0"/>
      <p:bldP spid="2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11198" y="2253677"/>
            <a:ext cx="2384355" cy="2308324"/>
          </a:xfrm>
          <a:prstGeom prst="rect">
            <a:avLst/>
          </a:prstGeom>
        </p:spPr>
        <p:txBody>
          <a:bodyPr wrap="square">
            <a:spAutoFit/>
          </a:bodyPr>
          <a:lstStyle/>
          <a:p>
            <a:r>
              <a:rPr lang="en-US" altLang="zh-CN" sz="2400" dirty="0">
                <a:latin typeface="微软雅黑" pitchFamily="34" charset="-122"/>
                <a:ea typeface="微软雅黑" pitchFamily="34" charset="-122"/>
                <a:cs typeface="经典粗黑简" pitchFamily="49" charset="-122"/>
              </a:rPr>
              <a:t>A = ()</a:t>
            </a:r>
          </a:p>
          <a:p>
            <a:r>
              <a:rPr lang="en-US" altLang="zh-CN" sz="2400" dirty="0">
                <a:latin typeface="微软雅黑" pitchFamily="34" charset="-122"/>
                <a:ea typeface="微软雅黑" pitchFamily="34" charset="-122"/>
                <a:cs typeface="经典粗黑简" pitchFamily="49" charset="-122"/>
              </a:rPr>
              <a:t>B = (e)</a:t>
            </a:r>
          </a:p>
          <a:p>
            <a:r>
              <a:rPr lang="en-US" altLang="zh-CN" sz="2400" dirty="0">
                <a:latin typeface="微软雅黑" pitchFamily="34" charset="-122"/>
                <a:ea typeface="微软雅黑" pitchFamily="34" charset="-122"/>
                <a:cs typeface="经典粗黑简" pitchFamily="49" charset="-122"/>
              </a:rPr>
              <a:t>C = (a,(</a:t>
            </a:r>
            <a:r>
              <a:rPr lang="en-US" altLang="zh-CN" sz="2400" dirty="0" err="1">
                <a:latin typeface="微软雅黑" pitchFamily="34" charset="-122"/>
                <a:ea typeface="微软雅黑" pitchFamily="34" charset="-122"/>
                <a:cs typeface="经典粗黑简" pitchFamily="49" charset="-122"/>
              </a:rPr>
              <a:t>b,c,d</a:t>
            </a:r>
            <a:r>
              <a:rPr lang="en-US" altLang="zh-CN" sz="2400" dirty="0">
                <a:latin typeface="微软雅黑" pitchFamily="34" charset="-122"/>
                <a:ea typeface="微软雅黑" pitchFamily="34" charset="-122"/>
                <a:cs typeface="经典粗黑简" pitchFamily="49" charset="-122"/>
              </a:rPr>
              <a:t>))</a:t>
            </a:r>
          </a:p>
          <a:p>
            <a:r>
              <a:rPr lang="en-US" altLang="zh-CN" sz="2400" dirty="0">
                <a:latin typeface="微软雅黑" pitchFamily="34" charset="-122"/>
                <a:ea typeface="微软雅黑" pitchFamily="34" charset="-122"/>
                <a:cs typeface="经典粗黑简" pitchFamily="49" charset="-122"/>
              </a:rPr>
              <a:t>D = (A,B,C)</a:t>
            </a:r>
          </a:p>
          <a:p>
            <a:r>
              <a:rPr lang="en-US" altLang="zh-CN" sz="2400" dirty="0">
                <a:latin typeface="微软雅黑" pitchFamily="34" charset="-122"/>
                <a:ea typeface="微软雅黑" pitchFamily="34" charset="-122"/>
                <a:cs typeface="经典粗黑简" pitchFamily="49" charset="-122"/>
              </a:rPr>
              <a:t>E = (</a:t>
            </a:r>
            <a:r>
              <a:rPr lang="en-US" altLang="zh-CN" sz="2400" dirty="0" err="1">
                <a:latin typeface="微软雅黑" pitchFamily="34" charset="-122"/>
                <a:ea typeface="微软雅黑" pitchFamily="34" charset="-122"/>
                <a:cs typeface="经典粗黑简" pitchFamily="49" charset="-122"/>
              </a:rPr>
              <a:t>a,E</a:t>
            </a:r>
            <a:r>
              <a:rPr lang="en-US" altLang="zh-CN" sz="2400" dirty="0">
                <a:latin typeface="微软雅黑" pitchFamily="34" charset="-122"/>
                <a:ea typeface="微软雅黑" pitchFamily="34" charset="-122"/>
                <a:cs typeface="经典粗黑简" pitchFamily="49" charset="-122"/>
              </a:rPr>
              <a:t>)</a:t>
            </a:r>
          </a:p>
          <a:p>
            <a:r>
              <a:rPr lang="en-US" altLang="zh-CN" sz="2400" dirty="0">
                <a:latin typeface="微软雅黑" pitchFamily="34" charset="-122"/>
                <a:ea typeface="微软雅黑" pitchFamily="34" charset="-122"/>
                <a:cs typeface="经典粗黑简" pitchFamily="49" charset="-122"/>
              </a:rPr>
              <a:t>F </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t>
            </a:r>
          </a:p>
        </p:txBody>
      </p:sp>
      <p:sp>
        <p:nvSpPr>
          <p:cNvPr id="26" name="Text Box 47"/>
          <p:cNvSpPr txBox="1">
            <a:spLocks noChangeArrowheads="1"/>
          </p:cNvSpPr>
          <p:nvPr/>
        </p:nvSpPr>
        <p:spPr bwMode="auto">
          <a:xfrm>
            <a:off x="8182878" y="2538029"/>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A</a:t>
            </a:r>
          </a:p>
        </p:txBody>
      </p:sp>
      <p:sp>
        <p:nvSpPr>
          <p:cNvPr id="27" name="Line 48"/>
          <p:cNvSpPr>
            <a:spLocks noChangeShapeType="1"/>
          </p:cNvSpPr>
          <p:nvPr/>
        </p:nvSpPr>
        <p:spPr bwMode="auto">
          <a:xfrm>
            <a:off x="8563878" y="2766629"/>
            <a:ext cx="6096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 name="Rectangle 49"/>
          <p:cNvSpPr>
            <a:spLocks noChangeArrowheads="1"/>
          </p:cNvSpPr>
          <p:nvPr/>
        </p:nvSpPr>
        <p:spPr bwMode="auto">
          <a:xfrm>
            <a:off x="9173478" y="2461829"/>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t>
            </a:r>
          </a:p>
        </p:txBody>
      </p:sp>
      <p:sp>
        <p:nvSpPr>
          <p:cNvPr id="29" name="Line 37"/>
          <p:cNvSpPr>
            <a:spLocks noChangeShapeType="1"/>
          </p:cNvSpPr>
          <p:nvPr/>
        </p:nvSpPr>
        <p:spPr bwMode="auto">
          <a:xfrm>
            <a:off x="8563878" y="4333401"/>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30" name="Group 38"/>
          <p:cNvGrpSpPr>
            <a:grpSpLocks/>
          </p:cNvGrpSpPr>
          <p:nvPr/>
        </p:nvGrpSpPr>
        <p:grpSpPr bwMode="auto">
          <a:xfrm>
            <a:off x="9173478" y="4028601"/>
            <a:ext cx="1371600" cy="533400"/>
            <a:chOff x="768" y="1584"/>
            <a:chExt cx="864" cy="336"/>
          </a:xfrm>
        </p:grpSpPr>
        <p:sp>
          <p:nvSpPr>
            <p:cNvPr id="31" name="Rectangle 39"/>
            <p:cNvSpPr>
              <a:spLocks noChangeArrowheads="1"/>
            </p:cNvSpPr>
            <p:nvPr/>
          </p:nvSpPr>
          <p:spPr bwMode="auto">
            <a:xfrm>
              <a:off x="768" y="158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32" name="Rectangle 40"/>
            <p:cNvSpPr>
              <a:spLocks noChangeArrowheads="1"/>
            </p:cNvSpPr>
            <p:nvPr/>
          </p:nvSpPr>
          <p:spPr bwMode="auto">
            <a:xfrm>
              <a:off x="1056" y="158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33" name="Rectangle 41"/>
            <p:cNvSpPr>
              <a:spLocks noChangeArrowheads="1"/>
            </p:cNvSpPr>
            <p:nvPr/>
          </p:nvSpPr>
          <p:spPr bwMode="auto">
            <a:xfrm>
              <a:off x="1344" y="158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grpSp>
      <p:sp>
        <p:nvSpPr>
          <p:cNvPr id="34" name="Line 42"/>
          <p:cNvSpPr>
            <a:spLocks noChangeShapeType="1"/>
          </p:cNvSpPr>
          <p:nvPr/>
        </p:nvSpPr>
        <p:spPr bwMode="auto">
          <a:xfrm>
            <a:off x="9859278" y="3647601"/>
            <a:ext cx="0" cy="609600"/>
          </a:xfrm>
          <a:prstGeom prst="line">
            <a:avLst/>
          </a:prstGeom>
          <a:noFill/>
          <a:ln w="2222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35" name="Group 43"/>
          <p:cNvGrpSpPr>
            <a:grpSpLocks/>
          </p:cNvGrpSpPr>
          <p:nvPr/>
        </p:nvGrpSpPr>
        <p:grpSpPr bwMode="auto">
          <a:xfrm>
            <a:off x="9630678" y="3114201"/>
            <a:ext cx="914400" cy="533400"/>
            <a:chOff x="1104" y="2736"/>
            <a:chExt cx="576" cy="336"/>
          </a:xfrm>
        </p:grpSpPr>
        <p:sp>
          <p:nvSpPr>
            <p:cNvPr id="36" name="Rectangle 44"/>
            <p:cNvSpPr>
              <a:spLocks noChangeArrowheads="1"/>
            </p:cNvSpPr>
            <p:nvPr/>
          </p:nvSpPr>
          <p:spPr bwMode="auto">
            <a:xfrm>
              <a:off x="110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0</a:t>
              </a:r>
            </a:p>
          </p:txBody>
        </p:sp>
        <p:sp>
          <p:nvSpPr>
            <p:cNvPr id="37" name="Rectangle 45"/>
            <p:cNvSpPr>
              <a:spLocks noChangeArrowheads="1"/>
            </p:cNvSpPr>
            <p:nvPr/>
          </p:nvSpPr>
          <p:spPr bwMode="auto">
            <a:xfrm>
              <a:off x="139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e</a:t>
              </a:r>
            </a:p>
          </p:txBody>
        </p:sp>
      </p:grpSp>
      <p:sp>
        <p:nvSpPr>
          <p:cNvPr id="38" name="Text Box 46"/>
          <p:cNvSpPr txBox="1">
            <a:spLocks noChangeArrowheads="1"/>
          </p:cNvSpPr>
          <p:nvPr/>
        </p:nvSpPr>
        <p:spPr bwMode="auto">
          <a:xfrm>
            <a:off x="8182878" y="4104801"/>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B</a:t>
            </a:r>
          </a:p>
        </p:txBody>
      </p:sp>
      <p:sp>
        <p:nvSpPr>
          <p:cNvPr id="39" name="Text Box 4"/>
          <p:cNvSpPr txBox="1">
            <a:spLocks noChangeArrowheads="1"/>
          </p:cNvSpPr>
          <p:nvPr/>
        </p:nvSpPr>
        <p:spPr bwMode="auto">
          <a:xfrm>
            <a:off x="2567608" y="4865712"/>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C</a:t>
            </a:r>
          </a:p>
        </p:txBody>
      </p:sp>
      <p:sp>
        <p:nvSpPr>
          <p:cNvPr id="40" name="Line 5"/>
          <p:cNvSpPr>
            <a:spLocks noChangeShapeType="1"/>
          </p:cNvSpPr>
          <p:nvPr/>
        </p:nvSpPr>
        <p:spPr bwMode="auto">
          <a:xfrm>
            <a:off x="2948608" y="5094312"/>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41" name="Group 6"/>
          <p:cNvGrpSpPr>
            <a:grpSpLocks/>
          </p:cNvGrpSpPr>
          <p:nvPr/>
        </p:nvGrpSpPr>
        <p:grpSpPr bwMode="auto">
          <a:xfrm>
            <a:off x="3558208" y="4789512"/>
            <a:ext cx="3200400" cy="1447800"/>
            <a:chOff x="768" y="2160"/>
            <a:chExt cx="2016" cy="912"/>
          </a:xfrm>
        </p:grpSpPr>
        <p:sp>
          <p:nvSpPr>
            <p:cNvPr id="42" name="Rectangle 7"/>
            <p:cNvSpPr>
              <a:spLocks noChangeArrowheads="1"/>
            </p:cNvSpPr>
            <p:nvPr/>
          </p:nvSpPr>
          <p:spPr bwMode="auto">
            <a:xfrm>
              <a:off x="768"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43" name="Rectangle 8"/>
            <p:cNvSpPr>
              <a:spLocks noChangeArrowheads="1"/>
            </p:cNvSpPr>
            <p:nvPr/>
          </p:nvSpPr>
          <p:spPr bwMode="auto">
            <a:xfrm>
              <a:off x="1056"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44" name="Rectangle 9"/>
            <p:cNvSpPr>
              <a:spLocks noChangeArrowheads="1"/>
            </p:cNvSpPr>
            <p:nvPr/>
          </p:nvSpPr>
          <p:spPr bwMode="auto">
            <a:xfrm>
              <a:off x="1344"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45" name="Line 10"/>
            <p:cNvSpPr>
              <a:spLocks noChangeShapeType="1"/>
            </p:cNvSpPr>
            <p:nvPr/>
          </p:nvSpPr>
          <p:spPr bwMode="auto">
            <a:xfrm>
              <a:off x="1200" y="2352"/>
              <a:ext cx="0" cy="384"/>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Rectangle 11"/>
            <p:cNvSpPr>
              <a:spLocks noChangeArrowheads="1"/>
            </p:cNvSpPr>
            <p:nvPr/>
          </p:nvSpPr>
          <p:spPr bwMode="auto">
            <a:xfrm>
              <a:off x="110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0</a:t>
              </a:r>
            </a:p>
          </p:txBody>
        </p:sp>
        <p:sp>
          <p:nvSpPr>
            <p:cNvPr id="47" name="Rectangle 12"/>
            <p:cNvSpPr>
              <a:spLocks noChangeArrowheads="1"/>
            </p:cNvSpPr>
            <p:nvPr/>
          </p:nvSpPr>
          <p:spPr bwMode="auto">
            <a:xfrm>
              <a:off x="139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a:t>
              </a:r>
            </a:p>
          </p:txBody>
        </p:sp>
        <p:sp>
          <p:nvSpPr>
            <p:cNvPr id="48" name="Line 13"/>
            <p:cNvSpPr>
              <a:spLocks noChangeShapeType="1"/>
            </p:cNvSpPr>
            <p:nvPr/>
          </p:nvSpPr>
          <p:spPr bwMode="auto">
            <a:xfrm>
              <a:off x="1536" y="2352"/>
              <a:ext cx="384"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Rectangle 14"/>
            <p:cNvSpPr>
              <a:spLocks noChangeArrowheads="1"/>
            </p:cNvSpPr>
            <p:nvPr/>
          </p:nvSpPr>
          <p:spPr bwMode="auto">
            <a:xfrm>
              <a:off x="1920"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50" name="Rectangle 15"/>
            <p:cNvSpPr>
              <a:spLocks noChangeArrowheads="1"/>
            </p:cNvSpPr>
            <p:nvPr/>
          </p:nvSpPr>
          <p:spPr bwMode="auto">
            <a:xfrm>
              <a:off x="2208"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51" name="Rectangle 16"/>
            <p:cNvSpPr>
              <a:spLocks noChangeArrowheads="1"/>
            </p:cNvSpPr>
            <p:nvPr/>
          </p:nvSpPr>
          <p:spPr bwMode="auto">
            <a:xfrm>
              <a:off x="2496"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grpSp>
      <p:sp>
        <p:nvSpPr>
          <p:cNvPr id="52" name="Line 17"/>
          <p:cNvSpPr>
            <a:spLocks noChangeShapeType="1"/>
          </p:cNvSpPr>
          <p:nvPr/>
        </p:nvSpPr>
        <p:spPr bwMode="auto">
          <a:xfrm>
            <a:off x="6072808" y="5094312"/>
            <a:ext cx="0" cy="6096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53" name="Group 19"/>
          <p:cNvGrpSpPr>
            <a:grpSpLocks/>
          </p:cNvGrpSpPr>
          <p:nvPr/>
        </p:nvGrpSpPr>
        <p:grpSpPr bwMode="auto">
          <a:xfrm>
            <a:off x="5920408" y="5703912"/>
            <a:ext cx="1371600" cy="533400"/>
            <a:chOff x="2256" y="2736"/>
            <a:chExt cx="864" cy="336"/>
          </a:xfrm>
        </p:grpSpPr>
        <p:sp>
          <p:nvSpPr>
            <p:cNvPr id="54" name="Rectangle 20"/>
            <p:cNvSpPr>
              <a:spLocks noChangeArrowheads="1"/>
            </p:cNvSpPr>
            <p:nvPr/>
          </p:nvSpPr>
          <p:spPr bwMode="auto">
            <a:xfrm>
              <a:off x="2256"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55" name="Rectangle 21"/>
            <p:cNvSpPr>
              <a:spLocks noChangeArrowheads="1"/>
            </p:cNvSpPr>
            <p:nvPr/>
          </p:nvSpPr>
          <p:spPr bwMode="auto">
            <a:xfrm>
              <a:off x="254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56" name="Rectangle 22"/>
            <p:cNvSpPr>
              <a:spLocks noChangeArrowheads="1"/>
            </p:cNvSpPr>
            <p:nvPr/>
          </p:nvSpPr>
          <p:spPr bwMode="auto">
            <a:xfrm>
              <a:off x="283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57" name="Text Box 23"/>
          <p:cNvSpPr txBox="1">
            <a:spLocks noChangeArrowheads="1"/>
          </p:cNvSpPr>
          <p:nvPr/>
        </p:nvSpPr>
        <p:spPr bwMode="auto">
          <a:xfrm>
            <a:off x="6190283" y="5229249"/>
            <a:ext cx="10668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(b,c,d)</a:t>
            </a:r>
          </a:p>
        </p:txBody>
      </p:sp>
      <p:sp>
        <p:nvSpPr>
          <p:cNvPr id="58" name="Rectangle 18"/>
          <p:cNvSpPr>
            <a:spLocks noChangeArrowheads="1"/>
          </p:cNvSpPr>
          <p:nvPr/>
        </p:nvSpPr>
        <p:spPr bwMode="auto">
          <a:xfrm>
            <a:off x="3719737" y="2401233"/>
            <a:ext cx="3300547" cy="97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spcBef>
                <a:spcPct val="20000"/>
              </a:spcBef>
              <a:buClr>
                <a:schemeClr val="folHlink"/>
              </a:buClr>
            </a:pPr>
            <a:r>
              <a:rPr lang="en-US" altLang="zh-CN" sz="2400" dirty="0" err="1">
                <a:latin typeface="微软雅黑" pitchFamily="34" charset="-122"/>
                <a:ea typeface="微软雅黑" pitchFamily="34" charset="-122"/>
                <a:cs typeface="经典粗黑简" pitchFamily="49" charset="-122"/>
              </a:rPr>
              <a:t>GetHead</a:t>
            </a:r>
            <a:r>
              <a:rPr lang="en-US" altLang="zh-CN" sz="2400" dirty="0">
                <a:latin typeface="微软雅黑" pitchFamily="34" charset="-122"/>
                <a:ea typeface="微软雅黑" pitchFamily="34" charset="-122"/>
                <a:cs typeface="经典粗黑简" pitchFamily="49" charset="-122"/>
              </a:rPr>
              <a:t>(C) =(a)    </a:t>
            </a:r>
            <a:r>
              <a:rPr lang="en-US" altLang="zh-CN" sz="2400" dirty="0" err="1">
                <a:latin typeface="微软雅黑" pitchFamily="34" charset="-122"/>
                <a:ea typeface="微软雅黑" pitchFamily="34" charset="-122"/>
                <a:cs typeface="经典粗黑简" pitchFamily="49" charset="-122"/>
              </a:rPr>
              <a:t>GetTail</a:t>
            </a:r>
            <a:r>
              <a:rPr lang="en-US" altLang="zh-CN" sz="2400" dirty="0">
                <a:latin typeface="微软雅黑" pitchFamily="34" charset="-122"/>
                <a:ea typeface="微软雅黑" pitchFamily="34" charset="-122"/>
                <a:cs typeface="经典粗黑简" pitchFamily="49" charset="-122"/>
              </a:rPr>
              <a:t>(C)=((</a:t>
            </a:r>
            <a:r>
              <a:rPr lang="en-US" altLang="zh-CN" sz="2400" dirty="0" err="1">
                <a:latin typeface="微软雅黑" pitchFamily="34" charset="-122"/>
                <a:ea typeface="微软雅黑" pitchFamily="34" charset="-122"/>
                <a:cs typeface="经典粗黑简" pitchFamily="49" charset="-122"/>
              </a:rPr>
              <a:t>b,c,d</a:t>
            </a:r>
            <a:r>
              <a:rPr lang="en-US" altLang="zh-CN" sz="2400" dirty="0">
                <a:latin typeface="微软雅黑" pitchFamily="34" charset="-122"/>
                <a:ea typeface="微软雅黑" pitchFamily="34" charset="-122"/>
                <a:cs typeface="经典粗黑简" pitchFamily="49" charset="-122"/>
              </a:rPr>
              <a:t>))</a:t>
            </a:r>
          </a:p>
        </p:txBody>
      </p:sp>
      <p:sp>
        <p:nvSpPr>
          <p:cNvPr id="2" name="Rectangle 2">
            <a:extLst>
              <a:ext uri="{FF2B5EF4-FFF2-40B4-BE49-F238E27FC236}">
                <a16:creationId xmlns:a16="http://schemas.microsoft.com/office/drawing/2014/main" id="{DBBF52F8-71B3-A61C-D0F2-E3BA9D80D627}"/>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5B41A83D-B1FC-ED16-D3F5-7282FD2220BC}"/>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344AE6A-EA5B-9F65-5C92-D81FEA623321}"/>
              </a:ext>
            </a:extLst>
          </p:cNvPr>
          <p:cNvSpPr txBox="1">
            <a:spLocks noChangeArrowheads="1"/>
          </p:cNvSpPr>
          <p:nvPr/>
        </p:nvSpPr>
        <p:spPr>
          <a:xfrm>
            <a:off x="191344" y="1106736"/>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6.3.2 </a:t>
            </a:r>
            <a:r>
              <a:rPr lang="zh-CN" altLang="en-US" sz="2800" b="1" dirty="0">
                <a:solidFill>
                  <a:schemeClr val="bg1"/>
                </a:solidFill>
                <a:latin typeface="经典粗黑简" pitchFamily="49" charset="-122"/>
                <a:ea typeface="经典粗黑简" pitchFamily="49" charset="-122"/>
                <a:cs typeface="经典粗黑简" pitchFamily="49" charset="-122"/>
              </a:rPr>
              <a:t>广义表的存储结构</a:t>
            </a:r>
          </a:p>
        </p:txBody>
      </p:sp>
    </p:spTree>
    <p:extLst>
      <p:ext uri="{BB962C8B-B14F-4D97-AF65-F5344CB8AC3E}">
        <p14:creationId xmlns:p14="http://schemas.microsoft.com/office/powerpoint/2010/main" val="174104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up)">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up)">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wipe(up)">
                                      <p:cBhvr>
                                        <p:cTn id="34" dur="500"/>
                                        <p:tgtEl>
                                          <p:spTgt spid="52"/>
                                        </p:tgtEl>
                                      </p:cBhvr>
                                    </p:animEffect>
                                  </p:childTnLst>
                                </p:cTn>
                              </p:par>
                            </p:childTnLst>
                          </p:cTn>
                        </p:par>
                        <p:par>
                          <p:cTn id="35" fill="hold">
                            <p:stCondLst>
                              <p:cond delay="500"/>
                            </p:stCondLst>
                            <p:childTnLst>
                              <p:par>
                                <p:cTn id="36" presetID="22" presetClass="entr" presetSubtype="1" fill="hold" grpId="0" nodeType="afterEffect">
                                  <p:stCondLst>
                                    <p:cond delay="5000"/>
                                  </p:stCondLst>
                                  <p:childTnLst>
                                    <p:set>
                                      <p:cBhvr>
                                        <p:cTn id="37" dur="1" fill="hold">
                                          <p:stCondLst>
                                            <p:cond delay="0"/>
                                          </p:stCondLst>
                                        </p:cTn>
                                        <p:tgtEl>
                                          <p:spTgt spid="57"/>
                                        </p:tgtEl>
                                        <p:attrNameLst>
                                          <p:attrName>style.visibility</p:attrName>
                                        </p:attrNameLst>
                                      </p:cBhvr>
                                      <p:to>
                                        <p:strVal val="visible"/>
                                      </p:to>
                                    </p:set>
                                    <p:animEffect transition="in" filter="wipe(up)">
                                      <p:cBhvr>
                                        <p:cTn id="38" dur="500"/>
                                        <p:tgtEl>
                                          <p:spTgt spid="5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wipe(up)">
                                      <p:cBhvr>
                                        <p:cTn id="4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28" grpId="0" animBg="1" autoUpdateAnimBg="0"/>
      <p:bldP spid="29" grpId="0" animBg="1"/>
      <p:bldP spid="34" grpId="0" animBg="1"/>
      <p:bldP spid="38" grpId="0"/>
      <p:bldP spid="52" grpId="0" animBg="1"/>
      <p:bldP spid="57"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11198" y="1534237"/>
            <a:ext cx="2384355" cy="2308324"/>
          </a:xfrm>
          <a:prstGeom prst="rect">
            <a:avLst/>
          </a:prstGeom>
        </p:spPr>
        <p:txBody>
          <a:bodyPr wrap="square">
            <a:spAutoFit/>
          </a:bodyPr>
          <a:lstStyle/>
          <a:p>
            <a:r>
              <a:rPr lang="en-US" altLang="zh-CN" sz="2400" dirty="0">
                <a:latin typeface="微软雅黑" pitchFamily="34" charset="-122"/>
                <a:ea typeface="微软雅黑" pitchFamily="34" charset="-122"/>
                <a:cs typeface="经典粗黑简" pitchFamily="49" charset="-122"/>
              </a:rPr>
              <a:t>A = ()</a:t>
            </a:r>
          </a:p>
          <a:p>
            <a:r>
              <a:rPr lang="en-US" altLang="zh-CN" sz="2400" dirty="0">
                <a:latin typeface="微软雅黑" pitchFamily="34" charset="-122"/>
                <a:ea typeface="微软雅黑" pitchFamily="34" charset="-122"/>
                <a:cs typeface="经典粗黑简" pitchFamily="49" charset="-122"/>
              </a:rPr>
              <a:t>B = (e)</a:t>
            </a:r>
          </a:p>
          <a:p>
            <a:r>
              <a:rPr lang="en-US" altLang="zh-CN" sz="2400" dirty="0">
                <a:latin typeface="微软雅黑" pitchFamily="34" charset="-122"/>
                <a:ea typeface="微软雅黑" pitchFamily="34" charset="-122"/>
                <a:cs typeface="经典粗黑简" pitchFamily="49" charset="-122"/>
              </a:rPr>
              <a:t>C = (a,(</a:t>
            </a:r>
            <a:r>
              <a:rPr lang="en-US" altLang="zh-CN" sz="2400" dirty="0" err="1">
                <a:latin typeface="微软雅黑" pitchFamily="34" charset="-122"/>
                <a:ea typeface="微软雅黑" pitchFamily="34" charset="-122"/>
                <a:cs typeface="经典粗黑简" pitchFamily="49" charset="-122"/>
              </a:rPr>
              <a:t>b,c,d</a:t>
            </a:r>
            <a:r>
              <a:rPr lang="en-US" altLang="zh-CN" sz="2400" dirty="0">
                <a:latin typeface="微软雅黑" pitchFamily="34" charset="-122"/>
                <a:ea typeface="微软雅黑" pitchFamily="34" charset="-122"/>
                <a:cs typeface="经典粗黑简" pitchFamily="49" charset="-122"/>
              </a:rPr>
              <a:t>))</a:t>
            </a:r>
          </a:p>
          <a:p>
            <a:r>
              <a:rPr lang="en-US" altLang="zh-CN" sz="2400" dirty="0">
                <a:latin typeface="微软雅黑" pitchFamily="34" charset="-122"/>
                <a:ea typeface="微软雅黑" pitchFamily="34" charset="-122"/>
                <a:cs typeface="经典粗黑简" pitchFamily="49" charset="-122"/>
              </a:rPr>
              <a:t>D = (A,B,C)</a:t>
            </a:r>
          </a:p>
          <a:p>
            <a:r>
              <a:rPr lang="en-US" altLang="zh-CN" sz="2400" dirty="0">
                <a:latin typeface="微软雅黑" pitchFamily="34" charset="-122"/>
                <a:ea typeface="微软雅黑" pitchFamily="34" charset="-122"/>
                <a:cs typeface="经典粗黑简" pitchFamily="49" charset="-122"/>
              </a:rPr>
              <a:t>E = (</a:t>
            </a:r>
            <a:r>
              <a:rPr lang="en-US" altLang="zh-CN" sz="2400" dirty="0" err="1">
                <a:latin typeface="微软雅黑" pitchFamily="34" charset="-122"/>
                <a:ea typeface="微软雅黑" pitchFamily="34" charset="-122"/>
                <a:cs typeface="经典粗黑简" pitchFamily="49" charset="-122"/>
              </a:rPr>
              <a:t>a,E</a:t>
            </a:r>
            <a:r>
              <a:rPr lang="en-US" altLang="zh-CN" sz="2400" dirty="0">
                <a:latin typeface="微软雅黑" pitchFamily="34" charset="-122"/>
                <a:ea typeface="微软雅黑" pitchFamily="34" charset="-122"/>
                <a:cs typeface="经典粗黑简" pitchFamily="49" charset="-122"/>
              </a:rPr>
              <a:t>)</a:t>
            </a:r>
          </a:p>
          <a:p>
            <a:r>
              <a:rPr lang="en-US" altLang="zh-CN" sz="2400" dirty="0">
                <a:latin typeface="微软雅黑" pitchFamily="34" charset="-122"/>
                <a:ea typeface="微软雅黑" pitchFamily="34" charset="-122"/>
                <a:cs typeface="经典粗黑简" pitchFamily="49" charset="-122"/>
              </a:rPr>
              <a:t>F </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t>
            </a:r>
          </a:p>
        </p:txBody>
      </p:sp>
      <p:sp>
        <p:nvSpPr>
          <p:cNvPr id="26" name="Text Box 47"/>
          <p:cNvSpPr txBox="1">
            <a:spLocks noChangeArrowheads="1"/>
          </p:cNvSpPr>
          <p:nvPr/>
        </p:nvSpPr>
        <p:spPr bwMode="auto">
          <a:xfrm>
            <a:off x="8182878" y="1818589"/>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A</a:t>
            </a:r>
          </a:p>
        </p:txBody>
      </p:sp>
      <p:sp>
        <p:nvSpPr>
          <p:cNvPr id="27" name="Line 48"/>
          <p:cNvSpPr>
            <a:spLocks noChangeShapeType="1"/>
          </p:cNvSpPr>
          <p:nvPr/>
        </p:nvSpPr>
        <p:spPr bwMode="auto">
          <a:xfrm>
            <a:off x="8563878" y="2047189"/>
            <a:ext cx="6096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 name="Rectangle 49"/>
          <p:cNvSpPr>
            <a:spLocks noChangeArrowheads="1"/>
          </p:cNvSpPr>
          <p:nvPr/>
        </p:nvSpPr>
        <p:spPr bwMode="auto">
          <a:xfrm>
            <a:off x="9173478" y="1742389"/>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t>
            </a:r>
          </a:p>
        </p:txBody>
      </p:sp>
      <p:sp>
        <p:nvSpPr>
          <p:cNvPr id="29" name="Line 37"/>
          <p:cNvSpPr>
            <a:spLocks noChangeShapeType="1"/>
          </p:cNvSpPr>
          <p:nvPr/>
        </p:nvSpPr>
        <p:spPr bwMode="auto">
          <a:xfrm>
            <a:off x="8563878" y="3613961"/>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30" name="Group 38"/>
          <p:cNvGrpSpPr>
            <a:grpSpLocks/>
          </p:cNvGrpSpPr>
          <p:nvPr/>
        </p:nvGrpSpPr>
        <p:grpSpPr bwMode="auto">
          <a:xfrm>
            <a:off x="9173478" y="3309161"/>
            <a:ext cx="1371600" cy="533400"/>
            <a:chOff x="768" y="1584"/>
            <a:chExt cx="864" cy="336"/>
          </a:xfrm>
        </p:grpSpPr>
        <p:sp>
          <p:nvSpPr>
            <p:cNvPr id="31" name="Rectangle 39"/>
            <p:cNvSpPr>
              <a:spLocks noChangeArrowheads="1"/>
            </p:cNvSpPr>
            <p:nvPr/>
          </p:nvSpPr>
          <p:spPr bwMode="auto">
            <a:xfrm>
              <a:off x="768" y="158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32" name="Rectangle 40"/>
            <p:cNvSpPr>
              <a:spLocks noChangeArrowheads="1"/>
            </p:cNvSpPr>
            <p:nvPr/>
          </p:nvSpPr>
          <p:spPr bwMode="auto">
            <a:xfrm>
              <a:off x="1056" y="158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33" name="Rectangle 41"/>
            <p:cNvSpPr>
              <a:spLocks noChangeArrowheads="1"/>
            </p:cNvSpPr>
            <p:nvPr/>
          </p:nvSpPr>
          <p:spPr bwMode="auto">
            <a:xfrm>
              <a:off x="1344" y="158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grpSp>
      <p:sp>
        <p:nvSpPr>
          <p:cNvPr id="34" name="Line 42"/>
          <p:cNvSpPr>
            <a:spLocks noChangeShapeType="1"/>
          </p:cNvSpPr>
          <p:nvPr/>
        </p:nvSpPr>
        <p:spPr bwMode="auto">
          <a:xfrm>
            <a:off x="9859278" y="2928161"/>
            <a:ext cx="0" cy="609600"/>
          </a:xfrm>
          <a:prstGeom prst="line">
            <a:avLst/>
          </a:prstGeom>
          <a:noFill/>
          <a:ln w="2222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35" name="Group 43"/>
          <p:cNvGrpSpPr>
            <a:grpSpLocks/>
          </p:cNvGrpSpPr>
          <p:nvPr/>
        </p:nvGrpSpPr>
        <p:grpSpPr bwMode="auto">
          <a:xfrm>
            <a:off x="9630678" y="2394761"/>
            <a:ext cx="914400" cy="533400"/>
            <a:chOff x="1104" y="2736"/>
            <a:chExt cx="576" cy="336"/>
          </a:xfrm>
        </p:grpSpPr>
        <p:sp>
          <p:nvSpPr>
            <p:cNvPr id="36" name="Rectangle 44"/>
            <p:cNvSpPr>
              <a:spLocks noChangeArrowheads="1"/>
            </p:cNvSpPr>
            <p:nvPr/>
          </p:nvSpPr>
          <p:spPr bwMode="auto">
            <a:xfrm>
              <a:off x="110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0</a:t>
              </a:r>
            </a:p>
          </p:txBody>
        </p:sp>
        <p:sp>
          <p:nvSpPr>
            <p:cNvPr id="37" name="Rectangle 45"/>
            <p:cNvSpPr>
              <a:spLocks noChangeArrowheads="1"/>
            </p:cNvSpPr>
            <p:nvPr/>
          </p:nvSpPr>
          <p:spPr bwMode="auto">
            <a:xfrm>
              <a:off x="139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e</a:t>
              </a:r>
            </a:p>
          </p:txBody>
        </p:sp>
      </p:grpSp>
      <p:sp>
        <p:nvSpPr>
          <p:cNvPr id="38" name="Text Box 46"/>
          <p:cNvSpPr txBox="1">
            <a:spLocks noChangeArrowheads="1"/>
          </p:cNvSpPr>
          <p:nvPr/>
        </p:nvSpPr>
        <p:spPr bwMode="auto">
          <a:xfrm>
            <a:off x="8182878" y="3385361"/>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B</a:t>
            </a:r>
          </a:p>
        </p:txBody>
      </p:sp>
      <p:sp>
        <p:nvSpPr>
          <p:cNvPr id="39" name="Text Box 4"/>
          <p:cNvSpPr txBox="1">
            <a:spLocks noChangeArrowheads="1"/>
          </p:cNvSpPr>
          <p:nvPr/>
        </p:nvSpPr>
        <p:spPr bwMode="auto">
          <a:xfrm>
            <a:off x="2567608" y="4146272"/>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C</a:t>
            </a:r>
          </a:p>
        </p:txBody>
      </p:sp>
      <p:sp>
        <p:nvSpPr>
          <p:cNvPr id="40" name="Line 5"/>
          <p:cNvSpPr>
            <a:spLocks noChangeShapeType="1"/>
          </p:cNvSpPr>
          <p:nvPr/>
        </p:nvSpPr>
        <p:spPr bwMode="auto">
          <a:xfrm>
            <a:off x="2948608" y="4374872"/>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 name="Rectangle 7"/>
          <p:cNvSpPr>
            <a:spLocks noChangeArrowheads="1"/>
          </p:cNvSpPr>
          <p:nvPr/>
        </p:nvSpPr>
        <p:spPr bwMode="auto">
          <a:xfrm>
            <a:off x="3558208" y="4070072"/>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43" name="Rectangle 8"/>
          <p:cNvSpPr>
            <a:spLocks noChangeArrowheads="1"/>
          </p:cNvSpPr>
          <p:nvPr/>
        </p:nvSpPr>
        <p:spPr bwMode="auto">
          <a:xfrm>
            <a:off x="4015408" y="4070072"/>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44" name="Rectangle 9"/>
          <p:cNvSpPr>
            <a:spLocks noChangeArrowheads="1"/>
          </p:cNvSpPr>
          <p:nvPr/>
        </p:nvSpPr>
        <p:spPr bwMode="auto">
          <a:xfrm>
            <a:off x="4472608" y="4070072"/>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45" name="Line 10"/>
          <p:cNvSpPr>
            <a:spLocks noChangeShapeType="1"/>
          </p:cNvSpPr>
          <p:nvPr/>
        </p:nvSpPr>
        <p:spPr bwMode="auto">
          <a:xfrm>
            <a:off x="4244008" y="4374872"/>
            <a:ext cx="0" cy="609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Rectangle 11"/>
          <p:cNvSpPr>
            <a:spLocks noChangeArrowheads="1"/>
          </p:cNvSpPr>
          <p:nvPr/>
        </p:nvSpPr>
        <p:spPr bwMode="auto">
          <a:xfrm>
            <a:off x="4091608" y="4984472"/>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0</a:t>
            </a:r>
          </a:p>
        </p:txBody>
      </p:sp>
      <p:sp>
        <p:nvSpPr>
          <p:cNvPr id="47" name="Rectangle 12"/>
          <p:cNvSpPr>
            <a:spLocks noChangeArrowheads="1"/>
          </p:cNvSpPr>
          <p:nvPr/>
        </p:nvSpPr>
        <p:spPr bwMode="auto">
          <a:xfrm>
            <a:off x="4548808" y="4984472"/>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a:t>
            </a:r>
          </a:p>
        </p:txBody>
      </p:sp>
      <p:sp>
        <p:nvSpPr>
          <p:cNvPr id="48" name="Line 13"/>
          <p:cNvSpPr>
            <a:spLocks noChangeShapeType="1"/>
          </p:cNvSpPr>
          <p:nvPr/>
        </p:nvSpPr>
        <p:spPr bwMode="auto">
          <a:xfrm>
            <a:off x="4777408" y="4374872"/>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Rectangle 14"/>
          <p:cNvSpPr>
            <a:spLocks noChangeArrowheads="1"/>
          </p:cNvSpPr>
          <p:nvPr/>
        </p:nvSpPr>
        <p:spPr bwMode="auto">
          <a:xfrm>
            <a:off x="5387008" y="4070072"/>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50" name="Rectangle 15"/>
          <p:cNvSpPr>
            <a:spLocks noChangeArrowheads="1"/>
          </p:cNvSpPr>
          <p:nvPr/>
        </p:nvSpPr>
        <p:spPr bwMode="auto">
          <a:xfrm>
            <a:off x="5844208" y="4070072"/>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51" name="Rectangle 16"/>
          <p:cNvSpPr>
            <a:spLocks noChangeArrowheads="1"/>
          </p:cNvSpPr>
          <p:nvPr/>
        </p:nvSpPr>
        <p:spPr bwMode="auto">
          <a:xfrm>
            <a:off x="6301408" y="4070072"/>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t>
            </a:r>
          </a:p>
        </p:txBody>
      </p:sp>
      <p:sp>
        <p:nvSpPr>
          <p:cNvPr id="52" name="Line 17"/>
          <p:cNvSpPr>
            <a:spLocks noChangeShapeType="1"/>
          </p:cNvSpPr>
          <p:nvPr/>
        </p:nvSpPr>
        <p:spPr bwMode="auto">
          <a:xfrm>
            <a:off x="6072808" y="4374872"/>
            <a:ext cx="0" cy="6096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53" name="Group 19"/>
          <p:cNvGrpSpPr>
            <a:grpSpLocks/>
          </p:cNvGrpSpPr>
          <p:nvPr/>
        </p:nvGrpSpPr>
        <p:grpSpPr bwMode="auto">
          <a:xfrm>
            <a:off x="5920408" y="4984472"/>
            <a:ext cx="1371600" cy="533400"/>
            <a:chOff x="2256" y="2736"/>
            <a:chExt cx="864" cy="336"/>
          </a:xfrm>
        </p:grpSpPr>
        <p:sp>
          <p:nvSpPr>
            <p:cNvPr id="54" name="Rectangle 20"/>
            <p:cNvSpPr>
              <a:spLocks noChangeArrowheads="1"/>
            </p:cNvSpPr>
            <p:nvPr/>
          </p:nvSpPr>
          <p:spPr bwMode="auto">
            <a:xfrm>
              <a:off x="2256"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55" name="Rectangle 21"/>
            <p:cNvSpPr>
              <a:spLocks noChangeArrowheads="1"/>
            </p:cNvSpPr>
            <p:nvPr/>
          </p:nvSpPr>
          <p:spPr bwMode="auto">
            <a:xfrm>
              <a:off x="254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56" name="Rectangle 22"/>
            <p:cNvSpPr>
              <a:spLocks noChangeArrowheads="1"/>
            </p:cNvSpPr>
            <p:nvPr/>
          </p:nvSpPr>
          <p:spPr bwMode="auto">
            <a:xfrm>
              <a:off x="283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57" name="Text Box 23"/>
          <p:cNvSpPr txBox="1">
            <a:spLocks noChangeArrowheads="1"/>
          </p:cNvSpPr>
          <p:nvPr/>
        </p:nvSpPr>
        <p:spPr bwMode="auto">
          <a:xfrm>
            <a:off x="6190283" y="4509809"/>
            <a:ext cx="10668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(b,c,d)</a:t>
            </a:r>
          </a:p>
        </p:txBody>
      </p:sp>
      <p:sp>
        <p:nvSpPr>
          <p:cNvPr id="58" name="Rectangle 18"/>
          <p:cNvSpPr>
            <a:spLocks noChangeArrowheads="1"/>
          </p:cNvSpPr>
          <p:nvPr/>
        </p:nvSpPr>
        <p:spPr bwMode="auto">
          <a:xfrm>
            <a:off x="3719737" y="1681793"/>
            <a:ext cx="3300547" cy="97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spcBef>
                <a:spcPct val="20000"/>
              </a:spcBef>
              <a:buClr>
                <a:schemeClr val="folHlink"/>
              </a:buClr>
            </a:pPr>
            <a:r>
              <a:rPr lang="en-US" altLang="zh-CN" sz="2400" dirty="0" err="1">
                <a:latin typeface="微软雅黑" pitchFamily="34" charset="-122"/>
                <a:ea typeface="微软雅黑" pitchFamily="34" charset="-122"/>
                <a:cs typeface="经典粗黑简" pitchFamily="49" charset="-122"/>
              </a:rPr>
              <a:t>GetHead</a:t>
            </a:r>
            <a:r>
              <a:rPr lang="en-US" altLang="zh-CN" sz="2400" dirty="0">
                <a:latin typeface="微软雅黑" pitchFamily="34" charset="-122"/>
                <a:ea typeface="微软雅黑" pitchFamily="34" charset="-122"/>
                <a:cs typeface="经典粗黑简" pitchFamily="49" charset="-122"/>
              </a:rPr>
              <a:t>(C) =(a)    </a:t>
            </a:r>
            <a:r>
              <a:rPr lang="en-US" altLang="zh-CN" sz="2400" dirty="0" err="1">
                <a:latin typeface="微软雅黑" pitchFamily="34" charset="-122"/>
                <a:ea typeface="微软雅黑" pitchFamily="34" charset="-122"/>
                <a:cs typeface="经典粗黑简" pitchFamily="49" charset="-122"/>
              </a:rPr>
              <a:t>GetTail</a:t>
            </a:r>
            <a:r>
              <a:rPr lang="en-US" altLang="zh-CN" sz="2400" dirty="0">
                <a:latin typeface="微软雅黑" pitchFamily="34" charset="-122"/>
                <a:ea typeface="微软雅黑" pitchFamily="34" charset="-122"/>
                <a:cs typeface="经典粗黑简" pitchFamily="49" charset="-122"/>
              </a:rPr>
              <a:t>(C)=((</a:t>
            </a:r>
            <a:r>
              <a:rPr lang="en-US" altLang="zh-CN" sz="2400" dirty="0" err="1">
                <a:latin typeface="微软雅黑" pitchFamily="34" charset="-122"/>
                <a:ea typeface="微软雅黑" pitchFamily="34" charset="-122"/>
                <a:cs typeface="经典粗黑简" pitchFamily="49" charset="-122"/>
              </a:rPr>
              <a:t>b,c,d</a:t>
            </a:r>
            <a:r>
              <a:rPr lang="en-US" altLang="zh-CN" sz="2400" dirty="0">
                <a:latin typeface="微软雅黑" pitchFamily="34" charset="-122"/>
                <a:ea typeface="微软雅黑" pitchFamily="34" charset="-122"/>
                <a:cs typeface="经典粗黑简" pitchFamily="49" charset="-122"/>
              </a:rPr>
              <a:t>))</a:t>
            </a:r>
          </a:p>
        </p:txBody>
      </p:sp>
      <p:sp>
        <p:nvSpPr>
          <p:cNvPr id="61" name="Line 26"/>
          <p:cNvSpPr>
            <a:spLocks noChangeShapeType="1"/>
          </p:cNvSpPr>
          <p:nvPr/>
        </p:nvSpPr>
        <p:spPr bwMode="auto">
          <a:xfrm>
            <a:off x="6970712" y="5313083"/>
            <a:ext cx="5334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62" name="Group 27"/>
          <p:cNvGrpSpPr>
            <a:grpSpLocks/>
          </p:cNvGrpSpPr>
          <p:nvPr/>
        </p:nvGrpSpPr>
        <p:grpSpPr bwMode="auto">
          <a:xfrm>
            <a:off x="7504112" y="5008283"/>
            <a:ext cx="1371600" cy="533400"/>
            <a:chOff x="3360" y="2736"/>
            <a:chExt cx="864" cy="336"/>
          </a:xfrm>
        </p:grpSpPr>
        <p:sp>
          <p:nvSpPr>
            <p:cNvPr id="63" name="Rectangle 28"/>
            <p:cNvSpPr>
              <a:spLocks noChangeArrowheads="1"/>
            </p:cNvSpPr>
            <p:nvPr/>
          </p:nvSpPr>
          <p:spPr bwMode="auto">
            <a:xfrm>
              <a:off x="3360"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64" name="Rectangle 29"/>
            <p:cNvSpPr>
              <a:spLocks noChangeArrowheads="1"/>
            </p:cNvSpPr>
            <p:nvPr/>
          </p:nvSpPr>
          <p:spPr bwMode="auto">
            <a:xfrm>
              <a:off x="3648"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65" name="Rectangle 30"/>
            <p:cNvSpPr>
              <a:spLocks noChangeArrowheads="1"/>
            </p:cNvSpPr>
            <p:nvPr/>
          </p:nvSpPr>
          <p:spPr bwMode="auto">
            <a:xfrm>
              <a:off x="3936"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66" name="Line 31"/>
          <p:cNvSpPr>
            <a:spLocks noChangeShapeType="1"/>
          </p:cNvSpPr>
          <p:nvPr/>
        </p:nvSpPr>
        <p:spPr bwMode="auto">
          <a:xfrm>
            <a:off x="8189912" y="5313083"/>
            <a:ext cx="0" cy="6096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67" name="Group 32"/>
          <p:cNvGrpSpPr>
            <a:grpSpLocks/>
          </p:cNvGrpSpPr>
          <p:nvPr/>
        </p:nvGrpSpPr>
        <p:grpSpPr bwMode="auto">
          <a:xfrm>
            <a:off x="8037512" y="5922683"/>
            <a:ext cx="914400" cy="533400"/>
            <a:chOff x="3696" y="3312"/>
            <a:chExt cx="576" cy="336"/>
          </a:xfrm>
        </p:grpSpPr>
        <p:sp>
          <p:nvSpPr>
            <p:cNvPr id="68" name="Rectangle 33"/>
            <p:cNvSpPr>
              <a:spLocks noChangeArrowheads="1"/>
            </p:cNvSpPr>
            <p:nvPr/>
          </p:nvSpPr>
          <p:spPr bwMode="auto">
            <a:xfrm>
              <a:off x="3696" y="3312"/>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0</a:t>
              </a:r>
            </a:p>
          </p:txBody>
        </p:sp>
        <p:sp>
          <p:nvSpPr>
            <p:cNvPr id="69" name="Rectangle 34"/>
            <p:cNvSpPr>
              <a:spLocks noChangeArrowheads="1"/>
            </p:cNvSpPr>
            <p:nvPr/>
          </p:nvSpPr>
          <p:spPr bwMode="auto">
            <a:xfrm>
              <a:off x="3984" y="3312"/>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c</a:t>
              </a:r>
            </a:p>
          </p:txBody>
        </p:sp>
      </p:grpSp>
      <p:sp>
        <p:nvSpPr>
          <p:cNvPr id="70" name="Line 35"/>
          <p:cNvSpPr>
            <a:spLocks noChangeShapeType="1"/>
          </p:cNvSpPr>
          <p:nvPr/>
        </p:nvSpPr>
        <p:spPr bwMode="auto">
          <a:xfrm>
            <a:off x="8723312" y="5313083"/>
            <a:ext cx="5334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71" name="Group 36"/>
          <p:cNvGrpSpPr>
            <a:grpSpLocks/>
          </p:cNvGrpSpPr>
          <p:nvPr/>
        </p:nvGrpSpPr>
        <p:grpSpPr bwMode="auto">
          <a:xfrm>
            <a:off x="9256712" y="5008283"/>
            <a:ext cx="1371600" cy="533400"/>
            <a:chOff x="4464" y="2736"/>
            <a:chExt cx="864" cy="336"/>
          </a:xfrm>
        </p:grpSpPr>
        <p:sp>
          <p:nvSpPr>
            <p:cNvPr id="72" name="Rectangle 37"/>
            <p:cNvSpPr>
              <a:spLocks noChangeArrowheads="1"/>
            </p:cNvSpPr>
            <p:nvPr/>
          </p:nvSpPr>
          <p:spPr bwMode="auto">
            <a:xfrm>
              <a:off x="446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73" name="Rectangle 38"/>
            <p:cNvSpPr>
              <a:spLocks noChangeArrowheads="1"/>
            </p:cNvSpPr>
            <p:nvPr/>
          </p:nvSpPr>
          <p:spPr bwMode="auto">
            <a:xfrm>
              <a:off x="475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74" name="Rectangle 39"/>
            <p:cNvSpPr>
              <a:spLocks noChangeArrowheads="1"/>
            </p:cNvSpPr>
            <p:nvPr/>
          </p:nvSpPr>
          <p:spPr bwMode="auto">
            <a:xfrm>
              <a:off x="5040"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grpSp>
      <p:sp>
        <p:nvSpPr>
          <p:cNvPr id="75" name="Line 40"/>
          <p:cNvSpPr>
            <a:spLocks noChangeShapeType="1"/>
          </p:cNvSpPr>
          <p:nvPr/>
        </p:nvSpPr>
        <p:spPr bwMode="auto">
          <a:xfrm>
            <a:off x="9942512" y="5313083"/>
            <a:ext cx="0" cy="6096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76" name="Group 41"/>
          <p:cNvGrpSpPr>
            <a:grpSpLocks/>
          </p:cNvGrpSpPr>
          <p:nvPr/>
        </p:nvGrpSpPr>
        <p:grpSpPr bwMode="auto">
          <a:xfrm>
            <a:off x="9552384" y="5922683"/>
            <a:ext cx="914400" cy="533400"/>
            <a:chOff x="4800" y="3312"/>
            <a:chExt cx="576" cy="336"/>
          </a:xfrm>
        </p:grpSpPr>
        <p:sp>
          <p:nvSpPr>
            <p:cNvPr id="77" name="Rectangle 42"/>
            <p:cNvSpPr>
              <a:spLocks noChangeArrowheads="1"/>
            </p:cNvSpPr>
            <p:nvPr/>
          </p:nvSpPr>
          <p:spPr bwMode="auto">
            <a:xfrm>
              <a:off x="4800" y="3312"/>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0</a:t>
              </a:r>
            </a:p>
          </p:txBody>
        </p:sp>
        <p:sp>
          <p:nvSpPr>
            <p:cNvPr id="78" name="Rectangle 43"/>
            <p:cNvSpPr>
              <a:spLocks noChangeArrowheads="1"/>
            </p:cNvSpPr>
            <p:nvPr/>
          </p:nvSpPr>
          <p:spPr bwMode="auto">
            <a:xfrm>
              <a:off x="5088" y="3312"/>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d</a:t>
              </a:r>
            </a:p>
          </p:txBody>
        </p:sp>
      </p:grpSp>
      <p:sp>
        <p:nvSpPr>
          <p:cNvPr id="79" name="Text Box 46"/>
          <p:cNvSpPr txBox="1">
            <a:spLocks noChangeArrowheads="1"/>
          </p:cNvSpPr>
          <p:nvPr/>
        </p:nvSpPr>
        <p:spPr bwMode="auto">
          <a:xfrm>
            <a:off x="7427912" y="4551083"/>
            <a:ext cx="8382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a:t>
            </a:r>
            <a:r>
              <a:rPr kumimoji="1" lang="en-US" altLang="zh-CN" sz="2400" dirty="0" err="1">
                <a:latin typeface="Tahoma" pitchFamily="34" charset="0"/>
              </a:rPr>
              <a:t>c,d</a:t>
            </a:r>
            <a:r>
              <a:rPr kumimoji="1" lang="en-US" altLang="zh-CN" sz="2400" dirty="0">
                <a:latin typeface="Tahoma" pitchFamily="34" charset="0"/>
              </a:rPr>
              <a:t>)</a:t>
            </a:r>
          </a:p>
        </p:txBody>
      </p:sp>
      <p:sp>
        <p:nvSpPr>
          <p:cNvPr id="80" name="Text Box 47"/>
          <p:cNvSpPr txBox="1">
            <a:spLocks noChangeArrowheads="1"/>
          </p:cNvSpPr>
          <p:nvPr/>
        </p:nvSpPr>
        <p:spPr bwMode="auto">
          <a:xfrm>
            <a:off x="9180512" y="4551083"/>
            <a:ext cx="6096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(d)</a:t>
            </a:r>
          </a:p>
        </p:txBody>
      </p:sp>
      <p:sp>
        <p:nvSpPr>
          <p:cNvPr id="81" name="Line 22"/>
          <p:cNvSpPr>
            <a:spLocks noChangeShapeType="1"/>
          </p:cNvSpPr>
          <p:nvPr/>
        </p:nvSpPr>
        <p:spPr bwMode="auto">
          <a:xfrm>
            <a:off x="6624547" y="5382344"/>
            <a:ext cx="0" cy="6096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82" name="Group 23"/>
          <p:cNvGrpSpPr>
            <a:grpSpLocks/>
          </p:cNvGrpSpPr>
          <p:nvPr/>
        </p:nvGrpSpPr>
        <p:grpSpPr bwMode="auto">
          <a:xfrm>
            <a:off x="6395947" y="5991944"/>
            <a:ext cx="914400" cy="533400"/>
            <a:chOff x="2592" y="3312"/>
            <a:chExt cx="576" cy="336"/>
          </a:xfrm>
        </p:grpSpPr>
        <p:sp>
          <p:nvSpPr>
            <p:cNvPr id="83" name="Rectangle 24"/>
            <p:cNvSpPr>
              <a:spLocks noChangeArrowheads="1"/>
            </p:cNvSpPr>
            <p:nvPr/>
          </p:nvSpPr>
          <p:spPr bwMode="auto">
            <a:xfrm>
              <a:off x="2592" y="3312"/>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0</a:t>
              </a:r>
            </a:p>
          </p:txBody>
        </p:sp>
        <p:sp>
          <p:nvSpPr>
            <p:cNvPr id="84" name="Rectangle 25"/>
            <p:cNvSpPr>
              <a:spLocks noChangeArrowheads="1"/>
            </p:cNvSpPr>
            <p:nvPr/>
          </p:nvSpPr>
          <p:spPr bwMode="auto">
            <a:xfrm>
              <a:off x="2880" y="3312"/>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b</a:t>
              </a:r>
            </a:p>
          </p:txBody>
        </p:sp>
      </p:grpSp>
      <p:sp>
        <p:nvSpPr>
          <p:cNvPr id="2" name="Rectangle 2">
            <a:extLst>
              <a:ext uri="{FF2B5EF4-FFF2-40B4-BE49-F238E27FC236}">
                <a16:creationId xmlns:a16="http://schemas.microsoft.com/office/drawing/2014/main" id="{84B162CF-574E-CDD2-44B6-009D1DCF2F3D}"/>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A686A9EE-643C-C81A-B59C-B2DD5A867D42}"/>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61E8A2F5-9FF0-6840-A90A-BD628EB32775}"/>
              </a:ext>
            </a:extLst>
          </p:cNvPr>
          <p:cNvSpPr txBox="1">
            <a:spLocks noChangeArrowheads="1"/>
          </p:cNvSpPr>
          <p:nvPr/>
        </p:nvSpPr>
        <p:spPr>
          <a:xfrm>
            <a:off x="191344" y="1106736"/>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6.3.2 </a:t>
            </a:r>
            <a:r>
              <a:rPr lang="zh-CN" altLang="en-US" sz="2800" b="1" dirty="0">
                <a:solidFill>
                  <a:schemeClr val="bg1"/>
                </a:solidFill>
                <a:latin typeface="经典粗黑简" pitchFamily="49" charset="-122"/>
                <a:ea typeface="经典粗黑简" pitchFamily="49" charset="-122"/>
                <a:cs typeface="经典粗黑简" pitchFamily="49" charset="-122"/>
              </a:rPr>
              <a:t>广义表的存储结构</a:t>
            </a:r>
          </a:p>
        </p:txBody>
      </p:sp>
    </p:spTree>
    <p:extLst>
      <p:ext uri="{BB962C8B-B14F-4D97-AF65-F5344CB8AC3E}">
        <p14:creationId xmlns:p14="http://schemas.microsoft.com/office/powerpoint/2010/main" val="1739587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6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7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0"/>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7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7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28" grpId="0" animBg="1"/>
      <p:bldP spid="29" grpId="0" animBg="1"/>
      <p:bldP spid="34" grpId="0" animBg="1"/>
      <p:bldP spid="38" grpId="0"/>
      <p:bldP spid="39" grpId="0"/>
      <p:bldP spid="40"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7" grpId="0"/>
      <p:bldP spid="58" grpId="0"/>
      <p:bldP spid="61" grpId="0" animBg="1"/>
      <p:bldP spid="66" grpId="0" animBg="1"/>
      <p:bldP spid="70" grpId="0" animBg="1"/>
      <p:bldP spid="75" grpId="0" animBg="1"/>
      <p:bldP spid="79" grpId="0"/>
      <p:bldP spid="80" grpId="0"/>
      <p:bldP spid="8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11198" y="1322313"/>
            <a:ext cx="2384355" cy="2308324"/>
          </a:xfrm>
          <a:prstGeom prst="rect">
            <a:avLst/>
          </a:prstGeom>
        </p:spPr>
        <p:txBody>
          <a:bodyPr wrap="square">
            <a:spAutoFit/>
          </a:bodyPr>
          <a:lstStyle/>
          <a:p>
            <a:r>
              <a:rPr lang="en-US" altLang="zh-CN" sz="2400" dirty="0">
                <a:latin typeface="微软雅黑" pitchFamily="34" charset="-122"/>
                <a:ea typeface="微软雅黑" pitchFamily="34" charset="-122"/>
                <a:cs typeface="经典粗黑简" pitchFamily="49" charset="-122"/>
              </a:rPr>
              <a:t>A = ()</a:t>
            </a:r>
          </a:p>
          <a:p>
            <a:r>
              <a:rPr lang="en-US" altLang="zh-CN" sz="2400" dirty="0">
                <a:latin typeface="微软雅黑" pitchFamily="34" charset="-122"/>
                <a:ea typeface="微软雅黑" pitchFamily="34" charset="-122"/>
                <a:cs typeface="经典粗黑简" pitchFamily="49" charset="-122"/>
              </a:rPr>
              <a:t>B = (e)</a:t>
            </a:r>
          </a:p>
          <a:p>
            <a:r>
              <a:rPr lang="en-US" altLang="zh-CN" sz="2400" dirty="0">
                <a:latin typeface="微软雅黑" pitchFamily="34" charset="-122"/>
                <a:ea typeface="微软雅黑" pitchFamily="34" charset="-122"/>
                <a:cs typeface="经典粗黑简" pitchFamily="49" charset="-122"/>
              </a:rPr>
              <a:t>C = (a,(</a:t>
            </a:r>
            <a:r>
              <a:rPr lang="en-US" altLang="zh-CN" sz="2400" dirty="0" err="1">
                <a:latin typeface="微软雅黑" pitchFamily="34" charset="-122"/>
                <a:ea typeface="微软雅黑" pitchFamily="34" charset="-122"/>
                <a:cs typeface="经典粗黑简" pitchFamily="49" charset="-122"/>
              </a:rPr>
              <a:t>b,c,d</a:t>
            </a:r>
            <a:r>
              <a:rPr lang="en-US" altLang="zh-CN" sz="2400" dirty="0">
                <a:latin typeface="微软雅黑" pitchFamily="34" charset="-122"/>
                <a:ea typeface="微软雅黑" pitchFamily="34" charset="-122"/>
                <a:cs typeface="经典粗黑简" pitchFamily="49" charset="-122"/>
              </a:rPr>
              <a:t>))</a:t>
            </a:r>
          </a:p>
          <a:p>
            <a:r>
              <a:rPr lang="en-US" altLang="zh-CN" sz="2400" dirty="0">
                <a:latin typeface="微软雅黑" pitchFamily="34" charset="-122"/>
                <a:ea typeface="微软雅黑" pitchFamily="34" charset="-122"/>
                <a:cs typeface="经典粗黑简" pitchFamily="49" charset="-122"/>
              </a:rPr>
              <a:t>D = (A,B,C)</a:t>
            </a:r>
          </a:p>
          <a:p>
            <a:r>
              <a:rPr lang="en-US" altLang="zh-CN" sz="2400" dirty="0">
                <a:latin typeface="微软雅黑" pitchFamily="34" charset="-122"/>
                <a:ea typeface="微软雅黑" pitchFamily="34" charset="-122"/>
                <a:cs typeface="经典粗黑简" pitchFamily="49" charset="-122"/>
              </a:rPr>
              <a:t>E = (</a:t>
            </a:r>
            <a:r>
              <a:rPr lang="en-US" altLang="zh-CN" sz="2400" dirty="0" err="1">
                <a:latin typeface="微软雅黑" pitchFamily="34" charset="-122"/>
                <a:ea typeface="微软雅黑" pitchFamily="34" charset="-122"/>
                <a:cs typeface="经典粗黑简" pitchFamily="49" charset="-122"/>
              </a:rPr>
              <a:t>a,E</a:t>
            </a:r>
            <a:r>
              <a:rPr lang="en-US" altLang="zh-CN" sz="2400" dirty="0">
                <a:latin typeface="微软雅黑" pitchFamily="34" charset="-122"/>
                <a:ea typeface="微软雅黑" pitchFamily="34" charset="-122"/>
                <a:cs typeface="经典粗黑简" pitchFamily="49" charset="-122"/>
              </a:rPr>
              <a:t>)</a:t>
            </a:r>
          </a:p>
          <a:p>
            <a:r>
              <a:rPr lang="en-US" altLang="zh-CN" sz="2400" dirty="0">
                <a:latin typeface="微软雅黑" pitchFamily="34" charset="-122"/>
                <a:ea typeface="微软雅黑" pitchFamily="34" charset="-122"/>
                <a:cs typeface="经典粗黑简" pitchFamily="49" charset="-122"/>
              </a:rPr>
              <a:t>F </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t>
            </a:r>
          </a:p>
        </p:txBody>
      </p:sp>
      <p:sp>
        <p:nvSpPr>
          <p:cNvPr id="26" name="Text Box 47"/>
          <p:cNvSpPr txBox="1">
            <a:spLocks noChangeArrowheads="1"/>
          </p:cNvSpPr>
          <p:nvPr/>
        </p:nvSpPr>
        <p:spPr bwMode="auto">
          <a:xfrm>
            <a:off x="8182878" y="160666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A</a:t>
            </a:r>
          </a:p>
        </p:txBody>
      </p:sp>
      <p:sp>
        <p:nvSpPr>
          <p:cNvPr id="27" name="Line 48"/>
          <p:cNvSpPr>
            <a:spLocks noChangeShapeType="1"/>
          </p:cNvSpPr>
          <p:nvPr/>
        </p:nvSpPr>
        <p:spPr bwMode="auto">
          <a:xfrm>
            <a:off x="8563878" y="1835265"/>
            <a:ext cx="6096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 name="Rectangle 49"/>
          <p:cNvSpPr>
            <a:spLocks noChangeArrowheads="1"/>
          </p:cNvSpPr>
          <p:nvPr/>
        </p:nvSpPr>
        <p:spPr bwMode="auto">
          <a:xfrm>
            <a:off x="9173478" y="1530465"/>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t>
            </a:r>
          </a:p>
        </p:txBody>
      </p:sp>
      <p:sp>
        <p:nvSpPr>
          <p:cNvPr id="29" name="Line 37"/>
          <p:cNvSpPr>
            <a:spLocks noChangeShapeType="1"/>
          </p:cNvSpPr>
          <p:nvPr/>
        </p:nvSpPr>
        <p:spPr bwMode="auto">
          <a:xfrm>
            <a:off x="8563878" y="3402037"/>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30" name="Group 38"/>
          <p:cNvGrpSpPr>
            <a:grpSpLocks/>
          </p:cNvGrpSpPr>
          <p:nvPr/>
        </p:nvGrpSpPr>
        <p:grpSpPr bwMode="auto">
          <a:xfrm>
            <a:off x="9173478" y="3097237"/>
            <a:ext cx="1371600" cy="533400"/>
            <a:chOff x="768" y="1584"/>
            <a:chExt cx="864" cy="336"/>
          </a:xfrm>
        </p:grpSpPr>
        <p:sp>
          <p:nvSpPr>
            <p:cNvPr id="31" name="Rectangle 39"/>
            <p:cNvSpPr>
              <a:spLocks noChangeArrowheads="1"/>
            </p:cNvSpPr>
            <p:nvPr/>
          </p:nvSpPr>
          <p:spPr bwMode="auto">
            <a:xfrm>
              <a:off x="768" y="158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32" name="Rectangle 40"/>
            <p:cNvSpPr>
              <a:spLocks noChangeArrowheads="1"/>
            </p:cNvSpPr>
            <p:nvPr/>
          </p:nvSpPr>
          <p:spPr bwMode="auto">
            <a:xfrm>
              <a:off x="1056" y="158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33" name="Rectangle 41"/>
            <p:cNvSpPr>
              <a:spLocks noChangeArrowheads="1"/>
            </p:cNvSpPr>
            <p:nvPr/>
          </p:nvSpPr>
          <p:spPr bwMode="auto">
            <a:xfrm>
              <a:off x="1344" y="158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grpSp>
      <p:sp>
        <p:nvSpPr>
          <p:cNvPr id="34" name="Line 42"/>
          <p:cNvSpPr>
            <a:spLocks noChangeShapeType="1"/>
          </p:cNvSpPr>
          <p:nvPr/>
        </p:nvSpPr>
        <p:spPr bwMode="auto">
          <a:xfrm>
            <a:off x="9859278" y="2716237"/>
            <a:ext cx="0" cy="609600"/>
          </a:xfrm>
          <a:prstGeom prst="line">
            <a:avLst/>
          </a:prstGeom>
          <a:noFill/>
          <a:ln w="2222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35" name="Group 43"/>
          <p:cNvGrpSpPr>
            <a:grpSpLocks/>
          </p:cNvGrpSpPr>
          <p:nvPr/>
        </p:nvGrpSpPr>
        <p:grpSpPr bwMode="auto">
          <a:xfrm>
            <a:off x="9630678" y="2182837"/>
            <a:ext cx="914400" cy="533400"/>
            <a:chOff x="1104" y="2736"/>
            <a:chExt cx="576" cy="336"/>
          </a:xfrm>
        </p:grpSpPr>
        <p:sp>
          <p:nvSpPr>
            <p:cNvPr id="36" name="Rectangle 44"/>
            <p:cNvSpPr>
              <a:spLocks noChangeArrowheads="1"/>
            </p:cNvSpPr>
            <p:nvPr/>
          </p:nvSpPr>
          <p:spPr bwMode="auto">
            <a:xfrm>
              <a:off x="110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0</a:t>
              </a:r>
            </a:p>
          </p:txBody>
        </p:sp>
        <p:sp>
          <p:nvSpPr>
            <p:cNvPr id="37" name="Rectangle 45"/>
            <p:cNvSpPr>
              <a:spLocks noChangeArrowheads="1"/>
            </p:cNvSpPr>
            <p:nvPr/>
          </p:nvSpPr>
          <p:spPr bwMode="auto">
            <a:xfrm>
              <a:off x="139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e</a:t>
              </a:r>
            </a:p>
          </p:txBody>
        </p:sp>
      </p:grpSp>
      <p:sp>
        <p:nvSpPr>
          <p:cNvPr id="38" name="Text Box 46"/>
          <p:cNvSpPr txBox="1">
            <a:spLocks noChangeArrowheads="1"/>
          </p:cNvSpPr>
          <p:nvPr/>
        </p:nvSpPr>
        <p:spPr bwMode="auto">
          <a:xfrm>
            <a:off x="8182878" y="317343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B</a:t>
            </a:r>
          </a:p>
        </p:txBody>
      </p:sp>
      <p:sp>
        <p:nvSpPr>
          <p:cNvPr id="39" name="Text Box 4"/>
          <p:cNvSpPr txBox="1">
            <a:spLocks noChangeArrowheads="1"/>
          </p:cNvSpPr>
          <p:nvPr/>
        </p:nvSpPr>
        <p:spPr bwMode="auto">
          <a:xfrm>
            <a:off x="2567608" y="3934348"/>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C</a:t>
            </a:r>
          </a:p>
        </p:txBody>
      </p:sp>
      <p:sp>
        <p:nvSpPr>
          <p:cNvPr id="40" name="Line 5"/>
          <p:cNvSpPr>
            <a:spLocks noChangeShapeType="1"/>
          </p:cNvSpPr>
          <p:nvPr/>
        </p:nvSpPr>
        <p:spPr bwMode="auto">
          <a:xfrm>
            <a:off x="2948608" y="4162948"/>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41" name="Group 6"/>
          <p:cNvGrpSpPr>
            <a:grpSpLocks/>
          </p:cNvGrpSpPr>
          <p:nvPr/>
        </p:nvGrpSpPr>
        <p:grpSpPr bwMode="auto">
          <a:xfrm>
            <a:off x="3558208" y="3858148"/>
            <a:ext cx="3200400" cy="1447800"/>
            <a:chOff x="768" y="2160"/>
            <a:chExt cx="2016" cy="912"/>
          </a:xfrm>
        </p:grpSpPr>
        <p:sp>
          <p:nvSpPr>
            <p:cNvPr id="42" name="Rectangle 7"/>
            <p:cNvSpPr>
              <a:spLocks noChangeArrowheads="1"/>
            </p:cNvSpPr>
            <p:nvPr/>
          </p:nvSpPr>
          <p:spPr bwMode="auto">
            <a:xfrm>
              <a:off x="768"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43" name="Rectangle 8"/>
            <p:cNvSpPr>
              <a:spLocks noChangeArrowheads="1"/>
            </p:cNvSpPr>
            <p:nvPr/>
          </p:nvSpPr>
          <p:spPr bwMode="auto">
            <a:xfrm>
              <a:off x="1056"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44" name="Rectangle 9"/>
            <p:cNvSpPr>
              <a:spLocks noChangeArrowheads="1"/>
            </p:cNvSpPr>
            <p:nvPr/>
          </p:nvSpPr>
          <p:spPr bwMode="auto">
            <a:xfrm>
              <a:off x="1344"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45" name="Line 10"/>
            <p:cNvSpPr>
              <a:spLocks noChangeShapeType="1"/>
            </p:cNvSpPr>
            <p:nvPr/>
          </p:nvSpPr>
          <p:spPr bwMode="auto">
            <a:xfrm>
              <a:off x="1200" y="2352"/>
              <a:ext cx="0" cy="384"/>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Rectangle 11"/>
            <p:cNvSpPr>
              <a:spLocks noChangeArrowheads="1"/>
            </p:cNvSpPr>
            <p:nvPr/>
          </p:nvSpPr>
          <p:spPr bwMode="auto">
            <a:xfrm>
              <a:off x="110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0</a:t>
              </a:r>
            </a:p>
          </p:txBody>
        </p:sp>
        <p:sp>
          <p:nvSpPr>
            <p:cNvPr id="47" name="Rectangle 12"/>
            <p:cNvSpPr>
              <a:spLocks noChangeArrowheads="1"/>
            </p:cNvSpPr>
            <p:nvPr/>
          </p:nvSpPr>
          <p:spPr bwMode="auto">
            <a:xfrm>
              <a:off x="139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a:t>
              </a:r>
            </a:p>
          </p:txBody>
        </p:sp>
        <p:sp>
          <p:nvSpPr>
            <p:cNvPr id="48" name="Line 13"/>
            <p:cNvSpPr>
              <a:spLocks noChangeShapeType="1"/>
            </p:cNvSpPr>
            <p:nvPr/>
          </p:nvSpPr>
          <p:spPr bwMode="auto">
            <a:xfrm>
              <a:off x="1536" y="2352"/>
              <a:ext cx="384"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Rectangle 14"/>
            <p:cNvSpPr>
              <a:spLocks noChangeArrowheads="1"/>
            </p:cNvSpPr>
            <p:nvPr/>
          </p:nvSpPr>
          <p:spPr bwMode="auto">
            <a:xfrm>
              <a:off x="1920"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50" name="Rectangle 15"/>
            <p:cNvSpPr>
              <a:spLocks noChangeArrowheads="1"/>
            </p:cNvSpPr>
            <p:nvPr/>
          </p:nvSpPr>
          <p:spPr bwMode="auto">
            <a:xfrm>
              <a:off x="2208"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51" name="Rectangle 16"/>
            <p:cNvSpPr>
              <a:spLocks noChangeArrowheads="1"/>
            </p:cNvSpPr>
            <p:nvPr/>
          </p:nvSpPr>
          <p:spPr bwMode="auto">
            <a:xfrm>
              <a:off x="2496"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grpSp>
      <p:sp>
        <p:nvSpPr>
          <p:cNvPr id="52" name="Line 17"/>
          <p:cNvSpPr>
            <a:spLocks noChangeShapeType="1"/>
          </p:cNvSpPr>
          <p:nvPr/>
        </p:nvSpPr>
        <p:spPr bwMode="auto">
          <a:xfrm>
            <a:off x="6072808" y="4162948"/>
            <a:ext cx="0" cy="6096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53" name="Group 19"/>
          <p:cNvGrpSpPr>
            <a:grpSpLocks/>
          </p:cNvGrpSpPr>
          <p:nvPr/>
        </p:nvGrpSpPr>
        <p:grpSpPr bwMode="auto">
          <a:xfrm>
            <a:off x="5920408" y="4772548"/>
            <a:ext cx="1371600" cy="533400"/>
            <a:chOff x="2256" y="2736"/>
            <a:chExt cx="864" cy="336"/>
          </a:xfrm>
        </p:grpSpPr>
        <p:sp>
          <p:nvSpPr>
            <p:cNvPr id="54" name="Rectangle 20"/>
            <p:cNvSpPr>
              <a:spLocks noChangeArrowheads="1"/>
            </p:cNvSpPr>
            <p:nvPr/>
          </p:nvSpPr>
          <p:spPr bwMode="auto">
            <a:xfrm>
              <a:off x="2256"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55" name="Rectangle 21"/>
            <p:cNvSpPr>
              <a:spLocks noChangeArrowheads="1"/>
            </p:cNvSpPr>
            <p:nvPr/>
          </p:nvSpPr>
          <p:spPr bwMode="auto">
            <a:xfrm>
              <a:off x="254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56" name="Rectangle 22"/>
            <p:cNvSpPr>
              <a:spLocks noChangeArrowheads="1"/>
            </p:cNvSpPr>
            <p:nvPr/>
          </p:nvSpPr>
          <p:spPr bwMode="auto">
            <a:xfrm>
              <a:off x="283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57" name="Text Box 23"/>
          <p:cNvSpPr txBox="1">
            <a:spLocks noChangeArrowheads="1"/>
          </p:cNvSpPr>
          <p:nvPr/>
        </p:nvSpPr>
        <p:spPr bwMode="auto">
          <a:xfrm>
            <a:off x="6190283" y="4297885"/>
            <a:ext cx="10668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(b,c,d)</a:t>
            </a:r>
          </a:p>
        </p:txBody>
      </p:sp>
      <p:sp>
        <p:nvSpPr>
          <p:cNvPr id="61" name="Line 26"/>
          <p:cNvSpPr>
            <a:spLocks noChangeShapeType="1"/>
          </p:cNvSpPr>
          <p:nvPr/>
        </p:nvSpPr>
        <p:spPr bwMode="auto">
          <a:xfrm>
            <a:off x="6970712" y="5101159"/>
            <a:ext cx="5334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62" name="Group 27"/>
          <p:cNvGrpSpPr>
            <a:grpSpLocks/>
          </p:cNvGrpSpPr>
          <p:nvPr/>
        </p:nvGrpSpPr>
        <p:grpSpPr bwMode="auto">
          <a:xfrm>
            <a:off x="7504112" y="4796359"/>
            <a:ext cx="1371600" cy="533400"/>
            <a:chOff x="3360" y="2736"/>
            <a:chExt cx="864" cy="336"/>
          </a:xfrm>
        </p:grpSpPr>
        <p:sp>
          <p:nvSpPr>
            <p:cNvPr id="63" name="Rectangle 28"/>
            <p:cNvSpPr>
              <a:spLocks noChangeArrowheads="1"/>
            </p:cNvSpPr>
            <p:nvPr/>
          </p:nvSpPr>
          <p:spPr bwMode="auto">
            <a:xfrm>
              <a:off x="3360"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64" name="Rectangle 29"/>
            <p:cNvSpPr>
              <a:spLocks noChangeArrowheads="1"/>
            </p:cNvSpPr>
            <p:nvPr/>
          </p:nvSpPr>
          <p:spPr bwMode="auto">
            <a:xfrm>
              <a:off x="3648"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65" name="Rectangle 30"/>
            <p:cNvSpPr>
              <a:spLocks noChangeArrowheads="1"/>
            </p:cNvSpPr>
            <p:nvPr/>
          </p:nvSpPr>
          <p:spPr bwMode="auto">
            <a:xfrm>
              <a:off x="3936"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66" name="Line 31"/>
          <p:cNvSpPr>
            <a:spLocks noChangeShapeType="1"/>
          </p:cNvSpPr>
          <p:nvPr/>
        </p:nvSpPr>
        <p:spPr bwMode="auto">
          <a:xfrm>
            <a:off x="8189912" y="5101159"/>
            <a:ext cx="0" cy="6096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67" name="Group 32"/>
          <p:cNvGrpSpPr>
            <a:grpSpLocks/>
          </p:cNvGrpSpPr>
          <p:nvPr/>
        </p:nvGrpSpPr>
        <p:grpSpPr bwMode="auto">
          <a:xfrm>
            <a:off x="8037512" y="5710759"/>
            <a:ext cx="914400" cy="533400"/>
            <a:chOff x="3696" y="3312"/>
            <a:chExt cx="576" cy="336"/>
          </a:xfrm>
        </p:grpSpPr>
        <p:sp>
          <p:nvSpPr>
            <p:cNvPr id="68" name="Rectangle 33"/>
            <p:cNvSpPr>
              <a:spLocks noChangeArrowheads="1"/>
            </p:cNvSpPr>
            <p:nvPr/>
          </p:nvSpPr>
          <p:spPr bwMode="auto">
            <a:xfrm>
              <a:off x="3696" y="3312"/>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0</a:t>
              </a:r>
            </a:p>
          </p:txBody>
        </p:sp>
        <p:sp>
          <p:nvSpPr>
            <p:cNvPr id="69" name="Rectangle 34"/>
            <p:cNvSpPr>
              <a:spLocks noChangeArrowheads="1"/>
            </p:cNvSpPr>
            <p:nvPr/>
          </p:nvSpPr>
          <p:spPr bwMode="auto">
            <a:xfrm>
              <a:off x="3984" y="3312"/>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c</a:t>
              </a:r>
            </a:p>
          </p:txBody>
        </p:sp>
      </p:grpSp>
      <p:sp>
        <p:nvSpPr>
          <p:cNvPr id="70" name="Line 35"/>
          <p:cNvSpPr>
            <a:spLocks noChangeShapeType="1"/>
          </p:cNvSpPr>
          <p:nvPr/>
        </p:nvSpPr>
        <p:spPr bwMode="auto">
          <a:xfrm>
            <a:off x="8723312" y="5101159"/>
            <a:ext cx="5334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71" name="Group 36"/>
          <p:cNvGrpSpPr>
            <a:grpSpLocks/>
          </p:cNvGrpSpPr>
          <p:nvPr/>
        </p:nvGrpSpPr>
        <p:grpSpPr bwMode="auto">
          <a:xfrm>
            <a:off x="9256712" y="4796359"/>
            <a:ext cx="1371600" cy="533400"/>
            <a:chOff x="4464" y="2736"/>
            <a:chExt cx="864" cy="336"/>
          </a:xfrm>
        </p:grpSpPr>
        <p:sp>
          <p:nvSpPr>
            <p:cNvPr id="72" name="Rectangle 37"/>
            <p:cNvSpPr>
              <a:spLocks noChangeArrowheads="1"/>
            </p:cNvSpPr>
            <p:nvPr/>
          </p:nvSpPr>
          <p:spPr bwMode="auto">
            <a:xfrm>
              <a:off x="446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73" name="Rectangle 38"/>
            <p:cNvSpPr>
              <a:spLocks noChangeArrowheads="1"/>
            </p:cNvSpPr>
            <p:nvPr/>
          </p:nvSpPr>
          <p:spPr bwMode="auto">
            <a:xfrm>
              <a:off x="475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74" name="Rectangle 39"/>
            <p:cNvSpPr>
              <a:spLocks noChangeArrowheads="1"/>
            </p:cNvSpPr>
            <p:nvPr/>
          </p:nvSpPr>
          <p:spPr bwMode="auto">
            <a:xfrm>
              <a:off x="5040"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grpSp>
      <p:sp>
        <p:nvSpPr>
          <p:cNvPr id="75" name="Line 40"/>
          <p:cNvSpPr>
            <a:spLocks noChangeShapeType="1"/>
          </p:cNvSpPr>
          <p:nvPr/>
        </p:nvSpPr>
        <p:spPr bwMode="auto">
          <a:xfrm>
            <a:off x="9942512" y="5101159"/>
            <a:ext cx="0" cy="6096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76" name="Group 41"/>
          <p:cNvGrpSpPr>
            <a:grpSpLocks/>
          </p:cNvGrpSpPr>
          <p:nvPr/>
        </p:nvGrpSpPr>
        <p:grpSpPr bwMode="auto">
          <a:xfrm>
            <a:off x="9552384" y="5710759"/>
            <a:ext cx="914400" cy="533400"/>
            <a:chOff x="4800" y="3312"/>
            <a:chExt cx="576" cy="336"/>
          </a:xfrm>
        </p:grpSpPr>
        <p:sp>
          <p:nvSpPr>
            <p:cNvPr id="77" name="Rectangle 42"/>
            <p:cNvSpPr>
              <a:spLocks noChangeArrowheads="1"/>
            </p:cNvSpPr>
            <p:nvPr/>
          </p:nvSpPr>
          <p:spPr bwMode="auto">
            <a:xfrm>
              <a:off x="4800" y="3312"/>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0</a:t>
              </a:r>
            </a:p>
          </p:txBody>
        </p:sp>
        <p:sp>
          <p:nvSpPr>
            <p:cNvPr id="78" name="Rectangle 43"/>
            <p:cNvSpPr>
              <a:spLocks noChangeArrowheads="1"/>
            </p:cNvSpPr>
            <p:nvPr/>
          </p:nvSpPr>
          <p:spPr bwMode="auto">
            <a:xfrm>
              <a:off x="5088" y="3312"/>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d</a:t>
              </a:r>
            </a:p>
          </p:txBody>
        </p:sp>
      </p:grpSp>
      <p:sp>
        <p:nvSpPr>
          <p:cNvPr id="79" name="Text Box 46"/>
          <p:cNvSpPr txBox="1">
            <a:spLocks noChangeArrowheads="1"/>
          </p:cNvSpPr>
          <p:nvPr/>
        </p:nvSpPr>
        <p:spPr bwMode="auto">
          <a:xfrm>
            <a:off x="7427912" y="4339159"/>
            <a:ext cx="8382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(c,d)</a:t>
            </a:r>
          </a:p>
        </p:txBody>
      </p:sp>
      <p:sp>
        <p:nvSpPr>
          <p:cNvPr id="80" name="Text Box 47"/>
          <p:cNvSpPr txBox="1">
            <a:spLocks noChangeArrowheads="1"/>
          </p:cNvSpPr>
          <p:nvPr/>
        </p:nvSpPr>
        <p:spPr bwMode="auto">
          <a:xfrm>
            <a:off x="9180512" y="4339159"/>
            <a:ext cx="6096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(d)</a:t>
            </a:r>
          </a:p>
        </p:txBody>
      </p:sp>
      <p:sp>
        <p:nvSpPr>
          <p:cNvPr id="81" name="Line 22"/>
          <p:cNvSpPr>
            <a:spLocks noChangeShapeType="1"/>
          </p:cNvSpPr>
          <p:nvPr/>
        </p:nvSpPr>
        <p:spPr bwMode="auto">
          <a:xfrm>
            <a:off x="6624547" y="5170420"/>
            <a:ext cx="0" cy="6096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82" name="Group 23"/>
          <p:cNvGrpSpPr>
            <a:grpSpLocks/>
          </p:cNvGrpSpPr>
          <p:nvPr/>
        </p:nvGrpSpPr>
        <p:grpSpPr bwMode="auto">
          <a:xfrm>
            <a:off x="6395947" y="5780020"/>
            <a:ext cx="914400" cy="533400"/>
            <a:chOff x="2592" y="3312"/>
            <a:chExt cx="576" cy="336"/>
          </a:xfrm>
        </p:grpSpPr>
        <p:sp>
          <p:nvSpPr>
            <p:cNvPr id="83" name="Rectangle 24"/>
            <p:cNvSpPr>
              <a:spLocks noChangeArrowheads="1"/>
            </p:cNvSpPr>
            <p:nvPr/>
          </p:nvSpPr>
          <p:spPr bwMode="auto">
            <a:xfrm>
              <a:off x="2592" y="3312"/>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0</a:t>
              </a:r>
            </a:p>
          </p:txBody>
        </p:sp>
        <p:sp>
          <p:nvSpPr>
            <p:cNvPr id="84" name="Rectangle 25"/>
            <p:cNvSpPr>
              <a:spLocks noChangeArrowheads="1"/>
            </p:cNvSpPr>
            <p:nvPr/>
          </p:nvSpPr>
          <p:spPr bwMode="auto">
            <a:xfrm>
              <a:off x="2880" y="3312"/>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b</a:t>
              </a:r>
            </a:p>
          </p:txBody>
        </p:sp>
      </p:grpSp>
      <p:sp>
        <p:nvSpPr>
          <p:cNvPr id="85" name="Text Box 50"/>
          <p:cNvSpPr txBox="1">
            <a:spLocks noChangeArrowheads="1"/>
          </p:cNvSpPr>
          <p:nvPr/>
        </p:nvSpPr>
        <p:spPr bwMode="auto">
          <a:xfrm>
            <a:off x="3791744" y="2075033"/>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E</a:t>
            </a:r>
          </a:p>
        </p:txBody>
      </p:sp>
      <p:sp>
        <p:nvSpPr>
          <p:cNvPr id="86" name="Line 51"/>
          <p:cNvSpPr>
            <a:spLocks noChangeShapeType="1"/>
          </p:cNvSpPr>
          <p:nvPr/>
        </p:nvSpPr>
        <p:spPr bwMode="auto">
          <a:xfrm>
            <a:off x="4172744" y="2327579"/>
            <a:ext cx="609600"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87" name="Group 52"/>
          <p:cNvGrpSpPr>
            <a:grpSpLocks/>
          </p:cNvGrpSpPr>
          <p:nvPr/>
        </p:nvGrpSpPr>
        <p:grpSpPr bwMode="auto">
          <a:xfrm>
            <a:off x="4782344" y="2060879"/>
            <a:ext cx="1371600" cy="533400"/>
            <a:chOff x="768" y="336"/>
            <a:chExt cx="864" cy="336"/>
          </a:xfrm>
        </p:grpSpPr>
        <p:sp>
          <p:nvSpPr>
            <p:cNvPr id="88" name="Rectangle 53"/>
            <p:cNvSpPr>
              <a:spLocks noChangeArrowheads="1"/>
            </p:cNvSpPr>
            <p:nvPr/>
          </p:nvSpPr>
          <p:spPr bwMode="auto">
            <a:xfrm>
              <a:off x="768"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1</a:t>
              </a:r>
            </a:p>
          </p:txBody>
        </p:sp>
        <p:sp>
          <p:nvSpPr>
            <p:cNvPr id="89" name="Rectangle 54"/>
            <p:cNvSpPr>
              <a:spLocks noChangeArrowheads="1"/>
            </p:cNvSpPr>
            <p:nvPr/>
          </p:nvSpPr>
          <p:spPr bwMode="auto">
            <a:xfrm>
              <a:off x="1056"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en-US" altLang="zh-CN" sz="2400" dirty="0">
                <a:latin typeface="Tahoma" pitchFamily="34" charset="0"/>
              </a:endParaRPr>
            </a:p>
          </p:txBody>
        </p:sp>
        <p:sp>
          <p:nvSpPr>
            <p:cNvPr id="90" name="Rectangle 55"/>
            <p:cNvSpPr>
              <a:spLocks noChangeArrowheads="1"/>
            </p:cNvSpPr>
            <p:nvPr/>
          </p:nvSpPr>
          <p:spPr bwMode="auto">
            <a:xfrm>
              <a:off x="1344"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grpSp>
        <p:nvGrpSpPr>
          <p:cNvPr id="91" name="Group 43"/>
          <p:cNvGrpSpPr>
            <a:grpSpLocks/>
          </p:cNvGrpSpPr>
          <p:nvPr/>
        </p:nvGrpSpPr>
        <p:grpSpPr bwMode="auto">
          <a:xfrm>
            <a:off x="5175615" y="1268760"/>
            <a:ext cx="914400" cy="533400"/>
            <a:chOff x="1104" y="2736"/>
            <a:chExt cx="576" cy="336"/>
          </a:xfrm>
        </p:grpSpPr>
        <p:sp>
          <p:nvSpPr>
            <p:cNvPr id="92" name="Rectangle 44"/>
            <p:cNvSpPr>
              <a:spLocks noChangeArrowheads="1"/>
            </p:cNvSpPr>
            <p:nvPr/>
          </p:nvSpPr>
          <p:spPr bwMode="auto">
            <a:xfrm>
              <a:off x="110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0</a:t>
              </a:r>
            </a:p>
          </p:txBody>
        </p:sp>
        <p:sp>
          <p:nvSpPr>
            <p:cNvPr id="93" name="Rectangle 45"/>
            <p:cNvSpPr>
              <a:spLocks noChangeArrowheads="1"/>
            </p:cNvSpPr>
            <p:nvPr/>
          </p:nvSpPr>
          <p:spPr bwMode="auto">
            <a:xfrm>
              <a:off x="139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a:t>
              </a:r>
            </a:p>
          </p:txBody>
        </p:sp>
      </p:grpSp>
      <p:sp>
        <p:nvSpPr>
          <p:cNvPr id="94" name="Line 42"/>
          <p:cNvSpPr>
            <a:spLocks noChangeShapeType="1"/>
          </p:cNvSpPr>
          <p:nvPr/>
        </p:nvSpPr>
        <p:spPr bwMode="auto">
          <a:xfrm>
            <a:off x="5399754" y="1802160"/>
            <a:ext cx="0" cy="609600"/>
          </a:xfrm>
          <a:prstGeom prst="line">
            <a:avLst/>
          </a:prstGeom>
          <a:noFill/>
          <a:ln w="2222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95" name="Group 52"/>
          <p:cNvGrpSpPr>
            <a:grpSpLocks/>
          </p:cNvGrpSpPr>
          <p:nvPr/>
        </p:nvGrpSpPr>
        <p:grpSpPr bwMode="auto">
          <a:xfrm>
            <a:off x="6500019" y="2060879"/>
            <a:ext cx="1371600" cy="533400"/>
            <a:chOff x="768" y="336"/>
            <a:chExt cx="864" cy="336"/>
          </a:xfrm>
        </p:grpSpPr>
        <p:sp>
          <p:nvSpPr>
            <p:cNvPr id="96" name="Rectangle 53"/>
            <p:cNvSpPr>
              <a:spLocks noChangeArrowheads="1"/>
            </p:cNvSpPr>
            <p:nvPr/>
          </p:nvSpPr>
          <p:spPr bwMode="auto">
            <a:xfrm>
              <a:off x="768"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1</a:t>
              </a:r>
            </a:p>
          </p:txBody>
        </p:sp>
        <p:sp>
          <p:nvSpPr>
            <p:cNvPr id="97" name="Rectangle 54"/>
            <p:cNvSpPr>
              <a:spLocks noChangeArrowheads="1"/>
            </p:cNvSpPr>
            <p:nvPr/>
          </p:nvSpPr>
          <p:spPr bwMode="auto">
            <a:xfrm>
              <a:off x="1056"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en-US" altLang="zh-CN" sz="2400" dirty="0">
                <a:latin typeface="Tahoma" pitchFamily="34" charset="0"/>
              </a:endParaRPr>
            </a:p>
          </p:txBody>
        </p:sp>
        <p:sp>
          <p:nvSpPr>
            <p:cNvPr id="98" name="Rectangle 55"/>
            <p:cNvSpPr>
              <a:spLocks noChangeArrowheads="1"/>
            </p:cNvSpPr>
            <p:nvPr/>
          </p:nvSpPr>
          <p:spPr bwMode="auto">
            <a:xfrm>
              <a:off x="1344"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99" name="Line 35"/>
          <p:cNvSpPr>
            <a:spLocks noChangeShapeType="1"/>
          </p:cNvSpPr>
          <p:nvPr/>
        </p:nvSpPr>
        <p:spPr bwMode="auto">
          <a:xfrm>
            <a:off x="5979773" y="2327579"/>
            <a:ext cx="5334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 name="矩形 99"/>
          <p:cNvSpPr/>
          <p:nvPr/>
        </p:nvSpPr>
        <p:spPr>
          <a:xfrm>
            <a:off x="7487379" y="2165809"/>
            <a:ext cx="352982" cy="369332"/>
          </a:xfrm>
          <a:prstGeom prst="rect">
            <a:avLst/>
          </a:prstGeom>
        </p:spPr>
        <p:txBody>
          <a:bodyPr wrap="none">
            <a:spAutoFit/>
          </a:bodyPr>
          <a:lstStyle/>
          <a:p>
            <a:pPr algn="ctr"/>
            <a:r>
              <a:rPr kumimoji="1" lang="en-US" altLang="zh-CN" dirty="0">
                <a:latin typeface="Tahoma" pitchFamily="34" charset="0"/>
              </a:rPr>
              <a:t>∧</a:t>
            </a:r>
          </a:p>
        </p:txBody>
      </p:sp>
      <p:sp>
        <p:nvSpPr>
          <p:cNvPr id="101" name="任意多边形 100"/>
          <p:cNvSpPr/>
          <p:nvPr/>
        </p:nvSpPr>
        <p:spPr>
          <a:xfrm>
            <a:off x="3960848" y="2440180"/>
            <a:ext cx="3390351" cy="457901"/>
          </a:xfrm>
          <a:custGeom>
            <a:avLst/>
            <a:gdLst>
              <a:gd name="connsiteX0" fmla="*/ 3211998 w 3390351"/>
              <a:gd name="connsiteY0" fmla="*/ 4201 h 457901"/>
              <a:gd name="connsiteX1" fmla="*/ 3063953 w 3390351"/>
              <a:gd name="connsiteY1" fmla="*/ 439630 h 457901"/>
              <a:gd name="connsiteX2" fmla="*/ 224958 w 3390351"/>
              <a:gd name="connsiteY2" fmla="*/ 343836 h 457901"/>
              <a:gd name="connsiteX3" fmla="*/ 251084 w 3390351"/>
              <a:gd name="connsiteY3" fmla="*/ 47744 h 457901"/>
              <a:gd name="connsiteX4" fmla="*/ 834558 w 3390351"/>
              <a:gd name="connsiteY4" fmla="*/ 4201 h 457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0351" h="457901">
                <a:moveTo>
                  <a:pt x="3211998" y="4201"/>
                </a:moveTo>
                <a:cubicBezTo>
                  <a:pt x="3386895" y="193612"/>
                  <a:pt x="3561793" y="383024"/>
                  <a:pt x="3063953" y="439630"/>
                </a:cubicBezTo>
                <a:cubicBezTo>
                  <a:pt x="2566113" y="496236"/>
                  <a:pt x="693769" y="409150"/>
                  <a:pt x="224958" y="343836"/>
                </a:cubicBezTo>
                <a:cubicBezTo>
                  <a:pt x="-243854" y="278522"/>
                  <a:pt x="149484" y="104350"/>
                  <a:pt x="251084" y="47744"/>
                </a:cubicBezTo>
                <a:cubicBezTo>
                  <a:pt x="352684" y="-8862"/>
                  <a:pt x="593621" y="-2331"/>
                  <a:pt x="834558" y="4201"/>
                </a:cubicBezTo>
              </a:path>
            </a:pathLst>
          </a:cu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 name="Text Box 50"/>
          <p:cNvSpPr txBox="1">
            <a:spLocks noChangeArrowheads="1"/>
          </p:cNvSpPr>
          <p:nvPr/>
        </p:nvSpPr>
        <p:spPr bwMode="auto">
          <a:xfrm>
            <a:off x="1559496" y="5242953"/>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F</a:t>
            </a:r>
          </a:p>
        </p:txBody>
      </p:sp>
      <p:sp>
        <p:nvSpPr>
          <p:cNvPr id="103" name="Line 51"/>
          <p:cNvSpPr>
            <a:spLocks noChangeShapeType="1"/>
          </p:cNvSpPr>
          <p:nvPr/>
        </p:nvSpPr>
        <p:spPr bwMode="auto">
          <a:xfrm flipV="1">
            <a:off x="1900010" y="5467886"/>
            <a:ext cx="428600" cy="7334"/>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04" name="Group 52"/>
          <p:cNvGrpSpPr>
            <a:grpSpLocks/>
          </p:cNvGrpSpPr>
          <p:nvPr/>
        </p:nvGrpSpPr>
        <p:grpSpPr bwMode="auto">
          <a:xfrm>
            <a:off x="2328610" y="5215340"/>
            <a:ext cx="1371600" cy="533400"/>
            <a:chOff x="768" y="336"/>
            <a:chExt cx="864" cy="336"/>
          </a:xfrm>
        </p:grpSpPr>
        <p:sp>
          <p:nvSpPr>
            <p:cNvPr id="105" name="Rectangle 53"/>
            <p:cNvSpPr>
              <a:spLocks noChangeArrowheads="1"/>
            </p:cNvSpPr>
            <p:nvPr/>
          </p:nvSpPr>
          <p:spPr bwMode="auto">
            <a:xfrm>
              <a:off x="768"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1</a:t>
              </a:r>
            </a:p>
          </p:txBody>
        </p:sp>
        <p:sp>
          <p:nvSpPr>
            <p:cNvPr id="106" name="Rectangle 54"/>
            <p:cNvSpPr>
              <a:spLocks noChangeArrowheads="1"/>
            </p:cNvSpPr>
            <p:nvPr/>
          </p:nvSpPr>
          <p:spPr bwMode="auto">
            <a:xfrm>
              <a:off x="1056"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en-US" altLang="zh-CN" sz="2400" dirty="0">
                <a:latin typeface="Tahoma" pitchFamily="34" charset="0"/>
              </a:endParaRPr>
            </a:p>
          </p:txBody>
        </p:sp>
        <p:sp>
          <p:nvSpPr>
            <p:cNvPr id="107" name="Rectangle 55"/>
            <p:cNvSpPr>
              <a:spLocks noChangeArrowheads="1"/>
            </p:cNvSpPr>
            <p:nvPr/>
          </p:nvSpPr>
          <p:spPr bwMode="auto">
            <a:xfrm>
              <a:off x="1344"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108" name="矩形 107"/>
          <p:cNvSpPr/>
          <p:nvPr/>
        </p:nvSpPr>
        <p:spPr>
          <a:xfrm>
            <a:off x="2837919" y="5321117"/>
            <a:ext cx="352982" cy="369332"/>
          </a:xfrm>
          <a:prstGeom prst="rect">
            <a:avLst/>
          </a:prstGeom>
        </p:spPr>
        <p:txBody>
          <a:bodyPr wrap="none">
            <a:spAutoFit/>
          </a:bodyPr>
          <a:lstStyle/>
          <a:p>
            <a:pPr algn="ctr"/>
            <a:r>
              <a:rPr kumimoji="1" lang="en-US" altLang="zh-CN" dirty="0">
                <a:latin typeface="Tahoma" pitchFamily="34" charset="0"/>
              </a:rPr>
              <a:t>∧</a:t>
            </a:r>
          </a:p>
        </p:txBody>
      </p:sp>
      <p:sp>
        <p:nvSpPr>
          <p:cNvPr id="109" name="矩形 108"/>
          <p:cNvSpPr/>
          <p:nvPr/>
        </p:nvSpPr>
        <p:spPr>
          <a:xfrm>
            <a:off x="3295119" y="5328445"/>
            <a:ext cx="352982" cy="369332"/>
          </a:xfrm>
          <a:prstGeom prst="rect">
            <a:avLst/>
          </a:prstGeom>
        </p:spPr>
        <p:txBody>
          <a:bodyPr wrap="none">
            <a:spAutoFit/>
          </a:bodyPr>
          <a:lstStyle/>
          <a:p>
            <a:pPr algn="ctr"/>
            <a:r>
              <a:rPr kumimoji="1" lang="en-US" altLang="zh-CN" dirty="0">
                <a:latin typeface="Tahoma" pitchFamily="34" charset="0"/>
              </a:rPr>
              <a:t>∧</a:t>
            </a:r>
          </a:p>
        </p:txBody>
      </p:sp>
      <p:sp>
        <p:nvSpPr>
          <p:cNvPr id="110" name="Text Box 50"/>
          <p:cNvSpPr txBox="1">
            <a:spLocks noChangeArrowheads="1"/>
          </p:cNvSpPr>
          <p:nvPr/>
        </p:nvSpPr>
        <p:spPr bwMode="auto">
          <a:xfrm>
            <a:off x="1466528" y="5930825"/>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D</a:t>
            </a:r>
          </a:p>
        </p:txBody>
      </p:sp>
      <p:sp>
        <p:nvSpPr>
          <p:cNvPr id="111" name="Line 51"/>
          <p:cNvSpPr>
            <a:spLocks noChangeShapeType="1"/>
          </p:cNvSpPr>
          <p:nvPr/>
        </p:nvSpPr>
        <p:spPr bwMode="auto">
          <a:xfrm>
            <a:off x="1559496" y="6542020"/>
            <a:ext cx="212576"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12" name="Group 52"/>
          <p:cNvGrpSpPr>
            <a:grpSpLocks/>
          </p:cNvGrpSpPr>
          <p:nvPr/>
        </p:nvGrpSpPr>
        <p:grpSpPr bwMode="auto">
          <a:xfrm>
            <a:off x="1772072" y="6237220"/>
            <a:ext cx="1371600" cy="533400"/>
            <a:chOff x="768" y="336"/>
            <a:chExt cx="864" cy="336"/>
          </a:xfrm>
        </p:grpSpPr>
        <p:sp>
          <p:nvSpPr>
            <p:cNvPr id="113" name="Rectangle 53"/>
            <p:cNvSpPr>
              <a:spLocks noChangeArrowheads="1"/>
            </p:cNvSpPr>
            <p:nvPr/>
          </p:nvSpPr>
          <p:spPr bwMode="auto">
            <a:xfrm>
              <a:off x="768"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114" name="Rectangle 54"/>
            <p:cNvSpPr>
              <a:spLocks noChangeArrowheads="1"/>
            </p:cNvSpPr>
            <p:nvPr/>
          </p:nvSpPr>
          <p:spPr bwMode="auto">
            <a:xfrm>
              <a:off x="1056"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sp>
          <p:nvSpPr>
            <p:cNvPr id="115" name="Rectangle 55"/>
            <p:cNvSpPr>
              <a:spLocks noChangeArrowheads="1"/>
            </p:cNvSpPr>
            <p:nvPr/>
          </p:nvSpPr>
          <p:spPr bwMode="auto">
            <a:xfrm>
              <a:off x="1344"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116" name="Line 56"/>
          <p:cNvSpPr>
            <a:spLocks noChangeShapeType="1"/>
          </p:cNvSpPr>
          <p:nvPr/>
        </p:nvSpPr>
        <p:spPr bwMode="auto">
          <a:xfrm>
            <a:off x="3014410" y="6542020"/>
            <a:ext cx="273278"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17" name="Group 57"/>
          <p:cNvGrpSpPr>
            <a:grpSpLocks/>
          </p:cNvGrpSpPr>
          <p:nvPr/>
        </p:nvGrpSpPr>
        <p:grpSpPr bwMode="auto">
          <a:xfrm>
            <a:off x="3287688" y="6237220"/>
            <a:ext cx="1371600" cy="533400"/>
            <a:chOff x="1920" y="2160"/>
            <a:chExt cx="864" cy="336"/>
          </a:xfrm>
        </p:grpSpPr>
        <p:sp>
          <p:nvSpPr>
            <p:cNvPr id="118" name="Rectangle 58"/>
            <p:cNvSpPr>
              <a:spLocks noChangeArrowheads="1"/>
            </p:cNvSpPr>
            <p:nvPr/>
          </p:nvSpPr>
          <p:spPr bwMode="auto">
            <a:xfrm>
              <a:off x="1920"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119" name="Rectangle 59"/>
            <p:cNvSpPr>
              <a:spLocks noChangeArrowheads="1"/>
            </p:cNvSpPr>
            <p:nvPr/>
          </p:nvSpPr>
          <p:spPr bwMode="auto">
            <a:xfrm>
              <a:off x="2208"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120" name="Rectangle 60"/>
            <p:cNvSpPr>
              <a:spLocks noChangeArrowheads="1"/>
            </p:cNvSpPr>
            <p:nvPr/>
          </p:nvSpPr>
          <p:spPr bwMode="auto">
            <a:xfrm>
              <a:off x="2496"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121" name="Line 63"/>
          <p:cNvSpPr>
            <a:spLocks noChangeShapeType="1"/>
          </p:cNvSpPr>
          <p:nvPr/>
        </p:nvSpPr>
        <p:spPr bwMode="auto">
          <a:xfrm>
            <a:off x="4430688" y="6542020"/>
            <a:ext cx="442404"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22" name="Group 64"/>
          <p:cNvGrpSpPr>
            <a:grpSpLocks/>
          </p:cNvGrpSpPr>
          <p:nvPr/>
        </p:nvGrpSpPr>
        <p:grpSpPr bwMode="auto">
          <a:xfrm>
            <a:off x="4873092" y="6237220"/>
            <a:ext cx="1371600" cy="533400"/>
            <a:chOff x="3024" y="336"/>
            <a:chExt cx="864" cy="336"/>
          </a:xfrm>
        </p:grpSpPr>
        <p:sp>
          <p:nvSpPr>
            <p:cNvPr id="123" name="Rectangle 65"/>
            <p:cNvSpPr>
              <a:spLocks noChangeArrowheads="1"/>
            </p:cNvSpPr>
            <p:nvPr/>
          </p:nvSpPr>
          <p:spPr bwMode="auto">
            <a:xfrm>
              <a:off x="3024"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124" name="Rectangle 66"/>
            <p:cNvSpPr>
              <a:spLocks noChangeArrowheads="1"/>
            </p:cNvSpPr>
            <p:nvPr/>
          </p:nvSpPr>
          <p:spPr bwMode="auto">
            <a:xfrm>
              <a:off x="3312"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125" name="Rectangle 67"/>
            <p:cNvSpPr>
              <a:spLocks noChangeArrowheads="1"/>
            </p:cNvSpPr>
            <p:nvPr/>
          </p:nvSpPr>
          <p:spPr bwMode="auto">
            <a:xfrm>
              <a:off x="3600"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grpSp>
      <p:sp>
        <p:nvSpPr>
          <p:cNvPr id="126" name="Text Box 61"/>
          <p:cNvSpPr txBox="1">
            <a:spLocks noChangeArrowheads="1"/>
          </p:cNvSpPr>
          <p:nvPr/>
        </p:nvSpPr>
        <p:spPr bwMode="auto">
          <a:xfrm>
            <a:off x="3882492" y="5751965"/>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(B,C)</a:t>
            </a:r>
          </a:p>
        </p:txBody>
      </p:sp>
      <p:sp>
        <p:nvSpPr>
          <p:cNvPr id="127" name="Text Box 68"/>
          <p:cNvSpPr txBox="1">
            <a:spLocks noChangeArrowheads="1"/>
          </p:cNvSpPr>
          <p:nvPr/>
        </p:nvSpPr>
        <p:spPr bwMode="auto">
          <a:xfrm>
            <a:off x="5537122" y="5724095"/>
            <a:ext cx="84691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(C)</a:t>
            </a:r>
          </a:p>
        </p:txBody>
      </p:sp>
      <p:sp>
        <p:nvSpPr>
          <p:cNvPr id="2" name="任意多边形 1"/>
          <p:cNvSpPr/>
          <p:nvPr/>
        </p:nvSpPr>
        <p:spPr>
          <a:xfrm>
            <a:off x="2174632" y="3525249"/>
            <a:ext cx="7007469" cy="2862776"/>
          </a:xfrm>
          <a:custGeom>
            <a:avLst/>
            <a:gdLst>
              <a:gd name="connsiteX0" fmla="*/ 1802423 w 7007469"/>
              <a:gd name="connsiteY0" fmla="*/ 2862776 h 2862776"/>
              <a:gd name="connsiteX1" fmla="*/ 1776046 w 7007469"/>
              <a:gd name="connsiteY1" fmla="*/ 2783646 h 2862776"/>
              <a:gd name="connsiteX2" fmla="*/ 1758461 w 7007469"/>
              <a:gd name="connsiteY2" fmla="*/ 2704515 h 2862776"/>
              <a:gd name="connsiteX3" fmla="*/ 1740877 w 7007469"/>
              <a:gd name="connsiteY3" fmla="*/ 2669346 h 2862776"/>
              <a:gd name="connsiteX4" fmla="*/ 1723292 w 7007469"/>
              <a:gd name="connsiteY4" fmla="*/ 2625384 h 2862776"/>
              <a:gd name="connsiteX5" fmla="*/ 1714500 w 7007469"/>
              <a:gd name="connsiteY5" fmla="*/ 2590215 h 2862776"/>
              <a:gd name="connsiteX6" fmla="*/ 1705707 w 7007469"/>
              <a:gd name="connsiteY6" fmla="*/ 2563838 h 2862776"/>
              <a:gd name="connsiteX7" fmla="*/ 1714500 w 7007469"/>
              <a:gd name="connsiteY7" fmla="*/ 2449538 h 2862776"/>
              <a:gd name="connsiteX8" fmla="*/ 1732084 w 7007469"/>
              <a:gd name="connsiteY8" fmla="*/ 2370407 h 2862776"/>
              <a:gd name="connsiteX9" fmla="*/ 1749669 w 7007469"/>
              <a:gd name="connsiteY9" fmla="*/ 2317653 h 2862776"/>
              <a:gd name="connsiteX10" fmla="*/ 1758461 w 7007469"/>
              <a:gd name="connsiteY10" fmla="*/ 2273692 h 2862776"/>
              <a:gd name="connsiteX11" fmla="*/ 1776046 w 7007469"/>
              <a:gd name="connsiteY11" fmla="*/ 2220938 h 2862776"/>
              <a:gd name="connsiteX12" fmla="*/ 1784838 w 7007469"/>
              <a:gd name="connsiteY12" fmla="*/ 2185769 h 2862776"/>
              <a:gd name="connsiteX13" fmla="*/ 1776046 w 7007469"/>
              <a:gd name="connsiteY13" fmla="*/ 1974753 h 2862776"/>
              <a:gd name="connsiteX14" fmla="*/ 1758461 w 7007469"/>
              <a:gd name="connsiteY14" fmla="*/ 1904415 h 2862776"/>
              <a:gd name="connsiteX15" fmla="*/ 1732084 w 7007469"/>
              <a:gd name="connsiteY15" fmla="*/ 1834076 h 2862776"/>
              <a:gd name="connsiteX16" fmla="*/ 1714500 w 7007469"/>
              <a:gd name="connsiteY16" fmla="*/ 1763738 h 2862776"/>
              <a:gd name="connsiteX17" fmla="*/ 1705707 w 7007469"/>
              <a:gd name="connsiteY17" fmla="*/ 1719776 h 2862776"/>
              <a:gd name="connsiteX18" fmla="*/ 1696915 w 7007469"/>
              <a:gd name="connsiteY18" fmla="*/ 1693400 h 2862776"/>
              <a:gd name="connsiteX19" fmla="*/ 1688123 w 7007469"/>
              <a:gd name="connsiteY19" fmla="*/ 1649438 h 2862776"/>
              <a:gd name="connsiteX20" fmla="*/ 1679331 w 7007469"/>
              <a:gd name="connsiteY20" fmla="*/ 1596684 h 2862776"/>
              <a:gd name="connsiteX21" fmla="*/ 1661746 w 7007469"/>
              <a:gd name="connsiteY21" fmla="*/ 1543930 h 2862776"/>
              <a:gd name="connsiteX22" fmla="*/ 1635369 w 7007469"/>
              <a:gd name="connsiteY22" fmla="*/ 1491176 h 2862776"/>
              <a:gd name="connsiteX23" fmla="*/ 1582615 w 7007469"/>
              <a:gd name="connsiteY23" fmla="*/ 1456007 h 2862776"/>
              <a:gd name="connsiteX24" fmla="*/ 1547446 w 7007469"/>
              <a:gd name="connsiteY24" fmla="*/ 1429630 h 2862776"/>
              <a:gd name="connsiteX25" fmla="*/ 1494692 w 7007469"/>
              <a:gd name="connsiteY25" fmla="*/ 1412046 h 2862776"/>
              <a:gd name="connsiteX26" fmla="*/ 1468315 w 7007469"/>
              <a:gd name="connsiteY26" fmla="*/ 1403253 h 2862776"/>
              <a:gd name="connsiteX27" fmla="*/ 1380392 w 7007469"/>
              <a:gd name="connsiteY27" fmla="*/ 1385669 h 2862776"/>
              <a:gd name="connsiteX28" fmla="*/ 1283677 w 7007469"/>
              <a:gd name="connsiteY28" fmla="*/ 1368084 h 2862776"/>
              <a:gd name="connsiteX29" fmla="*/ 1090246 w 7007469"/>
              <a:gd name="connsiteY29" fmla="*/ 1341707 h 2862776"/>
              <a:gd name="connsiteX30" fmla="*/ 914400 w 7007469"/>
              <a:gd name="connsiteY30" fmla="*/ 1324123 h 2862776"/>
              <a:gd name="connsiteX31" fmla="*/ 870438 w 7007469"/>
              <a:gd name="connsiteY31" fmla="*/ 1315330 h 2862776"/>
              <a:gd name="connsiteX32" fmla="*/ 782515 w 7007469"/>
              <a:gd name="connsiteY32" fmla="*/ 1297746 h 2862776"/>
              <a:gd name="connsiteX33" fmla="*/ 738554 w 7007469"/>
              <a:gd name="connsiteY33" fmla="*/ 1288953 h 2862776"/>
              <a:gd name="connsiteX34" fmla="*/ 694592 w 7007469"/>
              <a:gd name="connsiteY34" fmla="*/ 1271369 h 2862776"/>
              <a:gd name="connsiteX35" fmla="*/ 597877 w 7007469"/>
              <a:gd name="connsiteY35" fmla="*/ 1253784 h 2862776"/>
              <a:gd name="connsiteX36" fmla="*/ 562707 w 7007469"/>
              <a:gd name="connsiteY36" fmla="*/ 1236200 h 2862776"/>
              <a:gd name="connsiteX37" fmla="*/ 501161 w 7007469"/>
              <a:gd name="connsiteY37" fmla="*/ 1218615 h 2862776"/>
              <a:gd name="connsiteX38" fmla="*/ 422031 w 7007469"/>
              <a:gd name="connsiteY38" fmla="*/ 1174653 h 2862776"/>
              <a:gd name="connsiteX39" fmla="*/ 386861 w 7007469"/>
              <a:gd name="connsiteY39" fmla="*/ 1157069 h 2862776"/>
              <a:gd name="connsiteX40" fmla="*/ 342900 w 7007469"/>
              <a:gd name="connsiteY40" fmla="*/ 1121900 h 2862776"/>
              <a:gd name="connsiteX41" fmla="*/ 290146 w 7007469"/>
              <a:gd name="connsiteY41" fmla="*/ 1069146 h 2862776"/>
              <a:gd name="connsiteX42" fmla="*/ 263769 w 7007469"/>
              <a:gd name="connsiteY42" fmla="*/ 1042769 h 2862776"/>
              <a:gd name="connsiteX43" fmla="*/ 211015 w 7007469"/>
              <a:gd name="connsiteY43" fmla="*/ 981223 h 2862776"/>
              <a:gd name="connsiteX44" fmla="*/ 167054 w 7007469"/>
              <a:gd name="connsiteY44" fmla="*/ 928469 h 2862776"/>
              <a:gd name="connsiteX45" fmla="*/ 123092 w 7007469"/>
              <a:gd name="connsiteY45" fmla="*/ 866923 h 2862776"/>
              <a:gd name="connsiteX46" fmla="*/ 96715 w 7007469"/>
              <a:gd name="connsiteY46" fmla="*/ 840546 h 2862776"/>
              <a:gd name="connsiteX47" fmla="*/ 87923 w 7007469"/>
              <a:gd name="connsiteY47" fmla="*/ 814169 h 2862776"/>
              <a:gd name="connsiteX48" fmla="*/ 61546 w 7007469"/>
              <a:gd name="connsiteY48" fmla="*/ 770207 h 2862776"/>
              <a:gd name="connsiteX49" fmla="*/ 35169 w 7007469"/>
              <a:gd name="connsiteY49" fmla="*/ 699869 h 2862776"/>
              <a:gd name="connsiteX50" fmla="*/ 17584 w 7007469"/>
              <a:gd name="connsiteY50" fmla="*/ 620738 h 2862776"/>
              <a:gd name="connsiteX51" fmla="*/ 0 w 7007469"/>
              <a:gd name="connsiteY51" fmla="*/ 550400 h 2862776"/>
              <a:gd name="connsiteX52" fmla="*/ 17584 w 7007469"/>
              <a:gd name="connsiteY52" fmla="*/ 374553 h 2862776"/>
              <a:gd name="connsiteX53" fmla="*/ 52754 w 7007469"/>
              <a:gd name="connsiteY53" fmla="*/ 321800 h 2862776"/>
              <a:gd name="connsiteX54" fmla="*/ 70338 w 7007469"/>
              <a:gd name="connsiteY54" fmla="*/ 295423 h 2862776"/>
              <a:gd name="connsiteX55" fmla="*/ 211015 w 7007469"/>
              <a:gd name="connsiteY55" fmla="*/ 216292 h 2862776"/>
              <a:gd name="connsiteX56" fmla="*/ 246184 w 7007469"/>
              <a:gd name="connsiteY56" fmla="*/ 207500 h 2862776"/>
              <a:gd name="connsiteX57" fmla="*/ 281354 w 7007469"/>
              <a:gd name="connsiteY57" fmla="*/ 189915 h 2862776"/>
              <a:gd name="connsiteX58" fmla="*/ 316523 w 7007469"/>
              <a:gd name="connsiteY58" fmla="*/ 181123 h 2862776"/>
              <a:gd name="connsiteX59" fmla="*/ 342900 w 7007469"/>
              <a:gd name="connsiteY59" fmla="*/ 172330 h 2862776"/>
              <a:gd name="connsiteX60" fmla="*/ 378069 w 7007469"/>
              <a:gd name="connsiteY60" fmla="*/ 163538 h 2862776"/>
              <a:gd name="connsiteX61" fmla="*/ 404446 w 7007469"/>
              <a:gd name="connsiteY61" fmla="*/ 154746 h 2862776"/>
              <a:gd name="connsiteX62" fmla="*/ 439615 w 7007469"/>
              <a:gd name="connsiteY62" fmla="*/ 145953 h 2862776"/>
              <a:gd name="connsiteX63" fmla="*/ 501161 w 7007469"/>
              <a:gd name="connsiteY63" fmla="*/ 119576 h 2862776"/>
              <a:gd name="connsiteX64" fmla="*/ 562707 w 7007469"/>
              <a:gd name="connsiteY64" fmla="*/ 101992 h 2862776"/>
              <a:gd name="connsiteX65" fmla="*/ 615461 w 7007469"/>
              <a:gd name="connsiteY65" fmla="*/ 84407 h 2862776"/>
              <a:gd name="connsiteX66" fmla="*/ 677007 w 7007469"/>
              <a:gd name="connsiteY66" fmla="*/ 75615 h 2862776"/>
              <a:gd name="connsiteX67" fmla="*/ 747346 w 7007469"/>
              <a:gd name="connsiteY67" fmla="*/ 58030 h 2862776"/>
              <a:gd name="connsiteX68" fmla="*/ 782515 w 7007469"/>
              <a:gd name="connsiteY68" fmla="*/ 49238 h 2862776"/>
              <a:gd name="connsiteX69" fmla="*/ 1019907 w 7007469"/>
              <a:gd name="connsiteY69" fmla="*/ 31653 h 2862776"/>
              <a:gd name="connsiteX70" fmla="*/ 2066192 w 7007469"/>
              <a:gd name="connsiteY70" fmla="*/ 31653 h 2862776"/>
              <a:gd name="connsiteX71" fmla="*/ 2277207 w 7007469"/>
              <a:gd name="connsiteY71" fmla="*/ 49238 h 2862776"/>
              <a:gd name="connsiteX72" fmla="*/ 3429000 w 7007469"/>
              <a:gd name="connsiteY72" fmla="*/ 40446 h 2862776"/>
              <a:gd name="connsiteX73" fmla="*/ 3710354 w 7007469"/>
              <a:gd name="connsiteY73" fmla="*/ 49238 h 2862776"/>
              <a:gd name="connsiteX74" fmla="*/ 3763107 w 7007469"/>
              <a:gd name="connsiteY74" fmla="*/ 58030 h 2862776"/>
              <a:gd name="connsiteX75" fmla="*/ 3912577 w 7007469"/>
              <a:gd name="connsiteY75" fmla="*/ 66823 h 2862776"/>
              <a:gd name="connsiteX76" fmla="*/ 4114800 w 7007469"/>
              <a:gd name="connsiteY76" fmla="*/ 84407 h 2862776"/>
              <a:gd name="connsiteX77" fmla="*/ 4659923 w 7007469"/>
              <a:gd name="connsiteY77" fmla="*/ 101992 h 2862776"/>
              <a:gd name="connsiteX78" fmla="*/ 6022731 w 7007469"/>
              <a:gd name="connsiteY78" fmla="*/ 119576 h 2862776"/>
              <a:gd name="connsiteX79" fmla="*/ 6260123 w 7007469"/>
              <a:gd name="connsiteY79" fmla="*/ 110784 h 2862776"/>
              <a:gd name="connsiteX80" fmla="*/ 6418384 w 7007469"/>
              <a:gd name="connsiteY80" fmla="*/ 93200 h 2862776"/>
              <a:gd name="connsiteX81" fmla="*/ 6761284 w 7007469"/>
              <a:gd name="connsiteY81" fmla="*/ 84407 h 2862776"/>
              <a:gd name="connsiteX82" fmla="*/ 7007469 w 7007469"/>
              <a:gd name="connsiteY82" fmla="*/ 75615 h 2862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007469" h="2862776">
                <a:moveTo>
                  <a:pt x="1802423" y="2862776"/>
                </a:moveTo>
                <a:cubicBezTo>
                  <a:pt x="1793631" y="2836399"/>
                  <a:pt x="1783488" y="2810435"/>
                  <a:pt x="1776046" y="2783646"/>
                </a:cubicBezTo>
                <a:cubicBezTo>
                  <a:pt x="1768814" y="2757611"/>
                  <a:pt x="1766407" y="2730341"/>
                  <a:pt x="1758461" y="2704515"/>
                </a:cubicBezTo>
                <a:cubicBezTo>
                  <a:pt x="1754607" y="2691988"/>
                  <a:pt x="1746200" y="2681323"/>
                  <a:pt x="1740877" y="2669346"/>
                </a:cubicBezTo>
                <a:cubicBezTo>
                  <a:pt x="1734467" y="2654923"/>
                  <a:pt x="1728283" y="2640357"/>
                  <a:pt x="1723292" y="2625384"/>
                </a:cubicBezTo>
                <a:cubicBezTo>
                  <a:pt x="1719471" y="2613920"/>
                  <a:pt x="1717820" y="2601834"/>
                  <a:pt x="1714500" y="2590215"/>
                </a:cubicBezTo>
                <a:cubicBezTo>
                  <a:pt x="1711954" y="2581304"/>
                  <a:pt x="1708638" y="2572630"/>
                  <a:pt x="1705707" y="2563838"/>
                </a:cubicBezTo>
                <a:cubicBezTo>
                  <a:pt x="1708638" y="2525738"/>
                  <a:pt x="1710280" y="2487517"/>
                  <a:pt x="1714500" y="2449538"/>
                </a:cubicBezTo>
                <a:cubicBezTo>
                  <a:pt x="1715976" y="2436250"/>
                  <a:pt x="1727499" y="2385690"/>
                  <a:pt x="1732084" y="2370407"/>
                </a:cubicBezTo>
                <a:cubicBezTo>
                  <a:pt x="1737410" y="2352653"/>
                  <a:pt x="1746034" y="2335829"/>
                  <a:pt x="1749669" y="2317653"/>
                </a:cubicBezTo>
                <a:cubicBezTo>
                  <a:pt x="1752600" y="2302999"/>
                  <a:pt x="1754529" y="2288109"/>
                  <a:pt x="1758461" y="2273692"/>
                </a:cubicBezTo>
                <a:cubicBezTo>
                  <a:pt x="1763338" y="2255809"/>
                  <a:pt x="1771551" y="2238920"/>
                  <a:pt x="1776046" y="2220938"/>
                </a:cubicBezTo>
                <a:lnTo>
                  <a:pt x="1784838" y="2185769"/>
                </a:lnTo>
                <a:cubicBezTo>
                  <a:pt x="1781907" y="2115430"/>
                  <a:pt x="1782617" y="2044845"/>
                  <a:pt x="1776046" y="1974753"/>
                </a:cubicBezTo>
                <a:cubicBezTo>
                  <a:pt x="1773790" y="1950691"/>
                  <a:pt x="1764323" y="1927861"/>
                  <a:pt x="1758461" y="1904415"/>
                </a:cubicBezTo>
                <a:cubicBezTo>
                  <a:pt x="1746489" y="1856528"/>
                  <a:pt x="1755074" y="1880056"/>
                  <a:pt x="1732084" y="1834076"/>
                </a:cubicBezTo>
                <a:cubicBezTo>
                  <a:pt x="1726223" y="1810630"/>
                  <a:pt x="1719240" y="1787436"/>
                  <a:pt x="1714500" y="1763738"/>
                </a:cubicBezTo>
                <a:cubicBezTo>
                  <a:pt x="1711569" y="1749084"/>
                  <a:pt x="1709332" y="1734274"/>
                  <a:pt x="1705707" y="1719776"/>
                </a:cubicBezTo>
                <a:cubicBezTo>
                  <a:pt x="1703459" y="1710785"/>
                  <a:pt x="1699163" y="1702391"/>
                  <a:pt x="1696915" y="1693400"/>
                </a:cubicBezTo>
                <a:cubicBezTo>
                  <a:pt x="1693291" y="1678902"/>
                  <a:pt x="1690796" y="1664141"/>
                  <a:pt x="1688123" y="1649438"/>
                </a:cubicBezTo>
                <a:cubicBezTo>
                  <a:pt x="1684934" y="1631898"/>
                  <a:pt x="1683655" y="1613979"/>
                  <a:pt x="1679331" y="1596684"/>
                </a:cubicBezTo>
                <a:cubicBezTo>
                  <a:pt x="1674835" y="1578702"/>
                  <a:pt x="1667608" y="1561515"/>
                  <a:pt x="1661746" y="1543930"/>
                </a:cubicBezTo>
                <a:cubicBezTo>
                  <a:pt x="1655474" y="1525114"/>
                  <a:pt x="1651412" y="1505213"/>
                  <a:pt x="1635369" y="1491176"/>
                </a:cubicBezTo>
                <a:cubicBezTo>
                  <a:pt x="1619464" y="1477259"/>
                  <a:pt x="1599522" y="1468688"/>
                  <a:pt x="1582615" y="1456007"/>
                </a:cubicBezTo>
                <a:cubicBezTo>
                  <a:pt x="1570892" y="1447215"/>
                  <a:pt x="1560553" y="1436183"/>
                  <a:pt x="1547446" y="1429630"/>
                </a:cubicBezTo>
                <a:cubicBezTo>
                  <a:pt x="1530867" y="1421341"/>
                  <a:pt x="1512277" y="1417908"/>
                  <a:pt x="1494692" y="1412046"/>
                </a:cubicBezTo>
                <a:cubicBezTo>
                  <a:pt x="1485900" y="1409115"/>
                  <a:pt x="1477403" y="1405071"/>
                  <a:pt x="1468315" y="1403253"/>
                </a:cubicBezTo>
                <a:cubicBezTo>
                  <a:pt x="1439007" y="1397392"/>
                  <a:pt x="1408746" y="1395121"/>
                  <a:pt x="1380392" y="1385669"/>
                </a:cubicBezTo>
                <a:cubicBezTo>
                  <a:pt x="1318233" y="1364948"/>
                  <a:pt x="1397288" y="1389385"/>
                  <a:pt x="1283677" y="1368084"/>
                </a:cubicBezTo>
                <a:cubicBezTo>
                  <a:pt x="1114065" y="1336283"/>
                  <a:pt x="1338489" y="1359440"/>
                  <a:pt x="1090246" y="1341707"/>
                </a:cubicBezTo>
                <a:cubicBezTo>
                  <a:pt x="986480" y="1320955"/>
                  <a:pt x="1110139" y="1343697"/>
                  <a:pt x="914400" y="1324123"/>
                </a:cubicBezTo>
                <a:cubicBezTo>
                  <a:pt x="899530" y="1322636"/>
                  <a:pt x="885141" y="1318003"/>
                  <a:pt x="870438" y="1315330"/>
                </a:cubicBezTo>
                <a:cubicBezTo>
                  <a:pt x="728320" y="1289490"/>
                  <a:pt x="887473" y="1321071"/>
                  <a:pt x="782515" y="1297746"/>
                </a:cubicBezTo>
                <a:cubicBezTo>
                  <a:pt x="767927" y="1294504"/>
                  <a:pt x="752868" y="1293247"/>
                  <a:pt x="738554" y="1288953"/>
                </a:cubicBezTo>
                <a:cubicBezTo>
                  <a:pt x="723437" y="1284418"/>
                  <a:pt x="709904" y="1275197"/>
                  <a:pt x="694592" y="1271369"/>
                </a:cubicBezTo>
                <a:cubicBezTo>
                  <a:pt x="662803" y="1263422"/>
                  <a:pt x="630115" y="1259646"/>
                  <a:pt x="597877" y="1253784"/>
                </a:cubicBezTo>
                <a:cubicBezTo>
                  <a:pt x="586154" y="1247923"/>
                  <a:pt x="574754" y="1241363"/>
                  <a:pt x="562707" y="1236200"/>
                </a:cubicBezTo>
                <a:cubicBezTo>
                  <a:pt x="545039" y="1228628"/>
                  <a:pt x="519020" y="1223080"/>
                  <a:pt x="501161" y="1218615"/>
                </a:cubicBezTo>
                <a:cubicBezTo>
                  <a:pt x="416811" y="1176439"/>
                  <a:pt x="521426" y="1229872"/>
                  <a:pt x="422031" y="1174653"/>
                </a:cubicBezTo>
                <a:cubicBezTo>
                  <a:pt x="410573" y="1168288"/>
                  <a:pt x="398584" y="1162930"/>
                  <a:pt x="386861" y="1157069"/>
                </a:cubicBezTo>
                <a:cubicBezTo>
                  <a:pt x="338597" y="1084670"/>
                  <a:pt x="401701" y="1167634"/>
                  <a:pt x="342900" y="1121900"/>
                </a:cubicBezTo>
                <a:cubicBezTo>
                  <a:pt x="323270" y="1106632"/>
                  <a:pt x="307731" y="1086731"/>
                  <a:pt x="290146" y="1069146"/>
                </a:cubicBezTo>
                <a:cubicBezTo>
                  <a:pt x="281354" y="1060354"/>
                  <a:pt x="270666" y="1053115"/>
                  <a:pt x="263769" y="1042769"/>
                </a:cubicBezTo>
                <a:cubicBezTo>
                  <a:pt x="229221" y="990948"/>
                  <a:pt x="265842" y="1042142"/>
                  <a:pt x="211015" y="981223"/>
                </a:cubicBezTo>
                <a:cubicBezTo>
                  <a:pt x="195702" y="964209"/>
                  <a:pt x="181107" y="946537"/>
                  <a:pt x="167054" y="928469"/>
                </a:cubicBezTo>
                <a:cubicBezTo>
                  <a:pt x="128094" y="878378"/>
                  <a:pt x="174178" y="926523"/>
                  <a:pt x="123092" y="866923"/>
                </a:cubicBezTo>
                <a:cubicBezTo>
                  <a:pt x="115000" y="857482"/>
                  <a:pt x="105507" y="849338"/>
                  <a:pt x="96715" y="840546"/>
                </a:cubicBezTo>
                <a:cubicBezTo>
                  <a:pt x="93784" y="831754"/>
                  <a:pt x="92068" y="822458"/>
                  <a:pt x="87923" y="814169"/>
                </a:cubicBezTo>
                <a:cubicBezTo>
                  <a:pt x="80281" y="798884"/>
                  <a:pt x="67893" y="786074"/>
                  <a:pt x="61546" y="770207"/>
                </a:cubicBezTo>
                <a:cubicBezTo>
                  <a:pt x="23521" y="675144"/>
                  <a:pt x="80249" y="767488"/>
                  <a:pt x="35169" y="699869"/>
                </a:cubicBezTo>
                <a:cubicBezTo>
                  <a:pt x="29307" y="673492"/>
                  <a:pt x="23773" y="647040"/>
                  <a:pt x="17584" y="620738"/>
                </a:cubicBezTo>
                <a:cubicBezTo>
                  <a:pt x="12049" y="597213"/>
                  <a:pt x="0" y="550400"/>
                  <a:pt x="0" y="550400"/>
                </a:cubicBezTo>
                <a:cubicBezTo>
                  <a:pt x="5861" y="491784"/>
                  <a:pt x="4338" y="431952"/>
                  <a:pt x="17584" y="374553"/>
                </a:cubicBezTo>
                <a:cubicBezTo>
                  <a:pt x="22336" y="353960"/>
                  <a:pt x="41031" y="339384"/>
                  <a:pt x="52754" y="321800"/>
                </a:cubicBezTo>
                <a:cubicBezTo>
                  <a:pt x="58616" y="313008"/>
                  <a:pt x="61546" y="301284"/>
                  <a:pt x="70338" y="295423"/>
                </a:cubicBezTo>
                <a:cubicBezTo>
                  <a:pt x="140439" y="248689"/>
                  <a:pt x="139764" y="242201"/>
                  <a:pt x="211015" y="216292"/>
                </a:cubicBezTo>
                <a:cubicBezTo>
                  <a:pt x="222371" y="212162"/>
                  <a:pt x="234461" y="210431"/>
                  <a:pt x="246184" y="207500"/>
                </a:cubicBezTo>
                <a:cubicBezTo>
                  <a:pt x="257907" y="201638"/>
                  <a:pt x="269081" y="194517"/>
                  <a:pt x="281354" y="189915"/>
                </a:cubicBezTo>
                <a:cubicBezTo>
                  <a:pt x="292668" y="185672"/>
                  <a:pt x="304904" y="184443"/>
                  <a:pt x="316523" y="181123"/>
                </a:cubicBezTo>
                <a:cubicBezTo>
                  <a:pt x="325434" y="178577"/>
                  <a:pt x="333989" y="174876"/>
                  <a:pt x="342900" y="172330"/>
                </a:cubicBezTo>
                <a:cubicBezTo>
                  <a:pt x="354519" y="169010"/>
                  <a:pt x="366450" y="166858"/>
                  <a:pt x="378069" y="163538"/>
                </a:cubicBezTo>
                <a:cubicBezTo>
                  <a:pt x="386980" y="160992"/>
                  <a:pt x="395535" y="157292"/>
                  <a:pt x="404446" y="154746"/>
                </a:cubicBezTo>
                <a:cubicBezTo>
                  <a:pt x="416065" y="151426"/>
                  <a:pt x="427996" y="149273"/>
                  <a:pt x="439615" y="145953"/>
                </a:cubicBezTo>
                <a:cubicBezTo>
                  <a:pt x="480862" y="134168"/>
                  <a:pt x="454258" y="139677"/>
                  <a:pt x="501161" y="119576"/>
                </a:cubicBezTo>
                <a:cubicBezTo>
                  <a:pt x="524141" y="109727"/>
                  <a:pt x="537923" y="109427"/>
                  <a:pt x="562707" y="101992"/>
                </a:cubicBezTo>
                <a:cubicBezTo>
                  <a:pt x="580461" y="96666"/>
                  <a:pt x="597111" y="87028"/>
                  <a:pt x="615461" y="84407"/>
                </a:cubicBezTo>
                <a:cubicBezTo>
                  <a:pt x="635976" y="81476"/>
                  <a:pt x="656686" y="79679"/>
                  <a:pt x="677007" y="75615"/>
                </a:cubicBezTo>
                <a:cubicBezTo>
                  <a:pt x="700706" y="70875"/>
                  <a:pt x="723900" y="63892"/>
                  <a:pt x="747346" y="58030"/>
                </a:cubicBezTo>
                <a:cubicBezTo>
                  <a:pt x="759069" y="55099"/>
                  <a:pt x="770464" y="50131"/>
                  <a:pt x="782515" y="49238"/>
                </a:cubicBezTo>
                <a:lnTo>
                  <a:pt x="1019907" y="31653"/>
                </a:lnTo>
                <a:cubicBezTo>
                  <a:pt x="1397321" y="-31247"/>
                  <a:pt x="1092430" y="16438"/>
                  <a:pt x="2066192" y="31653"/>
                </a:cubicBezTo>
                <a:cubicBezTo>
                  <a:pt x="2139893" y="32805"/>
                  <a:pt x="2205284" y="41247"/>
                  <a:pt x="2277207" y="49238"/>
                </a:cubicBezTo>
                <a:lnTo>
                  <a:pt x="3429000" y="40446"/>
                </a:lnTo>
                <a:cubicBezTo>
                  <a:pt x="3522830" y="40446"/>
                  <a:pt x="3616653" y="44307"/>
                  <a:pt x="3710354" y="49238"/>
                </a:cubicBezTo>
                <a:cubicBezTo>
                  <a:pt x="3728156" y="50175"/>
                  <a:pt x="3745347" y="56486"/>
                  <a:pt x="3763107" y="58030"/>
                </a:cubicBezTo>
                <a:cubicBezTo>
                  <a:pt x="3812829" y="62354"/>
                  <a:pt x="3862754" y="63892"/>
                  <a:pt x="3912577" y="66823"/>
                </a:cubicBezTo>
                <a:cubicBezTo>
                  <a:pt x="4010123" y="86332"/>
                  <a:pt x="3935338" y="73530"/>
                  <a:pt x="4114800" y="84407"/>
                </a:cubicBezTo>
                <a:cubicBezTo>
                  <a:pt x="4425690" y="103249"/>
                  <a:pt x="4072754" y="89499"/>
                  <a:pt x="4659923" y="101992"/>
                </a:cubicBezTo>
                <a:cubicBezTo>
                  <a:pt x="5208959" y="126947"/>
                  <a:pt x="4992919" y="119576"/>
                  <a:pt x="6022731" y="119576"/>
                </a:cubicBezTo>
                <a:cubicBezTo>
                  <a:pt x="6101916" y="119576"/>
                  <a:pt x="6180992" y="113715"/>
                  <a:pt x="6260123" y="110784"/>
                </a:cubicBezTo>
                <a:cubicBezTo>
                  <a:pt x="6296841" y="106194"/>
                  <a:pt x="6385290" y="94551"/>
                  <a:pt x="6418384" y="93200"/>
                </a:cubicBezTo>
                <a:cubicBezTo>
                  <a:pt x="6532626" y="88537"/>
                  <a:pt x="6646984" y="87338"/>
                  <a:pt x="6761284" y="84407"/>
                </a:cubicBezTo>
                <a:cubicBezTo>
                  <a:pt x="6857171" y="52446"/>
                  <a:pt x="6778393" y="75615"/>
                  <a:pt x="7007469" y="75615"/>
                </a:cubicBezTo>
              </a:path>
            </a:pathLst>
          </a:custGeom>
          <a:ln w="1905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任意多边形 2"/>
          <p:cNvSpPr/>
          <p:nvPr/>
        </p:nvSpPr>
        <p:spPr>
          <a:xfrm>
            <a:off x="2965938" y="4308581"/>
            <a:ext cx="2672862" cy="2131527"/>
          </a:xfrm>
          <a:custGeom>
            <a:avLst/>
            <a:gdLst>
              <a:gd name="connsiteX0" fmla="*/ 2672862 w 2672862"/>
              <a:gd name="connsiteY0" fmla="*/ 2131527 h 2131527"/>
              <a:gd name="connsiteX1" fmla="*/ 2567354 w 2672862"/>
              <a:gd name="connsiteY1" fmla="*/ 2078774 h 2131527"/>
              <a:gd name="connsiteX2" fmla="*/ 2523393 w 2672862"/>
              <a:gd name="connsiteY2" fmla="*/ 2052397 h 2131527"/>
              <a:gd name="connsiteX3" fmla="*/ 2497016 w 2672862"/>
              <a:gd name="connsiteY3" fmla="*/ 2043604 h 2131527"/>
              <a:gd name="connsiteX4" fmla="*/ 2435470 w 2672862"/>
              <a:gd name="connsiteY4" fmla="*/ 1999643 h 2131527"/>
              <a:gd name="connsiteX5" fmla="*/ 2409093 w 2672862"/>
              <a:gd name="connsiteY5" fmla="*/ 1982058 h 2131527"/>
              <a:gd name="connsiteX6" fmla="*/ 2356339 w 2672862"/>
              <a:gd name="connsiteY6" fmla="*/ 1938097 h 2131527"/>
              <a:gd name="connsiteX7" fmla="*/ 2321170 w 2672862"/>
              <a:gd name="connsiteY7" fmla="*/ 1902927 h 2131527"/>
              <a:gd name="connsiteX8" fmla="*/ 2268416 w 2672862"/>
              <a:gd name="connsiteY8" fmla="*/ 1832589 h 2131527"/>
              <a:gd name="connsiteX9" fmla="*/ 2242039 w 2672862"/>
              <a:gd name="connsiteY9" fmla="*/ 1797420 h 2131527"/>
              <a:gd name="connsiteX10" fmla="*/ 2215662 w 2672862"/>
              <a:gd name="connsiteY10" fmla="*/ 1753458 h 2131527"/>
              <a:gd name="connsiteX11" fmla="*/ 2189285 w 2672862"/>
              <a:gd name="connsiteY11" fmla="*/ 1744666 h 2131527"/>
              <a:gd name="connsiteX12" fmla="*/ 2110154 w 2672862"/>
              <a:gd name="connsiteY12" fmla="*/ 1647951 h 2131527"/>
              <a:gd name="connsiteX13" fmla="*/ 2083777 w 2672862"/>
              <a:gd name="connsiteY13" fmla="*/ 1612781 h 2131527"/>
              <a:gd name="connsiteX14" fmla="*/ 2048608 w 2672862"/>
              <a:gd name="connsiteY14" fmla="*/ 1586404 h 2131527"/>
              <a:gd name="connsiteX15" fmla="*/ 2022231 w 2672862"/>
              <a:gd name="connsiteY15" fmla="*/ 1551235 h 2131527"/>
              <a:gd name="connsiteX16" fmla="*/ 1987062 w 2672862"/>
              <a:gd name="connsiteY16" fmla="*/ 1533651 h 2131527"/>
              <a:gd name="connsiteX17" fmla="*/ 1916724 w 2672862"/>
              <a:gd name="connsiteY17" fmla="*/ 1480897 h 2131527"/>
              <a:gd name="connsiteX18" fmla="*/ 1855177 w 2672862"/>
              <a:gd name="connsiteY18" fmla="*/ 1436935 h 2131527"/>
              <a:gd name="connsiteX19" fmla="*/ 1793631 w 2672862"/>
              <a:gd name="connsiteY19" fmla="*/ 1392974 h 2131527"/>
              <a:gd name="connsiteX20" fmla="*/ 1732085 w 2672862"/>
              <a:gd name="connsiteY20" fmla="*/ 1349012 h 2131527"/>
              <a:gd name="connsiteX21" fmla="*/ 1670539 w 2672862"/>
              <a:gd name="connsiteY21" fmla="*/ 1305051 h 2131527"/>
              <a:gd name="connsiteX22" fmla="*/ 1626577 w 2672862"/>
              <a:gd name="connsiteY22" fmla="*/ 1296258 h 2131527"/>
              <a:gd name="connsiteX23" fmla="*/ 1591408 w 2672862"/>
              <a:gd name="connsiteY23" fmla="*/ 1278674 h 2131527"/>
              <a:gd name="connsiteX24" fmla="*/ 1565031 w 2672862"/>
              <a:gd name="connsiteY24" fmla="*/ 1261089 h 2131527"/>
              <a:gd name="connsiteX25" fmla="*/ 1512277 w 2672862"/>
              <a:gd name="connsiteY25" fmla="*/ 1252297 h 2131527"/>
              <a:gd name="connsiteX26" fmla="*/ 1433147 w 2672862"/>
              <a:gd name="connsiteY26" fmla="*/ 1225920 h 2131527"/>
              <a:gd name="connsiteX27" fmla="*/ 1406770 w 2672862"/>
              <a:gd name="connsiteY27" fmla="*/ 1217127 h 2131527"/>
              <a:gd name="connsiteX28" fmla="*/ 1354016 w 2672862"/>
              <a:gd name="connsiteY28" fmla="*/ 1208335 h 2131527"/>
              <a:gd name="connsiteX29" fmla="*/ 1327639 w 2672862"/>
              <a:gd name="connsiteY29" fmla="*/ 1190751 h 2131527"/>
              <a:gd name="connsiteX30" fmla="*/ 1283677 w 2672862"/>
              <a:gd name="connsiteY30" fmla="*/ 1181958 h 2131527"/>
              <a:gd name="connsiteX31" fmla="*/ 1213339 w 2672862"/>
              <a:gd name="connsiteY31" fmla="*/ 1164374 h 2131527"/>
              <a:gd name="connsiteX32" fmla="*/ 1160585 w 2672862"/>
              <a:gd name="connsiteY32" fmla="*/ 1146789 h 2131527"/>
              <a:gd name="connsiteX33" fmla="*/ 1134208 w 2672862"/>
              <a:gd name="connsiteY33" fmla="*/ 1120412 h 2131527"/>
              <a:gd name="connsiteX34" fmla="*/ 1099039 w 2672862"/>
              <a:gd name="connsiteY34" fmla="*/ 1067658 h 2131527"/>
              <a:gd name="connsiteX35" fmla="*/ 1090247 w 2672862"/>
              <a:gd name="connsiteY35" fmla="*/ 1032489 h 2131527"/>
              <a:gd name="connsiteX36" fmla="*/ 1072662 w 2672862"/>
              <a:gd name="connsiteY36" fmla="*/ 979735 h 2131527"/>
              <a:gd name="connsiteX37" fmla="*/ 1046285 w 2672862"/>
              <a:gd name="connsiteY37" fmla="*/ 891812 h 2131527"/>
              <a:gd name="connsiteX38" fmla="*/ 1037493 w 2672862"/>
              <a:gd name="connsiteY38" fmla="*/ 865435 h 2131527"/>
              <a:gd name="connsiteX39" fmla="*/ 1019908 w 2672862"/>
              <a:gd name="connsiteY39" fmla="*/ 839058 h 2131527"/>
              <a:gd name="connsiteX40" fmla="*/ 1011116 w 2672862"/>
              <a:gd name="connsiteY40" fmla="*/ 803889 h 2131527"/>
              <a:gd name="connsiteX41" fmla="*/ 993531 w 2672862"/>
              <a:gd name="connsiteY41" fmla="*/ 777512 h 2131527"/>
              <a:gd name="connsiteX42" fmla="*/ 984739 w 2672862"/>
              <a:gd name="connsiteY42" fmla="*/ 751135 h 2131527"/>
              <a:gd name="connsiteX43" fmla="*/ 967154 w 2672862"/>
              <a:gd name="connsiteY43" fmla="*/ 715966 h 2131527"/>
              <a:gd name="connsiteX44" fmla="*/ 949570 w 2672862"/>
              <a:gd name="connsiteY44" fmla="*/ 663212 h 2131527"/>
              <a:gd name="connsiteX45" fmla="*/ 931985 w 2672862"/>
              <a:gd name="connsiteY45" fmla="*/ 610458 h 2131527"/>
              <a:gd name="connsiteX46" fmla="*/ 923193 w 2672862"/>
              <a:gd name="connsiteY46" fmla="*/ 584081 h 2131527"/>
              <a:gd name="connsiteX47" fmla="*/ 905608 w 2672862"/>
              <a:gd name="connsiteY47" fmla="*/ 548912 h 2131527"/>
              <a:gd name="connsiteX48" fmla="*/ 888024 w 2672862"/>
              <a:gd name="connsiteY48" fmla="*/ 522535 h 2131527"/>
              <a:gd name="connsiteX49" fmla="*/ 879231 w 2672862"/>
              <a:gd name="connsiteY49" fmla="*/ 496158 h 2131527"/>
              <a:gd name="connsiteX50" fmla="*/ 861647 w 2672862"/>
              <a:gd name="connsiteY50" fmla="*/ 469781 h 2131527"/>
              <a:gd name="connsiteX51" fmla="*/ 808893 w 2672862"/>
              <a:gd name="connsiteY51" fmla="*/ 417027 h 2131527"/>
              <a:gd name="connsiteX52" fmla="*/ 782516 w 2672862"/>
              <a:gd name="connsiteY52" fmla="*/ 408235 h 2131527"/>
              <a:gd name="connsiteX53" fmla="*/ 764931 w 2672862"/>
              <a:gd name="connsiteY53" fmla="*/ 381858 h 2131527"/>
              <a:gd name="connsiteX54" fmla="*/ 668216 w 2672862"/>
              <a:gd name="connsiteY54" fmla="*/ 346689 h 2131527"/>
              <a:gd name="connsiteX55" fmla="*/ 633047 w 2672862"/>
              <a:gd name="connsiteY55" fmla="*/ 329104 h 2131527"/>
              <a:gd name="connsiteX56" fmla="*/ 589085 w 2672862"/>
              <a:gd name="connsiteY56" fmla="*/ 302727 h 2131527"/>
              <a:gd name="connsiteX57" fmla="*/ 545124 w 2672862"/>
              <a:gd name="connsiteY57" fmla="*/ 293935 h 2131527"/>
              <a:gd name="connsiteX58" fmla="*/ 483577 w 2672862"/>
              <a:gd name="connsiteY58" fmla="*/ 267558 h 2131527"/>
              <a:gd name="connsiteX59" fmla="*/ 430824 w 2672862"/>
              <a:gd name="connsiteY59" fmla="*/ 249974 h 2131527"/>
              <a:gd name="connsiteX60" fmla="*/ 404447 w 2672862"/>
              <a:gd name="connsiteY60" fmla="*/ 241181 h 2131527"/>
              <a:gd name="connsiteX61" fmla="*/ 369277 w 2672862"/>
              <a:gd name="connsiteY61" fmla="*/ 223597 h 2131527"/>
              <a:gd name="connsiteX62" fmla="*/ 254977 w 2672862"/>
              <a:gd name="connsiteY62" fmla="*/ 214804 h 2131527"/>
              <a:gd name="connsiteX63" fmla="*/ 219808 w 2672862"/>
              <a:gd name="connsiteY63" fmla="*/ 206012 h 2131527"/>
              <a:gd name="connsiteX64" fmla="*/ 167054 w 2672862"/>
              <a:gd name="connsiteY64" fmla="*/ 188427 h 2131527"/>
              <a:gd name="connsiteX65" fmla="*/ 87924 w 2672862"/>
              <a:gd name="connsiteY65" fmla="*/ 170843 h 2131527"/>
              <a:gd name="connsiteX66" fmla="*/ 61547 w 2672862"/>
              <a:gd name="connsiteY66" fmla="*/ 162051 h 2131527"/>
              <a:gd name="connsiteX67" fmla="*/ 43962 w 2672862"/>
              <a:gd name="connsiteY67" fmla="*/ 135674 h 2131527"/>
              <a:gd name="connsiteX68" fmla="*/ 0 w 2672862"/>
              <a:gd name="connsiteY68" fmla="*/ 91712 h 2131527"/>
              <a:gd name="connsiteX69" fmla="*/ 17585 w 2672862"/>
              <a:gd name="connsiteY69" fmla="*/ 65335 h 2131527"/>
              <a:gd name="connsiteX70" fmla="*/ 96716 w 2672862"/>
              <a:gd name="connsiteY70" fmla="*/ 21374 h 2131527"/>
              <a:gd name="connsiteX71" fmla="*/ 263770 w 2672862"/>
              <a:gd name="connsiteY71" fmla="*/ 12581 h 2131527"/>
              <a:gd name="connsiteX72" fmla="*/ 483577 w 2672862"/>
              <a:gd name="connsiteY72" fmla="*/ 3789 h 2131527"/>
              <a:gd name="connsiteX73" fmla="*/ 580293 w 2672862"/>
              <a:gd name="connsiteY73" fmla="*/ 21374 h 2131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672862" h="2131527">
                <a:moveTo>
                  <a:pt x="2672862" y="2131527"/>
                </a:moveTo>
                <a:cubicBezTo>
                  <a:pt x="2567497" y="2068311"/>
                  <a:pt x="2699808" y="2145002"/>
                  <a:pt x="2567354" y="2078774"/>
                </a:cubicBezTo>
                <a:cubicBezTo>
                  <a:pt x="2552069" y="2071131"/>
                  <a:pt x="2538678" y="2060040"/>
                  <a:pt x="2523393" y="2052397"/>
                </a:cubicBezTo>
                <a:cubicBezTo>
                  <a:pt x="2515103" y="2048252"/>
                  <a:pt x="2505306" y="2047749"/>
                  <a:pt x="2497016" y="2043604"/>
                </a:cubicBezTo>
                <a:cubicBezTo>
                  <a:pt x="2483197" y="2036694"/>
                  <a:pt x="2444769" y="2006285"/>
                  <a:pt x="2435470" y="1999643"/>
                </a:cubicBezTo>
                <a:cubicBezTo>
                  <a:pt x="2426871" y="1993501"/>
                  <a:pt x="2417211" y="1988823"/>
                  <a:pt x="2409093" y="1982058"/>
                </a:cubicBezTo>
                <a:cubicBezTo>
                  <a:pt x="2341403" y="1925649"/>
                  <a:pt x="2421821" y="1981750"/>
                  <a:pt x="2356339" y="1938097"/>
                </a:cubicBezTo>
                <a:cubicBezTo>
                  <a:pt x="2332894" y="1867761"/>
                  <a:pt x="2368061" y="1949818"/>
                  <a:pt x="2321170" y="1902927"/>
                </a:cubicBezTo>
                <a:cubicBezTo>
                  <a:pt x="2300446" y="1882203"/>
                  <a:pt x="2286001" y="1856035"/>
                  <a:pt x="2268416" y="1832589"/>
                </a:cubicBezTo>
                <a:cubicBezTo>
                  <a:pt x="2259624" y="1820866"/>
                  <a:pt x="2249578" y="1809986"/>
                  <a:pt x="2242039" y="1797420"/>
                </a:cubicBezTo>
                <a:cubicBezTo>
                  <a:pt x="2233247" y="1782766"/>
                  <a:pt x="2227746" y="1765542"/>
                  <a:pt x="2215662" y="1753458"/>
                </a:cubicBezTo>
                <a:cubicBezTo>
                  <a:pt x="2209109" y="1746905"/>
                  <a:pt x="2198077" y="1747597"/>
                  <a:pt x="2189285" y="1744666"/>
                </a:cubicBezTo>
                <a:cubicBezTo>
                  <a:pt x="2142726" y="1651551"/>
                  <a:pt x="2216382" y="1789591"/>
                  <a:pt x="2110154" y="1647951"/>
                </a:cubicBezTo>
                <a:cubicBezTo>
                  <a:pt x="2101362" y="1636228"/>
                  <a:pt x="2094139" y="1623143"/>
                  <a:pt x="2083777" y="1612781"/>
                </a:cubicBezTo>
                <a:cubicBezTo>
                  <a:pt x="2073415" y="1602419"/>
                  <a:pt x="2058970" y="1596766"/>
                  <a:pt x="2048608" y="1586404"/>
                </a:cubicBezTo>
                <a:cubicBezTo>
                  <a:pt x="2038246" y="1576042"/>
                  <a:pt x="2033357" y="1560771"/>
                  <a:pt x="2022231" y="1551235"/>
                </a:cubicBezTo>
                <a:cubicBezTo>
                  <a:pt x="2012280" y="1542705"/>
                  <a:pt x="1997967" y="1540921"/>
                  <a:pt x="1987062" y="1533651"/>
                </a:cubicBezTo>
                <a:cubicBezTo>
                  <a:pt x="1962677" y="1517394"/>
                  <a:pt x="1937448" y="1501621"/>
                  <a:pt x="1916724" y="1480897"/>
                </a:cubicBezTo>
                <a:cubicBezTo>
                  <a:pt x="1848143" y="1412316"/>
                  <a:pt x="1936187" y="1494799"/>
                  <a:pt x="1855177" y="1436935"/>
                </a:cubicBezTo>
                <a:cubicBezTo>
                  <a:pt x="1772008" y="1377529"/>
                  <a:pt x="1890016" y="1441165"/>
                  <a:pt x="1793631" y="1392974"/>
                </a:cubicBezTo>
                <a:cubicBezTo>
                  <a:pt x="1743348" y="1342691"/>
                  <a:pt x="1793806" y="1387588"/>
                  <a:pt x="1732085" y="1349012"/>
                </a:cubicBezTo>
                <a:cubicBezTo>
                  <a:pt x="1729046" y="1347113"/>
                  <a:pt x="1679844" y="1308540"/>
                  <a:pt x="1670539" y="1305051"/>
                </a:cubicBezTo>
                <a:cubicBezTo>
                  <a:pt x="1656546" y="1299804"/>
                  <a:pt x="1641231" y="1299189"/>
                  <a:pt x="1626577" y="1296258"/>
                </a:cubicBezTo>
                <a:cubicBezTo>
                  <a:pt x="1614854" y="1290397"/>
                  <a:pt x="1602788" y="1285177"/>
                  <a:pt x="1591408" y="1278674"/>
                </a:cubicBezTo>
                <a:cubicBezTo>
                  <a:pt x="1582233" y="1273431"/>
                  <a:pt x="1575056" y="1264431"/>
                  <a:pt x="1565031" y="1261089"/>
                </a:cubicBezTo>
                <a:cubicBezTo>
                  <a:pt x="1548119" y="1255452"/>
                  <a:pt x="1529862" y="1255228"/>
                  <a:pt x="1512277" y="1252297"/>
                </a:cubicBezTo>
                <a:cubicBezTo>
                  <a:pt x="1436486" y="1221980"/>
                  <a:pt x="1499408" y="1244852"/>
                  <a:pt x="1433147" y="1225920"/>
                </a:cubicBezTo>
                <a:cubicBezTo>
                  <a:pt x="1424236" y="1223374"/>
                  <a:pt x="1415817" y="1219138"/>
                  <a:pt x="1406770" y="1217127"/>
                </a:cubicBezTo>
                <a:cubicBezTo>
                  <a:pt x="1389367" y="1213260"/>
                  <a:pt x="1371601" y="1211266"/>
                  <a:pt x="1354016" y="1208335"/>
                </a:cubicBezTo>
                <a:cubicBezTo>
                  <a:pt x="1345224" y="1202474"/>
                  <a:pt x="1337533" y="1194461"/>
                  <a:pt x="1327639" y="1190751"/>
                </a:cubicBezTo>
                <a:cubicBezTo>
                  <a:pt x="1313646" y="1185504"/>
                  <a:pt x="1298239" y="1185318"/>
                  <a:pt x="1283677" y="1181958"/>
                </a:cubicBezTo>
                <a:cubicBezTo>
                  <a:pt x="1260128" y="1176524"/>
                  <a:pt x="1236266" y="1172017"/>
                  <a:pt x="1213339" y="1164374"/>
                </a:cubicBezTo>
                <a:lnTo>
                  <a:pt x="1160585" y="1146789"/>
                </a:lnTo>
                <a:cubicBezTo>
                  <a:pt x="1151793" y="1137997"/>
                  <a:pt x="1141842" y="1130227"/>
                  <a:pt x="1134208" y="1120412"/>
                </a:cubicBezTo>
                <a:cubicBezTo>
                  <a:pt x="1121233" y="1103730"/>
                  <a:pt x="1099039" y="1067658"/>
                  <a:pt x="1099039" y="1067658"/>
                </a:cubicBezTo>
                <a:cubicBezTo>
                  <a:pt x="1096108" y="1055935"/>
                  <a:pt x="1093719" y="1044063"/>
                  <a:pt x="1090247" y="1032489"/>
                </a:cubicBezTo>
                <a:cubicBezTo>
                  <a:pt x="1084921" y="1014735"/>
                  <a:pt x="1077157" y="997717"/>
                  <a:pt x="1072662" y="979735"/>
                </a:cubicBezTo>
                <a:cubicBezTo>
                  <a:pt x="1059374" y="926580"/>
                  <a:pt x="1067693" y="956035"/>
                  <a:pt x="1046285" y="891812"/>
                </a:cubicBezTo>
                <a:cubicBezTo>
                  <a:pt x="1043354" y="883020"/>
                  <a:pt x="1042634" y="873146"/>
                  <a:pt x="1037493" y="865435"/>
                </a:cubicBezTo>
                <a:lnTo>
                  <a:pt x="1019908" y="839058"/>
                </a:lnTo>
                <a:cubicBezTo>
                  <a:pt x="1016977" y="827335"/>
                  <a:pt x="1015876" y="814996"/>
                  <a:pt x="1011116" y="803889"/>
                </a:cubicBezTo>
                <a:cubicBezTo>
                  <a:pt x="1006953" y="794176"/>
                  <a:pt x="998257" y="786964"/>
                  <a:pt x="993531" y="777512"/>
                </a:cubicBezTo>
                <a:cubicBezTo>
                  <a:pt x="989386" y="769223"/>
                  <a:pt x="988390" y="759654"/>
                  <a:pt x="984739" y="751135"/>
                </a:cubicBezTo>
                <a:cubicBezTo>
                  <a:pt x="979576" y="739088"/>
                  <a:pt x="972022" y="728135"/>
                  <a:pt x="967154" y="715966"/>
                </a:cubicBezTo>
                <a:cubicBezTo>
                  <a:pt x="960270" y="698756"/>
                  <a:pt x="955432" y="680797"/>
                  <a:pt x="949570" y="663212"/>
                </a:cubicBezTo>
                <a:lnTo>
                  <a:pt x="931985" y="610458"/>
                </a:lnTo>
                <a:cubicBezTo>
                  <a:pt x="929054" y="601666"/>
                  <a:pt x="927338" y="592370"/>
                  <a:pt x="923193" y="584081"/>
                </a:cubicBezTo>
                <a:cubicBezTo>
                  <a:pt x="917331" y="572358"/>
                  <a:pt x="912111" y="560292"/>
                  <a:pt x="905608" y="548912"/>
                </a:cubicBezTo>
                <a:cubicBezTo>
                  <a:pt x="900365" y="539737"/>
                  <a:pt x="892750" y="531986"/>
                  <a:pt x="888024" y="522535"/>
                </a:cubicBezTo>
                <a:cubicBezTo>
                  <a:pt x="883879" y="514245"/>
                  <a:pt x="883376" y="504448"/>
                  <a:pt x="879231" y="496158"/>
                </a:cubicBezTo>
                <a:cubicBezTo>
                  <a:pt x="874505" y="486707"/>
                  <a:pt x="867789" y="478380"/>
                  <a:pt x="861647" y="469781"/>
                </a:cubicBezTo>
                <a:cubicBezTo>
                  <a:pt x="841259" y="441238"/>
                  <a:pt x="838571" y="431866"/>
                  <a:pt x="808893" y="417027"/>
                </a:cubicBezTo>
                <a:cubicBezTo>
                  <a:pt x="800604" y="412882"/>
                  <a:pt x="791308" y="411166"/>
                  <a:pt x="782516" y="408235"/>
                </a:cubicBezTo>
                <a:cubicBezTo>
                  <a:pt x="776654" y="399443"/>
                  <a:pt x="773530" y="388000"/>
                  <a:pt x="764931" y="381858"/>
                </a:cubicBezTo>
                <a:cubicBezTo>
                  <a:pt x="748629" y="370214"/>
                  <a:pt x="683245" y="354204"/>
                  <a:pt x="668216" y="346689"/>
                </a:cubicBezTo>
                <a:cubicBezTo>
                  <a:pt x="656493" y="340827"/>
                  <a:pt x="644504" y="335469"/>
                  <a:pt x="633047" y="329104"/>
                </a:cubicBezTo>
                <a:cubicBezTo>
                  <a:pt x="618108" y="320805"/>
                  <a:pt x="604952" y="309074"/>
                  <a:pt x="589085" y="302727"/>
                </a:cubicBezTo>
                <a:cubicBezTo>
                  <a:pt x="575210" y="297177"/>
                  <a:pt x="559622" y="297559"/>
                  <a:pt x="545124" y="293935"/>
                </a:cubicBezTo>
                <a:cubicBezTo>
                  <a:pt x="507386" y="284501"/>
                  <a:pt x="525518" y="284334"/>
                  <a:pt x="483577" y="267558"/>
                </a:cubicBezTo>
                <a:cubicBezTo>
                  <a:pt x="466367" y="260674"/>
                  <a:pt x="448408" y="255835"/>
                  <a:pt x="430824" y="249974"/>
                </a:cubicBezTo>
                <a:cubicBezTo>
                  <a:pt x="422032" y="247043"/>
                  <a:pt x="412737" y="245326"/>
                  <a:pt x="404447" y="241181"/>
                </a:cubicBezTo>
                <a:cubicBezTo>
                  <a:pt x="392724" y="235320"/>
                  <a:pt x="382184" y="225875"/>
                  <a:pt x="369277" y="223597"/>
                </a:cubicBezTo>
                <a:cubicBezTo>
                  <a:pt x="331646" y="216956"/>
                  <a:pt x="293077" y="217735"/>
                  <a:pt x="254977" y="214804"/>
                </a:cubicBezTo>
                <a:cubicBezTo>
                  <a:pt x="243254" y="211873"/>
                  <a:pt x="231382" y="209484"/>
                  <a:pt x="219808" y="206012"/>
                </a:cubicBezTo>
                <a:cubicBezTo>
                  <a:pt x="202054" y="200686"/>
                  <a:pt x="185230" y="192062"/>
                  <a:pt x="167054" y="188427"/>
                </a:cubicBezTo>
                <a:cubicBezTo>
                  <a:pt x="136836" y="182384"/>
                  <a:pt x="116896" y="179121"/>
                  <a:pt x="87924" y="170843"/>
                </a:cubicBezTo>
                <a:cubicBezTo>
                  <a:pt x="79013" y="168297"/>
                  <a:pt x="70339" y="164982"/>
                  <a:pt x="61547" y="162051"/>
                </a:cubicBezTo>
                <a:cubicBezTo>
                  <a:pt x="55685" y="153259"/>
                  <a:pt x="51434" y="143146"/>
                  <a:pt x="43962" y="135674"/>
                </a:cubicBezTo>
                <a:cubicBezTo>
                  <a:pt x="-14654" y="77058"/>
                  <a:pt x="46893" y="162051"/>
                  <a:pt x="0" y="91712"/>
                </a:cubicBezTo>
                <a:cubicBezTo>
                  <a:pt x="5862" y="82920"/>
                  <a:pt x="9632" y="72293"/>
                  <a:pt x="17585" y="65335"/>
                </a:cubicBezTo>
                <a:cubicBezTo>
                  <a:pt x="29254" y="55125"/>
                  <a:pt x="71688" y="23649"/>
                  <a:pt x="96716" y="21374"/>
                </a:cubicBezTo>
                <a:cubicBezTo>
                  <a:pt x="152249" y="16325"/>
                  <a:pt x="208066" y="15113"/>
                  <a:pt x="263770" y="12581"/>
                </a:cubicBezTo>
                <a:lnTo>
                  <a:pt x="483577" y="3789"/>
                </a:lnTo>
                <a:cubicBezTo>
                  <a:pt x="583212" y="12846"/>
                  <a:pt x="580293" y="-19791"/>
                  <a:pt x="580293" y="21374"/>
                </a:cubicBezTo>
              </a:path>
            </a:pathLst>
          </a:cu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Rectangle 2">
            <a:extLst>
              <a:ext uri="{FF2B5EF4-FFF2-40B4-BE49-F238E27FC236}">
                <a16:creationId xmlns:a16="http://schemas.microsoft.com/office/drawing/2014/main" id="{20246077-DF23-A1D6-4464-1B5CA6FEE653}"/>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FDC3C0B8-AFFA-D3E8-B404-DA52B81E8F4F}"/>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26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0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0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0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86" grpId="0" animBg="1"/>
      <p:bldP spid="94" grpId="0" animBg="1"/>
      <p:bldP spid="99" grpId="0" animBg="1"/>
      <p:bldP spid="100" grpId="0"/>
      <p:bldP spid="101" grpId="0" animBg="1"/>
      <p:bldP spid="102" grpId="0"/>
      <p:bldP spid="103" grpId="0" animBg="1"/>
      <p:bldP spid="108" grpId="0"/>
      <p:bldP spid="109" grpId="0"/>
      <p:bldP spid="110" grpId="0"/>
      <p:bldP spid="111" grpId="0" animBg="1"/>
      <p:bldP spid="116" grpId="0" animBg="1"/>
      <p:bldP spid="121" grpId="0" animBg="1"/>
      <p:bldP spid="126" grpId="0"/>
      <p:bldP spid="127" grpId="0"/>
      <p:bldP spid="2" grpId="0" animBg="1"/>
      <p:bldP spid="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矩形 127"/>
          <p:cNvSpPr/>
          <p:nvPr/>
        </p:nvSpPr>
        <p:spPr>
          <a:xfrm>
            <a:off x="1847529" y="1668537"/>
            <a:ext cx="8640960" cy="1569660"/>
          </a:xfrm>
          <a:prstGeom prst="rect">
            <a:avLst/>
          </a:prstGeom>
        </p:spPr>
        <p:txBody>
          <a:bodyPr wrap="square">
            <a:spAutoFit/>
          </a:bodyPr>
          <a:lstStyle/>
          <a:p>
            <a:r>
              <a:rPr lang="en-US" altLang="zh-CN" sz="2400" dirty="0">
                <a:latin typeface="微软雅黑" pitchFamily="34" charset="-122"/>
                <a:ea typeface="微软雅黑" pitchFamily="34" charset="-122"/>
                <a:cs typeface="经典粗黑简" pitchFamily="49" charset="-122"/>
              </a:rPr>
              <a:t>       </a:t>
            </a:r>
            <a:r>
              <a:rPr lang="zh-CN" altLang="zh-CN" sz="2400" dirty="0">
                <a:latin typeface="微软雅黑" pitchFamily="34" charset="-122"/>
                <a:ea typeface="微软雅黑" pitchFamily="34" charset="-122"/>
                <a:cs typeface="经典粗黑简" pitchFamily="49" charset="-122"/>
              </a:rPr>
              <a:t>由于广义表中的数据元素可以具有不同的结构，因此很难用顺序存储结构来表示。而链式的存储结构分配较为灵活，易于解决广义表的共享与递归问题，所以通常都采用链式的存储结构来存储广义表，每个数据元素可用一个结点来表示。</a:t>
            </a:r>
            <a:endParaRPr lang="zh-CN" altLang="en-US" sz="2400" dirty="0">
              <a:latin typeface="微软雅黑" pitchFamily="34" charset="-122"/>
              <a:ea typeface="微软雅黑" pitchFamily="34" charset="-122"/>
              <a:cs typeface="经典粗黑简" pitchFamily="49" charset="-122"/>
            </a:endParaRPr>
          </a:p>
        </p:txBody>
      </p:sp>
      <p:sp>
        <p:nvSpPr>
          <p:cNvPr id="129" name="矩形 128"/>
          <p:cNvSpPr/>
          <p:nvPr/>
        </p:nvSpPr>
        <p:spPr>
          <a:xfrm>
            <a:off x="1883533" y="3361743"/>
            <a:ext cx="8568952" cy="830997"/>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按结点形式的不同，广义表的链式存储结构又可以分为不同的两种存储方式。</a:t>
            </a:r>
          </a:p>
        </p:txBody>
      </p:sp>
      <p:sp>
        <p:nvSpPr>
          <p:cNvPr id="130" name="矩形 129"/>
          <p:cNvSpPr/>
          <p:nvPr/>
        </p:nvSpPr>
        <p:spPr>
          <a:xfrm>
            <a:off x="1847529" y="4192739"/>
            <a:ext cx="8604957" cy="707886"/>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一种是</a:t>
            </a:r>
            <a:r>
              <a:rPr lang="zh-CN" altLang="zh-CN" sz="2000" dirty="0">
                <a:solidFill>
                  <a:srgbClr val="FF0000"/>
                </a:solidFill>
                <a:latin typeface="微软雅黑" pitchFamily="34" charset="-122"/>
                <a:ea typeface="微软雅黑" pitchFamily="34" charset="-122"/>
                <a:cs typeface="经典粗黑简" pitchFamily="49" charset="-122"/>
              </a:rPr>
              <a:t>头尾表示法</a:t>
            </a:r>
            <a:r>
              <a:rPr lang="zh-CN" altLang="zh-CN" sz="2000" dirty="0">
                <a:latin typeface="微软雅黑" pitchFamily="34" charset="-122"/>
                <a:ea typeface="微软雅黑" pitchFamily="34" charset="-122"/>
                <a:cs typeface="经典粗黑简" pitchFamily="49" charset="-122"/>
              </a:rPr>
              <a:t>。若广义表不空，则可分解成表头和表尾</a:t>
            </a:r>
            <a:r>
              <a:rPr lang="zh-CN" altLang="en-US" sz="2000" dirty="0">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一对确定的表头和表尾可唯一地确定一个广义表。</a:t>
            </a:r>
            <a:endParaRPr lang="zh-CN" altLang="en-US" sz="2000" dirty="0">
              <a:latin typeface="微软雅黑" pitchFamily="34" charset="-122"/>
              <a:ea typeface="微软雅黑" pitchFamily="34" charset="-122"/>
              <a:cs typeface="经典粗黑简" pitchFamily="49" charset="-122"/>
            </a:endParaRPr>
          </a:p>
        </p:txBody>
      </p:sp>
      <p:sp>
        <p:nvSpPr>
          <p:cNvPr id="131" name="矩形 130"/>
          <p:cNvSpPr/>
          <p:nvPr/>
        </p:nvSpPr>
        <p:spPr>
          <a:xfrm>
            <a:off x="1847527" y="4933617"/>
            <a:ext cx="8604959" cy="1015663"/>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另一种表示法称为</a:t>
            </a:r>
            <a:r>
              <a:rPr lang="zh-CN" altLang="zh-CN" sz="2000" dirty="0">
                <a:solidFill>
                  <a:srgbClr val="FF0000"/>
                </a:solidFill>
                <a:latin typeface="微软雅黑" pitchFamily="34" charset="-122"/>
                <a:ea typeface="微软雅黑" pitchFamily="34" charset="-122"/>
                <a:cs typeface="经典粗黑简" pitchFamily="49" charset="-122"/>
              </a:rPr>
              <a:t>孩子兄弟表示法</a:t>
            </a:r>
            <a:r>
              <a:rPr lang="zh-CN" altLang="zh-CN" sz="2000" dirty="0">
                <a:latin typeface="微软雅黑" pitchFamily="34" charset="-122"/>
                <a:ea typeface="微软雅黑" pitchFamily="34" charset="-122"/>
                <a:cs typeface="经典粗黑简" pitchFamily="49" charset="-122"/>
              </a:rPr>
              <a:t>。在孩子兄弟表示法中，也有两种结点形式：一种是有孩子结点，用以表示子表；另一种是无孩子结点，用以表示原子。</a:t>
            </a:r>
            <a:endParaRPr lang="zh-CN" altLang="en-US" sz="20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0B7A1AC1-E3BA-F622-5462-617877DA75BB}"/>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5032F7D6-CEDF-5F67-D52B-E03B9B87A4C3}"/>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DB10A61E-2752-1CB1-3BAD-254BC8432F64}"/>
              </a:ext>
            </a:extLst>
          </p:cNvPr>
          <p:cNvSpPr txBox="1">
            <a:spLocks noChangeArrowheads="1"/>
          </p:cNvSpPr>
          <p:nvPr/>
        </p:nvSpPr>
        <p:spPr>
          <a:xfrm>
            <a:off x="191344" y="1106736"/>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6.3.2 </a:t>
            </a:r>
            <a:r>
              <a:rPr lang="zh-CN" altLang="en-US" sz="2800" b="1" dirty="0">
                <a:solidFill>
                  <a:schemeClr val="bg1"/>
                </a:solidFill>
                <a:latin typeface="经典粗黑简" pitchFamily="49" charset="-122"/>
                <a:ea typeface="经典粗黑简" pitchFamily="49" charset="-122"/>
                <a:cs typeface="经典粗黑简" pitchFamily="49" charset="-122"/>
              </a:rPr>
              <a:t>广义表的存储结构</a:t>
            </a:r>
          </a:p>
        </p:txBody>
      </p:sp>
    </p:spTree>
    <p:extLst>
      <p:ext uri="{BB962C8B-B14F-4D97-AF65-F5344CB8AC3E}">
        <p14:creationId xmlns:p14="http://schemas.microsoft.com/office/powerpoint/2010/main" val="306929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矩形 127"/>
          <p:cNvSpPr/>
          <p:nvPr/>
        </p:nvSpPr>
        <p:spPr>
          <a:xfrm>
            <a:off x="1847529" y="1691742"/>
            <a:ext cx="8640960" cy="1569660"/>
          </a:xfrm>
          <a:prstGeom prst="rect">
            <a:avLst/>
          </a:prstGeom>
        </p:spPr>
        <p:txBody>
          <a:bodyPr wrap="square">
            <a:spAutoFit/>
          </a:bodyPr>
          <a:lstStyle/>
          <a:p>
            <a:r>
              <a:rPr lang="en-US" altLang="zh-CN" sz="2400" dirty="0">
                <a:latin typeface="微软雅黑" pitchFamily="34" charset="-122"/>
                <a:ea typeface="微软雅黑" pitchFamily="34" charset="-122"/>
                <a:cs typeface="经典粗黑简" pitchFamily="49" charset="-122"/>
              </a:rPr>
              <a:t>       </a:t>
            </a:r>
            <a:r>
              <a:rPr lang="zh-CN" altLang="zh-CN" sz="2400" dirty="0">
                <a:latin typeface="微软雅黑" pitchFamily="34" charset="-122"/>
                <a:ea typeface="微软雅黑" pitchFamily="34" charset="-122"/>
                <a:cs typeface="经典粗黑简" pitchFamily="49" charset="-122"/>
              </a:rPr>
              <a:t>由于广义表中的数据元素可以具有不同的结构，因此很难用顺序存储结构来表示。而链式的存储结构分配较为灵活，易于解决广义表的共享与递归问题，所以通常都采用链式的存储结构来存储广义表，每个数据元素可用一个结点来表示。</a:t>
            </a:r>
            <a:endParaRPr lang="zh-CN" altLang="en-US" sz="2400" dirty="0">
              <a:latin typeface="微软雅黑" pitchFamily="34" charset="-122"/>
              <a:ea typeface="微软雅黑" pitchFamily="34" charset="-122"/>
              <a:cs typeface="经典粗黑简" pitchFamily="49" charset="-122"/>
            </a:endParaRPr>
          </a:p>
        </p:txBody>
      </p:sp>
      <p:sp>
        <p:nvSpPr>
          <p:cNvPr id="129" name="矩形 128"/>
          <p:cNvSpPr/>
          <p:nvPr/>
        </p:nvSpPr>
        <p:spPr>
          <a:xfrm>
            <a:off x="1883533" y="3384948"/>
            <a:ext cx="8568952" cy="830997"/>
          </a:xfrm>
          <a:prstGeom prst="rect">
            <a:avLst/>
          </a:prstGeom>
        </p:spPr>
        <p:txBody>
          <a:bodyPr wrap="square">
            <a:spAutoFit/>
          </a:bodyPr>
          <a:lstStyle/>
          <a:p>
            <a:r>
              <a:rPr lang="zh-CN" altLang="zh-CN" sz="2400" dirty="0">
                <a:latin typeface="微软雅黑" pitchFamily="34" charset="-122"/>
                <a:ea typeface="微软雅黑" pitchFamily="34" charset="-122"/>
                <a:cs typeface="经典粗黑简" pitchFamily="49" charset="-122"/>
              </a:rPr>
              <a:t>按结点形式的不同，广义表的链式存储结构又可以分为不同的两种存储方式。</a:t>
            </a:r>
          </a:p>
        </p:txBody>
      </p:sp>
      <p:sp>
        <p:nvSpPr>
          <p:cNvPr id="12" name="矩形 11"/>
          <p:cNvSpPr/>
          <p:nvPr/>
        </p:nvSpPr>
        <p:spPr>
          <a:xfrm>
            <a:off x="2351585" y="4454905"/>
            <a:ext cx="7344816" cy="707886"/>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在</a:t>
            </a:r>
            <a:r>
              <a:rPr lang="zh-CN" altLang="en-US" sz="2000" dirty="0">
                <a:latin typeface="微软雅黑" pitchFamily="34" charset="-122"/>
                <a:ea typeface="微软雅黑" pitchFamily="34" charset="-122"/>
                <a:cs typeface="经典粗黑简" pitchFamily="49" charset="-122"/>
              </a:rPr>
              <a:t>表</a:t>
            </a:r>
            <a:r>
              <a:rPr lang="zh-CN" altLang="zh-CN" sz="2000" dirty="0">
                <a:latin typeface="微软雅黑" pitchFamily="34" charset="-122"/>
                <a:ea typeface="微软雅黑" pitchFamily="34" charset="-122"/>
                <a:cs typeface="经典粗黑简" pitchFamily="49" charset="-122"/>
              </a:rPr>
              <a:t>结点中包括一个指向第一个孩子的指针和一个指向兄弟的指针；而在</a:t>
            </a:r>
            <a:r>
              <a:rPr lang="zh-CN" altLang="en-US" sz="2000" dirty="0">
                <a:latin typeface="微软雅黑" pitchFamily="34" charset="-122"/>
                <a:ea typeface="微软雅黑" pitchFamily="34" charset="-122"/>
                <a:cs typeface="经典粗黑简" pitchFamily="49" charset="-122"/>
              </a:rPr>
              <a:t>原子</a:t>
            </a:r>
            <a:r>
              <a:rPr lang="zh-CN" altLang="zh-CN" sz="2000" dirty="0">
                <a:latin typeface="微软雅黑" pitchFamily="34" charset="-122"/>
                <a:ea typeface="微软雅黑" pitchFamily="34" charset="-122"/>
                <a:cs typeface="经典粗黑简" pitchFamily="49" charset="-122"/>
              </a:rPr>
              <a:t>结点中包括一个指向兄弟的指针和该元素的元素值。</a:t>
            </a:r>
            <a:endParaRPr lang="zh-CN" altLang="en-US" sz="2000" dirty="0">
              <a:latin typeface="微软雅黑" pitchFamily="34" charset="-122"/>
              <a:ea typeface="微软雅黑" pitchFamily="34" charset="-122"/>
              <a:cs typeface="经典粗黑简" pitchFamily="49" charset="-122"/>
            </a:endParaRPr>
          </a:p>
        </p:txBody>
      </p:sp>
      <p:sp>
        <p:nvSpPr>
          <p:cNvPr id="13" name="矩形 12"/>
          <p:cNvSpPr/>
          <p:nvPr/>
        </p:nvSpPr>
        <p:spPr>
          <a:xfrm>
            <a:off x="2351585" y="5221649"/>
            <a:ext cx="7344817" cy="1015663"/>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为了能区分这两类结点，在结点中还要设置一个标志域。如果标志为</a:t>
            </a:r>
            <a:r>
              <a:rPr lang="en-US" altLang="zh-CN" sz="2000" dirty="0">
                <a:latin typeface="微软雅黑" pitchFamily="34" charset="-122"/>
                <a:ea typeface="微软雅黑" pitchFamily="34" charset="-122"/>
                <a:cs typeface="经典粗黑简" pitchFamily="49" charset="-122"/>
              </a:rPr>
              <a:t>1</a:t>
            </a:r>
            <a:r>
              <a:rPr lang="zh-CN" altLang="zh-CN" sz="2000" dirty="0">
                <a:latin typeface="微软雅黑" pitchFamily="34" charset="-122"/>
                <a:ea typeface="微软雅黑" pitchFamily="34" charset="-122"/>
                <a:cs typeface="经典粗黑简" pitchFamily="49" charset="-122"/>
              </a:rPr>
              <a:t>，则表示该结点为</a:t>
            </a:r>
            <a:r>
              <a:rPr lang="zh-CN" altLang="en-US" sz="2000" dirty="0">
                <a:latin typeface="微软雅黑" pitchFamily="34" charset="-122"/>
                <a:ea typeface="微软雅黑" pitchFamily="34" charset="-122"/>
                <a:cs typeface="经典粗黑简" pitchFamily="49" charset="-122"/>
              </a:rPr>
              <a:t>表</a:t>
            </a:r>
            <a:r>
              <a:rPr lang="zh-CN" altLang="zh-CN" sz="2000" dirty="0">
                <a:latin typeface="微软雅黑" pitchFamily="34" charset="-122"/>
                <a:ea typeface="微软雅黑" pitchFamily="34" charset="-122"/>
                <a:cs typeface="经典粗黑简" pitchFamily="49" charset="-122"/>
              </a:rPr>
              <a:t>结点；如果标志为</a:t>
            </a:r>
            <a:r>
              <a:rPr lang="en-US" altLang="zh-CN" sz="2000" dirty="0">
                <a:latin typeface="微软雅黑" pitchFamily="34" charset="-122"/>
                <a:ea typeface="微软雅黑" pitchFamily="34" charset="-122"/>
                <a:cs typeface="经典粗黑简" pitchFamily="49" charset="-122"/>
              </a:rPr>
              <a:t>0</a:t>
            </a:r>
            <a:r>
              <a:rPr lang="zh-CN" altLang="zh-CN" sz="2000" dirty="0">
                <a:latin typeface="微软雅黑" pitchFamily="34" charset="-122"/>
                <a:ea typeface="微软雅黑" pitchFamily="34" charset="-122"/>
                <a:cs typeface="经典粗黑简" pitchFamily="49" charset="-122"/>
              </a:rPr>
              <a:t>，则表示该结点为</a:t>
            </a:r>
            <a:r>
              <a:rPr lang="zh-CN" altLang="en-US" sz="2000" dirty="0">
                <a:latin typeface="微软雅黑" pitchFamily="34" charset="-122"/>
                <a:ea typeface="微软雅黑" pitchFamily="34" charset="-122"/>
                <a:cs typeface="经典粗黑简" pitchFamily="49" charset="-122"/>
              </a:rPr>
              <a:t>原子</a:t>
            </a:r>
            <a:r>
              <a:rPr lang="zh-CN" altLang="zh-CN" sz="2000" dirty="0">
                <a:latin typeface="微软雅黑" pitchFamily="34" charset="-122"/>
                <a:ea typeface="微软雅黑" pitchFamily="34" charset="-122"/>
                <a:cs typeface="经典粗黑简" pitchFamily="49" charset="-122"/>
              </a:rPr>
              <a:t>结点。</a:t>
            </a:r>
            <a:endParaRPr lang="zh-CN" altLang="en-US" sz="20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A5F8CE9A-9387-5005-D199-43812A6845A8}"/>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505634B2-8246-8A9B-F5A5-B33D4A500F71}"/>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407AF446-654F-415F-178E-715D7B254AD8}"/>
              </a:ext>
            </a:extLst>
          </p:cNvPr>
          <p:cNvSpPr txBox="1">
            <a:spLocks noChangeArrowheads="1"/>
          </p:cNvSpPr>
          <p:nvPr/>
        </p:nvSpPr>
        <p:spPr>
          <a:xfrm>
            <a:off x="191344" y="1106736"/>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6.3.2 </a:t>
            </a:r>
            <a:r>
              <a:rPr lang="zh-CN" altLang="en-US" sz="2800" b="1" dirty="0">
                <a:solidFill>
                  <a:schemeClr val="bg1"/>
                </a:solidFill>
                <a:latin typeface="经典粗黑简" pitchFamily="49" charset="-122"/>
                <a:ea typeface="经典粗黑简" pitchFamily="49" charset="-122"/>
                <a:cs typeface="经典粗黑简" pitchFamily="49" charset="-122"/>
              </a:rPr>
              <a:t>广义表的存储结构</a:t>
            </a:r>
          </a:p>
        </p:txBody>
      </p:sp>
    </p:spTree>
    <p:extLst>
      <p:ext uri="{BB962C8B-B14F-4D97-AF65-F5344CB8AC3E}">
        <p14:creationId xmlns:p14="http://schemas.microsoft.com/office/powerpoint/2010/main" val="868869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矩形 127"/>
          <p:cNvSpPr/>
          <p:nvPr/>
        </p:nvSpPr>
        <p:spPr>
          <a:xfrm>
            <a:off x="1847529" y="1592105"/>
            <a:ext cx="8640960" cy="1569660"/>
          </a:xfrm>
          <a:prstGeom prst="rect">
            <a:avLst/>
          </a:prstGeom>
        </p:spPr>
        <p:txBody>
          <a:bodyPr wrap="square">
            <a:spAutoFit/>
          </a:bodyPr>
          <a:lstStyle/>
          <a:p>
            <a:r>
              <a:rPr lang="en-US" altLang="zh-CN" sz="2400" dirty="0">
                <a:latin typeface="微软雅黑" pitchFamily="34" charset="-122"/>
                <a:ea typeface="微软雅黑" pitchFamily="34" charset="-122"/>
                <a:cs typeface="经典粗黑简" pitchFamily="49" charset="-122"/>
              </a:rPr>
              <a:t>       </a:t>
            </a:r>
            <a:r>
              <a:rPr lang="zh-CN" altLang="zh-CN" sz="2400" dirty="0">
                <a:latin typeface="微软雅黑" pitchFamily="34" charset="-122"/>
                <a:ea typeface="微软雅黑" pitchFamily="34" charset="-122"/>
                <a:cs typeface="经典粗黑简" pitchFamily="49" charset="-122"/>
              </a:rPr>
              <a:t>由于广义表中的数据元素可以具有不同的结构，因此很难用顺序存储结构来表示。而链式的存储结构分配较为灵活，易于解决广义表的共享与递归问题，所以通常都采用链式的存储结构来存储广义表，每个数据元素可用一个结点来表示。</a:t>
            </a:r>
            <a:endParaRPr lang="zh-CN" altLang="en-US" sz="2400" dirty="0">
              <a:latin typeface="微软雅黑" pitchFamily="34" charset="-122"/>
              <a:ea typeface="微软雅黑" pitchFamily="34" charset="-122"/>
              <a:cs typeface="经典粗黑简" pitchFamily="49" charset="-122"/>
            </a:endParaRPr>
          </a:p>
        </p:txBody>
      </p:sp>
      <p:sp>
        <p:nvSpPr>
          <p:cNvPr id="8" name="矩形 7"/>
          <p:cNvSpPr/>
          <p:nvPr/>
        </p:nvSpPr>
        <p:spPr>
          <a:xfrm>
            <a:off x="1878235" y="3571269"/>
            <a:ext cx="2031325"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链表结点结构</a:t>
            </a:r>
          </a:p>
        </p:txBody>
      </p:sp>
      <p:grpSp>
        <p:nvGrpSpPr>
          <p:cNvPr id="9" name="组合 8"/>
          <p:cNvGrpSpPr/>
          <p:nvPr/>
        </p:nvGrpSpPr>
        <p:grpSpPr>
          <a:xfrm>
            <a:off x="2601545" y="4193203"/>
            <a:ext cx="2819400" cy="533400"/>
            <a:chOff x="1895747" y="4078195"/>
            <a:chExt cx="2819400" cy="533400"/>
          </a:xfrm>
        </p:grpSpPr>
        <p:sp>
          <p:nvSpPr>
            <p:cNvPr id="11" name="Rectangle 4"/>
            <p:cNvSpPr>
              <a:spLocks noChangeArrowheads="1"/>
            </p:cNvSpPr>
            <p:nvPr/>
          </p:nvSpPr>
          <p:spPr bwMode="auto">
            <a:xfrm>
              <a:off x="1895747" y="4078195"/>
              <a:ext cx="9906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tag=1</a:t>
              </a:r>
            </a:p>
          </p:txBody>
        </p:sp>
        <p:sp>
          <p:nvSpPr>
            <p:cNvPr id="14" name="Rectangle 5"/>
            <p:cNvSpPr>
              <a:spLocks noChangeArrowheads="1"/>
            </p:cNvSpPr>
            <p:nvPr/>
          </p:nvSpPr>
          <p:spPr bwMode="auto">
            <a:xfrm>
              <a:off x="2886347" y="4078195"/>
              <a:ext cx="9144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hp</a:t>
              </a:r>
            </a:p>
          </p:txBody>
        </p:sp>
        <p:sp>
          <p:nvSpPr>
            <p:cNvPr id="15" name="Rectangle 6"/>
            <p:cNvSpPr>
              <a:spLocks noChangeArrowheads="1"/>
            </p:cNvSpPr>
            <p:nvPr/>
          </p:nvSpPr>
          <p:spPr bwMode="auto">
            <a:xfrm>
              <a:off x="3800747" y="4078195"/>
              <a:ext cx="9144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err="1">
                  <a:latin typeface="Tahoma" pitchFamily="34" charset="0"/>
                </a:rPr>
                <a:t>tp</a:t>
              </a:r>
              <a:endParaRPr kumimoji="1" lang="en-US" altLang="zh-CN" sz="2400" dirty="0">
                <a:latin typeface="Tahoma" pitchFamily="34" charset="0"/>
              </a:endParaRPr>
            </a:p>
          </p:txBody>
        </p:sp>
      </p:grpSp>
      <p:sp>
        <p:nvSpPr>
          <p:cNvPr id="16" name="Text Box 7"/>
          <p:cNvSpPr txBox="1">
            <a:spLocks noChangeArrowheads="1"/>
          </p:cNvSpPr>
          <p:nvPr/>
        </p:nvSpPr>
        <p:spPr bwMode="auto">
          <a:xfrm>
            <a:off x="3549328" y="4933430"/>
            <a:ext cx="10175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表</a:t>
            </a:r>
            <a:r>
              <a:rPr lang="zh-CN" altLang="zh-CN" sz="2000" dirty="0">
                <a:latin typeface="微软雅黑" pitchFamily="34" charset="-122"/>
                <a:ea typeface="微软雅黑" pitchFamily="34" charset="-122"/>
                <a:cs typeface="经典粗黑简" pitchFamily="49" charset="-122"/>
              </a:rPr>
              <a:t>结点</a:t>
            </a:r>
            <a:endParaRPr lang="zh-CN" altLang="en-US" sz="2000" dirty="0">
              <a:latin typeface="微软雅黑" pitchFamily="34" charset="-122"/>
              <a:ea typeface="微软雅黑" pitchFamily="34" charset="-122"/>
              <a:cs typeface="经典粗黑简" pitchFamily="49" charset="-122"/>
            </a:endParaRPr>
          </a:p>
        </p:txBody>
      </p:sp>
      <p:sp>
        <p:nvSpPr>
          <p:cNvPr id="17" name="Rectangle 13"/>
          <p:cNvSpPr>
            <a:spLocks noChangeArrowheads="1"/>
          </p:cNvSpPr>
          <p:nvPr/>
        </p:nvSpPr>
        <p:spPr bwMode="auto">
          <a:xfrm>
            <a:off x="6166558" y="3571269"/>
            <a:ext cx="4320480" cy="3170099"/>
          </a:xfrm>
          <a:prstGeom prst="rect">
            <a:avLst/>
          </a:prstGeom>
          <a:noFill/>
          <a:ln>
            <a:noFill/>
          </a:ln>
          <a:effectLst/>
          <a:extLst>
            <a:ext uri="{909E8E84-426E-40DD-AFC4-6F175D3DCCD1}">
              <a14:hiddenFill xmlns:a14="http://schemas.microsoft.com/office/drawing/2010/main">
                <a:gradFill rotWithShape="0">
                  <a:gsLst>
                    <a:gs pos="0">
                      <a:schemeClr val="bg1">
                        <a:gamma/>
                        <a:shade val="46275"/>
                        <a:invGamma/>
                      </a:schemeClr>
                    </a:gs>
                    <a:gs pos="50000">
                      <a:schemeClr val="bg1"/>
                    </a:gs>
                    <a:gs pos="100000">
                      <a:schemeClr val="bg1">
                        <a:gamma/>
                        <a:shade val="46275"/>
                        <a:invGamma/>
                      </a:schemeClr>
                    </a:gs>
                  </a:gsLst>
                  <a:lin ang="5400000" scaled="1"/>
                </a:gradFill>
              </a14:hiddenFill>
            </a:ext>
            <a:ext uri="{91240B29-F687-4F45-9708-019B960494DF}">
              <a14:hiddenLine xmlns:a14="http://schemas.microsoft.com/office/drawing/2010/main" w="38100">
                <a:solidFill>
                  <a:srgbClr val="33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eaLnBrk="0" hangingPunct="0">
              <a:defRPr/>
            </a:pPr>
            <a:r>
              <a:rPr lang="en-US" altLang="zh-CN" sz="2000" dirty="0" err="1">
                <a:latin typeface="Times New Roman" pitchFamily="18" charset="0"/>
              </a:rPr>
              <a:t>typedef</a:t>
            </a:r>
            <a:r>
              <a:rPr lang="en-US" altLang="zh-CN" sz="2000" dirty="0">
                <a:latin typeface="Times New Roman" pitchFamily="18" charset="0"/>
              </a:rPr>
              <a:t> </a:t>
            </a:r>
            <a:r>
              <a:rPr lang="en-US" altLang="zh-CN" sz="2000" dirty="0" err="1">
                <a:latin typeface="Times New Roman" pitchFamily="18" charset="0"/>
              </a:rPr>
              <a:t>enum</a:t>
            </a:r>
            <a:r>
              <a:rPr lang="en-US" altLang="zh-CN" sz="2000" dirty="0">
                <a:latin typeface="Times New Roman" pitchFamily="18" charset="0"/>
              </a:rPr>
              <a:t> {ATOM,LIST} </a:t>
            </a:r>
            <a:r>
              <a:rPr lang="en-US" altLang="zh-CN" sz="2000" dirty="0" err="1">
                <a:latin typeface="Times New Roman" pitchFamily="18" charset="0"/>
              </a:rPr>
              <a:t>Elemtag</a:t>
            </a:r>
            <a:r>
              <a:rPr lang="en-US" altLang="zh-CN" sz="2000" dirty="0">
                <a:latin typeface="Times New Roman" pitchFamily="18" charset="0"/>
              </a:rPr>
              <a:t>;</a:t>
            </a:r>
            <a:br>
              <a:rPr lang="en-US" altLang="zh-CN" sz="2000" dirty="0">
                <a:latin typeface="Times New Roman" pitchFamily="18" charset="0"/>
              </a:rPr>
            </a:br>
            <a:r>
              <a:rPr lang="en-US" altLang="zh-CN" sz="2000" dirty="0" err="1">
                <a:latin typeface="Times New Roman" pitchFamily="18" charset="0"/>
              </a:rPr>
              <a:t>typedef</a:t>
            </a:r>
            <a:r>
              <a:rPr lang="en-US" altLang="zh-CN" sz="2000" dirty="0">
                <a:latin typeface="Times New Roman" pitchFamily="18" charset="0"/>
              </a:rPr>
              <a:t> </a:t>
            </a:r>
            <a:r>
              <a:rPr lang="en-US" altLang="zh-CN" sz="2000" dirty="0" err="1">
                <a:latin typeface="Times New Roman" pitchFamily="18" charset="0"/>
              </a:rPr>
              <a:t>struct</a:t>
            </a:r>
            <a:r>
              <a:rPr lang="en-US" altLang="zh-CN" sz="2000" dirty="0">
                <a:latin typeface="Times New Roman" pitchFamily="18" charset="0"/>
              </a:rPr>
              <a:t> </a:t>
            </a:r>
            <a:r>
              <a:rPr lang="en-US" altLang="zh-CN" sz="2000" dirty="0" err="1">
                <a:latin typeface="Times New Roman" pitchFamily="18" charset="0"/>
              </a:rPr>
              <a:t>GLNode</a:t>
            </a:r>
            <a:endParaRPr lang="en-US" altLang="zh-CN" sz="2000" dirty="0">
              <a:latin typeface="Times New Roman" pitchFamily="18" charset="0"/>
            </a:endParaRPr>
          </a:p>
          <a:p>
            <a:pPr eaLnBrk="0" hangingPunct="0">
              <a:defRPr/>
            </a:pPr>
            <a:r>
              <a:rPr lang="en-US" altLang="zh-CN" sz="2000" dirty="0">
                <a:latin typeface="Times New Roman" pitchFamily="18" charset="0"/>
              </a:rPr>
              <a:t>{</a:t>
            </a:r>
            <a:br>
              <a:rPr lang="en-US" altLang="zh-CN" sz="2000" dirty="0">
                <a:latin typeface="Times New Roman" pitchFamily="18" charset="0"/>
              </a:rPr>
            </a:br>
            <a:r>
              <a:rPr lang="en-US" altLang="zh-CN" sz="2000" dirty="0">
                <a:latin typeface="Times New Roman" pitchFamily="18" charset="0"/>
              </a:rPr>
              <a:t>      </a:t>
            </a:r>
            <a:r>
              <a:rPr lang="en-US" altLang="zh-CN" sz="2000" dirty="0" err="1">
                <a:latin typeface="Times New Roman" pitchFamily="18" charset="0"/>
              </a:rPr>
              <a:t>Elemtag</a:t>
            </a:r>
            <a:r>
              <a:rPr lang="en-US" altLang="zh-CN" sz="2000" dirty="0">
                <a:latin typeface="Times New Roman" pitchFamily="18" charset="0"/>
              </a:rPr>
              <a:t> tag;</a:t>
            </a:r>
            <a:br>
              <a:rPr lang="en-US" altLang="zh-CN" sz="2000" dirty="0">
                <a:latin typeface="Times New Roman" pitchFamily="18" charset="0"/>
              </a:rPr>
            </a:br>
            <a:r>
              <a:rPr lang="en-US" altLang="zh-CN" sz="2000" dirty="0">
                <a:latin typeface="Times New Roman" pitchFamily="18" charset="0"/>
              </a:rPr>
              <a:t>      union{</a:t>
            </a:r>
            <a:br>
              <a:rPr lang="en-US" altLang="zh-CN" sz="2000" dirty="0">
                <a:latin typeface="Times New Roman" pitchFamily="18" charset="0"/>
              </a:rPr>
            </a:br>
            <a:r>
              <a:rPr lang="en-US" altLang="zh-CN" sz="2000" dirty="0">
                <a:latin typeface="Times New Roman" pitchFamily="18" charset="0"/>
              </a:rPr>
              <a:t>                 </a:t>
            </a:r>
            <a:r>
              <a:rPr lang="en-US" altLang="zh-CN" sz="2000" dirty="0" err="1">
                <a:latin typeface="Times New Roman" pitchFamily="18" charset="0"/>
              </a:rPr>
              <a:t>AtomType</a:t>
            </a:r>
            <a:r>
              <a:rPr lang="en-US" altLang="zh-CN" sz="2000" dirty="0">
                <a:latin typeface="Times New Roman" pitchFamily="18" charset="0"/>
              </a:rPr>
              <a:t> atom;</a:t>
            </a:r>
            <a:br>
              <a:rPr lang="en-US" altLang="zh-CN" sz="2000" dirty="0">
                <a:latin typeface="Times New Roman" pitchFamily="18" charset="0"/>
              </a:rPr>
            </a:br>
            <a:r>
              <a:rPr lang="en-US" altLang="zh-CN" sz="2000" dirty="0">
                <a:latin typeface="Times New Roman" pitchFamily="18" charset="0"/>
              </a:rPr>
              <a:t>                 </a:t>
            </a:r>
            <a:r>
              <a:rPr lang="en-US" altLang="zh-CN" sz="2000" dirty="0" err="1">
                <a:latin typeface="Times New Roman" pitchFamily="18" charset="0"/>
              </a:rPr>
              <a:t>struct</a:t>
            </a:r>
            <a:r>
              <a:rPr lang="en-US" altLang="zh-CN" sz="2000" dirty="0">
                <a:latin typeface="Times New Roman" pitchFamily="18" charset="0"/>
              </a:rPr>
              <a:t> </a:t>
            </a:r>
            <a:r>
              <a:rPr lang="en-US" altLang="zh-CN" sz="2000" dirty="0" err="1">
                <a:latin typeface="Times New Roman" pitchFamily="18" charset="0"/>
              </a:rPr>
              <a:t>GLNode</a:t>
            </a:r>
            <a:r>
              <a:rPr lang="en-US" altLang="zh-CN" sz="2000" dirty="0">
                <a:latin typeface="Times New Roman" pitchFamily="18" charset="0"/>
              </a:rPr>
              <a:t> *</a:t>
            </a:r>
            <a:r>
              <a:rPr lang="en-US" altLang="zh-CN" sz="2000" dirty="0" err="1">
                <a:latin typeface="Times New Roman" pitchFamily="18" charset="0"/>
              </a:rPr>
              <a:t>hp</a:t>
            </a:r>
            <a:r>
              <a:rPr lang="en-US" altLang="zh-CN" sz="2000" dirty="0">
                <a:latin typeface="Times New Roman" pitchFamily="18" charset="0"/>
              </a:rPr>
              <a:t>;</a:t>
            </a:r>
            <a:br>
              <a:rPr lang="en-US" altLang="zh-CN" sz="2000" dirty="0">
                <a:latin typeface="Times New Roman" pitchFamily="18" charset="0"/>
              </a:rPr>
            </a:br>
            <a:r>
              <a:rPr lang="en-US" altLang="zh-CN" sz="2000" dirty="0">
                <a:latin typeface="Times New Roman" pitchFamily="18" charset="0"/>
              </a:rPr>
              <a:t>         };</a:t>
            </a:r>
          </a:p>
          <a:p>
            <a:pPr eaLnBrk="0" hangingPunct="0">
              <a:defRPr/>
            </a:pPr>
            <a:r>
              <a:rPr lang="en-US" altLang="zh-CN" sz="2000" dirty="0">
                <a:latin typeface="Times New Roman" pitchFamily="18" charset="0"/>
              </a:rPr>
              <a:t>       </a:t>
            </a:r>
            <a:r>
              <a:rPr lang="en-US" altLang="zh-CN" sz="2000" dirty="0" err="1">
                <a:latin typeface="Times New Roman" pitchFamily="18" charset="0"/>
              </a:rPr>
              <a:t>struct</a:t>
            </a:r>
            <a:r>
              <a:rPr lang="en-US" altLang="zh-CN" sz="2000" dirty="0">
                <a:latin typeface="Times New Roman" pitchFamily="18" charset="0"/>
              </a:rPr>
              <a:t> </a:t>
            </a:r>
            <a:r>
              <a:rPr lang="en-US" altLang="zh-CN" sz="2000" dirty="0" err="1">
                <a:latin typeface="Times New Roman" pitchFamily="18" charset="0"/>
              </a:rPr>
              <a:t>GLNode</a:t>
            </a:r>
            <a:r>
              <a:rPr lang="en-US" altLang="zh-CN" sz="2000" dirty="0">
                <a:latin typeface="Times New Roman" pitchFamily="18" charset="0"/>
              </a:rPr>
              <a:t> *</a:t>
            </a:r>
            <a:r>
              <a:rPr lang="en-US" altLang="zh-CN" sz="2000" dirty="0" err="1">
                <a:latin typeface="Times New Roman" pitchFamily="18" charset="0"/>
              </a:rPr>
              <a:t>tp</a:t>
            </a:r>
            <a:r>
              <a:rPr lang="en-US" altLang="zh-CN" sz="2000" dirty="0">
                <a:latin typeface="Times New Roman" pitchFamily="18" charset="0"/>
              </a:rPr>
              <a:t>;</a:t>
            </a:r>
            <a:br>
              <a:rPr lang="en-US" altLang="zh-CN" sz="2000" dirty="0">
                <a:latin typeface="Times New Roman" pitchFamily="18" charset="0"/>
              </a:rPr>
            </a:br>
            <a:r>
              <a:rPr lang="en-US" altLang="zh-CN" sz="2000" dirty="0">
                <a:latin typeface="Times New Roman" pitchFamily="18" charset="0"/>
              </a:rPr>
              <a:t>}*</a:t>
            </a:r>
            <a:r>
              <a:rPr lang="en-US" altLang="zh-CN" sz="2000" dirty="0" err="1">
                <a:latin typeface="Times New Roman" pitchFamily="18" charset="0"/>
              </a:rPr>
              <a:t>GList</a:t>
            </a:r>
            <a:r>
              <a:rPr lang="en-US" altLang="zh-CN" sz="2000" dirty="0">
                <a:latin typeface="Times New Roman" pitchFamily="18" charset="0"/>
              </a:rPr>
              <a:t>;</a:t>
            </a:r>
          </a:p>
        </p:txBody>
      </p:sp>
      <p:sp>
        <p:nvSpPr>
          <p:cNvPr id="18" name="矩形 17"/>
          <p:cNvSpPr/>
          <p:nvPr/>
        </p:nvSpPr>
        <p:spPr>
          <a:xfrm>
            <a:off x="1878234" y="3111351"/>
            <a:ext cx="5416868" cy="461665"/>
          </a:xfrm>
          <a:prstGeom prst="rect">
            <a:avLst/>
          </a:prstGeom>
        </p:spPr>
        <p:txBody>
          <a:bodyPr wrap="none">
            <a:spAutoFit/>
          </a:bodyPr>
          <a:lstStyle/>
          <a:p>
            <a:r>
              <a:rPr lang="zh-CN" altLang="zh-CN" sz="2400" dirty="0">
                <a:latin typeface="微软雅黑" pitchFamily="34" charset="-122"/>
                <a:ea typeface="微软雅黑" pitchFamily="34" charset="-122"/>
                <a:cs typeface="经典粗黑简" pitchFamily="49" charset="-122"/>
              </a:rPr>
              <a:t>孩子兄弟表示法的存储结构实现如下：</a:t>
            </a:r>
          </a:p>
        </p:txBody>
      </p:sp>
      <p:grpSp>
        <p:nvGrpSpPr>
          <p:cNvPr id="19" name="组合 18"/>
          <p:cNvGrpSpPr/>
          <p:nvPr/>
        </p:nvGrpSpPr>
        <p:grpSpPr>
          <a:xfrm>
            <a:off x="2601545" y="5515864"/>
            <a:ext cx="2828154" cy="533400"/>
            <a:chOff x="1890259" y="5400856"/>
            <a:chExt cx="2828154" cy="533400"/>
          </a:xfrm>
        </p:grpSpPr>
        <p:sp>
          <p:nvSpPr>
            <p:cNvPr id="20" name="Rectangle 8"/>
            <p:cNvSpPr>
              <a:spLocks noChangeArrowheads="1"/>
            </p:cNvSpPr>
            <p:nvPr/>
          </p:nvSpPr>
          <p:spPr bwMode="auto">
            <a:xfrm>
              <a:off x="1890259" y="5400856"/>
              <a:ext cx="9906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tag=0</a:t>
              </a:r>
            </a:p>
          </p:txBody>
        </p:sp>
        <p:sp>
          <p:nvSpPr>
            <p:cNvPr id="21" name="Rectangle 9"/>
            <p:cNvSpPr>
              <a:spLocks noChangeArrowheads="1"/>
            </p:cNvSpPr>
            <p:nvPr/>
          </p:nvSpPr>
          <p:spPr bwMode="auto">
            <a:xfrm>
              <a:off x="2889613" y="5400856"/>
              <a:ext cx="9144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atom</a:t>
              </a:r>
            </a:p>
          </p:txBody>
        </p:sp>
        <p:sp>
          <p:nvSpPr>
            <p:cNvPr id="22" name="Rectangle 9"/>
            <p:cNvSpPr>
              <a:spLocks noChangeArrowheads="1"/>
            </p:cNvSpPr>
            <p:nvPr/>
          </p:nvSpPr>
          <p:spPr bwMode="auto">
            <a:xfrm>
              <a:off x="3804013" y="5400856"/>
              <a:ext cx="9144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err="1">
                  <a:latin typeface="Tahoma" pitchFamily="34" charset="0"/>
                </a:rPr>
                <a:t>tp</a:t>
              </a:r>
              <a:endParaRPr kumimoji="1" lang="en-US" altLang="zh-CN" sz="2400" dirty="0">
                <a:latin typeface="Tahoma" pitchFamily="34" charset="0"/>
              </a:endParaRPr>
            </a:p>
          </p:txBody>
        </p:sp>
      </p:grpSp>
      <p:sp>
        <p:nvSpPr>
          <p:cNvPr id="23" name="Text Box 7"/>
          <p:cNvSpPr txBox="1">
            <a:spLocks noChangeArrowheads="1"/>
          </p:cNvSpPr>
          <p:nvPr/>
        </p:nvSpPr>
        <p:spPr bwMode="auto">
          <a:xfrm>
            <a:off x="3396894" y="6224717"/>
            <a:ext cx="13224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2000" dirty="0">
                <a:latin typeface="微软雅黑" pitchFamily="34" charset="-122"/>
                <a:ea typeface="微软雅黑" pitchFamily="34" charset="-122"/>
                <a:cs typeface="经典粗黑简" pitchFamily="49" charset="-122"/>
              </a:rPr>
              <a:t>原子</a:t>
            </a:r>
            <a:r>
              <a:rPr lang="zh-CN" altLang="zh-CN" sz="2000" dirty="0">
                <a:latin typeface="微软雅黑" pitchFamily="34" charset="-122"/>
                <a:ea typeface="微软雅黑" pitchFamily="34" charset="-122"/>
                <a:cs typeface="经典粗黑简" pitchFamily="49" charset="-122"/>
              </a:rPr>
              <a:t>结点</a:t>
            </a:r>
            <a:endParaRPr lang="zh-CN" altLang="en-US" sz="20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A0B80507-E084-D2B6-874C-5B8019A9D523}"/>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3" name="直接连接符 2">
            <a:extLst>
              <a:ext uri="{FF2B5EF4-FFF2-40B4-BE49-F238E27FC236}">
                <a16:creationId xmlns:a16="http://schemas.microsoft.com/office/drawing/2014/main" id="{0BC44FFE-CF64-AE3B-4BC7-E9CFA08B0FEF}"/>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C32E57A2-868F-2DDC-A2A9-3C5075D4B406}"/>
              </a:ext>
            </a:extLst>
          </p:cNvPr>
          <p:cNvSpPr txBox="1">
            <a:spLocks noChangeArrowheads="1"/>
          </p:cNvSpPr>
          <p:nvPr/>
        </p:nvSpPr>
        <p:spPr>
          <a:xfrm>
            <a:off x="191344" y="1106736"/>
            <a:ext cx="4536504"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b="1" dirty="0">
                <a:solidFill>
                  <a:schemeClr val="bg1"/>
                </a:solidFill>
                <a:latin typeface="经典粗黑简" pitchFamily="49" charset="-122"/>
                <a:ea typeface="经典粗黑简" pitchFamily="49" charset="-122"/>
                <a:cs typeface="经典粗黑简" pitchFamily="49" charset="-122"/>
              </a:rPr>
              <a:t>6.3.2 </a:t>
            </a:r>
            <a:r>
              <a:rPr lang="zh-CN" altLang="en-US" sz="2800" b="1" dirty="0">
                <a:solidFill>
                  <a:schemeClr val="bg1"/>
                </a:solidFill>
                <a:latin typeface="经典粗黑简" pitchFamily="49" charset="-122"/>
                <a:ea typeface="经典粗黑简" pitchFamily="49" charset="-122"/>
                <a:cs typeface="经典粗黑简" pitchFamily="49" charset="-122"/>
              </a:rPr>
              <a:t>广义表的存储结构</a:t>
            </a:r>
          </a:p>
        </p:txBody>
      </p:sp>
    </p:spTree>
    <p:extLst>
      <p:ext uri="{BB962C8B-B14F-4D97-AF65-F5344CB8AC3E}">
        <p14:creationId xmlns:p14="http://schemas.microsoft.com/office/powerpoint/2010/main" val="223656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P spid="17" grpId="0"/>
      <p:bldP spid="2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67543" y="1407788"/>
            <a:ext cx="2384355" cy="2308324"/>
          </a:xfrm>
          <a:prstGeom prst="rect">
            <a:avLst/>
          </a:prstGeom>
        </p:spPr>
        <p:txBody>
          <a:bodyPr wrap="square">
            <a:spAutoFit/>
          </a:bodyPr>
          <a:lstStyle/>
          <a:p>
            <a:r>
              <a:rPr lang="en-US" altLang="zh-CN" sz="2400" dirty="0">
                <a:latin typeface="微软雅黑" pitchFamily="34" charset="-122"/>
                <a:ea typeface="微软雅黑" pitchFamily="34" charset="-122"/>
                <a:cs typeface="经典粗黑简" pitchFamily="49" charset="-122"/>
              </a:rPr>
              <a:t>A = ()</a:t>
            </a:r>
          </a:p>
          <a:p>
            <a:r>
              <a:rPr lang="en-US" altLang="zh-CN" sz="2400" dirty="0">
                <a:latin typeface="微软雅黑" pitchFamily="34" charset="-122"/>
                <a:ea typeface="微软雅黑" pitchFamily="34" charset="-122"/>
                <a:cs typeface="经典粗黑简" pitchFamily="49" charset="-122"/>
              </a:rPr>
              <a:t>B = (e)</a:t>
            </a:r>
          </a:p>
          <a:p>
            <a:r>
              <a:rPr lang="en-US" altLang="zh-CN" sz="2400" dirty="0">
                <a:latin typeface="微软雅黑" pitchFamily="34" charset="-122"/>
                <a:ea typeface="微软雅黑" pitchFamily="34" charset="-122"/>
                <a:cs typeface="经典粗黑简" pitchFamily="49" charset="-122"/>
              </a:rPr>
              <a:t>C = (a,(</a:t>
            </a:r>
            <a:r>
              <a:rPr lang="en-US" altLang="zh-CN" sz="2400" dirty="0" err="1">
                <a:latin typeface="微软雅黑" pitchFamily="34" charset="-122"/>
                <a:ea typeface="微软雅黑" pitchFamily="34" charset="-122"/>
                <a:cs typeface="经典粗黑简" pitchFamily="49" charset="-122"/>
              </a:rPr>
              <a:t>b,c,d</a:t>
            </a:r>
            <a:r>
              <a:rPr lang="en-US" altLang="zh-CN" sz="2400" dirty="0">
                <a:latin typeface="微软雅黑" pitchFamily="34" charset="-122"/>
                <a:ea typeface="微软雅黑" pitchFamily="34" charset="-122"/>
                <a:cs typeface="经典粗黑简" pitchFamily="49" charset="-122"/>
              </a:rPr>
              <a:t>))</a:t>
            </a:r>
          </a:p>
          <a:p>
            <a:r>
              <a:rPr lang="en-US" altLang="zh-CN" sz="2400" dirty="0">
                <a:latin typeface="微软雅黑" pitchFamily="34" charset="-122"/>
                <a:ea typeface="微软雅黑" pitchFamily="34" charset="-122"/>
                <a:cs typeface="经典粗黑简" pitchFamily="49" charset="-122"/>
              </a:rPr>
              <a:t>D = (A,B,C)</a:t>
            </a:r>
          </a:p>
          <a:p>
            <a:r>
              <a:rPr lang="en-US" altLang="zh-CN" sz="2400" dirty="0">
                <a:latin typeface="微软雅黑" pitchFamily="34" charset="-122"/>
                <a:ea typeface="微软雅黑" pitchFamily="34" charset="-122"/>
                <a:cs typeface="经典粗黑简" pitchFamily="49" charset="-122"/>
              </a:rPr>
              <a:t>E = (</a:t>
            </a:r>
            <a:r>
              <a:rPr lang="en-US" altLang="zh-CN" sz="2400" dirty="0" err="1">
                <a:latin typeface="微软雅黑" pitchFamily="34" charset="-122"/>
                <a:ea typeface="微软雅黑" pitchFamily="34" charset="-122"/>
                <a:cs typeface="经典粗黑简" pitchFamily="49" charset="-122"/>
              </a:rPr>
              <a:t>a,E</a:t>
            </a:r>
            <a:r>
              <a:rPr lang="en-US" altLang="zh-CN" sz="2400" dirty="0">
                <a:latin typeface="微软雅黑" pitchFamily="34" charset="-122"/>
                <a:ea typeface="微软雅黑" pitchFamily="34" charset="-122"/>
                <a:cs typeface="经典粗黑简" pitchFamily="49" charset="-122"/>
              </a:rPr>
              <a:t>)</a:t>
            </a:r>
          </a:p>
          <a:p>
            <a:r>
              <a:rPr lang="en-US" altLang="zh-CN" sz="2400" dirty="0">
                <a:latin typeface="微软雅黑" pitchFamily="34" charset="-122"/>
                <a:ea typeface="微软雅黑" pitchFamily="34" charset="-122"/>
                <a:cs typeface="经典粗黑简" pitchFamily="49" charset="-122"/>
              </a:rPr>
              <a:t>F </a:t>
            </a:r>
            <a:r>
              <a:rPr lang="zh-CN" altLang="zh-CN"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t>
            </a:r>
          </a:p>
        </p:txBody>
      </p:sp>
      <p:sp>
        <p:nvSpPr>
          <p:cNvPr id="25" name="Text Box 47"/>
          <p:cNvSpPr txBox="1">
            <a:spLocks noChangeArrowheads="1"/>
          </p:cNvSpPr>
          <p:nvPr/>
        </p:nvSpPr>
        <p:spPr bwMode="auto">
          <a:xfrm>
            <a:off x="8328248" y="169214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A</a:t>
            </a:r>
          </a:p>
        </p:txBody>
      </p:sp>
      <p:sp>
        <p:nvSpPr>
          <p:cNvPr id="26" name="Line 48"/>
          <p:cNvSpPr>
            <a:spLocks noChangeShapeType="1"/>
          </p:cNvSpPr>
          <p:nvPr/>
        </p:nvSpPr>
        <p:spPr bwMode="auto">
          <a:xfrm>
            <a:off x="8709248" y="1920740"/>
            <a:ext cx="6096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 name="Rectangle 49"/>
          <p:cNvSpPr>
            <a:spLocks noChangeArrowheads="1"/>
          </p:cNvSpPr>
          <p:nvPr/>
        </p:nvSpPr>
        <p:spPr bwMode="auto">
          <a:xfrm>
            <a:off x="9318848" y="1615940"/>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1</a:t>
            </a:r>
          </a:p>
        </p:txBody>
      </p:sp>
      <p:sp>
        <p:nvSpPr>
          <p:cNvPr id="28" name="Line 37"/>
          <p:cNvSpPr>
            <a:spLocks noChangeShapeType="1"/>
          </p:cNvSpPr>
          <p:nvPr/>
        </p:nvSpPr>
        <p:spPr bwMode="auto">
          <a:xfrm flipV="1">
            <a:off x="8709248" y="3474650"/>
            <a:ext cx="515888" cy="1286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29" name="Group 38"/>
          <p:cNvGrpSpPr>
            <a:grpSpLocks/>
          </p:cNvGrpSpPr>
          <p:nvPr/>
        </p:nvGrpSpPr>
        <p:grpSpPr bwMode="auto">
          <a:xfrm>
            <a:off x="9192344" y="3149322"/>
            <a:ext cx="1371600" cy="533400"/>
            <a:chOff x="768" y="1584"/>
            <a:chExt cx="864" cy="336"/>
          </a:xfrm>
        </p:grpSpPr>
        <p:sp>
          <p:nvSpPr>
            <p:cNvPr id="30" name="Rectangle 39"/>
            <p:cNvSpPr>
              <a:spLocks noChangeArrowheads="1"/>
            </p:cNvSpPr>
            <p:nvPr/>
          </p:nvSpPr>
          <p:spPr bwMode="auto">
            <a:xfrm>
              <a:off x="768" y="158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31" name="Rectangle 40"/>
            <p:cNvSpPr>
              <a:spLocks noChangeArrowheads="1"/>
            </p:cNvSpPr>
            <p:nvPr/>
          </p:nvSpPr>
          <p:spPr bwMode="auto">
            <a:xfrm>
              <a:off x="1056" y="158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32" name="Rectangle 41"/>
            <p:cNvSpPr>
              <a:spLocks noChangeArrowheads="1"/>
            </p:cNvSpPr>
            <p:nvPr/>
          </p:nvSpPr>
          <p:spPr bwMode="auto">
            <a:xfrm>
              <a:off x="1344" y="158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grpSp>
      <p:sp>
        <p:nvSpPr>
          <p:cNvPr id="33" name="Line 42"/>
          <p:cNvSpPr>
            <a:spLocks noChangeShapeType="1"/>
          </p:cNvSpPr>
          <p:nvPr/>
        </p:nvSpPr>
        <p:spPr bwMode="auto">
          <a:xfrm>
            <a:off x="10004648" y="2801712"/>
            <a:ext cx="0" cy="609600"/>
          </a:xfrm>
          <a:prstGeom prst="line">
            <a:avLst/>
          </a:prstGeom>
          <a:noFill/>
          <a:ln w="2222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 name="Rectangle 44"/>
          <p:cNvSpPr>
            <a:spLocks noChangeArrowheads="1"/>
          </p:cNvSpPr>
          <p:nvPr/>
        </p:nvSpPr>
        <p:spPr bwMode="auto">
          <a:xfrm>
            <a:off x="9192344" y="2295250"/>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0</a:t>
            </a:r>
          </a:p>
        </p:txBody>
      </p:sp>
      <p:sp>
        <p:nvSpPr>
          <p:cNvPr id="35" name="Rectangle 45"/>
          <p:cNvSpPr>
            <a:spLocks noChangeArrowheads="1"/>
          </p:cNvSpPr>
          <p:nvPr/>
        </p:nvSpPr>
        <p:spPr bwMode="auto">
          <a:xfrm>
            <a:off x="9649544" y="2295250"/>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e</a:t>
            </a:r>
          </a:p>
        </p:txBody>
      </p:sp>
      <p:sp>
        <p:nvSpPr>
          <p:cNvPr id="36" name="Text Box 46"/>
          <p:cNvSpPr txBox="1">
            <a:spLocks noChangeArrowheads="1"/>
          </p:cNvSpPr>
          <p:nvPr/>
        </p:nvSpPr>
        <p:spPr bwMode="auto">
          <a:xfrm>
            <a:off x="8328248" y="325891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a:latin typeface="Tahoma" pitchFamily="34" charset="0"/>
              </a:rPr>
              <a:t>B</a:t>
            </a:r>
          </a:p>
        </p:txBody>
      </p:sp>
      <p:sp>
        <p:nvSpPr>
          <p:cNvPr id="37" name="Text Box 4"/>
          <p:cNvSpPr txBox="1">
            <a:spLocks noChangeArrowheads="1"/>
          </p:cNvSpPr>
          <p:nvPr/>
        </p:nvSpPr>
        <p:spPr bwMode="auto">
          <a:xfrm>
            <a:off x="4727399" y="4400823"/>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C</a:t>
            </a:r>
          </a:p>
        </p:txBody>
      </p:sp>
      <p:sp>
        <p:nvSpPr>
          <p:cNvPr id="38" name="Line 5"/>
          <p:cNvSpPr>
            <a:spLocks noChangeShapeType="1"/>
          </p:cNvSpPr>
          <p:nvPr/>
        </p:nvSpPr>
        <p:spPr bwMode="auto">
          <a:xfrm>
            <a:off x="5108399" y="4629423"/>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 name="Rectangle 7"/>
          <p:cNvSpPr>
            <a:spLocks noChangeArrowheads="1"/>
          </p:cNvSpPr>
          <p:nvPr/>
        </p:nvSpPr>
        <p:spPr bwMode="auto">
          <a:xfrm>
            <a:off x="5717999" y="4324623"/>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40" name="Rectangle 8"/>
          <p:cNvSpPr>
            <a:spLocks noChangeArrowheads="1"/>
          </p:cNvSpPr>
          <p:nvPr/>
        </p:nvSpPr>
        <p:spPr bwMode="auto">
          <a:xfrm>
            <a:off x="6175199" y="4324623"/>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41" name="Line 10"/>
          <p:cNvSpPr>
            <a:spLocks noChangeShapeType="1"/>
          </p:cNvSpPr>
          <p:nvPr/>
        </p:nvSpPr>
        <p:spPr bwMode="auto">
          <a:xfrm>
            <a:off x="2734415" y="5523048"/>
            <a:ext cx="0" cy="609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 name="Rectangle 11"/>
          <p:cNvSpPr>
            <a:spLocks noChangeArrowheads="1"/>
          </p:cNvSpPr>
          <p:nvPr/>
        </p:nvSpPr>
        <p:spPr bwMode="auto">
          <a:xfrm>
            <a:off x="5717999" y="5239023"/>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0</a:t>
            </a:r>
          </a:p>
        </p:txBody>
      </p:sp>
      <p:sp>
        <p:nvSpPr>
          <p:cNvPr id="43" name="Rectangle 12"/>
          <p:cNvSpPr>
            <a:spLocks noChangeArrowheads="1"/>
          </p:cNvSpPr>
          <p:nvPr/>
        </p:nvSpPr>
        <p:spPr bwMode="auto">
          <a:xfrm>
            <a:off x="6175199" y="5239023"/>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a:t>
            </a:r>
          </a:p>
        </p:txBody>
      </p:sp>
      <p:sp>
        <p:nvSpPr>
          <p:cNvPr id="44" name="Line 13"/>
          <p:cNvSpPr>
            <a:spLocks noChangeShapeType="1"/>
          </p:cNvSpPr>
          <p:nvPr/>
        </p:nvSpPr>
        <p:spPr bwMode="auto">
          <a:xfrm>
            <a:off x="6891390" y="5526360"/>
            <a:ext cx="45389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 name="Rectangle 14"/>
          <p:cNvSpPr>
            <a:spLocks noChangeArrowheads="1"/>
          </p:cNvSpPr>
          <p:nvPr/>
        </p:nvSpPr>
        <p:spPr bwMode="auto">
          <a:xfrm>
            <a:off x="7320136" y="5221560"/>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46" name="Rectangle 15"/>
          <p:cNvSpPr>
            <a:spLocks noChangeArrowheads="1"/>
          </p:cNvSpPr>
          <p:nvPr/>
        </p:nvSpPr>
        <p:spPr bwMode="auto">
          <a:xfrm>
            <a:off x="7777336" y="5221560"/>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47" name="Rectangle 16"/>
          <p:cNvSpPr>
            <a:spLocks noChangeArrowheads="1"/>
          </p:cNvSpPr>
          <p:nvPr/>
        </p:nvSpPr>
        <p:spPr bwMode="auto">
          <a:xfrm>
            <a:off x="8234536" y="5221560"/>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sp>
        <p:nvSpPr>
          <p:cNvPr id="48" name="Line 17"/>
          <p:cNvSpPr>
            <a:spLocks noChangeShapeType="1"/>
          </p:cNvSpPr>
          <p:nvPr/>
        </p:nvSpPr>
        <p:spPr bwMode="auto">
          <a:xfrm flipH="1">
            <a:off x="6781800" y="5526361"/>
            <a:ext cx="1186408" cy="592137"/>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Rectangle 49"/>
          <p:cNvSpPr>
            <a:spLocks noChangeArrowheads="1"/>
          </p:cNvSpPr>
          <p:nvPr/>
        </p:nvSpPr>
        <p:spPr bwMode="auto">
          <a:xfrm>
            <a:off x="9776048" y="1615940"/>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t>
            </a:r>
          </a:p>
        </p:txBody>
      </p:sp>
      <p:sp>
        <p:nvSpPr>
          <p:cNvPr id="50" name="Rectangle 49"/>
          <p:cNvSpPr>
            <a:spLocks noChangeArrowheads="1"/>
          </p:cNvSpPr>
          <p:nvPr/>
        </p:nvSpPr>
        <p:spPr bwMode="auto">
          <a:xfrm>
            <a:off x="5695850" y="1250617"/>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t>
            </a:r>
          </a:p>
        </p:txBody>
      </p:sp>
      <p:sp>
        <p:nvSpPr>
          <p:cNvPr id="51" name="Rectangle 49"/>
          <p:cNvSpPr>
            <a:spLocks noChangeArrowheads="1"/>
          </p:cNvSpPr>
          <p:nvPr/>
        </p:nvSpPr>
        <p:spPr bwMode="auto">
          <a:xfrm>
            <a:off x="10106745" y="2295250"/>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t>
            </a:r>
          </a:p>
        </p:txBody>
      </p:sp>
      <p:sp>
        <p:nvSpPr>
          <p:cNvPr id="52" name="Rectangle 49"/>
          <p:cNvSpPr>
            <a:spLocks noChangeArrowheads="1"/>
          </p:cNvSpPr>
          <p:nvPr/>
        </p:nvSpPr>
        <p:spPr bwMode="auto">
          <a:xfrm>
            <a:off x="6632399" y="5239023"/>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en-US" altLang="zh-CN" sz="2400" dirty="0">
              <a:latin typeface="Tahoma" pitchFamily="34" charset="0"/>
            </a:endParaRPr>
          </a:p>
        </p:txBody>
      </p:sp>
      <p:sp>
        <p:nvSpPr>
          <p:cNvPr id="53" name="Rectangle 49"/>
          <p:cNvSpPr>
            <a:spLocks noChangeArrowheads="1"/>
          </p:cNvSpPr>
          <p:nvPr/>
        </p:nvSpPr>
        <p:spPr bwMode="auto">
          <a:xfrm>
            <a:off x="6632399" y="4324623"/>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t>
            </a:r>
          </a:p>
        </p:txBody>
      </p:sp>
      <p:grpSp>
        <p:nvGrpSpPr>
          <p:cNvPr id="54" name="Group 19"/>
          <p:cNvGrpSpPr>
            <a:grpSpLocks/>
          </p:cNvGrpSpPr>
          <p:nvPr/>
        </p:nvGrpSpPr>
        <p:grpSpPr bwMode="auto">
          <a:xfrm>
            <a:off x="6096000" y="6135960"/>
            <a:ext cx="1371600" cy="533400"/>
            <a:chOff x="2256" y="2736"/>
            <a:chExt cx="864" cy="336"/>
          </a:xfrm>
        </p:grpSpPr>
        <p:sp>
          <p:nvSpPr>
            <p:cNvPr id="55" name="Rectangle 20"/>
            <p:cNvSpPr>
              <a:spLocks noChangeArrowheads="1"/>
            </p:cNvSpPr>
            <p:nvPr/>
          </p:nvSpPr>
          <p:spPr bwMode="auto">
            <a:xfrm>
              <a:off x="2256"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0</a:t>
              </a:r>
            </a:p>
          </p:txBody>
        </p:sp>
        <p:sp>
          <p:nvSpPr>
            <p:cNvPr id="56" name="Rectangle 21"/>
            <p:cNvSpPr>
              <a:spLocks noChangeArrowheads="1"/>
            </p:cNvSpPr>
            <p:nvPr/>
          </p:nvSpPr>
          <p:spPr bwMode="auto">
            <a:xfrm>
              <a:off x="254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57" name="Rectangle 22"/>
            <p:cNvSpPr>
              <a:spLocks noChangeArrowheads="1"/>
            </p:cNvSpPr>
            <p:nvPr/>
          </p:nvSpPr>
          <p:spPr bwMode="auto">
            <a:xfrm>
              <a:off x="283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58" name="Line 26"/>
          <p:cNvSpPr>
            <a:spLocks noChangeShapeType="1"/>
          </p:cNvSpPr>
          <p:nvPr/>
        </p:nvSpPr>
        <p:spPr bwMode="auto">
          <a:xfrm>
            <a:off x="7154090" y="6423297"/>
            <a:ext cx="5334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59" name="Group 27"/>
          <p:cNvGrpSpPr>
            <a:grpSpLocks/>
          </p:cNvGrpSpPr>
          <p:nvPr/>
        </p:nvGrpSpPr>
        <p:grpSpPr bwMode="auto">
          <a:xfrm>
            <a:off x="7687490" y="6118497"/>
            <a:ext cx="1371600" cy="533400"/>
            <a:chOff x="3360" y="2736"/>
            <a:chExt cx="864" cy="336"/>
          </a:xfrm>
        </p:grpSpPr>
        <p:sp>
          <p:nvSpPr>
            <p:cNvPr id="60" name="Rectangle 28"/>
            <p:cNvSpPr>
              <a:spLocks noChangeArrowheads="1"/>
            </p:cNvSpPr>
            <p:nvPr/>
          </p:nvSpPr>
          <p:spPr bwMode="auto">
            <a:xfrm>
              <a:off x="3360"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0</a:t>
              </a:r>
            </a:p>
          </p:txBody>
        </p:sp>
        <p:sp>
          <p:nvSpPr>
            <p:cNvPr id="61" name="Rectangle 29"/>
            <p:cNvSpPr>
              <a:spLocks noChangeArrowheads="1"/>
            </p:cNvSpPr>
            <p:nvPr/>
          </p:nvSpPr>
          <p:spPr bwMode="auto">
            <a:xfrm>
              <a:off x="3648"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62" name="Rectangle 30"/>
            <p:cNvSpPr>
              <a:spLocks noChangeArrowheads="1"/>
            </p:cNvSpPr>
            <p:nvPr/>
          </p:nvSpPr>
          <p:spPr bwMode="auto">
            <a:xfrm>
              <a:off x="3936"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63" name="Line 35"/>
          <p:cNvSpPr>
            <a:spLocks noChangeShapeType="1"/>
          </p:cNvSpPr>
          <p:nvPr/>
        </p:nvSpPr>
        <p:spPr bwMode="auto">
          <a:xfrm>
            <a:off x="8906690" y="6423297"/>
            <a:ext cx="318446" cy="45"/>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64" name="Group 36"/>
          <p:cNvGrpSpPr>
            <a:grpSpLocks/>
          </p:cNvGrpSpPr>
          <p:nvPr/>
        </p:nvGrpSpPr>
        <p:grpSpPr bwMode="auto">
          <a:xfrm>
            <a:off x="9192344" y="6118497"/>
            <a:ext cx="1371600" cy="533400"/>
            <a:chOff x="4464" y="2736"/>
            <a:chExt cx="864" cy="336"/>
          </a:xfrm>
        </p:grpSpPr>
        <p:sp>
          <p:nvSpPr>
            <p:cNvPr id="65" name="Rectangle 37"/>
            <p:cNvSpPr>
              <a:spLocks noChangeArrowheads="1"/>
            </p:cNvSpPr>
            <p:nvPr/>
          </p:nvSpPr>
          <p:spPr bwMode="auto">
            <a:xfrm>
              <a:off x="446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0</a:t>
              </a:r>
            </a:p>
          </p:txBody>
        </p:sp>
        <p:sp>
          <p:nvSpPr>
            <p:cNvPr id="66" name="Rectangle 38"/>
            <p:cNvSpPr>
              <a:spLocks noChangeArrowheads="1"/>
            </p:cNvSpPr>
            <p:nvPr/>
          </p:nvSpPr>
          <p:spPr bwMode="auto">
            <a:xfrm>
              <a:off x="475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67" name="Rectangle 39"/>
            <p:cNvSpPr>
              <a:spLocks noChangeArrowheads="1"/>
            </p:cNvSpPr>
            <p:nvPr/>
          </p:nvSpPr>
          <p:spPr bwMode="auto">
            <a:xfrm>
              <a:off x="5040"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grpSp>
      <p:sp>
        <p:nvSpPr>
          <p:cNvPr id="68" name="矩形 67"/>
          <p:cNvSpPr/>
          <p:nvPr/>
        </p:nvSpPr>
        <p:spPr>
          <a:xfrm>
            <a:off x="6623256" y="6190278"/>
            <a:ext cx="354584" cy="461665"/>
          </a:xfrm>
          <a:prstGeom prst="rect">
            <a:avLst/>
          </a:prstGeom>
        </p:spPr>
        <p:txBody>
          <a:bodyPr wrap="none">
            <a:spAutoFit/>
          </a:bodyPr>
          <a:lstStyle/>
          <a:p>
            <a:pPr algn="ctr"/>
            <a:r>
              <a:rPr kumimoji="1" lang="en-US" altLang="zh-CN" sz="2400" dirty="0">
                <a:latin typeface="Tahoma" pitchFamily="34" charset="0"/>
              </a:rPr>
              <a:t>b</a:t>
            </a:r>
          </a:p>
        </p:txBody>
      </p:sp>
      <p:sp>
        <p:nvSpPr>
          <p:cNvPr id="69" name="矩形 68"/>
          <p:cNvSpPr/>
          <p:nvPr/>
        </p:nvSpPr>
        <p:spPr>
          <a:xfrm>
            <a:off x="8181411" y="6190278"/>
            <a:ext cx="327333" cy="461665"/>
          </a:xfrm>
          <a:prstGeom prst="rect">
            <a:avLst/>
          </a:prstGeom>
        </p:spPr>
        <p:txBody>
          <a:bodyPr wrap="none">
            <a:spAutoFit/>
          </a:bodyPr>
          <a:lstStyle/>
          <a:p>
            <a:pPr algn="ctr"/>
            <a:r>
              <a:rPr kumimoji="1" lang="en-US" altLang="zh-CN" sz="2400" dirty="0">
                <a:latin typeface="Tahoma" pitchFamily="34" charset="0"/>
              </a:rPr>
              <a:t>c</a:t>
            </a:r>
          </a:p>
        </p:txBody>
      </p:sp>
      <p:sp>
        <p:nvSpPr>
          <p:cNvPr id="70" name="矩形 69"/>
          <p:cNvSpPr/>
          <p:nvPr/>
        </p:nvSpPr>
        <p:spPr>
          <a:xfrm>
            <a:off x="9700852" y="6190278"/>
            <a:ext cx="354584" cy="461665"/>
          </a:xfrm>
          <a:prstGeom prst="rect">
            <a:avLst/>
          </a:prstGeom>
        </p:spPr>
        <p:txBody>
          <a:bodyPr wrap="none">
            <a:spAutoFit/>
          </a:bodyPr>
          <a:lstStyle/>
          <a:p>
            <a:pPr algn="ctr"/>
            <a:r>
              <a:rPr kumimoji="1" lang="en-US" altLang="zh-CN" sz="2400" dirty="0">
                <a:latin typeface="Tahoma" pitchFamily="34" charset="0"/>
              </a:rPr>
              <a:t>d</a:t>
            </a:r>
          </a:p>
        </p:txBody>
      </p:sp>
      <p:sp>
        <p:nvSpPr>
          <p:cNvPr id="71" name="Text Box 50"/>
          <p:cNvSpPr txBox="1">
            <a:spLocks noChangeArrowheads="1"/>
          </p:cNvSpPr>
          <p:nvPr/>
        </p:nvSpPr>
        <p:spPr bwMode="auto">
          <a:xfrm>
            <a:off x="1468033" y="5186587"/>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D</a:t>
            </a:r>
          </a:p>
        </p:txBody>
      </p:sp>
      <p:grpSp>
        <p:nvGrpSpPr>
          <p:cNvPr id="72" name="Group 52"/>
          <p:cNvGrpSpPr>
            <a:grpSpLocks/>
          </p:cNvGrpSpPr>
          <p:nvPr/>
        </p:nvGrpSpPr>
        <p:grpSpPr bwMode="auto">
          <a:xfrm>
            <a:off x="1631504" y="6118542"/>
            <a:ext cx="1371600" cy="533400"/>
            <a:chOff x="768" y="336"/>
            <a:chExt cx="864" cy="336"/>
          </a:xfrm>
        </p:grpSpPr>
        <p:sp>
          <p:nvSpPr>
            <p:cNvPr id="73" name="Rectangle 53"/>
            <p:cNvSpPr>
              <a:spLocks noChangeArrowheads="1"/>
            </p:cNvSpPr>
            <p:nvPr/>
          </p:nvSpPr>
          <p:spPr bwMode="auto">
            <a:xfrm>
              <a:off x="768"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1</a:t>
              </a:r>
            </a:p>
          </p:txBody>
        </p:sp>
        <p:sp>
          <p:nvSpPr>
            <p:cNvPr id="74" name="Rectangle 54"/>
            <p:cNvSpPr>
              <a:spLocks noChangeArrowheads="1"/>
            </p:cNvSpPr>
            <p:nvPr/>
          </p:nvSpPr>
          <p:spPr bwMode="auto">
            <a:xfrm>
              <a:off x="1056"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a:t>
              </a:r>
            </a:p>
          </p:txBody>
        </p:sp>
        <p:sp>
          <p:nvSpPr>
            <p:cNvPr id="75" name="Rectangle 55"/>
            <p:cNvSpPr>
              <a:spLocks noChangeArrowheads="1"/>
            </p:cNvSpPr>
            <p:nvPr/>
          </p:nvSpPr>
          <p:spPr bwMode="auto">
            <a:xfrm>
              <a:off x="1344"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76" name="Line 56"/>
          <p:cNvSpPr>
            <a:spLocks noChangeShapeType="1"/>
          </p:cNvSpPr>
          <p:nvPr/>
        </p:nvSpPr>
        <p:spPr bwMode="auto">
          <a:xfrm flipV="1">
            <a:off x="2850704" y="6421110"/>
            <a:ext cx="304800" cy="2233"/>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77" name="Group 57"/>
          <p:cNvGrpSpPr>
            <a:grpSpLocks/>
          </p:cNvGrpSpPr>
          <p:nvPr/>
        </p:nvGrpSpPr>
        <p:grpSpPr bwMode="auto">
          <a:xfrm>
            <a:off x="3112727" y="6118542"/>
            <a:ext cx="1371600" cy="533400"/>
            <a:chOff x="1920" y="2160"/>
            <a:chExt cx="864" cy="336"/>
          </a:xfrm>
        </p:grpSpPr>
        <p:sp>
          <p:nvSpPr>
            <p:cNvPr id="78" name="Rectangle 58"/>
            <p:cNvSpPr>
              <a:spLocks noChangeArrowheads="1"/>
            </p:cNvSpPr>
            <p:nvPr/>
          </p:nvSpPr>
          <p:spPr bwMode="auto">
            <a:xfrm>
              <a:off x="1920"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79" name="Rectangle 59"/>
            <p:cNvSpPr>
              <a:spLocks noChangeArrowheads="1"/>
            </p:cNvSpPr>
            <p:nvPr/>
          </p:nvSpPr>
          <p:spPr bwMode="auto">
            <a:xfrm>
              <a:off x="2208"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80" name="Rectangle 60"/>
            <p:cNvSpPr>
              <a:spLocks noChangeArrowheads="1"/>
            </p:cNvSpPr>
            <p:nvPr/>
          </p:nvSpPr>
          <p:spPr bwMode="auto">
            <a:xfrm>
              <a:off x="2496" y="2160"/>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81" name="Line 63"/>
          <p:cNvSpPr>
            <a:spLocks noChangeShapeType="1"/>
          </p:cNvSpPr>
          <p:nvPr/>
        </p:nvSpPr>
        <p:spPr bwMode="auto">
          <a:xfrm>
            <a:off x="4255727" y="6423342"/>
            <a:ext cx="364232"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82" name="Group 64"/>
          <p:cNvGrpSpPr>
            <a:grpSpLocks/>
          </p:cNvGrpSpPr>
          <p:nvPr/>
        </p:nvGrpSpPr>
        <p:grpSpPr bwMode="auto">
          <a:xfrm>
            <a:off x="4624895" y="6118542"/>
            <a:ext cx="1371600" cy="533400"/>
            <a:chOff x="3024" y="336"/>
            <a:chExt cx="864" cy="336"/>
          </a:xfrm>
        </p:grpSpPr>
        <p:sp>
          <p:nvSpPr>
            <p:cNvPr id="83" name="Rectangle 65"/>
            <p:cNvSpPr>
              <a:spLocks noChangeArrowheads="1"/>
            </p:cNvSpPr>
            <p:nvPr/>
          </p:nvSpPr>
          <p:spPr bwMode="auto">
            <a:xfrm>
              <a:off x="3024"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84" name="Rectangle 66"/>
            <p:cNvSpPr>
              <a:spLocks noChangeArrowheads="1"/>
            </p:cNvSpPr>
            <p:nvPr/>
          </p:nvSpPr>
          <p:spPr bwMode="auto">
            <a:xfrm>
              <a:off x="3312"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85" name="Rectangle 67"/>
            <p:cNvSpPr>
              <a:spLocks noChangeArrowheads="1"/>
            </p:cNvSpPr>
            <p:nvPr/>
          </p:nvSpPr>
          <p:spPr bwMode="auto">
            <a:xfrm>
              <a:off x="3600"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t>
              </a:r>
            </a:p>
          </p:txBody>
        </p:sp>
      </p:grpSp>
      <p:sp>
        <p:nvSpPr>
          <p:cNvPr id="86" name="Line 5"/>
          <p:cNvSpPr>
            <a:spLocks noChangeShapeType="1"/>
          </p:cNvSpPr>
          <p:nvPr/>
        </p:nvSpPr>
        <p:spPr bwMode="auto">
          <a:xfrm>
            <a:off x="1860104" y="5398950"/>
            <a:ext cx="188511"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7" name="Rectangle 7"/>
          <p:cNvSpPr>
            <a:spLocks noChangeArrowheads="1"/>
          </p:cNvSpPr>
          <p:nvPr/>
        </p:nvSpPr>
        <p:spPr bwMode="auto">
          <a:xfrm>
            <a:off x="2048615" y="5094150"/>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1</a:t>
            </a:r>
          </a:p>
        </p:txBody>
      </p:sp>
      <p:sp>
        <p:nvSpPr>
          <p:cNvPr id="88" name="Rectangle 8"/>
          <p:cNvSpPr>
            <a:spLocks noChangeArrowheads="1"/>
          </p:cNvSpPr>
          <p:nvPr/>
        </p:nvSpPr>
        <p:spPr bwMode="auto">
          <a:xfrm>
            <a:off x="2505815" y="5094150"/>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sp>
        <p:nvSpPr>
          <p:cNvPr id="89" name="Rectangle 49"/>
          <p:cNvSpPr>
            <a:spLocks noChangeArrowheads="1"/>
          </p:cNvSpPr>
          <p:nvPr/>
        </p:nvSpPr>
        <p:spPr bwMode="auto">
          <a:xfrm>
            <a:off x="2963015" y="5094150"/>
            <a:ext cx="457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t>
            </a:r>
          </a:p>
        </p:txBody>
      </p:sp>
      <p:sp>
        <p:nvSpPr>
          <p:cNvPr id="90" name="Line 10"/>
          <p:cNvSpPr>
            <a:spLocks noChangeShapeType="1"/>
          </p:cNvSpPr>
          <p:nvPr/>
        </p:nvSpPr>
        <p:spPr bwMode="auto">
          <a:xfrm>
            <a:off x="6403799" y="4629423"/>
            <a:ext cx="0" cy="609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3" name="Text Box 50"/>
          <p:cNvSpPr txBox="1">
            <a:spLocks noChangeArrowheads="1"/>
          </p:cNvSpPr>
          <p:nvPr/>
        </p:nvSpPr>
        <p:spPr bwMode="auto">
          <a:xfrm>
            <a:off x="3791744" y="202855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E</a:t>
            </a:r>
          </a:p>
        </p:txBody>
      </p:sp>
      <p:sp>
        <p:nvSpPr>
          <p:cNvPr id="94" name="Line 51"/>
          <p:cNvSpPr>
            <a:spLocks noChangeShapeType="1"/>
          </p:cNvSpPr>
          <p:nvPr/>
        </p:nvSpPr>
        <p:spPr bwMode="auto">
          <a:xfrm>
            <a:off x="4172744" y="2281096"/>
            <a:ext cx="609600"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95" name="Group 52"/>
          <p:cNvGrpSpPr>
            <a:grpSpLocks/>
          </p:cNvGrpSpPr>
          <p:nvPr/>
        </p:nvGrpSpPr>
        <p:grpSpPr bwMode="auto">
          <a:xfrm>
            <a:off x="4782344" y="2014396"/>
            <a:ext cx="1371600" cy="533400"/>
            <a:chOff x="768" y="336"/>
            <a:chExt cx="864" cy="336"/>
          </a:xfrm>
        </p:grpSpPr>
        <p:sp>
          <p:nvSpPr>
            <p:cNvPr id="96" name="Rectangle 53"/>
            <p:cNvSpPr>
              <a:spLocks noChangeArrowheads="1"/>
            </p:cNvSpPr>
            <p:nvPr/>
          </p:nvSpPr>
          <p:spPr bwMode="auto">
            <a:xfrm>
              <a:off x="768"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1</a:t>
              </a:r>
            </a:p>
          </p:txBody>
        </p:sp>
        <p:sp>
          <p:nvSpPr>
            <p:cNvPr id="97" name="Rectangle 54"/>
            <p:cNvSpPr>
              <a:spLocks noChangeArrowheads="1"/>
            </p:cNvSpPr>
            <p:nvPr/>
          </p:nvSpPr>
          <p:spPr bwMode="auto">
            <a:xfrm>
              <a:off x="1056"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en-US" altLang="zh-CN" sz="2400" dirty="0">
                <a:latin typeface="Tahoma" pitchFamily="34" charset="0"/>
              </a:endParaRPr>
            </a:p>
          </p:txBody>
        </p:sp>
        <p:sp>
          <p:nvSpPr>
            <p:cNvPr id="98" name="Rectangle 55"/>
            <p:cNvSpPr>
              <a:spLocks noChangeArrowheads="1"/>
            </p:cNvSpPr>
            <p:nvPr/>
          </p:nvSpPr>
          <p:spPr bwMode="auto">
            <a:xfrm>
              <a:off x="1344"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grpSp>
        <p:nvGrpSpPr>
          <p:cNvPr id="99" name="Group 43"/>
          <p:cNvGrpSpPr>
            <a:grpSpLocks/>
          </p:cNvGrpSpPr>
          <p:nvPr/>
        </p:nvGrpSpPr>
        <p:grpSpPr bwMode="auto">
          <a:xfrm>
            <a:off x="4781450" y="1250617"/>
            <a:ext cx="914400" cy="533400"/>
            <a:chOff x="1104" y="2736"/>
            <a:chExt cx="576" cy="336"/>
          </a:xfrm>
        </p:grpSpPr>
        <p:sp>
          <p:nvSpPr>
            <p:cNvPr id="100" name="Rectangle 44"/>
            <p:cNvSpPr>
              <a:spLocks noChangeArrowheads="1"/>
            </p:cNvSpPr>
            <p:nvPr/>
          </p:nvSpPr>
          <p:spPr bwMode="auto">
            <a:xfrm>
              <a:off x="1104"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a:latin typeface="Tahoma" pitchFamily="34" charset="0"/>
                </a:rPr>
                <a:t>0</a:t>
              </a:r>
            </a:p>
          </p:txBody>
        </p:sp>
        <p:sp>
          <p:nvSpPr>
            <p:cNvPr id="101" name="Rectangle 45"/>
            <p:cNvSpPr>
              <a:spLocks noChangeArrowheads="1"/>
            </p:cNvSpPr>
            <p:nvPr/>
          </p:nvSpPr>
          <p:spPr bwMode="auto">
            <a:xfrm>
              <a:off x="1392" y="27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a</a:t>
              </a:r>
            </a:p>
          </p:txBody>
        </p:sp>
      </p:grpSp>
      <p:sp>
        <p:nvSpPr>
          <p:cNvPr id="102" name="Line 42"/>
          <p:cNvSpPr>
            <a:spLocks noChangeShapeType="1"/>
          </p:cNvSpPr>
          <p:nvPr/>
        </p:nvSpPr>
        <p:spPr bwMode="auto">
          <a:xfrm>
            <a:off x="5399754" y="1755677"/>
            <a:ext cx="0" cy="609600"/>
          </a:xfrm>
          <a:prstGeom prst="line">
            <a:avLst/>
          </a:prstGeom>
          <a:noFill/>
          <a:ln w="2222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03" name="Group 52"/>
          <p:cNvGrpSpPr>
            <a:grpSpLocks/>
          </p:cNvGrpSpPr>
          <p:nvPr/>
        </p:nvGrpSpPr>
        <p:grpSpPr bwMode="auto">
          <a:xfrm>
            <a:off x="6500019" y="2014396"/>
            <a:ext cx="1371600" cy="533400"/>
            <a:chOff x="768" y="336"/>
            <a:chExt cx="864" cy="336"/>
          </a:xfrm>
        </p:grpSpPr>
        <p:sp>
          <p:nvSpPr>
            <p:cNvPr id="104" name="Rectangle 53"/>
            <p:cNvSpPr>
              <a:spLocks noChangeArrowheads="1"/>
            </p:cNvSpPr>
            <p:nvPr/>
          </p:nvSpPr>
          <p:spPr bwMode="auto">
            <a:xfrm>
              <a:off x="768"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1</a:t>
              </a:r>
            </a:p>
          </p:txBody>
        </p:sp>
        <p:sp>
          <p:nvSpPr>
            <p:cNvPr id="105" name="Rectangle 54"/>
            <p:cNvSpPr>
              <a:spLocks noChangeArrowheads="1"/>
            </p:cNvSpPr>
            <p:nvPr/>
          </p:nvSpPr>
          <p:spPr bwMode="auto">
            <a:xfrm>
              <a:off x="1056"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en-US" altLang="zh-CN" sz="2400" dirty="0">
                <a:latin typeface="Tahoma" pitchFamily="34" charset="0"/>
              </a:endParaRPr>
            </a:p>
          </p:txBody>
        </p:sp>
        <p:sp>
          <p:nvSpPr>
            <p:cNvPr id="106" name="Rectangle 55"/>
            <p:cNvSpPr>
              <a:spLocks noChangeArrowheads="1"/>
            </p:cNvSpPr>
            <p:nvPr/>
          </p:nvSpPr>
          <p:spPr bwMode="auto">
            <a:xfrm>
              <a:off x="1344"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107" name="Line 35"/>
          <p:cNvSpPr>
            <a:spLocks noChangeShapeType="1"/>
          </p:cNvSpPr>
          <p:nvPr/>
        </p:nvSpPr>
        <p:spPr bwMode="auto">
          <a:xfrm>
            <a:off x="5979773" y="2281096"/>
            <a:ext cx="5334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 name="矩形 107"/>
          <p:cNvSpPr/>
          <p:nvPr/>
        </p:nvSpPr>
        <p:spPr>
          <a:xfrm>
            <a:off x="7487379" y="2119326"/>
            <a:ext cx="352982" cy="369332"/>
          </a:xfrm>
          <a:prstGeom prst="rect">
            <a:avLst/>
          </a:prstGeom>
        </p:spPr>
        <p:txBody>
          <a:bodyPr wrap="none">
            <a:spAutoFit/>
          </a:bodyPr>
          <a:lstStyle/>
          <a:p>
            <a:pPr algn="ctr"/>
            <a:r>
              <a:rPr kumimoji="1" lang="en-US" altLang="zh-CN" dirty="0">
                <a:latin typeface="Tahoma" pitchFamily="34" charset="0"/>
              </a:rPr>
              <a:t>∧</a:t>
            </a:r>
          </a:p>
        </p:txBody>
      </p:sp>
      <p:sp>
        <p:nvSpPr>
          <p:cNvPr id="109" name="任意多边形 108"/>
          <p:cNvSpPr/>
          <p:nvPr/>
        </p:nvSpPr>
        <p:spPr>
          <a:xfrm>
            <a:off x="3960848" y="2393697"/>
            <a:ext cx="3390351" cy="457901"/>
          </a:xfrm>
          <a:custGeom>
            <a:avLst/>
            <a:gdLst>
              <a:gd name="connsiteX0" fmla="*/ 3211998 w 3390351"/>
              <a:gd name="connsiteY0" fmla="*/ 4201 h 457901"/>
              <a:gd name="connsiteX1" fmla="*/ 3063953 w 3390351"/>
              <a:gd name="connsiteY1" fmla="*/ 439630 h 457901"/>
              <a:gd name="connsiteX2" fmla="*/ 224958 w 3390351"/>
              <a:gd name="connsiteY2" fmla="*/ 343836 h 457901"/>
              <a:gd name="connsiteX3" fmla="*/ 251084 w 3390351"/>
              <a:gd name="connsiteY3" fmla="*/ 47744 h 457901"/>
              <a:gd name="connsiteX4" fmla="*/ 834558 w 3390351"/>
              <a:gd name="connsiteY4" fmla="*/ 4201 h 457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0351" h="457901">
                <a:moveTo>
                  <a:pt x="3211998" y="4201"/>
                </a:moveTo>
                <a:cubicBezTo>
                  <a:pt x="3386895" y="193612"/>
                  <a:pt x="3561793" y="383024"/>
                  <a:pt x="3063953" y="439630"/>
                </a:cubicBezTo>
                <a:cubicBezTo>
                  <a:pt x="2566113" y="496236"/>
                  <a:pt x="693769" y="409150"/>
                  <a:pt x="224958" y="343836"/>
                </a:cubicBezTo>
                <a:cubicBezTo>
                  <a:pt x="-243854" y="278522"/>
                  <a:pt x="149484" y="104350"/>
                  <a:pt x="251084" y="47744"/>
                </a:cubicBezTo>
                <a:cubicBezTo>
                  <a:pt x="352684" y="-8862"/>
                  <a:pt x="593621" y="-2331"/>
                  <a:pt x="834558" y="4201"/>
                </a:cubicBezTo>
              </a:path>
            </a:pathLst>
          </a:cu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0" name="Text Box 50"/>
          <p:cNvSpPr txBox="1">
            <a:spLocks noChangeArrowheads="1"/>
          </p:cNvSpPr>
          <p:nvPr/>
        </p:nvSpPr>
        <p:spPr bwMode="auto">
          <a:xfrm>
            <a:off x="3839117" y="2986178"/>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r" eaLnBrk="0" fontAlgn="base" hangingPunct="0">
              <a:spcBef>
                <a:spcPct val="0"/>
              </a:spcBef>
              <a:spcAft>
                <a:spcPct val="0"/>
              </a:spcAft>
              <a:defRPr>
                <a:solidFill>
                  <a:schemeClr val="tx1"/>
                </a:solidFill>
                <a:latin typeface="Arial" charset="0"/>
                <a:ea typeface="宋体" charset="-122"/>
              </a:defRPr>
            </a:lvl6pPr>
            <a:lvl7pPr marL="2971800" indent="-228600" algn="r" eaLnBrk="0" fontAlgn="base" hangingPunct="0">
              <a:spcBef>
                <a:spcPct val="0"/>
              </a:spcBef>
              <a:spcAft>
                <a:spcPct val="0"/>
              </a:spcAft>
              <a:defRPr>
                <a:solidFill>
                  <a:schemeClr val="tx1"/>
                </a:solidFill>
                <a:latin typeface="Arial" charset="0"/>
                <a:ea typeface="宋体" charset="-122"/>
              </a:defRPr>
            </a:lvl7pPr>
            <a:lvl8pPr marL="3429000" indent="-228600" algn="r" eaLnBrk="0" fontAlgn="base" hangingPunct="0">
              <a:spcBef>
                <a:spcPct val="0"/>
              </a:spcBef>
              <a:spcAft>
                <a:spcPct val="0"/>
              </a:spcAft>
              <a:defRPr>
                <a:solidFill>
                  <a:schemeClr val="tx1"/>
                </a:solidFill>
                <a:latin typeface="Arial" charset="0"/>
                <a:ea typeface="宋体" charset="-122"/>
              </a:defRPr>
            </a:lvl8pPr>
            <a:lvl9pPr marL="3886200" indent="-228600" algn="r" eaLnBrk="0" fontAlgn="base" hangingPunct="0">
              <a:spcBef>
                <a:spcPct val="0"/>
              </a:spcBef>
              <a:spcAft>
                <a:spcPct val="0"/>
              </a:spcAft>
              <a:defRPr>
                <a:solidFill>
                  <a:schemeClr val="tx1"/>
                </a:solidFill>
                <a:latin typeface="Arial" charset="0"/>
                <a:ea typeface="宋体" charset="-122"/>
              </a:defRPr>
            </a:lvl9pPr>
          </a:lstStyle>
          <a:p>
            <a:pPr algn="l" eaLnBrk="1" hangingPunct="1">
              <a:spcBef>
                <a:spcPct val="50000"/>
              </a:spcBef>
            </a:pPr>
            <a:r>
              <a:rPr kumimoji="1" lang="en-US" altLang="zh-CN" sz="2400" dirty="0">
                <a:latin typeface="Tahoma" pitchFamily="34" charset="0"/>
              </a:rPr>
              <a:t>F</a:t>
            </a:r>
          </a:p>
        </p:txBody>
      </p:sp>
      <p:sp>
        <p:nvSpPr>
          <p:cNvPr id="111" name="Line 51"/>
          <p:cNvSpPr>
            <a:spLocks noChangeShapeType="1"/>
          </p:cNvSpPr>
          <p:nvPr/>
        </p:nvSpPr>
        <p:spPr bwMode="auto">
          <a:xfrm>
            <a:off x="4215390" y="3244758"/>
            <a:ext cx="609600"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12" name="Group 52"/>
          <p:cNvGrpSpPr>
            <a:grpSpLocks/>
          </p:cNvGrpSpPr>
          <p:nvPr/>
        </p:nvGrpSpPr>
        <p:grpSpPr bwMode="auto">
          <a:xfrm>
            <a:off x="4824990" y="2992212"/>
            <a:ext cx="1371600" cy="533400"/>
            <a:chOff x="768" y="336"/>
            <a:chExt cx="864" cy="336"/>
          </a:xfrm>
        </p:grpSpPr>
        <p:sp>
          <p:nvSpPr>
            <p:cNvPr id="113" name="Rectangle 53"/>
            <p:cNvSpPr>
              <a:spLocks noChangeArrowheads="1"/>
            </p:cNvSpPr>
            <p:nvPr/>
          </p:nvSpPr>
          <p:spPr bwMode="auto">
            <a:xfrm>
              <a:off x="768"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400" dirty="0">
                  <a:latin typeface="Tahoma" pitchFamily="34" charset="0"/>
                </a:rPr>
                <a:t>1</a:t>
              </a:r>
            </a:p>
          </p:txBody>
        </p:sp>
        <p:sp>
          <p:nvSpPr>
            <p:cNvPr id="114" name="Rectangle 54"/>
            <p:cNvSpPr>
              <a:spLocks noChangeArrowheads="1"/>
            </p:cNvSpPr>
            <p:nvPr/>
          </p:nvSpPr>
          <p:spPr bwMode="auto">
            <a:xfrm>
              <a:off x="1056"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en-US" altLang="zh-CN" sz="2400" dirty="0">
                <a:latin typeface="Tahoma" pitchFamily="34" charset="0"/>
              </a:endParaRPr>
            </a:p>
          </p:txBody>
        </p:sp>
        <p:sp>
          <p:nvSpPr>
            <p:cNvPr id="115" name="Rectangle 55"/>
            <p:cNvSpPr>
              <a:spLocks noChangeArrowheads="1"/>
            </p:cNvSpPr>
            <p:nvPr/>
          </p:nvSpPr>
          <p:spPr bwMode="auto">
            <a:xfrm>
              <a:off x="1344" y="336"/>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sz="2400">
                <a:latin typeface="Tahoma" pitchFamily="34" charset="0"/>
              </a:endParaRPr>
            </a:p>
          </p:txBody>
        </p:sp>
      </p:grpSp>
      <p:sp>
        <p:nvSpPr>
          <p:cNvPr id="116" name="矩形 115"/>
          <p:cNvSpPr/>
          <p:nvPr/>
        </p:nvSpPr>
        <p:spPr>
          <a:xfrm>
            <a:off x="5334299" y="3097989"/>
            <a:ext cx="352982" cy="369332"/>
          </a:xfrm>
          <a:prstGeom prst="rect">
            <a:avLst/>
          </a:prstGeom>
        </p:spPr>
        <p:txBody>
          <a:bodyPr wrap="none">
            <a:spAutoFit/>
          </a:bodyPr>
          <a:lstStyle/>
          <a:p>
            <a:pPr algn="ctr"/>
            <a:r>
              <a:rPr kumimoji="1" lang="en-US" altLang="zh-CN" dirty="0">
                <a:latin typeface="Tahoma" pitchFamily="34" charset="0"/>
              </a:rPr>
              <a:t>∧</a:t>
            </a:r>
          </a:p>
        </p:txBody>
      </p:sp>
      <p:sp>
        <p:nvSpPr>
          <p:cNvPr id="117" name="矩形 116"/>
          <p:cNvSpPr/>
          <p:nvPr/>
        </p:nvSpPr>
        <p:spPr>
          <a:xfrm>
            <a:off x="5791499" y="3105317"/>
            <a:ext cx="352982" cy="369332"/>
          </a:xfrm>
          <a:prstGeom prst="rect">
            <a:avLst/>
          </a:prstGeom>
        </p:spPr>
        <p:txBody>
          <a:bodyPr wrap="none">
            <a:spAutoFit/>
          </a:bodyPr>
          <a:lstStyle/>
          <a:p>
            <a:pPr algn="ctr"/>
            <a:r>
              <a:rPr kumimoji="1" lang="en-US" altLang="zh-CN" dirty="0">
                <a:latin typeface="Tahoma" pitchFamily="34" charset="0"/>
              </a:rPr>
              <a:t>∧</a:t>
            </a:r>
          </a:p>
        </p:txBody>
      </p:sp>
      <p:sp>
        <p:nvSpPr>
          <p:cNvPr id="2" name="任意多边形 1"/>
          <p:cNvSpPr/>
          <p:nvPr/>
        </p:nvSpPr>
        <p:spPr>
          <a:xfrm>
            <a:off x="4527176" y="4733498"/>
            <a:ext cx="1183342" cy="1479680"/>
          </a:xfrm>
          <a:custGeom>
            <a:avLst/>
            <a:gdLst>
              <a:gd name="connsiteX0" fmla="*/ 878542 w 1183342"/>
              <a:gd name="connsiteY0" fmla="*/ 1479680 h 1479680"/>
              <a:gd name="connsiteX1" fmla="*/ 824753 w 1183342"/>
              <a:gd name="connsiteY1" fmla="*/ 1434857 h 1479680"/>
              <a:gd name="connsiteX2" fmla="*/ 797859 w 1183342"/>
              <a:gd name="connsiteY2" fmla="*/ 1425892 h 1479680"/>
              <a:gd name="connsiteX3" fmla="*/ 753036 w 1183342"/>
              <a:gd name="connsiteY3" fmla="*/ 1372104 h 1479680"/>
              <a:gd name="connsiteX4" fmla="*/ 672353 w 1183342"/>
              <a:gd name="connsiteY4" fmla="*/ 1309351 h 1479680"/>
              <a:gd name="connsiteX5" fmla="*/ 564777 w 1183342"/>
              <a:gd name="connsiteY5" fmla="*/ 1219704 h 1479680"/>
              <a:gd name="connsiteX6" fmla="*/ 519953 w 1183342"/>
              <a:gd name="connsiteY6" fmla="*/ 1174880 h 1479680"/>
              <a:gd name="connsiteX7" fmla="*/ 493059 w 1183342"/>
              <a:gd name="connsiteY7" fmla="*/ 1156951 h 1479680"/>
              <a:gd name="connsiteX8" fmla="*/ 466165 w 1183342"/>
              <a:gd name="connsiteY8" fmla="*/ 1130057 h 1479680"/>
              <a:gd name="connsiteX9" fmla="*/ 439271 w 1183342"/>
              <a:gd name="connsiteY9" fmla="*/ 1112127 h 1479680"/>
              <a:gd name="connsiteX10" fmla="*/ 412377 w 1183342"/>
              <a:gd name="connsiteY10" fmla="*/ 1085233 h 1479680"/>
              <a:gd name="connsiteX11" fmla="*/ 385483 w 1183342"/>
              <a:gd name="connsiteY11" fmla="*/ 1067304 h 1479680"/>
              <a:gd name="connsiteX12" fmla="*/ 340659 w 1183342"/>
              <a:gd name="connsiteY12" fmla="*/ 1022480 h 1479680"/>
              <a:gd name="connsiteX13" fmla="*/ 277906 w 1183342"/>
              <a:gd name="connsiteY13" fmla="*/ 977657 h 1479680"/>
              <a:gd name="connsiteX14" fmla="*/ 251012 w 1183342"/>
              <a:gd name="connsiteY14" fmla="*/ 959727 h 1479680"/>
              <a:gd name="connsiteX15" fmla="*/ 224118 w 1183342"/>
              <a:gd name="connsiteY15" fmla="*/ 932833 h 1479680"/>
              <a:gd name="connsiteX16" fmla="*/ 188259 w 1183342"/>
              <a:gd name="connsiteY16" fmla="*/ 914904 h 1479680"/>
              <a:gd name="connsiteX17" fmla="*/ 125506 w 1183342"/>
              <a:gd name="connsiteY17" fmla="*/ 861116 h 1479680"/>
              <a:gd name="connsiteX18" fmla="*/ 89648 w 1183342"/>
              <a:gd name="connsiteY18" fmla="*/ 834221 h 1479680"/>
              <a:gd name="connsiteX19" fmla="*/ 35859 w 1183342"/>
              <a:gd name="connsiteY19" fmla="*/ 771469 h 1479680"/>
              <a:gd name="connsiteX20" fmla="*/ 17930 w 1183342"/>
              <a:gd name="connsiteY20" fmla="*/ 717680 h 1479680"/>
              <a:gd name="connsiteX21" fmla="*/ 8965 w 1183342"/>
              <a:gd name="connsiteY21" fmla="*/ 690786 h 1479680"/>
              <a:gd name="connsiteX22" fmla="*/ 0 w 1183342"/>
              <a:gd name="connsiteY22" fmla="*/ 654927 h 1479680"/>
              <a:gd name="connsiteX23" fmla="*/ 17930 w 1183342"/>
              <a:gd name="connsiteY23" fmla="*/ 493563 h 1479680"/>
              <a:gd name="connsiteX24" fmla="*/ 26895 w 1183342"/>
              <a:gd name="connsiteY24" fmla="*/ 466669 h 1479680"/>
              <a:gd name="connsiteX25" fmla="*/ 98612 w 1183342"/>
              <a:gd name="connsiteY25" fmla="*/ 377021 h 1479680"/>
              <a:gd name="connsiteX26" fmla="*/ 134471 w 1183342"/>
              <a:gd name="connsiteY26" fmla="*/ 350127 h 1479680"/>
              <a:gd name="connsiteX27" fmla="*/ 161365 w 1183342"/>
              <a:gd name="connsiteY27" fmla="*/ 332198 h 1479680"/>
              <a:gd name="connsiteX28" fmla="*/ 206189 w 1183342"/>
              <a:gd name="connsiteY28" fmla="*/ 305304 h 1479680"/>
              <a:gd name="connsiteX29" fmla="*/ 251012 w 1183342"/>
              <a:gd name="connsiteY29" fmla="*/ 269445 h 1479680"/>
              <a:gd name="connsiteX30" fmla="*/ 286871 w 1183342"/>
              <a:gd name="connsiteY30" fmla="*/ 233586 h 1479680"/>
              <a:gd name="connsiteX31" fmla="*/ 340659 w 1183342"/>
              <a:gd name="connsiteY31" fmla="*/ 197727 h 1479680"/>
              <a:gd name="connsiteX32" fmla="*/ 358589 w 1183342"/>
              <a:gd name="connsiteY32" fmla="*/ 179798 h 1479680"/>
              <a:gd name="connsiteX33" fmla="*/ 412377 w 1183342"/>
              <a:gd name="connsiteY33" fmla="*/ 143939 h 1479680"/>
              <a:gd name="connsiteX34" fmla="*/ 475130 w 1183342"/>
              <a:gd name="connsiteY34" fmla="*/ 99116 h 1479680"/>
              <a:gd name="connsiteX35" fmla="*/ 510989 w 1183342"/>
              <a:gd name="connsiteY35" fmla="*/ 81186 h 1479680"/>
              <a:gd name="connsiteX36" fmla="*/ 564777 w 1183342"/>
              <a:gd name="connsiteY36" fmla="*/ 45327 h 1479680"/>
              <a:gd name="connsiteX37" fmla="*/ 627530 w 1183342"/>
              <a:gd name="connsiteY37" fmla="*/ 27398 h 1479680"/>
              <a:gd name="connsiteX38" fmla="*/ 681318 w 1183342"/>
              <a:gd name="connsiteY38" fmla="*/ 9469 h 1479680"/>
              <a:gd name="connsiteX39" fmla="*/ 1183342 w 1183342"/>
              <a:gd name="connsiteY39" fmla="*/ 504 h 147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83342" h="1479680">
                <a:moveTo>
                  <a:pt x="878542" y="1479680"/>
                </a:moveTo>
                <a:cubicBezTo>
                  <a:pt x="860612" y="1464739"/>
                  <a:pt x="844172" y="1447803"/>
                  <a:pt x="824753" y="1434857"/>
                </a:cubicBezTo>
                <a:cubicBezTo>
                  <a:pt x="816890" y="1429615"/>
                  <a:pt x="804971" y="1432115"/>
                  <a:pt x="797859" y="1425892"/>
                </a:cubicBezTo>
                <a:cubicBezTo>
                  <a:pt x="780295" y="1410523"/>
                  <a:pt x="768649" y="1389452"/>
                  <a:pt x="753036" y="1372104"/>
                </a:cubicBezTo>
                <a:cubicBezTo>
                  <a:pt x="671595" y="1281613"/>
                  <a:pt x="765957" y="1388555"/>
                  <a:pt x="672353" y="1309351"/>
                </a:cubicBezTo>
                <a:cubicBezTo>
                  <a:pt x="555112" y="1210146"/>
                  <a:pt x="645135" y="1259882"/>
                  <a:pt x="564777" y="1219704"/>
                </a:cubicBezTo>
                <a:cubicBezTo>
                  <a:pt x="549836" y="1204763"/>
                  <a:pt x="537535" y="1186601"/>
                  <a:pt x="519953" y="1174880"/>
                </a:cubicBezTo>
                <a:cubicBezTo>
                  <a:pt x="510988" y="1168904"/>
                  <a:pt x="501336" y="1163848"/>
                  <a:pt x="493059" y="1156951"/>
                </a:cubicBezTo>
                <a:cubicBezTo>
                  <a:pt x="483319" y="1148835"/>
                  <a:pt x="475904" y="1138173"/>
                  <a:pt x="466165" y="1130057"/>
                </a:cubicBezTo>
                <a:cubicBezTo>
                  <a:pt x="457888" y="1123159"/>
                  <a:pt x="447548" y="1119025"/>
                  <a:pt x="439271" y="1112127"/>
                </a:cubicBezTo>
                <a:cubicBezTo>
                  <a:pt x="429532" y="1104011"/>
                  <a:pt x="422117" y="1093349"/>
                  <a:pt x="412377" y="1085233"/>
                </a:cubicBezTo>
                <a:cubicBezTo>
                  <a:pt x="404100" y="1078336"/>
                  <a:pt x="393591" y="1074399"/>
                  <a:pt x="385483" y="1067304"/>
                </a:cubicBezTo>
                <a:cubicBezTo>
                  <a:pt x="369581" y="1053390"/>
                  <a:pt x="358241" y="1034201"/>
                  <a:pt x="340659" y="1022480"/>
                </a:cubicBezTo>
                <a:cubicBezTo>
                  <a:pt x="277297" y="980239"/>
                  <a:pt x="355717" y="1033237"/>
                  <a:pt x="277906" y="977657"/>
                </a:cubicBezTo>
                <a:cubicBezTo>
                  <a:pt x="269139" y="971395"/>
                  <a:pt x="259289" y="966625"/>
                  <a:pt x="251012" y="959727"/>
                </a:cubicBezTo>
                <a:cubicBezTo>
                  <a:pt x="241273" y="951611"/>
                  <a:pt x="234435" y="940202"/>
                  <a:pt x="224118" y="932833"/>
                </a:cubicBezTo>
                <a:cubicBezTo>
                  <a:pt x="213243" y="925066"/>
                  <a:pt x="199592" y="921987"/>
                  <a:pt x="188259" y="914904"/>
                </a:cubicBezTo>
                <a:cubicBezTo>
                  <a:pt x="139867" y="884659"/>
                  <a:pt x="164994" y="894964"/>
                  <a:pt x="125506" y="861116"/>
                </a:cubicBezTo>
                <a:cubicBezTo>
                  <a:pt x="114162" y="851392"/>
                  <a:pt x="100992" y="843945"/>
                  <a:pt x="89648" y="834221"/>
                </a:cubicBezTo>
                <a:cubicBezTo>
                  <a:pt x="63423" y="811742"/>
                  <a:pt x="57120" y="799816"/>
                  <a:pt x="35859" y="771469"/>
                </a:cubicBezTo>
                <a:lnTo>
                  <a:pt x="17930" y="717680"/>
                </a:lnTo>
                <a:cubicBezTo>
                  <a:pt x="14942" y="708715"/>
                  <a:pt x="11257" y="699953"/>
                  <a:pt x="8965" y="690786"/>
                </a:cubicBezTo>
                <a:lnTo>
                  <a:pt x="0" y="654927"/>
                </a:lnTo>
                <a:cubicBezTo>
                  <a:pt x="6741" y="560560"/>
                  <a:pt x="-297" y="557353"/>
                  <a:pt x="17930" y="493563"/>
                </a:cubicBezTo>
                <a:cubicBezTo>
                  <a:pt x="20526" y="484477"/>
                  <a:pt x="22306" y="474929"/>
                  <a:pt x="26895" y="466669"/>
                </a:cubicBezTo>
                <a:cubicBezTo>
                  <a:pt x="43699" y="436422"/>
                  <a:pt x="69819" y="398616"/>
                  <a:pt x="98612" y="377021"/>
                </a:cubicBezTo>
                <a:cubicBezTo>
                  <a:pt x="110565" y="368056"/>
                  <a:pt x="122313" y="358811"/>
                  <a:pt x="134471" y="350127"/>
                </a:cubicBezTo>
                <a:cubicBezTo>
                  <a:pt x="143238" y="343865"/>
                  <a:pt x="152952" y="338928"/>
                  <a:pt x="161365" y="332198"/>
                </a:cubicBezTo>
                <a:cubicBezTo>
                  <a:pt x="196524" y="304071"/>
                  <a:pt x="159484" y="320873"/>
                  <a:pt x="206189" y="305304"/>
                </a:cubicBezTo>
                <a:cubicBezTo>
                  <a:pt x="267209" y="244281"/>
                  <a:pt x="171867" y="337283"/>
                  <a:pt x="251012" y="269445"/>
                </a:cubicBezTo>
                <a:cubicBezTo>
                  <a:pt x="263847" y="258444"/>
                  <a:pt x="272806" y="242963"/>
                  <a:pt x="286871" y="233586"/>
                </a:cubicBezTo>
                <a:cubicBezTo>
                  <a:pt x="304800" y="221633"/>
                  <a:pt x="325422" y="212964"/>
                  <a:pt x="340659" y="197727"/>
                </a:cubicBezTo>
                <a:cubicBezTo>
                  <a:pt x="346636" y="191751"/>
                  <a:pt x="351827" y="184869"/>
                  <a:pt x="358589" y="179798"/>
                </a:cubicBezTo>
                <a:cubicBezTo>
                  <a:pt x="375828" y="166869"/>
                  <a:pt x="395138" y="156868"/>
                  <a:pt x="412377" y="143939"/>
                </a:cubicBezTo>
                <a:cubicBezTo>
                  <a:pt x="427773" y="132392"/>
                  <a:pt x="456776" y="109604"/>
                  <a:pt x="475130" y="99116"/>
                </a:cubicBezTo>
                <a:cubicBezTo>
                  <a:pt x="486733" y="92486"/>
                  <a:pt x="499530" y="88062"/>
                  <a:pt x="510989" y="81186"/>
                </a:cubicBezTo>
                <a:cubicBezTo>
                  <a:pt x="529467" y="70099"/>
                  <a:pt x="544334" y="52141"/>
                  <a:pt x="564777" y="45327"/>
                </a:cubicBezTo>
                <a:cubicBezTo>
                  <a:pt x="655188" y="15192"/>
                  <a:pt x="514927" y="61179"/>
                  <a:pt x="627530" y="27398"/>
                </a:cubicBezTo>
                <a:cubicBezTo>
                  <a:pt x="645632" y="21967"/>
                  <a:pt x="662434" y="10224"/>
                  <a:pt x="681318" y="9469"/>
                </a:cubicBezTo>
                <a:cubicBezTo>
                  <a:pt x="997997" y="-3199"/>
                  <a:pt x="830670" y="504"/>
                  <a:pt x="1183342" y="504"/>
                </a:cubicBezTo>
              </a:path>
            </a:pathLst>
          </a:cu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任意多边形 2"/>
          <p:cNvSpPr/>
          <p:nvPr/>
        </p:nvSpPr>
        <p:spPr>
          <a:xfrm>
            <a:off x="3756212" y="3581370"/>
            <a:ext cx="5436132" cy="2663288"/>
          </a:xfrm>
          <a:custGeom>
            <a:avLst/>
            <a:gdLst>
              <a:gd name="connsiteX0" fmla="*/ 107576 w 5567082"/>
              <a:gd name="connsiteY0" fmla="*/ 2663288 h 2663288"/>
              <a:gd name="connsiteX1" fmla="*/ 89647 w 5567082"/>
              <a:gd name="connsiteY1" fmla="*/ 2573641 h 2663288"/>
              <a:gd name="connsiteX2" fmla="*/ 71717 w 5567082"/>
              <a:gd name="connsiteY2" fmla="*/ 2483994 h 2663288"/>
              <a:gd name="connsiteX3" fmla="*/ 53788 w 5567082"/>
              <a:gd name="connsiteY3" fmla="*/ 2421241 h 2663288"/>
              <a:gd name="connsiteX4" fmla="*/ 35859 w 5567082"/>
              <a:gd name="connsiteY4" fmla="*/ 2331594 h 2663288"/>
              <a:gd name="connsiteX5" fmla="*/ 17929 w 5567082"/>
              <a:gd name="connsiteY5" fmla="*/ 2206088 h 2663288"/>
              <a:gd name="connsiteX6" fmla="*/ 8964 w 5567082"/>
              <a:gd name="connsiteY6" fmla="*/ 1865429 h 2663288"/>
              <a:gd name="connsiteX7" fmla="*/ 0 w 5567082"/>
              <a:gd name="connsiteY7" fmla="*/ 1623382 h 2663288"/>
              <a:gd name="connsiteX8" fmla="*/ 8964 w 5567082"/>
              <a:gd name="connsiteY8" fmla="*/ 780700 h 2663288"/>
              <a:gd name="connsiteX9" fmla="*/ 35859 w 5567082"/>
              <a:gd name="connsiteY9" fmla="*/ 565547 h 2663288"/>
              <a:gd name="connsiteX10" fmla="*/ 44823 w 5567082"/>
              <a:gd name="connsiteY10" fmla="*/ 529688 h 2663288"/>
              <a:gd name="connsiteX11" fmla="*/ 62753 w 5567082"/>
              <a:gd name="connsiteY11" fmla="*/ 484864 h 2663288"/>
              <a:gd name="connsiteX12" fmla="*/ 98612 w 5567082"/>
              <a:gd name="connsiteY12" fmla="*/ 404182 h 2663288"/>
              <a:gd name="connsiteX13" fmla="*/ 125506 w 5567082"/>
              <a:gd name="connsiteY13" fmla="*/ 341429 h 2663288"/>
              <a:gd name="connsiteX14" fmla="*/ 161364 w 5567082"/>
              <a:gd name="connsiteY14" fmla="*/ 278676 h 2663288"/>
              <a:gd name="connsiteX15" fmla="*/ 215153 w 5567082"/>
              <a:gd name="connsiteY15" fmla="*/ 224888 h 2663288"/>
              <a:gd name="connsiteX16" fmla="*/ 233082 w 5567082"/>
              <a:gd name="connsiteY16" fmla="*/ 197994 h 2663288"/>
              <a:gd name="connsiteX17" fmla="*/ 304800 w 5567082"/>
              <a:gd name="connsiteY17" fmla="*/ 153170 h 2663288"/>
              <a:gd name="connsiteX18" fmla="*/ 331694 w 5567082"/>
              <a:gd name="connsiteY18" fmla="*/ 135241 h 2663288"/>
              <a:gd name="connsiteX19" fmla="*/ 403412 w 5567082"/>
              <a:gd name="connsiteY19" fmla="*/ 108347 h 2663288"/>
              <a:gd name="connsiteX20" fmla="*/ 439270 w 5567082"/>
              <a:gd name="connsiteY20" fmla="*/ 99382 h 2663288"/>
              <a:gd name="connsiteX21" fmla="*/ 537882 w 5567082"/>
              <a:gd name="connsiteY21" fmla="*/ 72488 h 2663288"/>
              <a:gd name="connsiteX22" fmla="*/ 591670 w 5567082"/>
              <a:gd name="connsiteY22" fmla="*/ 63523 h 2663288"/>
              <a:gd name="connsiteX23" fmla="*/ 717176 w 5567082"/>
              <a:gd name="connsiteY23" fmla="*/ 45594 h 2663288"/>
              <a:gd name="connsiteX24" fmla="*/ 1237129 w 5567082"/>
              <a:gd name="connsiteY24" fmla="*/ 36629 h 2663288"/>
              <a:gd name="connsiteX25" fmla="*/ 5011270 w 5567082"/>
              <a:gd name="connsiteY25" fmla="*/ 27664 h 2663288"/>
              <a:gd name="connsiteX26" fmla="*/ 5235388 w 5567082"/>
              <a:gd name="connsiteY26" fmla="*/ 18700 h 2663288"/>
              <a:gd name="connsiteX27" fmla="*/ 5289176 w 5567082"/>
              <a:gd name="connsiteY27" fmla="*/ 9735 h 2663288"/>
              <a:gd name="connsiteX28" fmla="*/ 5405717 w 5567082"/>
              <a:gd name="connsiteY28" fmla="*/ 770 h 2663288"/>
              <a:gd name="connsiteX29" fmla="*/ 5567082 w 5567082"/>
              <a:gd name="connsiteY29" fmla="*/ 770 h 2663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67082" h="2663288">
                <a:moveTo>
                  <a:pt x="107576" y="2663288"/>
                </a:moveTo>
                <a:cubicBezTo>
                  <a:pt x="86727" y="2538183"/>
                  <a:pt x="109704" y="2667237"/>
                  <a:pt x="89647" y="2573641"/>
                </a:cubicBezTo>
                <a:cubicBezTo>
                  <a:pt x="83262" y="2543843"/>
                  <a:pt x="80089" y="2513296"/>
                  <a:pt x="71717" y="2483994"/>
                </a:cubicBezTo>
                <a:cubicBezTo>
                  <a:pt x="65741" y="2463076"/>
                  <a:pt x="58771" y="2442417"/>
                  <a:pt x="53788" y="2421241"/>
                </a:cubicBezTo>
                <a:cubicBezTo>
                  <a:pt x="46808" y="2391577"/>
                  <a:pt x="38891" y="2361917"/>
                  <a:pt x="35859" y="2331594"/>
                </a:cubicBezTo>
                <a:cubicBezTo>
                  <a:pt x="25668" y="2229687"/>
                  <a:pt x="34178" y="2271082"/>
                  <a:pt x="17929" y="2206088"/>
                </a:cubicBezTo>
                <a:cubicBezTo>
                  <a:pt x="14941" y="2092535"/>
                  <a:pt x="12457" y="1978968"/>
                  <a:pt x="8964" y="1865429"/>
                </a:cubicBezTo>
                <a:cubicBezTo>
                  <a:pt x="6481" y="1784730"/>
                  <a:pt x="0" y="1704120"/>
                  <a:pt x="0" y="1623382"/>
                </a:cubicBezTo>
                <a:cubicBezTo>
                  <a:pt x="0" y="1342472"/>
                  <a:pt x="1509" y="1061511"/>
                  <a:pt x="8964" y="780700"/>
                </a:cubicBezTo>
                <a:cubicBezTo>
                  <a:pt x="10769" y="712707"/>
                  <a:pt x="20426" y="634995"/>
                  <a:pt x="35859" y="565547"/>
                </a:cubicBezTo>
                <a:cubicBezTo>
                  <a:pt x="38532" y="553520"/>
                  <a:pt x="40927" y="541377"/>
                  <a:pt x="44823" y="529688"/>
                </a:cubicBezTo>
                <a:cubicBezTo>
                  <a:pt x="49912" y="514421"/>
                  <a:pt x="57254" y="499987"/>
                  <a:pt x="62753" y="484864"/>
                </a:cubicBezTo>
                <a:cubicBezTo>
                  <a:pt x="88357" y="414453"/>
                  <a:pt x="67765" y="450451"/>
                  <a:pt x="98612" y="404182"/>
                </a:cubicBezTo>
                <a:cubicBezTo>
                  <a:pt x="113336" y="345282"/>
                  <a:pt x="97990" y="389582"/>
                  <a:pt x="125506" y="341429"/>
                </a:cubicBezTo>
                <a:cubicBezTo>
                  <a:pt x="138493" y="318702"/>
                  <a:pt x="143891" y="298333"/>
                  <a:pt x="161364" y="278676"/>
                </a:cubicBezTo>
                <a:cubicBezTo>
                  <a:pt x="178210" y="259725"/>
                  <a:pt x="201088" y="245986"/>
                  <a:pt x="215153" y="224888"/>
                </a:cubicBezTo>
                <a:cubicBezTo>
                  <a:pt x="221129" y="215923"/>
                  <a:pt x="225464" y="205612"/>
                  <a:pt x="233082" y="197994"/>
                </a:cubicBezTo>
                <a:cubicBezTo>
                  <a:pt x="261648" y="169428"/>
                  <a:pt x="271663" y="172105"/>
                  <a:pt x="304800" y="153170"/>
                </a:cubicBezTo>
                <a:cubicBezTo>
                  <a:pt x="314155" y="147825"/>
                  <a:pt x="322057" y="140059"/>
                  <a:pt x="331694" y="135241"/>
                </a:cubicBezTo>
                <a:cubicBezTo>
                  <a:pt x="344340" y="128918"/>
                  <a:pt x="385299" y="113522"/>
                  <a:pt x="403412" y="108347"/>
                </a:cubicBezTo>
                <a:cubicBezTo>
                  <a:pt x="415259" y="104962"/>
                  <a:pt x="427424" y="102767"/>
                  <a:pt x="439270" y="99382"/>
                </a:cubicBezTo>
                <a:cubicBezTo>
                  <a:pt x="487940" y="85476"/>
                  <a:pt x="461172" y="85273"/>
                  <a:pt x="537882" y="72488"/>
                </a:cubicBezTo>
                <a:cubicBezTo>
                  <a:pt x="555811" y="69500"/>
                  <a:pt x="573846" y="67088"/>
                  <a:pt x="591670" y="63523"/>
                </a:cubicBezTo>
                <a:cubicBezTo>
                  <a:pt x="658407" y="50176"/>
                  <a:pt x="611021" y="48716"/>
                  <a:pt x="717176" y="45594"/>
                </a:cubicBezTo>
                <a:cubicBezTo>
                  <a:pt x="890444" y="40498"/>
                  <a:pt x="1063787" y="37353"/>
                  <a:pt x="1237129" y="36629"/>
                </a:cubicBezTo>
                <a:lnTo>
                  <a:pt x="5011270" y="27664"/>
                </a:lnTo>
                <a:cubicBezTo>
                  <a:pt x="5085976" y="24676"/>
                  <a:pt x="5160777" y="23513"/>
                  <a:pt x="5235388" y="18700"/>
                </a:cubicBezTo>
                <a:cubicBezTo>
                  <a:pt x="5253527" y="17530"/>
                  <a:pt x="5271099" y="11638"/>
                  <a:pt x="5289176" y="9735"/>
                </a:cubicBezTo>
                <a:cubicBezTo>
                  <a:pt x="5327924" y="5656"/>
                  <a:pt x="5366775" y="2026"/>
                  <a:pt x="5405717" y="770"/>
                </a:cubicBezTo>
                <a:cubicBezTo>
                  <a:pt x="5459477" y="-964"/>
                  <a:pt x="5513294" y="770"/>
                  <a:pt x="5567082" y="770"/>
                </a:cubicBez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Rectangle 2">
            <a:extLst>
              <a:ext uri="{FF2B5EF4-FFF2-40B4-BE49-F238E27FC236}">
                <a16:creationId xmlns:a16="http://schemas.microsoft.com/office/drawing/2014/main" id="{F9B14A5F-1776-F8EB-617D-B9648F74023B}"/>
              </a:ext>
            </a:extLst>
          </p:cNvPr>
          <p:cNvSpPr txBox="1">
            <a:spLocks noChangeArrowheads="1"/>
          </p:cNvSpPr>
          <p:nvPr/>
        </p:nvSpPr>
        <p:spPr>
          <a:xfrm>
            <a:off x="4655840" y="383178"/>
            <a:ext cx="3384376" cy="55734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latin typeface="黑体" pitchFamily="49" charset="-122"/>
                <a:ea typeface="黑体" pitchFamily="49" charset="-122"/>
                <a:cs typeface="+mn-cs"/>
              </a:rPr>
              <a:t>6.3 </a:t>
            </a:r>
            <a:r>
              <a:rPr lang="zh-CN" altLang="en-US" sz="3600" dirty="0">
                <a:latin typeface="微软雅黑" pitchFamily="34" charset="-122"/>
                <a:ea typeface="微软雅黑" pitchFamily="34" charset="-122"/>
                <a:cs typeface="经典粗黑简" pitchFamily="49" charset="-122"/>
              </a:rPr>
              <a:t>广义表</a:t>
            </a:r>
            <a:endParaRPr lang="en-US" altLang="zh-CN" sz="2400" dirty="0">
              <a:latin typeface="黑体" pitchFamily="49" charset="-122"/>
              <a:ea typeface="黑体" pitchFamily="49" charset="-122"/>
            </a:endParaRPr>
          </a:p>
        </p:txBody>
      </p:sp>
      <p:cxnSp>
        <p:nvCxnSpPr>
          <p:cNvPr id="5" name="直接连接符 4">
            <a:extLst>
              <a:ext uri="{FF2B5EF4-FFF2-40B4-BE49-F238E27FC236}">
                <a16:creationId xmlns:a16="http://schemas.microsoft.com/office/drawing/2014/main" id="{9B144023-FF2D-6A24-C376-B90A3324A2C7}"/>
              </a:ext>
            </a:extLst>
          </p:cNvPr>
          <p:cNvCxnSpPr>
            <a:cxnSpLocks/>
          </p:cNvCxnSpPr>
          <p:nvPr/>
        </p:nvCxnSpPr>
        <p:spPr>
          <a:xfrm>
            <a:off x="-2306" y="1052736"/>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674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7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7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76"/>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7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81"/>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82"/>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2"/>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93"/>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94"/>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95"/>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102"/>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99"/>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107"/>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103"/>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08"/>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09"/>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111"/>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112"/>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16"/>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17"/>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animBg="1"/>
      <p:bldP spid="27" grpId="0" animBg="1"/>
      <p:bldP spid="28" grpId="0" animBg="1"/>
      <p:bldP spid="33" grpId="0" animBg="1"/>
      <p:bldP spid="34" grpId="0" animBg="1"/>
      <p:bldP spid="35" grpId="0" animBg="1"/>
      <p:bldP spid="36" grpId="0"/>
      <p:bldP spid="37" grpId="0"/>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8" grpId="0" animBg="1"/>
      <p:bldP spid="63" grpId="0" animBg="1"/>
      <p:bldP spid="68" grpId="0"/>
      <p:bldP spid="69" grpId="0"/>
      <p:bldP spid="70" grpId="0"/>
      <p:bldP spid="71" grpId="0"/>
      <p:bldP spid="76" grpId="0" animBg="1"/>
      <p:bldP spid="81" grpId="0" animBg="1"/>
      <p:bldP spid="86" grpId="0" animBg="1"/>
      <p:bldP spid="87" grpId="0" animBg="1"/>
      <p:bldP spid="88" grpId="0" animBg="1"/>
      <p:bldP spid="89" grpId="0" animBg="1"/>
      <p:bldP spid="90" grpId="0" animBg="1"/>
      <p:bldP spid="93" grpId="0"/>
      <p:bldP spid="94" grpId="0" animBg="1"/>
      <p:bldP spid="102" grpId="0" animBg="1"/>
      <p:bldP spid="107" grpId="0" animBg="1"/>
      <p:bldP spid="108" grpId="0"/>
      <p:bldP spid="109" grpId="0" animBg="1"/>
      <p:bldP spid="110" grpId="0"/>
      <p:bldP spid="111" grpId="0" animBg="1"/>
      <p:bldP spid="116" grpId="0"/>
      <p:bldP spid="117" grpId="0"/>
      <p:bldP spid="2" grpId="0" animBg="1"/>
      <p:bldP spid="3"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1294</TotalTime>
  <Words>9477</Words>
  <Application>Microsoft Office PowerPoint</Application>
  <PresentationFormat>宽屏</PresentationFormat>
  <Paragraphs>1978</Paragraphs>
  <Slides>68</Slides>
  <Notes>40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68</vt:i4>
      </vt:variant>
    </vt:vector>
  </HeadingPairs>
  <TitlesOfParts>
    <vt:vector size="86" baseType="lpstr">
      <vt:lpstr>方正启体简体</vt:lpstr>
      <vt:lpstr>仿宋</vt:lpstr>
      <vt:lpstr>黑体</vt:lpstr>
      <vt:lpstr>经典粗黑简</vt:lpstr>
      <vt:lpstr>楷体</vt:lpstr>
      <vt:lpstr>楷体_GB2312</vt:lpstr>
      <vt:lpstr>宋体</vt:lpstr>
      <vt:lpstr>微软雅黑</vt:lpstr>
      <vt:lpstr>Arial</vt:lpstr>
      <vt:lpstr>Calibri</vt:lpstr>
      <vt:lpstr>Consolas</vt:lpstr>
      <vt:lpstr>Symbol</vt:lpstr>
      <vt:lpstr>Tahoma</vt:lpstr>
      <vt:lpstr>Times New Roman</vt:lpstr>
      <vt:lpstr>Wingdings</vt:lpstr>
      <vt:lpstr>Office 主题​​</vt:lpstr>
      <vt:lpstr>Clip</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 Data Structure</dc:title>
  <dc:creator>Fenghc</dc:creator>
  <cp:lastModifiedBy>User</cp:lastModifiedBy>
  <cp:revision>124</cp:revision>
  <dcterms:created xsi:type="dcterms:W3CDTF">2021-02-25T03:49:55Z</dcterms:created>
  <dcterms:modified xsi:type="dcterms:W3CDTF">2025-10-16T11:21:58Z</dcterms:modified>
</cp:coreProperties>
</file>