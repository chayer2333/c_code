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705" r:id="rId2"/>
    <p:sldId id="264" r:id="rId3"/>
    <p:sldId id="729" r:id="rId4"/>
    <p:sldId id="727" r:id="rId5"/>
    <p:sldId id="728" r:id="rId6"/>
    <p:sldId id="730" r:id="rId7"/>
    <p:sldId id="731" r:id="rId8"/>
    <p:sldId id="733" r:id="rId9"/>
    <p:sldId id="734" r:id="rId10"/>
    <p:sldId id="732" r:id="rId11"/>
    <p:sldId id="735" r:id="rId12"/>
    <p:sldId id="736" r:id="rId13"/>
    <p:sldId id="737" r:id="rId14"/>
    <p:sldId id="738" r:id="rId15"/>
    <p:sldId id="709" r:id="rId16"/>
    <p:sldId id="595" r:id="rId17"/>
    <p:sldId id="739" r:id="rId18"/>
    <p:sldId id="596" r:id="rId19"/>
    <p:sldId id="597" r:id="rId20"/>
    <p:sldId id="598" r:id="rId21"/>
    <p:sldId id="599" r:id="rId22"/>
    <p:sldId id="600" r:id="rId23"/>
    <p:sldId id="601" r:id="rId24"/>
    <p:sldId id="602" r:id="rId25"/>
    <p:sldId id="603" r:id="rId26"/>
    <p:sldId id="605" r:id="rId27"/>
    <p:sldId id="606" r:id="rId28"/>
    <p:sldId id="607" r:id="rId29"/>
    <p:sldId id="608" r:id="rId30"/>
    <p:sldId id="741" r:id="rId31"/>
    <p:sldId id="742" r:id="rId32"/>
    <p:sldId id="743" r:id="rId33"/>
    <p:sldId id="711" r:id="rId34"/>
    <p:sldId id="609" r:id="rId35"/>
    <p:sldId id="744" r:id="rId36"/>
    <p:sldId id="610" r:id="rId37"/>
    <p:sldId id="745" r:id="rId38"/>
    <p:sldId id="611" r:id="rId39"/>
    <p:sldId id="712" r:id="rId40"/>
    <p:sldId id="702" r:id="rId41"/>
    <p:sldId id="746" r:id="rId42"/>
    <p:sldId id="615" r:id="rId43"/>
    <p:sldId id="747" r:id="rId44"/>
    <p:sldId id="713" r:id="rId45"/>
    <p:sldId id="748" r:id="rId46"/>
    <p:sldId id="749" r:id="rId47"/>
    <p:sldId id="750" r:id="rId48"/>
    <p:sldId id="751" r:id="rId49"/>
    <p:sldId id="752" r:id="rId50"/>
    <p:sldId id="753" r:id="rId51"/>
    <p:sldId id="755" r:id="rId52"/>
    <p:sldId id="756" r:id="rId53"/>
    <p:sldId id="757" r:id="rId54"/>
    <p:sldId id="754" r:id="rId55"/>
    <p:sldId id="759" r:id="rId56"/>
    <p:sldId id="758" r:id="rId57"/>
    <p:sldId id="760" r:id="rId58"/>
    <p:sldId id="761" r:id="rId59"/>
    <p:sldId id="762" r:id="rId60"/>
    <p:sldId id="763" r:id="rId61"/>
    <p:sldId id="765" r:id="rId62"/>
    <p:sldId id="766" r:id="rId63"/>
    <p:sldId id="767" r:id="rId64"/>
    <p:sldId id="768" r:id="rId65"/>
    <p:sldId id="769" r:id="rId66"/>
    <p:sldId id="772" r:id="rId67"/>
    <p:sldId id="770" r:id="rId68"/>
    <p:sldId id="771" r:id="rId69"/>
    <p:sldId id="773" r:id="rId70"/>
    <p:sldId id="563" r:id="rId71"/>
    <p:sldId id="564" r:id="rId72"/>
    <p:sldId id="565" r:id="rId73"/>
    <p:sldId id="566" r:id="rId74"/>
    <p:sldId id="567" r:id="rId75"/>
    <p:sldId id="568" r:id="rId76"/>
    <p:sldId id="569" r:id="rId77"/>
    <p:sldId id="570" r:id="rId78"/>
    <p:sldId id="774" r:id="rId79"/>
    <p:sldId id="775" r:id="rId80"/>
    <p:sldId id="580" r:id="rId81"/>
    <p:sldId id="581" r:id="rId82"/>
    <p:sldId id="776" r:id="rId83"/>
    <p:sldId id="777" r:id="rId84"/>
    <p:sldId id="778" r:id="rId85"/>
    <p:sldId id="704" r:id="rId86"/>
    <p:sldId id="668" r:id="rId87"/>
    <p:sldId id="669" r:id="rId88"/>
    <p:sldId id="781" r:id="rId89"/>
    <p:sldId id="670" r:id="rId90"/>
    <p:sldId id="779" r:id="rId91"/>
    <p:sldId id="780" r:id="rId92"/>
    <p:sldId id="671" r:id="rId93"/>
    <p:sldId id="672" r:id="rId94"/>
    <p:sldId id="673" r:id="rId95"/>
    <p:sldId id="674" r:id="rId96"/>
    <p:sldId id="675" r:id="rId97"/>
    <p:sldId id="676" r:id="rId98"/>
    <p:sldId id="677" r:id="rId99"/>
    <p:sldId id="679" r:id="rId100"/>
    <p:sldId id="680" r:id="rId101"/>
    <p:sldId id="681" r:id="rId102"/>
    <p:sldId id="682" r:id="rId103"/>
    <p:sldId id="683" r:id="rId104"/>
    <p:sldId id="684" r:id="rId105"/>
    <p:sldId id="686" r:id="rId106"/>
    <p:sldId id="687" r:id="rId107"/>
    <p:sldId id="688" r:id="rId108"/>
    <p:sldId id="689" r:id="rId109"/>
    <p:sldId id="690" r:id="rId110"/>
    <p:sldId id="691" r:id="rId111"/>
    <p:sldId id="692" r:id="rId112"/>
    <p:sldId id="693" r:id="rId113"/>
    <p:sldId id="694" r:id="rId114"/>
    <p:sldId id="695" r:id="rId115"/>
    <p:sldId id="696" r:id="rId116"/>
    <p:sldId id="697" r:id="rId117"/>
    <p:sldId id="698" r:id="rId118"/>
    <p:sldId id="699" r:id="rId119"/>
    <p:sldId id="700" r:id="rId120"/>
    <p:sldId id="725" r:id="rId121"/>
    <p:sldId id="782" r:id="rId1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303"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3E4B5A-F0DA-45DB-8057-EA84829C2A07}" type="datetimeFigureOut">
              <a:rPr lang="zh-CN" altLang="en-US" smtClean="0"/>
              <a:t>2025/11/24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3F6518-B1A6-4D8A-B838-759C894BA8CF}" type="slidenum">
              <a:rPr lang="zh-CN" altLang="en-US" smtClean="0"/>
              <a:t>‹#›</a:t>
            </a:fld>
            <a:endParaRPr lang="zh-CN" altLang="en-US"/>
          </a:p>
        </p:txBody>
      </p:sp>
    </p:spTree>
    <p:extLst>
      <p:ext uri="{BB962C8B-B14F-4D97-AF65-F5344CB8AC3E}">
        <p14:creationId xmlns:p14="http://schemas.microsoft.com/office/powerpoint/2010/main" val="47144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70</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71</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72</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74</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E2E1D26B-CE3A-4ED3-8FA9-CC216B35A030}" type="slidenum">
              <a:rPr lang="en-US" altLang="zh-CN" smtClean="0"/>
              <a:pPr>
                <a:defRPr/>
              </a:pPr>
              <a:t>77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a:defRPr/>
            </a:pPr>
            <a:fld id="{BCA75F31-BA19-4AFB-A454-7E27D43C048E}" type="datetime1">
              <a:rPr lang="zh-CN" altLang="en-US"/>
              <a:pPr>
                <a:defRPr/>
              </a:pPr>
              <a:t>2025/11/24</a:t>
            </a:fld>
            <a:endParaRPr lang="en-US" altLang="zh-CN"/>
          </a:p>
        </p:txBody>
      </p:sp>
      <p:sp>
        <p:nvSpPr>
          <p:cNvPr id="3" name="Footer Placeholder 2"/>
          <p:cNvSpPr>
            <a:spLocks noGrp="1"/>
          </p:cNvSpPr>
          <p:nvPr>
            <p:ph type="ftr" sz="quarter" idx="11"/>
          </p:nvPr>
        </p:nvSpPr>
        <p:spPr/>
        <p:txBody>
          <a:bodyPr/>
          <a:lstStyle>
            <a:lvl1pPr>
              <a:defRPr smtClean="0"/>
            </a:lvl1pPr>
          </a:lstStyle>
          <a:p>
            <a:pPr>
              <a:defRPr/>
            </a:pPr>
            <a:r>
              <a:rPr lang="zh-CN" altLang="en-US"/>
              <a:t>
              </a:t>
            </a:r>
          </a:p>
        </p:txBody>
      </p:sp>
    </p:spTree>
    <p:extLst>
      <p:ext uri="{BB962C8B-B14F-4D97-AF65-F5344CB8AC3E}">
        <p14:creationId xmlns:p14="http://schemas.microsoft.com/office/powerpoint/2010/main" val="341933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2025/11/24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11.wmf"/><Relationship Id="rId4" Type="http://schemas.openxmlformats.org/officeDocument/2006/relationships/oleObject" Target="../embeddings/oleObject3.bin"/><Relationship Id="rId9" Type="http://schemas.openxmlformats.org/officeDocument/2006/relationships/image" Target="../media/image13.wmf"/></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5.gif"/><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6.bin"/><Relationship Id="rId1" Type="http://schemas.openxmlformats.org/officeDocument/2006/relationships/slideLayout" Target="../slideLayouts/slideLayout12.xml"/><Relationship Id="rId5" Type="http://schemas.openxmlformats.org/officeDocument/2006/relationships/image" Target="../media/image26.wmf"/><Relationship Id="rId4" Type="http://schemas.openxmlformats.org/officeDocument/2006/relationships/oleObject" Target="../embeddings/oleObject7.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8.bin"/><Relationship Id="rId1" Type="http://schemas.openxmlformats.org/officeDocument/2006/relationships/slideLayout" Target="../slideLayouts/slideLayout12.xml"/><Relationship Id="rId5" Type="http://schemas.openxmlformats.org/officeDocument/2006/relationships/image" Target="../media/image28.wmf"/><Relationship Id="rId4" Type="http://schemas.openxmlformats.org/officeDocument/2006/relationships/oleObject" Target="../embeddings/oleObject9.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0.bin"/><Relationship Id="rId1" Type="http://schemas.openxmlformats.org/officeDocument/2006/relationships/slideLayout" Target="../slideLayouts/slideLayout12.xml"/><Relationship Id="rId5" Type="http://schemas.openxmlformats.org/officeDocument/2006/relationships/image" Target="../media/image30.wmf"/><Relationship Id="rId4" Type="http://schemas.openxmlformats.org/officeDocument/2006/relationships/oleObject" Target="../embeddings/oleObject11.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12.bin"/><Relationship Id="rId1" Type="http://schemas.openxmlformats.org/officeDocument/2006/relationships/slideLayout" Target="../slideLayouts/slideLayout12.xml"/><Relationship Id="rId5" Type="http://schemas.openxmlformats.org/officeDocument/2006/relationships/image" Target="../media/image32.wmf"/><Relationship Id="rId4" Type="http://schemas.openxmlformats.org/officeDocument/2006/relationships/oleObject" Target="../embeddings/oleObject13.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ctrTitle"/>
          </p:nvPr>
        </p:nvSpPr>
        <p:spPr>
          <a:xfrm>
            <a:off x="3755740" y="404664"/>
            <a:ext cx="4680520" cy="933450"/>
          </a:xfrm>
        </p:spPr>
        <p:txBody>
          <a:bodyPr>
            <a:noAutofit/>
          </a:bodyPr>
          <a:lstStyle/>
          <a:p>
            <a:pPr eaLnBrk="1" hangingPunct="1"/>
            <a:r>
              <a:rPr lang="zh-CN" altLang="en-US" sz="5400" b="1" dirty="0">
                <a:latin typeface="黑体" pitchFamily="49" charset="-122"/>
                <a:ea typeface="黑体" pitchFamily="49" charset="-122"/>
                <a:cs typeface="+mn-cs"/>
              </a:rPr>
              <a:t>第</a:t>
            </a:r>
            <a:r>
              <a:rPr lang="en-US" altLang="zh-CN" sz="5400" b="1" dirty="0">
                <a:latin typeface="黑体" pitchFamily="49" charset="-122"/>
                <a:ea typeface="黑体" pitchFamily="49" charset="-122"/>
                <a:cs typeface="+mn-cs"/>
              </a:rPr>
              <a:t>9</a:t>
            </a:r>
            <a:r>
              <a:rPr lang="zh-CN" altLang="en-US" sz="5400" b="1" dirty="0">
                <a:latin typeface="黑体" pitchFamily="49" charset="-122"/>
                <a:ea typeface="黑体" pitchFamily="49" charset="-122"/>
                <a:cs typeface="+mn-cs"/>
              </a:rPr>
              <a:t>章　查找</a:t>
            </a:r>
          </a:p>
        </p:txBody>
      </p:sp>
      <p:sp>
        <p:nvSpPr>
          <p:cNvPr id="17" name="Rectangle 3"/>
          <p:cNvSpPr txBox="1">
            <a:spLocks/>
          </p:cNvSpPr>
          <p:nvPr/>
        </p:nvSpPr>
        <p:spPr>
          <a:xfrm>
            <a:off x="4204062" y="3101307"/>
            <a:ext cx="421246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latin typeface="微软雅黑" pitchFamily="34" charset="-122"/>
                <a:ea typeface="微软雅黑" pitchFamily="34" charset="-122"/>
              </a:defRPr>
            </a:lvl1pPr>
          </a:lstStyle>
          <a:p>
            <a:r>
              <a:rPr lang="en-US" altLang="zh-CN" dirty="0"/>
              <a:t>9.2 </a:t>
            </a:r>
            <a:r>
              <a:rPr lang="zh-CN" altLang="en-US" dirty="0"/>
              <a:t>线性表的查找</a:t>
            </a:r>
          </a:p>
        </p:txBody>
      </p:sp>
      <p:sp>
        <p:nvSpPr>
          <p:cNvPr id="2" name="矩形 1"/>
          <p:cNvSpPr/>
          <p:nvPr/>
        </p:nvSpPr>
        <p:spPr>
          <a:xfrm>
            <a:off x="4204062" y="4093246"/>
            <a:ext cx="3194597"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9.3 </a:t>
            </a:r>
            <a:r>
              <a:rPr lang="zh-CN" altLang="en-US" sz="3200" dirty="0">
                <a:latin typeface="微软雅黑" pitchFamily="34" charset="-122"/>
                <a:ea typeface="微软雅黑" pitchFamily="34" charset="-122"/>
              </a:rPr>
              <a:t>树表的查找</a:t>
            </a:r>
            <a:endParaRPr lang="en-US" altLang="zh-CN" sz="3200" dirty="0">
              <a:latin typeface="微软雅黑" pitchFamily="34" charset="-122"/>
              <a:ea typeface="微软雅黑" pitchFamily="34" charset="-122"/>
            </a:endParaRPr>
          </a:p>
        </p:txBody>
      </p:sp>
      <p:sp>
        <p:nvSpPr>
          <p:cNvPr id="3" name="矩形 2"/>
          <p:cNvSpPr/>
          <p:nvPr/>
        </p:nvSpPr>
        <p:spPr>
          <a:xfrm>
            <a:off x="4204062" y="5085184"/>
            <a:ext cx="403244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3200" dirty="0">
                <a:latin typeface="微软雅黑" pitchFamily="34" charset="-122"/>
                <a:ea typeface="微软雅黑" pitchFamily="34" charset="-122"/>
              </a:rPr>
              <a:t>9.4 </a:t>
            </a:r>
            <a:r>
              <a:rPr lang="zh-CN" altLang="en-US" sz="3200" dirty="0">
                <a:latin typeface="微软雅黑" pitchFamily="34" charset="-122"/>
                <a:ea typeface="微软雅黑" pitchFamily="34" charset="-122"/>
              </a:rPr>
              <a:t>哈希表的查找</a:t>
            </a:r>
          </a:p>
        </p:txBody>
      </p:sp>
      <p:cxnSp>
        <p:nvCxnSpPr>
          <p:cNvPr id="7" name="直接连接符 6">
            <a:extLst>
              <a:ext uri="{FF2B5EF4-FFF2-40B4-BE49-F238E27FC236}">
                <a16:creationId xmlns:a16="http://schemas.microsoft.com/office/drawing/2014/main" id="{17DFB612-F1CA-4B59-A7ED-BBE9F44DA675}"/>
              </a:ext>
            </a:extLst>
          </p:cNvPr>
          <p:cNvCxnSpPr>
            <a:cxnSpLocks/>
          </p:cNvCxnSpPr>
          <p:nvPr/>
        </p:nvCxnSpPr>
        <p:spPr>
          <a:xfrm>
            <a:off x="0" y="1378479"/>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CD497D8-E5BA-BD57-6444-53675836F40E}"/>
              </a:ext>
            </a:extLst>
          </p:cNvPr>
          <p:cNvSpPr txBox="1">
            <a:spLocks/>
          </p:cNvSpPr>
          <p:nvPr/>
        </p:nvSpPr>
        <p:spPr>
          <a:xfrm>
            <a:off x="4204062" y="2109368"/>
            <a:ext cx="423219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latin typeface="微软雅黑" pitchFamily="34" charset="-122"/>
                <a:ea typeface="微软雅黑" pitchFamily="34" charset="-122"/>
              </a:defRPr>
            </a:lvl1pPr>
          </a:lstStyle>
          <a:p>
            <a:r>
              <a:rPr lang="en-US" altLang="zh-CN" dirty="0"/>
              <a:t>9.1 </a:t>
            </a:r>
            <a:r>
              <a:rPr lang="zh-CN" altLang="en-US" dirty="0"/>
              <a:t>查找的基本概念</a:t>
            </a:r>
          </a:p>
        </p:txBody>
      </p:sp>
    </p:spTree>
    <p:extLst>
      <p:ext uri="{BB962C8B-B14F-4D97-AF65-F5344CB8AC3E}">
        <p14:creationId xmlns:p14="http://schemas.microsoft.com/office/powerpoint/2010/main" val="1112944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91344" y="1160755"/>
            <a:ext cx="33843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9.1.1 </a:t>
            </a:r>
            <a:r>
              <a:rPr lang="zh-CN" altLang="en-US" sz="2800" b="1" dirty="0">
                <a:solidFill>
                  <a:schemeClr val="bg1"/>
                </a:solidFill>
                <a:latin typeface="经典粗黑简" pitchFamily="49" charset="-122"/>
                <a:ea typeface="经典粗黑简" pitchFamily="49" charset="-122"/>
                <a:cs typeface="经典粗黑简" pitchFamily="49" charset="-122"/>
              </a:rPr>
              <a:t>查找的定义</a:t>
            </a:r>
          </a:p>
        </p:txBody>
      </p:sp>
      <p:cxnSp>
        <p:nvCxnSpPr>
          <p:cNvPr id="11" name="直接连接符 10">
            <a:extLst>
              <a:ext uri="{FF2B5EF4-FFF2-40B4-BE49-F238E27FC236}">
                <a16:creationId xmlns:a16="http://schemas.microsoft.com/office/drawing/2014/main" id="{6D7B1C5D-CF64-4CD2-872C-E9C54595699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折角形 7">
            <a:extLst>
              <a:ext uri="{FF2B5EF4-FFF2-40B4-BE49-F238E27FC236}">
                <a16:creationId xmlns:a16="http://schemas.microsoft.com/office/drawing/2014/main" id="{8CC865A3-9ADA-4928-8DA9-3689C9AA8D42}"/>
              </a:ext>
            </a:extLst>
          </p:cNvPr>
          <p:cNvSpPr/>
          <p:nvPr/>
        </p:nvSpPr>
        <p:spPr>
          <a:xfrm>
            <a:off x="3996938" y="2862626"/>
            <a:ext cx="3000396" cy="78581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a:solidFill>
                  <a:srgbClr val="3333FF"/>
                </a:solidFill>
                <a:latin typeface="Consolas" pitchFamily="49" charset="0"/>
                <a:ea typeface="楷体" pitchFamily="49" charset="-122"/>
                <a:cs typeface="Consolas" pitchFamily="49" charset="0"/>
              </a:rPr>
              <a:t>查找表</a:t>
            </a:r>
          </a:p>
        </p:txBody>
      </p:sp>
      <p:grpSp>
        <p:nvGrpSpPr>
          <p:cNvPr id="3" name="组合 2">
            <a:extLst>
              <a:ext uri="{FF2B5EF4-FFF2-40B4-BE49-F238E27FC236}">
                <a16:creationId xmlns:a16="http://schemas.microsoft.com/office/drawing/2014/main" id="{4B2E2FE9-E32B-2A32-6B74-7C71A83A04EB}"/>
              </a:ext>
            </a:extLst>
          </p:cNvPr>
          <p:cNvGrpSpPr/>
          <p:nvPr/>
        </p:nvGrpSpPr>
        <p:grpSpPr>
          <a:xfrm>
            <a:off x="5282028" y="3649238"/>
            <a:ext cx="3001190" cy="468495"/>
            <a:chOff x="3999702" y="4001298"/>
            <a:chExt cx="3001190" cy="468495"/>
          </a:xfrm>
        </p:grpSpPr>
        <p:cxnSp>
          <p:nvCxnSpPr>
            <p:cNvPr id="5" name="直接箭头连接符 4">
              <a:extLst>
                <a:ext uri="{FF2B5EF4-FFF2-40B4-BE49-F238E27FC236}">
                  <a16:creationId xmlns:a16="http://schemas.microsoft.com/office/drawing/2014/main" id="{2F2CD8D1-1FB0-ED78-3EA1-E05DD436307C}"/>
                </a:ext>
              </a:extLst>
            </p:cNvPr>
            <p:cNvCxnSpPr/>
            <p:nvPr/>
          </p:nvCxnSpPr>
          <p:spPr>
            <a:xfrm rot="5400000" flipH="1" flipV="1">
              <a:off x="3786182" y="4214818"/>
              <a:ext cx="428628"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8" name="TextBox 10">
              <a:extLst>
                <a:ext uri="{FF2B5EF4-FFF2-40B4-BE49-F238E27FC236}">
                  <a16:creationId xmlns:a16="http://schemas.microsoft.com/office/drawing/2014/main" id="{0708AE8F-CF88-3B95-1250-02754A8E8C1E}"/>
                </a:ext>
              </a:extLst>
            </p:cNvPr>
            <p:cNvSpPr txBox="1"/>
            <p:nvPr/>
          </p:nvSpPr>
          <p:spPr>
            <a:xfrm>
              <a:off x="4071934" y="4069683"/>
              <a:ext cx="2928958" cy="400110"/>
            </a:xfrm>
            <a:prstGeom prst="rect">
              <a:avLst/>
            </a:prstGeom>
            <a:noFill/>
          </p:spPr>
          <p:txBody>
            <a:bodyPr wrap="square" rtlCol="0">
              <a:spAutoFit/>
            </a:bodyPr>
            <a:lstStyle/>
            <a:p>
              <a:r>
                <a:rPr lang="zh-CN" altLang="en-US" sz="2000">
                  <a:latin typeface="Consolas" pitchFamily="49" charset="0"/>
                  <a:ea typeface="仿宋" pitchFamily="49" charset="-122"/>
                  <a:cs typeface="Consolas" pitchFamily="49" charset="0"/>
                </a:rPr>
                <a:t>查找关键字为</a:t>
              </a:r>
              <a:r>
                <a:rPr lang="en-US" altLang="zh-CN" sz="2000" i="1">
                  <a:latin typeface="Consolas" pitchFamily="49" charset="0"/>
                  <a:ea typeface="仿宋" pitchFamily="49" charset="-122"/>
                  <a:cs typeface="Consolas" pitchFamily="49" charset="0"/>
                </a:rPr>
                <a:t>k</a:t>
              </a:r>
              <a:r>
                <a:rPr lang="zh-CN" altLang="en-US" sz="2000">
                  <a:latin typeface="Consolas" pitchFamily="49" charset="0"/>
                  <a:ea typeface="仿宋" pitchFamily="49" charset="-122"/>
                  <a:cs typeface="Consolas" pitchFamily="49" charset="0"/>
                </a:rPr>
                <a:t>的元素</a:t>
              </a:r>
            </a:p>
          </p:txBody>
        </p:sp>
      </p:grpSp>
      <p:grpSp>
        <p:nvGrpSpPr>
          <p:cNvPr id="10" name="组合 9">
            <a:extLst>
              <a:ext uri="{FF2B5EF4-FFF2-40B4-BE49-F238E27FC236}">
                <a16:creationId xmlns:a16="http://schemas.microsoft.com/office/drawing/2014/main" id="{597CDE3C-8C0B-6F41-C5E3-F27C77170697}"/>
              </a:ext>
            </a:extLst>
          </p:cNvPr>
          <p:cNvGrpSpPr/>
          <p:nvPr/>
        </p:nvGrpSpPr>
        <p:grpSpPr>
          <a:xfrm>
            <a:off x="2639616" y="4077072"/>
            <a:ext cx="3143272" cy="1944357"/>
            <a:chOff x="1357290" y="4429132"/>
            <a:chExt cx="3143272" cy="1944357"/>
          </a:xfrm>
        </p:grpSpPr>
        <p:cxnSp>
          <p:nvCxnSpPr>
            <p:cNvPr id="13" name="直接箭头连接符 12">
              <a:extLst>
                <a:ext uri="{FF2B5EF4-FFF2-40B4-BE49-F238E27FC236}">
                  <a16:creationId xmlns:a16="http://schemas.microsoft.com/office/drawing/2014/main" id="{38B8EC0A-F817-8163-F666-AA2643D3666B}"/>
                </a:ext>
              </a:extLst>
            </p:cNvPr>
            <p:cNvCxnSpPr/>
            <p:nvPr/>
          </p:nvCxnSpPr>
          <p:spPr>
            <a:xfrm rot="5400000">
              <a:off x="2786050" y="4572008"/>
              <a:ext cx="857256" cy="57150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6F6712C9-2C61-9E00-D9B6-E288B4C8E754}"/>
                </a:ext>
              </a:extLst>
            </p:cNvPr>
            <p:cNvSpPr txBox="1"/>
            <p:nvPr/>
          </p:nvSpPr>
          <p:spPr>
            <a:xfrm>
              <a:off x="1357290" y="5357826"/>
              <a:ext cx="3143272" cy="1015663"/>
            </a:xfrm>
            <a:prstGeom prst="rect">
              <a:avLst/>
            </a:prstGeom>
            <a:noFill/>
          </p:spPr>
          <p:txBody>
            <a:bodyPr wrap="square" rtlCol="0">
              <a:spAutoFit/>
            </a:bodyPr>
            <a:lstStyle/>
            <a:p>
              <a:r>
                <a:rPr kumimoji="1" lang="zh-CN" altLang="en-US" sz="2000" dirty="0">
                  <a:latin typeface="Consolas" pitchFamily="49" charset="0"/>
                  <a:ea typeface="仿宋" pitchFamily="49" charset="-122"/>
                  <a:cs typeface="Consolas" pitchFamily="49" charset="0"/>
                </a:rPr>
                <a:t>若找到，表示</a:t>
              </a:r>
              <a:r>
                <a:rPr kumimoji="1" lang="zh-CN" altLang="en-US" sz="2000" dirty="0">
                  <a:solidFill>
                    <a:srgbClr val="FF0000"/>
                  </a:solidFill>
                  <a:latin typeface="Consolas" pitchFamily="49" charset="0"/>
                  <a:ea typeface="仿宋" pitchFamily="49" charset="-122"/>
                  <a:cs typeface="Consolas" pitchFamily="49" charset="0"/>
                </a:rPr>
                <a:t>查找成功</a:t>
              </a:r>
              <a:r>
                <a:rPr kumimoji="1" lang="zh-CN" altLang="en-US" sz="2000" dirty="0">
                  <a:latin typeface="Consolas" pitchFamily="49" charset="0"/>
                  <a:ea typeface="仿宋" pitchFamily="49" charset="-122"/>
                  <a:cs typeface="Consolas" pitchFamily="49" charset="0"/>
                </a:rPr>
                <a:t>，返回该元素的信息或该元素在表中的位置</a:t>
              </a:r>
              <a:endParaRPr lang="zh-CN" altLang="en-US" sz="2000" dirty="0">
                <a:latin typeface="Consolas" pitchFamily="49" charset="0"/>
                <a:ea typeface="仿宋" pitchFamily="49" charset="-122"/>
                <a:cs typeface="Consolas" pitchFamily="49" charset="0"/>
              </a:endParaRPr>
            </a:p>
          </p:txBody>
        </p:sp>
      </p:grpSp>
      <p:grpSp>
        <p:nvGrpSpPr>
          <p:cNvPr id="15" name="组合 14">
            <a:extLst>
              <a:ext uri="{FF2B5EF4-FFF2-40B4-BE49-F238E27FC236}">
                <a16:creationId xmlns:a16="http://schemas.microsoft.com/office/drawing/2014/main" id="{25B23F18-F7B6-D0DC-C1BA-EFAAB4FCCE4C}"/>
              </a:ext>
            </a:extLst>
          </p:cNvPr>
          <p:cNvGrpSpPr/>
          <p:nvPr/>
        </p:nvGrpSpPr>
        <p:grpSpPr>
          <a:xfrm>
            <a:off x="6140078" y="4077072"/>
            <a:ext cx="2928958" cy="1928826"/>
            <a:chOff x="4857752" y="4429132"/>
            <a:chExt cx="2928958" cy="1928826"/>
          </a:xfrm>
        </p:grpSpPr>
        <p:cxnSp>
          <p:nvCxnSpPr>
            <p:cNvPr id="16" name="直接箭头连接符 15">
              <a:extLst>
                <a:ext uri="{FF2B5EF4-FFF2-40B4-BE49-F238E27FC236}">
                  <a16:creationId xmlns:a16="http://schemas.microsoft.com/office/drawing/2014/main" id="{D21152B1-41CE-652D-C23A-C3A6661CA4AB}"/>
                </a:ext>
              </a:extLst>
            </p:cNvPr>
            <p:cNvCxnSpPr/>
            <p:nvPr/>
          </p:nvCxnSpPr>
          <p:spPr>
            <a:xfrm rot="16200000" flipH="1">
              <a:off x="4750595" y="4607727"/>
              <a:ext cx="857256" cy="50006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D84D33FA-3FDF-5403-0414-41D3CCA36DD4}"/>
                </a:ext>
              </a:extLst>
            </p:cNvPr>
            <p:cNvSpPr txBox="1"/>
            <p:nvPr/>
          </p:nvSpPr>
          <p:spPr>
            <a:xfrm>
              <a:off x="4857752" y="5342295"/>
              <a:ext cx="2928958" cy="1015663"/>
            </a:xfrm>
            <a:prstGeom prst="rect">
              <a:avLst/>
            </a:prstGeom>
            <a:noFill/>
          </p:spPr>
          <p:txBody>
            <a:bodyPr wrap="square" rtlCol="0">
              <a:spAutoFit/>
            </a:bodyPr>
            <a:lstStyle/>
            <a:p>
              <a:r>
                <a:rPr kumimoji="1" lang="zh-CN" altLang="en-US" sz="2000" dirty="0">
                  <a:latin typeface="Consolas" pitchFamily="49" charset="0"/>
                  <a:ea typeface="仿宋" pitchFamily="49" charset="-122"/>
                  <a:cs typeface="Consolas" pitchFamily="49" charset="0"/>
                </a:rPr>
                <a:t>找不到，表示</a:t>
              </a:r>
              <a:r>
                <a:rPr kumimoji="1" lang="zh-CN" altLang="en-US" sz="2000" dirty="0">
                  <a:solidFill>
                    <a:srgbClr val="FF0000"/>
                  </a:solidFill>
                  <a:latin typeface="Consolas" pitchFamily="49" charset="0"/>
                  <a:ea typeface="仿宋" pitchFamily="49" charset="-122"/>
                  <a:cs typeface="Consolas" pitchFamily="49" charset="0"/>
                </a:rPr>
                <a:t>查找不成功</a:t>
              </a:r>
              <a:r>
                <a:rPr kumimoji="1" lang="zh-CN" altLang="en-US" sz="2000" dirty="0">
                  <a:latin typeface="Consolas" pitchFamily="49" charset="0"/>
                  <a:ea typeface="仿宋" pitchFamily="49" charset="-122"/>
                  <a:cs typeface="Consolas" pitchFamily="49" charset="0"/>
                </a:rPr>
                <a:t>（或者</a:t>
              </a:r>
              <a:r>
                <a:rPr kumimoji="1" lang="zh-CN" altLang="en-US" sz="2000" dirty="0">
                  <a:solidFill>
                    <a:srgbClr val="FF0000"/>
                  </a:solidFill>
                  <a:latin typeface="Consolas" pitchFamily="49" charset="0"/>
                  <a:ea typeface="仿宋" pitchFamily="49" charset="-122"/>
                  <a:cs typeface="Consolas" pitchFamily="49" charset="0"/>
                </a:rPr>
                <a:t>查找失败</a:t>
              </a:r>
              <a:r>
                <a:rPr kumimoji="1" lang="zh-CN" altLang="en-US" sz="2000" dirty="0">
                  <a:latin typeface="Consolas" pitchFamily="49" charset="0"/>
                  <a:ea typeface="仿宋" pitchFamily="49" charset="-122"/>
                  <a:cs typeface="Consolas" pitchFamily="49" charset="0"/>
                </a:rPr>
                <a:t>），返回相关的指示信息。</a:t>
              </a:r>
              <a:endParaRPr lang="zh-CN" altLang="en-US" sz="2000" dirty="0">
                <a:latin typeface="Consolas" pitchFamily="49" charset="0"/>
                <a:ea typeface="仿宋" pitchFamily="49" charset="-122"/>
                <a:cs typeface="Consolas" pitchFamily="49" charset="0"/>
              </a:endParaRPr>
            </a:p>
          </p:txBody>
        </p:sp>
      </p:grpSp>
      <p:sp>
        <p:nvSpPr>
          <p:cNvPr id="18" name="矩形 17">
            <a:extLst>
              <a:ext uri="{FF2B5EF4-FFF2-40B4-BE49-F238E27FC236}">
                <a16:creationId xmlns:a16="http://schemas.microsoft.com/office/drawing/2014/main" id="{A84B34DC-E3C4-96BD-108C-B6AFFFBE522F}"/>
              </a:ext>
            </a:extLst>
          </p:cNvPr>
          <p:cNvSpPr/>
          <p:nvPr/>
        </p:nvSpPr>
        <p:spPr>
          <a:xfrm>
            <a:off x="1631504" y="1954510"/>
            <a:ext cx="7992888" cy="461665"/>
          </a:xfrm>
          <a:prstGeom prst="rect">
            <a:avLst/>
          </a:prstGeom>
        </p:spPr>
        <p:txBody>
          <a:bodyPr wrap="square">
            <a:spAutoFit/>
          </a:bodyPr>
          <a:lstStyle/>
          <a:p>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微软雅黑" pitchFamily="34" charset="-122"/>
                <a:ea typeface="微软雅黑" pitchFamily="34" charset="-122"/>
                <a:cs typeface="经典粗黑简" pitchFamily="49" charset="-122"/>
              </a:rPr>
              <a:t>查找表</a:t>
            </a:r>
            <a:r>
              <a:rPr kumimoji="1" lang="zh-CN" altLang="en-US" sz="2400" dirty="0">
                <a:latin typeface="微软雅黑" pitchFamily="34" charset="-122"/>
                <a:ea typeface="微软雅黑" pitchFamily="34" charset="-122"/>
                <a:cs typeface="经典粗黑简" pitchFamily="49" charset="-122"/>
              </a:rPr>
              <a:t>：由同一类型的数据元素（或记录）构成的集合。</a:t>
            </a:r>
            <a:endParaRPr lang="zh-CN" altLang="en-US" sz="2400" dirty="0"/>
          </a:p>
        </p:txBody>
      </p:sp>
      <p:sp>
        <p:nvSpPr>
          <p:cNvPr id="19" name="矩形 18">
            <a:extLst>
              <a:ext uri="{FF2B5EF4-FFF2-40B4-BE49-F238E27FC236}">
                <a16:creationId xmlns:a16="http://schemas.microsoft.com/office/drawing/2014/main" id="{07AF017B-D22B-656D-CCF0-0AFFFFE4EFE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Tree>
    <p:extLst>
      <p:ext uri="{BB962C8B-B14F-4D97-AF65-F5344CB8AC3E}">
        <p14:creationId xmlns:p14="http://schemas.microsoft.com/office/powerpoint/2010/main" val="58938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nodeType="clickEffect">
                                  <p:stCondLst>
                                    <p:cond delay="0"/>
                                  </p:stCondLst>
                                  <p:childTnLst>
                                    <p:animEffect transition="out" filter="wipe(down)">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5A52-0119-D2A4-1C8F-67BBB716ABA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381C152-3E42-CAB3-B031-3EDF79F8AE8D}"/>
              </a:ext>
            </a:extLst>
          </p:cNvPr>
          <p:cNvSpPr/>
          <p:nvPr/>
        </p:nvSpPr>
        <p:spPr>
          <a:xfrm>
            <a:off x="2207568" y="1817530"/>
            <a:ext cx="7920880" cy="1323439"/>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a:t>
            </a:r>
            <a:r>
              <a:rPr kumimoji="1" lang="zh-CN" altLang="en-US" sz="2000" dirty="0">
                <a:solidFill>
                  <a:srgbClr val="FF0000"/>
                </a:solidFill>
                <a:latin typeface="微软雅黑" pitchFamily="34" charset="-122"/>
                <a:ea typeface="微软雅黑" pitchFamily="34" charset="-122"/>
                <a:cs typeface="经典粗黑简" pitchFamily="49" charset="-122"/>
              </a:rPr>
              <a:t>关键字</a:t>
            </a:r>
            <a:r>
              <a:rPr kumimoji="1" lang="zh-CN" altLang="en-US" sz="2000" dirty="0">
                <a:latin typeface="微软雅黑" pitchFamily="34" charset="-122"/>
                <a:ea typeface="微软雅黑" pitchFamily="34" charset="-122"/>
                <a:cs typeface="经典粗黑简" pitchFamily="49" charset="-122"/>
              </a:rPr>
              <a:t>：数据元素中某个数据项的值，用它可以标识一个数据元素。若此关键字可以唯一的标识一个记录，则称此关键字为</a:t>
            </a:r>
            <a:r>
              <a:rPr kumimoji="1" lang="zh-CN" altLang="en-US" sz="2000" dirty="0">
                <a:solidFill>
                  <a:srgbClr val="FF0000"/>
                </a:solidFill>
                <a:latin typeface="微软雅黑" pitchFamily="34" charset="-122"/>
                <a:ea typeface="微软雅黑" pitchFamily="34" charset="-122"/>
                <a:cs typeface="经典粗黑简" pitchFamily="49" charset="-122"/>
              </a:rPr>
              <a:t>主关键字</a:t>
            </a:r>
            <a:r>
              <a:rPr kumimoji="1" lang="zh-CN" altLang="en-US" sz="2000" dirty="0">
                <a:latin typeface="微软雅黑" pitchFamily="34" charset="-122"/>
                <a:ea typeface="微软雅黑" pitchFamily="34" charset="-122"/>
                <a:cs typeface="经典粗黑简" pitchFamily="49" charset="-122"/>
              </a:rPr>
              <a:t>。反之，称用以识别若干记录的关键字为</a:t>
            </a:r>
            <a:r>
              <a:rPr kumimoji="1" lang="zh-CN" altLang="en-US" sz="2000" dirty="0">
                <a:solidFill>
                  <a:srgbClr val="FF0000"/>
                </a:solidFill>
                <a:latin typeface="微软雅黑" pitchFamily="34" charset="-122"/>
                <a:ea typeface="微软雅黑" pitchFamily="34" charset="-122"/>
                <a:cs typeface="经典粗黑简" pitchFamily="49" charset="-122"/>
              </a:rPr>
              <a:t>次关键字</a:t>
            </a:r>
            <a:r>
              <a:rPr kumimoji="1" lang="zh-CN" altLang="en-US" sz="2000" dirty="0">
                <a:latin typeface="微软雅黑" pitchFamily="34" charset="-122"/>
                <a:ea typeface="微软雅黑" pitchFamily="34" charset="-122"/>
                <a:cs typeface="经典粗黑简" pitchFamily="49" charset="-122"/>
              </a:rPr>
              <a:t>。当数据元素只有一个数据项时，其关键字即为该数据元素的值。</a:t>
            </a:r>
          </a:p>
        </p:txBody>
      </p:sp>
      <p:sp>
        <p:nvSpPr>
          <p:cNvPr id="5" name="矩形 4">
            <a:extLst>
              <a:ext uri="{FF2B5EF4-FFF2-40B4-BE49-F238E27FC236}">
                <a16:creationId xmlns:a16="http://schemas.microsoft.com/office/drawing/2014/main" id="{4393E0C2-3EE9-D4D2-107F-6436C209BE7B}"/>
              </a:ext>
            </a:extLst>
          </p:cNvPr>
          <p:cNvSpPr/>
          <p:nvPr/>
        </p:nvSpPr>
        <p:spPr>
          <a:xfrm>
            <a:off x="2207568" y="3284984"/>
            <a:ext cx="7920880" cy="163121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3</a:t>
            </a:r>
            <a:r>
              <a:rPr kumimoji="1" lang="zh-CN" altLang="en-US" sz="2000" dirty="0">
                <a:latin typeface="微软雅黑" pitchFamily="34" charset="-122"/>
                <a:ea typeface="微软雅黑" pitchFamily="34" charset="-122"/>
                <a:cs typeface="经典粗黑简" pitchFamily="49" charset="-122"/>
              </a:rPr>
              <a:t>、</a:t>
            </a:r>
            <a:r>
              <a:rPr kumimoji="1" lang="zh-CN" altLang="en-US" sz="2000" dirty="0">
                <a:solidFill>
                  <a:srgbClr val="FF0000"/>
                </a:solidFill>
                <a:latin typeface="微软雅黑" pitchFamily="34" charset="-122"/>
                <a:ea typeface="微软雅黑" pitchFamily="34" charset="-122"/>
                <a:cs typeface="经典粗黑简" pitchFamily="49" charset="-122"/>
              </a:rPr>
              <a:t>查找</a:t>
            </a:r>
            <a:r>
              <a:rPr kumimoji="1" lang="zh-CN" altLang="en-US" sz="2000" dirty="0">
                <a:latin typeface="微软雅黑" pitchFamily="34" charset="-122"/>
                <a:ea typeface="微软雅黑" pitchFamily="34" charset="-122"/>
                <a:cs typeface="经典粗黑简" pitchFamily="49" charset="-122"/>
              </a:rPr>
              <a:t>：根据给定的某个值，在查找表中确定一个其关键字等于给顶值的记录或数据元素。若表中存在这样的一个记录，则称</a:t>
            </a:r>
            <a:r>
              <a:rPr kumimoji="1" lang="zh-CN" altLang="en-US" sz="2000" dirty="0">
                <a:solidFill>
                  <a:srgbClr val="FF0000"/>
                </a:solidFill>
                <a:latin typeface="微软雅黑" pitchFamily="34" charset="-122"/>
                <a:ea typeface="微软雅黑" pitchFamily="34" charset="-122"/>
                <a:cs typeface="经典粗黑简" pitchFamily="49" charset="-122"/>
              </a:rPr>
              <a:t>查找是成功的</a:t>
            </a:r>
            <a:r>
              <a:rPr kumimoji="1" lang="zh-CN" altLang="en-US" sz="2000" dirty="0">
                <a:latin typeface="微软雅黑" pitchFamily="34" charset="-122"/>
                <a:ea typeface="微软雅黑" pitchFamily="34" charset="-122"/>
                <a:cs typeface="经典粗黑简" pitchFamily="49" charset="-122"/>
              </a:rPr>
              <a:t>，此时查找的结果为给出整个记录的信息，或指示该记录在查找表中的位置；若表中不存在关键字等于给定值的记录，则称</a:t>
            </a:r>
            <a:r>
              <a:rPr kumimoji="1" lang="zh-CN" altLang="en-US" sz="2000" dirty="0">
                <a:solidFill>
                  <a:srgbClr val="FF0000"/>
                </a:solidFill>
                <a:latin typeface="微软雅黑" pitchFamily="34" charset="-122"/>
                <a:ea typeface="微软雅黑" pitchFamily="34" charset="-122"/>
                <a:cs typeface="经典粗黑简" pitchFamily="49" charset="-122"/>
              </a:rPr>
              <a:t>查找不成功</a:t>
            </a:r>
            <a:r>
              <a:rPr kumimoji="1" lang="zh-CN" altLang="en-US" sz="2000" dirty="0">
                <a:latin typeface="微软雅黑" pitchFamily="34" charset="-122"/>
                <a:ea typeface="微软雅黑" pitchFamily="34" charset="-122"/>
                <a:cs typeface="经典粗黑简" pitchFamily="49" charset="-122"/>
              </a:rPr>
              <a:t>，此时查找的结果可给出一个“空”记录或“空”指针。</a:t>
            </a:r>
          </a:p>
        </p:txBody>
      </p:sp>
      <p:sp>
        <p:nvSpPr>
          <p:cNvPr id="4" name="矩形 3">
            <a:extLst>
              <a:ext uri="{FF2B5EF4-FFF2-40B4-BE49-F238E27FC236}">
                <a16:creationId xmlns:a16="http://schemas.microsoft.com/office/drawing/2014/main" id="{3CBAA7B2-0C26-59C8-EBC6-F4E6AE10F03F}"/>
              </a:ext>
            </a:extLst>
          </p:cNvPr>
          <p:cNvSpPr/>
          <p:nvPr/>
        </p:nvSpPr>
        <p:spPr>
          <a:xfrm>
            <a:off x="191344" y="1160755"/>
            <a:ext cx="33843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9.1.1 </a:t>
            </a:r>
            <a:r>
              <a:rPr lang="zh-CN" altLang="en-US" sz="2800" b="1" dirty="0">
                <a:solidFill>
                  <a:schemeClr val="bg1"/>
                </a:solidFill>
                <a:latin typeface="经典粗黑简" pitchFamily="49" charset="-122"/>
                <a:ea typeface="经典粗黑简" pitchFamily="49" charset="-122"/>
                <a:cs typeface="经典粗黑简" pitchFamily="49" charset="-122"/>
              </a:rPr>
              <a:t>查找的定义</a:t>
            </a:r>
          </a:p>
        </p:txBody>
      </p:sp>
      <p:cxnSp>
        <p:nvCxnSpPr>
          <p:cNvPr id="6" name="直接连接符 5">
            <a:extLst>
              <a:ext uri="{FF2B5EF4-FFF2-40B4-BE49-F238E27FC236}">
                <a16:creationId xmlns:a16="http://schemas.microsoft.com/office/drawing/2014/main" id="{61677490-27CD-6AC1-9A9B-C53CA187D15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AA5DA594-6C8F-4A07-82BF-88C1F71884A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Tree>
    <p:extLst>
      <p:ext uri="{BB962C8B-B14F-4D97-AF65-F5344CB8AC3E}">
        <p14:creationId xmlns:p14="http://schemas.microsoft.com/office/powerpoint/2010/main" val="149215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BB8B2-1C6B-B7FC-8743-4FDAFEA9DDBD}"/>
            </a:ext>
          </a:extLst>
        </p:cNvPr>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F0BF293F-29E4-082B-47C2-B629DE4A86E8}"/>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FA166AA-832D-1EDE-02B4-82395E45AA8C}"/>
              </a:ext>
            </a:extLst>
          </p:cNvPr>
          <p:cNvSpPr/>
          <p:nvPr/>
        </p:nvSpPr>
        <p:spPr>
          <a:xfrm>
            <a:off x="1631504" y="1954510"/>
            <a:ext cx="3384376" cy="461665"/>
          </a:xfrm>
          <a:prstGeom prst="rect">
            <a:avLst/>
          </a:prstGeom>
        </p:spPr>
        <p:txBody>
          <a:bodyPr wrap="square">
            <a:spAutoFit/>
          </a:bodyPr>
          <a:lstStyle/>
          <a:p>
            <a:r>
              <a:rPr kumimoji="1" lang="en-US" altLang="zh-CN" sz="2400" dirty="0">
                <a:latin typeface="微软雅黑" pitchFamily="34" charset="-122"/>
                <a:ea typeface="微软雅黑" pitchFamily="34" charset="-122"/>
                <a:cs typeface="经典粗黑简" pitchFamily="49" charset="-122"/>
              </a:rPr>
              <a:t>4</a:t>
            </a:r>
            <a:r>
              <a:rPr kumimoji="1" lang="zh-CN" altLang="en-US" sz="2400" dirty="0">
                <a:latin typeface="微软雅黑" pitchFamily="34" charset="-122"/>
                <a:ea typeface="微软雅黑" pitchFamily="34" charset="-122"/>
                <a:cs typeface="经典粗黑简" pitchFamily="49" charset="-122"/>
              </a:rPr>
              <a:t>、内查找和外查找</a:t>
            </a:r>
          </a:p>
        </p:txBody>
      </p:sp>
      <p:sp>
        <p:nvSpPr>
          <p:cNvPr id="4" name="Text Box 4">
            <a:extLst>
              <a:ext uri="{FF2B5EF4-FFF2-40B4-BE49-F238E27FC236}">
                <a16:creationId xmlns:a16="http://schemas.microsoft.com/office/drawing/2014/main" id="{F6ACC196-5978-127A-0D2A-A2B337D6685C}"/>
              </a:ext>
            </a:extLst>
          </p:cNvPr>
          <p:cNvSpPr txBox="1">
            <a:spLocks noChangeArrowheads="1"/>
          </p:cNvSpPr>
          <p:nvPr/>
        </p:nvSpPr>
        <p:spPr bwMode="auto">
          <a:xfrm>
            <a:off x="1615718" y="2967335"/>
            <a:ext cx="8064500" cy="923330"/>
          </a:xfrm>
          <a:prstGeom prst="rect">
            <a:avLst/>
          </a:prstGeom>
          <a:noFill/>
          <a:ln w="9525">
            <a:noFill/>
            <a:miter lim="800000"/>
            <a:headEnd/>
            <a:tailEnd/>
          </a:ln>
          <a:effectLst/>
        </p:spPr>
        <p:txBody>
          <a:bodyPr>
            <a:spAutoFit/>
          </a:bodyPr>
          <a:lstStyle/>
          <a:p>
            <a:pPr>
              <a:lnSpc>
                <a:spcPct val="140000"/>
              </a:lnSpc>
              <a:spcBef>
                <a:spcPct val="50000"/>
              </a:spcBef>
            </a:pPr>
            <a:r>
              <a:rPr lang="zh-CN" altLang="en-US" sz="2000" dirty="0">
                <a:latin typeface="楷体" pitchFamily="49" charset="-122"/>
                <a:ea typeface="楷体" pitchFamily="49" charset="-122"/>
              </a:rPr>
              <a:t>　　若整个查找过程都在内存进行，则称之为</a:t>
            </a:r>
            <a:r>
              <a:rPr lang="zh-CN" altLang="en-US" sz="2000" dirty="0">
                <a:solidFill>
                  <a:srgbClr val="FF0000"/>
                </a:solidFill>
                <a:latin typeface="方正启体简体" pitchFamily="65" charset="-122"/>
                <a:ea typeface="方正启体简体" pitchFamily="65" charset="-122"/>
              </a:rPr>
              <a:t>内查找</a:t>
            </a:r>
            <a:r>
              <a:rPr lang="zh-CN" altLang="en-US" sz="2000" dirty="0">
                <a:latin typeface="楷体" pitchFamily="49" charset="-122"/>
                <a:ea typeface="楷体" pitchFamily="49" charset="-122"/>
              </a:rPr>
              <a:t>；反之，若查找过程中需要访问外存，则称之为</a:t>
            </a:r>
            <a:r>
              <a:rPr lang="zh-CN" altLang="en-US" sz="2000" dirty="0">
                <a:solidFill>
                  <a:srgbClr val="FF0000"/>
                </a:solidFill>
                <a:latin typeface="方正启体简体" pitchFamily="65" charset="-122"/>
                <a:ea typeface="方正启体简体" pitchFamily="65" charset="-122"/>
              </a:rPr>
              <a:t>外查找</a:t>
            </a:r>
            <a:r>
              <a:rPr lang="zh-CN" altLang="en-US" sz="2000" dirty="0">
                <a:latin typeface="楷体" pitchFamily="49" charset="-122"/>
                <a:ea typeface="楷体" pitchFamily="49" charset="-122"/>
              </a:rPr>
              <a:t>。 </a:t>
            </a:r>
          </a:p>
        </p:txBody>
      </p:sp>
      <p:grpSp>
        <p:nvGrpSpPr>
          <p:cNvPr id="7" name="组合 6">
            <a:extLst>
              <a:ext uri="{FF2B5EF4-FFF2-40B4-BE49-F238E27FC236}">
                <a16:creationId xmlns:a16="http://schemas.microsoft.com/office/drawing/2014/main" id="{F3E84C0E-54C1-358D-2933-7F10837F94E1}"/>
              </a:ext>
            </a:extLst>
          </p:cNvPr>
          <p:cNvGrpSpPr/>
          <p:nvPr/>
        </p:nvGrpSpPr>
        <p:grpSpPr>
          <a:xfrm>
            <a:off x="4401800" y="3396757"/>
            <a:ext cx="4929222" cy="1328010"/>
            <a:chOff x="3714744" y="2001034"/>
            <a:chExt cx="4929222" cy="1328010"/>
          </a:xfrm>
        </p:grpSpPr>
        <p:sp>
          <p:nvSpPr>
            <p:cNvPr id="19" name="TextBox 5">
              <a:extLst>
                <a:ext uri="{FF2B5EF4-FFF2-40B4-BE49-F238E27FC236}">
                  <a16:creationId xmlns:a16="http://schemas.microsoft.com/office/drawing/2014/main" id="{8A5B1B3F-7024-3D27-D912-CC62FC0ACABE}"/>
                </a:ext>
              </a:extLst>
            </p:cNvPr>
            <p:cNvSpPr txBox="1"/>
            <p:nvPr/>
          </p:nvSpPr>
          <p:spPr>
            <a:xfrm>
              <a:off x="3714744" y="2928934"/>
              <a:ext cx="4929222" cy="400110"/>
            </a:xfrm>
            <a:prstGeom prst="rect">
              <a:avLst/>
            </a:prstGeom>
            <a:noFill/>
          </p:spPr>
          <p:txBody>
            <a:bodyPr wrap="square" rtlCol="0">
              <a:spAutoFit/>
            </a:bodyPr>
            <a:lstStyle/>
            <a:p>
              <a:r>
                <a:rPr lang="zh-CN" altLang="en-US" sz="2000">
                  <a:latin typeface="Consolas" pitchFamily="49" charset="0"/>
                  <a:ea typeface="仿宋" pitchFamily="49" charset="-122"/>
                  <a:cs typeface="Consolas" pitchFamily="49" charset="0"/>
                </a:rPr>
                <a:t>采用数组或者链表存储的数据均在内存中</a:t>
              </a:r>
            </a:p>
          </p:txBody>
        </p:sp>
        <p:cxnSp>
          <p:nvCxnSpPr>
            <p:cNvPr id="20" name="直接箭头连接符 19">
              <a:extLst>
                <a:ext uri="{FF2B5EF4-FFF2-40B4-BE49-F238E27FC236}">
                  <a16:creationId xmlns:a16="http://schemas.microsoft.com/office/drawing/2014/main" id="{843AD64B-E994-0AA0-0633-444586615FDC}"/>
                </a:ext>
              </a:extLst>
            </p:cNvPr>
            <p:cNvCxnSpPr/>
            <p:nvPr/>
          </p:nvCxnSpPr>
          <p:spPr>
            <a:xfrm rot="5400000" flipH="1" flipV="1">
              <a:off x="5536413" y="2464587"/>
              <a:ext cx="928694" cy="1588"/>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grpSp>
      <p:sp>
        <p:nvSpPr>
          <p:cNvPr id="21" name="矩形 20">
            <a:extLst>
              <a:ext uri="{FF2B5EF4-FFF2-40B4-BE49-F238E27FC236}">
                <a16:creationId xmlns:a16="http://schemas.microsoft.com/office/drawing/2014/main" id="{F4CB2F90-2478-CE9E-1C10-B04CBAE3A94F}"/>
              </a:ext>
            </a:extLst>
          </p:cNvPr>
          <p:cNvSpPr/>
          <p:nvPr/>
        </p:nvSpPr>
        <p:spPr>
          <a:xfrm>
            <a:off x="191344" y="1160755"/>
            <a:ext cx="33843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9.1.1 </a:t>
            </a:r>
            <a:r>
              <a:rPr lang="zh-CN" altLang="en-US" sz="2800" b="1" dirty="0">
                <a:solidFill>
                  <a:schemeClr val="bg1"/>
                </a:solidFill>
                <a:latin typeface="经典粗黑简" pitchFamily="49" charset="-122"/>
                <a:ea typeface="经典粗黑简" pitchFamily="49" charset="-122"/>
                <a:cs typeface="经典粗黑简" pitchFamily="49" charset="-122"/>
              </a:rPr>
              <a:t>查找的定义</a:t>
            </a:r>
          </a:p>
        </p:txBody>
      </p:sp>
      <p:sp>
        <p:nvSpPr>
          <p:cNvPr id="22" name="矩形 21">
            <a:extLst>
              <a:ext uri="{FF2B5EF4-FFF2-40B4-BE49-F238E27FC236}">
                <a16:creationId xmlns:a16="http://schemas.microsoft.com/office/drawing/2014/main" id="{4717A7E1-C7CB-EB42-FD24-005E2D83104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Tree>
    <p:extLst>
      <p:ext uri="{BB962C8B-B14F-4D97-AF65-F5344CB8AC3E}">
        <p14:creationId xmlns:p14="http://schemas.microsoft.com/office/powerpoint/2010/main" val="315679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764E-081A-8695-9AAD-4BD4389A7617}"/>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576A064B-D678-454D-3AFF-80FF9892834B}"/>
              </a:ext>
            </a:extLst>
          </p:cNvPr>
          <p:cNvSpPr/>
          <p:nvPr/>
        </p:nvSpPr>
        <p:spPr>
          <a:xfrm>
            <a:off x="255372" y="1152249"/>
            <a:ext cx="403244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9.1.2 </a:t>
            </a:r>
            <a:r>
              <a:rPr lang="zh-CN" altLang="en-US" sz="2800" b="1" dirty="0">
                <a:solidFill>
                  <a:schemeClr val="bg1"/>
                </a:solidFill>
                <a:latin typeface="经典粗黑简" pitchFamily="49" charset="-122"/>
                <a:ea typeface="经典粗黑简" pitchFamily="49" charset="-122"/>
                <a:cs typeface="经典粗黑简" pitchFamily="49" charset="-122"/>
              </a:rPr>
              <a:t>查找的数据组织</a:t>
            </a:r>
          </a:p>
        </p:txBody>
      </p:sp>
      <p:cxnSp>
        <p:nvCxnSpPr>
          <p:cNvPr id="11" name="直接连接符 10">
            <a:extLst>
              <a:ext uri="{FF2B5EF4-FFF2-40B4-BE49-F238E27FC236}">
                <a16:creationId xmlns:a16="http://schemas.microsoft.com/office/drawing/2014/main" id="{448838DA-25EB-789B-0F55-81FA119F1AB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2">
            <a:extLst>
              <a:ext uri="{FF2B5EF4-FFF2-40B4-BE49-F238E27FC236}">
                <a16:creationId xmlns:a16="http://schemas.microsoft.com/office/drawing/2014/main" id="{627F6414-3A88-9146-A3BA-693028403F30}"/>
              </a:ext>
            </a:extLst>
          </p:cNvPr>
          <p:cNvSpPr txBox="1">
            <a:spLocks noChangeArrowheads="1"/>
          </p:cNvSpPr>
          <p:nvPr/>
        </p:nvSpPr>
        <p:spPr bwMode="auto">
          <a:xfrm>
            <a:off x="1271464" y="2358808"/>
            <a:ext cx="2000264" cy="144921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a:spAutoFit/>
          </a:bodyPr>
          <a:lstStyle/>
          <a:p>
            <a:pPr marL="342900" indent="-342900">
              <a:spcBef>
                <a:spcPct val="50000"/>
              </a:spcBef>
              <a:buBlip>
                <a:blip r:embed="rId2"/>
              </a:buBlip>
            </a:pPr>
            <a:r>
              <a:rPr kumimoji="1" lang="zh-CN" altLang="en-US" sz="2000">
                <a:latin typeface="Consolas" pitchFamily="49" charset="0"/>
                <a:ea typeface="仿宋" pitchFamily="49" charset="-122"/>
                <a:cs typeface="Consolas" pitchFamily="49" charset="0"/>
              </a:rPr>
              <a:t>顺</a:t>
            </a:r>
            <a:r>
              <a:rPr kumimoji="1" lang="zh-CN" altLang="en-US" sz="2000" dirty="0">
                <a:latin typeface="Consolas" pitchFamily="49" charset="0"/>
                <a:ea typeface="仿宋" pitchFamily="49" charset="-122"/>
                <a:cs typeface="Consolas" pitchFamily="49" charset="0"/>
              </a:rPr>
              <a:t>序表</a:t>
            </a:r>
          </a:p>
          <a:p>
            <a:pPr marL="342900" indent="-342900">
              <a:spcBef>
                <a:spcPct val="50000"/>
              </a:spcBef>
              <a:buBlip>
                <a:blip r:embed="rId2"/>
              </a:buBlip>
            </a:pPr>
            <a:r>
              <a:rPr kumimoji="1" lang="zh-CN" altLang="en-US" sz="2000">
                <a:latin typeface="Consolas" pitchFamily="49" charset="0"/>
                <a:ea typeface="仿宋" pitchFamily="49" charset="-122"/>
                <a:cs typeface="Consolas" pitchFamily="49" charset="0"/>
              </a:rPr>
              <a:t>链</a:t>
            </a:r>
            <a:r>
              <a:rPr kumimoji="1" lang="zh-CN" altLang="en-US" sz="2000" dirty="0">
                <a:latin typeface="Consolas" pitchFamily="49" charset="0"/>
                <a:ea typeface="仿宋" pitchFamily="49" charset="-122"/>
                <a:cs typeface="Consolas" pitchFamily="49" charset="0"/>
              </a:rPr>
              <a:t>表</a:t>
            </a:r>
          </a:p>
          <a:p>
            <a:pPr marL="342900" indent="-342900">
              <a:spcBef>
                <a:spcPct val="50000"/>
              </a:spcBef>
              <a:buBlip>
                <a:blip r:embed="rId2"/>
              </a:buBlip>
            </a:pPr>
            <a:r>
              <a:rPr kumimoji="1" lang="zh-CN" altLang="en-US" sz="2000">
                <a:latin typeface="Consolas" pitchFamily="49" charset="0"/>
                <a:ea typeface="仿宋" pitchFamily="49" charset="-122"/>
                <a:cs typeface="Consolas" pitchFamily="49" charset="0"/>
              </a:rPr>
              <a:t>其</a:t>
            </a:r>
            <a:r>
              <a:rPr kumimoji="1" lang="zh-CN" altLang="en-US" sz="2000" dirty="0">
                <a:latin typeface="Consolas" pitchFamily="49" charset="0"/>
                <a:ea typeface="仿宋" pitchFamily="49" charset="-122"/>
                <a:cs typeface="Consolas" pitchFamily="49" charset="0"/>
              </a:rPr>
              <a:t>他</a:t>
            </a:r>
          </a:p>
        </p:txBody>
      </p:sp>
      <p:sp>
        <p:nvSpPr>
          <p:cNvPr id="3" name="Text Box 3">
            <a:extLst>
              <a:ext uri="{FF2B5EF4-FFF2-40B4-BE49-F238E27FC236}">
                <a16:creationId xmlns:a16="http://schemas.microsoft.com/office/drawing/2014/main" id="{175820E6-D0F8-9555-C36A-5C4E4501D726}"/>
              </a:ext>
            </a:extLst>
          </p:cNvPr>
          <p:cNvSpPr txBox="1">
            <a:spLocks noChangeArrowheads="1"/>
          </p:cNvSpPr>
          <p:nvPr/>
        </p:nvSpPr>
        <p:spPr bwMode="auto">
          <a:xfrm>
            <a:off x="3359696" y="2598003"/>
            <a:ext cx="8113742" cy="830997"/>
          </a:xfrm>
          <a:prstGeom prst="rect">
            <a:avLst/>
          </a:prstGeom>
          <a:noFill/>
          <a:ln w="9525">
            <a:noFill/>
            <a:miter lim="800000"/>
            <a:headEnd/>
            <a:tailEnd/>
          </a:ln>
          <a:effectLst/>
        </p:spPr>
        <p:txBody>
          <a:bodyPr wrap="square">
            <a:spAutoFit/>
          </a:bodyPr>
          <a:lstStyle/>
          <a:p>
            <a:pPr algn="just">
              <a:lnSpc>
                <a:spcPct val="120000"/>
              </a:lnSpc>
              <a:spcBef>
                <a:spcPct val="50000"/>
              </a:spcBef>
            </a:pPr>
            <a:r>
              <a:rPr kumimoji="1" lang="en-US" altLang="zh-CN" sz="2000" dirty="0">
                <a:solidFill>
                  <a:srgbClr val="000000"/>
                </a:solidFill>
                <a:latin typeface="Consolas" pitchFamily="49" charset="0"/>
                <a:ea typeface="楷体" pitchFamily="49" charset="-122"/>
                <a:cs typeface="Consolas" pitchFamily="49" charset="0"/>
              </a:rPr>
              <a:t>    </a:t>
            </a:r>
            <a:r>
              <a:rPr kumimoji="1" lang="zh-CN" altLang="en-US" sz="2000" dirty="0">
                <a:latin typeface="Consolas" pitchFamily="49" charset="0"/>
                <a:ea typeface="楷体" pitchFamily="49" charset="-122"/>
                <a:cs typeface="Consolas" pitchFamily="49" charset="0"/>
              </a:rPr>
              <a:t>若在查找的同时对表做修改操作（如插入和删除），则相应的表称之为</a:t>
            </a:r>
            <a:r>
              <a:rPr kumimoji="1" lang="zh-CN" altLang="en-US" sz="2000" dirty="0">
                <a:solidFill>
                  <a:srgbClr val="FF0000"/>
                </a:solidFill>
                <a:latin typeface="微软雅黑" pitchFamily="34" charset="-122"/>
                <a:ea typeface="微软雅黑" pitchFamily="34" charset="-122"/>
                <a:cs typeface="Consolas" pitchFamily="49" charset="0"/>
              </a:rPr>
              <a:t>动态查找表</a:t>
            </a:r>
            <a:r>
              <a:rPr kumimoji="1" lang="zh-CN" altLang="en-US" sz="2000" dirty="0">
                <a:latin typeface="Consolas" pitchFamily="49" charset="0"/>
                <a:ea typeface="楷体" pitchFamily="49" charset="-122"/>
                <a:cs typeface="Consolas" pitchFamily="49" charset="0"/>
              </a:rPr>
              <a:t>；否则称之为</a:t>
            </a:r>
            <a:r>
              <a:rPr kumimoji="1" lang="zh-CN" altLang="en-US" sz="2000" dirty="0">
                <a:solidFill>
                  <a:srgbClr val="FF0000"/>
                </a:solidFill>
                <a:latin typeface="微软雅黑" pitchFamily="34" charset="-122"/>
                <a:ea typeface="微软雅黑" pitchFamily="34" charset="-122"/>
                <a:cs typeface="Consolas" pitchFamily="49" charset="0"/>
              </a:rPr>
              <a:t>静态查找表</a:t>
            </a:r>
            <a:r>
              <a:rPr kumimoji="1" lang="zh-CN" altLang="en-US" sz="2000" dirty="0">
                <a:latin typeface="Consolas" pitchFamily="49" charset="0"/>
                <a:ea typeface="楷体" pitchFamily="49" charset="-122"/>
                <a:cs typeface="Consolas" pitchFamily="49" charset="0"/>
              </a:rPr>
              <a:t>。 </a:t>
            </a:r>
            <a:endParaRPr kumimoji="1" lang="zh-CN" altLang="en-US" sz="2000" b="0" dirty="0">
              <a:latin typeface="Consolas" pitchFamily="49" charset="0"/>
              <a:ea typeface="楷体" pitchFamily="49" charset="-122"/>
              <a:cs typeface="Consolas" pitchFamily="49" charset="0"/>
            </a:endParaRPr>
          </a:p>
        </p:txBody>
      </p:sp>
      <p:sp>
        <p:nvSpPr>
          <p:cNvPr id="5" name="TextBox 6">
            <a:extLst>
              <a:ext uri="{FF2B5EF4-FFF2-40B4-BE49-F238E27FC236}">
                <a16:creationId xmlns:a16="http://schemas.microsoft.com/office/drawing/2014/main" id="{43A18A68-EF22-1CEA-9AC3-ECBCF4D7B120}"/>
              </a:ext>
            </a:extLst>
          </p:cNvPr>
          <p:cNvSpPr txBox="1"/>
          <p:nvPr/>
        </p:nvSpPr>
        <p:spPr>
          <a:xfrm>
            <a:off x="985712" y="1787304"/>
            <a:ext cx="4143404" cy="400110"/>
          </a:xfrm>
          <a:prstGeom prst="rect">
            <a:avLst/>
          </a:prstGeom>
          <a:noFill/>
        </p:spPr>
        <p:txBody>
          <a:bodyPr wrap="square" rtlCol="0">
            <a:spAutoFit/>
          </a:bodyPr>
          <a:lstStyle/>
          <a:p>
            <a:r>
              <a:rPr kumimoji="1" lang="zh-CN" altLang="en-US" sz="2000">
                <a:latin typeface="Consolas" pitchFamily="49" charset="0"/>
                <a:ea typeface="楷体" pitchFamily="49" charset="-122"/>
                <a:cs typeface="Consolas" pitchFamily="49" charset="0"/>
              </a:rPr>
              <a:t>采用何种存储结构？</a:t>
            </a:r>
            <a:endParaRPr lang="zh-CN" altLang="en-US" sz="2000"/>
          </a:p>
        </p:txBody>
      </p:sp>
      <p:sp>
        <p:nvSpPr>
          <p:cNvPr id="6" name="矩形 5">
            <a:extLst>
              <a:ext uri="{FF2B5EF4-FFF2-40B4-BE49-F238E27FC236}">
                <a16:creationId xmlns:a16="http://schemas.microsoft.com/office/drawing/2014/main" id="{A7A7B42B-E21C-F75F-012C-DDC6C368DE39}"/>
              </a:ext>
            </a:extLst>
          </p:cNvPr>
          <p:cNvSpPr/>
          <p:nvPr/>
        </p:nvSpPr>
        <p:spPr>
          <a:xfrm>
            <a:off x="2063552" y="3979418"/>
            <a:ext cx="8064896" cy="830997"/>
          </a:xfrm>
          <a:prstGeom prst="rect">
            <a:avLst/>
          </a:prstGeom>
        </p:spPr>
        <p:txBody>
          <a:bodyPr wrap="square">
            <a:spAutoFit/>
          </a:bodyPr>
          <a:lstStyle/>
          <a:p>
            <a:r>
              <a:rPr kumimoji="1" lang="zh-CN" altLang="en-US" sz="2400" dirty="0">
                <a:solidFill>
                  <a:srgbClr val="FF0000"/>
                </a:solidFill>
                <a:latin typeface="微软雅黑" pitchFamily="34" charset="-122"/>
                <a:ea typeface="微软雅黑" pitchFamily="34" charset="-122"/>
                <a:cs typeface="经典粗黑简" pitchFamily="49" charset="-122"/>
              </a:rPr>
              <a:t>静态查找表</a:t>
            </a:r>
            <a:r>
              <a:rPr kumimoji="1" lang="zh-CN" altLang="en-US" sz="2400" dirty="0">
                <a:latin typeface="微软雅黑" pitchFamily="34" charset="-122"/>
                <a:ea typeface="微软雅黑" pitchFamily="34" charset="-122"/>
                <a:cs typeface="经典粗黑简" pitchFamily="49" charset="-122"/>
              </a:rPr>
              <a:t>：若对查找表只作查找操作，则称此类查找表为静态查找表</a:t>
            </a:r>
          </a:p>
        </p:txBody>
      </p:sp>
      <p:sp>
        <p:nvSpPr>
          <p:cNvPr id="8" name="矩形 7">
            <a:extLst>
              <a:ext uri="{FF2B5EF4-FFF2-40B4-BE49-F238E27FC236}">
                <a16:creationId xmlns:a16="http://schemas.microsoft.com/office/drawing/2014/main" id="{1EF52A22-CC2B-303A-A3D6-69721CAB0B5E}"/>
              </a:ext>
            </a:extLst>
          </p:cNvPr>
          <p:cNvSpPr/>
          <p:nvPr/>
        </p:nvSpPr>
        <p:spPr>
          <a:xfrm>
            <a:off x="2063552" y="5150130"/>
            <a:ext cx="7992888" cy="1200329"/>
          </a:xfrm>
          <a:prstGeom prst="rect">
            <a:avLst/>
          </a:prstGeom>
        </p:spPr>
        <p:txBody>
          <a:bodyPr wrap="square">
            <a:spAutoFit/>
          </a:bodyPr>
          <a:lstStyle/>
          <a:p>
            <a:r>
              <a:rPr kumimoji="1" lang="zh-CN" altLang="en-US" sz="2400" dirty="0">
                <a:solidFill>
                  <a:srgbClr val="FF0000"/>
                </a:solidFill>
                <a:latin typeface="微软雅黑" pitchFamily="34" charset="-122"/>
                <a:ea typeface="微软雅黑" pitchFamily="34" charset="-122"/>
                <a:cs typeface="经典粗黑简" pitchFamily="49" charset="-122"/>
              </a:rPr>
              <a:t>动态查找表</a:t>
            </a:r>
            <a:r>
              <a:rPr kumimoji="1" lang="zh-CN" altLang="en-US" sz="2400" dirty="0">
                <a:latin typeface="微软雅黑" pitchFamily="34" charset="-122"/>
                <a:ea typeface="微软雅黑" pitchFamily="34" charset="-122"/>
                <a:cs typeface="经典粗黑简" pitchFamily="49" charset="-122"/>
              </a:rPr>
              <a:t>：若在查找过程中同时插入表中不存在的数据元素，或者从查找表中删除已经存在的某个数据元素，则称此类查找表为动态查找表。</a:t>
            </a:r>
          </a:p>
        </p:txBody>
      </p:sp>
      <p:sp>
        <p:nvSpPr>
          <p:cNvPr id="10" name="矩形 9">
            <a:extLst>
              <a:ext uri="{FF2B5EF4-FFF2-40B4-BE49-F238E27FC236}">
                <a16:creationId xmlns:a16="http://schemas.microsoft.com/office/drawing/2014/main" id="{F8FB9175-F86E-2536-3F09-B82B03CD6A8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Tree>
    <p:extLst>
      <p:ext uri="{BB962C8B-B14F-4D97-AF65-F5344CB8AC3E}">
        <p14:creationId xmlns:p14="http://schemas.microsoft.com/office/powerpoint/2010/main" val="26824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D43B3-735A-111A-3FA9-AF1EA19DD1CD}"/>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01C9B688-0851-8DCF-1FB9-ACA1ECD1A3B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
        <p:nvSpPr>
          <p:cNvPr id="12" name="矩形 11">
            <a:extLst>
              <a:ext uri="{FF2B5EF4-FFF2-40B4-BE49-F238E27FC236}">
                <a16:creationId xmlns:a16="http://schemas.microsoft.com/office/drawing/2014/main" id="{80BB6656-7C6C-54B3-E4E6-1184F9CB151C}"/>
              </a:ext>
            </a:extLst>
          </p:cNvPr>
          <p:cNvSpPr/>
          <p:nvPr/>
        </p:nvSpPr>
        <p:spPr>
          <a:xfrm>
            <a:off x="255372" y="1152249"/>
            <a:ext cx="45444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9.1.3 </a:t>
            </a:r>
            <a:r>
              <a:rPr lang="zh-CN" altLang="en-US" sz="2800" b="1" dirty="0">
                <a:solidFill>
                  <a:schemeClr val="bg1"/>
                </a:solidFill>
                <a:latin typeface="经典粗黑简" pitchFamily="49" charset="-122"/>
                <a:ea typeface="经典粗黑简" pitchFamily="49" charset="-122"/>
                <a:cs typeface="经典粗黑简" pitchFamily="49" charset="-122"/>
              </a:rPr>
              <a:t>查找方法的性能指标</a:t>
            </a:r>
          </a:p>
        </p:txBody>
      </p:sp>
      <p:cxnSp>
        <p:nvCxnSpPr>
          <p:cNvPr id="11" name="直接连接符 10">
            <a:extLst>
              <a:ext uri="{FF2B5EF4-FFF2-40B4-BE49-F238E27FC236}">
                <a16:creationId xmlns:a16="http://schemas.microsoft.com/office/drawing/2014/main" id="{793B4551-599A-D20E-5DC1-3D82B5EB72E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Text Box 6">
            <a:extLst>
              <a:ext uri="{FF2B5EF4-FFF2-40B4-BE49-F238E27FC236}">
                <a16:creationId xmlns:a16="http://schemas.microsoft.com/office/drawing/2014/main" id="{0EF9FCC4-A001-25EF-C10B-8F3EFA00F01B}"/>
              </a:ext>
            </a:extLst>
          </p:cNvPr>
          <p:cNvSpPr txBox="1">
            <a:spLocks noChangeArrowheads="1"/>
          </p:cNvSpPr>
          <p:nvPr/>
        </p:nvSpPr>
        <p:spPr bwMode="auto">
          <a:xfrm>
            <a:off x="1199456" y="1755593"/>
            <a:ext cx="9505056" cy="1288686"/>
          </a:xfrm>
          <a:prstGeom prst="rect">
            <a:avLst/>
          </a:prstGeom>
          <a:noFill/>
          <a:ln w="9525">
            <a:noFill/>
            <a:miter lim="800000"/>
            <a:headEnd/>
            <a:tailEnd/>
          </a:ln>
          <a:effectLst/>
        </p:spPr>
        <p:txBody>
          <a:bodyPr wrap="square">
            <a:spAutoFit/>
          </a:bodyPr>
          <a:lstStyle/>
          <a:p>
            <a:pPr algn="just">
              <a:lnSpc>
                <a:spcPts val="3000"/>
              </a:lnSpc>
              <a:spcBef>
                <a:spcPts val="600"/>
              </a:spcBef>
            </a:pPr>
            <a:r>
              <a:rPr kumimoji="1" lang="zh-CN" altLang="en-US" sz="2000" dirty="0">
                <a:latin typeface="Consolas" pitchFamily="49" charset="0"/>
                <a:ea typeface="楷体" pitchFamily="49" charset="-122"/>
                <a:cs typeface="Consolas" pitchFamily="49" charset="0"/>
              </a:rPr>
              <a:t>    查找运算时间主要花费在</a:t>
            </a:r>
            <a:r>
              <a:rPr kumimoji="1" lang="zh-CN" altLang="en-US" sz="2000" dirty="0">
                <a:solidFill>
                  <a:srgbClr val="FF0000"/>
                </a:solidFill>
                <a:latin typeface="黑体" panose="02010609060101010101" pitchFamily="49" charset="-122"/>
                <a:ea typeface="黑体" panose="02010609060101010101" pitchFamily="49" charset="-122"/>
                <a:cs typeface="Consolas" pitchFamily="49" charset="0"/>
              </a:rPr>
              <a:t>关键字比较</a:t>
            </a:r>
            <a:r>
              <a:rPr kumimoji="1" lang="zh-CN" altLang="en-US" sz="2000" dirty="0">
                <a:latin typeface="Consolas" pitchFamily="49" charset="0"/>
                <a:ea typeface="楷体" pitchFamily="49" charset="-122"/>
                <a:cs typeface="Consolas" pitchFamily="49" charset="0"/>
              </a:rPr>
              <a:t>上，通常把查找过程中执行的关键字平均比较个数（称为</a:t>
            </a:r>
            <a:r>
              <a:rPr kumimoji="1" lang="zh-CN" altLang="en-US" sz="2000" dirty="0">
                <a:solidFill>
                  <a:srgbClr val="FF0000"/>
                </a:solidFill>
                <a:latin typeface="方正启体简体" pitchFamily="65" charset="-122"/>
                <a:ea typeface="方正启体简体" pitchFamily="65" charset="-122"/>
                <a:cs typeface="Consolas" pitchFamily="49" charset="0"/>
              </a:rPr>
              <a:t>平均查找长度</a:t>
            </a:r>
            <a:r>
              <a:rPr kumimoji="1" lang="zh-CN" altLang="en-US" sz="2000" dirty="0">
                <a:latin typeface="Consolas" pitchFamily="49" charset="0"/>
                <a:ea typeface="楷体" pitchFamily="49" charset="-122"/>
                <a:cs typeface="Consolas" pitchFamily="49" charset="0"/>
              </a:rPr>
              <a:t>）作为衡量一个查找算法效率优劣的标准。</a:t>
            </a:r>
            <a:endParaRPr kumimoji="1" lang="en-US" altLang="zh-CN" sz="2000" dirty="0">
              <a:latin typeface="Consolas" pitchFamily="49" charset="0"/>
              <a:ea typeface="楷体" pitchFamily="49" charset="-122"/>
              <a:cs typeface="Consolas" pitchFamily="49" charset="0"/>
            </a:endParaRPr>
          </a:p>
          <a:p>
            <a:pPr algn="just">
              <a:lnSpc>
                <a:spcPts val="3000"/>
              </a:lnSpc>
              <a:spcBef>
                <a:spcPts val="600"/>
              </a:spcBef>
            </a:pPr>
            <a:r>
              <a:rPr kumimoji="1" lang="en-US" altLang="zh-CN" sz="2000" dirty="0">
                <a:solidFill>
                  <a:srgbClr val="FF0000"/>
                </a:solidFill>
                <a:latin typeface="Consolas" pitchFamily="49" charset="0"/>
                <a:ea typeface="楷体" pitchFamily="49" charset="-122"/>
                <a:cs typeface="Consolas" pitchFamily="49" charset="0"/>
              </a:rPr>
              <a:t>    </a:t>
            </a:r>
            <a:r>
              <a:rPr kumimoji="1" lang="zh-CN" altLang="en-US" sz="2000" dirty="0">
                <a:solidFill>
                  <a:srgbClr val="FF0000"/>
                </a:solidFill>
                <a:latin typeface="Consolas" pitchFamily="49" charset="0"/>
                <a:ea typeface="楷体" pitchFamily="49" charset="-122"/>
                <a:cs typeface="Consolas" pitchFamily="49" charset="0"/>
              </a:rPr>
              <a:t>平均查找长度</a:t>
            </a:r>
            <a:r>
              <a:rPr kumimoji="1" lang="en-US" altLang="zh-CN" sz="2000" dirty="0" err="1">
                <a:latin typeface="Consolas" pitchFamily="49" charset="0"/>
                <a:ea typeface="楷体" pitchFamily="49" charset="-122"/>
                <a:cs typeface="Consolas" pitchFamily="49" charset="0"/>
              </a:rPr>
              <a:t>ASL</a:t>
            </a:r>
            <a:r>
              <a:rPr kumimoji="1" lang="zh-CN" altLang="en-US" sz="2000" dirty="0">
                <a:latin typeface="Consolas" pitchFamily="49" charset="0"/>
                <a:ea typeface="楷体" pitchFamily="49" charset="-122"/>
                <a:cs typeface="Consolas" pitchFamily="49" charset="0"/>
              </a:rPr>
              <a:t>（</a:t>
            </a:r>
            <a:r>
              <a:rPr kumimoji="1" lang="en-US" altLang="zh-CN" sz="2000" dirty="0">
                <a:latin typeface="Consolas" pitchFamily="49" charset="0"/>
                <a:ea typeface="楷体" pitchFamily="49" charset="-122"/>
                <a:cs typeface="Consolas" pitchFamily="49" charset="0"/>
              </a:rPr>
              <a:t>Average Search Length</a:t>
            </a:r>
            <a:r>
              <a:rPr kumimoji="1" lang="zh-CN" altLang="en-US" sz="2000" dirty="0">
                <a:latin typeface="Consolas" pitchFamily="49" charset="0"/>
                <a:ea typeface="楷体" pitchFamily="49" charset="-122"/>
                <a:cs typeface="Consolas" pitchFamily="49" charset="0"/>
              </a:rPr>
              <a:t>）定义为：</a:t>
            </a:r>
          </a:p>
        </p:txBody>
      </p:sp>
      <p:sp>
        <p:nvSpPr>
          <p:cNvPr id="7" name="Text Box 8">
            <a:extLst>
              <a:ext uri="{FF2B5EF4-FFF2-40B4-BE49-F238E27FC236}">
                <a16:creationId xmlns:a16="http://schemas.microsoft.com/office/drawing/2014/main" id="{8CD8CC4F-E642-9A98-3406-442CE3B3687A}"/>
              </a:ext>
            </a:extLst>
          </p:cNvPr>
          <p:cNvSpPr txBox="1">
            <a:spLocks noChangeArrowheads="1"/>
          </p:cNvSpPr>
          <p:nvPr/>
        </p:nvSpPr>
        <p:spPr bwMode="auto">
          <a:xfrm>
            <a:off x="1919536" y="4581128"/>
            <a:ext cx="7177108" cy="177994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nSpc>
                <a:spcPts val="2800"/>
              </a:lnSpc>
              <a:spcBef>
                <a:spcPts val="600"/>
              </a:spcBef>
              <a:buBlip>
                <a:blip r:embed="rId2"/>
              </a:buBlip>
            </a:pPr>
            <a:r>
              <a:rPr kumimoji="1" lang="en-US" altLang="zh-CN" sz="2000" i="1">
                <a:solidFill>
                  <a:srgbClr val="3333FF"/>
                </a:solidFill>
                <a:latin typeface="Consolas" pitchFamily="49" charset="0"/>
                <a:ea typeface="仿宋" pitchFamily="49" charset="-122"/>
                <a:cs typeface="Consolas" pitchFamily="49" charset="0"/>
              </a:rPr>
              <a:t>n</a:t>
            </a:r>
            <a:r>
              <a:rPr kumimoji="1" lang="zh-CN" altLang="en-US" sz="2000" dirty="0">
                <a:solidFill>
                  <a:srgbClr val="3333FF"/>
                </a:solidFill>
                <a:latin typeface="Consolas" pitchFamily="49" charset="0"/>
                <a:ea typeface="仿宋" pitchFamily="49" charset="-122"/>
                <a:cs typeface="Consolas" pitchFamily="49" charset="0"/>
              </a:rPr>
              <a:t>是查找</a:t>
            </a:r>
            <a:r>
              <a:rPr kumimoji="1" lang="zh-CN" altLang="en-US" sz="2000">
                <a:solidFill>
                  <a:srgbClr val="3333FF"/>
                </a:solidFill>
                <a:latin typeface="Consolas" pitchFamily="49" charset="0"/>
                <a:ea typeface="仿宋" pitchFamily="49" charset="-122"/>
                <a:cs typeface="Consolas" pitchFamily="49" charset="0"/>
              </a:rPr>
              <a:t>表中元素的</a:t>
            </a:r>
            <a:r>
              <a:rPr kumimoji="1" lang="zh-CN" altLang="en-US" sz="2000" dirty="0">
                <a:solidFill>
                  <a:srgbClr val="3333FF"/>
                </a:solidFill>
                <a:latin typeface="Consolas" pitchFamily="49" charset="0"/>
                <a:ea typeface="仿宋" pitchFamily="49" charset="-122"/>
                <a:cs typeface="Consolas" pitchFamily="49" charset="0"/>
              </a:rPr>
              <a:t>个</a:t>
            </a:r>
            <a:r>
              <a:rPr kumimoji="1" lang="zh-CN" altLang="en-US" sz="2000">
                <a:solidFill>
                  <a:srgbClr val="3333FF"/>
                </a:solidFill>
                <a:latin typeface="Consolas" pitchFamily="49" charset="0"/>
                <a:ea typeface="仿宋" pitchFamily="49" charset="-122"/>
                <a:cs typeface="Consolas" pitchFamily="49" charset="0"/>
              </a:rPr>
              <a:t>数。</a:t>
            </a:r>
            <a:endParaRPr kumimoji="1" lang="en-US" altLang="zh-CN" sz="2000">
              <a:solidFill>
                <a:srgbClr val="3333FF"/>
              </a:solidFill>
              <a:latin typeface="Consolas" pitchFamily="49" charset="0"/>
              <a:ea typeface="仿宋" pitchFamily="49" charset="-122"/>
              <a:cs typeface="Consolas" pitchFamily="49" charset="0"/>
            </a:endParaRPr>
          </a:p>
          <a:p>
            <a:pPr marL="342900" indent="-342900">
              <a:lnSpc>
                <a:spcPts val="2800"/>
              </a:lnSpc>
              <a:spcBef>
                <a:spcPts val="600"/>
              </a:spcBef>
              <a:buBlip>
                <a:blip r:embed="rId2"/>
              </a:buBlip>
            </a:pPr>
            <a:r>
              <a:rPr kumimoji="1" lang="en-US" altLang="zh-CN" sz="2000" i="1">
                <a:solidFill>
                  <a:srgbClr val="3333FF"/>
                </a:solidFill>
                <a:latin typeface="Consolas" pitchFamily="49" charset="0"/>
                <a:ea typeface="仿宋" pitchFamily="49" charset="-122"/>
                <a:cs typeface="Consolas" pitchFamily="49" charset="0"/>
              </a:rPr>
              <a:t>p</a:t>
            </a:r>
            <a:r>
              <a:rPr kumimoji="1" lang="en-US" altLang="zh-CN" sz="2000" i="1" baseline="-30000">
                <a:solidFill>
                  <a:srgbClr val="3333FF"/>
                </a:solidFill>
                <a:latin typeface="Consolas" pitchFamily="49" charset="0"/>
                <a:ea typeface="仿宋" pitchFamily="49" charset="-122"/>
                <a:cs typeface="Consolas" pitchFamily="49" charset="0"/>
              </a:rPr>
              <a:t>i</a:t>
            </a:r>
            <a:r>
              <a:rPr kumimoji="1" lang="zh-CN" altLang="en-US" sz="2000" dirty="0">
                <a:solidFill>
                  <a:srgbClr val="3333FF"/>
                </a:solidFill>
                <a:latin typeface="Consolas" pitchFamily="49" charset="0"/>
                <a:ea typeface="仿宋" pitchFamily="49" charset="-122"/>
                <a:cs typeface="Consolas" pitchFamily="49" charset="0"/>
              </a:rPr>
              <a:t>是查找第</a:t>
            </a:r>
            <a:r>
              <a:rPr kumimoji="1" lang="en-US" altLang="zh-CN" sz="2000" i="1" err="1">
                <a:solidFill>
                  <a:srgbClr val="3333FF"/>
                </a:solidFill>
                <a:latin typeface="Consolas" pitchFamily="49" charset="0"/>
                <a:ea typeface="仿宋" pitchFamily="49" charset="-122"/>
                <a:cs typeface="Consolas" pitchFamily="49" charset="0"/>
              </a:rPr>
              <a:t>i</a:t>
            </a:r>
            <a:r>
              <a:rPr kumimoji="1" lang="zh-CN" altLang="en-US" sz="2000">
                <a:solidFill>
                  <a:srgbClr val="3333FF"/>
                </a:solidFill>
                <a:latin typeface="Consolas" pitchFamily="49" charset="0"/>
                <a:ea typeface="仿宋" pitchFamily="49" charset="-122"/>
                <a:cs typeface="Consolas" pitchFamily="49" charset="0"/>
              </a:rPr>
              <a:t>个元素的</a:t>
            </a:r>
            <a:r>
              <a:rPr kumimoji="1" lang="zh-CN" altLang="en-US" sz="2000" dirty="0">
                <a:solidFill>
                  <a:srgbClr val="3333FF"/>
                </a:solidFill>
                <a:latin typeface="Consolas" pitchFamily="49" charset="0"/>
                <a:ea typeface="仿宋" pitchFamily="49" charset="-122"/>
                <a:cs typeface="Consolas" pitchFamily="49" charset="0"/>
              </a:rPr>
              <a:t>概率，一般地，认为</a:t>
            </a:r>
            <a:r>
              <a:rPr kumimoji="1" lang="zh-CN" altLang="en-US" sz="2000">
                <a:solidFill>
                  <a:srgbClr val="3333FF"/>
                </a:solidFill>
                <a:latin typeface="Consolas" pitchFamily="49" charset="0"/>
                <a:ea typeface="仿宋" pitchFamily="49" charset="-122"/>
                <a:cs typeface="Consolas" pitchFamily="49" charset="0"/>
              </a:rPr>
              <a:t>每个元素的</a:t>
            </a:r>
            <a:r>
              <a:rPr kumimoji="1" lang="zh-CN" altLang="en-US" sz="2000" dirty="0">
                <a:solidFill>
                  <a:srgbClr val="3333FF"/>
                </a:solidFill>
                <a:latin typeface="Consolas" pitchFamily="49" charset="0"/>
                <a:ea typeface="仿宋" pitchFamily="49" charset="-122"/>
                <a:cs typeface="Consolas" pitchFamily="49" charset="0"/>
              </a:rPr>
              <a:t>查找概率相等，即</a:t>
            </a:r>
            <a:r>
              <a:rPr kumimoji="1" lang="en-US" altLang="zh-CN" sz="2000" i="1" dirty="0">
                <a:solidFill>
                  <a:srgbClr val="3333FF"/>
                </a:solidFill>
                <a:latin typeface="Consolas" pitchFamily="49" charset="0"/>
                <a:ea typeface="仿宋" pitchFamily="49" charset="-122"/>
                <a:cs typeface="Consolas" pitchFamily="49" charset="0"/>
              </a:rPr>
              <a:t>p</a:t>
            </a:r>
            <a:r>
              <a:rPr kumimoji="1" lang="en-US" altLang="zh-CN" sz="2000" i="1" baseline="-30000" dirty="0">
                <a:solidFill>
                  <a:srgbClr val="3333FF"/>
                </a:solidFill>
                <a:latin typeface="Consolas" pitchFamily="49" charset="0"/>
                <a:ea typeface="仿宋" pitchFamily="49" charset="-122"/>
                <a:cs typeface="Consolas" pitchFamily="49" charset="0"/>
              </a:rPr>
              <a:t>i</a:t>
            </a:r>
            <a:r>
              <a:rPr kumimoji="1" lang="en-US" altLang="zh-CN" sz="2000" dirty="0">
                <a:solidFill>
                  <a:srgbClr val="3333FF"/>
                </a:solidFill>
                <a:latin typeface="Consolas" pitchFamily="49" charset="0"/>
                <a:ea typeface="仿宋" pitchFamily="49" charset="-122"/>
                <a:cs typeface="Consolas" pitchFamily="49" charset="0"/>
              </a:rPr>
              <a:t>=1/</a:t>
            </a:r>
            <a:r>
              <a:rPr kumimoji="1" lang="en-US" altLang="zh-CN" sz="2000" i="1" dirty="0">
                <a:solidFill>
                  <a:srgbClr val="3333FF"/>
                </a:solidFill>
                <a:latin typeface="Consolas" pitchFamily="49" charset="0"/>
                <a:ea typeface="仿宋" pitchFamily="49" charset="-122"/>
                <a:cs typeface="Consolas" pitchFamily="49" charset="0"/>
              </a:rPr>
              <a:t>n</a:t>
            </a:r>
            <a:r>
              <a:rPr kumimoji="1" lang="zh-CN" altLang="en-US" sz="2000" dirty="0">
                <a:solidFill>
                  <a:srgbClr val="3333FF"/>
                </a:solidFill>
                <a:latin typeface="Consolas" pitchFamily="49" charset="0"/>
                <a:ea typeface="仿宋" pitchFamily="49" charset="-122"/>
                <a:cs typeface="Consolas" pitchFamily="49" charset="0"/>
              </a:rPr>
              <a:t>（</a:t>
            </a:r>
            <a:r>
              <a:rPr kumimoji="1" lang="en-US" altLang="zh-CN" sz="2000" dirty="0" err="1">
                <a:solidFill>
                  <a:srgbClr val="3333FF"/>
                </a:solidFill>
                <a:latin typeface="Consolas" pitchFamily="49" charset="0"/>
                <a:ea typeface="仿宋" pitchFamily="49" charset="-122"/>
                <a:cs typeface="Consolas" pitchFamily="49" charset="0"/>
              </a:rPr>
              <a:t>1</a:t>
            </a:r>
            <a:r>
              <a:rPr kumimoji="1" lang="en-US" altLang="zh-CN" sz="2000" dirty="0" err="1">
                <a:solidFill>
                  <a:srgbClr val="3333FF"/>
                </a:solidFill>
                <a:latin typeface="宋体" pitchFamily="2" charset="-122"/>
                <a:ea typeface="宋体" pitchFamily="2" charset="-122"/>
                <a:cs typeface="Consolas" pitchFamily="49" charset="0"/>
              </a:rPr>
              <a:t>≤</a:t>
            </a:r>
            <a:r>
              <a:rPr kumimoji="1" lang="en-US" altLang="zh-CN" sz="2000" i="1" dirty="0" err="1">
                <a:solidFill>
                  <a:srgbClr val="3333FF"/>
                </a:solidFill>
                <a:latin typeface="Consolas" pitchFamily="49" charset="0"/>
                <a:ea typeface="仿宋" pitchFamily="49" charset="-122"/>
                <a:cs typeface="Consolas" pitchFamily="49" charset="0"/>
              </a:rPr>
              <a:t>i</a:t>
            </a:r>
            <a:r>
              <a:rPr kumimoji="1" lang="en-US" altLang="zh-CN" sz="2000" dirty="0" err="1">
                <a:solidFill>
                  <a:srgbClr val="3333FF"/>
                </a:solidFill>
                <a:latin typeface="宋体" pitchFamily="2" charset="-122"/>
                <a:ea typeface="宋体" pitchFamily="2" charset="-122"/>
                <a:cs typeface="Consolas" pitchFamily="49" charset="0"/>
              </a:rPr>
              <a:t>≤</a:t>
            </a:r>
            <a:r>
              <a:rPr kumimoji="1" lang="en-US" altLang="zh-CN" sz="2000" i="1" err="1">
                <a:solidFill>
                  <a:srgbClr val="3333FF"/>
                </a:solidFill>
                <a:latin typeface="Consolas" pitchFamily="49" charset="0"/>
                <a:ea typeface="仿宋" pitchFamily="49" charset="-122"/>
                <a:cs typeface="Consolas" pitchFamily="49" charset="0"/>
              </a:rPr>
              <a:t>n</a:t>
            </a:r>
            <a:r>
              <a:rPr kumimoji="1" lang="zh-CN" altLang="en-US" sz="2000">
                <a:solidFill>
                  <a:srgbClr val="3333FF"/>
                </a:solidFill>
                <a:latin typeface="Consolas" pitchFamily="49" charset="0"/>
                <a:ea typeface="仿宋" pitchFamily="49" charset="-122"/>
                <a:cs typeface="Consolas" pitchFamily="49" charset="0"/>
              </a:rPr>
              <a:t>）。</a:t>
            </a:r>
            <a:endParaRPr kumimoji="1" lang="en-US" altLang="zh-CN" sz="2000">
              <a:solidFill>
                <a:srgbClr val="3333FF"/>
              </a:solidFill>
              <a:latin typeface="Consolas" pitchFamily="49" charset="0"/>
              <a:ea typeface="仿宋" pitchFamily="49" charset="-122"/>
              <a:cs typeface="Consolas" pitchFamily="49" charset="0"/>
            </a:endParaRPr>
          </a:p>
          <a:p>
            <a:pPr marL="342900" indent="-342900">
              <a:lnSpc>
                <a:spcPts val="2800"/>
              </a:lnSpc>
              <a:spcBef>
                <a:spcPts val="600"/>
              </a:spcBef>
              <a:buBlip>
                <a:blip r:embed="rId2"/>
              </a:buBlip>
            </a:pPr>
            <a:r>
              <a:rPr kumimoji="1" lang="en-US" altLang="zh-CN" sz="2000" i="1">
                <a:solidFill>
                  <a:srgbClr val="3333FF"/>
                </a:solidFill>
                <a:latin typeface="Consolas" pitchFamily="49" charset="0"/>
                <a:ea typeface="仿宋" pitchFamily="49" charset="-122"/>
                <a:cs typeface="Consolas" pitchFamily="49" charset="0"/>
              </a:rPr>
              <a:t>c</a:t>
            </a:r>
            <a:r>
              <a:rPr kumimoji="1" lang="en-US" altLang="zh-CN" sz="2000" i="1" baseline="-30000">
                <a:solidFill>
                  <a:srgbClr val="3333FF"/>
                </a:solidFill>
                <a:latin typeface="Consolas" pitchFamily="49" charset="0"/>
                <a:ea typeface="仿宋" pitchFamily="49" charset="-122"/>
                <a:cs typeface="Consolas" pitchFamily="49" charset="0"/>
              </a:rPr>
              <a:t>i</a:t>
            </a:r>
            <a:r>
              <a:rPr kumimoji="1" lang="zh-CN" altLang="en-US" sz="2000" dirty="0">
                <a:solidFill>
                  <a:srgbClr val="3333FF"/>
                </a:solidFill>
                <a:latin typeface="Consolas" pitchFamily="49" charset="0"/>
                <a:ea typeface="仿宋" pitchFamily="49" charset="-122"/>
                <a:cs typeface="Consolas" pitchFamily="49" charset="0"/>
              </a:rPr>
              <a:t>是找到第</a:t>
            </a:r>
            <a:r>
              <a:rPr kumimoji="1" lang="en-US" altLang="zh-CN" sz="2000" i="1" err="1">
                <a:solidFill>
                  <a:srgbClr val="3333FF"/>
                </a:solidFill>
                <a:latin typeface="Consolas" pitchFamily="49" charset="0"/>
                <a:ea typeface="仿宋" pitchFamily="49" charset="-122"/>
                <a:cs typeface="Consolas" pitchFamily="49" charset="0"/>
              </a:rPr>
              <a:t>i</a:t>
            </a:r>
            <a:r>
              <a:rPr kumimoji="1" lang="zh-CN" altLang="en-US" sz="2000">
                <a:solidFill>
                  <a:srgbClr val="3333FF"/>
                </a:solidFill>
                <a:latin typeface="Consolas" pitchFamily="49" charset="0"/>
                <a:ea typeface="仿宋" pitchFamily="49" charset="-122"/>
                <a:cs typeface="Consolas" pitchFamily="49" charset="0"/>
              </a:rPr>
              <a:t>个元素所</a:t>
            </a:r>
            <a:r>
              <a:rPr kumimoji="1" lang="zh-CN" altLang="en-US" sz="2000" dirty="0">
                <a:solidFill>
                  <a:srgbClr val="3333FF"/>
                </a:solidFill>
                <a:latin typeface="Consolas" pitchFamily="49" charset="0"/>
                <a:ea typeface="仿宋" pitchFamily="49" charset="-122"/>
                <a:cs typeface="Consolas" pitchFamily="49" charset="0"/>
              </a:rPr>
              <a:t>需进行的比较次数</a:t>
            </a:r>
            <a:r>
              <a:rPr kumimoji="1" lang="zh-CN" altLang="en-US" sz="2000" b="0" dirty="0">
                <a:solidFill>
                  <a:srgbClr val="3333FF"/>
                </a:solidFill>
                <a:latin typeface="Consolas" pitchFamily="49" charset="0"/>
                <a:ea typeface="仿宋" pitchFamily="49" charset="-122"/>
                <a:cs typeface="Consolas" pitchFamily="49" charset="0"/>
              </a:rPr>
              <a:t>。 </a:t>
            </a:r>
          </a:p>
        </p:txBody>
      </p:sp>
      <p:pic>
        <p:nvPicPr>
          <p:cNvPr id="10" name="Picture 9">
            <a:extLst>
              <a:ext uri="{FF2B5EF4-FFF2-40B4-BE49-F238E27FC236}">
                <a16:creationId xmlns:a16="http://schemas.microsoft.com/office/drawing/2014/main" id="{FCD5D22E-FA3D-8152-5A7B-214240B90BAF}"/>
              </a:ext>
            </a:extLst>
          </p:cNvPr>
          <p:cNvPicPr>
            <a:picLocks noChangeAspect="1" noChangeArrowheads="1"/>
          </p:cNvPicPr>
          <p:nvPr/>
        </p:nvPicPr>
        <p:blipFill>
          <a:blip r:embed="rId3" cstate="print"/>
          <a:srcRect/>
          <a:stretch>
            <a:fillRect/>
          </a:stretch>
        </p:blipFill>
        <p:spPr bwMode="auto">
          <a:xfrm>
            <a:off x="3684230" y="3284066"/>
            <a:ext cx="1828800" cy="1057275"/>
          </a:xfrm>
          <a:prstGeom prst="rect">
            <a:avLst/>
          </a:prstGeom>
          <a:noFill/>
          <a:ln w="9525">
            <a:noFill/>
            <a:miter lim="800000"/>
            <a:headEnd/>
            <a:tailEnd/>
          </a:ln>
        </p:spPr>
      </p:pic>
    </p:spTree>
    <p:extLst>
      <p:ext uri="{BB962C8B-B14F-4D97-AF65-F5344CB8AC3E}">
        <p14:creationId xmlns:p14="http://schemas.microsoft.com/office/powerpoint/2010/main" val="247774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DB2FC-9E5F-6025-E83E-98EE53641AC8}"/>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6C8D911C-0187-649F-8795-B4D9843AE2E5}"/>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
        <p:nvSpPr>
          <p:cNvPr id="12" name="矩形 11">
            <a:extLst>
              <a:ext uri="{FF2B5EF4-FFF2-40B4-BE49-F238E27FC236}">
                <a16:creationId xmlns:a16="http://schemas.microsoft.com/office/drawing/2014/main" id="{3126564B-3479-8EF3-5F41-BBC25AF33611}"/>
              </a:ext>
            </a:extLst>
          </p:cNvPr>
          <p:cNvSpPr/>
          <p:nvPr/>
        </p:nvSpPr>
        <p:spPr>
          <a:xfrm>
            <a:off x="255372" y="1152249"/>
            <a:ext cx="45444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9.1.3 </a:t>
            </a:r>
            <a:r>
              <a:rPr lang="zh-CN" altLang="en-US" sz="2800" b="1" dirty="0">
                <a:solidFill>
                  <a:schemeClr val="bg1"/>
                </a:solidFill>
                <a:latin typeface="经典粗黑简" pitchFamily="49" charset="-122"/>
                <a:ea typeface="经典粗黑简" pitchFamily="49" charset="-122"/>
                <a:cs typeface="经典粗黑简" pitchFamily="49" charset="-122"/>
              </a:rPr>
              <a:t>查找方法的性能指标</a:t>
            </a:r>
          </a:p>
        </p:txBody>
      </p:sp>
      <p:cxnSp>
        <p:nvCxnSpPr>
          <p:cNvPr id="11" name="直接连接符 10">
            <a:extLst>
              <a:ext uri="{FF2B5EF4-FFF2-40B4-BE49-F238E27FC236}">
                <a16:creationId xmlns:a16="http://schemas.microsoft.com/office/drawing/2014/main" id="{0302BB82-AD58-3193-B0C2-0E4B39F4323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Text Box 4">
            <a:extLst>
              <a:ext uri="{FF2B5EF4-FFF2-40B4-BE49-F238E27FC236}">
                <a16:creationId xmlns:a16="http://schemas.microsoft.com/office/drawing/2014/main" id="{4DF4E1E4-B393-458F-A004-F13EE419ECB9}"/>
              </a:ext>
            </a:extLst>
          </p:cNvPr>
          <p:cNvSpPr txBox="1">
            <a:spLocks noChangeArrowheads="1"/>
          </p:cNvSpPr>
          <p:nvPr/>
        </p:nvSpPr>
        <p:spPr bwMode="auto">
          <a:xfrm>
            <a:off x="1127448" y="1916832"/>
            <a:ext cx="3071834" cy="400110"/>
          </a:xfrm>
          <a:prstGeom prst="rect">
            <a:avLst/>
          </a:prstGeom>
          <a:noFill/>
          <a:ln w="9525">
            <a:noFill/>
            <a:miter lim="800000"/>
            <a:headEnd/>
            <a:tailEnd/>
          </a:ln>
          <a:effectLst/>
        </p:spPr>
        <p:txBody>
          <a:bodyPr wrap="square">
            <a:spAutoFit/>
          </a:bodyPr>
          <a:lstStyle/>
          <a:p>
            <a:pPr>
              <a:spcBef>
                <a:spcPct val="50000"/>
              </a:spcBef>
            </a:pPr>
            <a:r>
              <a:rPr kumimoji="1" lang="zh-CN" altLang="en-US" sz="2000" dirty="0">
                <a:latin typeface="Consolas" pitchFamily="49" charset="0"/>
                <a:ea typeface="楷体" pitchFamily="49" charset="-122"/>
                <a:cs typeface="Consolas" pitchFamily="49" charset="0"/>
              </a:rPr>
              <a:t>平均查找长度</a:t>
            </a:r>
            <a:r>
              <a:rPr kumimoji="1" lang="en-US" altLang="zh-CN" sz="2000" dirty="0">
                <a:latin typeface="Consolas" pitchFamily="49" charset="0"/>
                <a:ea typeface="楷体" pitchFamily="49" charset="-122"/>
                <a:cs typeface="Consolas" pitchFamily="49" charset="0"/>
              </a:rPr>
              <a:t>ASL</a:t>
            </a:r>
            <a:r>
              <a:rPr kumimoji="1" lang="zh-CN" altLang="en-US" sz="2000" dirty="0">
                <a:latin typeface="Consolas" pitchFamily="49" charset="0"/>
                <a:ea typeface="楷体" pitchFamily="49" charset="-122"/>
                <a:cs typeface="Consolas" pitchFamily="49" charset="0"/>
              </a:rPr>
              <a:t>分为</a:t>
            </a:r>
          </a:p>
        </p:txBody>
      </p:sp>
      <p:sp>
        <p:nvSpPr>
          <p:cNvPr id="14" name="TextBox 13">
            <a:extLst>
              <a:ext uri="{FF2B5EF4-FFF2-40B4-BE49-F238E27FC236}">
                <a16:creationId xmlns:a16="http://schemas.microsoft.com/office/drawing/2014/main" id="{29ACA5B7-6339-17FA-C990-B5A85546F2BE}"/>
              </a:ext>
            </a:extLst>
          </p:cNvPr>
          <p:cNvSpPr txBox="1"/>
          <p:nvPr/>
        </p:nvSpPr>
        <p:spPr>
          <a:xfrm>
            <a:off x="1271464" y="2326066"/>
            <a:ext cx="6572296" cy="9079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nSpc>
                <a:spcPts val="2800"/>
              </a:lnSpc>
              <a:buBlip>
                <a:blip r:embed="rId2"/>
              </a:buBlip>
            </a:pPr>
            <a:r>
              <a:rPr kumimoji="1" lang="zh-CN" altLang="en-US" sz="2000" dirty="0">
                <a:latin typeface="Consolas" pitchFamily="49" charset="0"/>
                <a:ea typeface="仿宋" pitchFamily="49" charset="-122"/>
                <a:cs typeface="Consolas" pitchFamily="49" charset="0"/>
              </a:rPr>
              <a:t>成功情况下的平均查找长度</a:t>
            </a:r>
            <a:r>
              <a:rPr kumimoji="1" lang="en-US" altLang="zh-CN" sz="2000" dirty="0">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ASL</a:t>
            </a:r>
            <a:r>
              <a:rPr kumimoji="1" lang="zh-CN" altLang="en-US" sz="2000" baseline="-25000" dirty="0">
                <a:solidFill>
                  <a:srgbClr val="FF0000"/>
                </a:solidFill>
                <a:latin typeface="Consolas" pitchFamily="49" charset="0"/>
                <a:ea typeface="仿宋" pitchFamily="49" charset="-122"/>
                <a:cs typeface="Consolas" pitchFamily="49" charset="0"/>
              </a:rPr>
              <a:t>成功</a:t>
            </a:r>
            <a:endParaRPr kumimoji="1" lang="en-US" altLang="zh-CN" sz="2000" baseline="-25000" dirty="0">
              <a:solidFill>
                <a:srgbClr val="FF0000"/>
              </a:solidFill>
              <a:latin typeface="Consolas" pitchFamily="49" charset="0"/>
              <a:ea typeface="仿宋" pitchFamily="49" charset="-122"/>
              <a:cs typeface="Consolas" pitchFamily="49" charset="0"/>
            </a:endParaRPr>
          </a:p>
          <a:p>
            <a:pPr marL="457200" indent="-457200">
              <a:lnSpc>
                <a:spcPts val="2800"/>
              </a:lnSpc>
              <a:buBlip>
                <a:blip r:embed="rId2"/>
              </a:buBlip>
            </a:pPr>
            <a:r>
              <a:rPr kumimoji="1" lang="zh-CN" altLang="en-US" sz="2000" dirty="0">
                <a:latin typeface="Consolas" pitchFamily="49" charset="0"/>
                <a:ea typeface="仿宋" pitchFamily="49" charset="-122"/>
                <a:cs typeface="Consolas" pitchFamily="49" charset="0"/>
              </a:rPr>
              <a:t>不成功情况（失败）下的平均查找长度</a:t>
            </a:r>
            <a:r>
              <a:rPr kumimoji="1" lang="en-US" altLang="zh-CN" sz="2000" dirty="0">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ASL</a:t>
            </a:r>
            <a:r>
              <a:rPr kumimoji="1" lang="zh-CN" altLang="en-US" sz="2000" baseline="-25000" dirty="0">
                <a:solidFill>
                  <a:srgbClr val="FF0000"/>
                </a:solidFill>
                <a:latin typeface="Consolas" pitchFamily="49" charset="0"/>
                <a:ea typeface="仿宋" pitchFamily="49" charset="-122"/>
                <a:cs typeface="Consolas" pitchFamily="49" charset="0"/>
              </a:rPr>
              <a:t>不成功</a:t>
            </a:r>
            <a:endParaRPr lang="zh-CN" altLang="en-US" sz="2000" baseline="-25000" dirty="0">
              <a:solidFill>
                <a:srgbClr val="FF0000"/>
              </a:solidFill>
              <a:latin typeface="Consolas" pitchFamily="49" charset="0"/>
              <a:ea typeface="仿宋" pitchFamily="49" charset="-122"/>
              <a:cs typeface="Consolas" pitchFamily="49" charset="0"/>
            </a:endParaRPr>
          </a:p>
        </p:txBody>
      </p:sp>
      <p:sp>
        <p:nvSpPr>
          <p:cNvPr id="2" name="Text Box 5">
            <a:extLst>
              <a:ext uri="{FF2B5EF4-FFF2-40B4-BE49-F238E27FC236}">
                <a16:creationId xmlns:a16="http://schemas.microsoft.com/office/drawing/2014/main" id="{09F83880-F05D-8071-7C4C-797AFFA27162}"/>
              </a:ext>
            </a:extLst>
          </p:cNvPr>
          <p:cNvSpPr txBox="1">
            <a:spLocks noChangeArrowheads="1"/>
          </p:cNvSpPr>
          <p:nvPr/>
        </p:nvSpPr>
        <p:spPr bwMode="auto">
          <a:xfrm>
            <a:off x="623143" y="3251237"/>
            <a:ext cx="8353425" cy="1354217"/>
          </a:xfrm>
          <a:prstGeom prst="rect">
            <a:avLst/>
          </a:prstGeom>
          <a:noFill/>
          <a:ln w="9525">
            <a:noFill/>
            <a:miter lim="800000"/>
            <a:headEnd/>
            <a:tailEnd/>
          </a:ln>
          <a:effectLst/>
        </p:spPr>
        <p:txBody>
          <a:bodyPr>
            <a:spAutoFit/>
          </a:bodyPr>
          <a:lstStyle/>
          <a:p>
            <a:pPr>
              <a:lnSpc>
                <a:spcPct val="120000"/>
              </a:lnSpc>
              <a:spcBef>
                <a:spcPct val="50000"/>
              </a:spcBef>
            </a:pPr>
            <a:r>
              <a:rPr kumimoji="1" lang="zh-CN" altLang="en-US" sz="2000" dirty="0">
                <a:latin typeface="Consolas" pitchFamily="49" charset="0"/>
                <a:ea typeface="楷体" pitchFamily="49" charset="-122"/>
                <a:cs typeface="Consolas" pitchFamily="49" charset="0"/>
              </a:rPr>
              <a:t>　　查找表</a:t>
            </a:r>
            <a:r>
              <a:rPr kumimoji="1" lang="en-US" altLang="zh-CN" sz="2000" dirty="0">
                <a:latin typeface="Consolas" pitchFamily="49" charset="0"/>
                <a:ea typeface="楷体" pitchFamily="49" charset="-122"/>
                <a:cs typeface="Consolas" pitchFamily="49" charset="0"/>
              </a:rPr>
              <a:t>T</a:t>
            </a:r>
            <a:r>
              <a:rPr kumimoji="1" lang="zh-CN" altLang="en-US" sz="2000" dirty="0">
                <a:latin typeface="Consolas" pitchFamily="49" charset="0"/>
                <a:ea typeface="楷体" pitchFamily="49" charset="-122"/>
                <a:cs typeface="Consolas" pitchFamily="49" charset="0"/>
              </a:rPr>
              <a:t>：含有</a:t>
            </a:r>
            <a:r>
              <a:rPr kumimoji="1" lang="en-US" altLang="zh-CN" sz="2000" i="1" dirty="0">
                <a:latin typeface="Consolas" pitchFamily="49" charset="0"/>
                <a:ea typeface="楷体" pitchFamily="49" charset="-122"/>
                <a:cs typeface="Consolas" pitchFamily="49" charset="0"/>
              </a:rPr>
              <a:t>n</a:t>
            </a:r>
            <a:r>
              <a:rPr kumimoji="1" lang="zh-CN" altLang="en-US" sz="2000" dirty="0">
                <a:latin typeface="Consolas" pitchFamily="49" charset="0"/>
                <a:ea typeface="楷体" pitchFamily="49" charset="-122"/>
                <a:cs typeface="Consolas" pitchFamily="49" charset="0"/>
              </a:rPr>
              <a:t>个元素。</a:t>
            </a:r>
          </a:p>
          <a:p>
            <a:pPr>
              <a:lnSpc>
                <a:spcPct val="120000"/>
              </a:lnSpc>
              <a:spcBef>
                <a:spcPct val="50000"/>
              </a:spcBef>
            </a:pPr>
            <a:r>
              <a:rPr kumimoji="1" lang="zh-CN" altLang="en-US" sz="2000" dirty="0">
                <a:latin typeface="Consolas" pitchFamily="49" charset="0"/>
                <a:ea typeface="楷体" pitchFamily="49" charset="-122"/>
                <a:cs typeface="Consolas" pitchFamily="49" charset="0"/>
              </a:rPr>
              <a:t>　　成功情况下（概率相等）的平均查找长度</a:t>
            </a:r>
            <a:r>
              <a:rPr kumimoji="1" lang="en-US" altLang="zh-CN" sz="2000" dirty="0" err="1">
                <a:solidFill>
                  <a:srgbClr val="FF0000"/>
                </a:solidFill>
                <a:latin typeface="Consolas" pitchFamily="49" charset="0"/>
                <a:ea typeface="楷体" pitchFamily="49" charset="-122"/>
                <a:cs typeface="Consolas" pitchFamily="49" charset="0"/>
              </a:rPr>
              <a:t>ASL</a:t>
            </a:r>
            <a:r>
              <a:rPr kumimoji="1" lang="zh-CN" altLang="en-US" sz="2000" baseline="-25000" dirty="0">
                <a:solidFill>
                  <a:srgbClr val="FF0000"/>
                </a:solidFill>
                <a:latin typeface="Consolas" pitchFamily="49" charset="0"/>
                <a:ea typeface="楷体" pitchFamily="49" charset="-122"/>
                <a:cs typeface="Consolas" pitchFamily="49" charset="0"/>
              </a:rPr>
              <a:t>成功</a:t>
            </a:r>
            <a:r>
              <a:rPr kumimoji="1" lang="zh-CN" altLang="en-US" sz="2000" dirty="0">
                <a:latin typeface="Consolas" pitchFamily="49" charset="0"/>
                <a:ea typeface="楷体" pitchFamily="49" charset="-122"/>
                <a:cs typeface="Consolas" pitchFamily="49" charset="0"/>
              </a:rPr>
              <a:t>是指</a:t>
            </a:r>
            <a:r>
              <a:rPr kumimoji="1" lang="zh-CN" altLang="en-US" sz="2000" dirty="0">
                <a:solidFill>
                  <a:srgbClr val="C00000"/>
                </a:solidFill>
                <a:latin typeface="Consolas" pitchFamily="49" charset="0"/>
                <a:ea typeface="楷体" pitchFamily="49" charset="-122"/>
                <a:cs typeface="Consolas" pitchFamily="49" charset="0"/>
              </a:rPr>
              <a:t>找到</a:t>
            </a:r>
            <a:r>
              <a:rPr kumimoji="1" lang="en-US" altLang="zh-CN" sz="2000" dirty="0">
                <a:solidFill>
                  <a:srgbClr val="C00000"/>
                </a:solidFill>
                <a:latin typeface="Consolas" pitchFamily="49" charset="0"/>
                <a:ea typeface="楷体" pitchFamily="49" charset="-122"/>
                <a:cs typeface="Consolas" pitchFamily="49" charset="0"/>
              </a:rPr>
              <a:t>T</a:t>
            </a:r>
            <a:r>
              <a:rPr kumimoji="1" lang="zh-CN" altLang="en-US" sz="2000" dirty="0">
                <a:solidFill>
                  <a:srgbClr val="C00000"/>
                </a:solidFill>
                <a:latin typeface="Consolas" pitchFamily="49" charset="0"/>
                <a:ea typeface="楷体" pitchFamily="49" charset="-122"/>
                <a:cs typeface="Consolas" pitchFamily="49" charset="0"/>
              </a:rPr>
              <a:t>中任一元素平均需要的关键字比较次数</a:t>
            </a:r>
            <a:r>
              <a:rPr kumimoji="1" lang="zh-CN" altLang="en-US" sz="2000" dirty="0">
                <a:latin typeface="Consolas" pitchFamily="49" charset="0"/>
                <a:ea typeface="楷体" pitchFamily="49" charset="-122"/>
                <a:cs typeface="Consolas" pitchFamily="49" charset="0"/>
              </a:rPr>
              <a:t>。　　</a:t>
            </a:r>
          </a:p>
        </p:txBody>
      </p:sp>
      <p:graphicFrame>
        <p:nvGraphicFramePr>
          <p:cNvPr id="3" name="表格 2">
            <a:extLst>
              <a:ext uri="{FF2B5EF4-FFF2-40B4-BE49-F238E27FC236}">
                <a16:creationId xmlns:a16="http://schemas.microsoft.com/office/drawing/2014/main" id="{3F8B665F-8E18-BB00-764B-FBE47637A526}"/>
              </a:ext>
            </a:extLst>
          </p:cNvPr>
          <p:cNvGraphicFramePr>
            <a:graphicFrameLocks noGrp="1"/>
          </p:cNvGraphicFramePr>
          <p:nvPr>
            <p:extLst>
              <p:ext uri="{D42A27DB-BD31-4B8C-83A1-F6EECF244321}">
                <p14:modId xmlns:p14="http://schemas.microsoft.com/office/powerpoint/2010/main" val="4019058910"/>
              </p:ext>
            </p:extLst>
          </p:nvPr>
        </p:nvGraphicFramePr>
        <p:xfrm>
          <a:off x="1255674" y="5255258"/>
          <a:ext cx="7643869" cy="1010920"/>
        </p:xfrm>
        <a:graphic>
          <a:graphicData uri="http://schemas.openxmlformats.org/drawingml/2006/table">
            <a:tbl>
              <a:tblPr firstRow="1" bandRow="1">
                <a:tableStyleId>{16D9F66E-5EB9-4882-86FB-DCBF35E3C3E4}</a:tableStyleId>
              </a:tblPr>
              <a:tblGrid>
                <a:gridCol w="1500198">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14380">
                  <a:extLst>
                    <a:ext uri="{9D8B030D-6E8A-4147-A177-3AD203B41FA5}">
                      <a16:colId xmlns:a16="http://schemas.microsoft.com/office/drawing/2014/main" val="20004"/>
                    </a:ext>
                  </a:extLst>
                </a:gridCol>
                <a:gridCol w="714380">
                  <a:extLst>
                    <a:ext uri="{9D8B030D-6E8A-4147-A177-3AD203B41FA5}">
                      <a16:colId xmlns:a16="http://schemas.microsoft.com/office/drawing/2014/main" val="20005"/>
                    </a:ext>
                  </a:extLst>
                </a:gridCol>
                <a:gridCol w="642942">
                  <a:extLst>
                    <a:ext uri="{9D8B030D-6E8A-4147-A177-3AD203B41FA5}">
                      <a16:colId xmlns:a16="http://schemas.microsoft.com/office/drawing/2014/main" val="20006"/>
                    </a:ext>
                  </a:extLst>
                </a:gridCol>
                <a:gridCol w="642942">
                  <a:extLst>
                    <a:ext uri="{9D8B030D-6E8A-4147-A177-3AD203B41FA5}">
                      <a16:colId xmlns:a16="http://schemas.microsoft.com/office/drawing/2014/main" val="20007"/>
                    </a:ext>
                  </a:extLst>
                </a:gridCol>
                <a:gridCol w="642942">
                  <a:extLst>
                    <a:ext uri="{9D8B030D-6E8A-4147-A177-3AD203B41FA5}">
                      <a16:colId xmlns:a16="http://schemas.microsoft.com/office/drawing/2014/main" val="20008"/>
                    </a:ext>
                  </a:extLst>
                </a:gridCol>
                <a:gridCol w="642945">
                  <a:extLst>
                    <a:ext uri="{9D8B030D-6E8A-4147-A177-3AD203B41FA5}">
                      <a16:colId xmlns:a16="http://schemas.microsoft.com/office/drawing/2014/main" val="20009"/>
                    </a:ext>
                  </a:extLst>
                </a:gridCol>
              </a:tblGrid>
              <a:tr h="370840">
                <a:tc>
                  <a:txBody>
                    <a:bodyPr/>
                    <a:lstStyle/>
                    <a:p>
                      <a:pPr algn="ctr"/>
                      <a:r>
                        <a:rPr lang="zh-CN" altLang="en-US" sz="1800" b="1">
                          <a:solidFill>
                            <a:srgbClr val="FF0000"/>
                          </a:solidFill>
                          <a:latin typeface="Consolas" pitchFamily="49" charset="0"/>
                          <a:ea typeface="仿宋" pitchFamily="49" charset="-122"/>
                          <a:cs typeface="Consolas" pitchFamily="49" charset="0"/>
                        </a:rPr>
                        <a:t>关键字</a:t>
                      </a: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5</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1</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4</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8</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7</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9</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2</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4</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3</a:t>
                      </a:r>
                      <a:endParaRPr lang="zh-CN" altLang="en-US" sz="1800" b="1">
                        <a:solidFill>
                          <a:srgbClr val="FF0000"/>
                        </a:solidFill>
                        <a:latin typeface="Consolas" pitchFamily="49" charset="0"/>
                        <a:ea typeface="仿宋" pitchFamily="49" charset="-122"/>
                        <a:cs typeface="Consolas" pitchFamily="49" charset="0"/>
                      </a:endParaRPr>
                    </a:p>
                  </a:txBody>
                  <a:tcPr/>
                </a:tc>
                <a:extLst>
                  <a:ext uri="{0D108BD9-81ED-4DB2-BD59-A6C34878D82A}">
                    <a16:rowId xmlns:a16="http://schemas.microsoft.com/office/drawing/2014/main" val="10000"/>
                  </a:ext>
                </a:extLst>
              </a:tr>
              <a:tr h="370840">
                <a:tc>
                  <a:txBody>
                    <a:bodyPr/>
                    <a:lstStyle/>
                    <a:p>
                      <a:pPr algn="ctr"/>
                      <a:r>
                        <a:rPr lang="zh-CN" altLang="en-US" sz="1800" b="1">
                          <a:solidFill>
                            <a:srgbClr val="3333FF"/>
                          </a:solidFill>
                          <a:latin typeface="Consolas" pitchFamily="49" charset="0"/>
                          <a:ea typeface="仿宋" pitchFamily="49" charset="-122"/>
                          <a:cs typeface="Consolas" pitchFamily="49" charset="0"/>
                        </a:rPr>
                        <a:t>找到时的比较次数</a:t>
                      </a:r>
                    </a:p>
                  </a:txBody>
                  <a:tcPr/>
                </a:tc>
                <a:tc>
                  <a:txBody>
                    <a:bodyPr/>
                    <a:lstStyle/>
                    <a:p>
                      <a:pPr algn="ctr">
                        <a:lnSpc>
                          <a:spcPct val="150000"/>
                        </a:lnSpc>
                      </a:pPr>
                      <a:r>
                        <a:rPr lang="en-US" altLang="zh-CN" sz="1800" b="1" dirty="0">
                          <a:solidFill>
                            <a:srgbClr val="3333FF"/>
                          </a:solidFill>
                          <a:latin typeface="Consolas" pitchFamily="49" charset="0"/>
                          <a:ea typeface="仿宋" pitchFamily="49" charset="-122"/>
                          <a:cs typeface="Consolas" pitchFamily="49" charset="0"/>
                        </a:rPr>
                        <a:t>1</a:t>
                      </a:r>
                      <a:endParaRPr lang="zh-CN" altLang="en-US" sz="1800" b="1" dirty="0">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2</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3</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4</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5</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6</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7</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8</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dirty="0">
                          <a:solidFill>
                            <a:srgbClr val="3333FF"/>
                          </a:solidFill>
                          <a:latin typeface="Consolas" pitchFamily="49" charset="0"/>
                          <a:ea typeface="仿宋" pitchFamily="49" charset="-122"/>
                          <a:cs typeface="Consolas" pitchFamily="49" charset="0"/>
                        </a:rPr>
                        <a:t>9</a:t>
                      </a:r>
                      <a:endParaRPr lang="zh-CN" altLang="en-US" sz="1800" b="1" dirty="0">
                        <a:solidFill>
                          <a:srgbClr val="3333FF"/>
                        </a:solidFill>
                        <a:latin typeface="Consolas" pitchFamily="49" charset="0"/>
                        <a:ea typeface="仿宋" pitchFamily="49" charset="-122"/>
                        <a:cs typeface="Consolas" pitchFamily="49" charset="0"/>
                      </a:endParaRPr>
                    </a:p>
                  </a:txBody>
                  <a:tcPr/>
                </a:tc>
                <a:extLst>
                  <a:ext uri="{0D108BD9-81ED-4DB2-BD59-A6C34878D82A}">
                    <a16:rowId xmlns:a16="http://schemas.microsoft.com/office/drawing/2014/main" val="10001"/>
                  </a:ext>
                </a:extLst>
              </a:tr>
            </a:tbl>
          </a:graphicData>
        </a:graphic>
      </p:graphicFrame>
      <p:grpSp>
        <p:nvGrpSpPr>
          <p:cNvPr id="5" name="组合 11">
            <a:extLst>
              <a:ext uri="{FF2B5EF4-FFF2-40B4-BE49-F238E27FC236}">
                <a16:creationId xmlns:a16="http://schemas.microsoft.com/office/drawing/2014/main" id="{9C0EB1D7-DC37-0894-810C-440F6C108B43}"/>
              </a:ext>
            </a:extLst>
          </p:cNvPr>
          <p:cNvGrpSpPr/>
          <p:nvPr/>
        </p:nvGrpSpPr>
        <p:grpSpPr>
          <a:xfrm>
            <a:off x="7458037" y="4199619"/>
            <a:ext cx="4429156" cy="900176"/>
            <a:chOff x="1571604" y="5148235"/>
            <a:chExt cx="4429156" cy="900176"/>
          </a:xfrm>
        </p:grpSpPr>
        <p:sp>
          <p:nvSpPr>
            <p:cNvPr id="6" name="TextBox 4">
              <a:extLst>
                <a:ext uri="{FF2B5EF4-FFF2-40B4-BE49-F238E27FC236}">
                  <a16:creationId xmlns:a16="http://schemas.microsoft.com/office/drawing/2014/main" id="{36DE13BE-3E43-06E2-D2EB-67B0FECEF7F6}"/>
                </a:ext>
              </a:extLst>
            </p:cNvPr>
            <p:cNvSpPr txBox="1"/>
            <p:nvPr/>
          </p:nvSpPr>
          <p:spPr>
            <a:xfrm>
              <a:off x="1571604" y="5396227"/>
              <a:ext cx="1500198" cy="400110"/>
            </a:xfrm>
            <a:prstGeom prst="rect">
              <a:avLst/>
            </a:prstGeom>
            <a:noFill/>
          </p:spPr>
          <p:txBody>
            <a:bodyPr wrap="square" rtlCol="0">
              <a:spAutoFit/>
            </a:bodyPr>
            <a:lstStyle/>
            <a:p>
              <a:r>
                <a:rPr lang="en-US" altLang="zh-CN" sz="2000" dirty="0" err="1">
                  <a:latin typeface="Consolas" pitchFamily="49" charset="0"/>
                  <a:ea typeface="楷体" pitchFamily="49" charset="-122"/>
                  <a:cs typeface="Consolas" pitchFamily="49" charset="0"/>
                </a:rPr>
                <a:t>ASL</a:t>
              </a:r>
              <a:r>
                <a:rPr lang="zh-CN" altLang="en-US" sz="2000" baseline="-25000" dirty="0">
                  <a:latin typeface="Consolas" pitchFamily="49" charset="0"/>
                  <a:ea typeface="楷体" pitchFamily="49" charset="-122"/>
                  <a:cs typeface="Consolas" pitchFamily="49" charset="0"/>
                </a:rPr>
                <a:t>成功</a:t>
              </a:r>
              <a:r>
                <a:rPr lang="en-US" altLang="zh-CN" sz="2000" dirty="0">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8" name="TextBox 5">
              <a:extLst>
                <a:ext uri="{FF2B5EF4-FFF2-40B4-BE49-F238E27FC236}">
                  <a16:creationId xmlns:a16="http://schemas.microsoft.com/office/drawing/2014/main" id="{4F05CA60-745B-F0A1-4E3B-744828B1E411}"/>
                </a:ext>
              </a:extLst>
            </p:cNvPr>
            <p:cNvSpPr txBox="1"/>
            <p:nvPr/>
          </p:nvSpPr>
          <p:spPr>
            <a:xfrm>
              <a:off x="2643174" y="5148235"/>
              <a:ext cx="2643206" cy="400110"/>
            </a:xfrm>
            <a:prstGeom prst="rect">
              <a:avLst/>
            </a:prstGeom>
            <a:noFill/>
          </p:spPr>
          <p:txBody>
            <a:bodyPr wrap="square" rtlCol="0">
              <a:spAutoFit/>
            </a:bodyPr>
            <a:lstStyle/>
            <a:p>
              <a:r>
                <a:rPr lang="en-US" altLang="zh-CN" sz="2000">
                  <a:latin typeface="Consolas" pitchFamily="49" charset="0"/>
                  <a:cs typeface="Consolas" pitchFamily="49" charset="0"/>
                </a:rPr>
                <a:t>1+2+3+4+5+6+7+8+9</a:t>
              </a:r>
              <a:endParaRPr lang="zh-CN" altLang="en-US" sz="2000" dirty="0">
                <a:latin typeface="Consolas" pitchFamily="49" charset="0"/>
                <a:cs typeface="Consolas" pitchFamily="49" charset="0"/>
              </a:endParaRPr>
            </a:p>
          </p:txBody>
        </p:sp>
        <p:cxnSp>
          <p:nvCxnSpPr>
            <p:cNvPr id="15" name="直接连接符 14">
              <a:extLst>
                <a:ext uri="{FF2B5EF4-FFF2-40B4-BE49-F238E27FC236}">
                  <a16:creationId xmlns:a16="http://schemas.microsoft.com/office/drawing/2014/main" id="{21FD384E-89A5-52A8-5068-4CF9B3569EE3}"/>
                </a:ext>
              </a:extLst>
            </p:cNvPr>
            <p:cNvCxnSpPr/>
            <p:nvPr/>
          </p:nvCxnSpPr>
          <p:spPr>
            <a:xfrm flipV="1">
              <a:off x="2714612" y="5630878"/>
              <a:ext cx="2520000" cy="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sp>
          <p:nvSpPr>
            <p:cNvPr id="16" name="TextBox 7">
              <a:extLst>
                <a:ext uri="{FF2B5EF4-FFF2-40B4-BE49-F238E27FC236}">
                  <a16:creationId xmlns:a16="http://schemas.microsoft.com/office/drawing/2014/main" id="{425CFDAC-31C9-565A-AD7D-402B825CF763}"/>
                </a:ext>
              </a:extLst>
            </p:cNvPr>
            <p:cNvSpPr txBox="1"/>
            <p:nvPr/>
          </p:nvSpPr>
          <p:spPr>
            <a:xfrm>
              <a:off x="3857620" y="5648301"/>
              <a:ext cx="500066" cy="400110"/>
            </a:xfrm>
            <a:prstGeom prst="rect">
              <a:avLst/>
            </a:prstGeom>
            <a:noFill/>
          </p:spPr>
          <p:txBody>
            <a:bodyPr wrap="square" rtlCol="0">
              <a:spAutoFit/>
            </a:bodyPr>
            <a:lstStyle/>
            <a:p>
              <a:r>
                <a:rPr lang="en-US" altLang="zh-CN" sz="2000">
                  <a:latin typeface="Consolas" pitchFamily="49" charset="0"/>
                  <a:cs typeface="Consolas" pitchFamily="49" charset="0"/>
                </a:rPr>
                <a:t>9</a:t>
              </a:r>
              <a:endParaRPr lang="zh-CN" altLang="en-US" sz="2000" dirty="0">
                <a:latin typeface="Consolas" pitchFamily="49" charset="0"/>
                <a:cs typeface="Consolas" pitchFamily="49" charset="0"/>
              </a:endParaRPr>
            </a:p>
          </p:txBody>
        </p:sp>
        <p:sp>
          <p:nvSpPr>
            <p:cNvPr id="17" name="TextBox 8">
              <a:extLst>
                <a:ext uri="{FF2B5EF4-FFF2-40B4-BE49-F238E27FC236}">
                  <a16:creationId xmlns:a16="http://schemas.microsoft.com/office/drawing/2014/main" id="{9E3C7FB9-D4B3-95CA-1FB5-108CF3329515}"/>
                </a:ext>
              </a:extLst>
            </p:cNvPr>
            <p:cNvSpPr txBox="1"/>
            <p:nvPr/>
          </p:nvSpPr>
          <p:spPr>
            <a:xfrm>
              <a:off x="5286380" y="5363190"/>
              <a:ext cx="714380" cy="400110"/>
            </a:xfrm>
            <a:prstGeom prst="rect">
              <a:avLst/>
            </a:prstGeom>
            <a:noFill/>
          </p:spPr>
          <p:txBody>
            <a:bodyPr wrap="square" rtlCol="0">
              <a:spAutoFit/>
            </a:bodyPr>
            <a:lstStyle/>
            <a:p>
              <a:r>
                <a:rPr lang="en-US" altLang="zh-CN" sz="2000">
                  <a:latin typeface="Consolas" pitchFamily="49" charset="0"/>
                  <a:cs typeface="Consolas" pitchFamily="49" charset="0"/>
                </a:rPr>
                <a:t>= 5</a:t>
              </a:r>
              <a:endParaRPr lang="zh-CN" altLang="en-US" sz="2000" dirty="0">
                <a:latin typeface="Consolas" pitchFamily="49" charset="0"/>
                <a:cs typeface="Consolas" pitchFamily="49" charset="0"/>
              </a:endParaRPr>
            </a:p>
          </p:txBody>
        </p:sp>
      </p:grpSp>
      <p:sp>
        <p:nvSpPr>
          <p:cNvPr id="18" name="TextBox 9">
            <a:extLst>
              <a:ext uri="{FF2B5EF4-FFF2-40B4-BE49-F238E27FC236}">
                <a16:creationId xmlns:a16="http://schemas.microsoft.com/office/drawing/2014/main" id="{3AA40902-9E11-D3BF-CE4D-20E9DDE63CE0}"/>
              </a:ext>
            </a:extLst>
          </p:cNvPr>
          <p:cNvSpPr txBox="1"/>
          <p:nvPr/>
        </p:nvSpPr>
        <p:spPr>
          <a:xfrm>
            <a:off x="1155054" y="4544222"/>
            <a:ext cx="2000264" cy="400110"/>
          </a:xfrm>
          <a:prstGeom prst="rect">
            <a:avLst/>
          </a:prstGeom>
          <a:noFill/>
        </p:spPr>
        <p:txBody>
          <a:bodyPr wrap="square" rtlCol="0">
            <a:spAutoFit/>
          </a:bodyPr>
          <a:lstStyle/>
          <a:p>
            <a:r>
              <a:rPr lang="zh-CN" altLang="en-US" sz="2000" dirty="0">
                <a:latin typeface="Consolas" pitchFamily="49" charset="0"/>
                <a:ea typeface="楷体" pitchFamily="49" charset="-122"/>
                <a:cs typeface="Consolas" pitchFamily="49" charset="0"/>
              </a:rPr>
              <a:t>例如，</a:t>
            </a:r>
            <a:r>
              <a:rPr lang="en-US" altLang="zh-CN" sz="2000" i="1" dirty="0">
                <a:latin typeface="Consolas" pitchFamily="49" charset="0"/>
                <a:ea typeface="楷体" pitchFamily="49" charset="-122"/>
                <a:cs typeface="Consolas" pitchFamily="49" charset="0"/>
              </a:rPr>
              <a:t>n</a:t>
            </a:r>
            <a:r>
              <a:rPr lang="en-US" altLang="zh-CN" sz="2000" dirty="0">
                <a:latin typeface="Consolas" pitchFamily="49" charset="0"/>
                <a:ea typeface="楷体" pitchFamily="49" charset="-122"/>
                <a:cs typeface="Consolas" pitchFamily="49" charset="0"/>
              </a:rPr>
              <a:t>=9</a:t>
            </a:r>
            <a:r>
              <a:rPr lang="zh-CN" altLang="en-US" sz="2000" dirty="0">
                <a:latin typeface="Consolas" pitchFamily="49" charset="0"/>
                <a:ea typeface="楷体" pitchFamily="49" charset="-122"/>
                <a:cs typeface="Consolas" pitchFamily="49" charset="0"/>
              </a:rPr>
              <a:t>：</a:t>
            </a:r>
          </a:p>
        </p:txBody>
      </p:sp>
    </p:spTree>
    <p:extLst>
      <p:ext uri="{BB962C8B-B14F-4D97-AF65-F5344CB8AC3E}">
        <p14:creationId xmlns:p14="http://schemas.microsoft.com/office/powerpoint/2010/main" val="846078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FF211-7AB4-2E30-561B-88ADF0587E82}"/>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892D12D3-BC37-BD9C-C622-373EC4920DC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9.1 </a:t>
            </a:r>
            <a:r>
              <a:rPr lang="zh-CN" altLang="en-US" sz="3000" b="1" dirty="0">
                <a:latin typeface="黑体" pitchFamily="49" charset="-122"/>
                <a:ea typeface="黑体" pitchFamily="49" charset="-122"/>
                <a:cs typeface="经典粗黑简" pitchFamily="49" charset="-122"/>
              </a:rPr>
              <a:t>查找的基本概念</a:t>
            </a:r>
          </a:p>
        </p:txBody>
      </p:sp>
      <p:sp>
        <p:nvSpPr>
          <p:cNvPr id="12" name="矩形 11">
            <a:extLst>
              <a:ext uri="{FF2B5EF4-FFF2-40B4-BE49-F238E27FC236}">
                <a16:creationId xmlns:a16="http://schemas.microsoft.com/office/drawing/2014/main" id="{F52AD366-B1DC-3B46-1383-7C517416154D}"/>
              </a:ext>
            </a:extLst>
          </p:cNvPr>
          <p:cNvSpPr/>
          <p:nvPr/>
        </p:nvSpPr>
        <p:spPr>
          <a:xfrm>
            <a:off x="255372" y="1152249"/>
            <a:ext cx="45444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9.1.3 </a:t>
            </a:r>
            <a:r>
              <a:rPr lang="zh-CN" altLang="en-US" sz="2800" b="1" dirty="0">
                <a:solidFill>
                  <a:schemeClr val="bg1"/>
                </a:solidFill>
                <a:latin typeface="经典粗黑简" pitchFamily="49" charset="-122"/>
                <a:ea typeface="经典粗黑简" pitchFamily="49" charset="-122"/>
                <a:cs typeface="经典粗黑简" pitchFamily="49" charset="-122"/>
              </a:rPr>
              <a:t>查找方法的性能指标</a:t>
            </a:r>
          </a:p>
        </p:txBody>
      </p:sp>
      <p:cxnSp>
        <p:nvCxnSpPr>
          <p:cNvPr id="11" name="直接连接符 10">
            <a:extLst>
              <a:ext uri="{FF2B5EF4-FFF2-40B4-BE49-F238E27FC236}">
                <a16:creationId xmlns:a16="http://schemas.microsoft.com/office/drawing/2014/main" id="{6C0624F1-DA10-9B3E-527E-390583F7D74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Text Box 4">
            <a:extLst>
              <a:ext uri="{FF2B5EF4-FFF2-40B4-BE49-F238E27FC236}">
                <a16:creationId xmlns:a16="http://schemas.microsoft.com/office/drawing/2014/main" id="{C8557CF5-9EA3-99B2-4474-4481EE4EA713}"/>
              </a:ext>
            </a:extLst>
          </p:cNvPr>
          <p:cNvSpPr txBox="1">
            <a:spLocks noChangeArrowheads="1"/>
          </p:cNvSpPr>
          <p:nvPr/>
        </p:nvSpPr>
        <p:spPr bwMode="auto">
          <a:xfrm>
            <a:off x="1127448" y="1916832"/>
            <a:ext cx="3071834" cy="400110"/>
          </a:xfrm>
          <a:prstGeom prst="rect">
            <a:avLst/>
          </a:prstGeom>
          <a:noFill/>
          <a:ln w="9525">
            <a:noFill/>
            <a:miter lim="800000"/>
            <a:headEnd/>
            <a:tailEnd/>
          </a:ln>
          <a:effectLst/>
        </p:spPr>
        <p:txBody>
          <a:bodyPr wrap="square">
            <a:spAutoFit/>
          </a:bodyPr>
          <a:lstStyle/>
          <a:p>
            <a:pPr>
              <a:spcBef>
                <a:spcPct val="50000"/>
              </a:spcBef>
            </a:pPr>
            <a:r>
              <a:rPr kumimoji="1" lang="zh-CN" altLang="en-US" sz="2000" dirty="0">
                <a:latin typeface="Consolas" pitchFamily="49" charset="0"/>
                <a:ea typeface="楷体" pitchFamily="49" charset="-122"/>
                <a:cs typeface="Consolas" pitchFamily="49" charset="0"/>
              </a:rPr>
              <a:t>平均查找长度</a:t>
            </a:r>
            <a:r>
              <a:rPr kumimoji="1" lang="en-US" altLang="zh-CN" sz="2000" dirty="0">
                <a:latin typeface="Consolas" pitchFamily="49" charset="0"/>
                <a:ea typeface="楷体" pitchFamily="49" charset="-122"/>
                <a:cs typeface="Consolas" pitchFamily="49" charset="0"/>
              </a:rPr>
              <a:t>ASL</a:t>
            </a:r>
            <a:r>
              <a:rPr kumimoji="1" lang="zh-CN" altLang="en-US" sz="2000" dirty="0">
                <a:latin typeface="Consolas" pitchFamily="49" charset="0"/>
                <a:ea typeface="楷体" pitchFamily="49" charset="-122"/>
                <a:cs typeface="Consolas" pitchFamily="49" charset="0"/>
              </a:rPr>
              <a:t>分为</a:t>
            </a:r>
          </a:p>
        </p:txBody>
      </p:sp>
      <p:sp>
        <p:nvSpPr>
          <p:cNvPr id="14" name="TextBox 13">
            <a:extLst>
              <a:ext uri="{FF2B5EF4-FFF2-40B4-BE49-F238E27FC236}">
                <a16:creationId xmlns:a16="http://schemas.microsoft.com/office/drawing/2014/main" id="{E7CA09FD-F416-4B65-C41B-67D341D96221}"/>
              </a:ext>
            </a:extLst>
          </p:cNvPr>
          <p:cNvSpPr txBox="1"/>
          <p:nvPr/>
        </p:nvSpPr>
        <p:spPr>
          <a:xfrm>
            <a:off x="1271464" y="2326066"/>
            <a:ext cx="6572296" cy="9079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nSpc>
                <a:spcPts val="2800"/>
              </a:lnSpc>
              <a:buBlip>
                <a:blip r:embed="rId2"/>
              </a:buBlip>
            </a:pPr>
            <a:r>
              <a:rPr kumimoji="1" lang="zh-CN" altLang="en-US" sz="2000" dirty="0">
                <a:latin typeface="Consolas" pitchFamily="49" charset="0"/>
                <a:ea typeface="仿宋" pitchFamily="49" charset="-122"/>
                <a:cs typeface="Consolas" pitchFamily="49" charset="0"/>
              </a:rPr>
              <a:t>成功情况下的平均查找长度</a:t>
            </a:r>
            <a:r>
              <a:rPr kumimoji="1" lang="en-US" altLang="zh-CN" sz="2000" dirty="0">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ASL</a:t>
            </a:r>
            <a:r>
              <a:rPr kumimoji="1" lang="zh-CN" altLang="en-US" sz="2000" baseline="-25000" dirty="0">
                <a:solidFill>
                  <a:srgbClr val="FF0000"/>
                </a:solidFill>
                <a:latin typeface="Consolas" pitchFamily="49" charset="0"/>
                <a:ea typeface="仿宋" pitchFamily="49" charset="-122"/>
                <a:cs typeface="Consolas" pitchFamily="49" charset="0"/>
              </a:rPr>
              <a:t>成功</a:t>
            </a:r>
            <a:endParaRPr kumimoji="1" lang="en-US" altLang="zh-CN" sz="2000" baseline="-25000" dirty="0">
              <a:solidFill>
                <a:srgbClr val="FF0000"/>
              </a:solidFill>
              <a:latin typeface="Consolas" pitchFamily="49" charset="0"/>
              <a:ea typeface="仿宋" pitchFamily="49" charset="-122"/>
              <a:cs typeface="Consolas" pitchFamily="49" charset="0"/>
            </a:endParaRPr>
          </a:p>
          <a:p>
            <a:pPr marL="457200" indent="-457200">
              <a:lnSpc>
                <a:spcPts val="2800"/>
              </a:lnSpc>
              <a:buBlip>
                <a:blip r:embed="rId2"/>
              </a:buBlip>
            </a:pPr>
            <a:r>
              <a:rPr kumimoji="1" lang="zh-CN" altLang="en-US" sz="2000" dirty="0">
                <a:latin typeface="Consolas" pitchFamily="49" charset="0"/>
                <a:ea typeface="仿宋" pitchFamily="49" charset="-122"/>
                <a:cs typeface="Consolas" pitchFamily="49" charset="0"/>
              </a:rPr>
              <a:t>不成功情况（失败）下的平均查找长度</a:t>
            </a:r>
            <a:r>
              <a:rPr kumimoji="1" lang="en-US" altLang="zh-CN" sz="2000" dirty="0">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ASL</a:t>
            </a:r>
            <a:r>
              <a:rPr kumimoji="1" lang="zh-CN" altLang="en-US" sz="2000" baseline="-25000" dirty="0">
                <a:solidFill>
                  <a:srgbClr val="FF0000"/>
                </a:solidFill>
                <a:latin typeface="Consolas" pitchFamily="49" charset="0"/>
                <a:ea typeface="仿宋" pitchFamily="49" charset="-122"/>
                <a:cs typeface="Consolas" pitchFamily="49" charset="0"/>
              </a:rPr>
              <a:t>不成功</a:t>
            </a:r>
            <a:endParaRPr lang="zh-CN" altLang="en-US" sz="2000" baseline="-25000" dirty="0">
              <a:solidFill>
                <a:srgbClr val="FF0000"/>
              </a:solidFill>
              <a:latin typeface="Consolas" pitchFamily="49" charset="0"/>
              <a:ea typeface="仿宋" pitchFamily="49" charset="-122"/>
              <a:cs typeface="Consolas" pitchFamily="49" charset="0"/>
            </a:endParaRPr>
          </a:p>
        </p:txBody>
      </p:sp>
      <p:sp>
        <p:nvSpPr>
          <p:cNvPr id="4" name="Text Box 5">
            <a:extLst>
              <a:ext uri="{FF2B5EF4-FFF2-40B4-BE49-F238E27FC236}">
                <a16:creationId xmlns:a16="http://schemas.microsoft.com/office/drawing/2014/main" id="{A435E5AB-A67E-F425-EEFE-1FBEB88B284D}"/>
              </a:ext>
            </a:extLst>
          </p:cNvPr>
          <p:cNvSpPr txBox="1">
            <a:spLocks noChangeArrowheads="1"/>
          </p:cNvSpPr>
          <p:nvPr/>
        </p:nvSpPr>
        <p:spPr bwMode="auto">
          <a:xfrm>
            <a:off x="623143" y="3268006"/>
            <a:ext cx="8353425" cy="1354217"/>
          </a:xfrm>
          <a:prstGeom prst="rect">
            <a:avLst/>
          </a:prstGeom>
          <a:noFill/>
          <a:ln w="9525">
            <a:noFill/>
            <a:miter lim="800000"/>
            <a:headEnd/>
            <a:tailEnd/>
          </a:ln>
          <a:effectLst/>
        </p:spPr>
        <p:txBody>
          <a:bodyPr>
            <a:spAutoFit/>
          </a:bodyPr>
          <a:lstStyle/>
          <a:p>
            <a:pPr>
              <a:lnSpc>
                <a:spcPct val="120000"/>
              </a:lnSpc>
              <a:spcBef>
                <a:spcPct val="50000"/>
              </a:spcBef>
            </a:pPr>
            <a:r>
              <a:rPr kumimoji="1" lang="zh-CN" altLang="en-US" sz="2000" dirty="0">
                <a:latin typeface="Consolas" pitchFamily="49" charset="0"/>
                <a:ea typeface="楷体" pitchFamily="49" charset="-122"/>
                <a:cs typeface="Consolas" pitchFamily="49" charset="0"/>
              </a:rPr>
              <a:t>　　查找表</a:t>
            </a:r>
            <a:r>
              <a:rPr kumimoji="1" lang="en-US" altLang="zh-CN" sz="2000" dirty="0">
                <a:latin typeface="Consolas" pitchFamily="49" charset="0"/>
                <a:ea typeface="楷体" pitchFamily="49" charset="-122"/>
                <a:cs typeface="Consolas" pitchFamily="49" charset="0"/>
              </a:rPr>
              <a:t>T</a:t>
            </a:r>
            <a:r>
              <a:rPr kumimoji="1" lang="zh-CN" altLang="en-US" sz="2000" dirty="0">
                <a:latin typeface="Consolas" pitchFamily="49" charset="0"/>
                <a:ea typeface="楷体" pitchFamily="49" charset="-122"/>
                <a:cs typeface="Consolas" pitchFamily="49" charset="0"/>
              </a:rPr>
              <a:t>：含有</a:t>
            </a:r>
            <a:r>
              <a:rPr kumimoji="1" lang="en-US" altLang="zh-CN" sz="2000" i="1" dirty="0">
                <a:latin typeface="Consolas" pitchFamily="49" charset="0"/>
                <a:ea typeface="楷体" pitchFamily="49" charset="-122"/>
                <a:cs typeface="Consolas" pitchFamily="49" charset="0"/>
              </a:rPr>
              <a:t>n</a:t>
            </a:r>
            <a:r>
              <a:rPr kumimoji="1" lang="zh-CN" altLang="en-US" sz="2000" dirty="0">
                <a:latin typeface="Consolas" pitchFamily="49" charset="0"/>
                <a:ea typeface="楷体" pitchFamily="49" charset="-122"/>
                <a:cs typeface="Consolas" pitchFamily="49" charset="0"/>
              </a:rPr>
              <a:t>个元素。</a:t>
            </a:r>
            <a:endParaRPr kumimoji="1" lang="en-US" altLang="zh-CN" sz="2000" dirty="0">
              <a:latin typeface="Consolas" pitchFamily="49" charset="0"/>
              <a:ea typeface="楷体" pitchFamily="49" charset="-122"/>
              <a:cs typeface="Consolas" pitchFamily="49" charset="0"/>
            </a:endParaRPr>
          </a:p>
          <a:p>
            <a:pPr>
              <a:lnSpc>
                <a:spcPct val="120000"/>
              </a:lnSpc>
              <a:spcBef>
                <a:spcPct val="50000"/>
              </a:spcBef>
            </a:pPr>
            <a:r>
              <a:rPr kumimoji="1" lang="en-US" altLang="zh-CN" sz="2000" dirty="0">
                <a:latin typeface="Consolas" pitchFamily="49" charset="0"/>
                <a:ea typeface="楷体" pitchFamily="49" charset="-122"/>
                <a:cs typeface="Consolas" pitchFamily="49" charset="0"/>
              </a:rPr>
              <a:t>    </a:t>
            </a:r>
            <a:r>
              <a:rPr kumimoji="1" lang="zh-CN" altLang="en-US" sz="2000" dirty="0">
                <a:latin typeface="Consolas" pitchFamily="49" charset="0"/>
                <a:ea typeface="楷体" pitchFamily="49" charset="-122"/>
                <a:cs typeface="Consolas" pitchFamily="49" charset="0"/>
              </a:rPr>
              <a:t>不成功情况下的平均查找长度</a:t>
            </a:r>
            <a:r>
              <a:rPr kumimoji="1" lang="en-US" altLang="zh-CN" sz="2000" dirty="0" err="1">
                <a:solidFill>
                  <a:srgbClr val="FF0000"/>
                </a:solidFill>
                <a:latin typeface="Consolas" pitchFamily="49" charset="0"/>
                <a:ea typeface="楷体" pitchFamily="49" charset="-122"/>
                <a:cs typeface="Consolas" pitchFamily="49" charset="0"/>
              </a:rPr>
              <a:t>ASL</a:t>
            </a:r>
            <a:r>
              <a:rPr kumimoji="1" lang="zh-CN" altLang="en-US" sz="2000" baseline="-25000" dirty="0">
                <a:solidFill>
                  <a:srgbClr val="FF0000"/>
                </a:solidFill>
                <a:latin typeface="Consolas" pitchFamily="49" charset="0"/>
                <a:ea typeface="楷体" pitchFamily="49" charset="-122"/>
                <a:cs typeface="Consolas" pitchFamily="49" charset="0"/>
              </a:rPr>
              <a:t>不成功</a:t>
            </a:r>
            <a:r>
              <a:rPr kumimoji="1" lang="zh-CN" altLang="en-US" sz="2000" dirty="0">
                <a:latin typeface="Consolas" pitchFamily="49" charset="0"/>
                <a:ea typeface="楷体" pitchFamily="49" charset="-122"/>
                <a:cs typeface="Consolas" pitchFamily="49" charset="0"/>
              </a:rPr>
              <a:t>是指</a:t>
            </a:r>
            <a:r>
              <a:rPr kumimoji="1" lang="zh-CN" altLang="en-US" sz="2000" dirty="0">
                <a:solidFill>
                  <a:srgbClr val="C00000"/>
                </a:solidFill>
                <a:latin typeface="Consolas" pitchFamily="49" charset="0"/>
                <a:ea typeface="楷体" pitchFamily="49" charset="-122"/>
                <a:cs typeface="Consolas" pitchFamily="49" charset="0"/>
              </a:rPr>
              <a:t>查找失败（在</a:t>
            </a:r>
            <a:r>
              <a:rPr kumimoji="1" lang="en-US" altLang="zh-CN" sz="2000" dirty="0">
                <a:solidFill>
                  <a:srgbClr val="C00000"/>
                </a:solidFill>
                <a:latin typeface="Consolas" pitchFamily="49" charset="0"/>
                <a:ea typeface="楷体" pitchFamily="49" charset="-122"/>
                <a:cs typeface="Consolas" pitchFamily="49" charset="0"/>
              </a:rPr>
              <a:t>T</a:t>
            </a:r>
            <a:r>
              <a:rPr kumimoji="1" lang="zh-CN" altLang="en-US" sz="2000" dirty="0">
                <a:solidFill>
                  <a:srgbClr val="C00000"/>
                </a:solidFill>
                <a:latin typeface="Consolas" pitchFamily="49" charset="0"/>
                <a:ea typeface="楷体" pitchFamily="49" charset="-122"/>
                <a:cs typeface="Consolas" pitchFamily="49" charset="0"/>
              </a:rPr>
              <a:t>中未查找到）平均需要的关键字比较次数</a:t>
            </a:r>
            <a:r>
              <a:rPr kumimoji="1" lang="zh-CN" altLang="en-US" sz="2000" dirty="0">
                <a:latin typeface="Consolas" pitchFamily="49" charset="0"/>
                <a:ea typeface="楷体" pitchFamily="49" charset="-122"/>
                <a:cs typeface="Consolas" pitchFamily="49" charset="0"/>
              </a:rPr>
              <a:t>。</a:t>
            </a:r>
          </a:p>
        </p:txBody>
      </p:sp>
      <p:grpSp>
        <p:nvGrpSpPr>
          <p:cNvPr id="7" name="组合 6">
            <a:extLst>
              <a:ext uri="{FF2B5EF4-FFF2-40B4-BE49-F238E27FC236}">
                <a16:creationId xmlns:a16="http://schemas.microsoft.com/office/drawing/2014/main" id="{83C7F245-1A90-D9EE-39E3-BDB6733B3BFE}"/>
              </a:ext>
            </a:extLst>
          </p:cNvPr>
          <p:cNvGrpSpPr/>
          <p:nvPr/>
        </p:nvGrpSpPr>
        <p:grpSpPr>
          <a:xfrm>
            <a:off x="767408" y="4541341"/>
            <a:ext cx="3024336" cy="1831982"/>
            <a:chOff x="2000232" y="1785926"/>
            <a:chExt cx="3024336" cy="1436722"/>
          </a:xfrm>
        </p:grpSpPr>
        <p:sp>
          <p:nvSpPr>
            <p:cNvPr id="10" name="TextBox 3">
              <a:extLst>
                <a:ext uri="{FF2B5EF4-FFF2-40B4-BE49-F238E27FC236}">
                  <a16:creationId xmlns:a16="http://schemas.microsoft.com/office/drawing/2014/main" id="{E469D485-6D2F-2787-9CA3-2A43D5EFB40F}"/>
                </a:ext>
              </a:extLst>
            </p:cNvPr>
            <p:cNvSpPr txBox="1"/>
            <p:nvPr/>
          </p:nvSpPr>
          <p:spPr>
            <a:xfrm>
              <a:off x="2357422" y="1785926"/>
              <a:ext cx="2000264" cy="400110"/>
            </a:xfrm>
            <a:prstGeom prst="rect">
              <a:avLst/>
            </a:prstGeom>
            <a:noFill/>
          </p:spPr>
          <p:txBody>
            <a:bodyPr wrap="square" rtlCol="0">
              <a:spAutoFit/>
            </a:bodyPr>
            <a:lstStyle/>
            <a:p>
              <a:r>
                <a:rPr lang="en-US" altLang="zh-CN" sz="2000">
                  <a:latin typeface="Consolas" pitchFamily="49" charset="0"/>
                  <a:cs typeface="Consolas" pitchFamily="49" charset="0"/>
                  <a:sym typeface="Symbol"/>
                </a:rPr>
                <a:t></a:t>
              </a:r>
              <a:r>
                <a:rPr lang="en-US" altLang="zh-CN" sz="2000" i="1">
                  <a:latin typeface="Consolas" pitchFamily="49" charset="0"/>
                  <a:cs typeface="Consolas" pitchFamily="49" charset="0"/>
                </a:rPr>
                <a:t>x </a:t>
              </a:r>
              <a:r>
                <a:rPr lang="zh-CN" altLang="en-US" sz="2000">
                  <a:latin typeface="Consolas" pitchFamily="49" charset="0"/>
                  <a:cs typeface="Consolas" pitchFamily="49" charset="0"/>
                  <a:sym typeface="Symbol"/>
                </a:rPr>
                <a:t> </a:t>
              </a:r>
              <a:r>
                <a:rPr lang="en-US" altLang="zh-CN" sz="2000">
                  <a:latin typeface="Consolas" pitchFamily="49" charset="0"/>
                  <a:cs typeface="Consolas" pitchFamily="49" charset="0"/>
                  <a:sym typeface="Symbol"/>
                </a:rPr>
                <a:t>T</a:t>
              </a:r>
              <a:endParaRPr lang="zh-CN" altLang="en-US" sz="2000">
                <a:latin typeface="Consolas" pitchFamily="49" charset="0"/>
                <a:cs typeface="Consolas" pitchFamily="49" charset="0"/>
              </a:endParaRPr>
            </a:p>
          </p:txBody>
        </p:sp>
        <p:sp>
          <p:nvSpPr>
            <p:cNvPr id="19" name="TextBox 4">
              <a:extLst>
                <a:ext uri="{FF2B5EF4-FFF2-40B4-BE49-F238E27FC236}">
                  <a16:creationId xmlns:a16="http://schemas.microsoft.com/office/drawing/2014/main" id="{A8855BF8-6877-C5FA-797B-1D132FFFDA18}"/>
                </a:ext>
              </a:extLst>
            </p:cNvPr>
            <p:cNvSpPr txBox="1"/>
            <p:nvPr/>
          </p:nvSpPr>
          <p:spPr>
            <a:xfrm>
              <a:off x="3143240" y="2287514"/>
              <a:ext cx="1881328" cy="646331"/>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通过关键字比较后确定不在</a:t>
              </a:r>
              <a:r>
                <a:rPr lang="en-US" altLang="zh-CN" sz="1800" dirty="0">
                  <a:latin typeface="Consolas" pitchFamily="49" charset="0"/>
                  <a:ea typeface="仿宋" pitchFamily="49" charset="-122"/>
                  <a:cs typeface="Consolas" pitchFamily="49" charset="0"/>
                </a:rPr>
                <a:t>T</a:t>
              </a:r>
              <a:r>
                <a:rPr lang="zh-CN" altLang="en-US" sz="1800" dirty="0">
                  <a:latin typeface="Consolas" pitchFamily="49" charset="0"/>
                  <a:ea typeface="仿宋" pitchFamily="49" charset="-122"/>
                  <a:cs typeface="Consolas" pitchFamily="49" charset="0"/>
                </a:rPr>
                <a:t>中</a:t>
              </a:r>
            </a:p>
          </p:txBody>
        </p:sp>
        <p:sp>
          <p:nvSpPr>
            <p:cNvPr id="20" name="TextBox 5">
              <a:extLst>
                <a:ext uri="{FF2B5EF4-FFF2-40B4-BE49-F238E27FC236}">
                  <a16:creationId xmlns:a16="http://schemas.microsoft.com/office/drawing/2014/main" id="{086875EA-3C03-07F9-296C-0601E98554FB}"/>
                </a:ext>
              </a:extLst>
            </p:cNvPr>
            <p:cNvSpPr txBox="1"/>
            <p:nvPr/>
          </p:nvSpPr>
          <p:spPr>
            <a:xfrm>
              <a:off x="2000232" y="2822538"/>
              <a:ext cx="2571768" cy="400110"/>
            </a:xfrm>
            <a:prstGeom prst="rect">
              <a:avLst/>
            </a:prstGeom>
            <a:noFill/>
          </p:spPr>
          <p:txBody>
            <a:bodyPr wrap="square" rtlCol="0">
              <a:spAutoFit/>
            </a:bodyPr>
            <a:lstStyle/>
            <a:p>
              <a:r>
                <a:rPr kumimoji="1" lang="zh-CN" altLang="en-US" sz="2000" dirty="0">
                  <a:latin typeface="Consolas" pitchFamily="49" charset="0"/>
                  <a:ea typeface="楷体" pitchFamily="49" charset="-122"/>
                  <a:cs typeface="Consolas" pitchFamily="49" charset="0"/>
                </a:rPr>
                <a:t>平均关键字比较次数</a:t>
              </a:r>
              <a:endParaRPr lang="zh-CN" altLang="en-US" sz="2000" dirty="0">
                <a:latin typeface="Consolas" pitchFamily="49" charset="0"/>
                <a:cs typeface="Consolas" pitchFamily="49" charset="0"/>
              </a:endParaRPr>
            </a:p>
          </p:txBody>
        </p:sp>
        <p:sp>
          <p:nvSpPr>
            <p:cNvPr id="21" name="下箭头 6">
              <a:extLst>
                <a:ext uri="{FF2B5EF4-FFF2-40B4-BE49-F238E27FC236}">
                  <a16:creationId xmlns:a16="http://schemas.microsoft.com/office/drawing/2014/main" id="{E6FC2E23-8FF9-1456-3823-BF52E0375887}"/>
                </a:ext>
              </a:extLst>
            </p:cNvPr>
            <p:cNvSpPr/>
            <p:nvPr/>
          </p:nvSpPr>
          <p:spPr>
            <a:xfrm>
              <a:off x="2857488" y="2251034"/>
              <a:ext cx="214314" cy="4680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2000"/>
            </a:p>
          </p:txBody>
        </p:sp>
      </p:grpSp>
      <p:graphicFrame>
        <p:nvGraphicFramePr>
          <p:cNvPr id="22" name="表格 21">
            <a:extLst>
              <a:ext uri="{FF2B5EF4-FFF2-40B4-BE49-F238E27FC236}">
                <a16:creationId xmlns:a16="http://schemas.microsoft.com/office/drawing/2014/main" id="{792CDAC7-9ADF-BE4C-043E-C0544BA65115}"/>
              </a:ext>
            </a:extLst>
          </p:cNvPr>
          <p:cNvGraphicFramePr>
            <a:graphicFrameLocks noGrp="1"/>
          </p:cNvGraphicFramePr>
          <p:nvPr>
            <p:extLst>
              <p:ext uri="{D42A27DB-BD31-4B8C-83A1-F6EECF244321}">
                <p14:modId xmlns:p14="http://schemas.microsoft.com/office/powerpoint/2010/main" val="3737125989"/>
              </p:ext>
            </p:extLst>
          </p:nvPr>
        </p:nvGraphicFramePr>
        <p:xfrm>
          <a:off x="4021825" y="4866084"/>
          <a:ext cx="7643869" cy="1010920"/>
        </p:xfrm>
        <a:graphic>
          <a:graphicData uri="http://schemas.openxmlformats.org/drawingml/2006/table">
            <a:tbl>
              <a:tblPr firstRow="1" bandRow="1">
                <a:tableStyleId>{16D9F66E-5EB9-4882-86FB-DCBF35E3C3E4}</a:tableStyleId>
              </a:tblPr>
              <a:tblGrid>
                <a:gridCol w="1500198">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14380">
                  <a:extLst>
                    <a:ext uri="{9D8B030D-6E8A-4147-A177-3AD203B41FA5}">
                      <a16:colId xmlns:a16="http://schemas.microsoft.com/office/drawing/2014/main" val="20004"/>
                    </a:ext>
                  </a:extLst>
                </a:gridCol>
                <a:gridCol w="714380">
                  <a:extLst>
                    <a:ext uri="{9D8B030D-6E8A-4147-A177-3AD203B41FA5}">
                      <a16:colId xmlns:a16="http://schemas.microsoft.com/office/drawing/2014/main" val="20005"/>
                    </a:ext>
                  </a:extLst>
                </a:gridCol>
                <a:gridCol w="642942">
                  <a:extLst>
                    <a:ext uri="{9D8B030D-6E8A-4147-A177-3AD203B41FA5}">
                      <a16:colId xmlns:a16="http://schemas.microsoft.com/office/drawing/2014/main" val="20006"/>
                    </a:ext>
                  </a:extLst>
                </a:gridCol>
                <a:gridCol w="642942">
                  <a:extLst>
                    <a:ext uri="{9D8B030D-6E8A-4147-A177-3AD203B41FA5}">
                      <a16:colId xmlns:a16="http://schemas.microsoft.com/office/drawing/2014/main" val="20007"/>
                    </a:ext>
                  </a:extLst>
                </a:gridCol>
                <a:gridCol w="642942">
                  <a:extLst>
                    <a:ext uri="{9D8B030D-6E8A-4147-A177-3AD203B41FA5}">
                      <a16:colId xmlns:a16="http://schemas.microsoft.com/office/drawing/2014/main" val="20008"/>
                    </a:ext>
                  </a:extLst>
                </a:gridCol>
                <a:gridCol w="642945">
                  <a:extLst>
                    <a:ext uri="{9D8B030D-6E8A-4147-A177-3AD203B41FA5}">
                      <a16:colId xmlns:a16="http://schemas.microsoft.com/office/drawing/2014/main" val="20009"/>
                    </a:ext>
                  </a:extLst>
                </a:gridCol>
              </a:tblGrid>
              <a:tr h="370840">
                <a:tc>
                  <a:txBody>
                    <a:bodyPr/>
                    <a:lstStyle/>
                    <a:p>
                      <a:pPr algn="ctr"/>
                      <a:r>
                        <a:rPr lang="zh-CN" altLang="en-US" sz="1800" b="1">
                          <a:solidFill>
                            <a:srgbClr val="FF0000"/>
                          </a:solidFill>
                          <a:latin typeface="Consolas" pitchFamily="49" charset="0"/>
                          <a:ea typeface="仿宋" pitchFamily="49" charset="-122"/>
                          <a:cs typeface="Consolas" pitchFamily="49" charset="0"/>
                        </a:rPr>
                        <a:t>关键字</a:t>
                      </a: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5</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1</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dirty="0">
                          <a:solidFill>
                            <a:srgbClr val="FF0000"/>
                          </a:solidFill>
                          <a:latin typeface="Consolas" pitchFamily="49" charset="0"/>
                          <a:ea typeface="仿宋" pitchFamily="49" charset="-122"/>
                          <a:cs typeface="Consolas" pitchFamily="49" charset="0"/>
                        </a:rPr>
                        <a:t>4</a:t>
                      </a:r>
                      <a:endParaRPr lang="zh-CN" altLang="en-US" sz="1800" b="1" dirty="0">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8</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7</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9</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2</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4</a:t>
                      </a:r>
                      <a:endParaRPr lang="zh-CN" altLang="en-US" sz="1800" b="1">
                        <a:solidFill>
                          <a:srgbClr val="FF0000"/>
                        </a:solidFill>
                        <a:latin typeface="Consolas" pitchFamily="49" charset="0"/>
                        <a:ea typeface="仿宋" pitchFamily="49" charset="-122"/>
                        <a:cs typeface="Consolas" pitchFamily="49" charset="0"/>
                      </a:endParaRPr>
                    </a:p>
                  </a:txBody>
                  <a:tcPr/>
                </a:tc>
                <a:tc>
                  <a:txBody>
                    <a:bodyPr/>
                    <a:lstStyle/>
                    <a:p>
                      <a:pPr algn="ctr"/>
                      <a:r>
                        <a:rPr lang="en-US" altLang="zh-CN" sz="1800" b="1">
                          <a:solidFill>
                            <a:srgbClr val="FF0000"/>
                          </a:solidFill>
                          <a:latin typeface="Consolas" pitchFamily="49" charset="0"/>
                          <a:ea typeface="仿宋" pitchFamily="49" charset="-122"/>
                          <a:cs typeface="Consolas" pitchFamily="49" charset="0"/>
                        </a:rPr>
                        <a:t>3</a:t>
                      </a:r>
                      <a:endParaRPr lang="zh-CN" altLang="en-US" sz="1800" b="1">
                        <a:solidFill>
                          <a:srgbClr val="FF0000"/>
                        </a:solidFill>
                        <a:latin typeface="Consolas" pitchFamily="49" charset="0"/>
                        <a:ea typeface="仿宋" pitchFamily="49" charset="-122"/>
                        <a:cs typeface="Consolas" pitchFamily="49" charset="0"/>
                      </a:endParaRPr>
                    </a:p>
                  </a:txBody>
                  <a:tcPr/>
                </a:tc>
                <a:extLst>
                  <a:ext uri="{0D108BD9-81ED-4DB2-BD59-A6C34878D82A}">
                    <a16:rowId xmlns:a16="http://schemas.microsoft.com/office/drawing/2014/main" val="10000"/>
                  </a:ext>
                </a:extLst>
              </a:tr>
              <a:tr h="370840">
                <a:tc>
                  <a:txBody>
                    <a:bodyPr/>
                    <a:lstStyle/>
                    <a:p>
                      <a:pPr algn="ctr"/>
                      <a:r>
                        <a:rPr lang="zh-CN" altLang="en-US" sz="1800" b="1">
                          <a:solidFill>
                            <a:srgbClr val="3333FF"/>
                          </a:solidFill>
                          <a:latin typeface="Consolas" pitchFamily="49" charset="0"/>
                          <a:ea typeface="仿宋" pitchFamily="49" charset="-122"/>
                          <a:cs typeface="Consolas" pitchFamily="49" charset="0"/>
                        </a:rPr>
                        <a:t>找到时的比较次数</a:t>
                      </a: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1</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2</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3</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4</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5</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6</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7</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a:solidFill>
                            <a:srgbClr val="3333FF"/>
                          </a:solidFill>
                          <a:latin typeface="Consolas" pitchFamily="49" charset="0"/>
                          <a:ea typeface="仿宋" pitchFamily="49" charset="-122"/>
                          <a:cs typeface="Consolas" pitchFamily="49" charset="0"/>
                        </a:rPr>
                        <a:t>8</a:t>
                      </a:r>
                      <a:endParaRPr lang="zh-CN" altLang="en-US" sz="1800" b="1">
                        <a:solidFill>
                          <a:srgbClr val="3333FF"/>
                        </a:solidFill>
                        <a:latin typeface="Consolas" pitchFamily="49" charset="0"/>
                        <a:ea typeface="仿宋" pitchFamily="49" charset="-122"/>
                        <a:cs typeface="Consolas" pitchFamily="49" charset="0"/>
                      </a:endParaRPr>
                    </a:p>
                  </a:txBody>
                  <a:tcPr/>
                </a:tc>
                <a:tc>
                  <a:txBody>
                    <a:bodyPr/>
                    <a:lstStyle/>
                    <a:p>
                      <a:pPr algn="ctr">
                        <a:lnSpc>
                          <a:spcPct val="150000"/>
                        </a:lnSpc>
                      </a:pPr>
                      <a:r>
                        <a:rPr lang="en-US" altLang="zh-CN" sz="1800" b="1" dirty="0">
                          <a:solidFill>
                            <a:srgbClr val="3333FF"/>
                          </a:solidFill>
                          <a:latin typeface="Consolas" pitchFamily="49" charset="0"/>
                          <a:ea typeface="仿宋" pitchFamily="49" charset="-122"/>
                          <a:cs typeface="Consolas" pitchFamily="49" charset="0"/>
                        </a:rPr>
                        <a:t>9</a:t>
                      </a:r>
                      <a:endParaRPr lang="zh-CN" altLang="en-US" sz="1800" b="1" dirty="0">
                        <a:solidFill>
                          <a:srgbClr val="3333FF"/>
                        </a:solidFill>
                        <a:latin typeface="Consolas" pitchFamily="49" charset="0"/>
                        <a:ea typeface="仿宋" pitchFamily="49" charset="-122"/>
                        <a:cs typeface="Consolas" pitchFamily="49" charset="0"/>
                      </a:endParaRPr>
                    </a:p>
                  </a:txBody>
                  <a:tcPr/>
                </a:tc>
                <a:extLst>
                  <a:ext uri="{0D108BD9-81ED-4DB2-BD59-A6C34878D82A}">
                    <a16:rowId xmlns:a16="http://schemas.microsoft.com/office/drawing/2014/main" val="10001"/>
                  </a:ext>
                </a:extLst>
              </a:tr>
            </a:tbl>
          </a:graphicData>
        </a:graphic>
      </p:graphicFrame>
      <p:sp>
        <p:nvSpPr>
          <p:cNvPr id="23" name="TextBox 10">
            <a:extLst>
              <a:ext uri="{FF2B5EF4-FFF2-40B4-BE49-F238E27FC236}">
                <a16:creationId xmlns:a16="http://schemas.microsoft.com/office/drawing/2014/main" id="{4C80717A-8C6F-6A88-C6DA-2F95F0688A17}"/>
              </a:ext>
            </a:extLst>
          </p:cNvPr>
          <p:cNvSpPr txBox="1"/>
          <p:nvPr/>
        </p:nvSpPr>
        <p:spPr>
          <a:xfrm>
            <a:off x="5005412" y="4472142"/>
            <a:ext cx="1714512" cy="400110"/>
          </a:xfrm>
          <a:prstGeom prst="rect">
            <a:avLst/>
          </a:prstGeom>
          <a:noFill/>
        </p:spPr>
        <p:txBody>
          <a:bodyPr wrap="square" rtlCol="0">
            <a:spAutoFit/>
          </a:bodyPr>
          <a:lstStyle/>
          <a:p>
            <a:r>
              <a:rPr lang="zh-CN" altLang="en-US" sz="2000" dirty="0">
                <a:latin typeface="Consolas" pitchFamily="49" charset="0"/>
                <a:ea typeface="楷体" pitchFamily="49" charset="-122"/>
                <a:cs typeface="Consolas" pitchFamily="49" charset="0"/>
              </a:rPr>
              <a:t>例如，</a:t>
            </a:r>
            <a:r>
              <a:rPr lang="en-US" altLang="zh-CN" sz="2000" i="1" dirty="0">
                <a:latin typeface="Consolas" pitchFamily="49" charset="0"/>
                <a:ea typeface="楷体" pitchFamily="49" charset="-122"/>
                <a:cs typeface="Consolas" pitchFamily="49" charset="0"/>
              </a:rPr>
              <a:t>n</a:t>
            </a:r>
            <a:r>
              <a:rPr lang="en-US" altLang="zh-CN" sz="2000" dirty="0">
                <a:latin typeface="Consolas" pitchFamily="49" charset="0"/>
                <a:ea typeface="楷体" pitchFamily="49" charset="-122"/>
                <a:cs typeface="Consolas" pitchFamily="49" charset="0"/>
              </a:rPr>
              <a:t>=9</a:t>
            </a:r>
            <a:r>
              <a:rPr lang="zh-CN" altLang="en-US" sz="2000" dirty="0">
                <a:latin typeface="Consolas" pitchFamily="49" charset="0"/>
                <a:ea typeface="楷体" pitchFamily="49" charset="-122"/>
                <a:cs typeface="Consolas" pitchFamily="49" charset="0"/>
              </a:rPr>
              <a:t>：</a:t>
            </a:r>
          </a:p>
        </p:txBody>
      </p:sp>
      <p:sp>
        <p:nvSpPr>
          <p:cNvPr id="24" name="TextBox 11">
            <a:extLst>
              <a:ext uri="{FF2B5EF4-FFF2-40B4-BE49-F238E27FC236}">
                <a16:creationId xmlns:a16="http://schemas.microsoft.com/office/drawing/2014/main" id="{6CF83A70-66F5-A100-82FB-33F2C60D58F6}"/>
              </a:ext>
            </a:extLst>
          </p:cNvPr>
          <p:cNvSpPr txBox="1"/>
          <p:nvPr/>
        </p:nvSpPr>
        <p:spPr>
          <a:xfrm>
            <a:off x="3917141" y="6050018"/>
            <a:ext cx="4357718" cy="400110"/>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按顺序查找，</a:t>
            </a:r>
            <a:r>
              <a:rPr kumimoji="1" lang="en-US" altLang="zh-CN" sz="2000" dirty="0">
                <a:solidFill>
                  <a:srgbClr val="FF0000"/>
                </a:solidFill>
                <a:latin typeface="Consolas" pitchFamily="49" charset="0"/>
                <a:ea typeface="仿宋" pitchFamily="49" charset="-122"/>
                <a:cs typeface="Consolas" pitchFamily="49" charset="0"/>
              </a:rPr>
              <a:t> ASL</a:t>
            </a:r>
            <a:r>
              <a:rPr kumimoji="1" lang="zh-CN" altLang="en-US" sz="2000" baseline="-25000" dirty="0">
                <a:solidFill>
                  <a:srgbClr val="FF0000"/>
                </a:solidFill>
                <a:latin typeface="Consolas" pitchFamily="49" charset="0"/>
                <a:ea typeface="仿宋" pitchFamily="49" charset="-122"/>
                <a:cs typeface="Consolas" pitchFamily="49" charset="0"/>
              </a:rPr>
              <a:t>不成功</a:t>
            </a:r>
            <a:r>
              <a:rPr kumimoji="1" lang="en-US" altLang="zh-CN"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n</a:t>
            </a:r>
            <a:r>
              <a:rPr kumimoji="1" lang="en-US" altLang="zh-CN" sz="2000" dirty="0">
                <a:latin typeface="Consolas" pitchFamily="49" charset="0"/>
                <a:ea typeface="仿宋" pitchFamily="49" charset="-122"/>
                <a:cs typeface="Consolas" pitchFamily="49" charset="0"/>
              </a:rPr>
              <a:t>=9</a:t>
            </a:r>
            <a:endParaRPr lang="zh-CN" altLang="en-US" sz="20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57885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ED3A2-55BA-4882-6907-434E8712EB4D}"/>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3D8297DF-EA17-610E-898D-C6BA22921DC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cxnSp>
        <p:nvCxnSpPr>
          <p:cNvPr id="11" name="直接连接符 10">
            <a:extLst>
              <a:ext uri="{FF2B5EF4-FFF2-40B4-BE49-F238E27FC236}">
                <a16:creationId xmlns:a16="http://schemas.microsoft.com/office/drawing/2014/main" id="{A23326F5-1DD8-8BE7-0935-BED30A7332D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Text Box 2">
            <a:extLst>
              <a:ext uri="{FF2B5EF4-FFF2-40B4-BE49-F238E27FC236}">
                <a16:creationId xmlns:a16="http://schemas.microsoft.com/office/drawing/2014/main" id="{5AD1BD56-019C-8125-874B-B55CBFD63185}"/>
              </a:ext>
            </a:extLst>
          </p:cNvPr>
          <p:cNvSpPr txBox="1">
            <a:spLocks noChangeArrowheads="1"/>
          </p:cNvSpPr>
          <p:nvPr/>
        </p:nvSpPr>
        <p:spPr bwMode="auto">
          <a:xfrm>
            <a:off x="1287131" y="1261103"/>
            <a:ext cx="3643338" cy="400110"/>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spcBef>
                <a:spcPct val="50000"/>
              </a:spcBef>
            </a:pPr>
            <a:r>
              <a:rPr kumimoji="1" lang="en-US" altLang="zh-CN" sz="2000" dirty="0">
                <a:solidFill>
                  <a:srgbClr val="C00000"/>
                </a:solidFill>
                <a:latin typeface="Consolas" pitchFamily="49" charset="0"/>
                <a:ea typeface="华文中宋" pitchFamily="2" charset="-122"/>
                <a:cs typeface="Consolas" pitchFamily="49" charset="0"/>
              </a:rPr>
              <a:t>1</a:t>
            </a:r>
            <a:r>
              <a:rPr kumimoji="1" lang="zh-CN" altLang="en-US" sz="2000" dirty="0">
                <a:solidFill>
                  <a:srgbClr val="C00000"/>
                </a:solidFill>
                <a:latin typeface="Consolas" pitchFamily="49" charset="0"/>
                <a:ea typeface="华文中宋" pitchFamily="2" charset="-122"/>
                <a:cs typeface="Consolas" pitchFamily="49" charset="0"/>
              </a:rPr>
              <a:t>、线性表查找的主要方法</a:t>
            </a:r>
          </a:p>
        </p:txBody>
      </p:sp>
      <p:sp>
        <p:nvSpPr>
          <p:cNvPr id="7" name="TextBox 6">
            <a:extLst>
              <a:ext uri="{FF2B5EF4-FFF2-40B4-BE49-F238E27FC236}">
                <a16:creationId xmlns:a16="http://schemas.microsoft.com/office/drawing/2014/main" id="{B4676B8A-C7DB-178A-C856-719294A2054C}"/>
              </a:ext>
            </a:extLst>
          </p:cNvPr>
          <p:cNvSpPr txBox="1"/>
          <p:nvPr/>
        </p:nvSpPr>
        <p:spPr>
          <a:xfrm>
            <a:off x="5214942" y="1228211"/>
            <a:ext cx="1857388" cy="16953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nSpc>
                <a:spcPct val="150000"/>
              </a:lnSpc>
              <a:spcBef>
                <a:spcPct val="50000"/>
              </a:spcBef>
              <a:buBlip>
                <a:blip r:embed="rId2"/>
              </a:buBlip>
            </a:pPr>
            <a:r>
              <a:rPr kumimoji="1" lang="zh-CN" altLang="en-US" sz="2000">
                <a:solidFill>
                  <a:srgbClr val="0000FF"/>
                </a:solidFill>
                <a:latin typeface="Consolas" pitchFamily="49" charset="0"/>
                <a:ea typeface="仿宋" pitchFamily="49" charset="-122"/>
                <a:cs typeface="Consolas" pitchFamily="49" charset="0"/>
              </a:rPr>
              <a:t>顺序查找</a:t>
            </a:r>
          </a:p>
          <a:p>
            <a:pPr marL="342900" indent="-342900">
              <a:lnSpc>
                <a:spcPct val="120000"/>
              </a:lnSpc>
              <a:spcBef>
                <a:spcPct val="50000"/>
              </a:spcBef>
              <a:buBlip>
                <a:blip r:embed="rId2"/>
              </a:buBlip>
            </a:pPr>
            <a:r>
              <a:rPr kumimoji="1" lang="zh-CN" altLang="en-US" sz="2000">
                <a:solidFill>
                  <a:srgbClr val="0000FF"/>
                </a:solidFill>
                <a:latin typeface="Consolas" pitchFamily="49" charset="0"/>
                <a:ea typeface="仿宋" pitchFamily="49" charset="-122"/>
                <a:cs typeface="Consolas" pitchFamily="49" charset="0"/>
              </a:rPr>
              <a:t>二分查找</a:t>
            </a:r>
          </a:p>
          <a:p>
            <a:pPr marL="342900" indent="-342900">
              <a:lnSpc>
                <a:spcPct val="120000"/>
              </a:lnSpc>
              <a:spcBef>
                <a:spcPct val="50000"/>
              </a:spcBef>
              <a:buBlip>
                <a:blip r:embed="rId2"/>
              </a:buBlip>
            </a:pPr>
            <a:r>
              <a:rPr kumimoji="1" lang="zh-CN" altLang="en-US" sz="2000">
                <a:solidFill>
                  <a:srgbClr val="0000FF"/>
                </a:solidFill>
                <a:latin typeface="Consolas" pitchFamily="49" charset="0"/>
                <a:ea typeface="仿宋" pitchFamily="49" charset="-122"/>
                <a:cs typeface="Consolas" pitchFamily="49" charset="0"/>
              </a:rPr>
              <a:t>分块查找</a:t>
            </a:r>
            <a:endParaRPr lang="zh-CN" altLang="en-US" sz="2000">
              <a:solidFill>
                <a:srgbClr val="0000FF"/>
              </a:solidFill>
              <a:latin typeface="Consolas" pitchFamily="49" charset="0"/>
              <a:ea typeface="仿宋" pitchFamily="49" charset="-122"/>
              <a:cs typeface="Consolas" pitchFamily="49" charset="0"/>
            </a:endParaRPr>
          </a:p>
        </p:txBody>
      </p:sp>
      <p:sp>
        <p:nvSpPr>
          <p:cNvPr id="10" name="Text Box 1026">
            <a:extLst>
              <a:ext uri="{FF2B5EF4-FFF2-40B4-BE49-F238E27FC236}">
                <a16:creationId xmlns:a16="http://schemas.microsoft.com/office/drawing/2014/main" id="{30291814-DE98-5029-4D28-5F2E49D771A4}"/>
              </a:ext>
            </a:extLst>
          </p:cNvPr>
          <p:cNvSpPr txBox="1">
            <a:spLocks noChangeArrowheads="1"/>
          </p:cNvSpPr>
          <p:nvPr/>
        </p:nvSpPr>
        <p:spPr bwMode="auto">
          <a:xfrm>
            <a:off x="1770527" y="4431956"/>
            <a:ext cx="7674002" cy="2035324"/>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rIns="144000" bIns="180000">
            <a:spAutoFit/>
          </a:bodyPr>
          <a:lstStyle/>
          <a:p>
            <a:pPr algn="just">
              <a:lnSpc>
                <a:spcPts val="18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typedef int </a:t>
            </a:r>
            <a:r>
              <a:rPr kumimoji="1" lang="en-US" altLang="zh-CN" sz="1800" dirty="0" err="1">
                <a:solidFill>
                  <a:srgbClr val="3333FF"/>
                </a:solidFill>
                <a:latin typeface="Consolas" pitchFamily="49" charset="0"/>
                <a:ea typeface="仿宋" pitchFamily="49" charset="-122"/>
                <a:cs typeface="Consolas" pitchFamily="49" charset="0"/>
              </a:rPr>
              <a:t>KeyType</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指定关键字的数据类型为</a:t>
            </a:r>
            <a:r>
              <a:rPr kumimoji="1" lang="en-US" altLang="zh-CN" sz="1800" dirty="0">
                <a:solidFill>
                  <a:srgbClr val="00B0F0"/>
                </a:solidFill>
                <a:latin typeface="Consolas" pitchFamily="49" charset="0"/>
                <a:ea typeface="仿宋" pitchFamily="49" charset="-122"/>
                <a:cs typeface="Consolas" pitchFamily="49" charset="0"/>
              </a:rPr>
              <a:t>int</a:t>
            </a:r>
          </a:p>
          <a:p>
            <a:pPr algn="just">
              <a:lnSpc>
                <a:spcPts val="18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typedef struct </a:t>
            </a:r>
          </a:p>
          <a:p>
            <a:pPr algn="just">
              <a:lnSpc>
                <a:spcPts val="18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KeyType</a:t>
            </a:r>
            <a:r>
              <a:rPr kumimoji="1" lang="en-US" altLang="zh-CN" sz="1800" dirty="0">
                <a:solidFill>
                  <a:srgbClr val="3333FF"/>
                </a:solidFill>
                <a:latin typeface="Consolas" pitchFamily="49" charset="0"/>
                <a:ea typeface="仿宋" pitchFamily="49" charset="-122"/>
                <a:cs typeface="Consolas" pitchFamily="49" charset="0"/>
              </a:rPr>
              <a:t> key; 	  	</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dirty="0" err="1">
                <a:solidFill>
                  <a:srgbClr val="00B0F0"/>
                </a:solidFill>
                <a:latin typeface="Consolas" pitchFamily="49" charset="0"/>
                <a:ea typeface="仿宋" pitchFamily="49" charset="-122"/>
                <a:cs typeface="Consolas" pitchFamily="49" charset="0"/>
              </a:rPr>
              <a:t>KeyType</a:t>
            </a:r>
            <a:r>
              <a:rPr kumimoji="1" lang="zh-CN" altLang="en-US" sz="1800" dirty="0">
                <a:solidFill>
                  <a:srgbClr val="00B0F0"/>
                </a:solidFill>
                <a:latin typeface="Consolas" pitchFamily="49" charset="0"/>
                <a:ea typeface="仿宋" pitchFamily="49" charset="-122"/>
                <a:cs typeface="Consolas" pitchFamily="49" charset="0"/>
              </a:rPr>
              <a:t>为关键字的数据类型</a:t>
            </a:r>
          </a:p>
          <a:p>
            <a:pPr algn="just">
              <a:lnSpc>
                <a:spcPts val="1800"/>
              </a:lnSpc>
              <a:spcBef>
                <a:spcPct val="50000"/>
              </a:spcBef>
            </a:pPr>
            <a:r>
              <a:rPr kumimoji="1" lang="zh-CN" altLang="en-US"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InfoType</a:t>
            </a:r>
            <a:r>
              <a:rPr kumimoji="1" lang="en-US" altLang="zh-CN" sz="1800" dirty="0">
                <a:solidFill>
                  <a:srgbClr val="3333FF"/>
                </a:solidFill>
                <a:latin typeface="Consolas" pitchFamily="49" charset="0"/>
                <a:ea typeface="仿宋" pitchFamily="49" charset="-122"/>
                <a:cs typeface="Consolas" pitchFamily="49" charset="0"/>
              </a:rPr>
              <a:t> data;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其他数据项</a:t>
            </a:r>
          </a:p>
          <a:p>
            <a:pPr algn="just">
              <a:lnSpc>
                <a:spcPts val="18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RecType</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查找顺序表元素类型</a:t>
            </a:r>
            <a:endParaRPr kumimoji="1" lang="en-US" altLang="zh-CN" sz="1800" dirty="0">
              <a:solidFill>
                <a:srgbClr val="00B0F0"/>
              </a:solidFill>
              <a:latin typeface="Consolas" pitchFamily="49" charset="0"/>
              <a:ea typeface="仿宋" pitchFamily="49" charset="-122"/>
              <a:cs typeface="Consolas" pitchFamily="49" charset="0"/>
            </a:endParaRPr>
          </a:p>
        </p:txBody>
      </p:sp>
      <p:sp>
        <p:nvSpPr>
          <p:cNvPr id="19" name="Text Box 1027">
            <a:extLst>
              <a:ext uri="{FF2B5EF4-FFF2-40B4-BE49-F238E27FC236}">
                <a16:creationId xmlns:a16="http://schemas.microsoft.com/office/drawing/2014/main" id="{7AF593E9-A592-97FB-7E7D-3FAF2A8BE733}"/>
              </a:ext>
            </a:extLst>
          </p:cNvPr>
          <p:cNvSpPr txBox="1">
            <a:spLocks noChangeArrowheads="1"/>
          </p:cNvSpPr>
          <p:nvPr/>
        </p:nvSpPr>
        <p:spPr bwMode="auto">
          <a:xfrm>
            <a:off x="1770527" y="2997713"/>
            <a:ext cx="6319884" cy="914848"/>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a:spAutoFit/>
          </a:bodyPr>
          <a:lstStyle/>
          <a:p>
            <a:pPr marL="342900" indent="-342900" algn="just">
              <a:spcBef>
                <a:spcPct val="50000"/>
              </a:spcBef>
              <a:buBlip>
                <a:blip r:embed="rId3"/>
              </a:buBlip>
            </a:pPr>
            <a:r>
              <a:rPr kumimoji="1" lang="zh-CN" altLang="en-US" sz="2000">
                <a:latin typeface="Consolas" pitchFamily="49" charset="0"/>
                <a:ea typeface="仿宋" pitchFamily="49" charset="-122"/>
                <a:cs typeface="Consolas" pitchFamily="49" charset="0"/>
              </a:rPr>
              <a:t>线性表主要有</a:t>
            </a:r>
            <a:r>
              <a:rPr kumimoji="1" lang="zh-CN" altLang="en-US" sz="2000" dirty="0">
                <a:latin typeface="Consolas" pitchFamily="49" charset="0"/>
                <a:ea typeface="仿宋" pitchFamily="49" charset="-122"/>
                <a:cs typeface="Consolas" pitchFamily="49" charset="0"/>
              </a:rPr>
              <a:t>顺序和链式两种存储结</a:t>
            </a:r>
            <a:r>
              <a:rPr kumimoji="1" lang="zh-CN" altLang="en-US" sz="2000">
                <a:latin typeface="Consolas" pitchFamily="49" charset="0"/>
                <a:ea typeface="仿宋" pitchFamily="49" charset="-122"/>
                <a:cs typeface="Consolas" pitchFamily="49" charset="0"/>
              </a:rPr>
              <a:t>构。</a:t>
            </a:r>
            <a:endParaRPr kumimoji="1" lang="en-US" altLang="zh-CN" sz="2000">
              <a:latin typeface="Consolas" pitchFamily="49" charset="0"/>
              <a:ea typeface="仿宋" pitchFamily="49" charset="-122"/>
              <a:cs typeface="Consolas" pitchFamily="49" charset="0"/>
            </a:endParaRPr>
          </a:p>
          <a:p>
            <a:pPr marL="342900" indent="-342900" algn="just">
              <a:spcBef>
                <a:spcPct val="50000"/>
              </a:spcBef>
              <a:buBlip>
                <a:blip r:embed="rId3"/>
              </a:buBlip>
            </a:pPr>
            <a:r>
              <a:rPr kumimoji="1" lang="zh-CN" altLang="en-US" sz="2000">
                <a:latin typeface="Consolas" pitchFamily="49" charset="0"/>
                <a:ea typeface="仿宋" pitchFamily="49" charset="-122"/>
                <a:cs typeface="Consolas" pitchFamily="49" charset="0"/>
              </a:rPr>
              <a:t>这里以</a:t>
            </a:r>
            <a:r>
              <a:rPr kumimoji="1" lang="zh-CN" altLang="en-US" sz="2000" dirty="0">
                <a:latin typeface="Consolas" pitchFamily="49" charset="0"/>
                <a:ea typeface="仿宋" pitchFamily="49" charset="-122"/>
                <a:cs typeface="Consolas" pitchFamily="49" charset="0"/>
              </a:rPr>
              <a:t>顺序表作为存储</a:t>
            </a:r>
            <a:r>
              <a:rPr kumimoji="1" lang="zh-CN" altLang="en-US" sz="2000">
                <a:latin typeface="Consolas" pitchFamily="49" charset="0"/>
                <a:ea typeface="仿宋" pitchFamily="49" charset="-122"/>
                <a:cs typeface="Consolas" pitchFamily="49" charset="0"/>
              </a:rPr>
              <a:t>结构实现线性表的查找</a:t>
            </a:r>
            <a:r>
              <a:rPr kumimoji="1" lang="zh-CN" altLang="en-US" sz="2000" dirty="0">
                <a:latin typeface="Consolas" pitchFamily="49" charset="0"/>
                <a:ea typeface="仿宋" pitchFamily="49" charset="-122"/>
                <a:cs typeface="Consolas" pitchFamily="49" charset="0"/>
              </a:rPr>
              <a:t>算</a:t>
            </a:r>
            <a:r>
              <a:rPr kumimoji="1" lang="zh-CN" altLang="en-US" sz="2000">
                <a:latin typeface="Consolas" pitchFamily="49" charset="0"/>
                <a:ea typeface="仿宋" pitchFamily="49" charset="-122"/>
                <a:cs typeface="Consolas" pitchFamily="49" charset="0"/>
              </a:rPr>
              <a:t>法。</a:t>
            </a:r>
            <a:endParaRPr lang="zh-CN" altLang="en-US" sz="2000" dirty="0">
              <a:latin typeface="Consolas" pitchFamily="49" charset="0"/>
              <a:ea typeface="仿宋" pitchFamily="49" charset="-122"/>
              <a:cs typeface="Consolas" pitchFamily="49" charset="0"/>
            </a:endParaRPr>
          </a:p>
        </p:txBody>
      </p:sp>
      <p:sp>
        <p:nvSpPr>
          <p:cNvPr id="21" name="TextBox 3">
            <a:extLst>
              <a:ext uri="{FF2B5EF4-FFF2-40B4-BE49-F238E27FC236}">
                <a16:creationId xmlns:a16="http://schemas.microsoft.com/office/drawing/2014/main" id="{49AF84D5-5CFB-BFF1-2049-A38D1A2E3275}"/>
              </a:ext>
            </a:extLst>
          </p:cNvPr>
          <p:cNvSpPr txBox="1"/>
          <p:nvPr/>
        </p:nvSpPr>
        <p:spPr>
          <a:xfrm>
            <a:off x="4799856" y="4008517"/>
            <a:ext cx="1500198" cy="400110"/>
          </a:xfrm>
          <a:prstGeom prst="rect">
            <a:avLst/>
          </a:prstGeom>
          <a:noFill/>
        </p:spPr>
        <p:txBody>
          <a:bodyPr wrap="square" rtlCol="0">
            <a:spAutoFit/>
          </a:bodyPr>
          <a:lstStyle/>
          <a:p>
            <a:r>
              <a:rPr kumimoji="1" lang="zh-CN" altLang="en-US" sz="2000" dirty="0">
                <a:solidFill>
                  <a:srgbClr val="FF0000"/>
                </a:solidFill>
                <a:latin typeface="微软雅黑" pitchFamily="34" charset="-122"/>
                <a:ea typeface="微软雅黑" pitchFamily="34" charset="-122"/>
                <a:cs typeface="Times New Roman" pitchFamily="18" charset="0"/>
              </a:rPr>
              <a:t>静态查找表</a:t>
            </a:r>
            <a:endParaRPr lang="zh-CN" altLang="en-US" sz="2000" dirty="0">
              <a:solidFill>
                <a:srgbClr val="FF0000"/>
              </a:solidFill>
              <a:latin typeface="微软雅黑" pitchFamily="34" charset="-122"/>
              <a:ea typeface="微软雅黑" pitchFamily="34" charset="-122"/>
            </a:endParaRPr>
          </a:p>
        </p:txBody>
      </p:sp>
      <p:sp>
        <p:nvSpPr>
          <p:cNvPr id="23" name="Text Box 2">
            <a:extLst>
              <a:ext uri="{FF2B5EF4-FFF2-40B4-BE49-F238E27FC236}">
                <a16:creationId xmlns:a16="http://schemas.microsoft.com/office/drawing/2014/main" id="{A58037DB-4A6F-EE6F-5E0D-BA27D4B3AE83}"/>
              </a:ext>
            </a:extLst>
          </p:cNvPr>
          <p:cNvSpPr txBox="1">
            <a:spLocks noChangeArrowheads="1"/>
          </p:cNvSpPr>
          <p:nvPr/>
        </p:nvSpPr>
        <p:spPr bwMode="auto">
          <a:xfrm>
            <a:off x="1292623" y="2485727"/>
            <a:ext cx="3714776" cy="430887"/>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spcBef>
                <a:spcPct val="50000"/>
              </a:spcBef>
            </a:pPr>
            <a:r>
              <a:rPr kumimoji="1" lang="en-US" altLang="zh-CN" sz="2200" dirty="0">
                <a:solidFill>
                  <a:srgbClr val="C00000"/>
                </a:solidFill>
                <a:latin typeface="Consolas" pitchFamily="49" charset="0"/>
                <a:ea typeface="华文中宋" pitchFamily="2" charset="-122"/>
                <a:cs typeface="Consolas" pitchFamily="49" charset="0"/>
              </a:rPr>
              <a:t>2</a:t>
            </a:r>
            <a:r>
              <a:rPr kumimoji="1" lang="zh-CN" altLang="en-US" sz="2200" dirty="0">
                <a:solidFill>
                  <a:srgbClr val="C00000"/>
                </a:solidFill>
                <a:latin typeface="Consolas" pitchFamily="49" charset="0"/>
                <a:ea typeface="华文中宋" pitchFamily="2" charset="-122"/>
                <a:cs typeface="Consolas" pitchFamily="49" charset="0"/>
              </a:rPr>
              <a:t>、线性表查找的存储结构</a:t>
            </a:r>
          </a:p>
        </p:txBody>
      </p:sp>
      <p:sp>
        <p:nvSpPr>
          <p:cNvPr id="24" name="TextBox 9">
            <a:extLst>
              <a:ext uri="{FF2B5EF4-FFF2-40B4-BE49-F238E27FC236}">
                <a16:creationId xmlns:a16="http://schemas.microsoft.com/office/drawing/2014/main" id="{E63B0941-5CEF-6FD2-D2F6-C98973390D95}"/>
              </a:ext>
            </a:extLst>
          </p:cNvPr>
          <p:cNvSpPr txBox="1"/>
          <p:nvPr/>
        </p:nvSpPr>
        <p:spPr>
          <a:xfrm>
            <a:off x="1770527" y="4008517"/>
            <a:ext cx="3929090" cy="400110"/>
          </a:xfrm>
          <a:prstGeom prst="rect">
            <a:avLst/>
          </a:prstGeom>
          <a:noFill/>
        </p:spPr>
        <p:txBody>
          <a:bodyPr wrap="square" rtlCol="0">
            <a:spAutoFit/>
          </a:bodyPr>
          <a:lstStyle/>
          <a:p>
            <a:r>
              <a:rPr kumimoji="1" lang="zh-CN" altLang="en-US" sz="2000" dirty="0">
                <a:solidFill>
                  <a:srgbClr val="0000FF"/>
                </a:solidFill>
                <a:latin typeface="楷体" pitchFamily="49" charset="-122"/>
                <a:ea typeface="楷体" pitchFamily="49" charset="-122"/>
              </a:rPr>
              <a:t>顺序表元素类型声明如下：</a:t>
            </a:r>
            <a:endParaRPr lang="zh-CN" altLang="en-US" sz="2000" dirty="0">
              <a:solidFill>
                <a:srgbClr val="0000FF"/>
              </a:solidFill>
            </a:endParaRPr>
          </a:p>
        </p:txBody>
      </p:sp>
    </p:spTree>
    <p:extLst>
      <p:ext uri="{BB962C8B-B14F-4D97-AF65-F5344CB8AC3E}">
        <p14:creationId xmlns:p14="http://schemas.microsoft.com/office/powerpoint/2010/main" val="361487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6217-3DA7-3E4A-77BA-481C059EBC41}"/>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D356A5FA-E016-5697-DF39-0EAB108A54ED}"/>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F1C73C32-31C8-B48F-35CC-6A5F842DB382}"/>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1" name="直接连接符 10">
            <a:extLst>
              <a:ext uri="{FF2B5EF4-FFF2-40B4-BE49-F238E27FC236}">
                <a16:creationId xmlns:a16="http://schemas.microsoft.com/office/drawing/2014/main" id="{0DCFD963-2083-6321-8316-107AE16E3BA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5" name="Text Box 1026">
            <a:extLst>
              <a:ext uri="{FF2B5EF4-FFF2-40B4-BE49-F238E27FC236}">
                <a16:creationId xmlns:a16="http://schemas.microsoft.com/office/drawing/2014/main" id="{72EF1C0B-E5A3-0E14-A5BC-D5E57FCFB0D4}"/>
              </a:ext>
            </a:extLst>
          </p:cNvPr>
          <p:cNvSpPr txBox="1">
            <a:spLocks noChangeArrowheads="1"/>
          </p:cNvSpPr>
          <p:nvPr/>
        </p:nvSpPr>
        <p:spPr bwMode="auto">
          <a:xfrm>
            <a:off x="695400" y="1818345"/>
            <a:ext cx="8610600" cy="954107"/>
          </a:xfrm>
          <a:prstGeom prst="rect">
            <a:avLst/>
          </a:prstGeom>
          <a:noFill/>
          <a:ln w="9525">
            <a:noFill/>
            <a:miter lim="800000"/>
            <a:headEnd/>
            <a:tailEnd/>
          </a:ln>
          <a:effectLst/>
        </p:spPr>
        <p:txBody>
          <a:bodyPr>
            <a:spAutoFit/>
          </a:bodyPr>
          <a:lstStyle/>
          <a:p>
            <a:pPr algn="just">
              <a:lnSpc>
                <a:spcPct val="140000"/>
              </a:lnSpc>
              <a:spcBef>
                <a:spcPct val="50000"/>
              </a:spcBef>
            </a:pPr>
            <a:r>
              <a:rPr kumimoji="1" lang="zh-CN" altLang="en-US" sz="2000">
                <a:latin typeface="Consolas" pitchFamily="49" charset="0"/>
                <a:ea typeface="楷体" pitchFamily="49" charset="-122"/>
                <a:cs typeface="Consolas" pitchFamily="49" charset="0"/>
              </a:rPr>
              <a:t>    </a:t>
            </a:r>
            <a:r>
              <a:rPr kumimoji="1" lang="zh-CN" altLang="en-US" sz="2000">
                <a:solidFill>
                  <a:srgbClr val="FF0000"/>
                </a:solidFill>
                <a:latin typeface="微软雅黑" pitchFamily="34" charset="-122"/>
                <a:ea typeface="微软雅黑" pitchFamily="34" charset="-122"/>
                <a:cs typeface="Consolas" pitchFamily="49" charset="0"/>
              </a:rPr>
              <a:t>思路</a:t>
            </a:r>
            <a:r>
              <a:rPr kumimoji="1" lang="zh-CN" altLang="en-US" sz="2000" dirty="0">
                <a:solidFill>
                  <a:srgbClr val="FF0000"/>
                </a:solidFill>
                <a:latin typeface="微软雅黑" pitchFamily="34" charset="-122"/>
                <a:ea typeface="微软雅黑" pitchFamily="34" charset="-122"/>
                <a:cs typeface="Consolas" pitchFamily="49" charset="0"/>
              </a:rPr>
              <a:t>：</a:t>
            </a:r>
            <a:r>
              <a:rPr kumimoji="1" lang="zh-CN" altLang="en-US" sz="2000" dirty="0">
                <a:latin typeface="Consolas" pitchFamily="49" charset="0"/>
                <a:ea typeface="楷体" pitchFamily="49" charset="-122"/>
                <a:cs typeface="Consolas" pitchFamily="49" charset="0"/>
              </a:rPr>
              <a:t>从表的一端开始，顺序扫描线性表，依次将扫描到的关键字和给定值</a:t>
            </a:r>
            <a:r>
              <a:rPr kumimoji="1" lang="en-US" altLang="zh-CN" sz="2000" i="1">
                <a:solidFill>
                  <a:srgbClr val="CC00CC"/>
                </a:solidFill>
                <a:latin typeface="Consolas" pitchFamily="49" charset="0"/>
                <a:ea typeface="楷体" pitchFamily="49" charset="-122"/>
                <a:cs typeface="Consolas" pitchFamily="49" charset="0"/>
              </a:rPr>
              <a:t>k</a:t>
            </a:r>
            <a:r>
              <a:rPr kumimoji="1" lang="zh-CN" altLang="en-US" sz="2000">
                <a:latin typeface="Consolas" pitchFamily="49" charset="0"/>
                <a:ea typeface="楷体" pitchFamily="49" charset="-122"/>
                <a:cs typeface="Consolas" pitchFamily="49" charset="0"/>
              </a:rPr>
              <a:t>相比较：</a:t>
            </a:r>
            <a:endParaRPr kumimoji="1" lang="zh-CN" altLang="en-US" sz="2000" dirty="0">
              <a:latin typeface="Consolas" pitchFamily="49" charset="0"/>
              <a:ea typeface="楷体" pitchFamily="49" charset="-122"/>
              <a:cs typeface="Consolas" pitchFamily="49" charset="0"/>
            </a:endParaRPr>
          </a:p>
        </p:txBody>
      </p:sp>
      <p:sp>
        <p:nvSpPr>
          <p:cNvPr id="26" name="矩形 25">
            <a:extLst>
              <a:ext uri="{FF2B5EF4-FFF2-40B4-BE49-F238E27FC236}">
                <a16:creationId xmlns:a16="http://schemas.microsoft.com/office/drawing/2014/main" id="{C39CAD15-43DF-F4D6-344B-C91CA3F54B44}"/>
              </a:ext>
            </a:extLst>
          </p:cNvPr>
          <p:cNvSpPr/>
          <p:nvPr/>
        </p:nvSpPr>
        <p:spPr>
          <a:xfrm>
            <a:off x="2159054" y="3191528"/>
            <a:ext cx="514353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3333FF"/>
                </a:solidFill>
                <a:latin typeface="Consolas" pitchFamily="49" charset="0"/>
                <a:cs typeface="Consolas" pitchFamily="49" charset="0"/>
              </a:rPr>
              <a:t>R</a:t>
            </a:r>
            <a:r>
              <a:rPr lang="en-US" altLang="zh-CN" sz="1800">
                <a:solidFill>
                  <a:srgbClr val="3333FF"/>
                </a:solidFill>
                <a:latin typeface="Consolas" pitchFamily="49" charset="0"/>
                <a:cs typeface="Consolas" pitchFamily="49" charset="0"/>
              </a:rPr>
              <a:t>[0]   </a:t>
            </a:r>
            <a:r>
              <a:rPr lang="en-US" altLang="zh-CN" sz="1800" i="1">
                <a:solidFill>
                  <a:srgbClr val="3333FF"/>
                </a:solidFill>
                <a:latin typeface="Consolas" pitchFamily="49" charset="0"/>
                <a:cs typeface="Consolas" pitchFamily="49" charset="0"/>
              </a:rPr>
              <a:t>R</a:t>
            </a:r>
            <a:r>
              <a:rPr lang="en-US" altLang="zh-CN" sz="1800">
                <a:solidFill>
                  <a:srgbClr val="3333FF"/>
                </a:solidFill>
                <a:latin typeface="Consolas" pitchFamily="49" charset="0"/>
                <a:cs typeface="Consolas" pitchFamily="49" charset="0"/>
              </a:rPr>
              <a:t>[1]    </a:t>
            </a:r>
            <a:r>
              <a:rPr lang="en-US" altLang="zh-CN" sz="1800">
                <a:solidFill>
                  <a:srgbClr val="3333FF"/>
                </a:solidFill>
                <a:latin typeface="宋体" pitchFamily="2" charset="-122"/>
                <a:ea typeface="宋体" pitchFamily="2" charset="-122"/>
                <a:cs typeface="Consolas" pitchFamily="49" charset="0"/>
                <a:sym typeface="Symbol"/>
              </a:rPr>
              <a:t></a:t>
            </a:r>
            <a:r>
              <a:rPr lang="en-US" altLang="zh-CN" sz="1800">
                <a:solidFill>
                  <a:srgbClr val="3333FF"/>
                </a:solidFill>
                <a:latin typeface="Consolas" pitchFamily="49" charset="0"/>
                <a:cs typeface="Consolas" pitchFamily="49" charset="0"/>
                <a:sym typeface="Symbol"/>
              </a:rPr>
              <a:t>    </a:t>
            </a:r>
            <a:r>
              <a:rPr lang="en-US" altLang="zh-CN" sz="1800" i="1">
                <a:solidFill>
                  <a:srgbClr val="3333FF"/>
                </a:solidFill>
                <a:latin typeface="Consolas" pitchFamily="49" charset="0"/>
                <a:cs typeface="Consolas" pitchFamily="49" charset="0"/>
                <a:sym typeface="Symbol"/>
              </a:rPr>
              <a:t>R</a:t>
            </a:r>
            <a:r>
              <a:rPr lang="en-US" altLang="zh-CN" sz="1800">
                <a:solidFill>
                  <a:srgbClr val="3333FF"/>
                </a:solidFill>
                <a:latin typeface="Consolas" pitchFamily="49" charset="0"/>
                <a:cs typeface="Consolas" pitchFamily="49" charset="0"/>
                <a:sym typeface="Symbol"/>
              </a:rPr>
              <a:t>[</a:t>
            </a:r>
            <a:r>
              <a:rPr lang="en-US" altLang="zh-CN" sz="1800" i="1">
                <a:solidFill>
                  <a:srgbClr val="3333FF"/>
                </a:solidFill>
                <a:latin typeface="Consolas" pitchFamily="49" charset="0"/>
                <a:cs typeface="Consolas" pitchFamily="49" charset="0"/>
                <a:sym typeface="Symbol"/>
              </a:rPr>
              <a:t>i</a:t>
            </a:r>
            <a:r>
              <a:rPr lang="en-US" altLang="zh-CN" sz="1800">
                <a:solidFill>
                  <a:srgbClr val="3333FF"/>
                </a:solidFill>
                <a:latin typeface="Consolas" pitchFamily="49" charset="0"/>
                <a:cs typeface="Consolas" pitchFamily="49" charset="0"/>
                <a:sym typeface="Symbol"/>
              </a:rPr>
              <a:t>]    </a:t>
            </a:r>
            <a:r>
              <a:rPr lang="en-US" altLang="zh-CN" sz="1800" i="1">
                <a:solidFill>
                  <a:srgbClr val="3333FF"/>
                </a:solidFill>
                <a:latin typeface="Consolas" pitchFamily="49" charset="0"/>
                <a:cs typeface="Consolas" pitchFamily="49" charset="0"/>
                <a:sym typeface="Symbol"/>
              </a:rPr>
              <a:t>R</a:t>
            </a:r>
            <a:r>
              <a:rPr lang="en-US" altLang="zh-CN" sz="1800">
                <a:solidFill>
                  <a:srgbClr val="3333FF"/>
                </a:solidFill>
                <a:latin typeface="Consolas" pitchFamily="49" charset="0"/>
                <a:cs typeface="Consolas" pitchFamily="49" charset="0"/>
                <a:sym typeface="Symbol"/>
              </a:rPr>
              <a:t>[</a:t>
            </a:r>
            <a:r>
              <a:rPr lang="en-US" altLang="zh-CN" sz="1800" i="1">
                <a:solidFill>
                  <a:srgbClr val="3333FF"/>
                </a:solidFill>
                <a:latin typeface="Consolas" pitchFamily="49" charset="0"/>
                <a:cs typeface="Consolas" pitchFamily="49" charset="0"/>
                <a:sym typeface="Symbol"/>
              </a:rPr>
              <a:t>n</a:t>
            </a:r>
            <a:r>
              <a:rPr lang="en-US" altLang="zh-CN" sz="1800">
                <a:solidFill>
                  <a:srgbClr val="3333FF"/>
                </a:solidFill>
                <a:latin typeface="Consolas" pitchFamily="49" charset="0"/>
                <a:cs typeface="Consolas" pitchFamily="49" charset="0"/>
                <a:sym typeface="Symbol"/>
              </a:rPr>
              <a:t>-1]</a:t>
            </a:r>
            <a:endParaRPr lang="zh-CN" altLang="en-US" sz="1800">
              <a:solidFill>
                <a:srgbClr val="3333FF"/>
              </a:solidFill>
              <a:latin typeface="Consolas" pitchFamily="49" charset="0"/>
              <a:cs typeface="Consolas" pitchFamily="49" charset="0"/>
            </a:endParaRPr>
          </a:p>
        </p:txBody>
      </p:sp>
      <p:sp>
        <p:nvSpPr>
          <p:cNvPr id="27" name="TextBox 6">
            <a:extLst>
              <a:ext uri="{FF2B5EF4-FFF2-40B4-BE49-F238E27FC236}">
                <a16:creationId xmlns:a16="http://schemas.microsoft.com/office/drawing/2014/main" id="{E1C36D0E-73E9-0347-2CC3-8B197A83ED49}"/>
              </a:ext>
            </a:extLst>
          </p:cNvPr>
          <p:cNvSpPr txBox="1"/>
          <p:nvPr/>
        </p:nvSpPr>
        <p:spPr>
          <a:xfrm>
            <a:off x="1444674" y="5048916"/>
            <a:ext cx="7143800" cy="10156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nSpc>
                <a:spcPct val="150000"/>
              </a:lnSpc>
              <a:buBlip>
                <a:blip r:embed="rId2"/>
              </a:buBlip>
            </a:pPr>
            <a:r>
              <a:rPr kumimoji="1" lang="zh-CN" altLang="en-US" sz="2000">
                <a:latin typeface="Consolas" pitchFamily="49" charset="0"/>
                <a:ea typeface="仿宋" pitchFamily="49" charset="-122"/>
                <a:cs typeface="Consolas" pitchFamily="49" charset="0"/>
              </a:rPr>
              <a:t>若当前扫描到的关键字与</a:t>
            </a:r>
            <a:r>
              <a:rPr kumimoji="1" lang="en-US" altLang="zh-CN" sz="2000" i="1">
                <a:solidFill>
                  <a:srgbClr val="CC00CC"/>
                </a:solidFill>
                <a:latin typeface="Consolas" pitchFamily="49" charset="0"/>
                <a:ea typeface="仿宋" pitchFamily="49" charset="-122"/>
                <a:cs typeface="Consolas" pitchFamily="49" charset="0"/>
              </a:rPr>
              <a:t>k</a:t>
            </a:r>
            <a:r>
              <a:rPr kumimoji="1" lang="zh-CN" altLang="en-US" sz="2000">
                <a:latin typeface="Consolas" pitchFamily="49" charset="0"/>
                <a:ea typeface="仿宋" pitchFamily="49" charset="-122"/>
                <a:cs typeface="Consolas" pitchFamily="49" charset="0"/>
              </a:rPr>
              <a:t>相等，则查找成功；</a:t>
            </a:r>
            <a:endParaRPr kumimoji="1" lang="en-US" altLang="zh-CN" sz="2000">
              <a:latin typeface="Consolas" pitchFamily="49" charset="0"/>
              <a:ea typeface="仿宋" pitchFamily="49" charset="-122"/>
              <a:cs typeface="Consolas" pitchFamily="49" charset="0"/>
            </a:endParaRPr>
          </a:p>
          <a:p>
            <a:pPr marL="342900" indent="-342900">
              <a:lnSpc>
                <a:spcPct val="150000"/>
              </a:lnSpc>
              <a:buBlip>
                <a:blip r:embed="rId2"/>
              </a:buBlip>
            </a:pPr>
            <a:r>
              <a:rPr kumimoji="1" lang="zh-CN" altLang="en-US" sz="2000">
                <a:latin typeface="Consolas" pitchFamily="49" charset="0"/>
                <a:ea typeface="仿宋" pitchFamily="49" charset="-122"/>
                <a:cs typeface="Consolas" pitchFamily="49" charset="0"/>
              </a:rPr>
              <a:t>若扫描结束后，仍未找到关键字等于</a:t>
            </a:r>
            <a:r>
              <a:rPr kumimoji="1" lang="en-US" altLang="zh-CN" sz="2000" i="1">
                <a:solidFill>
                  <a:srgbClr val="CC00CC"/>
                </a:solidFill>
                <a:latin typeface="Consolas" pitchFamily="49" charset="0"/>
                <a:ea typeface="仿宋" pitchFamily="49" charset="-122"/>
                <a:cs typeface="Consolas" pitchFamily="49" charset="0"/>
              </a:rPr>
              <a:t>k</a:t>
            </a:r>
            <a:r>
              <a:rPr kumimoji="1" lang="zh-CN" altLang="en-US" sz="2000">
                <a:latin typeface="Consolas" pitchFamily="49" charset="0"/>
                <a:ea typeface="仿宋" pitchFamily="49" charset="-122"/>
                <a:cs typeface="Consolas" pitchFamily="49" charset="0"/>
              </a:rPr>
              <a:t>的元素，则查找失败。</a:t>
            </a:r>
            <a:endParaRPr lang="zh-CN" altLang="en-US" sz="2000">
              <a:latin typeface="Consolas" pitchFamily="49" charset="0"/>
              <a:ea typeface="仿宋" pitchFamily="49" charset="-122"/>
              <a:cs typeface="Consolas" pitchFamily="49" charset="0"/>
            </a:endParaRPr>
          </a:p>
        </p:txBody>
      </p:sp>
      <p:grpSp>
        <p:nvGrpSpPr>
          <p:cNvPr id="28" name="组合 8">
            <a:extLst>
              <a:ext uri="{FF2B5EF4-FFF2-40B4-BE49-F238E27FC236}">
                <a16:creationId xmlns:a16="http://schemas.microsoft.com/office/drawing/2014/main" id="{BB1F417E-94F4-D943-288E-9D04B0C9F302}"/>
              </a:ext>
            </a:extLst>
          </p:cNvPr>
          <p:cNvGrpSpPr/>
          <p:nvPr/>
        </p:nvGrpSpPr>
        <p:grpSpPr>
          <a:xfrm>
            <a:off x="2516244" y="3763826"/>
            <a:ext cx="428628" cy="940042"/>
            <a:chOff x="2000232" y="3358356"/>
            <a:chExt cx="428628" cy="940042"/>
          </a:xfrm>
        </p:grpSpPr>
        <p:cxnSp>
          <p:nvCxnSpPr>
            <p:cNvPr id="29" name="直接箭头连接符 28">
              <a:extLst>
                <a:ext uri="{FF2B5EF4-FFF2-40B4-BE49-F238E27FC236}">
                  <a16:creationId xmlns:a16="http://schemas.microsoft.com/office/drawing/2014/main" id="{20D7948F-E3E7-6181-23A7-A1844C9ED8D5}"/>
                </a:ext>
              </a:extLst>
            </p:cNvPr>
            <p:cNvCxnSpPr/>
            <p:nvPr/>
          </p:nvCxnSpPr>
          <p:spPr>
            <a:xfrm rot="5400000" flipH="1" flipV="1">
              <a:off x="1892281" y="3607595"/>
              <a:ext cx="500066" cy="1588"/>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30" name="TextBox 7">
              <a:extLst>
                <a:ext uri="{FF2B5EF4-FFF2-40B4-BE49-F238E27FC236}">
                  <a16:creationId xmlns:a16="http://schemas.microsoft.com/office/drawing/2014/main" id="{B553FBF7-0AF1-50F5-8DA2-188A3D2BD539}"/>
                </a:ext>
              </a:extLst>
            </p:cNvPr>
            <p:cNvSpPr txBox="1"/>
            <p:nvPr/>
          </p:nvSpPr>
          <p:spPr>
            <a:xfrm>
              <a:off x="2000232" y="3929066"/>
              <a:ext cx="428628" cy="369332"/>
            </a:xfrm>
            <a:prstGeom prst="rect">
              <a:avLst/>
            </a:prstGeom>
            <a:noFill/>
          </p:spPr>
          <p:txBody>
            <a:bodyPr wrap="square" rtlCol="0">
              <a:spAutoFit/>
            </a:bodyPr>
            <a:lstStyle/>
            <a:p>
              <a:r>
                <a:rPr lang="en-US" altLang="zh-CN" sz="1800" i="1">
                  <a:latin typeface="Consolas" pitchFamily="49" charset="0"/>
                  <a:cs typeface="Consolas" pitchFamily="49" charset="0"/>
                </a:rPr>
                <a:t>k</a:t>
              </a:r>
              <a:endParaRPr lang="zh-CN" altLang="en-US" sz="1800" i="1">
                <a:latin typeface="Consolas" pitchFamily="49" charset="0"/>
                <a:cs typeface="Consolas" pitchFamily="49" charset="0"/>
              </a:endParaRPr>
            </a:p>
          </p:txBody>
        </p:sp>
      </p:grpSp>
      <p:sp>
        <p:nvSpPr>
          <p:cNvPr id="31" name="TextBox 9">
            <a:extLst>
              <a:ext uri="{FF2B5EF4-FFF2-40B4-BE49-F238E27FC236}">
                <a16:creationId xmlns:a16="http://schemas.microsoft.com/office/drawing/2014/main" id="{081EE854-50C9-E7B1-957E-BE2D8A5E2BB0}"/>
              </a:ext>
            </a:extLst>
          </p:cNvPr>
          <p:cNvSpPr txBox="1"/>
          <p:nvPr/>
        </p:nvSpPr>
        <p:spPr>
          <a:xfrm>
            <a:off x="5373764" y="3905908"/>
            <a:ext cx="1928826" cy="369332"/>
          </a:xfrm>
          <a:prstGeom prst="rect">
            <a:avLst/>
          </a:prstGeom>
          <a:noFill/>
        </p:spPr>
        <p:txBody>
          <a:bodyPr wrap="square" rtlCol="0">
            <a:spAutoFit/>
          </a:bodyPr>
          <a:lstStyle/>
          <a:p>
            <a:r>
              <a:rPr lang="en-US" altLang="zh-CN" sz="1800" i="1">
                <a:latin typeface="Consolas" pitchFamily="49" charset="0"/>
                <a:cs typeface="Consolas" pitchFamily="49" charset="0"/>
              </a:rPr>
              <a:t>R</a:t>
            </a:r>
            <a:r>
              <a:rPr lang="en-US" altLang="zh-CN" sz="1800">
                <a:latin typeface="Consolas" pitchFamily="49" charset="0"/>
                <a:cs typeface="Consolas" pitchFamily="49" charset="0"/>
              </a:rPr>
              <a:t>[</a:t>
            </a:r>
            <a:r>
              <a:rPr lang="en-US" altLang="zh-CN" sz="1800" i="1">
                <a:latin typeface="Consolas" pitchFamily="49" charset="0"/>
                <a:cs typeface="Consolas" pitchFamily="49" charset="0"/>
              </a:rPr>
              <a:t>i</a:t>
            </a:r>
            <a:r>
              <a:rPr lang="en-US" altLang="zh-CN" sz="1800">
                <a:latin typeface="Consolas" pitchFamily="49" charset="0"/>
                <a:cs typeface="Consolas" pitchFamily="49" charset="0"/>
              </a:rPr>
              <a:t>].key==</a:t>
            </a:r>
            <a:r>
              <a:rPr lang="en-US" altLang="zh-CN" sz="1800" i="1">
                <a:latin typeface="Consolas" pitchFamily="49" charset="0"/>
                <a:cs typeface="Consolas" pitchFamily="49" charset="0"/>
              </a:rPr>
              <a:t>k</a:t>
            </a:r>
            <a:endParaRPr lang="zh-CN" altLang="en-US" sz="1800" i="1">
              <a:latin typeface="Consolas" pitchFamily="49" charset="0"/>
              <a:cs typeface="Consolas" pitchFamily="49" charset="0"/>
            </a:endParaRPr>
          </a:p>
        </p:txBody>
      </p:sp>
    </p:spTree>
    <p:extLst>
      <p:ext uri="{BB962C8B-B14F-4D97-AF65-F5344CB8AC3E}">
        <p14:creationId xmlns:p14="http://schemas.microsoft.com/office/powerpoint/2010/main" val="212350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2951 0.00046 L 0.28923 0.00046 " pathEditMode="relative" ptsTypes="AA">
                                      <p:cBhvr>
                                        <p:cTn id="6" dur="2000" fill="hold"/>
                                        <p:tgtEl>
                                          <p:spTgt spid="28"/>
                                        </p:tgtEl>
                                        <p:attrNameLst>
                                          <p:attrName>ppt_x</p:attrName>
                                          <p:attrName>ppt_y</p:attrName>
                                        </p:attrNameLst>
                                      </p:cBhvr>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AD0C-43B2-F268-14D2-A04D6470A888}"/>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9D5780E8-2084-A960-F783-C5183BBF35E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904523A2-DC62-5E36-371E-A4B168916CD1}"/>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1" name="直接连接符 10">
            <a:extLst>
              <a:ext uri="{FF2B5EF4-FFF2-40B4-BE49-F238E27FC236}">
                <a16:creationId xmlns:a16="http://schemas.microsoft.com/office/drawing/2014/main" id="{314A232E-0B05-F060-949E-13A71E2A48B7}"/>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2">
            <a:extLst>
              <a:ext uri="{FF2B5EF4-FFF2-40B4-BE49-F238E27FC236}">
                <a16:creationId xmlns:a16="http://schemas.microsoft.com/office/drawing/2014/main" id="{2A2C2158-1FB5-D5F3-0348-A07014874A1E}"/>
              </a:ext>
            </a:extLst>
          </p:cNvPr>
          <p:cNvSpPr txBox="1">
            <a:spLocks noChangeArrowheads="1"/>
          </p:cNvSpPr>
          <p:nvPr/>
        </p:nvSpPr>
        <p:spPr bwMode="auto">
          <a:xfrm>
            <a:off x="1490908" y="1854106"/>
            <a:ext cx="8001024" cy="775982"/>
          </a:xfrm>
          <a:prstGeom prst="rect">
            <a:avLst/>
          </a:prstGeom>
          <a:noFill/>
          <a:ln w="9525">
            <a:noFill/>
            <a:miter lim="800000"/>
            <a:headEnd/>
            <a:tailEnd/>
          </a:ln>
          <a:effectLst/>
        </p:spPr>
        <p:txBody>
          <a:bodyPr wrap="square">
            <a:spAutoFit/>
          </a:bodyPr>
          <a:lstStyle/>
          <a:p>
            <a:pPr algn="just">
              <a:lnSpc>
                <a:spcPts val="2800"/>
              </a:lnSpc>
              <a:spcBef>
                <a:spcPts val="0"/>
              </a:spcBef>
            </a:pPr>
            <a:r>
              <a:rPr kumimoji="1" lang="en-US" altLang="zh-CN" sz="2000">
                <a:solidFill>
                  <a:schemeClr val="tx1"/>
                </a:solidFill>
                <a:latin typeface="Consolas" pitchFamily="49" charset="0"/>
                <a:ea typeface="楷体" pitchFamily="49" charset="-122"/>
                <a:cs typeface="Consolas" pitchFamily="49" charset="0"/>
              </a:rPr>
              <a:t>     </a:t>
            </a:r>
            <a:r>
              <a:rPr kumimoji="1" lang="zh-CN" altLang="en-US" sz="2000">
                <a:latin typeface="Consolas" pitchFamily="49" charset="0"/>
                <a:ea typeface="楷体" pitchFamily="49" charset="-122"/>
                <a:cs typeface="Consolas" pitchFamily="49" charset="0"/>
              </a:rPr>
              <a:t>顺</a:t>
            </a:r>
            <a:r>
              <a:rPr kumimoji="1" lang="zh-CN" altLang="en-US" sz="2000" dirty="0">
                <a:latin typeface="Consolas" pitchFamily="49" charset="0"/>
                <a:ea typeface="楷体" pitchFamily="49" charset="-122"/>
                <a:cs typeface="Consolas" pitchFamily="49" charset="0"/>
              </a:rPr>
              <a:t>序查找的算法如下（在顺序表</a:t>
            </a:r>
            <a:r>
              <a:rPr kumimoji="1" lang="en-US" altLang="zh-CN" sz="2000" dirty="0">
                <a:latin typeface="Consolas" pitchFamily="49" charset="0"/>
                <a:ea typeface="楷体" pitchFamily="49" charset="-122"/>
                <a:cs typeface="Consolas" pitchFamily="49" charset="0"/>
              </a:rPr>
              <a:t>R[</a:t>
            </a:r>
            <a:r>
              <a:rPr kumimoji="1" lang="en-US" altLang="zh-CN" sz="2000" dirty="0" err="1">
                <a:latin typeface="Consolas" pitchFamily="49" charset="0"/>
                <a:ea typeface="楷体" pitchFamily="49" charset="-122"/>
                <a:cs typeface="Consolas" pitchFamily="49" charset="0"/>
              </a:rPr>
              <a:t>0..</a:t>
            </a:r>
            <a:r>
              <a:rPr kumimoji="1" lang="en-US" altLang="zh-CN" sz="2000" i="1" dirty="0" err="1">
                <a:latin typeface="Consolas" pitchFamily="49" charset="0"/>
                <a:ea typeface="楷体" pitchFamily="49" charset="-122"/>
                <a:cs typeface="Consolas" pitchFamily="49" charset="0"/>
              </a:rPr>
              <a:t>n</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1]</a:t>
            </a:r>
            <a:r>
              <a:rPr kumimoji="1" lang="zh-CN" altLang="en-US" sz="2000" dirty="0">
                <a:latin typeface="Consolas" pitchFamily="49" charset="0"/>
                <a:ea typeface="楷体" pitchFamily="49" charset="-122"/>
                <a:cs typeface="Consolas" pitchFamily="49" charset="0"/>
              </a:rPr>
              <a:t>中查找关键字为</a:t>
            </a:r>
            <a:r>
              <a:rPr kumimoji="1" lang="en-US" altLang="zh-CN" sz="2000" i="1" dirty="0">
                <a:latin typeface="Consolas" pitchFamily="49" charset="0"/>
                <a:ea typeface="楷体" pitchFamily="49" charset="-122"/>
                <a:cs typeface="Consolas" pitchFamily="49" charset="0"/>
              </a:rPr>
              <a:t>k</a:t>
            </a:r>
            <a:r>
              <a:rPr kumimoji="1" lang="zh-CN" altLang="en-US" sz="2000" dirty="0">
                <a:latin typeface="Consolas" pitchFamily="49" charset="0"/>
                <a:ea typeface="楷体" pitchFamily="49" charset="-122"/>
                <a:cs typeface="Consolas" pitchFamily="49" charset="0"/>
              </a:rPr>
              <a:t>的元素，成功时返回找到的元素的逻辑序号，失败时返回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    </a:t>
            </a:r>
            <a:endParaRPr kumimoji="1" lang="zh-CN" altLang="en-US" sz="2000" dirty="0">
              <a:solidFill>
                <a:schemeClr val="tx2"/>
              </a:solidFill>
              <a:latin typeface="Consolas" pitchFamily="49" charset="0"/>
              <a:ea typeface="楷体" pitchFamily="49" charset="-122"/>
              <a:cs typeface="Consolas" pitchFamily="49" charset="0"/>
            </a:endParaRPr>
          </a:p>
        </p:txBody>
      </p:sp>
      <p:sp>
        <p:nvSpPr>
          <p:cNvPr id="3" name="Text Box 2">
            <a:extLst>
              <a:ext uri="{FF2B5EF4-FFF2-40B4-BE49-F238E27FC236}">
                <a16:creationId xmlns:a16="http://schemas.microsoft.com/office/drawing/2014/main" id="{74B5FB6D-6370-A127-DA3D-99B2D610266D}"/>
              </a:ext>
            </a:extLst>
          </p:cNvPr>
          <p:cNvSpPr txBox="1">
            <a:spLocks noChangeArrowheads="1"/>
          </p:cNvSpPr>
          <p:nvPr/>
        </p:nvSpPr>
        <p:spPr bwMode="auto">
          <a:xfrm>
            <a:off x="1919536" y="3068552"/>
            <a:ext cx="7175521" cy="2783803"/>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rIns="144000" bIns="144000">
            <a:spAutoFit/>
          </a:bodyPr>
          <a:lstStyle/>
          <a:p>
            <a:pPr algn="l"/>
            <a:r>
              <a:rPr lang="en-US" altLang="zh-CN" sz="1800" err="1">
                <a:solidFill>
                  <a:srgbClr val="3333FF"/>
                </a:solidFill>
                <a:latin typeface="Consolas" pitchFamily="49" charset="0"/>
                <a:ea typeface="仿宋" pitchFamily="49" charset="-122"/>
                <a:cs typeface="Consolas" pitchFamily="49" charset="0"/>
              </a:rPr>
              <a:t>int</a:t>
            </a:r>
            <a:r>
              <a:rPr lang="en-US" altLang="zh-CN" sz="1800">
                <a:solidFill>
                  <a:srgbClr val="3333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SeqSearch</a:t>
            </a:r>
            <a:r>
              <a:rPr lang="en-US" altLang="zh-CN" sz="1800">
                <a:solidFill>
                  <a:srgbClr val="3333FF"/>
                </a:solidFill>
                <a:latin typeface="Consolas" pitchFamily="49" charset="0"/>
                <a:ea typeface="仿宋" pitchFamily="49" charset="-122"/>
                <a:cs typeface="Consolas" pitchFamily="49" charset="0"/>
              </a:rPr>
              <a:t>(RecType R[],</a:t>
            </a:r>
            <a:r>
              <a:rPr lang="en-US" altLang="zh-CN" sz="1800" dirty="0" err="1">
                <a:solidFill>
                  <a:srgbClr val="3333FF"/>
                </a:solidFill>
                <a:latin typeface="Consolas" pitchFamily="49" charset="0"/>
                <a:ea typeface="仿宋" pitchFamily="49" charset="-122"/>
                <a:cs typeface="Consolas" pitchFamily="49" charset="0"/>
              </a:rPr>
              <a:t>int</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n,</a:t>
            </a:r>
            <a:r>
              <a:rPr lang="en-US" altLang="zh-CN" sz="1800" dirty="0" err="1">
                <a:solidFill>
                  <a:srgbClr val="C00000"/>
                </a:solidFill>
                <a:latin typeface="Consolas" pitchFamily="49" charset="0"/>
                <a:ea typeface="仿宋" pitchFamily="49" charset="-122"/>
                <a:cs typeface="Consolas" pitchFamily="49" charset="0"/>
              </a:rPr>
              <a:t>KeyType</a:t>
            </a:r>
            <a:r>
              <a:rPr lang="en-US" altLang="zh-CN" sz="1800" dirty="0">
                <a:solidFill>
                  <a:srgbClr val="C00000"/>
                </a:solidFill>
                <a:latin typeface="Consolas" pitchFamily="49" charset="0"/>
                <a:ea typeface="仿宋" pitchFamily="49" charset="-122"/>
                <a:cs typeface="Consolas" pitchFamily="49" charset="0"/>
              </a:rPr>
              <a:t> k</a:t>
            </a:r>
            <a:r>
              <a:rPr lang="en-US" altLang="zh-CN" sz="1800" dirty="0">
                <a:solidFill>
                  <a:srgbClr val="3333FF"/>
                </a:solidFill>
                <a:latin typeface="Consolas" pitchFamily="49" charset="0"/>
                <a:ea typeface="仿宋" pitchFamily="49" charset="-122"/>
                <a:cs typeface="Consolas" pitchFamily="49" charset="0"/>
              </a:rPr>
              <a:t>)</a:t>
            </a:r>
          </a:p>
          <a:p>
            <a:pPr algn="l"/>
            <a:r>
              <a:rPr lang="en-US" altLang="zh-CN" sz="1800">
                <a:solidFill>
                  <a:srgbClr val="3333FF"/>
                </a:solidFill>
                <a:latin typeface="Consolas" pitchFamily="49" charset="0"/>
                <a:ea typeface="仿宋" pitchFamily="49" charset="-122"/>
                <a:cs typeface="Consolas" pitchFamily="49" charset="0"/>
              </a:rPr>
              <a:t>{  int </a:t>
            </a:r>
            <a:r>
              <a:rPr lang="en-US" altLang="zh-CN" sz="1800" dirty="0" err="1">
                <a:solidFill>
                  <a:srgbClr val="3333FF"/>
                </a:solidFill>
                <a:latin typeface="Consolas" pitchFamily="49" charset="0"/>
                <a:ea typeface="仿宋" pitchFamily="49" charset="-122"/>
                <a:cs typeface="Consolas" pitchFamily="49" charset="0"/>
              </a:rPr>
              <a:t>i</a:t>
            </a:r>
            <a:r>
              <a:rPr lang="en-US" altLang="zh-CN" sz="1800" dirty="0">
                <a:solidFill>
                  <a:srgbClr val="3333FF"/>
                </a:solidFill>
                <a:latin typeface="Consolas" pitchFamily="49" charset="0"/>
                <a:ea typeface="仿宋" pitchFamily="49" charset="-122"/>
                <a:cs typeface="Consolas" pitchFamily="49" charset="0"/>
              </a:rPr>
              <a:t>=0;</a:t>
            </a:r>
          </a:p>
          <a:p>
            <a:pPr algn="l"/>
            <a:r>
              <a:rPr lang="en-US" altLang="zh-CN" sz="1800">
                <a:solidFill>
                  <a:srgbClr val="3333FF"/>
                </a:solidFill>
                <a:latin typeface="Consolas" pitchFamily="49" charset="0"/>
                <a:ea typeface="仿宋" pitchFamily="49" charset="-122"/>
                <a:cs typeface="Consolas" pitchFamily="49" charset="0"/>
              </a:rPr>
              <a:t>   while </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FF33CC"/>
                </a:solidFill>
                <a:latin typeface="Consolas" pitchFamily="49" charset="0"/>
                <a:ea typeface="仿宋" pitchFamily="49" charset="-122"/>
                <a:cs typeface="Consolas" pitchFamily="49" charset="0"/>
              </a:rPr>
              <a:t>i</a:t>
            </a:r>
            <a:r>
              <a:rPr lang="en-US" altLang="zh-CN" sz="1800" dirty="0">
                <a:solidFill>
                  <a:srgbClr val="FF33CC"/>
                </a:solidFill>
                <a:latin typeface="Consolas" pitchFamily="49" charset="0"/>
                <a:ea typeface="仿宋" pitchFamily="49" charset="-122"/>
                <a:cs typeface="Consolas" pitchFamily="49" charset="0"/>
              </a:rPr>
              <a:t>&lt;n</a:t>
            </a:r>
            <a:r>
              <a:rPr lang="en-US" altLang="zh-CN" sz="1800" dirty="0">
                <a:solidFill>
                  <a:srgbClr val="3333FF"/>
                </a:solidFill>
                <a:latin typeface="Consolas" pitchFamily="49" charset="0"/>
                <a:ea typeface="仿宋" pitchFamily="49" charset="-122"/>
                <a:cs typeface="Consolas" pitchFamily="49" charset="0"/>
              </a:rPr>
              <a:t> &amp;&amp; R[</a:t>
            </a:r>
            <a:r>
              <a:rPr lang="en-US" altLang="zh-CN" sz="1800" dirty="0" err="1">
                <a:solidFill>
                  <a:srgbClr val="3333FF"/>
                </a:solidFill>
                <a:latin typeface="Consolas" pitchFamily="49" charset="0"/>
                <a:ea typeface="仿宋" pitchFamily="49" charset="-122"/>
                <a:cs typeface="Consolas" pitchFamily="49" charset="0"/>
              </a:rPr>
              <a:t>i</a:t>
            </a:r>
            <a:r>
              <a:rPr lang="en-US" altLang="zh-CN" sz="1800" dirty="0">
                <a:solidFill>
                  <a:srgbClr val="3333FF"/>
                </a:solidFill>
                <a:latin typeface="Consolas" pitchFamily="49" charset="0"/>
                <a:ea typeface="仿宋" pitchFamily="49" charset="-122"/>
                <a:cs typeface="Consolas" pitchFamily="49" charset="0"/>
              </a:rPr>
              <a:t>].key!=k)</a:t>
            </a:r>
            <a:r>
              <a:rPr lang="en-US" altLang="zh-CN" sz="1800">
                <a:solidFill>
                  <a:srgbClr val="3333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从表头往后找</a:t>
            </a:r>
          </a:p>
          <a:p>
            <a:pPr algn="l"/>
            <a:r>
              <a:rPr lang="zh-CN" altLang="en-US"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i</a:t>
            </a:r>
            <a:r>
              <a:rPr lang="en-US" altLang="zh-CN" sz="1800" dirty="0">
                <a:solidFill>
                  <a:srgbClr val="3333FF"/>
                </a:solidFill>
                <a:latin typeface="Consolas" pitchFamily="49" charset="0"/>
                <a:ea typeface="仿宋" pitchFamily="49" charset="-122"/>
                <a:cs typeface="Consolas" pitchFamily="49" charset="0"/>
              </a:rPr>
              <a:t>++;</a:t>
            </a:r>
          </a:p>
          <a:p>
            <a:pPr algn="l"/>
            <a:r>
              <a:rPr lang="en-US" altLang="zh-CN" sz="1800">
                <a:solidFill>
                  <a:srgbClr val="3333FF"/>
                </a:solidFill>
                <a:latin typeface="Consolas" pitchFamily="49" charset="0"/>
                <a:ea typeface="仿宋" pitchFamily="49" charset="-122"/>
                <a:cs typeface="Consolas" pitchFamily="49" charset="0"/>
              </a:rPr>
              <a:t>   if </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i</a:t>
            </a:r>
            <a:r>
              <a:rPr lang="en-US" altLang="zh-CN" sz="1800" dirty="0">
                <a:solidFill>
                  <a:srgbClr val="3333FF"/>
                </a:solidFill>
                <a:latin typeface="Consolas" pitchFamily="49" charset="0"/>
                <a:ea typeface="仿宋" pitchFamily="49" charset="-122"/>
                <a:cs typeface="Consolas" pitchFamily="49" charset="0"/>
              </a:rPr>
              <a:t>&gt;=n)		</a:t>
            </a:r>
            <a:r>
              <a:rPr lang="en-US" altLang="zh-CN" sz="1800">
                <a:solidFill>
                  <a:srgbClr val="3333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未找到返回</a:t>
            </a:r>
            <a:r>
              <a:rPr lang="en-US" altLang="zh-CN" sz="1800" dirty="0">
                <a:solidFill>
                  <a:srgbClr val="00B0F0"/>
                </a:solidFill>
                <a:latin typeface="Consolas" pitchFamily="49" charset="0"/>
                <a:ea typeface="仿宋" pitchFamily="49" charset="-122"/>
                <a:cs typeface="Consolas" pitchFamily="49" charset="0"/>
              </a:rPr>
              <a:t>0</a:t>
            </a:r>
          </a:p>
          <a:p>
            <a:pPr algn="l"/>
            <a:r>
              <a:rPr lang="en-US" altLang="zh-CN" sz="1800" dirty="0">
                <a:solidFill>
                  <a:srgbClr val="3333FF"/>
                </a:solidFill>
                <a:latin typeface="Consolas" pitchFamily="49" charset="0"/>
                <a:ea typeface="仿宋" pitchFamily="49" charset="-122"/>
                <a:cs typeface="Consolas" pitchFamily="49" charset="0"/>
              </a:rPr>
              <a:t>	return 0;</a:t>
            </a:r>
          </a:p>
          <a:p>
            <a:pPr algn="l"/>
            <a:r>
              <a:rPr lang="en-US" altLang="zh-CN" sz="1800">
                <a:solidFill>
                  <a:srgbClr val="3333FF"/>
                </a:solidFill>
                <a:latin typeface="Consolas" pitchFamily="49" charset="0"/>
                <a:ea typeface="仿宋" pitchFamily="49" charset="-122"/>
                <a:cs typeface="Consolas" pitchFamily="49" charset="0"/>
              </a:rPr>
              <a:t>   else </a:t>
            </a:r>
            <a:endParaRPr lang="en-US" altLang="zh-CN" sz="1800" dirty="0">
              <a:solidFill>
                <a:srgbClr val="3333FF"/>
              </a:solidFill>
              <a:latin typeface="Consolas" pitchFamily="49" charset="0"/>
              <a:ea typeface="仿宋" pitchFamily="49" charset="-122"/>
              <a:cs typeface="Consolas" pitchFamily="49" charset="0"/>
            </a:endParaRPr>
          </a:p>
          <a:p>
            <a:pPr algn="l"/>
            <a:r>
              <a:rPr lang="en-US" altLang="zh-CN" sz="1800" dirty="0">
                <a:solidFill>
                  <a:srgbClr val="3333FF"/>
                </a:solidFill>
                <a:latin typeface="Consolas" pitchFamily="49" charset="0"/>
                <a:ea typeface="仿宋" pitchFamily="49" charset="-122"/>
                <a:cs typeface="Consolas" pitchFamily="49" charset="0"/>
              </a:rPr>
              <a:t>	return </a:t>
            </a:r>
            <a:r>
              <a:rPr lang="en-US" altLang="zh-CN" sz="1800" dirty="0" err="1">
                <a:solidFill>
                  <a:srgbClr val="3333FF"/>
                </a:solidFill>
                <a:latin typeface="Consolas" pitchFamily="49" charset="0"/>
                <a:ea typeface="仿宋" pitchFamily="49" charset="-122"/>
                <a:cs typeface="Consolas" pitchFamily="49" charset="0"/>
              </a:rPr>
              <a:t>i+1</a:t>
            </a:r>
            <a:r>
              <a:rPr lang="en-US" altLang="zh-CN" sz="1800" dirty="0">
                <a:solidFill>
                  <a:srgbClr val="3333FF"/>
                </a:solidFill>
                <a:latin typeface="Consolas" pitchFamily="49" charset="0"/>
                <a:ea typeface="仿宋" pitchFamily="49" charset="-122"/>
                <a:cs typeface="Consolas" pitchFamily="49" charset="0"/>
              </a:rPr>
              <a:t>;	</a:t>
            </a:r>
            <a:r>
              <a:rPr lang="en-US" altLang="zh-CN" sz="1800">
                <a:solidFill>
                  <a:srgbClr val="3333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找到返回逻辑序号</a:t>
            </a:r>
            <a:r>
              <a:rPr lang="en-US" altLang="zh-CN" sz="1800" dirty="0" err="1">
                <a:solidFill>
                  <a:srgbClr val="00B0F0"/>
                </a:solidFill>
                <a:latin typeface="Consolas" pitchFamily="49" charset="0"/>
                <a:ea typeface="仿宋" pitchFamily="49" charset="-122"/>
                <a:cs typeface="Consolas" pitchFamily="49" charset="0"/>
              </a:rPr>
              <a:t>i+1</a:t>
            </a:r>
            <a:endParaRPr lang="en-US" altLang="zh-CN" sz="1800" dirty="0">
              <a:solidFill>
                <a:srgbClr val="00B0F0"/>
              </a:solidFill>
              <a:latin typeface="Consolas" pitchFamily="49" charset="0"/>
              <a:ea typeface="仿宋" pitchFamily="49" charset="-122"/>
              <a:cs typeface="Consolas" pitchFamily="49" charset="0"/>
            </a:endParaRPr>
          </a:p>
          <a:p>
            <a:pPr algn="l"/>
            <a:r>
              <a:rPr lang="en-US" altLang="zh-CN" sz="1800" dirty="0">
                <a:solidFill>
                  <a:srgbClr val="3333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127831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B97AF-481E-13BA-7E0E-8CE28422D003}"/>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8823839-0288-7A1C-5247-1BD2EA32A67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5ECDE29F-F8D6-8AD0-FCA4-56F1B385785B}"/>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1" name="直接连接符 10">
            <a:extLst>
              <a:ext uri="{FF2B5EF4-FFF2-40B4-BE49-F238E27FC236}">
                <a16:creationId xmlns:a16="http://schemas.microsoft.com/office/drawing/2014/main" id="{F3E1DA7D-F76F-4CDD-99FB-42482DA13AD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Text Box 1026">
            <a:extLst>
              <a:ext uri="{FF2B5EF4-FFF2-40B4-BE49-F238E27FC236}">
                <a16:creationId xmlns:a16="http://schemas.microsoft.com/office/drawing/2014/main" id="{23E2A567-63E1-1B36-27B1-DC6355A5DF6C}"/>
              </a:ext>
            </a:extLst>
          </p:cNvPr>
          <p:cNvSpPr txBox="1">
            <a:spLocks noChangeArrowheads="1"/>
          </p:cNvSpPr>
          <p:nvPr/>
        </p:nvSpPr>
        <p:spPr bwMode="auto">
          <a:xfrm>
            <a:off x="1272604" y="2427560"/>
            <a:ext cx="6429420" cy="1603104"/>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nSpc>
                <a:spcPct val="150000"/>
              </a:lnSpc>
              <a:spcBef>
                <a:spcPts val="0"/>
              </a:spcBef>
              <a:buBlip>
                <a:blip r:embed="rId2"/>
              </a:buBlip>
            </a:pPr>
            <a:r>
              <a:rPr kumimoji="1" lang="zh-CN" altLang="en-US" sz="2000">
                <a:latin typeface="Consolas" pitchFamily="49" charset="0"/>
                <a:ea typeface="仿宋" pitchFamily="49" charset="-122"/>
                <a:cs typeface="Consolas" pitchFamily="49" charset="0"/>
              </a:rPr>
              <a:t>有</a:t>
            </a:r>
            <a:r>
              <a:rPr kumimoji="1" lang="en-US" altLang="zh-CN" sz="2000" i="1">
                <a:latin typeface="Consolas" pitchFamily="49" charset="0"/>
                <a:ea typeface="仿宋" pitchFamily="49" charset="-122"/>
                <a:cs typeface="Consolas" pitchFamily="49" charset="0"/>
              </a:rPr>
              <a:t>n</a:t>
            </a:r>
            <a:r>
              <a:rPr kumimoji="1" lang="zh-CN" altLang="en-US" sz="2000">
                <a:latin typeface="Consolas" pitchFamily="49" charset="0"/>
                <a:ea typeface="仿宋" pitchFamily="49" charset="-122"/>
                <a:cs typeface="Consolas" pitchFamily="49" charset="0"/>
              </a:rPr>
              <a:t>个元素，等概率时</a:t>
            </a:r>
            <a:r>
              <a:rPr kumimoji="1" lang="en-US" altLang="zh-CN" sz="2000" i="1">
                <a:latin typeface="Consolas" pitchFamily="49" charset="0"/>
                <a:ea typeface="仿宋" pitchFamily="49" charset="-122"/>
                <a:cs typeface="Consolas" pitchFamily="49" charset="0"/>
              </a:rPr>
              <a:t>p</a:t>
            </a:r>
            <a:r>
              <a:rPr kumimoji="1" lang="en-US" altLang="zh-CN" sz="2000" i="1" baseline="-25000">
                <a:latin typeface="Consolas" pitchFamily="49" charset="0"/>
                <a:ea typeface="仿宋" pitchFamily="49" charset="-122"/>
                <a:cs typeface="Consolas" pitchFamily="49" charset="0"/>
              </a:rPr>
              <a:t>i</a:t>
            </a:r>
            <a:r>
              <a:rPr kumimoji="1" lang="en-US" altLang="zh-CN" sz="2000">
                <a:latin typeface="Consolas" pitchFamily="49" charset="0"/>
                <a:ea typeface="仿宋" pitchFamily="49" charset="-122"/>
                <a:cs typeface="Consolas" pitchFamily="49" charset="0"/>
              </a:rPr>
              <a:t>=1/</a:t>
            </a:r>
            <a:r>
              <a:rPr kumimoji="1" lang="en-US" altLang="zh-CN" sz="2000" i="1">
                <a:latin typeface="Consolas" pitchFamily="49" charset="0"/>
                <a:ea typeface="仿宋" pitchFamily="49" charset="-122"/>
                <a:cs typeface="Consolas" pitchFamily="49" charset="0"/>
              </a:rPr>
              <a:t>n</a:t>
            </a:r>
            <a:r>
              <a:rPr kumimoji="1" lang="zh-CN" altLang="en-US" sz="2000">
                <a:latin typeface="Consolas" pitchFamily="49" charset="0"/>
                <a:ea typeface="仿宋" pitchFamily="49" charset="-122"/>
                <a:cs typeface="Consolas" pitchFamily="49" charset="0"/>
              </a:rPr>
              <a:t>。</a:t>
            </a:r>
            <a:endParaRPr kumimoji="1" lang="en-US" altLang="zh-CN" sz="2000">
              <a:latin typeface="Consolas" pitchFamily="49" charset="0"/>
              <a:ea typeface="仿宋" pitchFamily="49" charset="-122"/>
              <a:cs typeface="Consolas" pitchFamily="49" charset="0"/>
            </a:endParaRPr>
          </a:p>
          <a:p>
            <a:pPr marL="342900" indent="-342900" algn="l">
              <a:lnSpc>
                <a:spcPct val="150000"/>
              </a:lnSpc>
              <a:spcBef>
                <a:spcPts val="0"/>
              </a:spcBef>
              <a:buBlip>
                <a:blip r:embed="rId2"/>
              </a:buBlip>
            </a:pPr>
            <a:r>
              <a:rPr kumimoji="1" lang="zh-CN" altLang="en-US" sz="2000">
                <a:latin typeface="Consolas" pitchFamily="49" charset="0"/>
                <a:ea typeface="仿宋" pitchFamily="49" charset="-122"/>
                <a:cs typeface="Consolas" pitchFamily="49" charset="0"/>
              </a:rPr>
              <a:t>查</a:t>
            </a:r>
            <a:r>
              <a:rPr kumimoji="1" lang="zh-CN" altLang="en-US" sz="2000" dirty="0">
                <a:latin typeface="Consolas" pitchFamily="49" charset="0"/>
                <a:ea typeface="仿宋" pitchFamily="49" charset="-122"/>
                <a:cs typeface="Consolas" pitchFamily="49" charset="0"/>
              </a:rPr>
              <a:t>找到表中第</a:t>
            </a:r>
            <a:r>
              <a:rPr kumimoji="1" lang="en-US" altLang="zh-CN" sz="2000" i="1" err="1">
                <a:latin typeface="Consolas" pitchFamily="49" charset="0"/>
                <a:ea typeface="仿宋" pitchFamily="49" charset="-122"/>
                <a:cs typeface="Consolas" pitchFamily="49" charset="0"/>
              </a:rPr>
              <a:t>i</a:t>
            </a:r>
            <a:r>
              <a:rPr kumimoji="1" lang="zh-CN" altLang="en-US" sz="2000">
                <a:latin typeface="Consolas" pitchFamily="49" charset="0"/>
                <a:ea typeface="仿宋" pitchFamily="49" charset="-122"/>
                <a:cs typeface="Consolas" pitchFamily="49" charset="0"/>
              </a:rPr>
              <a:t>个元素</a:t>
            </a:r>
            <a:r>
              <a:rPr kumimoji="1" lang="en-US" altLang="zh-CN" sz="2000" i="1">
                <a:latin typeface="Consolas" pitchFamily="49" charset="0"/>
                <a:ea typeface="仿宋" pitchFamily="49" charset="-122"/>
                <a:cs typeface="Consolas" pitchFamily="49" charset="0"/>
              </a:rPr>
              <a:t>R</a:t>
            </a:r>
            <a:r>
              <a:rPr kumimoji="1" lang="en-US" altLang="zh-CN" sz="2000">
                <a:latin typeface="Consolas" pitchFamily="49" charset="0"/>
                <a:ea typeface="仿宋" pitchFamily="49" charset="-122"/>
                <a:cs typeface="Consolas" pitchFamily="49" charset="0"/>
              </a:rPr>
              <a:t>[</a:t>
            </a:r>
            <a:r>
              <a:rPr kumimoji="1" lang="en-US" altLang="zh-CN" sz="2000" i="1">
                <a:latin typeface="Consolas" pitchFamily="49" charset="0"/>
                <a:ea typeface="仿宋" pitchFamily="49" charset="-122"/>
                <a:cs typeface="Consolas" pitchFamily="49" charset="0"/>
              </a:rPr>
              <a:t>i</a:t>
            </a:r>
            <a:r>
              <a:rPr kumimoji="1" lang="en-US" altLang="zh-CN" sz="2000">
                <a:latin typeface="Consolas" pitchFamily="49" charset="0"/>
                <a:ea typeface="仿宋" pitchFamily="49" charset="-122"/>
                <a:cs typeface="Consolas" pitchFamily="49" charset="0"/>
              </a:rPr>
              <a:t>-1</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时，需比较</a:t>
            </a:r>
            <a:r>
              <a:rPr kumimoji="1" lang="en-US" altLang="zh-CN" sz="2000" i="1" dirty="0">
                <a:latin typeface="Consolas" pitchFamily="49" charset="0"/>
                <a:ea typeface="仿宋" pitchFamily="49" charset="-122"/>
                <a:cs typeface="Consolas" pitchFamily="49" charset="0"/>
              </a:rPr>
              <a:t>i</a:t>
            </a:r>
            <a:r>
              <a:rPr kumimoji="1" lang="zh-CN" altLang="en-US" sz="2000">
                <a:latin typeface="Consolas" pitchFamily="49" charset="0"/>
                <a:ea typeface="仿宋" pitchFamily="49" charset="-122"/>
                <a:cs typeface="Consolas" pitchFamily="49" charset="0"/>
              </a:rPr>
              <a:t>次。</a:t>
            </a:r>
            <a:endParaRPr kumimoji="1" lang="en-US" altLang="zh-CN" sz="2000">
              <a:latin typeface="Consolas" pitchFamily="49" charset="0"/>
              <a:ea typeface="仿宋" pitchFamily="49" charset="-122"/>
              <a:cs typeface="Consolas" pitchFamily="49" charset="0"/>
            </a:endParaRPr>
          </a:p>
          <a:p>
            <a:pPr marL="342900" indent="-342900" algn="l">
              <a:lnSpc>
                <a:spcPct val="150000"/>
              </a:lnSpc>
              <a:spcBef>
                <a:spcPts val="0"/>
              </a:spcBef>
              <a:buBlip>
                <a:blip r:embed="rId2"/>
              </a:buBlip>
            </a:pPr>
            <a:r>
              <a:rPr kumimoji="1" lang="zh-CN" altLang="en-US" sz="2000">
                <a:latin typeface="Consolas" pitchFamily="49" charset="0"/>
                <a:ea typeface="仿宋" pitchFamily="49" charset="-122"/>
                <a:cs typeface="Consolas" pitchFamily="49" charset="0"/>
              </a:rPr>
              <a:t>因</a:t>
            </a:r>
            <a:r>
              <a:rPr kumimoji="1" lang="zh-CN" altLang="en-US" sz="2000" dirty="0">
                <a:latin typeface="Consolas" pitchFamily="49" charset="0"/>
                <a:ea typeface="仿宋" pitchFamily="49" charset="-122"/>
                <a:cs typeface="Consolas" pitchFamily="49" charset="0"/>
              </a:rPr>
              <a:t>此成功时的顺序查找的平均查找长度为： </a:t>
            </a:r>
          </a:p>
        </p:txBody>
      </p:sp>
      <p:sp>
        <p:nvSpPr>
          <p:cNvPr id="5" name="TextBox 5">
            <a:extLst>
              <a:ext uri="{FF2B5EF4-FFF2-40B4-BE49-F238E27FC236}">
                <a16:creationId xmlns:a16="http://schemas.microsoft.com/office/drawing/2014/main" id="{A476B5F8-5B36-73A6-11CC-9D2D63FE68FF}"/>
              </a:ext>
            </a:extLst>
          </p:cNvPr>
          <p:cNvSpPr txBox="1"/>
          <p:nvPr/>
        </p:nvSpPr>
        <p:spPr>
          <a:xfrm>
            <a:off x="1272604" y="1873098"/>
            <a:ext cx="5643602" cy="43088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kumimoji="1" lang="zh-CN" altLang="en-US" sz="2200">
                <a:solidFill>
                  <a:srgbClr val="FF0000"/>
                </a:solidFill>
                <a:latin typeface="Consolas" pitchFamily="49" charset="0"/>
                <a:ea typeface="微软雅黑" pitchFamily="34" charset="-122"/>
                <a:cs typeface="Consolas" pitchFamily="49" charset="0"/>
                <a:sym typeface="Wingdings"/>
              </a:rPr>
              <a:t> </a:t>
            </a:r>
            <a:r>
              <a:rPr kumimoji="1" lang="zh-CN" altLang="en-US" sz="2200">
                <a:solidFill>
                  <a:srgbClr val="FF0000"/>
                </a:solidFill>
                <a:latin typeface="Consolas" pitchFamily="49" charset="0"/>
                <a:ea typeface="微软雅黑" pitchFamily="34" charset="-122"/>
                <a:cs typeface="Consolas" pitchFamily="49" charset="0"/>
              </a:rPr>
              <a:t>成功</a:t>
            </a:r>
            <a:r>
              <a:rPr kumimoji="1" lang="zh-CN" altLang="en-US" sz="2200" dirty="0">
                <a:solidFill>
                  <a:srgbClr val="FF0000"/>
                </a:solidFill>
                <a:latin typeface="Consolas" pitchFamily="49" charset="0"/>
                <a:ea typeface="微软雅黑" pitchFamily="34" charset="-122"/>
                <a:cs typeface="Consolas" pitchFamily="49" charset="0"/>
              </a:rPr>
              <a:t>情况下的平均查找</a:t>
            </a:r>
            <a:r>
              <a:rPr kumimoji="1" lang="zh-CN" altLang="en-US" sz="2200">
                <a:solidFill>
                  <a:srgbClr val="FF0000"/>
                </a:solidFill>
                <a:latin typeface="Consolas" pitchFamily="49" charset="0"/>
                <a:ea typeface="微软雅黑" pitchFamily="34" charset="-122"/>
                <a:cs typeface="Consolas" pitchFamily="49" charset="0"/>
              </a:rPr>
              <a:t>长度</a:t>
            </a:r>
            <a:r>
              <a:rPr kumimoji="1" lang="en-US" altLang="zh-CN" sz="2200">
                <a:solidFill>
                  <a:srgbClr val="FF0000"/>
                </a:solidFill>
                <a:latin typeface="Consolas" pitchFamily="49" charset="0"/>
                <a:ea typeface="微软雅黑" pitchFamily="34" charset="-122"/>
                <a:cs typeface="Consolas" pitchFamily="49" charset="0"/>
              </a:rPr>
              <a:t>——ASL</a:t>
            </a:r>
            <a:r>
              <a:rPr kumimoji="1" lang="zh-CN" altLang="en-US" sz="2200" baseline="-25000">
                <a:solidFill>
                  <a:srgbClr val="FF0000"/>
                </a:solidFill>
                <a:latin typeface="Consolas" pitchFamily="49" charset="0"/>
                <a:ea typeface="微软雅黑" pitchFamily="34" charset="-122"/>
                <a:cs typeface="Consolas" pitchFamily="49" charset="0"/>
              </a:rPr>
              <a:t>成功</a:t>
            </a:r>
            <a:endParaRPr lang="zh-CN" altLang="en-US" sz="2200" baseline="-25000" dirty="0">
              <a:solidFill>
                <a:srgbClr val="FF0000"/>
              </a:solidFill>
              <a:latin typeface="Consolas" pitchFamily="49" charset="0"/>
              <a:ea typeface="微软雅黑" pitchFamily="34" charset="-122"/>
              <a:cs typeface="Consolas" pitchFamily="49" charset="0"/>
            </a:endParaRPr>
          </a:p>
        </p:txBody>
      </p:sp>
      <p:grpSp>
        <p:nvGrpSpPr>
          <p:cNvPr id="6" name="组合 9">
            <a:extLst>
              <a:ext uri="{FF2B5EF4-FFF2-40B4-BE49-F238E27FC236}">
                <a16:creationId xmlns:a16="http://schemas.microsoft.com/office/drawing/2014/main" id="{71F2E2AD-D7F8-61FE-283E-B0FDA26B090C}"/>
              </a:ext>
            </a:extLst>
          </p:cNvPr>
          <p:cNvGrpSpPr/>
          <p:nvPr/>
        </p:nvGrpSpPr>
        <p:grpSpPr>
          <a:xfrm>
            <a:off x="1703512" y="4036832"/>
            <a:ext cx="4929222" cy="892346"/>
            <a:chOff x="1214414" y="2608092"/>
            <a:chExt cx="4929222" cy="892346"/>
          </a:xfrm>
        </p:grpSpPr>
        <p:pic>
          <p:nvPicPr>
            <p:cNvPr id="7" name="Picture 3">
              <a:extLst>
                <a:ext uri="{FF2B5EF4-FFF2-40B4-BE49-F238E27FC236}">
                  <a16:creationId xmlns:a16="http://schemas.microsoft.com/office/drawing/2014/main" id="{0A9412D1-61BB-4C22-E764-EFDF51870A31}"/>
                </a:ext>
              </a:extLst>
            </p:cNvPr>
            <p:cNvPicPr>
              <a:picLocks noChangeAspect="1" noChangeArrowheads="1"/>
            </p:cNvPicPr>
            <p:nvPr/>
          </p:nvPicPr>
          <p:blipFill>
            <a:blip r:embed="rId3" cstate="print"/>
            <a:srcRect/>
            <a:stretch>
              <a:fillRect/>
            </a:stretch>
          </p:blipFill>
          <p:spPr bwMode="auto">
            <a:xfrm>
              <a:off x="2357422" y="2608092"/>
              <a:ext cx="3786214" cy="892346"/>
            </a:xfrm>
            <a:prstGeom prst="rect">
              <a:avLst/>
            </a:prstGeom>
            <a:noFill/>
            <a:ln w="9525">
              <a:noFill/>
              <a:miter lim="800000"/>
              <a:headEnd/>
              <a:tailEnd/>
            </a:ln>
          </p:spPr>
        </p:pic>
        <p:sp>
          <p:nvSpPr>
            <p:cNvPr id="8" name="TextBox 8">
              <a:extLst>
                <a:ext uri="{FF2B5EF4-FFF2-40B4-BE49-F238E27FC236}">
                  <a16:creationId xmlns:a16="http://schemas.microsoft.com/office/drawing/2014/main" id="{4F517665-EF09-B6F8-03A7-F10EA344DC92}"/>
                </a:ext>
              </a:extLst>
            </p:cNvPr>
            <p:cNvSpPr txBox="1"/>
            <p:nvPr/>
          </p:nvSpPr>
          <p:spPr>
            <a:xfrm>
              <a:off x="1214414" y="2822406"/>
              <a:ext cx="1357322" cy="400110"/>
            </a:xfrm>
            <a:prstGeom prst="rect">
              <a:avLst/>
            </a:prstGeom>
            <a:noFill/>
          </p:spPr>
          <p:txBody>
            <a:bodyPr wrap="square" rtlCol="0">
              <a:spAutoFit/>
            </a:bodyPr>
            <a:lstStyle/>
            <a:p>
              <a:r>
                <a:rPr kumimoji="1" lang="en-US" altLang="zh-CN" sz="2000" dirty="0">
                  <a:solidFill>
                    <a:schemeClr val="tx1"/>
                  </a:solidFill>
                  <a:latin typeface="Consolas" pitchFamily="49" charset="0"/>
                  <a:ea typeface="华文中宋" pitchFamily="2" charset="-122"/>
                  <a:cs typeface="Consolas" pitchFamily="49" charset="0"/>
                </a:rPr>
                <a:t>ASL</a:t>
              </a:r>
              <a:r>
                <a:rPr kumimoji="1" lang="zh-CN" altLang="en-US" sz="2000" baseline="-25000" dirty="0">
                  <a:solidFill>
                    <a:schemeClr val="tx1"/>
                  </a:solidFill>
                  <a:latin typeface="Consolas" pitchFamily="49" charset="0"/>
                  <a:ea typeface="华文中宋" pitchFamily="2" charset="-122"/>
                  <a:cs typeface="Consolas" pitchFamily="49" charset="0"/>
                </a:rPr>
                <a:t>成功 </a:t>
              </a:r>
              <a:r>
                <a:rPr kumimoji="1" lang="en-US" altLang="zh-CN" sz="2000" dirty="0">
                  <a:solidFill>
                    <a:schemeClr val="tx1"/>
                  </a:solidFill>
                  <a:latin typeface="Consolas" pitchFamily="49" charset="0"/>
                  <a:ea typeface="华文中宋" pitchFamily="2" charset="-122"/>
                  <a:cs typeface="Consolas" pitchFamily="49" charset="0"/>
                </a:rPr>
                <a:t>=</a:t>
              </a:r>
              <a:endParaRPr lang="zh-CN" altLang="en-US" sz="2000" dirty="0">
                <a:solidFill>
                  <a:schemeClr val="tx1"/>
                </a:solidFill>
                <a:latin typeface="Consolas" pitchFamily="49" charset="0"/>
                <a:ea typeface="华文中宋" pitchFamily="2" charset="-122"/>
                <a:cs typeface="Consolas" pitchFamily="49" charset="0"/>
              </a:endParaRPr>
            </a:p>
          </p:txBody>
        </p:sp>
      </p:grpSp>
      <p:sp>
        <p:nvSpPr>
          <p:cNvPr id="13" name="Text Box 1029">
            <a:extLst>
              <a:ext uri="{FF2B5EF4-FFF2-40B4-BE49-F238E27FC236}">
                <a16:creationId xmlns:a16="http://schemas.microsoft.com/office/drawing/2014/main" id="{E702E6DA-F3C8-ECEE-9D9F-61F947B54EF0}"/>
              </a:ext>
            </a:extLst>
          </p:cNvPr>
          <p:cNvSpPr txBox="1">
            <a:spLocks noChangeArrowheads="1"/>
          </p:cNvSpPr>
          <p:nvPr/>
        </p:nvSpPr>
        <p:spPr bwMode="auto">
          <a:xfrm>
            <a:off x="6773712" y="4251146"/>
            <a:ext cx="5143536"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solidFill>
                  <a:srgbClr val="006600"/>
                </a:solidFill>
                <a:latin typeface="Consolas" pitchFamily="49" charset="0"/>
                <a:ea typeface="华文中宋" pitchFamily="2" charset="-122"/>
                <a:cs typeface="Consolas" pitchFamily="49" charset="0"/>
              </a:rPr>
              <a:t>查找成功时的平均比较次数约为表长的一半。</a:t>
            </a:r>
          </a:p>
        </p:txBody>
      </p:sp>
      <p:sp>
        <p:nvSpPr>
          <p:cNvPr id="15" name="TextBox 5">
            <a:extLst>
              <a:ext uri="{FF2B5EF4-FFF2-40B4-BE49-F238E27FC236}">
                <a16:creationId xmlns:a16="http://schemas.microsoft.com/office/drawing/2014/main" id="{7621C3C3-C2F1-643A-829B-2D9B482CD918}"/>
              </a:ext>
            </a:extLst>
          </p:cNvPr>
          <p:cNvSpPr txBox="1"/>
          <p:nvPr/>
        </p:nvSpPr>
        <p:spPr>
          <a:xfrm>
            <a:off x="1271608" y="4929178"/>
            <a:ext cx="5857916" cy="43088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kumimoji="1" lang="zh-CN" altLang="en-US" sz="2200">
                <a:solidFill>
                  <a:srgbClr val="FF0000"/>
                </a:solidFill>
                <a:latin typeface="Consolas" pitchFamily="49" charset="0"/>
                <a:ea typeface="微软雅黑" pitchFamily="34" charset="-122"/>
                <a:cs typeface="Consolas" pitchFamily="49" charset="0"/>
                <a:sym typeface="Wingdings"/>
              </a:rPr>
              <a:t> </a:t>
            </a:r>
            <a:r>
              <a:rPr kumimoji="1" lang="zh-CN" altLang="en-US" sz="2200">
                <a:solidFill>
                  <a:srgbClr val="FF0000"/>
                </a:solidFill>
                <a:latin typeface="Consolas" pitchFamily="49" charset="0"/>
                <a:ea typeface="微软雅黑" pitchFamily="34" charset="-122"/>
                <a:cs typeface="Consolas" pitchFamily="49" charset="0"/>
              </a:rPr>
              <a:t>不</a:t>
            </a:r>
            <a:r>
              <a:rPr kumimoji="1" lang="zh-CN" altLang="en-US" sz="2200" dirty="0">
                <a:solidFill>
                  <a:srgbClr val="FF0000"/>
                </a:solidFill>
                <a:latin typeface="Consolas" pitchFamily="49" charset="0"/>
                <a:ea typeface="微软雅黑" pitchFamily="34" charset="-122"/>
                <a:cs typeface="Consolas" pitchFamily="49" charset="0"/>
              </a:rPr>
              <a:t>成功情况下的平均查找</a:t>
            </a:r>
            <a:r>
              <a:rPr kumimoji="1" lang="zh-CN" altLang="en-US" sz="2200">
                <a:solidFill>
                  <a:srgbClr val="FF0000"/>
                </a:solidFill>
                <a:latin typeface="Consolas" pitchFamily="49" charset="0"/>
                <a:ea typeface="微软雅黑" pitchFamily="34" charset="-122"/>
                <a:cs typeface="Consolas" pitchFamily="49" charset="0"/>
              </a:rPr>
              <a:t>长度</a:t>
            </a:r>
            <a:r>
              <a:rPr kumimoji="1" lang="en-US" altLang="zh-CN" sz="2200">
                <a:solidFill>
                  <a:srgbClr val="FF0000"/>
                </a:solidFill>
                <a:latin typeface="Consolas" pitchFamily="49" charset="0"/>
                <a:ea typeface="微软雅黑" pitchFamily="34" charset="-122"/>
                <a:cs typeface="Consolas" pitchFamily="49" charset="0"/>
              </a:rPr>
              <a:t>——ASL</a:t>
            </a:r>
            <a:r>
              <a:rPr kumimoji="1" lang="zh-CN" altLang="en-US" sz="2200" baseline="-25000">
                <a:solidFill>
                  <a:srgbClr val="FF0000"/>
                </a:solidFill>
                <a:latin typeface="Consolas" pitchFamily="49" charset="0"/>
                <a:ea typeface="微软雅黑" pitchFamily="34" charset="-122"/>
                <a:cs typeface="Consolas" pitchFamily="49" charset="0"/>
              </a:rPr>
              <a:t>不成功</a:t>
            </a:r>
            <a:endParaRPr lang="zh-CN" altLang="en-US" sz="2200" dirty="0">
              <a:solidFill>
                <a:srgbClr val="FF0000"/>
              </a:solidFill>
              <a:latin typeface="Consolas" pitchFamily="49" charset="0"/>
              <a:ea typeface="微软雅黑" pitchFamily="34" charset="-122"/>
              <a:cs typeface="Consolas" pitchFamily="49" charset="0"/>
            </a:endParaRPr>
          </a:p>
        </p:txBody>
      </p:sp>
      <p:sp>
        <p:nvSpPr>
          <p:cNvPr id="16" name="TextBox 6">
            <a:extLst>
              <a:ext uri="{FF2B5EF4-FFF2-40B4-BE49-F238E27FC236}">
                <a16:creationId xmlns:a16="http://schemas.microsoft.com/office/drawing/2014/main" id="{57A1FBCD-97E0-B332-8B6A-7E47C3E1ADBA}"/>
              </a:ext>
            </a:extLst>
          </p:cNvPr>
          <p:cNvSpPr txBox="1"/>
          <p:nvPr/>
        </p:nvSpPr>
        <p:spPr>
          <a:xfrm>
            <a:off x="1271608" y="5502394"/>
            <a:ext cx="6143668" cy="11414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nSpc>
                <a:spcPct val="150000"/>
              </a:lnSpc>
              <a:buBlip>
                <a:blip r:embed="rId2"/>
              </a:buBlip>
            </a:pPr>
            <a:r>
              <a:rPr lang="zh-CN" altLang="en-US" sz="2000" dirty="0">
                <a:latin typeface="Consolas" pitchFamily="49" charset="0"/>
                <a:ea typeface="仿宋" pitchFamily="49" charset="-122"/>
                <a:cs typeface="Consolas" pitchFamily="49" charset="0"/>
              </a:rPr>
              <a:t>查找</a:t>
            </a:r>
            <a:r>
              <a:rPr kumimoji="1" lang="zh-CN" altLang="en-US" sz="2000" dirty="0">
                <a:latin typeface="Consolas" pitchFamily="49" charset="0"/>
                <a:ea typeface="仿宋" pitchFamily="49" charset="-122"/>
                <a:cs typeface="Consolas" pitchFamily="49" charset="0"/>
              </a:rPr>
              <a:t>不成功时需要和表中所有元素都比较一次。</a:t>
            </a:r>
            <a:endParaRPr kumimoji="1" lang="en-US" altLang="zh-CN" sz="2000" dirty="0">
              <a:latin typeface="Consolas" pitchFamily="49" charset="0"/>
              <a:ea typeface="仿宋" pitchFamily="49" charset="-122"/>
              <a:cs typeface="Consolas" pitchFamily="49" charset="0"/>
            </a:endParaRPr>
          </a:p>
          <a:p>
            <a:pPr marL="342900" indent="-342900">
              <a:lnSpc>
                <a:spcPct val="150000"/>
              </a:lnSpc>
              <a:buBlip>
                <a:blip r:embed="rId2"/>
              </a:buBlip>
            </a:pPr>
            <a:r>
              <a:rPr kumimoji="1" lang="en-US" altLang="zh-CN" sz="2000" dirty="0">
                <a:latin typeface="Consolas" pitchFamily="49" charset="0"/>
                <a:ea typeface="华文中宋" pitchFamily="2" charset="-122"/>
                <a:cs typeface="Consolas" pitchFamily="49" charset="0"/>
              </a:rPr>
              <a:t>ASL</a:t>
            </a:r>
            <a:r>
              <a:rPr kumimoji="1" lang="zh-CN" altLang="en-US" sz="2000" baseline="-25000" dirty="0">
                <a:latin typeface="Consolas" pitchFamily="49" charset="0"/>
                <a:ea typeface="华文中宋" pitchFamily="2" charset="-122"/>
                <a:cs typeface="Consolas" pitchFamily="49" charset="0"/>
              </a:rPr>
              <a:t>不成功</a:t>
            </a:r>
            <a:r>
              <a:rPr kumimoji="1" lang="en-US" altLang="zh-CN"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n</a:t>
            </a:r>
            <a:r>
              <a:rPr kumimoji="1" lang="zh-CN" altLang="en-US" sz="2000" dirty="0">
                <a:latin typeface="Consolas" pitchFamily="49" charset="0"/>
                <a:ea typeface="仿宋" pitchFamily="49" charset="-122"/>
                <a:cs typeface="Consolas" pitchFamily="49" charset="0"/>
              </a:rPr>
              <a:t>。</a:t>
            </a:r>
            <a:endParaRPr lang="zh-CN" altLang="en-US" sz="2000" dirty="0">
              <a:latin typeface="Consolas" pitchFamily="49" charset="0"/>
              <a:ea typeface="仿宋" pitchFamily="49" charset="-122"/>
              <a:cs typeface="Consolas" pitchFamily="49" charset="0"/>
            </a:endParaRPr>
          </a:p>
        </p:txBody>
      </p:sp>
      <p:sp>
        <p:nvSpPr>
          <p:cNvPr id="18" name="Text Box 28">
            <a:extLst>
              <a:ext uri="{FF2B5EF4-FFF2-40B4-BE49-F238E27FC236}">
                <a16:creationId xmlns:a16="http://schemas.microsoft.com/office/drawing/2014/main" id="{5C443377-735A-5FAD-A85B-B90CCC52A371}"/>
              </a:ext>
            </a:extLst>
          </p:cNvPr>
          <p:cNvSpPr txBox="1">
            <a:spLocks noChangeArrowheads="1"/>
          </p:cNvSpPr>
          <p:nvPr/>
        </p:nvSpPr>
        <p:spPr bwMode="auto">
          <a:xfrm>
            <a:off x="7667511" y="6060520"/>
            <a:ext cx="3829089"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solidFill>
                  <a:srgbClr val="006600"/>
                </a:solidFill>
                <a:latin typeface="Consolas" pitchFamily="49" charset="0"/>
                <a:ea typeface="华文中宋" pitchFamily="2" charset="-122"/>
                <a:cs typeface="Consolas" pitchFamily="49" charset="0"/>
              </a:rPr>
              <a:t>顺序查找的时间复杂度为</a:t>
            </a:r>
            <a:r>
              <a:rPr kumimoji="1" lang="en-US" altLang="zh-CN" sz="2000" dirty="0">
                <a:solidFill>
                  <a:srgbClr val="006600"/>
                </a:solidFill>
                <a:latin typeface="Consolas" pitchFamily="49" charset="0"/>
                <a:ea typeface="华文中宋" pitchFamily="2" charset="-122"/>
                <a:cs typeface="Consolas" pitchFamily="49" charset="0"/>
              </a:rPr>
              <a:t>O(</a:t>
            </a:r>
            <a:r>
              <a:rPr kumimoji="1" lang="en-US" altLang="zh-CN" sz="2000" i="1" dirty="0">
                <a:solidFill>
                  <a:srgbClr val="006600"/>
                </a:solidFill>
                <a:latin typeface="Consolas" pitchFamily="49" charset="0"/>
                <a:ea typeface="华文中宋" pitchFamily="2" charset="-122"/>
                <a:cs typeface="Consolas" pitchFamily="49" charset="0"/>
              </a:rPr>
              <a:t>n</a:t>
            </a:r>
            <a:r>
              <a:rPr kumimoji="1" lang="en-US" altLang="zh-CN" sz="2000" dirty="0">
                <a:solidFill>
                  <a:srgbClr val="006600"/>
                </a:solidFill>
                <a:latin typeface="Consolas" pitchFamily="49" charset="0"/>
                <a:ea typeface="华文中宋" pitchFamily="2" charset="-122"/>
                <a:cs typeface="Consolas" pitchFamily="49" charset="0"/>
              </a:rPr>
              <a:t>)</a:t>
            </a:r>
            <a:r>
              <a:rPr kumimoji="1" lang="zh-CN" altLang="en-US" sz="2000" dirty="0">
                <a:solidFill>
                  <a:srgbClr val="006600"/>
                </a:solidFill>
                <a:latin typeface="Consolas" pitchFamily="49" charset="0"/>
                <a:ea typeface="华文中宋" pitchFamily="2" charset="-122"/>
                <a:cs typeface="Consolas" pitchFamily="49" charset="0"/>
              </a:rPr>
              <a:t> 。</a:t>
            </a:r>
          </a:p>
        </p:txBody>
      </p:sp>
    </p:spTree>
    <p:extLst>
      <p:ext uri="{BB962C8B-B14F-4D97-AF65-F5344CB8AC3E}">
        <p14:creationId xmlns:p14="http://schemas.microsoft.com/office/powerpoint/2010/main" val="112529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6"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E68F7-6FA1-C980-A5DC-89B33B7C21D6}"/>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5313E4B7-194B-68E8-4E95-EFA773052AC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56A10A46-EB00-FF79-DED6-E7B3EB6F9AA4}"/>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1" name="直接连接符 10">
            <a:extLst>
              <a:ext uri="{FF2B5EF4-FFF2-40B4-BE49-F238E27FC236}">
                <a16:creationId xmlns:a16="http://schemas.microsoft.com/office/drawing/2014/main" id="{30A67F3B-50EC-81F2-D41C-9B57BC5C39AE}"/>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Box 2">
            <a:extLst>
              <a:ext uri="{FF2B5EF4-FFF2-40B4-BE49-F238E27FC236}">
                <a16:creationId xmlns:a16="http://schemas.microsoft.com/office/drawing/2014/main" id="{11A427CB-2A05-EE89-3D8D-C6F811BDC6BD}"/>
              </a:ext>
            </a:extLst>
          </p:cNvPr>
          <p:cNvSpPr txBox="1"/>
          <p:nvPr/>
        </p:nvSpPr>
        <p:spPr>
          <a:xfrm>
            <a:off x="1485778" y="3347472"/>
            <a:ext cx="7643866" cy="306080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lIns="216000" tIns="144000" bIns="144000" rtlCol="0">
            <a:spAutoFit/>
          </a:bodyPr>
          <a:lstStyle/>
          <a:p>
            <a:r>
              <a:rPr lang="en-US" altLang="zh-CN" sz="1800">
                <a:solidFill>
                  <a:srgbClr val="0000FF"/>
                </a:solidFill>
                <a:latin typeface="Consolas" pitchFamily="49" charset="0"/>
                <a:ea typeface="仿宋" pitchFamily="49" charset="-122"/>
                <a:cs typeface="Consolas" pitchFamily="49" charset="0"/>
              </a:rPr>
              <a:t>int </a:t>
            </a:r>
            <a:r>
              <a:rPr lang="en-US" altLang="zh-CN" sz="1800">
                <a:solidFill>
                  <a:srgbClr val="FF0000"/>
                </a:solidFill>
                <a:latin typeface="Consolas" pitchFamily="49" charset="0"/>
                <a:ea typeface="仿宋" pitchFamily="49" charset="-122"/>
                <a:cs typeface="Consolas" pitchFamily="49" charset="0"/>
              </a:rPr>
              <a:t>SeqSearch1</a:t>
            </a:r>
            <a:r>
              <a:rPr lang="en-US" altLang="zh-CN" sz="1800">
                <a:solidFill>
                  <a:srgbClr val="0000FF"/>
                </a:solidFill>
                <a:latin typeface="Consolas" pitchFamily="49" charset="0"/>
                <a:ea typeface="仿宋" pitchFamily="49" charset="-122"/>
                <a:cs typeface="Consolas" pitchFamily="49" charset="0"/>
              </a:rPr>
              <a:t>(RecType R[],int n,KeyType k)</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int i=0;</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R[n].key=k;</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while (R[i].key!=k)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从表头往后找</a:t>
            </a:r>
          </a:p>
          <a:p>
            <a:r>
              <a:rPr lang="en-US" altLang="zh-CN" sz="1800">
                <a:solidFill>
                  <a:srgbClr val="0000FF"/>
                </a:solidFill>
                <a:latin typeface="Consolas" pitchFamily="49" charset="0"/>
                <a:ea typeface="仿宋" pitchFamily="49" charset="-122"/>
                <a:cs typeface="Consolas" pitchFamily="49" charset="0"/>
              </a:rPr>
              <a:t>      i++;</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if (i==n)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未找到返回</a:t>
            </a:r>
            <a:r>
              <a:rPr lang="en-US" altLang="zh-CN" sz="1800">
                <a:solidFill>
                  <a:srgbClr val="00B0F0"/>
                </a:solidFill>
                <a:latin typeface="Consolas" pitchFamily="49" charset="0"/>
                <a:ea typeface="仿宋" pitchFamily="49" charset="-122"/>
                <a:cs typeface="Consolas" pitchFamily="49" charset="0"/>
              </a:rPr>
              <a:t>0</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return 0;</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else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return i+1;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找到返回逻辑序号</a:t>
            </a:r>
            <a:r>
              <a:rPr lang="en-US" altLang="zh-CN" sz="1800">
                <a:solidFill>
                  <a:srgbClr val="00B0F0"/>
                </a:solidFill>
                <a:latin typeface="Consolas" pitchFamily="49" charset="0"/>
                <a:ea typeface="仿宋" pitchFamily="49" charset="-122"/>
                <a:cs typeface="Consolas" pitchFamily="49" charset="0"/>
              </a:rPr>
              <a:t>i+1</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3" name="TextBox 3">
            <a:extLst>
              <a:ext uri="{FF2B5EF4-FFF2-40B4-BE49-F238E27FC236}">
                <a16:creationId xmlns:a16="http://schemas.microsoft.com/office/drawing/2014/main" id="{AD9875BC-EE87-D29D-E315-59F6079C099F}"/>
              </a:ext>
            </a:extLst>
          </p:cNvPr>
          <p:cNvSpPr txBox="1"/>
          <p:nvPr/>
        </p:nvSpPr>
        <p:spPr>
          <a:xfrm>
            <a:off x="1271464" y="1836242"/>
            <a:ext cx="8143932" cy="126481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nSpc>
                <a:spcPts val="3000"/>
              </a:lnSpc>
              <a:buBlip>
                <a:blip r:embed="rId2"/>
              </a:buBlip>
            </a:pPr>
            <a:r>
              <a:rPr lang="zh-CN" altLang="zh-CN" sz="2000">
                <a:solidFill>
                  <a:srgbClr val="3333FF"/>
                </a:solidFill>
                <a:latin typeface="Consolas" pitchFamily="49" charset="0"/>
                <a:ea typeface="仿宋" pitchFamily="49" charset="-122"/>
                <a:cs typeface="Consolas" pitchFamily="49" charset="0"/>
              </a:rPr>
              <a:t>可以在</a:t>
            </a:r>
            <a:r>
              <a:rPr lang="en-US" altLang="zh-CN" sz="2000" i="1">
                <a:solidFill>
                  <a:srgbClr val="3333FF"/>
                </a:solidFill>
                <a:latin typeface="Consolas" pitchFamily="49" charset="0"/>
                <a:ea typeface="仿宋" pitchFamily="49" charset="-122"/>
                <a:cs typeface="Consolas" pitchFamily="49" charset="0"/>
              </a:rPr>
              <a:t>R</a:t>
            </a:r>
            <a:r>
              <a:rPr lang="zh-CN" altLang="zh-CN" sz="2000">
                <a:solidFill>
                  <a:srgbClr val="3333FF"/>
                </a:solidFill>
                <a:latin typeface="Consolas" pitchFamily="49" charset="0"/>
                <a:ea typeface="仿宋" pitchFamily="49" charset="-122"/>
                <a:cs typeface="Consolas" pitchFamily="49" charset="0"/>
              </a:rPr>
              <a:t>的末尾增加一个关键字为</a:t>
            </a:r>
            <a:r>
              <a:rPr lang="en-US" altLang="zh-CN" sz="2000" i="1">
                <a:solidFill>
                  <a:srgbClr val="3333FF"/>
                </a:solidFill>
                <a:latin typeface="Consolas" pitchFamily="49" charset="0"/>
                <a:ea typeface="仿宋" pitchFamily="49" charset="-122"/>
                <a:cs typeface="Consolas" pitchFamily="49" charset="0"/>
              </a:rPr>
              <a:t>k</a:t>
            </a:r>
            <a:r>
              <a:rPr lang="zh-CN" altLang="zh-CN" sz="2000">
                <a:solidFill>
                  <a:srgbClr val="3333FF"/>
                </a:solidFill>
                <a:latin typeface="Consolas" pitchFamily="49" charset="0"/>
                <a:ea typeface="仿宋" pitchFamily="49" charset="-122"/>
                <a:cs typeface="Consolas" pitchFamily="49" charset="0"/>
              </a:rPr>
              <a:t>的</a:t>
            </a:r>
            <a:r>
              <a:rPr lang="zh-CN" altLang="en-US" sz="2000">
                <a:solidFill>
                  <a:srgbClr val="3333FF"/>
                </a:solidFill>
                <a:latin typeface="Consolas" pitchFamily="49" charset="0"/>
                <a:ea typeface="仿宋" pitchFamily="49" charset="-122"/>
                <a:cs typeface="Consolas" pitchFamily="49" charset="0"/>
              </a:rPr>
              <a:t>元素</a:t>
            </a:r>
            <a:r>
              <a:rPr lang="zh-CN" altLang="zh-CN" sz="2000">
                <a:solidFill>
                  <a:srgbClr val="3333FF"/>
                </a:solidFill>
                <a:latin typeface="Consolas" pitchFamily="49" charset="0"/>
                <a:ea typeface="仿宋" pitchFamily="49" charset="-122"/>
                <a:cs typeface="Consolas" pitchFamily="49" charset="0"/>
              </a:rPr>
              <a:t>，称之为</a:t>
            </a:r>
            <a:r>
              <a:rPr lang="zh-CN" altLang="zh-CN" sz="2000">
                <a:solidFill>
                  <a:srgbClr val="FF0000"/>
                </a:solidFill>
                <a:latin typeface="Consolas" pitchFamily="49" charset="0"/>
                <a:ea typeface="仿宋" pitchFamily="49" charset="-122"/>
                <a:cs typeface="Consolas" pitchFamily="49" charset="0"/>
              </a:rPr>
              <a:t>哨兵</a:t>
            </a:r>
            <a:r>
              <a:rPr lang="zh-CN" altLang="en-US" sz="2000">
                <a:solidFill>
                  <a:srgbClr val="3333FF"/>
                </a:solidFill>
                <a:latin typeface="Consolas" pitchFamily="49" charset="0"/>
                <a:ea typeface="仿宋" pitchFamily="49" charset="-122"/>
                <a:cs typeface="Consolas" pitchFamily="49" charset="0"/>
              </a:rPr>
              <a:t>。</a:t>
            </a:r>
            <a:endParaRPr lang="en-US" altLang="zh-CN" sz="2000">
              <a:solidFill>
                <a:srgbClr val="3333FF"/>
              </a:solidFill>
              <a:latin typeface="Consolas" pitchFamily="49" charset="0"/>
              <a:ea typeface="仿宋" pitchFamily="49" charset="-122"/>
              <a:cs typeface="Consolas" pitchFamily="49" charset="0"/>
            </a:endParaRPr>
          </a:p>
          <a:p>
            <a:pPr marL="457200" indent="-457200">
              <a:lnSpc>
                <a:spcPts val="3000"/>
              </a:lnSpc>
              <a:buBlip>
                <a:blip r:embed="rId2"/>
              </a:buBlip>
            </a:pPr>
            <a:r>
              <a:rPr lang="zh-CN" altLang="en-US" sz="2000">
                <a:solidFill>
                  <a:srgbClr val="3333FF"/>
                </a:solidFill>
                <a:latin typeface="Consolas" pitchFamily="49" charset="0"/>
                <a:ea typeface="仿宋" pitchFamily="49" charset="-122"/>
                <a:cs typeface="Consolas" pitchFamily="49" charset="0"/>
              </a:rPr>
              <a:t>增加</a:t>
            </a:r>
            <a:r>
              <a:rPr lang="zh-CN" altLang="zh-CN" sz="2000">
                <a:solidFill>
                  <a:srgbClr val="3333FF"/>
                </a:solidFill>
                <a:latin typeface="Consolas" pitchFamily="49" charset="0"/>
                <a:ea typeface="仿宋" pitchFamily="49" charset="-122"/>
                <a:cs typeface="Consolas" pitchFamily="49" charset="0"/>
              </a:rPr>
              <a:t>哨兵</a:t>
            </a:r>
            <a:r>
              <a:rPr lang="zh-CN" altLang="en-US" sz="2000">
                <a:solidFill>
                  <a:srgbClr val="3333FF"/>
                </a:solidFill>
                <a:latin typeface="Consolas" pitchFamily="49" charset="0"/>
                <a:ea typeface="仿宋" pitchFamily="49" charset="-122"/>
                <a:cs typeface="Consolas" pitchFamily="49" charset="0"/>
              </a:rPr>
              <a:t>后</a:t>
            </a:r>
            <a:r>
              <a:rPr lang="zh-CN" altLang="zh-CN" sz="2000">
                <a:solidFill>
                  <a:srgbClr val="3333FF"/>
                </a:solidFill>
                <a:latin typeface="Consolas" pitchFamily="49" charset="0"/>
                <a:ea typeface="仿宋" pitchFamily="49" charset="-122"/>
                <a:cs typeface="Consolas" pitchFamily="49" charset="0"/>
              </a:rPr>
              <a:t>查找过程不再需要判断</a:t>
            </a:r>
            <a:r>
              <a:rPr lang="en-US" altLang="zh-CN" sz="2000" i="1">
                <a:solidFill>
                  <a:srgbClr val="3333FF"/>
                </a:solidFill>
                <a:latin typeface="Consolas" pitchFamily="49" charset="0"/>
                <a:ea typeface="仿宋" pitchFamily="49" charset="-122"/>
                <a:cs typeface="Consolas" pitchFamily="49" charset="0"/>
              </a:rPr>
              <a:t>i</a:t>
            </a:r>
            <a:r>
              <a:rPr lang="zh-CN" altLang="zh-CN" sz="2000">
                <a:solidFill>
                  <a:srgbClr val="3333FF"/>
                </a:solidFill>
                <a:latin typeface="Consolas" pitchFamily="49" charset="0"/>
                <a:ea typeface="仿宋" pitchFamily="49" charset="-122"/>
                <a:cs typeface="Consolas" pitchFamily="49" charset="0"/>
              </a:rPr>
              <a:t>是否超界，从而提高查找速度</a:t>
            </a:r>
            <a:r>
              <a:rPr lang="zh-CN" altLang="en-US" sz="2000">
                <a:solidFill>
                  <a:srgbClr val="3333FF"/>
                </a:solidFill>
                <a:latin typeface="Consolas" pitchFamily="49" charset="0"/>
                <a:ea typeface="仿宋" pitchFamily="49" charset="-122"/>
                <a:cs typeface="Consolas" pitchFamily="49" charset="0"/>
              </a:rPr>
              <a:t>。</a:t>
            </a:r>
            <a:endParaRPr lang="en-US" altLang="zh-CN" sz="2000">
              <a:solidFill>
                <a:srgbClr val="3333FF"/>
              </a:solidFill>
              <a:latin typeface="Consolas" pitchFamily="49" charset="0"/>
              <a:ea typeface="仿宋" pitchFamily="49" charset="-122"/>
              <a:cs typeface="Consolas" pitchFamily="49" charset="0"/>
            </a:endParaRPr>
          </a:p>
          <a:p>
            <a:pPr marL="457200" indent="-457200">
              <a:lnSpc>
                <a:spcPts val="3000"/>
              </a:lnSpc>
              <a:buBlip>
                <a:blip r:embed="rId2"/>
              </a:buBlip>
            </a:pPr>
            <a:r>
              <a:rPr lang="zh-CN" altLang="en-US" sz="2000">
                <a:solidFill>
                  <a:srgbClr val="3333FF"/>
                </a:solidFill>
                <a:latin typeface="Consolas" pitchFamily="49" charset="0"/>
                <a:ea typeface="仿宋" pitchFamily="49" charset="-122"/>
                <a:cs typeface="Consolas" pitchFamily="49" charset="0"/>
              </a:rPr>
              <a:t>带</a:t>
            </a:r>
            <a:r>
              <a:rPr lang="zh-CN" altLang="zh-CN" sz="2000">
                <a:solidFill>
                  <a:srgbClr val="3333FF"/>
                </a:solidFill>
                <a:latin typeface="Consolas" pitchFamily="49" charset="0"/>
                <a:ea typeface="仿宋" pitchFamily="49" charset="-122"/>
                <a:cs typeface="Consolas" pitchFamily="49" charset="0"/>
              </a:rPr>
              <a:t>哨兵的</a:t>
            </a:r>
            <a:r>
              <a:rPr lang="zh-CN" altLang="en-US" sz="2000">
                <a:solidFill>
                  <a:srgbClr val="3333FF"/>
                </a:solidFill>
                <a:latin typeface="Consolas" pitchFamily="49" charset="0"/>
                <a:ea typeface="仿宋" pitchFamily="49" charset="-122"/>
                <a:cs typeface="Consolas" pitchFamily="49" charset="0"/>
              </a:rPr>
              <a:t>顺序查找</a:t>
            </a:r>
            <a:r>
              <a:rPr lang="zh-CN" altLang="zh-CN" sz="2000">
                <a:solidFill>
                  <a:srgbClr val="3333FF"/>
                </a:solidFill>
                <a:latin typeface="Consolas" pitchFamily="49" charset="0"/>
                <a:ea typeface="仿宋" pitchFamily="49" charset="-122"/>
                <a:cs typeface="Consolas" pitchFamily="49" charset="0"/>
              </a:rPr>
              <a:t>算法如下：</a:t>
            </a:r>
            <a:endParaRPr lang="zh-CN" altLang="en-US" sz="2000">
              <a:solidFill>
                <a:srgbClr val="3333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29845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41BA6-2689-8905-C757-C7776EC06F7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0A946303-6355-C8CA-0CE6-E2E448F94B86}"/>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5B687890-5A86-A681-8798-548801BA1A25}"/>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1" name="直接连接符 10">
            <a:extLst>
              <a:ext uri="{FF2B5EF4-FFF2-40B4-BE49-F238E27FC236}">
                <a16:creationId xmlns:a16="http://schemas.microsoft.com/office/drawing/2014/main" id="{DB684015-FB66-470C-6F82-BE4587D2167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TextBox 8">
            <a:extLst>
              <a:ext uri="{FF2B5EF4-FFF2-40B4-BE49-F238E27FC236}">
                <a16:creationId xmlns:a16="http://schemas.microsoft.com/office/drawing/2014/main" id="{80468D57-9DCC-56FA-348E-24618DED79BB}"/>
              </a:ext>
            </a:extLst>
          </p:cNvPr>
          <p:cNvSpPr txBox="1"/>
          <p:nvPr/>
        </p:nvSpPr>
        <p:spPr>
          <a:xfrm>
            <a:off x="839416" y="1805803"/>
            <a:ext cx="9793088" cy="1299651"/>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nSpc>
                <a:spcPts val="2800"/>
              </a:lnSpc>
              <a:spcBef>
                <a:spcPts val="1200"/>
              </a:spcBef>
            </a:pPr>
            <a:r>
              <a:rPr lang="en-US" altLang="zh-CN" sz="2000" dirty="0">
                <a:latin typeface="Consolas" pitchFamily="49" charset="0"/>
                <a:ea typeface="楷体" pitchFamily="49" charset="-122"/>
                <a:cs typeface="Consolas" pitchFamily="49" charset="0"/>
              </a:rPr>
              <a:t>   </a:t>
            </a:r>
            <a:r>
              <a:rPr lang="zh-CN" altLang="zh-CN" sz="2000" dirty="0">
                <a:latin typeface="Consolas" pitchFamily="49" charset="0"/>
                <a:ea typeface="楷体" pitchFamily="49" charset="-122"/>
                <a:cs typeface="Consolas" pitchFamily="49" charset="0"/>
              </a:rPr>
              <a:t>对含有</a:t>
            </a:r>
            <a:r>
              <a:rPr lang="en-US" altLang="zh-CN" sz="2000" dirty="0">
                <a:latin typeface="Consolas" pitchFamily="49" charset="0"/>
                <a:ea typeface="楷体" pitchFamily="49" charset="-122"/>
                <a:cs typeface="Consolas" pitchFamily="49" charset="0"/>
              </a:rPr>
              <a:t>n</a:t>
            </a:r>
            <a:r>
              <a:rPr lang="zh-CN" altLang="zh-CN" sz="2000" dirty="0">
                <a:latin typeface="Consolas" pitchFamily="49" charset="0"/>
                <a:ea typeface="楷体" pitchFamily="49" charset="-122"/>
                <a:cs typeface="Consolas" pitchFamily="49" charset="0"/>
              </a:rPr>
              <a:t>个元素的线性表采用顺序查找方法，假设查找成功和不成功的可能性相同，对每个元素的查找概率也相同，此时顺序查找的平均查找长度为</a:t>
            </a:r>
            <a:r>
              <a:rPr lang="zh-CN" altLang="en-US" sz="2000" dirty="0">
                <a:latin typeface="Consolas" pitchFamily="49" charset="0"/>
                <a:ea typeface="楷体" pitchFamily="49" charset="-122"/>
                <a:cs typeface="Consolas" pitchFamily="49" charset="0"/>
              </a:rPr>
              <a:t>（  ）</a:t>
            </a:r>
            <a:r>
              <a:rPr lang="zh-CN" altLang="zh-CN" sz="2000" dirty="0">
                <a:latin typeface="Consolas" pitchFamily="49" charset="0"/>
                <a:ea typeface="楷体" pitchFamily="49" charset="-122"/>
                <a:cs typeface="Consolas" pitchFamily="49" charset="0"/>
              </a:rPr>
              <a:t>。</a:t>
            </a:r>
          </a:p>
          <a:p>
            <a:pPr>
              <a:lnSpc>
                <a:spcPts val="2800"/>
              </a:lnSpc>
              <a:spcBef>
                <a:spcPts val="1200"/>
              </a:spcBef>
            </a:pPr>
            <a:r>
              <a:rPr lang="pt-BR" altLang="zh-CN" sz="2000" dirty="0">
                <a:latin typeface="Consolas" pitchFamily="49" charset="0"/>
                <a:ea typeface="楷体" pitchFamily="49" charset="-122"/>
                <a:cs typeface="Consolas" pitchFamily="49" charset="0"/>
              </a:rPr>
              <a:t>   A.(n+1)/2	  B.(n+1)/4	  C.(n-1)/2	D.(3n+1)/4</a:t>
            </a:r>
            <a:endParaRPr lang="zh-CN" altLang="zh-CN" sz="2000" dirty="0">
              <a:latin typeface="Consolas" pitchFamily="49" charset="0"/>
              <a:ea typeface="楷体" pitchFamily="49" charset="-122"/>
              <a:cs typeface="Consolas" pitchFamily="49" charset="0"/>
            </a:endParaRPr>
          </a:p>
        </p:txBody>
      </p:sp>
      <p:sp>
        <p:nvSpPr>
          <p:cNvPr id="5" name="TextBox 9">
            <a:extLst>
              <a:ext uri="{FF2B5EF4-FFF2-40B4-BE49-F238E27FC236}">
                <a16:creationId xmlns:a16="http://schemas.microsoft.com/office/drawing/2014/main" id="{852ACDBA-D3C4-61CE-E866-63648663F548}"/>
              </a:ext>
            </a:extLst>
          </p:cNvPr>
          <p:cNvSpPr txBox="1"/>
          <p:nvPr/>
        </p:nvSpPr>
        <p:spPr>
          <a:xfrm>
            <a:off x="1055440" y="3155373"/>
            <a:ext cx="7715304" cy="2862322"/>
          </a:xfrm>
          <a:prstGeom prst="rect">
            <a:avLst/>
          </a:prstGeom>
          <a:noFill/>
        </p:spPr>
        <p:txBody>
          <a:bodyPr wrap="square" rtlCol="0">
            <a:spAutoFit/>
          </a:bodyPr>
          <a:lstStyle/>
          <a:p>
            <a:pPr marL="342900" indent="-342900">
              <a:lnSpc>
                <a:spcPct val="150000"/>
              </a:lnSpc>
              <a:buBlip>
                <a:blip r:embed="rId2"/>
              </a:buBlip>
            </a:pPr>
            <a:r>
              <a:rPr lang="zh-CN" altLang="zh-CN" sz="2000" dirty="0">
                <a:latin typeface="Consolas" pitchFamily="49" charset="0"/>
                <a:ea typeface="仿宋" pitchFamily="49" charset="-122"/>
                <a:cs typeface="Consolas" pitchFamily="49" charset="0"/>
              </a:rPr>
              <a:t>查找成功和不成功的概率</a:t>
            </a:r>
            <a:r>
              <a:rPr lang="zh-CN" altLang="en-US" sz="2000" dirty="0">
                <a:latin typeface="Consolas" pitchFamily="49" charset="0"/>
                <a:ea typeface="仿宋" pitchFamily="49" charset="-122"/>
                <a:cs typeface="Consolas" pitchFamily="49" charset="0"/>
              </a:rPr>
              <a:t>均为</a:t>
            </a:r>
            <a:r>
              <a:rPr lang="en-US" altLang="zh-CN" sz="2000" dirty="0">
                <a:latin typeface="Consolas" pitchFamily="49" charset="0"/>
                <a:ea typeface="仿宋" pitchFamily="49" charset="-122"/>
                <a:cs typeface="Consolas" pitchFamily="49" charset="0"/>
              </a:rPr>
              <a:t>1/2</a:t>
            </a:r>
          </a:p>
          <a:p>
            <a:pPr marL="342900" indent="-342900">
              <a:lnSpc>
                <a:spcPct val="150000"/>
              </a:lnSpc>
              <a:buBlip>
                <a:blip r:embed="rId2"/>
              </a:buBlip>
            </a:pPr>
            <a:r>
              <a:rPr lang="zh-CN" altLang="zh-CN" sz="2000" dirty="0">
                <a:latin typeface="Consolas" pitchFamily="49" charset="0"/>
                <a:ea typeface="仿宋" pitchFamily="49" charset="-122"/>
                <a:cs typeface="Consolas" pitchFamily="49" charset="0"/>
              </a:rPr>
              <a:t>查找成功</a:t>
            </a:r>
            <a:r>
              <a:rPr lang="zh-CN" altLang="en-US" sz="2000" dirty="0">
                <a:latin typeface="Consolas" pitchFamily="49" charset="0"/>
                <a:ea typeface="仿宋" pitchFamily="49" charset="-122"/>
                <a:cs typeface="Consolas" pitchFamily="49" charset="0"/>
              </a:rPr>
              <a:t>时，</a:t>
            </a:r>
            <a:r>
              <a:rPr lang="zh-CN" altLang="zh-CN" sz="2000" dirty="0">
                <a:latin typeface="Consolas" pitchFamily="49" charset="0"/>
                <a:ea typeface="仿宋" pitchFamily="49" charset="-122"/>
                <a:cs typeface="Consolas" pitchFamily="49" charset="0"/>
              </a:rPr>
              <a:t>每个元素的查找概率</a:t>
            </a:r>
            <a:r>
              <a:rPr lang="zh-CN" altLang="en-US" sz="2000" dirty="0">
                <a:latin typeface="Consolas" pitchFamily="49" charset="0"/>
                <a:ea typeface="仿宋" pitchFamily="49" charset="-122"/>
                <a:cs typeface="Consolas" pitchFamily="49" charset="0"/>
              </a:rPr>
              <a:t>为</a:t>
            </a:r>
            <a:r>
              <a:rPr lang="en-US" altLang="zh-CN" sz="2000" dirty="0">
                <a:latin typeface="Consolas" pitchFamily="49" charset="0"/>
                <a:ea typeface="仿宋" pitchFamily="49" charset="-122"/>
                <a:cs typeface="Consolas" pitchFamily="49" charset="0"/>
              </a:rPr>
              <a:t>(1/2)/</a:t>
            </a:r>
            <a:r>
              <a:rPr lang="en-US" altLang="zh-CN" sz="2000" i="1" dirty="0">
                <a:latin typeface="Consolas" pitchFamily="49" charset="0"/>
                <a:ea typeface="仿宋" pitchFamily="49" charset="-122"/>
                <a:cs typeface="Consolas" pitchFamily="49" charset="0"/>
              </a:rPr>
              <a:t>n</a:t>
            </a:r>
            <a:r>
              <a:rPr lang="zh-CN" altLang="en-US" sz="2000" dirty="0">
                <a:latin typeface="Consolas" pitchFamily="49" charset="0"/>
                <a:ea typeface="仿宋" pitchFamily="49" charset="-122"/>
                <a:cs typeface="Consolas" pitchFamily="49" charset="0"/>
              </a:rPr>
              <a:t>，查找</a:t>
            </a:r>
            <a:r>
              <a:rPr lang="en-US" altLang="zh-CN" sz="2000" i="1" dirty="0">
                <a:latin typeface="Consolas" pitchFamily="49" charset="0"/>
                <a:ea typeface="仿宋" pitchFamily="49" charset="-122"/>
                <a:cs typeface="Consolas" pitchFamily="49" charset="0"/>
              </a:rPr>
              <a:t>k</a:t>
            </a:r>
            <a:r>
              <a:rPr lang="en-US" altLang="zh-CN" sz="2000" i="1" baseline="-25000" dirty="0">
                <a:latin typeface="Consolas" pitchFamily="49" charset="0"/>
                <a:ea typeface="仿宋" pitchFamily="49" charset="-122"/>
                <a:cs typeface="Consolas" pitchFamily="49" charset="0"/>
              </a:rPr>
              <a:t>i</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a:t>
            </a:r>
            <a:r>
              <a:rPr lang="en-US" altLang="zh-CN" sz="2000" i="1" dirty="0">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n</a:t>
            </a:r>
            <a:r>
              <a:rPr lang="en-US" altLang="zh-CN" sz="2000" dirty="0">
                <a:latin typeface="Consolas" pitchFamily="49" charset="0"/>
                <a:ea typeface="仿宋" pitchFamily="49" charset="-122"/>
                <a:cs typeface="Consolas" pitchFamily="49" charset="0"/>
              </a:rPr>
              <a:t> </a:t>
            </a:r>
            <a:r>
              <a:rPr lang="zh-CN" altLang="en-US" sz="2000" dirty="0">
                <a:latin typeface="Consolas" pitchFamily="49" charset="0"/>
                <a:ea typeface="仿宋" pitchFamily="49" charset="-122"/>
                <a:cs typeface="Consolas" pitchFamily="49" charset="0"/>
              </a:rPr>
              <a:t>）比较次数为</a:t>
            </a:r>
            <a:r>
              <a:rPr lang="en-US" altLang="zh-CN" sz="2000" i="1" dirty="0" err="1">
                <a:latin typeface="Consolas" pitchFamily="49" charset="0"/>
                <a:ea typeface="仿宋" pitchFamily="49" charset="-122"/>
                <a:cs typeface="Consolas" pitchFamily="49" charset="0"/>
              </a:rPr>
              <a:t>i</a:t>
            </a:r>
            <a:r>
              <a:rPr lang="zh-CN" altLang="en-US" sz="2000" dirty="0">
                <a:latin typeface="Consolas" pitchFamily="49" charset="0"/>
                <a:ea typeface="仿宋" pitchFamily="49" charset="-122"/>
                <a:cs typeface="Consolas" pitchFamily="49" charset="0"/>
              </a:rPr>
              <a:t>，有：</a:t>
            </a:r>
            <a:endParaRPr lang="en-US" altLang="zh-CN" sz="2000" dirty="0">
              <a:latin typeface="Consolas" pitchFamily="49" charset="0"/>
              <a:ea typeface="仿宋" pitchFamily="49" charset="-122"/>
              <a:cs typeface="Consolas" pitchFamily="49" charset="0"/>
            </a:endParaRPr>
          </a:p>
          <a:p>
            <a:pPr marL="342900" indent="-342900">
              <a:lnSpc>
                <a:spcPct val="150000"/>
              </a:lnSpc>
              <a:buBlip>
                <a:blip r:embed="rId2"/>
              </a:buBlip>
            </a:pPr>
            <a:endParaRPr lang="en-US" altLang="zh-CN" sz="2000" dirty="0">
              <a:latin typeface="Consolas" pitchFamily="49" charset="0"/>
              <a:ea typeface="仿宋" pitchFamily="49" charset="-122"/>
              <a:cs typeface="Consolas" pitchFamily="49" charset="0"/>
            </a:endParaRPr>
          </a:p>
          <a:p>
            <a:pPr marL="342900" indent="-342900">
              <a:lnSpc>
                <a:spcPct val="150000"/>
              </a:lnSpc>
              <a:buBlip>
                <a:blip r:embed="rId2"/>
              </a:buBlip>
            </a:pPr>
            <a:endParaRPr lang="en-US" altLang="zh-CN" sz="2000" dirty="0">
              <a:latin typeface="Consolas" pitchFamily="49" charset="0"/>
              <a:ea typeface="仿宋" pitchFamily="49" charset="-122"/>
              <a:cs typeface="Consolas" pitchFamily="49" charset="0"/>
            </a:endParaRPr>
          </a:p>
          <a:p>
            <a:pPr marL="342900" indent="-342900">
              <a:lnSpc>
                <a:spcPct val="150000"/>
              </a:lnSpc>
              <a:buBlip>
                <a:blip r:embed="rId2"/>
              </a:buBlip>
            </a:pPr>
            <a:r>
              <a:rPr lang="zh-CN" altLang="zh-CN" sz="2000" dirty="0">
                <a:latin typeface="Consolas" pitchFamily="49" charset="0"/>
                <a:ea typeface="仿宋" pitchFamily="49" charset="-122"/>
                <a:cs typeface="Consolas" pitchFamily="49" charset="0"/>
              </a:rPr>
              <a:t>查找</a:t>
            </a:r>
            <a:r>
              <a:rPr lang="zh-CN" altLang="en-US" sz="2000" dirty="0">
                <a:latin typeface="Consolas" pitchFamily="49" charset="0"/>
                <a:ea typeface="仿宋" pitchFamily="49" charset="-122"/>
                <a:cs typeface="Consolas" pitchFamily="49" charset="0"/>
              </a:rPr>
              <a:t>不</a:t>
            </a:r>
            <a:r>
              <a:rPr lang="zh-CN" altLang="zh-CN" sz="2000" dirty="0">
                <a:latin typeface="Consolas" pitchFamily="49" charset="0"/>
                <a:ea typeface="仿宋" pitchFamily="49" charset="-122"/>
                <a:cs typeface="Consolas" pitchFamily="49" charset="0"/>
              </a:rPr>
              <a:t>成功</a:t>
            </a:r>
            <a:r>
              <a:rPr lang="zh-CN" altLang="en-US" sz="2000" dirty="0">
                <a:latin typeface="Consolas" pitchFamily="49" charset="0"/>
                <a:ea typeface="仿宋" pitchFamily="49" charset="-122"/>
                <a:cs typeface="Consolas" pitchFamily="49" charset="0"/>
              </a:rPr>
              <a:t>时，每个关键字都需要比较</a:t>
            </a:r>
            <a:r>
              <a:rPr lang="en-US" altLang="zh-CN" sz="2000" i="1" dirty="0">
                <a:latin typeface="Consolas" pitchFamily="49" charset="0"/>
                <a:ea typeface="仿宋" pitchFamily="49" charset="-122"/>
                <a:cs typeface="Consolas" pitchFamily="49" charset="0"/>
              </a:rPr>
              <a:t>n</a:t>
            </a:r>
            <a:r>
              <a:rPr lang="zh-CN" altLang="en-US" sz="2000" dirty="0">
                <a:latin typeface="Consolas" pitchFamily="49" charset="0"/>
                <a:ea typeface="仿宋" pitchFamily="49" charset="-122"/>
                <a:cs typeface="Consolas" pitchFamily="49" charset="0"/>
              </a:rPr>
              <a:t>次，有：</a:t>
            </a:r>
          </a:p>
        </p:txBody>
      </p:sp>
      <p:pic>
        <p:nvPicPr>
          <p:cNvPr id="6" name="Picture 2">
            <a:extLst>
              <a:ext uri="{FF2B5EF4-FFF2-40B4-BE49-F238E27FC236}">
                <a16:creationId xmlns:a16="http://schemas.microsoft.com/office/drawing/2014/main" id="{EAD9F206-4436-A392-B3BF-75D04BE3EB37}"/>
              </a:ext>
            </a:extLst>
          </p:cNvPr>
          <p:cNvPicPr>
            <a:picLocks noChangeAspect="1" noChangeArrowheads="1"/>
          </p:cNvPicPr>
          <p:nvPr/>
        </p:nvPicPr>
        <p:blipFill>
          <a:blip r:embed="rId3" cstate="print"/>
          <a:srcRect/>
          <a:stretch>
            <a:fillRect/>
          </a:stretch>
        </p:blipFill>
        <p:spPr bwMode="auto">
          <a:xfrm>
            <a:off x="2589678" y="4540061"/>
            <a:ext cx="2643206" cy="778674"/>
          </a:xfrm>
          <a:prstGeom prst="rect">
            <a:avLst/>
          </a:prstGeom>
          <a:noFill/>
          <a:ln w="9525">
            <a:noFill/>
            <a:miter lim="800000"/>
            <a:headEnd/>
            <a:tailEnd/>
          </a:ln>
        </p:spPr>
      </p:pic>
      <p:pic>
        <p:nvPicPr>
          <p:cNvPr id="7" name="Picture 3">
            <a:extLst>
              <a:ext uri="{FF2B5EF4-FFF2-40B4-BE49-F238E27FC236}">
                <a16:creationId xmlns:a16="http://schemas.microsoft.com/office/drawing/2014/main" id="{049A9C3B-CCF0-F569-3C1C-69C529097CB9}"/>
              </a:ext>
            </a:extLst>
          </p:cNvPr>
          <p:cNvPicPr>
            <a:picLocks noChangeAspect="1" noChangeArrowheads="1"/>
          </p:cNvPicPr>
          <p:nvPr/>
        </p:nvPicPr>
        <p:blipFill>
          <a:blip r:embed="rId4" cstate="print"/>
          <a:srcRect/>
          <a:stretch>
            <a:fillRect/>
          </a:stretch>
        </p:blipFill>
        <p:spPr bwMode="auto">
          <a:xfrm>
            <a:off x="6456040" y="4662257"/>
            <a:ext cx="1285884" cy="656478"/>
          </a:xfrm>
          <a:prstGeom prst="rect">
            <a:avLst/>
          </a:prstGeom>
          <a:noFill/>
          <a:ln w="9525">
            <a:noFill/>
            <a:miter lim="800000"/>
            <a:headEnd/>
            <a:tailEnd/>
          </a:ln>
        </p:spPr>
      </p:pic>
      <p:pic>
        <p:nvPicPr>
          <p:cNvPr id="8" name="Picture 4">
            <a:extLst>
              <a:ext uri="{FF2B5EF4-FFF2-40B4-BE49-F238E27FC236}">
                <a16:creationId xmlns:a16="http://schemas.microsoft.com/office/drawing/2014/main" id="{ECB77F10-C91F-B7B8-B276-8188F83F2182}"/>
              </a:ext>
            </a:extLst>
          </p:cNvPr>
          <p:cNvPicPr>
            <a:picLocks noChangeAspect="1" noChangeArrowheads="1"/>
          </p:cNvPicPr>
          <p:nvPr/>
        </p:nvPicPr>
        <p:blipFill>
          <a:blip r:embed="rId5" cstate="print"/>
          <a:srcRect/>
          <a:stretch>
            <a:fillRect/>
          </a:stretch>
        </p:blipFill>
        <p:spPr bwMode="auto">
          <a:xfrm>
            <a:off x="1845897" y="6000033"/>
            <a:ext cx="4572031" cy="703390"/>
          </a:xfrm>
          <a:prstGeom prst="rect">
            <a:avLst/>
          </a:prstGeom>
          <a:noFill/>
          <a:ln w="9525">
            <a:noFill/>
            <a:miter lim="800000"/>
            <a:headEnd/>
            <a:tailEnd/>
          </a:ln>
        </p:spPr>
      </p:pic>
      <p:sp>
        <p:nvSpPr>
          <p:cNvPr id="10" name="TextBox 13">
            <a:extLst>
              <a:ext uri="{FF2B5EF4-FFF2-40B4-BE49-F238E27FC236}">
                <a16:creationId xmlns:a16="http://schemas.microsoft.com/office/drawing/2014/main" id="{612B8674-6767-BC3E-6FA0-D13BECD9D8B4}"/>
              </a:ext>
            </a:extLst>
          </p:cNvPr>
          <p:cNvSpPr txBox="1"/>
          <p:nvPr/>
        </p:nvSpPr>
        <p:spPr>
          <a:xfrm>
            <a:off x="9408368" y="5951618"/>
            <a:ext cx="1357322" cy="400110"/>
          </a:xfrm>
          <a:prstGeom prst="rect">
            <a:avLst/>
          </a:prstGeom>
          <a:noFill/>
        </p:spPr>
        <p:txBody>
          <a:bodyPr wrap="square" rtlCol="0">
            <a:spAutoFit/>
          </a:bodyPr>
          <a:lstStyle/>
          <a:p>
            <a:r>
              <a:rPr lang="zh-CN" altLang="en-US" sz="2000" dirty="0">
                <a:latin typeface="Consolas" pitchFamily="49" charset="0"/>
                <a:ea typeface="仿宋" pitchFamily="49" charset="-122"/>
                <a:cs typeface="Consolas" pitchFamily="49" charset="0"/>
              </a:rPr>
              <a:t>答：</a:t>
            </a:r>
            <a:r>
              <a:rPr lang="en-US" altLang="zh-CN" sz="2000" dirty="0">
                <a:solidFill>
                  <a:srgbClr val="C00000"/>
                </a:solidFill>
                <a:latin typeface="Consolas" pitchFamily="49" charset="0"/>
                <a:ea typeface="仿宋" pitchFamily="49" charset="-122"/>
                <a:cs typeface="Consolas" pitchFamily="49" charset="0"/>
              </a:rPr>
              <a:t>D</a:t>
            </a:r>
            <a:r>
              <a:rPr lang="zh-CN" altLang="en-US" sz="2000" dirty="0">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237398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83632" y="2695853"/>
            <a:ext cx="223651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顺序查找的缺点：</a:t>
            </a:r>
          </a:p>
        </p:txBody>
      </p:sp>
      <p:sp>
        <p:nvSpPr>
          <p:cNvPr id="3" name="矩形 2"/>
          <p:cNvSpPr/>
          <p:nvPr/>
        </p:nvSpPr>
        <p:spPr>
          <a:xfrm>
            <a:off x="3257439" y="3081154"/>
            <a:ext cx="6519833"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平均查找长度较大，特别是当待查找集合中元素较多时，查找效率较低。</a:t>
            </a:r>
          </a:p>
        </p:txBody>
      </p:sp>
      <p:sp>
        <p:nvSpPr>
          <p:cNvPr id="4" name="矩形 3"/>
          <p:cNvSpPr/>
          <p:nvPr/>
        </p:nvSpPr>
        <p:spPr>
          <a:xfrm>
            <a:off x="2783632" y="3820978"/>
            <a:ext cx="223651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顺序查找的优点：</a:t>
            </a:r>
          </a:p>
        </p:txBody>
      </p:sp>
      <p:sp>
        <p:nvSpPr>
          <p:cNvPr id="5" name="矩形 4"/>
          <p:cNvSpPr/>
          <p:nvPr/>
        </p:nvSpPr>
        <p:spPr>
          <a:xfrm>
            <a:off x="3257439" y="4233282"/>
            <a:ext cx="3005951"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算法简单而且使用面广；</a:t>
            </a:r>
          </a:p>
        </p:txBody>
      </p:sp>
      <p:sp>
        <p:nvSpPr>
          <p:cNvPr id="6" name="矩形 5"/>
          <p:cNvSpPr/>
          <p:nvPr/>
        </p:nvSpPr>
        <p:spPr>
          <a:xfrm>
            <a:off x="3257439" y="4773342"/>
            <a:ext cx="6943017"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对表中记录的存储没有任何要求，顺序存储和链接存储均可；</a:t>
            </a:r>
          </a:p>
        </p:txBody>
      </p:sp>
      <p:sp>
        <p:nvSpPr>
          <p:cNvPr id="7" name="矩形 6"/>
          <p:cNvSpPr/>
          <p:nvPr/>
        </p:nvSpPr>
        <p:spPr>
          <a:xfrm>
            <a:off x="3257439" y="5313402"/>
            <a:ext cx="6591841"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对表中记录的有序性也没有要求，无论记录是否按关键码有序均可。</a:t>
            </a:r>
          </a:p>
        </p:txBody>
      </p:sp>
      <p:sp>
        <p:nvSpPr>
          <p:cNvPr id="17" name="矩形 16"/>
          <p:cNvSpPr/>
          <p:nvPr/>
        </p:nvSpPr>
        <p:spPr>
          <a:xfrm>
            <a:off x="2802018" y="2276872"/>
            <a:ext cx="3005951"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顺序查找的算法性能分析</a:t>
            </a:r>
          </a:p>
        </p:txBody>
      </p:sp>
      <p:sp>
        <p:nvSpPr>
          <p:cNvPr id="8" name="矩形 7">
            <a:extLst>
              <a:ext uri="{FF2B5EF4-FFF2-40B4-BE49-F238E27FC236}">
                <a16:creationId xmlns:a16="http://schemas.microsoft.com/office/drawing/2014/main" id="{F40255EF-F427-F6E5-8BFB-3861A3BBEFCD}"/>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9" name="矩形 8">
            <a:extLst>
              <a:ext uri="{FF2B5EF4-FFF2-40B4-BE49-F238E27FC236}">
                <a16:creationId xmlns:a16="http://schemas.microsoft.com/office/drawing/2014/main" id="{37D01B94-2EA9-8F32-6E00-FF606A61540C}"/>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9.2.1 </a:t>
            </a:r>
            <a:r>
              <a:rPr lang="zh-CN" altLang="en-US" sz="2800" b="1" dirty="0">
                <a:solidFill>
                  <a:schemeClr val="bg1"/>
                </a:solidFill>
                <a:latin typeface="经典粗黑简" pitchFamily="49" charset="-122"/>
                <a:ea typeface="经典粗黑简" pitchFamily="49" charset="-122"/>
                <a:cs typeface="经典粗黑简" pitchFamily="49" charset="-122"/>
              </a:rPr>
              <a:t>顺序查找</a:t>
            </a:r>
          </a:p>
        </p:txBody>
      </p:sp>
      <p:cxnSp>
        <p:nvCxnSpPr>
          <p:cNvPr id="10" name="直接连接符 9">
            <a:extLst>
              <a:ext uri="{FF2B5EF4-FFF2-40B4-BE49-F238E27FC236}">
                <a16:creationId xmlns:a16="http://schemas.microsoft.com/office/drawing/2014/main" id="{A364551E-F0D8-C625-558D-4FFB3F56F95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33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3630" y="2543083"/>
            <a:ext cx="1467068" cy="400110"/>
          </a:xfrm>
          <a:prstGeom prst="rect">
            <a:avLst/>
          </a:prstGeom>
        </p:spPr>
        <p:txBody>
          <a:bodyPr wrap="none">
            <a:spAutoFit/>
          </a:bodyPr>
          <a:lstStyle/>
          <a:p>
            <a:r>
              <a:rPr kumimoji="1" lang="zh-CN" altLang="en-US" sz="2000" b="1" u="sng" dirty="0">
                <a:solidFill>
                  <a:srgbClr val="FF0000"/>
                </a:solidFill>
                <a:latin typeface="微软雅黑" pitchFamily="34" charset="-122"/>
                <a:ea typeface="微软雅黑" pitchFamily="34" charset="-122"/>
                <a:cs typeface="经典粗黑简" pitchFamily="49" charset="-122"/>
              </a:rPr>
              <a:t>使用条件</a:t>
            </a:r>
            <a:r>
              <a:rPr kumimoji="1" lang="zh-CN" altLang="en-US" sz="2000" dirty="0">
                <a:latin typeface="微软雅黑" pitchFamily="34" charset="-122"/>
                <a:ea typeface="微软雅黑" pitchFamily="34" charset="-122"/>
                <a:cs typeface="经典粗黑简" pitchFamily="49" charset="-122"/>
              </a:rPr>
              <a:t>：</a:t>
            </a:r>
          </a:p>
        </p:txBody>
      </p:sp>
      <p:sp>
        <p:nvSpPr>
          <p:cNvPr id="22" name="矩形 21"/>
          <p:cNvSpPr/>
          <p:nvPr/>
        </p:nvSpPr>
        <p:spPr>
          <a:xfrm>
            <a:off x="3288565" y="2943193"/>
            <a:ext cx="4288353"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线性表中的记录必须按关键码有序；</a:t>
            </a:r>
          </a:p>
        </p:txBody>
      </p:sp>
      <p:sp>
        <p:nvSpPr>
          <p:cNvPr id="23" name="矩形 22"/>
          <p:cNvSpPr/>
          <p:nvPr/>
        </p:nvSpPr>
        <p:spPr>
          <a:xfrm>
            <a:off x="3288564" y="3322379"/>
            <a:ext cx="24929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必须采用顺序存储。</a:t>
            </a:r>
          </a:p>
        </p:txBody>
      </p:sp>
      <p:sp>
        <p:nvSpPr>
          <p:cNvPr id="24" name="矩形 23"/>
          <p:cNvSpPr/>
          <p:nvPr/>
        </p:nvSpPr>
        <p:spPr>
          <a:xfrm>
            <a:off x="2783630" y="3699984"/>
            <a:ext cx="1467068"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基本思想：</a:t>
            </a:r>
          </a:p>
        </p:txBody>
      </p:sp>
      <p:sp>
        <p:nvSpPr>
          <p:cNvPr id="25" name="矩形 24"/>
          <p:cNvSpPr/>
          <p:nvPr/>
        </p:nvSpPr>
        <p:spPr>
          <a:xfrm>
            <a:off x="2783632" y="4154568"/>
            <a:ext cx="7200799" cy="163121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       在有序表中，取中间记录作为比较对象，若给定值与中间记录的关键码相等，则查找成功；若给定值小于中间记录的关键码，则在中间记录的左半区继续查找；若给定值大于中间记录的关键码，则在中间记录的右半区继续查找。不断重复上述过程，直到查找成功，或所查找的区域无记录，查找失败。</a:t>
            </a:r>
          </a:p>
        </p:txBody>
      </p:sp>
      <p:sp>
        <p:nvSpPr>
          <p:cNvPr id="2" name="矩形 1">
            <a:extLst>
              <a:ext uri="{FF2B5EF4-FFF2-40B4-BE49-F238E27FC236}">
                <a16:creationId xmlns:a16="http://schemas.microsoft.com/office/drawing/2014/main" id="{CF10E9AD-F341-F8F7-982E-C438DF6F079B}"/>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2AC807C7-065B-563E-3290-29706FDF8AB8}"/>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5" name="直接连接符 4">
            <a:extLst>
              <a:ext uri="{FF2B5EF4-FFF2-40B4-BE49-F238E27FC236}">
                <a16:creationId xmlns:a16="http://schemas.microsoft.com/office/drawing/2014/main" id="{F75F294E-B5CB-95EE-78B4-A03863C753C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1026">
            <a:extLst>
              <a:ext uri="{FF2B5EF4-FFF2-40B4-BE49-F238E27FC236}">
                <a16:creationId xmlns:a16="http://schemas.microsoft.com/office/drawing/2014/main" id="{DD143DE0-5CEC-A920-B111-6AF6A3D2511E}"/>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253357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p:bldP spid="23" grpId="0"/>
      <p:bldP spid="24" grpId="0"/>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CAC5-9033-AB31-B41B-D6E69BBCA11D}"/>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C3B375DE-D2B2-D67B-AD96-97E613122B2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2" name="矩形 11">
            <a:extLst>
              <a:ext uri="{FF2B5EF4-FFF2-40B4-BE49-F238E27FC236}">
                <a16:creationId xmlns:a16="http://schemas.microsoft.com/office/drawing/2014/main" id="{F89414CA-0A1E-938D-B01E-6B418F8DC1C8}"/>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11" name="直接连接符 10">
            <a:extLst>
              <a:ext uri="{FF2B5EF4-FFF2-40B4-BE49-F238E27FC236}">
                <a16:creationId xmlns:a16="http://schemas.microsoft.com/office/drawing/2014/main" id="{AD7DB709-03E1-6493-B6D8-37D83B36510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2">
            <a:extLst>
              <a:ext uri="{FF2B5EF4-FFF2-40B4-BE49-F238E27FC236}">
                <a16:creationId xmlns:a16="http://schemas.microsoft.com/office/drawing/2014/main" id="{34878B29-6EC2-23DE-107B-6D39EB143BB2}"/>
              </a:ext>
            </a:extLst>
          </p:cNvPr>
          <p:cNvSpPr txBox="1">
            <a:spLocks noChangeArrowheads="1"/>
          </p:cNvSpPr>
          <p:nvPr/>
        </p:nvSpPr>
        <p:spPr bwMode="auto">
          <a:xfrm>
            <a:off x="1055440" y="2493449"/>
            <a:ext cx="8534400" cy="1342675"/>
          </a:xfrm>
          <a:prstGeom prst="rect">
            <a:avLst/>
          </a:prstGeom>
          <a:noFill/>
          <a:ln w="9525">
            <a:noFill/>
            <a:miter lim="800000"/>
            <a:headEnd/>
            <a:tailEnd/>
          </a:ln>
          <a:effectLst/>
        </p:spPr>
        <p:txBody>
          <a:bodyPr>
            <a:spAutoFit/>
          </a:bodyPr>
          <a:lstStyle/>
          <a:p>
            <a:pPr algn="just">
              <a:lnSpc>
                <a:spcPct val="120000"/>
              </a:lnSpc>
              <a:spcBef>
                <a:spcPct val="50000"/>
              </a:spcBef>
            </a:pPr>
            <a:r>
              <a:rPr kumimoji="1" lang="zh-CN" altLang="en-US" sz="2000" dirty="0">
                <a:latin typeface="Consolas" pitchFamily="49" charset="0"/>
                <a:ea typeface="楷体" pitchFamily="49" charset="-122"/>
                <a:cs typeface="Consolas" pitchFamily="49" charset="0"/>
              </a:rPr>
              <a:t>　　折半查找也称为二分查找，要求线性表</a:t>
            </a:r>
            <a:r>
              <a:rPr kumimoji="1" lang="zh-CN" altLang="en-US" sz="2000">
                <a:latin typeface="Consolas" pitchFamily="49" charset="0"/>
                <a:ea typeface="楷体" pitchFamily="49" charset="-122"/>
                <a:cs typeface="Consolas" pitchFamily="49" charset="0"/>
              </a:rPr>
              <a:t>中的元素必</a:t>
            </a:r>
            <a:r>
              <a:rPr kumimoji="1" lang="zh-CN" altLang="en-US" sz="2000" dirty="0">
                <a:latin typeface="Consolas" pitchFamily="49" charset="0"/>
                <a:ea typeface="楷体" pitchFamily="49" charset="-122"/>
                <a:cs typeface="Consolas" pitchFamily="49" charset="0"/>
              </a:rPr>
              <a:t>须己按关键字值有序（</a:t>
            </a:r>
            <a:r>
              <a:rPr kumimoji="1" lang="zh-CN" altLang="en-US" sz="2000" dirty="0">
                <a:solidFill>
                  <a:srgbClr val="CC00CC"/>
                </a:solidFill>
                <a:latin typeface="Consolas" pitchFamily="49" charset="0"/>
                <a:ea typeface="楷体" pitchFamily="49" charset="-122"/>
                <a:cs typeface="Consolas" pitchFamily="49" charset="0"/>
              </a:rPr>
              <a:t>递增</a:t>
            </a:r>
            <a:r>
              <a:rPr kumimoji="1" lang="zh-CN" altLang="en-US" sz="2000" dirty="0">
                <a:latin typeface="Consolas" pitchFamily="49" charset="0"/>
                <a:ea typeface="楷体" pitchFamily="49" charset="-122"/>
                <a:cs typeface="Consolas" pitchFamily="49" charset="0"/>
              </a:rPr>
              <a:t>或递减）排列。</a:t>
            </a:r>
          </a:p>
          <a:p>
            <a:pPr algn="just">
              <a:lnSpc>
                <a:spcPct val="130000"/>
              </a:lnSpc>
              <a:spcBef>
                <a:spcPct val="50000"/>
              </a:spcBef>
            </a:pPr>
            <a:r>
              <a:rPr kumimoji="1" lang="zh-CN" altLang="en-US" sz="2000" dirty="0">
                <a:latin typeface="Consolas" pitchFamily="49" charset="0"/>
                <a:ea typeface="楷体" pitchFamily="49" charset="-122"/>
                <a:cs typeface="Consolas" pitchFamily="49" charset="0"/>
              </a:rPr>
              <a:t>　　</a:t>
            </a:r>
            <a:r>
              <a:rPr kumimoji="1" lang="zh-CN" altLang="en-US" sz="2000" dirty="0">
                <a:solidFill>
                  <a:srgbClr val="FF0000"/>
                </a:solidFill>
                <a:latin typeface="微软雅黑" pitchFamily="34" charset="-122"/>
                <a:ea typeface="微软雅黑" pitchFamily="34" charset="-122"/>
                <a:cs typeface="Consolas" pitchFamily="49" charset="0"/>
              </a:rPr>
              <a:t>思路：</a:t>
            </a:r>
            <a:endParaRPr kumimoji="1" lang="zh-CN" altLang="en-US" sz="2000" dirty="0">
              <a:latin typeface="微软雅黑" pitchFamily="34" charset="-122"/>
              <a:ea typeface="微软雅黑" pitchFamily="34" charset="-122"/>
              <a:cs typeface="Consolas" pitchFamily="49" charset="0"/>
            </a:endParaRPr>
          </a:p>
        </p:txBody>
      </p:sp>
      <p:sp>
        <p:nvSpPr>
          <p:cNvPr id="3" name="矩形 2">
            <a:extLst>
              <a:ext uri="{FF2B5EF4-FFF2-40B4-BE49-F238E27FC236}">
                <a16:creationId xmlns:a16="http://schemas.microsoft.com/office/drawing/2014/main" id="{57A02433-B4F5-7B72-8D3C-4B4F8F98DC6D}"/>
              </a:ext>
            </a:extLst>
          </p:cNvPr>
          <p:cNvSpPr/>
          <p:nvPr/>
        </p:nvSpPr>
        <p:spPr>
          <a:xfrm>
            <a:off x="3341456" y="4513988"/>
            <a:ext cx="4000528"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800" i="1">
                <a:solidFill>
                  <a:srgbClr val="3333FF"/>
                </a:solidFill>
                <a:latin typeface="Consolas" pitchFamily="49" charset="0"/>
                <a:cs typeface="Consolas" pitchFamily="49" charset="0"/>
              </a:rPr>
              <a:t>R</a:t>
            </a:r>
            <a:r>
              <a:rPr lang="en-US" altLang="zh-CN" sz="1800">
                <a:solidFill>
                  <a:srgbClr val="3333FF"/>
                </a:solidFill>
                <a:latin typeface="Consolas" pitchFamily="49" charset="0"/>
                <a:cs typeface="Consolas" pitchFamily="49" charset="0"/>
              </a:rPr>
              <a:t>[0]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FF33CC"/>
                </a:solidFill>
                <a:latin typeface="Consolas" pitchFamily="49" charset="0"/>
                <a:cs typeface="Consolas" pitchFamily="49" charset="0"/>
              </a:rPr>
              <a:t>R</a:t>
            </a:r>
            <a:r>
              <a:rPr lang="en-US" altLang="zh-CN" sz="1800">
                <a:solidFill>
                  <a:srgbClr val="FF33CC"/>
                </a:solidFill>
                <a:latin typeface="Consolas" pitchFamily="49" charset="0"/>
                <a:cs typeface="Consolas" pitchFamily="49" charset="0"/>
              </a:rPr>
              <a:t>[mid]</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R</a:t>
            </a:r>
            <a:r>
              <a:rPr lang="en-US" altLang="zh-CN" sz="1800">
                <a:solidFill>
                  <a:srgbClr val="3333FF"/>
                </a:solidFill>
                <a:latin typeface="Consolas" pitchFamily="49" charset="0"/>
                <a:cs typeface="Consolas" pitchFamily="49" charset="0"/>
              </a:rPr>
              <a:t>[</a:t>
            </a:r>
            <a:r>
              <a:rPr lang="en-US" altLang="zh-CN" sz="1800" i="1">
                <a:solidFill>
                  <a:srgbClr val="3333FF"/>
                </a:solidFill>
                <a:latin typeface="Consolas" pitchFamily="49" charset="0"/>
                <a:cs typeface="Consolas" pitchFamily="49" charset="0"/>
              </a:rPr>
              <a:t>n</a:t>
            </a:r>
            <a:r>
              <a:rPr lang="en-US" altLang="zh-CN" sz="1800">
                <a:solidFill>
                  <a:srgbClr val="3333FF"/>
                </a:solidFill>
                <a:latin typeface="Consolas" pitchFamily="49" charset="0"/>
                <a:cs typeface="Consolas" pitchFamily="49" charset="0"/>
              </a:rPr>
              <a:t>-1]</a:t>
            </a:r>
            <a:endParaRPr lang="zh-CN" altLang="en-US" sz="1800" dirty="0">
              <a:solidFill>
                <a:srgbClr val="3333FF"/>
              </a:solidFill>
              <a:latin typeface="Consolas" pitchFamily="49" charset="0"/>
              <a:cs typeface="Consolas" pitchFamily="49" charset="0"/>
            </a:endParaRPr>
          </a:p>
        </p:txBody>
      </p:sp>
      <p:sp>
        <p:nvSpPr>
          <p:cNvPr id="13" name="TextBox 10">
            <a:extLst>
              <a:ext uri="{FF2B5EF4-FFF2-40B4-BE49-F238E27FC236}">
                <a16:creationId xmlns:a16="http://schemas.microsoft.com/office/drawing/2014/main" id="{33E92ABC-52BF-63E1-C80C-7C5CD5638505}"/>
              </a:ext>
            </a:extLst>
          </p:cNvPr>
          <p:cNvSpPr txBox="1"/>
          <p:nvPr/>
        </p:nvSpPr>
        <p:spPr>
          <a:xfrm>
            <a:off x="4127274" y="4042440"/>
            <a:ext cx="2571768" cy="400110"/>
          </a:xfrm>
          <a:prstGeom prst="rect">
            <a:avLst/>
          </a:prstGeom>
          <a:noFill/>
        </p:spPr>
        <p:txBody>
          <a:bodyPr wrap="square" rtlCol="0">
            <a:spAutoFit/>
          </a:bodyPr>
          <a:lstStyle/>
          <a:p>
            <a:r>
              <a:rPr lang="en-US" altLang="zh-CN" sz="2000" i="1" dirty="0">
                <a:latin typeface="Consolas" pitchFamily="49" charset="0"/>
                <a:ea typeface="楷体" pitchFamily="49" charset="-122"/>
                <a:cs typeface="Consolas" pitchFamily="49" charset="0"/>
              </a:rPr>
              <a:t>k</a:t>
            </a:r>
            <a:r>
              <a:rPr lang="zh-CN" altLang="en-US" sz="2000" dirty="0">
                <a:latin typeface="Consolas" pitchFamily="49" charset="0"/>
                <a:ea typeface="楷体" pitchFamily="49" charset="-122"/>
                <a:cs typeface="Consolas" pitchFamily="49" charset="0"/>
              </a:rPr>
              <a:t>和</a:t>
            </a:r>
            <a:r>
              <a:rPr lang="en-US" altLang="zh-CN" sz="2000" i="1" dirty="0">
                <a:latin typeface="Consolas" pitchFamily="49" charset="0"/>
                <a:ea typeface="楷体" pitchFamily="49" charset="-122"/>
                <a:cs typeface="Consolas" pitchFamily="49" charset="0"/>
              </a:rPr>
              <a:t>R</a:t>
            </a:r>
            <a:r>
              <a:rPr lang="en-US" altLang="zh-CN" sz="2000" dirty="0">
                <a:latin typeface="Consolas" pitchFamily="49" charset="0"/>
                <a:ea typeface="楷体" pitchFamily="49" charset="-122"/>
                <a:cs typeface="Consolas" pitchFamily="49" charset="0"/>
              </a:rPr>
              <a:t>[mid].key</a:t>
            </a:r>
            <a:r>
              <a:rPr lang="zh-CN" altLang="en-US" sz="2000" dirty="0">
                <a:latin typeface="Consolas" pitchFamily="49" charset="0"/>
                <a:ea typeface="楷体" pitchFamily="49" charset="-122"/>
                <a:cs typeface="Consolas" pitchFamily="49" charset="0"/>
              </a:rPr>
              <a:t>比较</a:t>
            </a:r>
          </a:p>
        </p:txBody>
      </p:sp>
      <p:grpSp>
        <p:nvGrpSpPr>
          <p:cNvPr id="14" name="组合 16">
            <a:extLst>
              <a:ext uri="{FF2B5EF4-FFF2-40B4-BE49-F238E27FC236}">
                <a16:creationId xmlns:a16="http://schemas.microsoft.com/office/drawing/2014/main" id="{A0A5EC96-503E-DCEE-9D1A-7B6EDE7FA933}"/>
              </a:ext>
            </a:extLst>
          </p:cNvPr>
          <p:cNvGrpSpPr/>
          <p:nvPr/>
        </p:nvGrpSpPr>
        <p:grpSpPr>
          <a:xfrm>
            <a:off x="1841258" y="4942616"/>
            <a:ext cx="7000924" cy="1471680"/>
            <a:chOff x="1071538" y="3500438"/>
            <a:chExt cx="7000924" cy="1471680"/>
          </a:xfrm>
        </p:grpSpPr>
        <p:sp>
          <p:nvSpPr>
            <p:cNvPr id="15" name="矩形 14">
              <a:extLst>
                <a:ext uri="{FF2B5EF4-FFF2-40B4-BE49-F238E27FC236}">
                  <a16:creationId xmlns:a16="http://schemas.microsoft.com/office/drawing/2014/main" id="{C920FD03-61CC-745A-1573-06457C5FA443}"/>
                </a:ext>
              </a:extLst>
            </p:cNvPr>
            <p:cNvSpPr/>
            <p:nvPr/>
          </p:nvSpPr>
          <p:spPr>
            <a:xfrm>
              <a:off x="1071538" y="4543490"/>
              <a:ext cx="1857388"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a:solidFill>
                    <a:srgbClr val="C00000"/>
                  </a:solidFill>
                  <a:latin typeface="Consolas" pitchFamily="49" charset="0"/>
                  <a:ea typeface="楷体" pitchFamily="49" charset="-122"/>
                  <a:cs typeface="Consolas" pitchFamily="49" charset="0"/>
                </a:rPr>
                <a:t>左区间</a:t>
              </a:r>
            </a:p>
          </p:txBody>
        </p:sp>
        <p:sp>
          <p:nvSpPr>
            <p:cNvPr id="16" name="矩形 15">
              <a:extLst>
                <a:ext uri="{FF2B5EF4-FFF2-40B4-BE49-F238E27FC236}">
                  <a16:creationId xmlns:a16="http://schemas.microsoft.com/office/drawing/2014/main" id="{E1CCAA36-03A2-14FB-950F-CBAF18CA2E13}"/>
                </a:ext>
              </a:extLst>
            </p:cNvPr>
            <p:cNvSpPr/>
            <p:nvPr/>
          </p:nvSpPr>
          <p:spPr>
            <a:xfrm>
              <a:off x="6143636" y="4543490"/>
              <a:ext cx="1785950"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a:solidFill>
                    <a:srgbClr val="C00000"/>
                  </a:solidFill>
                  <a:latin typeface="Consolas" pitchFamily="49" charset="0"/>
                  <a:ea typeface="楷体" pitchFamily="49" charset="-122"/>
                  <a:cs typeface="Consolas" pitchFamily="49" charset="0"/>
                </a:rPr>
                <a:t>右区间</a:t>
              </a:r>
            </a:p>
          </p:txBody>
        </p:sp>
        <p:cxnSp>
          <p:nvCxnSpPr>
            <p:cNvPr id="17" name="直接箭头连接符 16">
              <a:extLst>
                <a:ext uri="{FF2B5EF4-FFF2-40B4-BE49-F238E27FC236}">
                  <a16:creationId xmlns:a16="http://schemas.microsoft.com/office/drawing/2014/main" id="{D3B3A3D4-28C9-D141-04AC-1885D5B07A04}"/>
                </a:ext>
              </a:extLst>
            </p:cNvPr>
            <p:cNvCxnSpPr/>
            <p:nvPr/>
          </p:nvCxnSpPr>
          <p:spPr>
            <a:xfrm rot="10800000" flipV="1">
              <a:off x="2357422" y="3500438"/>
              <a:ext cx="1143008" cy="100013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18" name="TextBox 9">
              <a:extLst>
                <a:ext uri="{FF2B5EF4-FFF2-40B4-BE49-F238E27FC236}">
                  <a16:creationId xmlns:a16="http://schemas.microsoft.com/office/drawing/2014/main" id="{4271BA0E-C88E-2DB0-D4AF-6C6F2DAF8179}"/>
                </a:ext>
              </a:extLst>
            </p:cNvPr>
            <p:cNvSpPr txBox="1"/>
            <p:nvPr/>
          </p:nvSpPr>
          <p:spPr>
            <a:xfrm>
              <a:off x="1142976" y="3786190"/>
              <a:ext cx="1785950" cy="369332"/>
            </a:xfrm>
            <a:prstGeom prst="rect">
              <a:avLst/>
            </a:prstGeom>
            <a:noFill/>
          </p:spPr>
          <p:txBody>
            <a:bodyPr wrap="square" rtlCol="0">
              <a:spAutoFit/>
            </a:bodyPr>
            <a:lstStyle/>
            <a:p>
              <a:r>
                <a:rPr lang="en-US" altLang="zh-CN" sz="1800" i="1" dirty="0">
                  <a:latin typeface="Consolas" pitchFamily="49" charset="0"/>
                  <a:cs typeface="Consolas" pitchFamily="49" charset="0"/>
                </a:rPr>
                <a:t>k</a:t>
              </a:r>
              <a:r>
                <a:rPr lang="en-US" altLang="zh-CN" sz="1800" dirty="0">
                  <a:latin typeface="Consolas" pitchFamily="49" charset="0"/>
                  <a:cs typeface="Consolas" pitchFamily="49" charset="0"/>
                </a:rPr>
                <a:t>&lt;</a:t>
              </a:r>
              <a:r>
                <a:rPr lang="en-US" altLang="zh-CN" sz="1800" i="1" dirty="0">
                  <a:latin typeface="Consolas" pitchFamily="49" charset="0"/>
                  <a:cs typeface="Consolas" pitchFamily="49" charset="0"/>
                </a:rPr>
                <a:t>R</a:t>
              </a:r>
              <a:r>
                <a:rPr lang="en-US" altLang="zh-CN" sz="1800" dirty="0">
                  <a:latin typeface="Consolas" pitchFamily="49" charset="0"/>
                  <a:cs typeface="Consolas" pitchFamily="49" charset="0"/>
                </a:rPr>
                <a:t>[mid].key</a:t>
              </a:r>
              <a:endParaRPr lang="zh-CN" altLang="en-US" sz="1800" dirty="0">
                <a:latin typeface="Consolas" pitchFamily="49" charset="0"/>
                <a:cs typeface="Consolas" pitchFamily="49" charset="0"/>
              </a:endParaRPr>
            </a:p>
          </p:txBody>
        </p:sp>
        <p:cxnSp>
          <p:nvCxnSpPr>
            <p:cNvPr id="19" name="直接箭头连接符 18">
              <a:extLst>
                <a:ext uri="{FF2B5EF4-FFF2-40B4-BE49-F238E27FC236}">
                  <a16:creationId xmlns:a16="http://schemas.microsoft.com/office/drawing/2014/main" id="{C1DD74DC-672A-D15F-6D76-3AB883FA4A01}"/>
                </a:ext>
              </a:extLst>
            </p:cNvPr>
            <p:cNvCxnSpPr/>
            <p:nvPr/>
          </p:nvCxnSpPr>
          <p:spPr>
            <a:xfrm rot="16200000" flipH="1">
              <a:off x="5639970" y="3504038"/>
              <a:ext cx="1043052" cy="1035851"/>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23" name="TextBox 15">
              <a:extLst>
                <a:ext uri="{FF2B5EF4-FFF2-40B4-BE49-F238E27FC236}">
                  <a16:creationId xmlns:a16="http://schemas.microsoft.com/office/drawing/2014/main" id="{BE4B8FBE-B7FB-12E4-386A-9FEB77ED4B1B}"/>
                </a:ext>
              </a:extLst>
            </p:cNvPr>
            <p:cNvSpPr txBox="1"/>
            <p:nvPr/>
          </p:nvSpPr>
          <p:spPr>
            <a:xfrm>
              <a:off x="6286512" y="3814708"/>
              <a:ext cx="1785950" cy="369332"/>
            </a:xfrm>
            <a:prstGeom prst="rect">
              <a:avLst/>
            </a:prstGeom>
            <a:noFill/>
          </p:spPr>
          <p:txBody>
            <a:bodyPr wrap="square" rtlCol="0">
              <a:spAutoFit/>
            </a:bodyPr>
            <a:lstStyle/>
            <a:p>
              <a:r>
                <a:rPr lang="en-US" altLang="zh-CN" sz="1800" i="1" dirty="0">
                  <a:latin typeface="Consolas" pitchFamily="49" charset="0"/>
                  <a:cs typeface="Consolas" pitchFamily="49" charset="0"/>
                </a:rPr>
                <a:t>k</a:t>
              </a:r>
              <a:r>
                <a:rPr lang="en-US" altLang="zh-CN" sz="1800" dirty="0">
                  <a:latin typeface="Consolas" pitchFamily="49" charset="0"/>
                  <a:cs typeface="Consolas" pitchFamily="49" charset="0"/>
                </a:rPr>
                <a:t>&gt;</a:t>
              </a:r>
              <a:r>
                <a:rPr lang="en-US" altLang="zh-CN" sz="1800" i="1" dirty="0">
                  <a:latin typeface="Consolas" pitchFamily="49" charset="0"/>
                  <a:cs typeface="Consolas" pitchFamily="49" charset="0"/>
                </a:rPr>
                <a:t>R</a:t>
              </a:r>
              <a:r>
                <a:rPr lang="en-US" altLang="zh-CN" sz="1800" dirty="0">
                  <a:latin typeface="Consolas" pitchFamily="49" charset="0"/>
                  <a:cs typeface="Consolas" pitchFamily="49" charset="0"/>
                </a:rPr>
                <a:t>[mid].key</a:t>
              </a:r>
              <a:endParaRPr lang="zh-CN" altLang="en-US" sz="1800" dirty="0">
                <a:latin typeface="Consolas" pitchFamily="49" charset="0"/>
                <a:cs typeface="Consolas" pitchFamily="49" charset="0"/>
              </a:endParaRPr>
            </a:p>
          </p:txBody>
        </p:sp>
        <p:cxnSp>
          <p:nvCxnSpPr>
            <p:cNvPr id="24" name="直接箭头连接符 23">
              <a:extLst>
                <a:ext uri="{FF2B5EF4-FFF2-40B4-BE49-F238E27FC236}">
                  <a16:creationId xmlns:a16="http://schemas.microsoft.com/office/drawing/2014/main" id="{51B0A3DD-D600-864B-E29A-77102070C761}"/>
                </a:ext>
              </a:extLst>
            </p:cNvPr>
            <p:cNvCxnSpPr/>
            <p:nvPr/>
          </p:nvCxnSpPr>
          <p:spPr>
            <a:xfrm rot="5400000">
              <a:off x="3929058" y="4000504"/>
              <a:ext cx="1000132" cy="1588"/>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25" name="TextBox 19">
              <a:extLst>
                <a:ext uri="{FF2B5EF4-FFF2-40B4-BE49-F238E27FC236}">
                  <a16:creationId xmlns:a16="http://schemas.microsoft.com/office/drawing/2014/main" id="{36BEC98F-9BBB-1C0B-787D-61212E39E6AF}"/>
                </a:ext>
              </a:extLst>
            </p:cNvPr>
            <p:cNvSpPr txBox="1"/>
            <p:nvPr/>
          </p:nvSpPr>
          <p:spPr>
            <a:xfrm>
              <a:off x="4429124" y="3857628"/>
              <a:ext cx="1785950" cy="369332"/>
            </a:xfrm>
            <a:prstGeom prst="rect">
              <a:avLst/>
            </a:prstGeom>
            <a:noFill/>
          </p:spPr>
          <p:txBody>
            <a:bodyPr wrap="square" rtlCol="0">
              <a:spAutoFit/>
            </a:bodyPr>
            <a:lstStyle/>
            <a:p>
              <a:r>
                <a:rPr lang="en-US" altLang="zh-CN" sz="1800" i="1" dirty="0">
                  <a:latin typeface="Consolas" pitchFamily="49" charset="0"/>
                  <a:cs typeface="Consolas" pitchFamily="49" charset="0"/>
                </a:rPr>
                <a:t>k</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R</a:t>
              </a:r>
              <a:r>
                <a:rPr lang="en-US" altLang="zh-CN" sz="1800" dirty="0">
                  <a:latin typeface="Consolas" pitchFamily="49" charset="0"/>
                  <a:cs typeface="Consolas" pitchFamily="49" charset="0"/>
                </a:rPr>
                <a:t>[mid].key</a:t>
              </a:r>
              <a:endParaRPr lang="zh-CN" altLang="en-US" sz="1800" dirty="0">
                <a:latin typeface="Consolas" pitchFamily="49" charset="0"/>
                <a:cs typeface="Consolas" pitchFamily="49" charset="0"/>
              </a:endParaRPr>
            </a:p>
          </p:txBody>
        </p:sp>
        <p:sp>
          <p:nvSpPr>
            <p:cNvPr id="26" name="TextBox 20">
              <a:extLst>
                <a:ext uri="{FF2B5EF4-FFF2-40B4-BE49-F238E27FC236}">
                  <a16:creationId xmlns:a16="http://schemas.microsoft.com/office/drawing/2014/main" id="{5A0EA48F-F42D-C523-C622-316430C8F8AC}"/>
                </a:ext>
              </a:extLst>
            </p:cNvPr>
            <p:cNvSpPr txBox="1"/>
            <p:nvPr/>
          </p:nvSpPr>
          <p:spPr>
            <a:xfrm>
              <a:off x="3929058" y="4572008"/>
              <a:ext cx="1071570" cy="369332"/>
            </a:xfrm>
            <a:prstGeom prst="rect">
              <a:avLst/>
            </a:prstGeom>
            <a:noFill/>
          </p:spPr>
          <p:txBody>
            <a:bodyPr wrap="square" rtlCol="0">
              <a:spAutoFit/>
            </a:bodyPr>
            <a:lstStyle/>
            <a:p>
              <a:pPr algn="ctr"/>
              <a:r>
                <a:rPr lang="zh-CN" altLang="en-US" sz="1800" dirty="0">
                  <a:solidFill>
                    <a:srgbClr val="FF0000"/>
                  </a:solidFill>
                  <a:latin typeface="华文中宋" pitchFamily="2" charset="-122"/>
                  <a:ea typeface="华文中宋" pitchFamily="2" charset="-122"/>
                  <a:cs typeface="Consolas" pitchFamily="49" charset="0"/>
                </a:rPr>
                <a:t>成功</a:t>
              </a:r>
            </a:p>
          </p:txBody>
        </p:sp>
      </p:grpSp>
      <p:sp>
        <p:nvSpPr>
          <p:cNvPr id="27" name="Text Box 1026">
            <a:extLst>
              <a:ext uri="{FF2B5EF4-FFF2-40B4-BE49-F238E27FC236}">
                <a16:creationId xmlns:a16="http://schemas.microsoft.com/office/drawing/2014/main" id="{146D3033-FAA1-CB77-506E-37C9C35D41D3}"/>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117344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body" idx="4294967295"/>
          </p:nvPr>
        </p:nvSpPr>
        <p:spPr>
          <a:xfrm>
            <a:off x="3175484" y="2230705"/>
            <a:ext cx="6611888" cy="1152128"/>
          </a:xfrm>
        </p:spPr>
        <p:txBody>
          <a:bodyPr>
            <a:normAutofit/>
          </a:bodyPr>
          <a:lstStyle/>
          <a:p>
            <a:pPr marL="0" indent="0">
              <a:buNone/>
            </a:pPr>
            <a:r>
              <a:rPr kumimoji="1" lang="zh-CN" altLang="en-US" sz="2000" dirty="0">
                <a:latin typeface="微软雅黑" pitchFamily="34" charset="-122"/>
                <a:ea typeface="微软雅黑" pitchFamily="34" charset="-122"/>
                <a:cs typeface="经典粗黑简" pitchFamily="49" charset="-122"/>
              </a:rPr>
              <a:t>例如：已知如下</a:t>
            </a:r>
            <a:r>
              <a:rPr kumimoji="1" lang="en-US" altLang="zh-CN" sz="2000" dirty="0">
                <a:latin typeface="微软雅黑" pitchFamily="34" charset="-122"/>
                <a:ea typeface="微软雅黑" pitchFamily="34" charset="-122"/>
                <a:cs typeface="经典粗黑简" pitchFamily="49" charset="-122"/>
              </a:rPr>
              <a:t>11</a:t>
            </a:r>
            <a:r>
              <a:rPr kumimoji="1" lang="zh-CN" altLang="en-US" sz="2000" dirty="0">
                <a:latin typeface="微软雅黑" pitchFamily="34" charset="-122"/>
                <a:ea typeface="微软雅黑" pitchFamily="34" charset="-122"/>
                <a:cs typeface="经典粗黑简" pitchFamily="49" charset="-122"/>
              </a:rPr>
              <a:t>个数据元素的有序表：</a:t>
            </a:r>
          </a:p>
          <a:p>
            <a:pPr algn="ctr" eaLnBrk="1" hangingPunct="1">
              <a:buFont typeface="Wingdings" pitchFamily="2" charset="2"/>
              <a:buNone/>
            </a:pPr>
            <a:r>
              <a:rPr kumimoji="1" lang="en-US" altLang="zh-CN" sz="2000" dirty="0">
                <a:latin typeface="微软雅黑" pitchFamily="34" charset="-122"/>
                <a:ea typeface="微软雅黑" pitchFamily="34" charset="-122"/>
                <a:cs typeface="经典粗黑简" pitchFamily="49" charset="-122"/>
              </a:rPr>
              <a:t>{05,13,19,21,37,56,64,75,80,88,92}</a:t>
            </a:r>
          </a:p>
          <a:p>
            <a:pPr eaLnBrk="1" hangingPunct="1">
              <a:buFont typeface="Wingdings" pitchFamily="2" charset="2"/>
              <a:buNone/>
            </a:pPr>
            <a:r>
              <a:rPr kumimoji="1" lang="zh-CN" altLang="en-US" sz="2000" dirty="0">
                <a:latin typeface="微软雅黑" pitchFamily="34" charset="-122"/>
                <a:ea typeface="微软雅黑" pitchFamily="34" charset="-122"/>
                <a:cs typeface="经典粗黑简" pitchFamily="49" charset="-122"/>
              </a:rPr>
              <a:t>现要查找关键字为</a:t>
            </a:r>
            <a:r>
              <a:rPr kumimoji="1" lang="en-US" altLang="zh-CN" sz="2000" dirty="0">
                <a:latin typeface="微软雅黑" pitchFamily="34" charset="-122"/>
                <a:ea typeface="微软雅黑" pitchFamily="34" charset="-122"/>
                <a:cs typeface="经典粗黑简" pitchFamily="49" charset="-122"/>
              </a:rPr>
              <a:t>21</a:t>
            </a:r>
            <a:r>
              <a:rPr kumimoji="1" lang="zh-CN" altLang="en-US" sz="2000" dirty="0">
                <a:latin typeface="微软雅黑" pitchFamily="34" charset="-122"/>
                <a:ea typeface="微软雅黑" pitchFamily="34" charset="-122"/>
                <a:cs typeface="经典粗黑简" pitchFamily="49" charset="-122"/>
              </a:rPr>
              <a:t>和</a:t>
            </a:r>
            <a:r>
              <a:rPr kumimoji="1" lang="en-US" altLang="zh-CN" sz="2000" dirty="0">
                <a:latin typeface="微软雅黑" pitchFamily="34" charset="-122"/>
                <a:ea typeface="微软雅黑" pitchFamily="34" charset="-122"/>
                <a:cs typeface="经典粗黑简" pitchFamily="49" charset="-122"/>
              </a:rPr>
              <a:t>85</a:t>
            </a:r>
            <a:r>
              <a:rPr kumimoji="1" lang="zh-CN" altLang="en-US" sz="2000" dirty="0">
                <a:latin typeface="微软雅黑" pitchFamily="34" charset="-122"/>
                <a:ea typeface="微软雅黑" pitchFamily="34" charset="-122"/>
                <a:cs typeface="经典粗黑简" pitchFamily="49" charset="-122"/>
              </a:rPr>
              <a:t>的数据元素。</a:t>
            </a:r>
          </a:p>
        </p:txBody>
      </p:sp>
      <p:sp>
        <p:nvSpPr>
          <p:cNvPr id="2" name="矩形 1"/>
          <p:cNvSpPr/>
          <p:nvPr/>
        </p:nvSpPr>
        <p:spPr>
          <a:xfrm>
            <a:off x="1922648" y="3356993"/>
            <a:ext cx="8568952"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假设指针</a:t>
            </a:r>
            <a:r>
              <a:rPr kumimoji="1" lang="en-US" altLang="zh-CN" sz="2400" dirty="0">
                <a:latin typeface="微软雅黑" pitchFamily="34" charset="-122"/>
                <a:ea typeface="微软雅黑" pitchFamily="34" charset="-122"/>
                <a:cs typeface="经典粗黑简" pitchFamily="49" charset="-122"/>
              </a:rPr>
              <a:t>low</a:t>
            </a:r>
            <a:r>
              <a:rPr kumimoji="1" lang="zh-CN" altLang="en-US" sz="2400" dirty="0">
                <a:latin typeface="微软雅黑" pitchFamily="34" charset="-122"/>
                <a:ea typeface="微软雅黑" pitchFamily="34" charset="-122"/>
                <a:cs typeface="经典粗黑简" pitchFamily="49" charset="-122"/>
              </a:rPr>
              <a:t>和</a:t>
            </a:r>
            <a:r>
              <a:rPr kumimoji="1" lang="en-US" altLang="zh-CN" sz="2400" dirty="0">
                <a:latin typeface="微软雅黑" pitchFamily="34" charset="-122"/>
                <a:ea typeface="微软雅黑" pitchFamily="34" charset="-122"/>
                <a:cs typeface="经典粗黑简" pitchFamily="49" charset="-122"/>
              </a:rPr>
              <a:t>high</a:t>
            </a:r>
            <a:r>
              <a:rPr kumimoji="1" lang="zh-CN" altLang="en-US" sz="2400" dirty="0">
                <a:latin typeface="微软雅黑" pitchFamily="34" charset="-122"/>
                <a:ea typeface="微软雅黑" pitchFamily="34" charset="-122"/>
                <a:cs typeface="经典粗黑简" pitchFamily="49" charset="-122"/>
              </a:rPr>
              <a:t>分别指示待查元素所在区间的下界和上界，指针</a:t>
            </a:r>
            <a:r>
              <a:rPr kumimoji="1" lang="en-US" altLang="zh-CN" sz="2400" dirty="0">
                <a:latin typeface="微软雅黑" pitchFamily="34" charset="-122"/>
                <a:ea typeface="微软雅黑" pitchFamily="34" charset="-122"/>
                <a:cs typeface="经典粗黑简" pitchFamily="49" charset="-122"/>
              </a:rPr>
              <a:t>mid</a:t>
            </a:r>
            <a:r>
              <a:rPr kumimoji="1" lang="zh-CN" altLang="en-US" sz="2400" dirty="0">
                <a:latin typeface="微软雅黑" pitchFamily="34" charset="-122"/>
                <a:ea typeface="微软雅黑" pitchFamily="34" charset="-122"/>
                <a:cs typeface="经典粗黑简" pitchFamily="49" charset="-122"/>
              </a:rPr>
              <a:t>指示区间的中间位置，</a:t>
            </a:r>
            <a:r>
              <a:rPr kumimoji="1" lang="en-US" altLang="zh-CN" sz="2400" dirty="0">
                <a:latin typeface="微软雅黑" pitchFamily="34" charset="-122"/>
                <a:ea typeface="微软雅黑" pitchFamily="34" charset="-122"/>
                <a:cs typeface="经典粗黑简" pitchFamily="49" charset="-122"/>
              </a:rPr>
              <a:t>mid= </a:t>
            </a:r>
            <a:r>
              <a:rPr kumimoji="1" lang="en-US" altLang="zh-CN" sz="2400" dirty="0">
                <a:latin typeface="微软雅黑" pitchFamily="34" charset="-122"/>
                <a:ea typeface="微软雅黑" pitchFamily="34" charset="-122"/>
                <a:cs typeface="经典粗黑简" pitchFamily="49" charset="-122"/>
                <a:sym typeface="Symbol" pitchFamily="18" charset="2"/>
              </a:rPr>
              <a:t>(</a:t>
            </a:r>
            <a:r>
              <a:rPr kumimoji="1" lang="en-US" altLang="zh-CN" sz="2400" dirty="0" err="1">
                <a:latin typeface="微软雅黑" pitchFamily="34" charset="-122"/>
                <a:ea typeface="微软雅黑" pitchFamily="34" charset="-122"/>
                <a:cs typeface="经典粗黑简" pitchFamily="49" charset="-122"/>
                <a:sym typeface="Symbol" pitchFamily="18" charset="2"/>
              </a:rPr>
              <a:t>low+high</a:t>
            </a:r>
            <a:r>
              <a:rPr kumimoji="1" lang="en-US" altLang="zh-CN" sz="2400" dirty="0">
                <a:latin typeface="微软雅黑" pitchFamily="34" charset="-122"/>
                <a:ea typeface="微软雅黑" pitchFamily="34" charset="-122"/>
                <a:cs typeface="经典粗黑简" pitchFamily="49" charset="-122"/>
                <a:sym typeface="Symbol" pitchFamily="18" charset="2"/>
              </a:rPr>
              <a:t>)/2</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latin typeface="微软雅黑" pitchFamily="34" charset="-122"/>
                <a:ea typeface="微软雅黑" pitchFamily="34" charset="-122"/>
                <a:cs typeface="经典粗黑简" pitchFamily="49" charset="-122"/>
                <a:sym typeface="Symbol" pitchFamily="18" charset="2"/>
              </a:rPr>
              <a:t></a:t>
            </a:r>
            <a:endParaRPr kumimoji="1" lang="en-US" altLang="zh-CN" sz="2400" dirty="0">
              <a:latin typeface="微软雅黑" pitchFamily="34" charset="-122"/>
              <a:ea typeface="微软雅黑" pitchFamily="34" charset="-122"/>
              <a:cs typeface="经典粗黑简" pitchFamily="49" charset="-122"/>
            </a:endParaRPr>
          </a:p>
        </p:txBody>
      </p:sp>
      <p:graphicFrame>
        <p:nvGraphicFramePr>
          <p:cNvPr id="7" name="Group 3"/>
          <p:cNvGraphicFramePr>
            <a:graphicFrameLocks/>
          </p:cNvGraphicFramePr>
          <p:nvPr>
            <p:extLst>
              <p:ext uri="{D42A27DB-BD31-4B8C-83A1-F6EECF244321}">
                <p14:modId xmlns:p14="http://schemas.microsoft.com/office/powerpoint/2010/main" val="896510044"/>
              </p:ext>
            </p:extLst>
          </p:nvPr>
        </p:nvGraphicFramePr>
        <p:xfrm>
          <a:off x="2520951" y="4221088"/>
          <a:ext cx="6840537"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2">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3">
                  <a:extLst>
                    <a:ext uri="{9D8B030D-6E8A-4147-A177-3AD203B41FA5}">
                      <a16:colId xmlns:a16="http://schemas.microsoft.com/office/drawing/2014/main" val="20004"/>
                    </a:ext>
                  </a:extLst>
                </a:gridCol>
                <a:gridCol w="623887">
                  <a:extLst>
                    <a:ext uri="{9D8B030D-6E8A-4147-A177-3AD203B41FA5}">
                      <a16:colId xmlns:a16="http://schemas.microsoft.com/office/drawing/2014/main" val="20005"/>
                    </a:ext>
                  </a:extLst>
                </a:gridCol>
                <a:gridCol w="620713">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2">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8" name="Group 53"/>
          <p:cNvGrpSpPr>
            <a:grpSpLocks/>
          </p:cNvGrpSpPr>
          <p:nvPr/>
        </p:nvGrpSpPr>
        <p:grpSpPr bwMode="auto">
          <a:xfrm>
            <a:off x="2541587" y="5157713"/>
            <a:ext cx="863600" cy="539750"/>
            <a:chOff x="897" y="1253"/>
            <a:chExt cx="544" cy="340"/>
          </a:xfrm>
        </p:grpSpPr>
        <p:sp>
          <p:nvSpPr>
            <p:cNvPr id="9" name="Text Box 5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10" name="Line 5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 name="Group 56"/>
          <p:cNvGrpSpPr>
            <a:grpSpLocks/>
          </p:cNvGrpSpPr>
          <p:nvPr/>
        </p:nvGrpSpPr>
        <p:grpSpPr bwMode="auto">
          <a:xfrm>
            <a:off x="8929687" y="5157713"/>
            <a:ext cx="863600" cy="539750"/>
            <a:chOff x="897" y="1253"/>
            <a:chExt cx="544" cy="340"/>
          </a:xfrm>
        </p:grpSpPr>
        <p:sp>
          <p:nvSpPr>
            <p:cNvPr id="12" name="Text Box 5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13" name="Line 5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 name="Group 59"/>
          <p:cNvGrpSpPr>
            <a:grpSpLocks/>
          </p:cNvGrpSpPr>
          <p:nvPr/>
        </p:nvGrpSpPr>
        <p:grpSpPr bwMode="auto">
          <a:xfrm>
            <a:off x="5762625" y="5157713"/>
            <a:ext cx="863600" cy="539750"/>
            <a:chOff x="897" y="1253"/>
            <a:chExt cx="544" cy="340"/>
          </a:xfrm>
        </p:grpSpPr>
        <p:sp>
          <p:nvSpPr>
            <p:cNvPr id="15" name="Text Box 6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dirty="0">
                  <a:solidFill>
                    <a:srgbClr val="FF3300"/>
                  </a:solidFill>
                  <a:latin typeface="Comic Sans MS" pitchFamily="66" charset="0"/>
                  <a:ea typeface="宋体" pitchFamily="2" charset="-122"/>
                </a:rPr>
                <a:t>mid</a:t>
              </a:r>
            </a:p>
          </p:txBody>
        </p:sp>
        <p:sp>
          <p:nvSpPr>
            <p:cNvPr id="16" name="Line 6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 name="矩形 2">
            <a:extLst>
              <a:ext uri="{FF2B5EF4-FFF2-40B4-BE49-F238E27FC236}">
                <a16:creationId xmlns:a16="http://schemas.microsoft.com/office/drawing/2014/main" id="{2D3CA685-C9BC-41D2-A409-F711C8BEED78}"/>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7000C69D-666C-6F66-358B-F053A3DC93BD}"/>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5" name="直接连接符 4">
            <a:extLst>
              <a:ext uri="{FF2B5EF4-FFF2-40B4-BE49-F238E27FC236}">
                <a16:creationId xmlns:a16="http://schemas.microsoft.com/office/drawing/2014/main" id="{1C70B04D-4D8D-B967-4CED-E4B950A62CA4}"/>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1026">
            <a:extLst>
              <a:ext uri="{FF2B5EF4-FFF2-40B4-BE49-F238E27FC236}">
                <a16:creationId xmlns:a16="http://schemas.microsoft.com/office/drawing/2014/main" id="{79C6E3B1-0131-1D3E-8B2C-AB4D1E75097E}"/>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416203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4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build="p"/>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body" sz="half" idx="4294967295"/>
          </p:nvPr>
        </p:nvSpPr>
        <p:spPr>
          <a:xfrm>
            <a:off x="3133750" y="2240260"/>
            <a:ext cx="1162050" cy="396652"/>
          </a:xfrm>
        </p:spPr>
        <p:txBody>
          <a:bodyPr>
            <a:normAutofit fontScale="92500" lnSpcReduction="10000"/>
          </a:bodyPr>
          <a:lstStyle/>
          <a:p>
            <a:pPr marL="0" indent="0">
              <a:buNone/>
            </a:pPr>
            <a:r>
              <a:rPr kumimoji="1" lang="zh-CN" altLang="en-US" sz="2400" dirty="0">
                <a:latin typeface="微软雅黑" pitchFamily="34" charset="-122"/>
                <a:ea typeface="微软雅黑" pitchFamily="34" charset="-122"/>
                <a:cs typeface="经典粗黑简" pitchFamily="49" charset="-122"/>
              </a:rPr>
              <a:t>查找</a:t>
            </a:r>
            <a:r>
              <a:rPr kumimoji="1" lang="en-US" altLang="zh-CN" sz="2400" dirty="0">
                <a:latin typeface="微软雅黑" pitchFamily="34" charset="-122"/>
                <a:ea typeface="微软雅黑" pitchFamily="34" charset="-122"/>
                <a:cs typeface="经典粗黑简" pitchFamily="49" charset="-122"/>
              </a:rPr>
              <a:t>21</a:t>
            </a:r>
          </a:p>
        </p:txBody>
      </p:sp>
      <p:graphicFrame>
        <p:nvGraphicFramePr>
          <p:cNvPr id="88067" name="Group 3"/>
          <p:cNvGraphicFramePr>
            <a:graphicFrameLocks noGrp="1"/>
          </p:cNvGraphicFramePr>
          <p:nvPr>
            <p:ph sz="half" idx="4294967295"/>
            <p:extLst>
              <p:ext uri="{D42A27DB-BD31-4B8C-83A1-F6EECF244321}">
                <p14:modId xmlns:p14="http://schemas.microsoft.com/office/powerpoint/2010/main" val="3125022088"/>
              </p:ext>
            </p:extLst>
          </p:nvPr>
        </p:nvGraphicFramePr>
        <p:xfrm>
          <a:off x="2520951" y="2788112"/>
          <a:ext cx="6840537"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2">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3">
                  <a:extLst>
                    <a:ext uri="{9D8B030D-6E8A-4147-A177-3AD203B41FA5}">
                      <a16:colId xmlns:a16="http://schemas.microsoft.com/office/drawing/2014/main" val="20004"/>
                    </a:ext>
                  </a:extLst>
                </a:gridCol>
                <a:gridCol w="623887">
                  <a:extLst>
                    <a:ext uri="{9D8B030D-6E8A-4147-A177-3AD203B41FA5}">
                      <a16:colId xmlns:a16="http://schemas.microsoft.com/office/drawing/2014/main" val="20005"/>
                    </a:ext>
                  </a:extLst>
                </a:gridCol>
                <a:gridCol w="620713">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2">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 name="Group 53"/>
          <p:cNvGrpSpPr>
            <a:grpSpLocks/>
          </p:cNvGrpSpPr>
          <p:nvPr/>
        </p:nvGrpSpPr>
        <p:grpSpPr bwMode="auto">
          <a:xfrm>
            <a:off x="2541587" y="3724737"/>
            <a:ext cx="863600" cy="539750"/>
            <a:chOff x="897" y="1253"/>
            <a:chExt cx="544" cy="340"/>
          </a:xfrm>
        </p:grpSpPr>
        <p:sp>
          <p:nvSpPr>
            <p:cNvPr id="45115" name="Text Box 5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5116" name="Line 5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56"/>
          <p:cNvGrpSpPr>
            <a:grpSpLocks/>
          </p:cNvGrpSpPr>
          <p:nvPr/>
        </p:nvGrpSpPr>
        <p:grpSpPr bwMode="auto">
          <a:xfrm>
            <a:off x="8929687" y="3724737"/>
            <a:ext cx="863600" cy="539750"/>
            <a:chOff x="897" y="1253"/>
            <a:chExt cx="544" cy="340"/>
          </a:xfrm>
        </p:grpSpPr>
        <p:sp>
          <p:nvSpPr>
            <p:cNvPr id="45113" name="Text Box 5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5114" name="Line 5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59"/>
          <p:cNvGrpSpPr>
            <a:grpSpLocks/>
          </p:cNvGrpSpPr>
          <p:nvPr/>
        </p:nvGrpSpPr>
        <p:grpSpPr bwMode="auto">
          <a:xfrm>
            <a:off x="5762625" y="3724737"/>
            <a:ext cx="863600" cy="539750"/>
            <a:chOff x="897" y="1253"/>
            <a:chExt cx="544" cy="340"/>
          </a:xfrm>
        </p:grpSpPr>
        <p:sp>
          <p:nvSpPr>
            <p:cNvPr id="45111" name="Text Box 6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5112" name="Line 6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62"/>
          <p:cNvGrpSpPr>
            <a:grpSpLocks/>
          </p:cNvGrpSpPr>
          <p:nvPr/>
        </p:nvGrpSpPr>
        <p:grpSpPr bwMode="auto">
          <a:xfrm>
            <a:off x="5113337" y="3724737"/>
            <a:ext cx="863600" cy="539750"/>
            <a:chOff x="897" y="1253"/>
            <a:chExt cx="544" cy="340"/>
          </a:xfrm>
        </p:grpSpPr>
        <p:sp>
          <p:nvSpPr>
            <p:cNvPr id="45109" name="Text Box 63"/>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5110" name="Line 64"/>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65"/>
          <p:cNvGrpSpPr>
            <a:grpSpLocks/>
          </p:cNvGrpSpPr>
          <p:nvPr/>
        </p:nvGrpSpPr>
        <p:grpSpPr bwMode="auto">
          <a:xfrm>
            <a:off x="3960812" y="3724737"/>
            <a:ext cx="863600" cy="539750"/>
            <a:chOff x="897" y="1253"/>
            <a:chExt cx="544" cy="340"/>
          </a:xfrm>
        </p:grpSpPr>
        <p:sp>
          <p:nvSpPr>
            <p:cNvPr id="45107" name="Text Box 66"/>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5108" name="Line 67"/>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68"/>
          <p:cNvGrpSpPr>
            <a:grpSpLocks/>
          </p:cNvGrpSpPr>
          <p:nvPr/>
        </p:nvGrpSpPr>
        <p:grpSpPr bwMode="auto">
          <a:xfrm>
            <a:off x="4537075" y="3724737"/>
            <a:ext cx="863600" cy="539750"/>
            <a:chOff x="897" y="1253"/>
            <a:chExt cx="544" cy="340"/>
          </a:xfrm>
        </p:grpSpPr>
        <p:sp>
          <p:nvSpPr>
            <p:cNvPr id="45105" name="Text Box 6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5106" name="Line 7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71"/>
          <p:cNvGrpSpPr>
            <a:grpSpLocks/>
          </p:cNvGrpSpPr>
          <p:nvPr/>
        </p:nvGrpSpPr>
        <p:grpSpPr bwMode="auto">
          <a:xfrm>
            <a:off x="4537075" y="4337512"/>
            <a:ext cx="863600" cy="539750"/>
            <a:chOff x="897" y="1253"/>
            <a:chExt cx="544" cy="340"/>
          </a:xfrm>
        </p:grpSpPr>
        <p:sp>
          <p:nvSpPr>
            <p:cNvPr id="45103" name="Text Box 72"/>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5104" name="Line 73"/>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 name="矩形 8">
            <a:extLst>
              <a:ext uri="{FF2B5EF4-FFF2-40B4-BE49-F238E27FC236}">
                <a16:creationId xmlns:a16="http://schemas.microsoft.com/office/drawing/2014/main" id="{B643D441-A60D-8AEC-4A7D-EA0A88B3459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0" name="矩形 9">
            <a:extLst>
              <a:ext uri="{FF2B5EF4-FFF2-40B4-BE49-F238E27FC236}">
                <a16:creationId xmlns:a16="http://schemas.microsoft.com/office/drawing/2014/main" id="{3F362F73-1EF3-FFA1-CD9D-3A56F0DB0512}"/>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11" name="直接连接符 10">
            <a:extLst>
              <a:ext uri="{FF2B5EF4-FFF2-40B4-BE49-F238E27FC236}">
                <a16:creationId xmlns:a16="http://schemas.microsoft.com/office/drawing/2014/main" id="{2C68AEB0-C075-5BF9-B9B8-66DC449D29CC}"/>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Text Box 1026">
            <a:extLst>
              <a:ext uri="{FF2B5EF4-FFF2-40B4-BE49-F238E27FC236}">
                <a16:creationId xmlns:a16="http://schemas.microsoft.com/office/drawing/2014/main" id="{347B32E7-749D-7615-9EFB-4B334E53903C}"/>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29263476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body" sz="half" idx="4294967295"/>
          </p:nvPr>
        </p:nvSpPr>
        <p:spPr>
          <a:xfrm>
            <a:off x="3143672" y="2282435"/>
            <a:ext cx="1074737" cy="431626"/>
          </a:xfrm>
        </p:spPr>
        <p:txBody>
          <a:bodyPr>
            <a:normAutofit/>
          </a:bodyPr>
          <a:lstStyle/>
          <a:p>
            <a:pPr marL="0" indent="0">
              <a:buNone/>
            </a:pPr>
            <a:r>
              <a:rPr kumimoji="1" lang="zh-CN" altLang="en-US" sz="2200" dirty="0">
                <a:latin typeface="微软雅黑" pitchFamily="34" charset="-122"/>
                <a:ea typeface="微软雅黑" pitchFamily="34" charset="-122"/>
                <a:cs typeface="经典粗黑简" pitchFamily="49" charset="-122"/>
              </a:rPr>
              <a:t>查找</a:t>
            </a:r>
            <a:r>
              <a:rPr kumimoji="1" lang="en-US" altLang="zh-CN" sz="2200" dirty="0">
                <a:latin typeface="微软雅黑" pitchFamily="34" charset="-122"/>
                <a:ea typeface="微软雅黑" pitchFamily="34" charset="-122"/>
                <a:cs typeface="经典粗黑简" pitchFamily="49" charset="-122"/>
              </a:rPr>
              <a:t>85</a:t>
            </a:r>
          </a:p>
        </p:txBody>
      </p:sp>
      <p:graphicFrame>
        <p:nvGraphicFramePr>
          <p:cNvPr id="89091" name="Group 3"/>
          <p:cNvGraphicFramePr>
            <a:graphicFrameLocks noGrp="1"/>
          </p:cNvGraphicFramePr>
          <p:nvPr>
            <p:ph sz="half" idx="4294967295"/>
          </p:nvPr>
        </p:nvGraphicFramePr>
        <p:xfrm>
          <a:off x="2614614" y="2781300"/>
          <a:ext cx="6840537"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2">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3">
                  <a:extLst>
                    <a:ext uri="{9D8B030D-6E8A-4147-A177-3AD203B41FA5}">
                      <a16:colId xmlns:a16="http://schemas.microsoft.com/office/drawing/2014/main" val="20004"/>
                    </a:ext>
                  </a:extLst>
                </a:gridCol>
                <a:gridCol w="623887">
                  <a:extLst>
                    <a:ext uri="{9D8B030D-6E8A-4147-A177-3AD203B41FA5}">
                      <a16:colId xmlns:a16="http://schemas.microsoft.com/office/drawing/2014/main" val="20005"/>
                    </a:ext>
                  </a:extLst>
                </a:gridCol>
                <a:gridCol w="620713">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2">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 name="Group 53"/>
          <p:cNvGrpSpPr>
            <a:grpSpLocks/>
          </p:cNvGrpSpPr>
          <p:nvPr/>
        </p:nvGrpSpPr>
        <p:grpSpPr bwMode="auto">
          <a:xfrm>
            <a:off x="2635250" y="3717925"/>
            <a:ext cx="863600" cy="539750"/>
            <a:chOff x="897" y="1253"/>
            <a:chExt cx="544" cy="340"/>
          </a:xfrm>
        </p:grpSpPr>
        <p:sp>
          <p:nvSpPr>
            <p:cNvPr id="46142" name="Text Box 5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6143" name="Line 5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56"/>
          <p:cNvGrpSpPr>
            <a:grpSpLocks/>
          </p:cNvGrpSpPr>
          <p:nvPr/>
        </p:nvGrpSpPr>
        <p:grpSpPr bwMode="auto">
          <a:xfrm>
            <a:off x="9023350" y="3717925"/>
            <a:ext cx="863600" cy="539750"/>
            <a:chOff x="897" y="1253"/>
            <a:chExt cx="544" cy="340"/>
          </a:xfrm>
        </p:grpSpPr>
        <p:sp>
          <p:nvSpPr>
            <p:cNvPr id="46140" name="Text Box 5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6141" name="Line 5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59"/>
          <p:cNvGrpSpPr>
            <a:grpSpLocks/>
          </p:cNvGrpSpPr>
          <p:nvPr/>
        </p:nvGrpSpPr>
        <p:grpSpPr bwMode="auto">
          <a:xfrm>
            <a:off x="5856288" y="3717925"/>
            <a:ext cx="863600" cy="539750"/>
            <a:chOff x="897" y="1253"/>
            <a:chExt cx="544" cy="340"/>
          </a:xfrm>
        </p:grpSpPr>
        <p:sp>
          <p:nvSpPr>
            <p:cNvPr id="46138" name="Text Box 6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6139" name="Line 6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62"/>
          <p:cNvGrpSpPr>
            <a:grpSpLocks/>
          </p:cNvGrpSpPr>
          <p:nvPr/>
        </p:nvGrpSpPr>
        <p:grpSpPr bwMode="auto">
          <a:xfrm>
            <a:off x="6503988" y="3717925"/>
            <a:ext cx="863600" cy="539750"/>
            <a:chOff x="897" y="1253"/>
            <a:chExt cx="544" cy="340"/>
          </a:xfrm>
        </p:grpSpPr>
        <p:sp>
          <p:nvSpPr>
            <p:cNvPr id="46136" name="Text Box 63"/>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6137" name="Line 64"/>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65"/>
          <p:cNvGrpSpPr>
            <a:grpSpLocks/>
          </p:cNvGrpSpPr>
          <p:nvPr/>
        </p:nvGrpSpPr>
        <p:grpSpPr bwMode="auto">
          <a:xfrm>
            <a:off x="7727950" y="3717925"/>
            <a:ext cx="863600" cy="539750"/>
            <a:chOff x="897" y="1253"/>
            <a:chExt cx="544" cy="340"/>
          </a:xfrm>
        </p:grpSpPr>
        <p:sp>
          <p:nvSpPr>
            <p:cNvPr id="46134" name="Text Box 66"/>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6135" name="Line 67"/>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68"/>
          <p:cNvGrpSpPr>
            <a:grpSpLocks/>
          </p:cNvGrpSpPr>
          <p:nvPr/>
        </p:nvGrpSpPr>
        <p:grpSpPr bwMode="auto">
          <a:xfrm>
            <a:off x="8375650" y="3717925"/>
            <a:ext cx="863600" cy="539750"/>
            <a:chOff x="897" y="1253"/>
            <a:chExt cx="544" cy="340"/>
          </a:xfrm>
        </p:grpSpPr>
        <p:sp>
          <p:nvSpPr>
            <p:cNvPr id="46132" name="Text Box 6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6133" name="Line 7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71"/>
          <p:cNvGrpSpPr>
            <a:grpSpLocks/>
          </p:cNvGrpSpPr>
          <p:nvPr/>
        </p:nvGrpSpPr>
        <p:grpSpPr bwMode="auto">
          <a:xfrm>
            <a:off x="8407400" y="4344988"/>
            <a:ext cx="863600" cy="539750"/>
            <a:chOff x="897" y="1253"/>
            <a:chExt cx="544" cy="340"/>
          </a:xfrm>
        </p:grpSpPr>
        <p:sp>
          <p:nvSpPr>
            <p:cNvPr id="46130" name="Text Box 72"/>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6131" name="Line 73"/>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Group 74"/>
          <p:cNvGrpSpPr>
            <a:grpSpLocks/>
          </p:cNvGrpSpPr>
          <p:nvPr/>
        </p:nvGrpSpPr>
        <p:grpSpPr bwMode="auto">
          <a:xfrm>
            <a:off x="7727950" y="3717925"/>
            <a:ext cx="863600" cy="539750"/>
            <a:chOff x="897" y="1253"/>
            <a:chExt cx="544" cy="340"/>
          </a:xfrm>
        </p:grpSpPr>
        <p:sp>
          <p:nvSpPr>
            <p:cNvPr id="46128" name="Text Box 75"/>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6129" name="Line 76"/>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 name="矩形 9">
            <a:extLst>
              <a:ext uri="{FF2B5EF4-FFF2-40B4-BE49-F238E27FC236}">
                <a16:creationId xmlns:a16="http://schemas.microsoft.com/office/drawing/2014/main" id="{3E555CCB-66E2-31F3-3F00-867E0BE23FA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1" name="矩形 10">
            <a:extLst>
              <a:ext uri="{FF2B5EF4-FFF2-40B4-BE49-F238E27FC236}">
                <a16:creationId xmlns:a16="http://schemas.microsoft.com/office/drawing/2014/main" id="{660C369A-9F41-B51E-4E24-8EA5F32550B5}"/>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12" name="直接连接符 11">
            <a:extLst>
              <a:ext uri="{FF2B5EF4-FFF2-40B4-BE49-F238E27FC236}">
                <a16:creationId xmlns:a16="http://schemas.microsoft.com/office/drawing/2014/main" id="{FA15FD0E-8B49-1B66-5E19-12D12A4E9A3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Text Box 1026">
            <a:extLst>
              <a:ext uri="{FF2B5EF4-FFF2-40B4-BE49-F238E27FC236}">
                <a16:creationId xmlns:a16="http://schemas.microsoft.com/office/drawing/2014/main" id="{28330E58-7B49-01A0-F816-0F2E29111341}"/>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2266775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4"/>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5"/>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8"/>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18CD8E4-55AC-89D6-60C5-7D6612248F3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BB0DA650-314F-E7B5-F2E5-9E6E939E81A1}"/>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5" name="直接连接符 4">
            <a:extLst>
              <a:ext uri="{FF2B5EF4-FFF2-40B4-BE49-F238E27FC236}">
                <a16:creationId xmlns:a16="http://schemas.microsoft.com/office/drawing/2014/main" id="{99522516-5D12-C779-22BD-8D94B1B7170D}"/>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1026">
            <a:extLst>
              <a:ext uri="{FF2B5EF4-FFF2-40B4-BE49-F238E27FC236}">
                <a16:creationId xmlns:a16="http://schemas.microsoft.com/office/drawing/2014/main" id="{FB3831CD-5F7D-88CB-91C8-AD4E8CF5D343}"/>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
        <p:nvSpPr>
          <p:cNvPr id="7" name="Text Box 2">
            <a:extLst>
              <a:ext uri="{FF2B5EF4-FFF2-40B4-BE49-F238E27FC236}">
                <a16:creationId xmlns:a16="http://schemas.microsoft.com/office/drawing/2014/main" id="{DD97F55A-34E6-F7DA-476B-74562C844086}"/>
              </a:ext>
            </a:extLst>
          </p:cNvPr>
          <p:cNvSpPr txBox="1">
            <a:spLocks noChangeArrowheads="1"/>
          </p:cNvSpPr>
          <p:nvPr/>
        </p:nvSpPr>
        <p:spPr bwMode="auto">
          <a:xfrm>
            <a:off x="1055440" y="2256545"/>
            <a:ext cx="10984363" cy="453842"/>
          </a:xfrm>
          <a:prstGeom prst="rect">
            <a:avLst/>
          </a:prstGeom>
          <a:noFill/>
          <a:ln w="9525">
            <a:noFill/>
            <a:miter lim="800000"/>
            <a:headEnd/>
            <a:tailEnd/>
          </a:ln>
          <a:effectLst/>
        </p:spPr>
        <p:txBody>
          <a:bodyPr wrap="square">
            <a:spAutoFit/>
          </a:bodyPr>
          <a:lstStyle/>
          <a:p>
            <a:pPr algn="just">
              <a:lnSpc>
                <a:spcPct val="130000"/>
              </a:lnSpc>
              <a:spcBef>
                <a:spcPct val="50000"/>
              </a:spcBef>
            </a:pPr>
            <a:r>
              <a:rPr kumimoji="1" lang="zh-CN" altLang="en-US" sz="2000" dirty="0">
                <a:latin typeface="Consolas" pitchFamily="49" charset="0"/>
                <a:ea typeface="楷体" pitchFamily="49" charset="-122"/>
                <a:cs typeface="Consolas" pitchFamily="49" charset="0"/>
              </a:rPr>
              <a:t>其算法如下（在有序表</a:t>
            </a:r>
            <a:r>
              <a:rPr kumimoji="1" lang="en-US" altLang="zh-CN" sz="2000" dirty="0">
                <a:latin typeface="Consolas" pitchFamily="49" charset="0"/>
                <a:ea typeface="楷体" pitchFamily="49" charset="-122"/>
                <a:cs typeface="Consolas" pitchFamily="49" charset="0"/>
              </a:rPr>
              <a:t>R[</a:t>
            </a:r>
            <a:r>
              <a:rPr kumimoji="1" lang="en-US" altLang="zh-CN" sz="2000" dirty="0" err="1">
                <a:latin typeface="Consolas" pitchFamily="49" charset="0"/>
                <a:ea typeface="楷体" pitchFamily="49" charset="-122"/>
                <a:cs typeface="Consolas" pitchFamily="49" charset="0"/>
              </a:rPr>
              <a:t>0..</a:t>
            </a:r>
            <a:r>
              <a:rPr kumimoji="1" lang="en-US" altLang="zh-CN" sz="2000" i="1" dirty="0" err="1">
                <a:latin typeface="Consolas" pitchFamily="49" charset="0"/>
                <a:ea typeface="楷体" pitchFamily="49" charset="-122"/>
                <a:cs typeface="Consolas" pitchFamily="49" charset="0"/>
              </a:rPr>
              <a:t>n</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1]</a:t>
            </a:r>
            <a:r>
              <a:rPr kumimoji="1" lang="zh-CN" altLang="en-US" sz="2000" dirty="0">
                <a:latin typeface="Consolas" pitchFamily="49" charset="0"/>
                <a:ea typeface="楷体" pitchFamily="49" charset="-122"/>
                <a:cs typeface="Consolas" pitchFamily="49" charset="0"/>
              </a:rPr>
              <a:t>中进行折半查找，成功时返回元素的逻辑序号，失败时返回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a:t>
            </a:r>
          </a:p>
        </p:txBody>
      </p:sp>
      <p:sp>
        <p:nvSpPr>
          <p:cNvPr id="8" name="Text Box 12">
            <a:extLst>
              <a:ext uri="{FF2B5EF4-FFF2-40B4-BE49-F238E27FC236}">
                <a16:creationId xmlns:a16="http://schemas.microsoft.com/office/drawing/2014/main" id="{83091EBC-6A23-B0D2-7F7B-420B675AF4F3}"/>
              </a:ext>
            </a:extLst>
          </p:cNvPr>
          <p:cNvSpPr txBox="1">
            <a:spLocks noChangeArrowheads="1"/>
          </p:cNvSpPr>
          <p:nvPr/>
        </p:nvSpPr>
        <p:spPr bwMode="auto">
          <a:xfrm>
            <a:off x="1627514" y="2721486"/>
            <a:ext cx="7889901" cy="3874623"/>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l">
              <a:lnSpc>
                <a:spcPts val="2200"/>
              </a:lnSpc>
            </a:pPr>
            <a:r>
              <a:rPr lang="en-US" altLang="zh-CN" sz="1800" dirty="0">
                <a:solidFill>
                  <a:srgbClr val="3333FF"/>
                </a:solidFill>
                <a:latin typeface="Consolas" pitchFamily="49" charset="0"/>
                <a:ea typeface="仿宋" pitchFamily="49" charset="-122"/>
                <a:cs typeface="Consolas" pitchFamily="49" charset="0"/>
              </a:rPr>
              <a:t>int </a:t>
            </a:r>
            <a:r>
              <a:rPr lang="en-US" altLang="zh-CN" sz="1800" dirty="0" err="1">
                <a:solidFill>
                  <a:srgbClr val="FF0000"/>
                </a:solidFill>
                <a:latin typeface="Consolas" pitchFamily="49" charset="0"/>
                <a:ea typeface="仿宋" pitchFamily="49" charset="-122"/>
                <a:cs typeface="Consolas" pitchFamily="49" charset="0"/>
              </a:rPr>
              <a:t>BinSearch</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RecType</a:t>
            </a:r>
            <a:r>
              <a:rPr lang="en-US" altLang="zh-CN" sz="1800" dirty="0">
                <a:solidFill>
                  <a:srgbClr val="3333FF"/>
                </a:solidFill>
                <a:latin typeface="Consolas" pitchFamily="49" charset="0"/>
                <a:ea typeface="仿宋" pitchFamily="49" charset="-122"/>
                <a:cs typeface="Consolas" pitchFamily="49" charset="0"/>
              </a:rPr>
              <a:t> R[],int </a:t>
            </a:r>
            <a:r>
              <a:rPr lang="en-US" altLang="zh-CN" sz="1800" dirty="0" err="1">
                <a:solidFill>
                  <a:srgbClr val="3333FF"/>
                </a:solidFill>
                <a:latin typeface="Consolas" pitchFamily="49" charset="0"/>
                <a:ea typeface="仿宋" pitchFamily="49" charset="-122"/>
                <a:cs typeface="Consolas" pitchFamily="49" charset="0"/>
              </a:rPr>
              <a:t>n,KeyType</a:t>
            </a:r>
            <a:r>
              <a:rPr lang="en-US" altLang="zh-CN" sz="1800" dirty="0">
                <a:solidFill>
                  <a:srgbClr val="3333FF"/>
                </a:solidFill>
                <a:latin typeface="Consolas" pitchFamily="49" charset="0"/>
                <a:ea typeface="仿宋" pitchFamily="49" charset="-122"/>
                <a:cs typeface="Consolas" pitchFamily="49" charset="0"/>
              </a:rPr>
              <a:t> k)</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int low=0,high=n-1,mid;</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while (low&lt;=high)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当前区间存在元素时循环</a:t>
            </a:r>
          </a:p>
          <a:p>
            <a:pPr algn="l">
              <a:lnSpc>
                <a:spcPts val="2200"/>
              </a:lnSpc>
            </a:pPr>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	mid=(</a:t>
            </a:r>
            <a:r>
              <a:rPr lang="en-US" altLang="zh-CN" sz="1800" dirty="0" err="1">
                <a:solidFill>
                  <a:srgbClr val="3333FF"/>
                </a:solidFill>
                <a:latin typeface="Consolas" pitchFamily="49" charset="0"/>
                <a:ea typeface="仿宋" pitchFamily="49" charset="-122"/>
                <a:cs typeface="Consolas" pitchFamily="49" charset="0"/>
              </a:rPr>
              <a:t>low+high</a:t>
            </a:r>
            <a:r>
              <a:rPr lang="en-US" altLang="zh-CN" sz="1800" dirty="0">
                <a:solidFill>
                  <a:srgbClr val="3333FF"/>
                </a:solidFill>
                <a:latin typeface="Consolas" pitchFamily="49" charset="0"/>
                <a:ea typeface="仿宋" pitchFamily="49" charset="-122"/>
                <a:cs typeface="Consolas" pitchFamily="49" charset="0"/>
              </a:rPr>
              <a:t>)/2;</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if (</a:t>
            </a:r>
            <a:r>
              <a:rPr lang="en-US" altLang="zh-CN" sz="1800" dirty="0">
                <a:solidFill>
                  <a:srgbClr val="FF00FF"/>
                </a:solidFill>
                <a:latin typeface="Consolas" pitchFamily="49" charset="0"/>
                <a:ea typeface="仿宋" pitchFamily="49" charset="-122"/>
                <a:cs typeface="Consolas" pitchFamily="49" charset="0"/>
              </a:rPr>
              <a:t>R[mid].key==k</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查找成功返回其逻辑序号</a:t>
            </a:r>
            <a:r>
              <a:rPr lang="en-US" altLang="zh-CN" sz="1800" dirty="0" err="1">
                <a:solidFill>
                  <a:srgbClr val="00B0F0"/>
                </a:solidFill>
                <a:latin typeface="Consolas" pitchFamily="49" charset="0"/>
                <a:ea typeface="仿宋" pitchFamily="49" charset="-122"/>
                <a:cs typeface="Consolas" pitchFamily="49" charset="0"/>
              </a:rPr>
              <a:t>mid+1</a:t>
            </a:r>
            <a:endParaRPr lang="en-US" altLang="zh-CN" sz="1800" dirty="0">
              <a:solidFill>
                <a:srgbClr val="00B0F0"/>
              </a:solidFill>
              <a:latin typeface="Consolas" pitchFamily="49" charset="0"/>
              <a:ea typeface="仿宋" pitchFamily="49" charset="-122"/>
              <a:cs typeface="Consolas" pitchFamily="49" charset="0"/>
            </a:endParaRP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return mid+1;</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if (</a:t>
            </a:r>
            <a:r>
              <a:rPr lang="en-US" altLang="zh-CN" sz="1800" dirty="0">
                <a:solidFill>
                  <a:srgbClr val="FF00FF"/>
                </a:solidFill>
                <a:latin typeface="Consolas" pitchFamily="49" charset="0"/>
                <a:ea typeface="仿宋" pitchFamily="49" charset="-122"/>
                <a:cs typeface="Consolas" pitchFamily="49" charset="0"/>
              </a:rPr>
              <a:t>k&lt;R[mid].key</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继续在</a:t>
            </a:r>
            <a:r>
              <a:rPr lang="en-US" altLang="zh-CN" sz="1800" dirty="0">
                <a:solidFill>
                  <a:srgbClr val="00B0F0"/>
                </a:solidFill>
                <a:latin typeface="Consolas" pitchFamily="49" charset="0"/>
                <a:ea typeface="仿宋" pitchFamily="49" charset="-122"/>
                <a:cs typeface="Consolas" pitchFamily="49" charset="0"/>
              </a:rPr>
              <a:t>R[low..mid-1]</a:t>
            </a:r>
            <a:r>
              <a:rPr lang="zh-CN" altLang="en-US" sz="1800" dirty="0">
                <a:solidFill>
                  <a:srgbClr val="00B0F0"/>
                </a:solidFill>
                <a:latin typeface="Consolas" pitchFamily="49" charset="0"/>
                <a:ea typeface="仿宋" pitchFamily="49" charset="-122"/>
                <a:cs typeface="Consolas" pitchFamily="49" charset="0"/>
              </a:rPr>
              <a:t>中查找</a:t>
            </a:r>
          </a:p>
          <a:p>
            <a:pPr algn="l">
              <a:lnSpc>
                <a:spcPts val="2200"/>
              </a:lnSpc>
            </a:pPr>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high=mid-1;</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else</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low=mid+1;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继续在</a:t>
            </a:r>
            <a:r>
              <a:rPr lang="en-US" altLang="zh-CN" sz="1800" dirty="0">
                <a:solidFill>
                  <a:srgbClr val="00B0F0"/>
                </a:solidFill>
                <a:latin typeface="Consolas" pitchFamily="49" charset="0"/>
                <a:ea typeface="仿宋" pitchFamily="49" charset="-122"/>
                <a:cs typeface="Consolas" pitchFamily="49" charset="0"/>
              </a:rPr>
              <a:t>R[</a:t>
            </a:r>
            <a:r>
              <a:rPr lang="en-US" altLang="zh-CN" sz="1800" dirty="0" err="1">
                <a:solidFill>
                  <a:srgbClr val="00B0F0"/>
                </a:solidFill>
                <a:latin typeface="Consolas" pitchFamily="49" charset="0"/>
                <a:ea typeface="仿宋" pitchFamily="49" charset="-122"/>
                <a:cs typeface="Consolas" pitchFamily="49" charset="0"/>
              </a:rPr>
              <a:t>mid+1..high</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中查找</a:t>
            </a:r>
          </a:p>
          <a:p>
            <a:pPr algn="l">
              <a:lnSpc>
                <a:spcPts val="2200"/>
              </a:lnSpc>
            </a:pPr>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   return 0;</a:t>
            </a:r>
          </a:p>
          <a:p>
            <a:pPr algn="l">
              <a:lnSpc>
                <a:spcPts val="2200"/>
              </a:lnSpc>
            </a:pPr>
            <a:r>
              <a:rPr lang="en-US" altLang="zh-CN" sz="1800" dirty="0">
                <a:solidFill>
                  <a:srgbClr val="3333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28185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body" sz="half" idx="4294967295"/>
          </p:nvPr>
        </p:nvSpPr>
        <p:spPr>
          <a:xfrm>
            <a:off x="4061618" y="1899392"/>
            <a:ext cx="1328738" cy="418034"/>
          </a:xfrm>
        </p:spPr>
        <p:txBody>
          <a:bodyPr>
            <a:normAutofit lnSpcReduction="10000"/>
          </a:bodyPr>
          <a:lstStyle/>
          <a:p>
            <a:pPr eaLnBrk="1" hangingPunct="1">
              <a:buFont typeface="Wingdings" pitchFamily="2" charset="2"/>
              <a:buNone/>
            </a:pPr>
            <a:r>
              <a:rPr kumimoji="1" lang="zh-CN" altLang="en-US" sz="2200" dirty="0">
                <a:latin typeface="微软雅黑" pitchFamily="34" charset="-122"/>
                <a:ea typeface="微软雅黑" pitchFamily="34" charset="-122"/>
                <a:cs typeface="经典粗黑简" pitchFamily="49" charset="-122"/>
              </a:rPr>
              <a:t>性能分析</a:t>
            </a:r>
          </a:p>
        </p:txBody>
      </p:sp>
      <p:graphicFrame>
        <p:nvGraphicFramePr>
          <p:cNvPr id="91139" name="Group 3"/>
          <p:cNvGraphicFramePr>
            <a:graphicFrameLocks noGrp="1"/>
          </p:cNvGraphicFramePr>
          <p:nvPr>
            <p:ph sz="half" idx="4294967295"/>
            <p:extLst>
              <p:ext uri="{D42A27DB-BD31-4B8C-83A1-F6EECF244321}">
                <p14:modId xmlns:p14="http://schemas.microsoft.com/office/powerpoint/2010/main" val="1476666903"/>
              </p:ext>
            </p:extLst>
          </p:nvPr>
        </p:nvGraphicFramePr>
        <p:xfrm>
          <a:off x="2493962" y="2241873"/>
          <a:ext cx="6840538"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3">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2">
                  <a:extLst>
                    <a:ext uri="{9D8B030D-6E8A-4147-A177-3AD203B41FA5}">
                      <a16:colId xmlns:a16="http://schemas.microsoft.com/office/drawing/2014/main" val="20004"/>
                    </a:ext>
                  </a:extLst>
                </a:gridCol>
                <a:gridCol w="623888">
                  <a:extLst>
                    <a:ext uri="{9D8B030D-6E8A-4147-A177-3AD203B41FA5}">
                      <a16:colId xmlns:a16="http://schemas.microsoft.com/office/drawing/2014/main" val="20005"/>
                    </a:ext>
                  </a:extLst>
                </a:gridCol>
                <a:gridCol w="620712">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3">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dirty="0">
                          <a:ln>
                            <a:noFill/>
                          </a:ln>
                          <a:solidFill>
                            <a:srgbClr val="595959"/>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dirty="0">
                          <a:ln>
                            <a:noFill/>
                          </a:ln>
                          <a:solidFill>
                            <a:srgbClr val="595959"/>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rgbClr val="595959"/>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 name="Group 53"/>
          <p:cNvGrpSpPr>
            <a:grpSpLocks/>
          </p:cNvGrpSpPr>
          <p:nvPr/>
        </p:nvGrpSpPr>
        <p:grpSpPr bwMode="auto">
          <a:xfrm>
            <a:off x="2514600" y="3178498"/>
            <a:ext cx="863600" cy="539750"/>
            <a:chOff x="897" y="1253"/>
            <a:chExt cx="544" cy="340"/>
          </a:xfrm>
        </p:grpSpPr>
        <p:sp>
          <p:nvSpPr>
            <p:cNvPr id="48227" name="Text Box 5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8228" name="Line 5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56"/>
          <p:cNvGrpSpPr>
            <a:grpSpLocks/>
          </p:cNvGrpSpPr>
          <p:nvPr/>
        </p:nvGrpSpPr>
        <p:grpSpPr bwMode="auto">
          <a:xfrm>
            <a:off x="8902700" y="3178498"/>
            <a:ext cx="863600" cy="539750"/>
            <a:chOff x="897" y="1253"/>
            <a:chExt cx="544" cy="340"/>
          </a:xfrm>
        </p:grpSpPr>
        <p:sp>
          <p:nvSpPr>
            <p:cNvPr id="48225" name="Text Box 5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8226" name="Line 5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59"/>
          <p:cNvGrpSpPr>
            <a:grpSpLocks/>
          </p:cNvGrpSpPr>
          <p:nvPr/>
        </p:nvGrpSpPr>
        <p:grpSpPr bwMode="auto">
          <a:xfrm>
            <a:off x="5735637" y="3178498"/>
            <a:ext cx="863600" cy="539750"/>
            <a:chOff x="897" y="1253"/>
            <a:chExt cx="544" cy="340"/>
          </a:xfrm>
        </p:grpSpPr>
        <p:sp>
          <p:nvSpPr>
            <p:cNvPr id="48223" name="Text Box 6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8224" name="Line 6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62"/>
          <p:cNvGrpSpPr>
            <a:grpSpLocks/>
          </p:cNvGrpSpPr>
          <p:nvPr/>
        </p:nvGrpSpPr>
        <p:grpSpPr bwMode="auto">
          <a:xfrm>
            <a:off x="5086350" y="3178498"/>
            <a:ext cx="863600" cy="539750"/>
            <a:chOff x="897" y="1253"/>
            <a:chExt cx="544" cy="340"/>
          </a:xfrm>
        </p:grpSpPr>
        <p:sp>
          <p:nvSpPr>
            <p:cNvPr id="48221" name="Text Box 63"/>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8222" name="Line 64"/>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65"/>
          <p:cNvGrpSpPr>
            <a:grpSpLocks/>
          </p:cNvGrpSpPr>
          <p:nvPr/>
        </p:nvGrpSpPr>
        <p:grpSpPr bwMode="auto">
          <a:xfrm>
            <a:off x="3862387" y="3178498"/>
            <a:ext cx="863600" cy="539750"/>
            <a:chOff x="897" y="1253"/>
            <a:chExt cx="544" cy="340"/>
          </a:xfrm>
        </p:grpSpPr>
        <p:sp>
          <p:nvSpPr>
            <p:cNvPr id="48219" name="Text Box 66"/>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8220" name="Line 67"/>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68"/>
          <p:cNvGrpSpPr>
            <a:grpSpLocks/>
          </p:cNvGrpSpPr>
          <p:nvPr/>
        </p:nvGrpSpPr>
        <p:grpSpPr bwMode="auto">
          <a:xfrm>
            <a:off x="6383337" y="3178498"/>
            <a:ext cx="863600" cy="539750"/>
            <a:chOff x="897" y="1253"/>
            <a:chExt cx="544" cy="340"/>
          </a:xfrm>
        </p:grpSpPr>
        <p:sp>
          <p:nvSpPr>
            <p:cNvPr id="48217" name="Text Box 6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8218" name="Line 7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71"/>
          <p:cNvGrpSpPr>
            <a:grpSpLocks/>
          </p:cNvGrpSpPr>
          <p:nvPr/>
        </p:nvGrpSpPr>
        <p:grpSpPr bwMode="auto">
          <a:xfrm>
            <a:off x="7607300" y="3178498"/>
            <a:ext cx="863600" cy="539750"/>
            <a:chOff x="897" y="1253"/>
            <a:chExt cx="544" cy="340"/>
          </a:xfrm>
        </p:grpSpPr>
        <p:sp>
          <p:nvSpPr>
            <p:cNvPr id="48215" name="Text Box 72"/>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8216" name="Line 73"/>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Group 74"/>
          <p:cNvGrpSpPr>
            <a:grpSpLocks/>
          </p:cNvGrpSpPr>
          <p:nvPr/>
        </p:nvGrpSpPr>
        <p:grpSpPr bwMode="auto">
          <a:xfrm>
            <a:off x="3286125" y="3178498"/>
            <a:ext cx="863600" cy="539750"/>
            <a:chOff x="897" y="1253"/>
            <a:chExt cx="544" cy="340"/>
          </a:xfrm>
        </p:grpSpPr>
        <p:sp>
          <p:nvSpPr>
            <p:cNvPr id="48213" name="Text Box 75"/>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48214" name="Line 76"/>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77"/>
          <p:cNvGrpSpPr>
            <a:grpSpLocks/>
          </p:cNvGrpSpPr>
          <p:nvPr/>
        </p:nvGrpSpPr>
        <p:grpSpPr bwMode="auto">
          <a:xfrm>
            <a:off x="2495550" y="3791273"/>
            <a:ext cx="863600" cy="539750"/>
            <a:chOff x="897" y="1253"/>
            <a:chExt cx="544" cy="340"/>
          </a:xfrm>
        </p:grpSpPr>
        <p:sp>
          <p:nvSpPr>
            <p:cNvPr id="48211" name="Text Box 78"/>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8212" name="Line 79"/>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 name="Group 80"/>
          <p:cNvGrpSpPr>
            <a:grpSpLocks/>
          </p:cNvGrpSpPr>
          <p:nvPr/>
        </p:nvGrpSpPr>
        <p:grpSpPr bwMode="auto">
          <a:xfrm>
            <a:off x="4511675" y="3178498"/>
            <a:ext cx="863600" cy="539750"/>
            <a:chOff x="897" y="1253"/>
            <a:chExt cx="544" cy="340"/>
          </a:xfrm>
        </p:grpSpPr>
        <p:sp>
          <p:nvSpPr>
            <p:cNvPr id="48209" name="Text Box 81"/>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48210" name="Line 82"/>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 name="Group 83"/>
          <p:cNvGrpSpPr>
            <a:grpSpLocks/>
          </p:cNvGrpSpPr>
          <p:nvPr/>
        </p:nvGrpSpPr>
        <p:grpSpPr bwMode="auto">
          <a:xfrm>
            <a:off x="4510087" y="3791273"/>
            <a:ext cx="863600" cy="539750"/>
            <a:chOff x="897" y="1253"/>
            <a:chExt cx="544" cy="340"/>
          </a:xfrm>
        </p:grpSpPr>
        <p:sp>
          <p:nvSpPr>
            <p:cNvPr id="48207" name="Text Box 8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48208" name="Line 8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91244" name="Group 108"/>
          <p:cNvGraphicFramePr>
            <a:graphicFrameLocks noGrp="1"/>
          </p:cNvGraphicFramePr>
          <p:nvPr>
            <p:extLst>
              <p:ext uri="{D42A27DB-BD31-4B8C-83A1-F6EECF244321}">
                <p14:modId xmlns:p14="http://schemas.microsoft.com/office/powerpoint/2010/main" val="3920021631"/>
              </p:ext>
            </p:extLst>
          </p:nvPr>
        </p:nvGraphicFramePr>
        <p:xfrm>
          <a:off x="5663952" y="3835557"/>
          <a:ext cx="3816424" cy="2257740"/>
        </p:xfrm>
        <a:graphic>
          <a:graphicData uri="http://schemas.openxmlformats.org/drawingml/2006/table">
            <a:tbl>
              <a:tblPr/>
              <a:tblGrid>
                <a:gridCol w="1654125">
                  <a:extLst>
                    <a:ext uri="{9D8B030D-6E8A-4147-A177-3AD203B41FA5}">
                      <a16:colId xmlns:a16="http://schemas.microsoft.com/office/drawing/2014/main" val="20000"/>
                    </a:ext>
                  </a:extLst>
                </a:gridCol>
                <a:gridCol w="2162299">
                  <a:extLst>
                    <a:ext uri="{9D8B030D-6E8A-4147-A177-3AD203B41FA5}">
                      <a16:colId xmlns:a16="http://schemas.microsoft.com/office/drawing/2014/main" val="20001"/>
                    </a:ext>
                  </a:extLst>
                </a:gridCol>
              </a:tblGrid>
              <a:tr h="588963">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1" lang="zh-CN" altLang="en-US" sz="2000" kern="1200" dirty="0">
                          <a:solidFill>
                            <a:schemeClr val="tx1"/>
                          </a:solidFill>
                          <a:latin typeface="微软雅黑" pitchFamily="34" charset="-122"/>
                          <a:ea typeface="微软雅黑" pitchFamily="34" charset="-122"/>
                          <a:cs typeface="经典粗黑简" pitchFamily="49" charset="-122"/>
                        </a:rPr>
                        <a:t>元素位置</a:t>
                      </a: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1" lang="zh-CN" altLang="en-US" sz="2000" kern="1200" dirty="0">
                          <a:solidFill>
                            <a:schemeClr val="tx1"/>
                          </a:solidFill>
                          <a:latin typeface="微软雅黑" pitchFamily="34" charset="-122"/>
                          <a:ea typeface="微软雅黑" pitchFamily="34" charset="-122"/>
                          <a:cs typeface="经典粗黑简" pitchFamily="49" charset="-122"/>
                        </a:rPr>
                        <a:t>比较次数</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8921">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204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204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dirty="0">
                        <a:ln>
                          <a:noFill/>
                        </a:ln>
                        <a:solidFill>
                          <a:srgbClr val="595959"/>
                        </a:solidFill>
                        <a:effectLst/>
                        <a:latin typeface="Comic Sans MS" pitchFamily="66" charset="0"/>
                        <a:ea typeface="ＭＳ Ｐゴシック" pitchFamily="34" charset="-128"/>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36004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dirty="0">
                        <a:ln>
                          <a:noFill/>
                        </a:ln>
                        <a:solidFill>
                          <a:srgbClr val="595959"/>
                        </a:solidFill>
                        <a:effectLst/>
                        <a:latin typeface="Comic Sans MS" pitchFamily="66" charset="0"/>
                        <a:ea typeface="ＭＳ Ｐゴシック" pitchFamily="34" charset="-128"/>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1264" name="Text Box 128"/>
          <p:cNvSpPr txBox="1">
            <a:spLocks noChangeArrowheads="1"/>
          </p:cNvSpPr>
          <p:nvPr/>
        </p:nvSpPr>
        <p:spPr bwMode="auto">
          <a:xfrm>
            <a:off x="5859463" y="4452173"/>
            <a:ext cx="11726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6</a:t>
            </a:r>
          </a:p>
        </p:txBody>
      </p:sp>
      <p:sp>
        <p:nvSpPr>
          <p:cNvPr id="91265" name="Text Box 129"/>
          <p:cNvSpPr txBox="1">
            <a:spLocks noChangeArrowheads="1"/>
          </p:cNvSpPr>
          <p:nvPr/>
        </p:nvSpPr>
        <p:spPr bwMode="auto">
          <a:xfrm>
            <a:off x="7895978" y="4417539"/>
            <a:ext cx="13683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1</a:t>
            </a:r>
          </a:p>
        </p:txBody>
      </p:sp>
      <p:sp>
        <p:nvSpPr>
          <p:cNvPr id="91266" name="Text Box 130"/>
          <p:cNvSpPr txBox="1">
            <a:spLocks noChangeArrowheads="1"/>
          </p:cNvSpPr>
          <p:nvPr/>
        </p:nvSpPr>
        <p:spPr bwMode="auto">
          <a:xfrm>
            <a:off x="5735391" y="4869160"/>
            <a:ext cx="15115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3    9</a:t>
            </a:r>
          </a:p>
        </p:txBody>
      </p:sp>
      <p:sp>
        <p:nvSpPr>
          <p:cNvPr id="91267" name="Text Box 131"/>
          <p:cNvSpPr txBox="1">
            <a:spLocks noChangeArrowheads="1"/>
          </p:cNvSpPr>
          <p:nvPr/>
        </p:nvSpPr>
        <p:spPr bwMode="auto">
          <a:xfrm>
            <a:off x="7967986" y="4869160"/>
            <a:ext cx="1296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2</a:t>
            </a:r>
          </a:p>
        </p:txBody>
      </p:sp>
      <p:sp>
        <p:nvSpPr>
          <p:cNvPr id="91268" name="Text Box 132"/>
          <p:cNvSpPr txBox="1">
            <a:spLocks noChangeArrowheads="1"/>
          </p:cNvSpPr>
          <p:nvPr/>
        </p:nvSpPr>
        <p:spPr bwMode="auto">
          <a:xfrm>
            <a:off x="5663953" y="5301208"/>
            <a:ext cx="16549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1  4  7  10</a:t>
            </a:r>
          </a:p>
        </p:txBody>
      </p:sp>
      <p:sp>
        <p:nvSpPr>
          <p:cNvPr id="91269" name="Text Box 133"/>
          <p:cNvSpPr txBox="1">
            <a:spLocks noChangeArrowheads="1"/>
          </p:cNvSpPr>
          <p:nvPr/>
        </p:nvSpPr>
        <p:spPr bwMode="auto">
          <a:xfrm>
            <a:off x="7897838" y="5301208"/>
            <a:ext cx="14385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3</a:t>
            </a:r>
          </a:p>
        </p:txBody>
      </p:sp>
      <p:sp>
        <p:nvSpPr>
          <p:cNvPr id="91270" name="Text Box 134"/>
          <p:cNvSpPr txBox="1">
            <a:spLocks noChangeArrowheads="1"/>
          </p:cNvSpPr>
          <p:nvPr/>
        </p:nvSpPr>
        <p:spPr bwMode="auto">
          <a:xfrm>
            <a:off x="5519937" y="5733256"/>
            <a:ext cx="2016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2  5  8  11</a:t>
            </a:r>
          </a:p>
        </p:txBody>
      </p:sp>
      <p:sp>
        <p:nvSpPr>
          <p:cNvPr id="91271" name="Text Box 135"/>
          <p:cNvSpPr txBox="1">
            <a:spLocks noChangeArrowheads="1"/>
          </p:cNvSpPr>
          <p:nvPr/>
        </p:nvSpPr>
        <p:spPr bwMode="auto">
          <a:xfrm>
            <a:off x="7895978" y="5733256"/>
            <a:ext cx="13683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000" dirty="0">
                <a:solidFill>
                  <a:srgbClr val="0000FF"/>
                </a:solidFill>
                <a:latin typeface="Comic Sans MS" pitchFamily="66" charset="0"/>
                <a:ea typeface="宋体" pitchFamily="2" charset="-122"/>
              </a:rPr>
              <a:t>4</a:t>
            </a:r>
          </a:p>
        </p:txBody>
      </p:sp>
      <p:sp>
        <p:nvSpPr>
          <p:cNvPr id="13" name="矩形 12">
            <a:extLst>
              <a:ext uri="{FF2B5EF4-FFF2-40B4-BE49-F238E27FC236}">
                <a16:creationId xmlns:a16="http://schemas.microsoft.com/office/drawing/2014/main" id="{E31A6FFA-52A8-78C9-3E18-246E9031ACB6}"/>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4" name="矩形 13">
            <a:extLst>
              <a:ext uri="{FF2B5EF4-FFF2-40B4-BE49-F238E27FC236}">
                <a16:creationId xmlns:a16="http://schemas.microsoft.com/office/drawing/2014/main" id="{062A1884-839A-421F-FF18-F5F65E1CAF52}"/>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15" name="直接连接符 14">
            <a:extLst>
              <a:ext uri="{FF2B5EF4-FFF2-40B4-BE49-F238E27FC236}">
                <a16:creationId xmlns:a16="http://schemas.microsoft.com/office/drawing/2014/main" id="{8415FFFA-6E88-57BA-6F11-A2ED81BD933B}"/>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6" name="Text Box 1026">
            <a:extLst>
              <a:ext uri="{FF2B5EF4-FFF2-40B4-BE49-F238E27FC236}">
                <a16:creationId xmlns:a16="http://schemas.microsoft.com/office/drawing/2014/main" id="{58373943-3F6C-5979-5A75-15E1EABFC2F7}"/>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508508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2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126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3"/>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5"/>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126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1267"/>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xit" presetSubtype="0" fill="hold" nodeType="clickEffect">
                                  <p:stCondLst>
                                    <p:cond delay="0"/>
                                  </p:stCondLst>
                                  <p:childTnLst>
                                    <p:set>
                                      <p:cBhvr>
                                        <p:cTn id="68" dur="1" fill="hold">
                                          <p:stCondLst>
                                            <p:cond delay="0"/>
                                          </p:stCondLst>
                                        </p:cTn>
                                        <p:tgtEl>
                                          <p:spTgt spid="8"/>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7"/>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2"/>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4"/>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3"/>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6"/>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xit" presetSubtype="0" fill="hold" nodeType="clickEffect">
                                  <p:stCondLst>
                                    <p:cond delay="0"/>
                                  </p:stCondLst>
                                  <p:childTnLst>
                                    <p:set>
                                      <p:cBhvr>
                                        <p:cTn id="92" dur="1" fill="hold">
                                          <p:stCondLst>
                                            <p:cond delay="0"/>
                                          </p:stCondLst>
                                        </p:cTn>
                                        <p:tgtEl>
                                          <p:spTgt spid="5"/>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6"/>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9"/>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1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10"/>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9"/>
                                        </p:tgtEl>
                                        <p:attrNameLst>
                                          <p:attrName>style.visibility</p:attrName>
                                        </p:attrNameLst>
                                      </p:cBhvr>
                                      <p:to>
                                        <p:strVal val="hidden"/>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xit" presetSubtype="0" fill="hold" nodeType="clickEffect">
                                  <p:stCondLst>
                                    <p:cond delay="0"/>
                                  </p:stCondLst>
                                  <p:childTnLst>
                                    <p:set>
                                      <p:cBhvr>
                                        <p:cTn id="116" dur="1" fill="hold">
                                          <p:stCondLst>
                                            <p:cond delay="0"/>
                                          </p:stCondLst>
                                        </p:cTn>
                                        <p:tgtEl>
                                          <p:spTgt spid="4"/>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 presetClass="entr" presetSubtype="0" fill="hold" nodeType="withEffect">
                                  <p:stCondLst>
                                    <p:cond delay="0"/>
                                  </p:stCondLst>
                                  <p:childTnLst>
                                    <p:set>
                                      <p:cBhvr>
                                        <p:cTn id="120" dur="1" fill="hold">
                                          <p:stCondLst>
                                            <p:cond delay="0"/>
                                          </p:stCondLst>
                                        </p:cTn>
                                        <p:tgtEl>
                                          <p:spTgt spid="5"/>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6"/>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nodeType="clickEffect">
                                  <p:stCondLst>
                                    <p:cond delay="0"/>
                                  </p:stCondLst>
                                  <p:childTnLst>
                                    <p:set>
                                      <p:cBhvr>
                                        <p:cTn id="128" dur="1" fill="hold">
                                          <p:stCondLst>
                                            <p:cond delay="0"/>
                                          </p:stCondLst>
                                        </p:cTn>
                                        <p:tgtEl>
                                          <p:spTgt spid="11"/>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6"/>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2"/>
                                        </p:tgtEl>
                                        <p:attrNameLst>
                                          <p:attrName>style.visibility</p:attrName>
                                        </p:attrNameLst>
                                      </p:cBhvr>
                                      <p:to>
                                        <p:strVal val="hidden"/>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12"/>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1268"/>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91269"/>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91270"/>
                                        </p:tgtEl>
                                        <p:attrNameLst>
                                          <p:attrName>style.visibility</p:attrName>
                                        </p:attrNameLst>
                                      </p:cBhvr>
                                      <p:to>
                                        <p:strVal val="visible"/>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91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64" grpId="0"/>
      <p:bldP spid="91265" grpId="0"/>
      <p:bldP spid="91266" grpId="0"/>
      <p:bldP spid="91267" grpId="0"/>
      <p:bldP spid="91268" grpId="0"/>
      <p:bldP spid="91269" grpId="0"/>
      <p:bldP spid="91270" grpId="0"/>
      <p:bldP spid="9127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body" idx="4294967295"/>
          </p:nvPr>
        </p:nvSpPr>
        <p:spPr>
          <a:xfrm>
            <a:off x="2135560" y="2435586"/>
            <a:ext cx="7848600" cy="1152128"/>
          </a:xfrm>
        </p:spPr>
        <p:txBody>
          <a:bodyPr>
            <a:normAutofit/>
          </a:bodyPr>
          <a:lstStyle/>
          <a:p>
            <a:pPr marL="0" indent="0">
              <a:buNone/>
            </a:pPr>
            <a:r>
              <a:rPr kumimoji="1" lang="zh-CN" altLang="en-US" sz="2200" dirty="0">
                <a:latin typeface="微软雅黑" pitchFamily="34" charset="-122"/>
                <a:ea typeface="微软雅黑" pitchFamily="34" charset="-122"/>
                <a:cs typeface="经典粗黑简" pitchFamily="49" charset="-122"/>
              </a:rPr>
              <a:t>       二分查找的查找过程可以用一棵二叉树来描述。其中，树中的每个结点表示一个记录，结点中的值为该记录在表中的位置，通常称这个描述查找过程的二叉树为</a:t>
            </a:r>
            <a:r>
              <a:rPr kumimoji="1" lang="zh-CN" altLang="en-US" sz="2200" dirty="0">
                <a:solidFill>
                  <a:srgbClr val="FF0000"/>
                </a:solidFill>
                <a:latin typeface="微软雅黑" pitchFamily="34" charset="-122"/>
                <a:ea typeface="微软雅黑" pitchFamily="34" charset="-122"/>
                <a:cs typeface="经典粗黑简" pitchFamily="49" charset="-122"/>
              </a:rPr>
              <a:t>判定树</a:t>
            </a:r>
            <a:r>
              <a:rPr kumimoji="1" lang="zh-CN" altLang="en-US" sz="2200" dirty="0">
                <a:latin typeface="微软雅黑" pitchFamily="34" charset="-122"/>
                <a:ea typeface="微软雅黑" pitchFamily="34" charset="-122"/>
                <a:cs typeface="经典粗黑简" pitchFamily="49" charset="-122"/>
              </a:rPr>
              <a:t>。</a:t>
            </a:r>
          </a:p>
        </p:txBody>
      </p:sp>
      <p:sp>
        <p:nvSpPr>
          <p:cNvPr id="2" name="矩形 1"/>
          <p:cNvSpPr/>
          <p:nvPr/>
        </p:nvSpPr>
        <p:spPr>
          <a:xfrm>
            <a:off x="2063280" y="3837171"/>
            <a:ext cx="7920880" cy="1107996"/>
          </a:xfrm>
          <a:prstGeom prst="rect">
            <a:avLst/>
          </a:prstGeom>
        </p:spPr>
        <p:txBody>
          <a:bodyPr wrap="square">
            <a:spAutoFit/>
          </a:bodyPr>
          <a:lstStyle/>
          <a:p>
            <a:r>
              <a:rPr kumimoji="1" lang="zh-CN" altLang="en-US" sz="2200" dirty="0">
                <a:latin typeface="微软雅黑" pitchFamily="34" charset="-122"/>
                <a:ea typeface="微软雅黑" pitchFamily="34" charset="-122"/>
                <a:cs typeface="经典粗黑简" pitchFamily="49" charset="-122"/>
              </a:rPr>
              <a:t>       判定树的构造过程：把整个查找区间的中间位置作为根结点，左子表或右子表的中间位置作为根的左孩子或右孩子，依此类推，得到的二叉树即为描述二分查找的判定树。</a:t>
            </a:r>
          </a:p>
        </p:txBody>
      </p:sp>
      <p:sp>
        <p:nvSpPr>
          <p:cNvPr id="3" name="Rectangle 2">
            <a:extLst>
              <a:ext uri="{FF2B5EF4-FFF2-40B4-BE49-F238E27FC236}">
                <a16:creationId xmlns:a16="http://schemas.microsoft.com/office/drawing/2014/main" id="{9EBA2DC9-73E7-ACD0-3CFB-95180C0F3B88}"/>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a:latin typeface="微软雅黑" pitchFamily="34" charset="-122"/>
                <a:ea typeface="微软雅黑" pitchFamily="34" charset="-122"/>
                <a:cs typeface="经典粗黑简" pitchFamily="49" charset="-122"/>
              </a:rPr>
              <a:t>性能分析</a:t>
            </a:r>
            <a:endParaRPr kumimoji="1" lang="zh-CN" altLang="en-US" sz="2200" dirty="0">
              <a:latin typeface="微软雅黑" pitchFamily="34" charset="-122"/>
              <a:ea typeface="微软雅黑" pitchFamily="34" charset="-122"/>
              <a:cs typeface="经典粗黑简" pitchFamily="49" charset="-122"/>
            </a:endParaRPr>
          </a:p>
        </p:txBody>
      </p:sp>
      <p:sp>
        <p:nvSpPr>
          <p:cNvPr id="4" name="矩形 3">
            <a:extLst>
              <a:ext uri="{FF2B5EF4-FFF2-40B4-BE49-F238E27FC236}">
                <a16:creationId xmlns:a16="http://schemas.microsoft.com/office/drawing/2014/main" id="{D333797D-E236-844D-C38F-66799DD64FF8}"/>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474768A6-5862-772D-B814-2BA90E26AB45}"/>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6" name="直接连接符 5">
            <a:extLst>
              <a:ext uri="{FF2B5EF4-FFF2-40B4-BE49-F238E27FC236}">
                <a16:creationId xmlns:a16="http://schemas.microsoft.com/office/drawing/2014/main" id="{925D3404-BF26-F56C-E5A9-FDA02CAAFF4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1026">
            <a:extLst>
              <a:ext uri="{FF2B5EF4-FFF2-40B4-BE49-F238E27FC236}">
                <a16:creationId xmlns:a16="http://schemas.microsoft.com/office/drawing/2014/main" id="{57D080EC-49BB-FC9B-33CC-01BB40DAC3AB}"/>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2076369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210" name="Group 2"/>
          <p:cNvGraphicFramePr>
            <a:graphicFrameLocks noGrp="1"/>
          </p:cNvGraphicFramePr>
          <p:nvPr>
            <p:ph sz="half" idx="4294967295"/>
            <p:extLst>
              <p:ext uri="{D42A27DB-BD31-4B8C-83A1-F6EECF244321}">
                <p14:modId xmlns:p14="http://schemas.microsoft.com/office/powerpoint/2010/main" val="3949377341"/>
              </p:ext>
            </p:extLst>
          </p:nvPr>
        </p:nvGraphicFramePr>
        <p:xfrm>
          <a:off x="2566987" y="2204864"/>
          <a:ext cx="6840538"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3">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2">
                  <a:extLst>
                    <a:ext uri="{9D8B030D-6E8A-4147-A177-3AD203B41FA5}">
                      <a16:colId xmlns:a16="http://schemas.microsoft.com/office/drawing/2014/main" val="20004"/>
                    </a:ext>
                  </a:extLst>
                </a:gridCol>
                <a:gridCol w="623888">
                  <a:extLst>
                    <a:ext uri="{9D8B030D-6E8A-4147-A177-3AD203B41FA5}">
                      <a16:colId xmlns:a16="http://schemas.microsoft.com/office/drawing/2014/main" val="20005"/>
                    </a:ext>
                  </a:extLst>
                </a:gridCol>
                <a:gridCol w="620712">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3">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 name="Group 52"/>
          <p:cNvGrpSpPr>
            <a:grpSpLocks/>
          </p:cNvGrpSpPr>
          <p:nvPr/>
        </p:nvGrpSpPr>
        <p:grpSpPr bwMode="auto">
          <a:xfrm>
            <a:off x="2566987" y="3141489"/>
            <a:ext cx="863600" cy="539750"/>
            <a:chOff x="897" y="1253"/>
            <a:chExt cx="544" cy="340"/>
          </a:xfrm>
        </p:grpSpPr>
        <p:sp>
          <p:nvSpPr>
            <p:cNvPr id="50313" name="Text Box 53"/>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314" name="Line 54"/>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55"/>
          <p:cNvGrpSpPr>
            <a:grpSpLocks/>
          </p:cNvGrpSpPr>
          <p:nvPr/>
        </p:nvGrpSpPr>
        <p:grpSpPr bwMode="auto">
          <a:xfrm>
            <a:off x="8975725" y="3141489"/>
            <a:ext cx="863600" cy="539750"/>
            <a:chOff x="897" y="1253"/>
            <a:chExt cx="544" cy="340"/>
          </a:xfrm>
        </p:grpSpPr>
        <p:sp>
          <p:nvSpPr>
            <p:cNvPr id="50311" name="Text Box 56"/>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50312" name="Line 57"/>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58"/>
          <p:cNvGrpSpPr>
            <a:grpSpLocks/>
          </p:cNvGrpSpPr>
          <p:nvPr/>
        </p:nvGrpSpPr>
        <p:grpSpPr bwMode="auto">
          <a:xfrm>
            <a:off x="5808662" y="3141489"/>
            <a:ext cx="863600" cy="539750"/>
            <a:chOff x="897" y="1253"/>
            <a:chExt cx="544" cy="340"/>
          </a:xfrm>
        </p:grpSpPr>
        <p:sp>
          <p:nvSpPr>
            <p:cNvPr id="50309" name="Text Box 5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310" name="Line 6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61"/>
          <p:cNvGrpSpPr>
            <a:grpSpLocks/>
          </p:cNvGrpSpPr>
          <p:nvPr/>
        </p:nvGrpSpPr>
        <p:grpSpPr bwMode="auto">
          <a:xfrm>
            <a:off x="5159375" y="3141489"/>
            <a:ext cx="863600" cy="539750"/>
            <a:chOff x="897" y="1253"/>
            <a:chExt cx="544" cy="340"/>
          </a:xfrm>
        </p:grpSpPr>
        <p:sp>
          <p:nvSpPr>
            <p:cNvPr id="50307" name="Text Box 62"/>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50308" name="Line 63"/>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64"/>
          <p:cNvGrpSpPr>
            <a:grpSpLocks/>
          </p:cNvGrpSpPr>
          <p:nvPr/>
        </p:nvGrpSpPr>
        <p:grpSpPr bwMode="auto">
          <a:xfrm>
            <a:off x="3935412" y="3141489"/>
            <a:ext cx="863600" cy="539750"/>
            <a:chOff x="897" y="1253"/>
            <a:chExt cx="544" cy="340"/>
          </a:xfrm>
        </p:grpSpPr>
        <p:sp>
          <p:nvSpPr>
            <p:cNvPr id="50305" name="Text Box 65"/>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306" name="Line 66"/>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67"/>
          <p:cNvGrpSpPr>
            <a:grpSpLocks/>
          </p:cNvGrpSpPr>
          <p:nvPr/>
        </p:nvGrpSpPr>
        <p:grpSpPr bwMode="auto">
          <a:xfrm>
            <a:off x="6456362" y="3141489"/>
            <a:ext cx="863600" cy="539750"/>
            <a:chOff x="897" y="1253"/>
            <a:chExt cx="544" cy="340"/>
          </a:xfrm>
        </p:grpSpPr>
        <p:sp>
          <p:nvSpPr>
            <p:cNvPr id="50303" name="Text Box 68"/>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304" name="Line 69"/>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70"/>
          <p:cNvGrpSpPr>
            <a:grpSpLocks/>
          </p:cNvGrpSpPr>
          <p:nvPr/>
        </p:nvGrpSpPr>
        <p:grpSpPr bwMode="auto">
          <a:xfrm>
            <a:off x="7680325" y="3141489"/>
            <a:ext cx="863600" cy="539750"/>
            <a:chOff x="897" y="1253"/>
            <a:chExt cx="544" cy="340"/>
          </a:xfrm>
        </p:grpSpPr>
        <p:sp>
          <p:nvSpPr>
            <p:cNvPr id="50301" name="Text Box 71"/>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302" name="Line 72"/>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Group 73"/>
          <p:cNvGrpSpPr>
            <a:grpSpLocks/>
          </p:cNvGrpSpPr>
          <p:nvPr/>
        </p:nvGrpSpPr>
        <p:grpSpPr bwMode="auto">
          <a:xfrm>
            <a:off x="3359150" y="3141489"/>
            <a:ext cx="863600" cy="539750"/>
            <a:chOff x="897" y="1253"/>
            <a:chExt cx="544" cy="340"/>
          </a:xfrm>
        </p:grpSpPr>
        <p:sp>
          <p:nvSpPr>
            <p:cNvPr id="50299" name="Text Box 7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50300" name="Line 7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76"/>
          <p:cNvGrpSpPr>
            <a:grpSpLocks/>
          </p:cNvGrpSpPr>
          <p:nvPr/>
        </p:nvGrpSpPr>
        <p:grpSpPr bwMode="auto">
          <a:xfrm>
            <a:off x="2568575" y="3754264"/>
            <a:ext cx="863600" cy="539750"/>
            <a:chOff x="897" y="1253"/>
            <a:chExt cx="544" cy="340"/>
          </a:xfrm>
        </p:grpSpPr>
        <p:sp>
          <p:nvSpPr>
            <p:cNvPr id="50297" name="Text Box 7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98" name="Line 7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 name="Group 79"/>
          <p:cNvGrpSpPr>
            <a:grpSpLocks/>
          </p:cNvGrpSpPr>
          <p:nvPr/>
        </p:nvGrpSpPr>
        <p:grpSpPr bwMode="auto">
          <a:xfrm>
            <a:off x="4583112" y="3141489"/>
            <a:ext cx="863600" cy="539750"/>
            <a:chOff x="897" y="1253"/>
            <a:chExt cx="544" cy="340"/>
          </a:xfrm>
        </p:grpSpPr>
        <p:sp>
          <p:nvSpPr>
            <p:cNvPr id="50295" name="Text Box 8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96" name="Line 8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 name="Group 82"/>
          <p:cNvGrpSpPr>
            <a:grpSpLocks/>
          </p:cNvGrpSpPr>
          <p:nvPr/>
        </p:nvGrpSpPr>
        <p:grpSpPr bwMode="auto">
          <a:xfrm>
            <a:off x="4583112" y="3754264"/>
            <a:ext cx="863600" cy="539750"/>
            <a:chOff x="897" y="1253"/>
            <a:chExt cx="544" cy="340"/>
          </a:xfrm>
        </p:grpSpPr>
        <p:sp>
          <p:nvSpPr>
            <p:cNvPr id="50293" name="Text Box 83"/>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94" name="Line 84"/>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7" name="Group 98"/>
          <p:cNvGrpSpPr>
            <a:grpSpLocks/>
          </p:cNvGrpSpPr>
          <p:nvPr/>
        </p:nvGrpSpPr>
        <p:grpSpPr bwMode="auto">
          <a:xfrm>
            <a:off x="7104062" y="3141489"/>
            <a:ext cx="863600" cy="539750"/>
            <a:chOff x="897" y="1253"/>
            <a:chExt cx="544" cy="340"/>
          </a:xfrm>
        </p:grpSpPr>
        <p:sp>
          <p:nvSpPr>
            <p:cNvPr id="50283" name="Text Box 9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high</a:t>
              </a:r>
            </a:p>
          </p:txBody>
        </p:sp>
        <p:sp>
          <p:nvSpPr>
            <p:cNvPr id="50284" name="Line 10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8" name="Group 101"/>
          <p:cNvGrpSpPr>
            <a:grpSpLocks/>
          </p:cNvGrpSpPr>
          <p:nvPr/>
        </p:nvGrpSpPr>
        <p:grpSpPr bwMode="auto">
          <a:xfrm>
            <a:off x="6456362" y="3789189"/>
            <a:ext cx="863600" cy="539750"/>
            <a:chOff x="897" y="1253"/>
            <a:chExt cx="544" cy="340"/>
          </a:xfrm>
        </p:grpSpPr>
        <p:sp>
          <p:nvSpPr>
            <p:cNvPr id="50281" name="Text Box 102"/>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82" name="Line 103"/>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0" name="Group 107"/>
          <p:cNvGrpSpPr>
            <a:grpSpLocks/>
          </p:cNvGrpSpPr>
          <p:nvPr/>
        </p:nvGrpSpPr>
        <p:grpSpPr bwMode="auto">
          <a:xfrm>
            <a:off x="8401050" y="3141489"/>
            <a:ext cx="863600" cy="539750"/>
            <a:chOff x="897" y="1253"/>
            <a:chExt cx="544" cy="340"/>
          </a:xfrm>
        </p:grpSpPr>
        <p:sp>
          <p:nvSpPr>
            <p:cNvPr id="50277" name="Text Box 108"/>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78" name="Line 109"/>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1" name="Group 110"/>
          <p:cNvGrpSpPr>
            <a:grpSpLocks/>
          </p:cNvGrpSpPr>
          <p:nvPr/>
        </p:nvGrpSpPr>
        <p:grpSpPr bwMode="auto">
          <a:xfrm>
            <a:off x="8401050" y="3789189"/>
            <a:ext cx="863600" cy="539750"/>
            <a:chOff x="897" y="1253"/>
            <a:chExt cx="544" cy="340"/>
          </a:xfrm>
        </p:grpSpPr>
        <p:sp>
          <p:nvSpPr>
            <p:cNvPr id="50275" name="Text Box 111"/>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76" name="Line 112"/>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3" name="Group 116"/>
          <p:cNvGrpSpPr>
            <a:grpSpLocks/>
          </p:cNvGrpSpPr>
          <p:nvPr/>
        </p:nvGrpSpPr>
        <p:grpSpPr bwMode="auto">
          <a:xfrm>
            <a:off x="3359150" y="3717751"/>
            <a:ext cx="863600" cy="539750"/>
            <a:chOff x="897" y="1253"/>
            <a:chExt cx="544" cy="340"/>
          </a:xfrm>
        </p:grpSpPr>
        <p:sp>
          <p:nvSpPr>
            <p:cNvPr id="50271" name="Text Box 11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72" name="Line 11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4" name="Group 119"/>
          <p:cNvGrpSpPr>
            <a:grpSpLocks/>
          </p:cNvGrpSpPr>
          <p:nvPr/>
        </p:nvGrpSpPr>
        <p:grpSpPr bwMode="auto">
          <a:xfrm>
            <a:off x="3359150" y="4365451"/>
            <a:ext cx="863600" cy="539750"/>
            <a:chOff x="897" y="1253"/>
            <a:chExt cx="544" cy="340"/>
          </a:xfrm>
        </p:grpSpPr>
        <p:sp>
          <p:nvSpPr>
            <p:cNvPr id="50269" name="Text Box 120"/>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70" name="Line 121"/>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6" name="Group 125"/>
          <p:cNvGrpSpPr>
            <a:grpSpLocks/>
          </p:cNvGrpSpPr>
          <p:nvPr/>
        </p:nvGrpSpPr>
        <p:grpSpPr bwMode="auto">
          <a:xfrm>
            <a:off x="5159375" y="3789189"/>
            <a:ext cx="863600" cy="539750"/>
            <a:chOff x="897" y="1253"/>
            <a:chExt cx="544" cy="340"/>
          </a:xfrm>
        </p:grpSpPr>
        <p:sp>
          <p:nvSpPr>
            <p:cNvPr id="50265" name="Text Box 126"/>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66" name="Line 127"/>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7" name="Group 128"/>
          <p:cNvGrpSpPr>
            <a:grpSpLocks/>
          </p:cNvGrpSpPr>
          <p:nvPr/>
        </p:nvGrpSpPr>
        <p:grpSpPr bwMode="auto">
          <a:xfrm>
            <a:off x="5159375" y="4365451"/>
            <a:ext cx="863600" cy="539750"/>
            <a:chOff x="897" y="1253"/>
            <a:chExt cx="544" cy="340"/>
          </a:xfrm>
        </p:grpSpPr>
        <p:sp>
          <p:nvSpPr>
            <p:cNvPr id="50263" name="Text Box 129"/>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64" name="Line 130"/>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9" name="Group 134"/>
          <p:cNvGrpSpPr>
            <a:grpSpLocks/>
          </p:cNvGrpSpPr>
          <p:nvPr/>
        </p:nvGrpSpPr>
        <p:grpSpPr bwMode="auto">
          <a:xfrm>
            <a:off x="7104062" y="3789189"/>
            <a:ext cx="863600" cy="539750"/>
            <a:chOff x="897" y="1253"/>
            <a:chExt cx="544" cy="340"/>
          </a:xfrm>
        </p:grpSpPr>
        <p:sp>
          <p:nvSpPr>
            <p:cNvPr id="50259" name="Text Box 135"/>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60" name="Line 136"/>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0" name="Group 137"/>
          <p:cNvGrpSpPr>
            <a:grpSpLocks/>
          </p:cNvGrpSpPr>
          <p:nvPr/>
        </p:nvGrpSpPr>
        <p:grpSpPr bwMode="auto">
          <a:xfrm>
            <a:off x="7104062" y="4436889"/>
            <a:ext cx="863600" cy="539750"/>
            <a:chOff x="897" y="1253"/>
            <a:chExt cx="544" cy="340"/>
          </a:xfrm>
        </p:grpSpPr>
        <p:sp>
          <p:nvSpPr>
            <p:cNvPr id="50257" name="Text Box 138"/>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58" name="Line 139"/>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4306" name="Group 143"/>
          <p:cNvGrpSpPr>
            <a:grpSpLocks/>
          </p:cNvGrpSpPr>
          <p:nvPr/>
        </p:nvGrpSpPr>
        <p:grpSpPr bwMode="auto">
          <a:xfrm>
            <a:off x="8975725" y="3789189"/>
            <a:ext cx="863600" cy="539750"/>
            <a:chOff x="897" y="1253"/>
            <a:chExt cx="544" cy="340"/>
          </a:xfrm>
        </p:grpSpPr>
        <p:sp>
          <p:nvSpPr>
            <p:cNvPr id="50253" name="Text Box 144"/>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low</a:t>
              </a:r>
            </a:p>
          </p:txBody>
        </p:sp>
        <p:sp>
          <p:nvSpPr>
            <p:cNvPr id="50254" name="Line 145"/>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4309" name="Group 146"/>
          <p:cNvGrpSpPr>
            <a:grpSpLocks/>
          </p:cNvGrpSpPr>
          <p:nvPr/>
        </p:nvGrpSpPr>
        <p:grpSpPr bwMode="auto">
          <a:xfrm>
            <a:off x="8975725" y="4436889"/>
            <a:ext cx="863600" cy="539750"/>
            <a:chOff x="897" y="1253"/>
            <a:chExt cx="544" cy="340"/>
          </a:xfrm>
        </p:grpSpPr>
        <p:sp>
          <p:nvSpPr>
            <p:cNvPr id="50251" name="Text Box 147"/>
            <p:cNvSpPr txBox="1">
              <a:spLocks noChangeArrowheads="1"/>
            </p:cNvSpPr>
            <p:nvPr/>
          </p:nvSpPr>
          <p:spPr bwMode="auto">
            <a:xfrm>
              <a:off x="897" y="128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solidFill>
                    <a:srgbClr val="FF3300"/>
                  </a:solidFill>
                  <a:latin typeface="Comic Sans MS" pitchFamily="66" charset="0"/>
                  <a:ea typeface="宋体" pitchFamily="2" charset="-122"/>
                </a:rPr>
                <a:t>mid</a:t>
              </a:r>
            </a:p>
          </p:txBody>
        </p:sp>
        <p:sp>
          <p:nvSpPr>
            <p:cNvPr id="50252" name="Line 148"/>
            <p:cNvSpPr>
              <a:spLocks noChangeShapeType="1"/>
            </p:cNvSpPr>
            <p:nvPr/>
          </p:nvSpPr>
          <p:spPr bwMode="auto">
            <a:xfrm flipV="1">
              <a:off x="975" y="1253"/>
              <a:ext cx="0" cy="340"/>
            </a:xfrm>
            <a:prstGeom prst="line">
              <a:avLst/>
            </a:prstGeom>
            <a:noFill/>
            <a:ln w="28575"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4304" name="组合 94303"/>
          <p:cNvGrpSpPr/>
          <p:nvPr/>
        </p:nvGrpSpPr>
        <p:grpSpPr>
          <a:xfrm>
            <a:off x="4854584" y="4388024"/>
            <a:ext cx="3451206" cy="2083310"/>
            <a:chOff x="2771775" y="4398963"/>
            <a:chExt cx="4464050" cy="2881313"/>
          </a:xfrm>
        </p:grpSpPr>
        <p:sp>
          <p:nvSpPr>
            <p:cNvPr id="94293" name="Oval 85"/>
            <p:cNvSpPr>
              <a:spLocks noChangeAspect="1" noChangeArrowheads="1"/>
            </p:cNvSpPr>
            <p:nvPr/>
          </p:nvSpPr>
          <p:spPr bwMode="auto">
            <a:xfrm>
              <a:off x="4213225" y="4398963"/>
              <a:ext cx="503237" cy="503238"/>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6</a:t>
              </a:r>
            </a:p>
          </p:txBody>
        </p:sp>
        <p:grpSp>
          <p:nvGrpSpPr>
            <p:cNvPr id="13" name="Group 86"/>
            <p:cNvGrpSpPr>
              <a:grpSpLocks/>
            </p:cNvGrpSpPr>
            <p:nvPr/>
          </p:nvGrpSpPr>
          <p:grpSpPr bwMode="auto">
            <a:xfrm>
              <a:off x="3492500" y="4830763"/>
              <a:ext cx="792162" cy="792163"/>
              <a:chOff x="3243" y="1888"/>
              <a:chExt cx="499" cy="499"/>
            </a:xfrm>
          </p:grpSpPr>
          <p:sp>
            <p:nvSpPr>
              <p:cNvPr id="50291" name="Oval 87"/>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dirty="0">
                    <a:latin typeface="Comic Sans MS" pitchFamily="66" charset="0"/>
                    <a:ea typeface="宋体" pitchFamily="2" charset="-122"/>
                  </a:rPr>
                  <a:t>3</a:t>
                </a:r>
              </a:p>
            </p:txBody>
          </p:sp>
          <p:sp>
            <p:nvSpPr>
              <p:cNvPr id="50292" name="Line 88"/>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 name="Group 89"/>
            <p:cNvGrpSpPr>
              <a:grpSpLocks/>
            </p:cNvGrpSpPr>
            <p:nvPr/>
          </p:nvGrpSpPr>
          <p:grpSpPr bwMode="auto">
            <a:xfrm>
              <a:off x="2771775" y="5549901"/>
              <a:ext cx="792162" cy="792162"/>
              <a:chOff x="3243" y="1888"/>
              <a:chExt cx="499" cy="499"/>
            </a:xfrm>
          </p:grpSpPr>
          <p:sp>
            <p:nvSpPr>
              <p:cNvPr id="50289" name="Oval 90"/>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a:t>
                </a:r>
              </a:p>
            </p:txBody>
          </p:sp>
          <p:sp>
            <p:nvSpPr>
              <p:cNvPr id="50290" name="Line 91"/>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Group 92"/>
            <p:cNvGrpSpPr>
              <a:grpSpLocks/>
            </p:cNvGrpSpPr>
            <p:nvPr/>
          </p:nvGrpSpPr>
          <p:grpSpPr bwMode="auto">
            <a:xfrm>
              <a:off x="4716462" y="4759326"/>
              <a:ext cx="1079500" cy="863600"/>
              <a:chOff x="4014" y="1842"/>
              <a:chExt cx="680" cy="544"/>
            </a:xfrm>
          </p:grpSpPr>
          <p:sp>
            <p:nvSpPr>
              <p:cNvPr id="50287" name="Oval 93"/>
              <p:cNvSpPr>
                <a:spLocks noChangeAspect="1" noChangeArrowheads="1"/>
              </p:cNvSpPr>
              <p:nvPr/>
            </p:nvSpPr>
            <p:spPr bwMode="auto">
              <a:xfrm>
                <a:off x="4377" y="20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9</a:t>
                </a:r>
              </a:p>
            </p:txBody>
          </p:sp>
          <p:sp>
            <p:nvSpPr>
              <p:cNvPr id="50288" name="Line 94"/>
              <p:cNvSpPr>
                <a:spLocks noChangeShapeType="1"/>
              </p:cNvSpPr>
              <p:nvPr/>
            </p:nvSpPr>
            <p:spPr bwMode="auto">
              <a:xfrm>
                <a:off x="4014" y="1842"/>
                <a:ext cx="408" cy="273"/>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6" name="Group 95"/>
            <p:cNvGrpSpPr>
              <a:grpSpLocks/>
            </p:cNvGrpSpPr>
            <p:nvPr/>
          </p:nvGrpSpPr>
          <p:grpSpPr bwMode="auto">
            <a:xfrm>
              <a:off x="3924300" y="5551488"/>
              <a:ext cx="719137" cy="865188"/>
              <a:chOff x="3515" y="2341"/>
              <a:chExt cx="453" cy="545"/>
            </a:xfrm>
          </p:grpSpPr>
          <p:sp>
            <p:nvSpPr>
              <p:cNvPr id="50285" name="Oval 96"/>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4</a:t>
                </a:r>
              </a:p>
            </p:txBody>
          </p:sp>
          <p:sp>
            <p:nvSpPr>
              <p:cNvPr id="50286" name="Line 97"/>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 name="Group 104"/>
            <p:cNvGrpSpPr>
              <a:grpSpLocks/>
            </p:cNvGrpSpPr>
            <p:nvPr/>
          </p:nvGrpSpPr>
          <p:grpSpPr bwMode="auto">
            <a:xfrm>
              <a:off x="4716462" y="5622926"/>
              <a:ext cx="792163" cy="792162"/>
              <a:chOff x="3243" y="1888"/>
              <a:chExt cx="499" cy="499"/>
            </a:xfrm>
          </p:grpSpPr>
          <p:sp>
            <p:nvSpPr>
              <p:cNvPr id="50279" name="Oval 105"/>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7</a:t>
                </a:r>
              </a:p>
            </p:txBody>
          </p:sp>
          <p:sp>
            <p:nvSpPr>
              <p:cNvPr id="50280" name="Line 106"/>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2" name="Group 113"/>
            <p:cNvGrpSpPr>
              <a:grpSpLocks/>
            </p:cNvGrpSpPr>
            <p:nvPr/>
          </p:nvGrpSpPr>
          <p:grpSpPr bwMode="auto">
            <a:xfrm>
              <a:off x="5795962" y="5480051"/>
              <a:ext cx="719138" cy="865187"/>
              <a:chOff x="3515" y="2341"/>
              <a:chExt cx="453" cy="545"/>
            </a:xfrm>
          </p:grpSpPr>
          <p:sp>
            <p:nvSpPr>
              <p:cNvPr id="50273" name="Oval 114"/>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10</a:t>
                </a:r>
              </a:p>
            </p:txBody>
          </p:sp>
          <p:sp>
            <p:nvSpPr>
              <p:cNvPr id="50274" name="Line 115"/>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5" name="Group 122"/>
            <p:cNvGrpSpPr>
              <a:grpSpLocks/>
            </p:cNvGrpSpPr>
            <p:nvPr/>
          </p:nvGrpSpPr>
          <p:grpSpPr bwMode="auto">
            <a:xfrm>
              <a:off x="3203575" y="6272213"/>
              <a:ext cx="719137" cy="865188"/>
              <a:chOff x="3515" y="2341"/>
              <a:chExt cx="453" cy="545"/>
            </a:xfrm>
          </p:grpSpPr>
          <p:sp>
            <p:nvSpPr>
              <p:cNvPr id="50267" name="Oval 123"/>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2</a:t>
                </a:r>
              </a:p>
            </p:txBody>
          </p:sp>
          <p:sp>
            <p:nvSpPr>
              <p:cNvPr id="50268" name="Line 124"/>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8" name="Group 131"/>
            <p:cNvGrpSpPr>
              <a:grpSpLocks/>
            </p:cNvGrpSpPr>
            <p:nvPr/>
          </p:nvGrpSpPr>
          <p:grpSpPr bwMode="auto">
            <a:xfrm>
              <a:off x="4500562" y="6415088"/>
              <a:ext cx="719138" cy="865188"/>
              <a:chOff x="3515" y="2341"/>
              <a:chExt cx="453" cy="545"/>
            </a:xfrm>
          </p:grpSpPr>
          <p:sp>
            <p:nvSpPr>
              <p:cNvPr id="50261" name="Oval 132"/>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5</a:t>
                </a:r>
              </a:p>
            </p:txBody>
          </p:sp>
          <p:sp>
            <p:nvSpPr>
              <p:cNvPr id="50262" name="Line 133"/>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 name="Group 140"/>
            <p:cNvGrpSpPr>
              <a:grpSpLocks/>
            </p:cNvGrpSpPr>
            <p:nvPr/>
          </p:nvGrpSpPr>
          <p:grpSpPr bwMode="auto">
            <a:xfrm>
              <a:off x="5221287" y="6272213"/>
              <a:ext cx="719138" cy="865188"/>
              <a:chOff x="3515" y="2341"/>
              <a:chExt cx="453" cy="545"/>
            </a:xfrm>
          </p:grpSpPr>
          <p:sp>
            <p:nvSpPr>
              <p:cNvPr id="50255" name="Oval 141"/>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8</a:t>
                </a:r>
              </a:p>
            </p:txBody>
          </p:sp>
          <p:sp>
            <p:nvSpPr>
              <p:cNvPr id="50256" name="Line 142"/>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4312" name="Group 149"/>
            <p:cNvGrpSpPr>
              <a:grpSpLocks/>
            </p:cNvGrpSpPr>
            <p:nvPr/>
          </p:nvGrpSpPr>
          <p:grpSpPr bwMode="auto">
            <a:xfrm>
              <a:off x="6516687" y="6199188"/>
              <a:ext cx="719138" cy="865188"/>
              <a:chOff x="3515" y="2341"/>
              <a:chExt cx="453" cy="545"/>
            </a:xfrm>
          </p:grpSpPr>
          <p:sp>
            <p:nvSpPr>
              <p:cNvPr id="50249" name="Oval 150"/>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11</a:t>
                </a:r>
              </a:p>
            </p:txBody>
          </p:sp>
          <p:sp>
            <p:nvSpPr>
              <p:cNvPr id="50250" name="Line 151"/>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32" name="Rectangle 2">
            <a:extLst>
              <a:ext uri="{FF2B5EF4-FFF2-40B4-BE49-F238E27FC236}">
                <a16:creationId xmlns:a16="http://schemas.microsoft.com/office/drawing/2014/main" id="{BA06E05A-148F-FB30-78BB-FD2DD3CBE499}"/>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a:latin typeface="微软雅黑" pitchFamily="34" charset="-122"/>
                <a:ea typeface="微软雅黑" pitchFamily="34" charset="-122"/>
                <a:cs typeface="经典粗黑简" pitchFamily="49" charset="-122"/>
              </a:rPr>
              <a:t>性能分析</a:t>
            </a:r>
            <a:endParaRPr kumimoji="1" lang="zh-CN" altLang="en-US" sz="2200" dirty="0">
              <a:latin typeface="微软雅黑" pitchFamily="34" charset="-122"/>
              <a:ea typeface="微软雅黑" pitchFamily="34" charset="-122"/>
              <a:cs typeface="经典粗黑简" pitchFamily="49" charset="-122"/>
            </a:endParaRPr>
          </a:p>
        </p:txBody>
      </p:sp>
      <p:sp>
        <p:nvSpPr>
          <p:cNvPr id="33" name="矩形 32">
            <a:extLst>
              <a:ext uri="{FF2B5EF4-FFF2-40B4-BE49-F238E27FC236}">
                <a16:creationId xmlns:a16="http://schemas.microsoft.com/office/drawing/2014/main" id="{50A525FA-AF69-B9A5-7D86-FE37E545B02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34" name="矩形 33">
            <a:extLst>
              <a:ext uri="{FF2B5EF4-FFF2-40B4-BE49-F238E27FC236}">
                <a16:creationId xmlns:a16="http://schemas.microsoft.com/office/drawing/2014/main" id="{523341D8-10B1-63DE-B942-3715735916E1}"/>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35" name="直接连接符 34">
            <a:extLst>
              <a:ext uri="{FF2B5EF4-FFF2-40B4-BE49-F238E27FC236}">
                <a16:creationId xmlns:a16="http://schemas.microsoft.com/office/drawing/2014/main" id="{1221B575-9647-FC8E-DB5C-752F0945009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6" name="Text Box 1026">
            <a:extLst>
              <a:ext uri="{FF2B5EF4-FFF2-40B4-BE49-F238E27FC236}">
                <a16:creationId xmlns:a16="http://schemas.microsoft.com/office/drawing/2014/main" id="{8CF27D98-7573-0CCF-911A-32A03CABF1E6}"/>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4274479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6"/>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nodeType="clickEffect">
                                  <p:stCondLst>
                                    <p:cond delay="0"/>
                                  </p:stCondLst>
                                  <p:childTnLst>
                                    <p:set>
                                      <p:cBhvr>
                                        <p:cTn id="52" dur="1" fill="hold">
                                          <p:stCondLst>
                                            <p:cond delay="0"/>
                                          </p:stCondLst>
                                        </p:cTn>
                                        <p:tgtEl>
                                          <p:spTgt spid="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7"/>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4"/>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xit" presetSubtype="0" fill="hold" nodeType="clickEffect">
                                  <p:stCondLst>
                                    <p:cond delay="0"/>
                                  </p:stCondLst>
                                  <p:childTnLst>
                                    <p:set>
                                      <p:cBhvr>
                                        <p:cTn id="70" dur="1" fill="hold">
                                          <p:stCondLst>
                                            <p:cond delay="0"/>
                                          </p:stCondLst>
                                        </p:cTn>
                                        <p:tgtEl>
                                          <p:spTgt spid="5"/>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6"/>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xit" presetSubtype="0" fill="hold" nodeType="clickEffect">
                                  <p:stCondLst>
                                    <p:cond delay="0"/>
                                  </p:stCondLst>
                                  <p:childTnLst>
                                    <p:set>
                                      <p:cBhvr>
                                        <p:cTn id="82" dur="1" fill="hold">
                                          <p:stCondLst>
                                            <p:cond delay="0"/>
                                          </p:stCondLst>
                                        </p:cTn>
                                        <p:tgtEl>
                                          <p:spTgt spid="10"/>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9"/>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0"/>
                                          </p:stCondLst>
                                        </p:cTn>
                                        <p:tgtEl>
                                          <p:spTgt spid="6"/>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0"/>
                                          </p:stCondLst>
                                        </p:cTn>
                                        <p:tgtEl>
                                          <p:spTgt spid="11"/>
                                        </p:tgtEl>
                                        <p:attrNameLst>
                                          <p:attrName>style.visibility</p:attrName>
                                        </p:attrNameLst>
                                      </p:cBhvr>
                                      <p:to>
                                        <p:strVal val="visible"/>
                                      </p:to>
                                    </p:set>
                                  </p:childTnLst>
                                </p:cTn>
                              </p:par>
                              <p:par>
                                <p:cTn id="97" presetID="1" presetClass="exit" presetSubtype="0" fill="hold" nodeType="withEffect">
                                  <p:stCondLst>
                                    <p:cond delay="0"/>
                                  </p:stCondLst>
                                  <p:childTnLst>
                                    <p:set>
                                      <p:cBhvr>
                                        <p:cTn id="98" dur="1" fill="hold">
                                          <p:stCondLst>
                                            <p:cond delay="0"/>
                                          </p:stCondLst>
                                        </p:cTn>
                                        <p:tgtEl>
                                          <p:spTgt spid="6"/>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
                                        </p:tgtEl>
                                        <p:attrNameLst>
                                          <p:attrName>style.visibility</p:attrName>
                                        </p:attrNameLst>
                                      </p:cBhvr>
                                      <p:to>
                                        <p:strVal val="hidden"/>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xit" presetSubtype="0" fill="hold" nodeType="clickEffect">
                                  <p:stCondLst>
                                    <p:cond delay="0"/>
                                  </p:stCondLst>
                                  <p:childTnLst>
                                    <p:set>
                                      <p:cBhvr>
                                        <p:cTn id="108" dur="1" fill="hold">
                                          <p:stCondLst>
                                            <p:cond delay="0"/>
                                          </p:stCondLst>
                                        </p:cTn>
                                        <p:tgtEl>
                                          <p:spTgt spid="5"/>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11"/>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12"/>
                                        </p:tgtEl>
                                        <p:attrNameLst>
                                          <p:attrName>style.visibility</p:attrName>
                                        </p:attrNameLst>
                                      </p:cBhvr>
                                      <p:to>
                                        <p:strVal val="hidden"/>
                                      </p:to>
                                    </p:set>
                                  </p:childTnLst>
                                </p:cTn>
                              </p:par>
                              <p:par>
                                <p:cTn id="113" presetID="1" presetClass="entr" presetSubtype="0" fill="hold" nodeType="withEffect">
                                  <p:stCondLst>
                                    <p:cond delay="0"/>
                                  </p:stCondLst>
                                  <p:childTnLst>
                                    <p:set>
                                      <p:cBhvr>
                                        <p:cTn id="114" dur="1" fill="hold">
                                          <p:stCondLst>
                                            <p:cond delay="0"/>
                                          </p:stCondLst>
                                        </p:cTn>
                                        <p:tgtEl>
                                          <p:spTgt spid="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3"/>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xit" presetSubtype="0" fill="hold" nodeType="clickEffect">
                                  <p:stCondLst>
                                    <p:cond delay="0"/>
                                  </p:stCondLst>
                                  <p:childTnLst>
                                    <p:set>
                                      <p:cBhvr>
                                        <p:cTn id="122" dur="1" fill="hold">
                                          <p:stCondLst>
                                            <p:cond delay="0"/>
                                          </p:stCondLst>
                                        </p:cTn>
                                        <p:tgtEl>
                                          <p:spTgt spid="8"/>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3"/>
                                        </p:tgtEl>
                                        <p:attrNameLst>
                                          <p:attrName>style.visibility</p:attrName>
                                        </p:attrNameLst>
                                      </p:cBhvr>
                                      <p:to>
                                        <p:strVal val="hidden"/>
                                      </p:to>
                                    </p:set>
                                  </p:childTnLst>
                                </p:cTn>
                              </p:par>
                              <p:par>
                                <p:cTn id="125" presetID="1" presetClass="entr" presetSubtype="0" fill="hold" nodeType="withEffect">
                                  <p:stCondLst>
                                    <p:cond delay="0"/>
                                  </p:stCondLst>
                                  <p:childTnLst>
                                    <p:set>
                                      <p:cBhvr>
                                        <p:cTn id="126" dur="1" fill="hold">
                                          <p:stCondLst>
                                            <p:cond delay="0"/>
                                          </p:stCondLst>
                                        </p:cTn>
                                        <p:tgtEl>
                                          <p:spTgt spid="17"/>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18"/>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18"/>
                                        </p:tgtEl>
                                        <p:attrNameLst>
                                          <p:attrName>style.visibility</p:attrName>
                                        </p:attrNameLst>
                                      </p:cBhvr>
                                      <p:to>
                                        <p:strVal val="hidden"/>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18"/>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xit" presetSubtype="0" fill="hold" nodeType="clickEffect">
                                  <p:stCondLst>
                                    <p:cond delay="0"/>
                                  </p:stCondLst>
                                  <p:childTnLst>
                                    <p:set>
                                      <p:cBhvr>
                                        <p:cTn id="140" dur="1" fill="hold">
                                          <p:stCondLst>
                                            <p:cond delay="0"/>
                                          </p:stCondLst>
                                        </p:cTn>
                                        <p:tgtEl>
                                          <p:spTgt spid="18"/>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17"/>
                                        </p:tgtEl>
                                        <p:attrNameLst>
                                          <p:attrName>style.visibility</p:attrName>
                                        </p:attrNameLst>
                                      </p:cBhvr>
                                      <p:to>
                                        <p:strVal val="hidden"/>
                                      </p:to>
                                    </p:set>
                                  </p:childTnLst>
                                </p:cTn>
                              </p:par>
                              <p:par>
                                <p:cTn id="143" presetID="1" presetClass="entr" presetSubtype="0" fill="hold" nodeType="withEffect">
                                  <p:stCondLst>
                                    <p:cond delay="0"/>
                                  </p:stCondLst>
                                  <p:childTnLst>
                                    <p:set>
                                      <p:cBhvr>
                                        <p:cTn id="144" dur="1" fill="hold">
                                          <p:stCondLst>
                                            <p:cond delay="0"/>
                                          </p:stCondLst>
                                        </p:cTn>
                                        <p:tgtEl>
                                          <p:spTgt spid="8"/>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3"/>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nodeType="clickEffect">
                                  <p:stCondLst>
                                    <p:cond delay="0"/>
                                  </p:stCondLst>
                                  <p:childTnLst>
                                    <p:set>
                                      <p:cBhvr>
                                        <p:cTn id="150" dur="1" fill="hold">
                                          <p:stCondLst>
                                            <p:cond delay="0"/>
                                          </p:stCondLst>
                                        </p:cTn>
                                        <p:tgtEl>
                                          <p:spTgt spid="20"/>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8"/>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7"/>
                                        </p:tgtEl>
                                        <p:attrNameLst>
                                          <p:attrName>style.visibility</p:attrName>
                                        </p:attrNameLst>
                                      </p:cBhvr>
                                      <p:to>
                                        <p:strVal val="hidden"/>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nodeType="clickEffect">
                                  <p:stCondLst>
                                    <p:cond delay="0"/>
                                  </p:stCondLst>
                                  <p:childTnLst>
                                    <p:set>
                                      <p:cBhvr>
                                        <p:cTn id="158" dur="1" fill="hold">
                                          <p:stCondLst>
                                            <p:cond delay="0"/>
                                          </p:stCondLst>
                                        </p:cTn>
                                        <p:tgtEl>
                                          <p:spTgt spid="21"/>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xit" presetSubtype="0" fill="hold" nodeType="clickEffect">
                                  <p:stCondLst>
                                    <p:cond delay="0"/>
                                  </p:stCondLst>
                                  <p:childTnLst>
                                    <p:set>
                                      <p:cBhvr>
                                        <p:cTn id="162" dur="1" fill="hold">
                                          <p:stCondLst>
                                            <p:cond delay="0"/>
                                          </p:stCondLst>
                                        </p:cTn>
                                        <p:tgtEl>
                                          <p:spTgt spid="20"/>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0"/>
                                          </p:stCondLst>
                                        </p:cTn>
                                        <p:tgtEl>
                                          <p:spTgt spid="21"/>
                                        </p:tgtEl>
                                        <p:attrNameLst>
                                          <p:attrName>style.visibility</p:attrName>
                                        </p:attrNameLst>
                                      </p:cBhvr>
                                      <p:to>
                                        <p:strVal val="hidden"/>
                                      </p:to>
                                    </p:set>
                                  </p:childTnLst>
                                </p:cTn>
                              </p:par>
                              <p:par>
                                <p:cTn id="165" presetID="1" presetClass="exit" presetSubtype="0" fill="hold" nodeType="withEffect">
                                  <p:stCondLst>
                                    <p:cond delay="0"/>
                                  </p:stCondLst>
                                  <p:childTnLst>
                                    <p:set>
                                      <p:cBhvr>
                                        <p:cTn id="166" dur="1" fill="hold">
                                          <p:stCondLst>
                                            <p:cond delay="0"/>
                                          </p:stCondLst>
                                        </p:cTn>
                                        <p:tgtEl>
                                          <p:spTgt spid="3"/>
                                        </p:tgtEl>
                                        <p:attrNameLst>
                                          <p:attrName>style.visibility</p:attrName>
                                        </p:attrNameLst>
                                      </p:cBhvr>
                                      <p:to>
                                        <p:strVal val="hidden"/>
                                      </p:to>
                                    </p:set>
                                  </p:childTnLst>
                                </p:cTn>
                              </p:par>
                              <p:par>
                                <p:cTn id="167" presetID="1" presetClass="entr" presetSubtype="0" fill="hold" nodeType="withEffect">
                                  <p:stCondLst>
                                    <p:cond delay="0"/>
                                  </p:stCondLst>
                                  <p:childTnLst>
                                    <p:set>
                                      <p:cBhvr>
                                        <p:cTn id="168" dur="1" fill="hold">
                                          <p:stCondLst>
                                            <p:cond delay="0"/>
                                          </p:stCondLst>
                                        </p:cTn>
                                        <p:tgtEl>
                                          <p:spTgt spid="2"/>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9"/>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0"/>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nodeType="clickEffect">
                                  <p:stCondLst>
                                    <p:cond delay="0"/>
                                  </p:stCondLst>
                                  <p:childTnLst>
                                    <p:set>
                                      <p:cBhvr>
                                        <p:cTn id="176" dur="1" fill="hold">
                                          <p:stCondLst>
                                            <p:cond delay="0"/>
                                          </p:stCondLst>
                                        </p:cTn>
                                        <p:tgtEl>
                                          <p:spTgt spid="23"/>
                                        </p:tgtEl>
                                        <p:attrNameLst>
                                          <p:attrName>style.visibility</p:attrName>
                                        </p:attrNameLst>
                                      </p:cBhvr>
                                      <p:to>
                                        <p:strVal val="visible"/>
                                      </p:to>
                                    </p:set>
                                  </p:childTnLst>
                                </p:cTn>
                              </p:par>
                              <p:par>
                                <p:cTn id="177" presetID="1" presetClass="exit" presetSubtype="0" fill="hold" nodeType="withEffect">
                                  <p:stCondLst>
                                    <p:cond delay="0"/>
                                  </p:stCondLst>
                                  <p:childTnLst>
                                    <p:set>
                                      <p:cBhvr>
                                        <p:cTn id="178" dur="1" fill="hold">
                                          <p:stCondLst>
                                            <p:cond delay="0"/>
                                          </p:stCondLst>
                                        </p:cTn>
                                        <p:tgtEl>
                                          <p:spTgt spid="2"/>
                                        </p:tgtEl>
                                        <p:attrNameLst>
                                          <p:attrName>style.visibility</p:attrName>
                                        </p:attrNameLst>
                                      </p:cBhvr>
                                      <p:to>
                                        <p:strVal val="hidden"/>
                                      </p:to>
                                    </p:set>
                                  </p:childTnLst>
                                </p:cTn>
                              </p:par>
                              <p:par>
                                <p:cTn id="179" presetID="1" presetClass="exit" presetSubtype="0" fill="hold" nodeType="withEffect">
                                  <p:stCondLst>
                                    <p:cond delay="0"/>
                                  </p:stCondLst>
                                  <p:childTnLst>
                                    <p:set>
                                      <p:cBhvr>
                                        <p:cTn id="180" dur="1" fill="hold">
                                          <p:stCondLst>
                                            <p:cond delay="0"/>
                                          </p:stCondLst>
                                        </p:cTn>
                                        <p:tgtEl>
                                          <p:spTgt spid="10"/>
                                        </p:tgtEl>
                                        <p:attrNameLst>
                                          <p:attrName>style.visibility</p:attrName>
                                        </p:attrNameLst>
                                      </p:cBhvr>
                                      <p:to>
                                        <p:strVal val="hidden"/>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nodeType="clickEffect">
                                  <p:stCondLst>
                                    <p:cond delay="0"/>
                                  </p:stCondLst>
                                  <p:childTnLst>
                                    <p:set>
                                      <p:cBhvr>
                                        <p:cTn id="184" dur="1" fill="hold">
                                          <p:stCondLst>
                                            <p:cond delay="0"/>
                                          </p:stCondLst>
                                        </p:cTn>
                                        <p:tgtEl>
                                          <p:spTgt spid="24"/>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 presetClass="exit" presetSubtype="0" fill="hold" nodeType="clickEffect">
                                  <p:stCondLst>
                                    <p:cond delay="0"/>
                                  </p:stCondLst>
                                  <p:childTnLst>
                                    <p:set>
                                      <p:cBhvr>
                                        <p:cTn id="188" dur="1" fill="hold">
                                          <p:stCondLst>
                                            <p:cond delay="0"/>
                                          </p:stCondLst>
                                        </p:cTn>
                                        <p:tgtEl>
                                          <p:spTgt spid="23"/>
                                        </p:tgtEl>
                                        <p:attrNameLst>
                                          <p:attrName>style.visibility</p:attrName>
                                        </p:attrNameLst>
                                      </p:cBhvr>
                                      <p:to>
                                        <p:strVal val="hidden"/>
                                      </p:to>
                                    </p:set>
                                  </p:childTnLst>
                                </p:cTn>
                              </p:par>
                              <p:par>
                                <p:cTn id="189" presetID="1" presetClass="exit" presetSubtype="0" fill="hold" nodeType="withEffect">
                                  <p:stCondLst>
                                    <p:cond delay="0"/>
                                  </p:stCondLst>
                                  <p:childTnLst>
                                    <p:set>
                                      <p:cBhvr>
                                        <p:cTn id="190" dur="1" fill="hold">
                                          <p:stCondLst>
                                            <p:cond delay="0"/>
                                          </p:stCondLst>
                                        </p:cTn>
                                        <p:tgtEl>
                                          <p:spTgt spid="24"/>
                                        </p:tgtEl>
                                        <p:attrNameLst>
                                          <p:attrName>style.visibility</p:attrName>
                                        </p:attrNameLst>
                                      </p:cBhvr>
                                      <p:to>
                                        <p:strVal val="hidden"/>
                                      </p:to>
                                    </p:set>
                                  </p:childTnLst>
                                </p:cTn>
                              </p:par>
                              <p:par>
                                <p:cTn id="191" presetID="1" presetClass="exit" presetSubtype="0" fill="hold" nodeType="withEffect">
                                  <p:stCondLst>
                                    <p:cond delay="0"/>
                                  </p:stCondLst>
                                  <p:childTnLst>
                                    <p:set>
                                      <p:cBhvr>
                                        <p:cTn id="192" dur="1" fill="hold">
                                          <p:stCondLst>
                                            <p:cond delay="0"/>
                                          </p:stCondLst>
                                        </p:cTn>
                                        <p:tgtEl>
                                          <p:spTgt spid="9"/>
                                        </p:tgtEl>
                                        <p:attrNameLst>
                                          <p:attrName>style.visibility</p:attrName>
                                        </p:attrNameLst>
                                      </p:cBhvr>
                                      <p:to>
                                        <p:strVal val="hidden"/>
                                      </p:to>
                                    </p:set>
                                  </p:childTnLst>
                                </p:cTn>
                              </p:par>
                              <p:par>
                                <p:cTn id="193" presetID="1" presetClass="entr" presetSubtype="0" fill="hold" nodeType="withEffect">
                                  <p:stCondLst>
                                    <p:cond delay="0"/>
                                  </p:stCondLst>
                                  <p:childTnLst>
                                    <p:set>
                                      <p:cBhvr>
                                        <p:cTn id="194" dur="1" fill="hold">
                                          <p:stCondLst>
                                            <p:cond delay="0"/>
                                          </p:stCondLst>
                                        </p:cTn>
                                        <p:tgtEl>
                                          <p:spTgt spid="5"/>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1"/>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2"/>
                                        </p:tgtEl>
                                        <p:attrNameLst>
                                          <p:attrName>style.visibility</p:attrName>
                                        </p:attrNameLst>
                                      </p:cBhvr>
                                      <p:to>
                                        <p:strVal val="visible"/>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 presetClass="exit" presetSubtype="0" fill="hold" nodeType="clickEffect">
                                  <p:stCondLst>
                                    <p:cond delay="0"/>
                                  </p:stCondLst>
                                  <p:childTnLst>
                                    <p:set>
                                      <p:cBhvr>
                                        <p:cTn id="202" dur="1" fill="hold">
                                          <p:stCondLst>
                                            <p:cond delay="0"/>
                                          </p:stCondLst>
                                        </p:cTn>
                                        <p:tgtEl>
                                          <p:spTgt spid="12"/>
                                        </p:tgtEl>
                                        <p:attrNameLst>
                                          <p:attrName>style.visibility</p:attrName>
                                        </p:attrNameLst>
                                      </p:cBhvr>
                                      <p:to>
                                        <p:strVal val="hidden"/>
                                      </p:to>
                                    </p:set>
                                  </p:childTnLst>
                                </p:cTn>
                              </p:par>
                              <p:par>
                                <p:cTn id="203" presetID="1" presetClass="exit" presetSubtype="0" fill="hold" nodeType="withEffect">
                                  <p:stCondLst>
                                    <p:cond delay="0"/>
                                  </p:stCondLst>
                                  <p:childTnLst>
                                    <p:set>
                                      <p:cBhvr>
                                        <p:cTn id="204" dur="1" fill="hold">
                                          <p:stCondLst>
                                            <p:cond delay="0"/>
                                          </p:stCondLst>
                                        </p:cTn>
                                        <p:tgtEl>
                                          <p:spTgt spid="11"/>
                                        </p:tgtEl>
                                        <p:attrNameLst>
                                          <p:attrName>style.visibility</p:attrName>
                                        </p:attrNameLst>
                                      </p:cBhvr>
                                      <p:to>
                                        <p:strVal val="hidden"/>
                                      </p:to>
                                    </p:set>
                                  </p:childTnLst>
                                </p:cTn>
                              </p:par>
                              <p:par>
                                <p:cTn id="205" presetID="1" presetClass="entr" presetSubtype="0" fill="hold" nodeType="withEffect">
                                  <p:stCondLst>
                                    <p:cond delay="0"/>
                                  </p:stCondLst>
                                  <p:childTnLst>
                                    <p:set>
                                      <p:cBhvr>
                                        <p:cTn id="206" dur="1" fill="hold">
                                          <p:stCondLst>
                                            <p:cond delay="0"/>
                                          </p:stCondLst>
                                        </p:cTn>
                                        <p:tgtEl>
                                          <p:spTgt spid="26"/>
                                        </p:tgtEl>
                                        <p:attrNameLst>
                                          <p:attrName>style.visibility</p:attrName>
                                        </p:attrNameLst>
                                      </p:cBhvr>
                                      <p:to>
                                        <p:strVal val="visible"/>
                                      </p:to>
                                    </p:se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1" presetClass="entr" presetSubtype="0" fill="hold" nodeType="clickEffect">
                                  <p:stCondLst>
                                    <p:cond delay="0"/>
                                  </p:stCondLst>
                                  <p:childTnLst>
                                    <p:set>
                                      <p:cBhvr>
                                        <p:cTn id="210" dur="1" fill="hold">
                                          <p:stCondLst>
                                            <p:cond delay="0"/>
                                          </p:stCondLst>
                                        </p:cTn>
                                        <p:tgtEl>
                                          <p:spTgt spid="27"/>
                                        </p:tgtEl>
                                        <p:attrNameLst>
                                          <p:attrName>style.visibility</p:attrName>
                                        </p:attrNameLst>
                                      </p:cBhvr>
                                      <p:to>
                                        <p:strVal val="visible"/>
                                      </p:to>
                                    </p:se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 presetClass="exit" presetSubtype="0" fill="hold" nodeType="clickEffect">
                                  <p:stCondLst>
                                    <p:cond delay="0"/>
                                  </p:stCondLst>
                                  <p:childTnLst>
                                    <p:set>
                                      <p:cBhvr>
                                        <p:cTn id="214" dur="1" fill="hold">
                                          <p:stCondLst>
                                            <p:cond delay="0"/>
                                          </p:stCondLst>
                                        </p:cTn>
                                        <p:tgtEl>
                                          <p:spTgt spid="5"/>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0"/>
                                          </p:stCondLst>
                                        </p:cTn>
                                        <p:tgtEl>
                                          <p:spTgt spid="26"/>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0"/>
                                          </p:stCondLst>
                                        </p:cTn>
                                        <p:tgtEl>
                                          <p:spTgt spid="27"/>
                                        </p:tgtEl>
                                        <p:attrNameLst>
                                          <p:attrName>style.visibility</p:attrName>
                                        </p:attrNameLst>
                                      </p:cBhvr>
                                      <p:to>
                                        <p:strVal val="hidden"/>
                                      </p:to>
                                    </p:se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 presetClass="entr" presetSubtype="0" fill="hold" nodeType="clickEffect">
                                  <p:stCondLst>
                                    <p:cond delay="0"/>
                                  </p:stCondLst>
                                  <p:childTnLst>
                                    <p:set>
                                      <p:cBhvr>
                                        <p:cTn id="222" dur="1" fill="hold">
                                          <p:stCondLst>
                                            <p:cond delay="0"/>
                                          </p:stCondLst>
                                        </p:cTn>
                                        <p:tgtEl>
                                          <p:spTgt spid="7"/>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8"/>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7"/>
                                        </p:tgtEl>
                                        <p:attrNameLst>
                                          <p:attrName>style.visibility</p:attrName>
                                        </p:attrNameLst>
                                      </p:cBhvr>
                                      <p:to>
                                        <p:strVal val="visible"/>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 presetClass="exit" presetSubtype="0" fill="hold" nodeType="clickEffect">
                                  <p:stCondLst>
                                    <p:cond delay="0"/>
                                  </p:stCondLst>
                                  <p:childTnLst>
                                    <p:set>
                                      <p:cBhvr>
                                        <p:cTn id="230" dur="1" fill="hold">
                                          <p:stCondLst>
                                            <p:cond delay="0"/>
                                          </p:stCondLst>
                                        </p:cTn>
                                        <p:tgtEl>
                                          <p:spTgt spid="7"/>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2" dur="1" fill="hold">
                                          <p:stCondLst>
                                            <p:cond delay="0"/>
                                          </p:stCondLst>
                                        </p:cTn>
                                        <p:tgtEl>
                                          <p:spTgt spid="18"/>
                                        </p:tgtEl>
                                        <p:attrNameLst>
                                          <p:attrName>style.visibility</p:attrName>
                                        </p:attrNameLst>
                                      </p:cBhvr>
                                      <p:to>
                                        <p:strVal val="hidden"/>
                                      </p:to>
                                    </p:set>
                                  </p:childTnLst>
                                </p:cTn>
                              </p:par>
                              <p:par>
                                <p:cTn id="233" presetID="1" presetClass="entr" presetSubtype="0" fill="hold" nodeType="withEffect">
                                  <p:stCondLst>
                                    <p:cond delay="0"/>
                                  </p:stCondLst>
                                  <p:childTnLst>
                                    <p:set>
                                      <p:cBhvr>
                                        <p:cTn id="234" dur="1" fill="hold">
                                          <p:stCondLst>
                                            <p:cond delay="0"/>
                                          </p:stCondLst>
                                        </p:cTn>
                                        <p:tgtEl>
                                          <p:spTgt spid="29"/>
                                        </p:tgtEl>
                                        <p:attrNameLst>
                                          <p:attrName>style.visibility</p:attrName>
                                        </p:attrNameLst>
                                      </p:cBhvr>
                                      <p:to>
                                        <p:strVal val="visible"/>
                                      </p:to>
                                    </p:se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 presetClass="entr" presetSubtype="0" fill="hold" nodeType="clickEffect">
                                  <p:stCondLst>
                                    <p:cond delay="0"/>
                                  </p:stCondLst>
                                  <p:childTnLst>
                                    <p:set>
                                      <p:cBhvr>
                                        <p:cTn id="238" dur="1" fill="hold">
                                          <p:stCondLst>
                                            <p:cond delay="0"/>
                                          </p:stCondLst>
                                        </p:cTn>
                                        <p:tgtEl>
                                          <p:spTgt spid="30"/>
                                        </p:tgtEl>
                                        <p:attrNameLst>
                                          <p:attrName>style.visibility</p:attrName>
                                        </p:attrNameLst>
                                      </p:cBhvr>
                                      <p:to>
                                        <p:strVal val="visible"/>
                                      </p:to>
                                    </p:se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 presetClass="exit" presetSubtype="0" fill="hold" nodeType="clickEffect">
                                  <p:stCondLst>
                                    <p:cond delay="0"/>
                                  </p:stCondLst>
                                  <p:childTnLst>
                                    <p:set>
                                      <p:cBhvr>
                                        <p:cTn id="242" dur="1" fill="hold">
                                          <p:stCondLst>
                                            <p:cond delay="0"/>
                                          </p:stCondLst>
                                        </p:cTn>
                                        <p:tgtEl>
                                          <p:spTgt spid="17"/>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0"/>
                                          </p:stCondLst>
                                        </p:cTn>
                                        <p:tgtEl>
                                          <p:spTgt spid="29"/>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0"/>
                                          </p:stCondLst>
                                        </p:cTn>
                                        <p:tgtEl>
                                          <p:spTgt spid="30"/>
                                        </p:tgtEl>
                                        <p:attrNameLst>
                                          <p:attrName>style.visibility</p:attrName>
                                        </p:attrNameLst>
                                      </p:cBhvr>
                                      <p:to>
                                        <p:strVal val="hidden"/>
                                      </p:to>
                                    </p:se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 presetClass="entr" presetSubtype="0" fill="hold" nodeType="clickEffect">
                                  <p:stCondLst>
                                    <p:cond delay="0"/>
                                  </p:stCondLst>
                                  <p:childTnLst>
                                    <p:set>
                                      <p:cBhvr>
                                        <p:cTn id="250" dur="1" fill="hold">
                                          <p:stCondLst>
                                            <p:cond delay="0"/>
                                          </p:stCondLst>
                                        </p:cTn>
                                        <p:tgtEl>
                                          <p:spTgt spid="20"/>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21"/>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3"/>
                                        </p:tgtEl>
                                        <p:attrNameLst>
                                          <p:attrName>style.visibility</p:attrName>
                                        </p:attrNameLst>
                                      </p:cBhvr>
                                      <p:to>
                                        <p:strVal val="visible"/>
                                      </p:to>
                                    </p:se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 presetClass="exit" presetSubtype="0" fill="hold" nodeType="clickEffect">
                                  <p:stCondLst>
                                    <p:cond delay="0"/>
                                  </p:stCondLst>
                                  <p:childTnLst>
                                    <p:set>
                                      <p:cBhvr>
                                        <p:cTn id="258" dur="1" fill="hold">
                                          <p:stCondLst>
                                            <p:cond delay="0"/>
                                          </p:stCondLst>
                                        </p:cTn>
                                        <p:tgtEl>
                                          <p:spTgt spid="20"/>
                                        </p:tgtEl>
                                        <p:attrNameLst>
                                          <p:attrName>style.visibility</p:attrName>
                                        </p:attrNameLst>
                                      </p:cBhvr>
                                      <p:to>
                                        <p:strVal val="hidden"/>
                                      </p:to>
                                    </p:set>
                                  </p:childTnLst>
                                </p:cTn>
                              </p:par>
                              <p:par>
                                <p:cTn id="259" presetID="1" presetClass="exit" presetSubtype="0" fill="hold" nodeType="withEffect">
                                  <p:stCondLst>
                                    <p:cond delay="0"/>
                                  </p:stCondLst>
                                  <p:childTnLst>
                                    <p:set>
                                      <p:cBhvr>
                                        <p:cTn id="260" dur="1" fill="hold">
                                          <p:stCondLst>
                                            <p:cond delay="0"/>
                                          </p:stCondLst>
                                        </p:cTn>
                                        <p:tgtEl>
                                          <p:spTgt spid="21"/>
                                        </p:tgtEl>
                                        <p:attrNameLst>
                                          <p:attrName>style.visibility</p:attrName>
                                        </p:attrNameLst>
                                      </p:cBhvr>
                                      <p:to>
                                        <p:strVal val="hidden"/>
                                      </p:to>
                                    </p:set>
                                  </p:childTnLst>
                                </p:cTn>
                              </p:par>
                              <p:par>
                                <p:cTn id="261" presetID="1" presetClass="entr" presetSubtype="0" fill="hold" nodeType="withEffect">
                                  <p:stCondLst>
                                    <p:cond delay="0"/>
                                  </p:stCondLst>
                                  <p:childTnLst>
                                    <p:set>
                                      <p:cBhvr>
                                        <p:cTn id="262" dur="1" fill="hold">
                                          <p:stCondLst>
                                            <p:cond delay="0"/>
                                          </p:stCondLst>
                                        </p:cTn>
                                        <p:tgtEl>
                                          <p:spTgt spid="94306"/>
                                        </p:tgtEl>
                                        <p:attrNameLst>
                                          <p:attrName>style.visibility</p:attrName>
                                        </p:attrNameLst>
                                      </p:cBhvr>
                                      <p:to>
                                        <p:strVal val="visible"/>
                                      </p:to>
                                    </p:se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1" presetClass="entr" presetSubtype="0" fill="hold" nodeType="clickEffect">
                                  <p:stCondLst>
                                    <p:cond delay="0"/>
                                  </p:stCondLst>
                                  <p:childTnLst>
                                    <p:set>
                                      <p:cBhvr>
                                        <p:cTn id="266" dur="1" fill="hold">
                                          <p:stCondLst>
                                            <p:cond delay="0"/>
                                          </p:stCondLst>
                                        </p:cTn>
                                        <p:tgtEl>
                                          <p:spTgt spid="94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body" idx="4294967295"/>
          </p:nvPr>
        </p:nvSpPr>
        <p:spPr>
          <a:xfrm>
            <a:off x="2279650" y="2503875"/>
            <a:ext cx="7620000" cy="719781"/>
          </a:xfrm>
        </p:spPr>
        <p:txBody>
          <a:bodyPr>
            <a:normAutofit/>
          </a:bodyPr>
          <a:lstStyle/>
          <a:p>
            <a:pPr marL="0" indent="0">
              <a:buNone/>
            </a:pPr>
            <a:r>
              <a:rPr kumimoji="1" lang="zh-CN" altLang="en-US" sz="2000" dirty="0">
                <a:latin typeface="微软雅黑" pitchFamily="34" charset="-122"/>
                <a:ea typeface="微软雅黑" pitchFamily="34" charset="-122"/>
                <a:cs typeface="经典粗黑简" pitchFamily="49" charset="-122"/>
              </a:rPr>
              <a:t>由此可见，二分查找过程恰好是走了一条从判定树的根到被查结点的路径，比较的关键字个数恰为该结点在判定树中的层数。</a:t>
            </a:r>
          </a:p>
        </p:txBody>
      </p:sp>
      <p:sp>
        <p:nvSpPr>
          <p:cNvPr id="6" name="Text Box 34"/>
          <p:cNvSpPr txBox="1">
            <a:spLocks noChangeArrowheads="1"/>
          </p:cNvSpPr>
          <p:nvPr/>
        </p:nvSpPr>
        <p:spPr bwMode="auto">
          <a:xfrm>
            <a:off x="2243931" y="3223655"/>
            <a:ext cx="77041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000" dirty="0">
                <a:latin typeface="微软雅黑" pitchFamily="34" charset="-122"/>
                <a:ea typeface="微软雅黑" pitchFamily="34" charset="-122"/>
                <a:cs typeface="经典粗黑简" pitchFamily="49" charset="-122"/>
              </a:rPr>
              <a:t>具有</a:t>
            </a:r>
            <a:r>
              <a:rPr kumimoji="1" lang="en-US" altLang="zh-CN" sz="2000" dirty="0">
                <a:latin typeface="微软雅黑" pitchFamily="34" charset="-122"/>
                <a:ea typeface="微软雅黑" pitchFamily="34" charset="-122"/>
                <a:cs typeface="经典粗黑简" pitchFamily="49" charset="-122"/>
              </a:rPr>
              <a:t>11</a:t>
            </a:r>
            <a:r>
              <a:rPr kumimoji="1" lang="zh-CN" altLang="en-US" sz="2000" dirty="0">
                <a:latin typeface="微软雅黑" pitchFamily="34" charset="-122"/>
                <a:ea typeface="微软雅黑" pitchFamily="34" charset="-122"/>
                <a:cs typeface="经典粗黑简" pitchFamily="49" charset="-122"/>
              </a:rPr>
              <a:t>个元素的有序表进行二分查找时，查找成功时的时间复杂度？</a:t>
            </a:r>
          </a:p>
        </p:txBody>
      </p:sp>
      <p:grpSp>
        <p:nvGrpSpPr>
          <p:cNvPr id="7" name="组合 6"/>
          <p:cNvGrpSpPr/>
          <p:nvPr/>
        </p:nvGrpSpPr>
        <p:grpSpPr>
          <a:xfrm>
            <a:off x="1991544" y="3603207"/>
            <a:ext cx="3451206" cy="2083310"/>
            <a:chOff x="2771775" y="4398963"/>
            <a:chExt cx="4464050" cy="2881313"/>
          </a:xfrm>
        </p:grpSpPr>
        <p:sp>
          <p:nvSpPr>
            <p:cNvPr id="8" name="Oval 85"/>
            <p:cNvSpPr>
              <a:spLocks noChangeAspect="1" noChangeArrowheads="1"/>
            </p:cNvSpPr>
            <p:nvPr/>
          </p:nvSpPr>
          <p:spPr bwMode="auto">
            <a:xfrm>
              <a:off x="4213225" y="4398963"/>
              <a:ext cx="503237" cy="503238"/>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6</a:t>
              </a:r>
            </a:p>
          </p:txBody>
        </p:sp>
        <p:grpSp>
          <p:nvGrpSpPr>
            <p:cNvPr id="9" name="Group 86"/>
            <p:cNvGrpSpPr>
              <a:grpSpLocks/>
            </p:cNvGrpSpPr>
            <p:nvPr/>
          </p:nvGrpSpPr>
          <p:grpSpPr bwMode="auto">
            <a:xfrm>
              <a:off x="3492500" y="4830763"/>
              <a:ext cx="792162" cy="792163"/>
              <a:chOff x="3243" y="1888"/>
              <a:chExt cx="499" cy="499"/>
            </a:xfrm>
          </p:grpSpPr>
          <p:sp>
            <p:nvSpPr>
              <p:cNvPr id="37" name="Oval 87"/>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dirty="0">
                    <a:latin typeface="Comic Sans MS" pitchFamily="66" charset="0"/>
                    <a:ea typeface="宋体" pitchFamily="2" charset="-122"/>
                  </a:rPr>
                  <a:t>3</a:t>
                </a:r>
              </a:p>
            </p:txBody>
          </p:sp>
          <p:sp>
            <p:nvSpPr>
              <p:cNvPr id="38" name="Line 88"/>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89"/>
            <p:cNvGrpSpPr>
              <a:grpSpLocks/>
            </p:cNvGrpSpPr>
            <p:nvPr/>
          </p:nvGrpSpPr>
          <p:grpSpPr bwMode="auto">
            <a:xfrm>
              <a:off x="2771775" y="5549901"/>
              <a:ext cx="792162" cy="792162"/>
              <a:chOff x="3243" y="1888"/>
              <a:chExt cx="499" cy="499"/>
            </a:xfrm>
          </p:grpSpPr>
          <p:sp>
            <p:nvSpPr>
              <p:cNvPr id="35" name="Oval 90"/>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a:t>
                </a:r>
              </a:p>
            </p:txBody>
          </p:sp>
          <p:sp>
            <p:nvSpPr>
              <p:cNvPr id="36" name="Line 91"/>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 name="Group 92"/>
            <p:cNvGrpSpPr>
              <a:grpSpLocks/>
            </p:cNvGrpSpPr>
            <p:nvPr/>
          </p:nvGrpSpPr>
          <p:grpSpPr bwMode="auto">
            <a:xfrm>
              <a:off x="4716462" y="4759326"/>
              <a:ext cx="1079500" cy="863600"/>
              <a:chOff x="4014" y="1842"/>
              <a:chExt cx="680" cy="544"/>
            </a:xfrm>
          </p:grpSpPr>
          <p:sp>
            <p:nvSpPr>
              <p:cNvPr id="33" name="Oval 93"/>
              <p:cNvSpPr>
                <a:spLocks noChangeAspect="1" noChangeArrowheads="1"/>
              </p:cNvSpPr>
              <p:nvPr/>
            </p:nvSpPr>
            <p:spPr bwMode="auto">
              <a:xfrm>
                <a:off x="4377" y="20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9</a:t>
                </a:r>
              </a:p>
            </p:txBody>
          </p:sp>
          <p:sp>
            <p:nvSpPr>
              <p:cNvPr id="34" name="Line 94"/>
              <p:cNvSpPr>
                <a:spLocks noChangeShapeType="1"/>
              </p:cNvSpPr>
              <p:nvPr/>
            </p:nvSpPr>
            <p:spPr bwMode="auto">
              <a:xfrm>
                <a:off x="4014" y="1842"/>
                <a:ext cx="408" cy="273"/>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 name="Group 95"/>
            <p:cNvGrpSpPr>
              <a:grpSpLocks/>
            </p:cNvGrpSpPr>
            <p:nvPr/>
          </p:nvGrpSpPr>
          <p:grpSpPr bwMode="auto">
            <a:xfrm>
              <a:off x="3924300" y="5551488"/>
              <a:ext cx="719137" cy="865188"/>
              <a:chOff x="3515" y="2341"/>
              <a:chExt cx="453" cy="545"/>
            </a:xfrm>
          </p:grpSpPr>
          <p:sp>
            <p:nvSpPr>
              <p:cNvPr id="31" name="Oval 96"/>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dirty="0">
                    <a:latin typeface="Comic Sans MS" pitchFamily="66" charset="0"/>
                    <a:ea typeface="宋体" pitchFamily="2" charset="-122"/>
                  </a:rPr>
                  <a:t>4</a:t>
                </a:r>
              </a:p>
            </p:txBody>
          </p:sp>
          <p:sp>
            <p:nvSpPr>
              <p:cNvPr id="32" name="Line 97"/>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 name="Group 104"/>
            <p:cNvGrpSpPr>
              <a:grpSpLocks/>
            </p:cNvGrpSpPr>
            <p:nvPr/>
          </p:nvGrpSpPr>
          <p:grpSpPr bwMode="auto">
            <a:xfrm>
              <a:off x="4716462" y="5622926"/>
              <a:ext cx="792163" cy="792162"/>
              <a:chOff x="3243" y="1888"/>
              <a:chExt cx="499" cy="499"/>
            </a:xfrm>
          </p:grpSpPr>
          <p:sp>
            <p:nvSpPr>
              <p:cNvPr id="29" name="Oval 105"/>
              <p:cNvSpPr>
                <a:spLocks noChangeAspect="1" noChangeArrowheads="1"/>
              </p:cNvSpPr>
              <p:nvPr/>
            </p:nvSpPr>
            <p:spPr bwMode="auto">
              <a:xfrm>
                <a:off x="3243" y="2070"/>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7</a:t>
                </a:r>
              </a:p>
            </p:txBody>
          </p:sp>
          <p:sp>
            <p:nvSpPr>
              <p:cNvPr id="30" name="Line 106"/>
              <p:cNvSpPr>
                <a:spLocks noChangeShapeType="1"/>
              </p:cNvSpPr>
              <p:nvPr/>
            </p:nvSpPr>
            <p:spPr bwMode="auto">
              <a:xfrm flipH="1">
                <a:off x="3515" y="1888"/>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 name="Group 113"/>
            <p:cNvGrpSpPr>
              <a:grpSpLocks/>
            </p:cNvGrpSpPr>
            <p:nvPr/>
          </p:nvGrpSpPr>
          <p:grpSpPr bwMode="auto">
            <a:xfrm>
              <a:off x="5795962" y="5480051"/>
              <a:ext cx="719138" cy="865187"/>
              <a:chOff x="3515" y="2341"/>
              <a:chExt cx="453" cy="545"/>
            </a:xfrm>
          </p:grpSpPr>
          <p:sp>
            <p:nvSpPr>
              <p:cNvPr id="27" name="Oval 114"/>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10</a:t>
                </a:r>
              </a:p>
            </p:txBody>
          </p:sp>
          <p:sp>
            <p:nvSpPr>
              <p:cNvPr id="28" name="Line 115"/>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Group 122"/>
            <p:cNvGrpSpPr>
              <a:grpSpLocks/>
            </p:cNvGrpSpPr>
            <p:nvPr/>
          </p:nvGrpSpPr>
          <p:grpSpPr bwMode="auto">
            <a:xfrm>
              <a:off x="3203575" y="6272213"/>
              <a:ext cx="719137" cy="865188"/>
              <a:chOff x="3515" y="2341"/>
              <a:chExt cx="453" cy="545"/>
            </a:xfrm>
          </p:grpSpPr>
          <p:sp>
            <p:nvSpPr>
              <p:cNvPr id="25" name="Oval 123"/>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2</a:t>
                </a:r>
              </a:p>
            </p:txBody>
          </p:sp>
          <p:sp>
            <p:nvSpPr>
              <p:cNvPr id="26" name="Line 124"/>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6" name="Group 131"/>
            <p:cNvGrpSpPr>
              <a:grpSpLocks/>
            </p:cNvGrpSpPr>
            <p:nvPr/>
          </p:nvGrpSpPr>
          <p:grpSpPr bwMode="auto">
            <a:xfrm>
              <a:off x="4500562" y="6415088"/>
              <a:ext cx="719138" cy="865188"/>
              <a:chOff x="3515" y="2341"/>
              <a:chExt cx="453" cy="545"/>
            </a:xfrm>
          </p:grpSpPr>
          <p:sp>
            <p:nvSpPr>
              <p:cNvPr id="23" name="Oval 132"/>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5</a:t>
                </a:r>
              </a:p>
            </p:txBody>
          </p:sp>
          <p:sp>
            <p:nvSpPr>
              <p:cNvPr id="24" name="Line 133"/>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7" name="Group 140"/>
            <p:cNvGrpSpPr>
              <a:grpSpLocks/>
            </p:cNvGrpSpPr>
            <p:nvPr/>
          </p:nvGrpSpPr>
          <p:grpSpPr bwMode="auto">
            <a:xfrm>
              <a:off x="5221287" y="6272213"/>
              <a:ext cx="719138" cy="865188"/>
              <a:chOff x="3515" y="2341"/>
              <a:chExt cx="453" cy="545"/>
            </a:xfrm>
          </p:grpSpPr>
          <p:sp>
            <p:nvSpPr>
              <p:cNvPr id="21" name="Oval 141"/>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8</a:t>
                </a:r>
              </a:p>
            </p:txBody>
          </p:sp>
          <p:sp>
            <p:nvSpPr>
              <p:cNvPr id="22" name="Line 142"/>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8" name="Group 149"/>
            <p:cNvGrpSpPr>
              <a:grpSpLocks/>
            </p:cNvGrpSpPr>
            <p:nvPr/>
          </p:nvGrpSpPr>
          <p:grpSpPr bwMode="auto">
            <a:xfrm>
              <a:off x="6516687" y="6199188"/>
              <a:ext cx="719138" cy="865188"/>
              <a:chOff x="3515" y="2341"/>
              <a:chExt cx="453" cy="545"/>
            </a:xfrm>
          </p:grpSpPr>
          <p:sp>
            <p:nvSpPr>
              <p:cNvPr id="19" name="Oval 150"/>
              <p:cNvSpPr>
                <a:spLocks noChangeAspect="1" noChangeArrowheads="1"/>
              </p:cNvSpPr>
              <p:nvPr/>
            </p:nvSpPr>
            <p:spPr bwMode="auto">
              <a:xfrm>
                <a:off x="3651" y="2569"/>
                <a:ext cx="317" cy="317"/>
              </a:xfrm>
              <a:prstGeom prst="ellipse">
                <a:avLst/>
              </a:prstGeom>
              <a:solidFill>
                <a:schemeClr val="bg1"/>
              </a:solidFill>
              <a:ln w="28575"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11</a:t>
                </a:r>
              </a:p>
            </p:txBody>
          </p:sp>
          <p:sp>
            <p:nvSpPr>
              <p:cNvPr id="20" name="Line 151"/>
              <p:cNvSpPr>
                <a:spLocks noChangeShapeType="1"/>
              </p:cNvSpPr>
              <p:nvPr/>
            </p:nvSpPr>
            <p:spPr bwMode="auto">
              <a:xfrm>
                <a:off x="3515" y="2341"/>
                <a:ext cx="227" cy="227"/>
              </a:xfrm>
              <a:prstGeom prst="line">
                <a:avLst/>
              </a:prstGeom>
              <a:noFill/>
              <a:ln w="28575"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055501486"/>
              </p:ext>
            </p:extLst>
          </p:nvPr>
        </p:nvGraphicFramePr>
        <p:xfrm>
          <a:off x="4987312" y="3833818"/>
          <a:ext cx="5491007" cy="944870"/>
        </p:xfrm>
        <a:graphic>
          <a:graphicData uri="http://schemas.openxmlformats.org/presentationml/2006/ole">
            <mc:AlternateContent xmlns:mc="http://schemas.openxmlformats.org/markup-compatibility/2006">
              <mc:Choice xmlns:v="urn:schemas-microsoft-com:vml" Requires="v">
                <p:oleObj name="公式" r:id="rId2" imgW="2603500" imgH="444500" progId="Equation.3">
                  <p:embed/>
                </p:oleObj>
              </mc:Choice>
              <mc:Fallback>
                <p:oleObj name="公式" r:id="rId2" imgW="2603500" imgH="444500" progId="Equation.3">
                  <p:embed/>
                  <p:pic>
                    <p:nvPicPr>
                      <p:cNvPr id="0"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312" y="3833818"/>
                        <a:ext cx="5491007" cy="944870"/>
                      </a:xfrm>
                      <a:prstGeom prst="rect">
                        <a:avLst/>
                      </a:prstGeom>
                      <a:noFill/>
                      <a:ln>
                        <a:noFill/>
                      </a:ln>
                    </p:spPr>
                  </p:pic>
                </p:oleObj>
              </mc:Fallback>
            </mc:AlternateContent>
          </a:graphicData>
        </a:graphic>
      </p:graphicFrame>
      <p:sp>
        <p:nvSpPr>
          <p:cNvPr id="3" name="Rectangle 2">
            <a:extLst>
              <a:ext uri="{FF2B5EF4-FFF2-40B4-BE49-F238E27FC236}">
                <a16:creationId xmlns:a16="http://schemas.microsoft.com/office/drawing/2014/main" id="{A4B2B871-5A72-9E3C-FCDB-23CE00B542D4}"/>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a:latin typeface="微软雅黑" pitchFamily="34" charset="-122"/>
                <a:ea typeface="微软雅黑" pitchFamily="34" charset="-122"/>
                <a:cs typeface="经典粗黑简" pitchFamily="49" charset="-122"/>
              </a:rPr>
              <a:t>性能分析</a:t>
            </a:r>
            <a:endParaRPr kumimoji="1" lang="zh-CN" altLang="en-US" sz="2200" dirty="0">
              <a:latin typeface="微软雅黑" pitchFamily="34" charset="-122"/>
              <a:ea typeface="微软雅黑" pitchFamily="34" charset="-122"/>
              <a:cs typeface="经典粗黑简" pitchFamily="49" charset="-122"/>
            </a:endParaRPr>
          </a:p>
        </p:txBody>
      </p:sp>
      <p:sp>
        <p:nvSpPr>
          <p:cNvPr id="4" name="矩形 3">
            <a:extLst>
              <a:ext uri="{FF2B5EF4-FFF2-40B4-BE49-F238E27FC236}">
                <a16:creationId xmlns:a16="http://schemas.microsoft.com/office/drawing/2014/main" id="{6A4C35DE-A1B1-0573-C821-C68A7EF3D45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34DCC240-9EF6-228C-2B74-529D8524EAFE}"/>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39" name="直接连接符 38">
            <a:extLst>
              <a:ext uri="{FF2B5EF4-FFF2-40B4-BE49-F238E27FC236}">
                <a16:creationId xmlns:a16="http://schemas.microsoft.com/office/drawing/2014/main" id="{6758B7A5-FA92-E61F-69D0-C0A507737839}"/>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1" name="Text Box 1026">
            <a:extLst>
              <a:ext uri="{FF2B5EF4-FFF2-40B4-BE49-F238E27FC236}">
                <a16:creationId xmlns:a16="http://schemas.microsoft.com/office/drawing/2014/main" id="{3C6233C7-E3EF-8ED7-8B9A-20ECF07E7223}"/>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21730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body" idx="4294967295"/>
          </p:nvPr>
        </p:nvSpPr>
        <p:spPr>
          <a:xfrm>
            <a:off x="2135560" y="2780928"/>
            <a:ext cx="7620000" cy="2520280"/>
          </a:xfrm>
        </p:spPr>
        <p:txBody>
          <a:bodyPr>
            <a:noAutofit/>
          </a:bodyPr>
          <a:lstStyle/>
          <a:p>
            <a:pPr marL="0" indent="0">
              <a:buNone/>
            </a:pPr>
            <a:r>
              <a:rPr kumimoji="1" lang="zh-CN" altLang="en-US" sz="2400" dirty="0">
                <a:latin typeface="微软雅黑" pitchFamily="34" charset="-122"/>
                <a:ea typeface="微软雅黑" pitchFamily="34" charset="-122"/>
                <a:cs typeface="经典粗黑简" pitchFamily="49" charset="-122"/>
              </a:rPr>
              <a:t>       如果在二分查找的判定树中的所有结点的空指针域上加上一个指向一个方形结点的指针并称这些方形结点为外部结点（与之相对，称那些圆形结点为内部结点），那么折半查找时查找不成功的过程就是走了一条从根结点到外部结点的路径，和给定值进行比较的关键字的个数等于路径上内部结点的个数。</a:t>
            </a:r>
          </a:p>
        </p:txBody>
      </p:sp>
      <p:sp>
        <p:nvSpPr>
          <p:cNvPr id="2" name="Rectangle 2">
            <a:extLst>
              <a:ext uri="{FF2B5EF4-FFF2-40B4-BE49-F238E27FC236}">
                <a16:creationId xmlns:a16="http://schemas.microsoft.com/office/drawing/2014/main" id="{F94552BB-CC12-2553-435E-0BD3D7B3E232}"/>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dirty="0">
                <a:latin typeface="微软雅黑" pitchFamily="34" charset="-122"/>
                <a:ea typeface="微软雅黑" pitchFamily="34" charset="-122"/>
                <a:cs typeface="经典粗黑简" pitchFamily="49" charset="-122"/>
              </a:rPr>
              <a:t>性能分析</a:t>
            </a:r>
          </a:p>
        </p:txBody>
      </p:sp>
      <p:sp>
        <p:nvSpPr>
          <p:cNvPr id="3" name="矩形 2">
            <a:extLst>
              <a:ext uri="{FF2B5EF4-FFF2-40B4-BE49-F238E27FC236}">
                <a16:creationId xmlns:a16="http://schemas.microsoft.com/office/drawing/2014/main" id="{18D0C5F3-2695-2B51-C93F-262BE9216B1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6C9167AA-E3FB-C5FB-05B4-45DBD5B06C6C}"/>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5" name="直接连接符 4">
            <a:extLst>
              <a:ext uri="{FF2B5EF4-FFF2-40B4-BE49-F238E27FC236}">
                <a16:creationId xmlns:a16="http://schemas.microsoft.com/office/drawing/2014/main" id="{55C35438-B6D5-94CD-805B-9834E74CE086}"/>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1026">
            <a:extLst>
              <a:ext uri="{FF2B5EF4-FFF2-40B4-BE49-F238E27FC236}">
                <a16:creationId xmlns:a16="http://schemas.microsoft.com/office/drawing/2014/main" id="{4E6639BE-73A6-BBC8-9945-C0E1823C51CE}"/>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1366032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306" name="Group 2"/>
          <p:cNvGraphicFramePr>
            <a:graphicFrameLocks noGrp="1"/>
          </p:cNvGraphicFramePr>
          <p:nvPr>
            <p:extLst>
              <p:ext uri="{D42A27DB-BD31-4B8C-83A1-F6EECF244321}">
                <p14:modId xmlns:p14="http://schemas.microsoft.com/office/powerpoint/2010/main" val="3987949384"/>
              </p:ext>
            </p:extLst>
          </p:nvPr>
        </p:nvGraphicFramePr>
        <p:xfrm>
          <a:off x="2758572" y="2248875"/>
          <a:ext cx="6840537" cy="947738"/>
        </p:xfrm>
        <a:graphic>
          <a:graphicData uri="http://schemas.openxmlformats.org/drawingml/2006/table">
            <a:tbl>
              <a:tblPr/>
              <a:tblGrid>
                <a:gridCol w="622300">
                  <a:extLst>
                    <a:ext uri="{9D8B030D-6E8A-4147-A177-3AD203B41FA5}">
                      <a16:colId xmlns:a16="http://schemas.microsoft.com/office/drawing/2014/main" val="20000"/>
                    </a:ext>
                  </a:extLst>
                </a:gridCol>
                <a:gridCol w="620712">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0713">
                  <a:extLst>
                    <a:ext uri="{9D8B030D-6E8A-4147-A177-3AD203B41FA5}">
                      <a16:colId xmlns:a16="http://schemas.microsoft.com/office/drawing/2014/main" val="20004"/>
                    </a:ext>
                  </a:extLst>
                </a:gridCol>
                <a:gridCol w="623887">
                  <a:extLst>
                    <a:ext uri="{9D8B030D-6E8A-4147-A177-3AD203B41FA5}">
                      <a16:colId xmlns:a16="http://schemas.microsoft.com/office/drawing/2014/main" val="20005"/>
                    </a:ext>
                  </a:extLst>
                </a:gridCol>
                <a:gridCol w="620713">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2300">
                  <a:extLst>
                    <a:ext uri="{9D8B030D-6E8A-4147-A177-3AD203B41FA5}">
                      <a16:colId xmlns:a16="http://schemas.microsoft.com/office/drawing/2014/main" val="20008"/>
                    </a:ext>
                  </a:extLst>
                </a:gridCol>
                <a:gridCol w="620712">
                  <a:extLst>
                    <a:ext uri="{9D8B030D-6E8A-4147-A177-3AD203B41FA5}">
                      <a16:colId xmlns:a16="http://schemas.microsoft.com/office/drawing/2014/main" val="20009"/>
                    </a:ext>
                  </a:extLst>
                </a:gridCol>
                <a:gridCol w="622300">
                  <a:extLst>
                    <a:ext uri="{9D8B030D-6E8A-4147-A177-3AD203B41FA5}">
                      <a16:colId xmlns:a16="http://schemas.microsoft.com/office/drawing/2014/main" val="20010"/>
                    </a:ext>
                  </a:extLst>
                </a:gridCol>
              </a:tblGrid>
              <a:tr h="4746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05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21</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37</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56</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64</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75</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80</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Comic Sans MS" pitchFamily="66" charset="0"/>
                          <a:ea typeface="ＭＳ Ｐゴシック" pitchFamily="34" charset="-128"/>
                        </a:rPr>
                        <a:t>88</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Comic Sans MS" pitchFamily="66" charset="0"/>
                          <a:ea typeface="ＭＳ Ｐゴシック" pitchFamily="34" charset="-128"/>
                        </a:rPr>
                        <a:t>92</a:t>
                      </a:r>
                    </a:p>
                  </a:txBody>
                  <a:tcPr horzOverflow="overflow">
                    <a:lnL w="12700" cap="flat" cmpd="sng" algn="ctr">
                      <a:solidFill>
                        <a:srgbClr val="0000FF"/>
                      </a:solidFill>
                      <a:prstDash val="solid"/>
                      <a:miter lim="800000"/>
                      <a:headEnd type="none" w="sm" len="sm"/>
                      <a:tailEnd type="none" w="sm" len="sm"/>
                    </a:lnL>
                    <a:lnR w="12700" cap="flat" cmpd="sng" algn="ctr">
                      <a:solidFill>
                        <a:srgbClr val="0000FF"/>
                      </a:solidFill>
                      <a:prstDash val="solid"/>
                      <a:miter lim="800000"/>
                      <a:headEnd type="none" w="sm" len="sm"/>
                      <a:tailEnd type="none" w="sm" len="sm"/>
                    </a:lnR>
                    <a:lnT w="12700" cap="flat" cmpd="sng" algn="ctr">
                      <a:solidFill>
                        <a:srgbClr val="0000FF"/>
                      </a:solidFill>
                      <a:prstDash val="solid"/>
                      <a:miter lim="800000"/>
                      <a:headEnd type="none" w="sm" len="sm"/>
                      <a:tailEnd type="none" w="sm" len="sm"/>
                    </a:lnT>
                    <a:lnB w="12700"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 name="Group 52"/>
          <p:cNvGrpSpPr>
            <a:grpSpLocks/>
          </p:cNvGrpSpPr>
          <p:nvPr/>
        </p:nvGrpSpPr>
        <p:grpSpPr bwMode="auto">
          <a:xfrm>
            <a:off x="2635041" y="3356992"/>
            <a:ext cx="6964068" cy="3266721"/>
            <a:chOff x="862" y="1026"/>
            <a:chExt cx="4740" cy="2449"/>
          </a:xfrm>
        </p:grpSpPr>
        <p:sp>
          <p:nvSpPr>
            <p:cNvPr id="53288" name="Oval 53"/>
            <p:cNvSpPr>
              <a:spLocks noChangeAspect="1" noChangeArrowheads="1"/>
            </p:cNvSpPr>
            <p:nvPr/>
          </p:nvSpPr>
          <p:spPr bwMode="auto">
            <a:xfrm>
              <a:off x="2608" y="1026"/>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6</a:t>
              </a:r>
            </a:p>
          </p:txBody>
        </p:sp>
        <p:sp>
          <p:nvSpPr>
            <p:cNvPr id="53289" name="Oval 54"/>
            <p:cNvSpPr>
              <a:spLocks noChangeAspect="1" noChangeArrowheads="1"/>
            </p:cNvSpPr>
            <p:nvPr/>
          </p:nvSpPr>
          <p:spPr bwMode="auto">
            <a:xfrm>
              <a:off x="1656" y="1661"/>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3</a:t>
              </a:r>
            </a:p>
          </p:txBody>
        </p:sp>
        <p:grpSp>
          <p:nvGrpSpPr>
            <p:cNvPr id="53290" name="Group 55"/>
            <p:cNvGrpSpPr>
              <a:grpSpLocks/>
            </p:cNvGrpSpPr>
            <p:nvPr/>
          </p:nvGrpSpPr>
          <p:grpSpPr bwMode="auto">
            <a:xfrm>
              <a:off x="1202" y="1932"/>
              <a:ext cx="499" cy="499"/>
              <a:chOff x="3243" y="1888"/>
              <a:chExt cx="499" cy="499"/>
            </a:xfrm>
          </p:grpSpPr>
          <p:sp>
            <p:nvSpPr>
              <p:cNvPr id="53339" name="Oval 56"/>
              <p:cNvSpPr>
                <a:spLocks noChangeAspect="1" noChangeArrowheads="1"/>
              </p:cNvSpPr>
              <p:nvPr/>
            </p:nvSpPr>
            <p:spPr bwMode="auto">
              <a:xfrm>
                <a:off x="3243" y="2070"/>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a:t>
                </a:r>
              </a:p>
            </p:txBody>
          </p:sp>
          <p:sp>
            <p:nvSpPr>
              <p:cNvPr id="53340" name="Line 57"/>
              <p:cNvSpPr>
                <a:spLocks noChangeShapeType="1"/>
              </p:cNvSpPr>
              <p:nvPr/>
            </p:nvSpPr>
            <p:spPr bwMode="auto">
              <a:xfrm flipH="1">
                <a:off x="3515" y="1888"/>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3291" name="Oval 58"/>
            <p:cNvSpPr>
              <a:spLocks noChangeAspect="1" noChangeArrowheads="1"/>
            </p:cNvSpPr>
            <p:nvPr/>
          </p:nvSpPr>
          <p:spPr bwMode="auto">
            <a:xfrm>
              <a:off x="3775" y="1680"/>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9</a:t>
              </a:r>
            </a:p>
          </p:txBody>
        </p:sp>
        <p:grpSp>
          <p:nvGrpSpPr>
            <p:cNvPr id="53292" name="Group 59"/>
            <p:cNvGrpSpPr>
              <a:grpSpLocks/>
            </p:cNvGrpSpPr>
            <p:nvPr/>
          </p:nvGrpSpPr>
          <p:grpSpPr bwMode="auto">
            <a:xfrm>
              <a:off x="1928" y="1933"/>
              <a:ext cx="453" cy="545"/>
              <a:chOff x="3515" y="2341"/>
              <a:chExt cx="453" cy="545"/>
            </a:xfrm>
          </p:grpSpPr>
          <p:sp>
            <p:nvSpPr>
              <p:cNvPr id="53337" name="Oval 60"/>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4</a:t>
                </a:r>
              </a:p>
            </p:txBody>
          </p:sp>
          <p:sp>
            <p:nvSpPr>
              <p:cNvPr id="53338" name="Line 61"/>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3" name="Group 62"/>
            <p:cNvGrpSpPr>
              <a:grpSpLocks/>
            </p:cNvGrpSpPr>
            <p:nvPr/>
          </p:nvGrpSpPr>
          <p:grpSpPr bwMode="auto">
            <a:xfrm>
              <a:off x="3412" y="1997"/>
              <a:ext cx="499" cy="499"/>
              <a:chOff x="3243" y="1888"/>
              <a:chExt cx="499" cy="499"/>
            </a:xfrm>
          </p:grpSpPr>
          <p:sp>
            <p:nvSpPr>
              <p:cNvPr id="53335" name="Oval 63"/>
              <p:cNvSpPr>
                <a:spLocks noChangeAspect="1" noChangeArrowheads="1"/>
              </p:cNvSpPr>
              <p:nvPr/>
            </p:nvSpPr>
            <p:spPr bwMode="auto">
              <a:xfrm>
                <a:off x="3243" y="2070"/>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7</a:t>
                </a:r>
              </a:p>
            </p:txBody>
          </p:sp>
          <p:sp>
            <p:nvSpPr>
              <p:cNvPr id="53336" name="Line 64"/>
              <p:cNvSpPr>
                <a:spLocks noChangeShapeType="1"/>
              </p:cNvSpPr>
              <p:nvPr/>
            </p:nvSpPr>
            <p:spPr bwMode="auto">
              <a:xfrm flipH="1">
                <a:off x="3515" y="1888"/>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4" name="Group 65"/>
            <p:cNvGrpSpPr>
              <a:grpSpLocks/>
            </p:cNvGrpSpPr>
            <p:nvPr/>
          </p:nvGrpSpPr>
          <p:grpSpPr bwMode="auto">
            <a:xfrm>
              <a:off x="4092" y="1907"/>
              <a:ext cx="453" cy="545"/>
              <a:chOff x="3515" y="2341"/>
              <a:chExt cx="453" cy="545"/>
            </a:xfrm>
          </p:grpSpPr>
          <p:sp>
            <p:nvSpPr>
              <p:cNvPr id="53333" name="Oval 66"/>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10</a:t>
                </a:r>
              </a:p>
            </p:txBody>
          </p:sp>
          <p:sp>
            <p:nvSpPr>
              <p:cNvPr id="53334" name="Line 67"/>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5" name="Group 68"/>
            <p:cNvGrpSpPr>
              <a:grpSpLocks/>
            </p:cNvGrpSpPr>
            <p:nvPr/>
          </p:nvGrpSpPr>
          <p:grpSpPr bwMode="auto">
            <a:xfrm>
              <a:off x="1429" y="2431"/>
              <a:ext cx="453" cy="545"/>
              <a:chOff x="3515" y="2341"/>
              <a:chExt cx="453" cy="545"/>
            </a:xfrm>
          </p:grpSpPr>
          <p:sp>
            <p:nvSpPr>
              <p:cNvPr id="53331" name="Oval 69"/>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2</a:t>
                </a:r>
              </a:p>
            </p:txBody>
          </p:sp>
          <p:sp>
            <p:nvSpPr>
              <p:cNvPr id="53332" name="Line 70"/>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6" name="Group 71"/>
            <p:cNvGrpSpPr>
              <a:grpSpLocks/>
            </p:cNvGrpSpPr>
            <p:nvPr/>
          </p:nvGrpSpPr>
          <p:grpSpPr bwMode="auto">
            <a:xfrm>
              <a:off x="2381" y="2387"/>
              <a:ext cx="453" cy="545"/>
              <a:chOff x="3515" y="2341"/>
              <a:chExt cx="453" cy="545"/>
            </a:xfrm>
          </p:grpSpPr>
          <p:sp>
            <p:nvSpPr>
              <p:cNvPr id="53329" name="Oval 72"/>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5</a:t>
                </a:r>
              </a:p>
            </p:txBody>
          </p:sp>
          <p:sp>
            <p:nvSpPr>
              <p:cNvPr id="53330" name="Line 73"/>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7" name="Group 74"/>
            <p:cNvGrpSpPr>
              <a:grpSpLocks/>
            </p:cNvGrpSpPr>
            <p:nvPr/>
          </p:nvGrpSpPr>
          <p:grpSpPr bwMode="auto">
            <a:xfrm>
              <a:off x="3652" y="2477"/>
              <a:ext cx="453" cy="545"/>
              <a:chOff x="3515" y="2341"/>
              <a:chExt cx="453" cy="545"/>
            </a:xfrm>
          </p:grpSpPr>
          <p:sp>
            <p:nvSpPr>
              <p:cNvPr id="53327" name="Oval 75"/>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8</a:t>
                </a:r>
              </a:p>
            </p:txBody>
          </p:sp>
          <p:sp>
            <p:nvSpPr>
              <p:cNvPr id="53328" name="Line 76"/>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3298" name="Group 77"/>
            <p:cNvGrpSpPr>
              <a:grpSpLocks/>
            </p:cNvGrpSpPr>
            <p:nvPr/>
          </p:nvGrpSpPr>
          <p:grpSpPr bwMode="auto">
            <a:xfrm>
              <a:off x="4546" y="2360"/>
              <a:ext cx="453" cy="545"/>
              <a:chOff x="3515" y="2341"/>
              <a:chExt cx="453" cy="545"/>
            </a:xfrm>
          </p:grpSpPr>
          <p:sp>
            <p:nvSpPr>
              <p:cNvPr id="53325" name="Oval 78"/>
              <p:cNvSpPr>
                <a:spLocks noChangeAspect="1" noChangeArrowheads="1"/>
              </p:cNvSpPr>
              <p:nvPr/>
            </p:nvSpPr>
            <p:spPr bwMode="auto">
              <a:xfrm>
                <a:off x="3651" y="2569"/>
                <a:ext cx="317" cy="317"/>
              </a:xfrm>
              <a:prstGeom prst="ellipse">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11</a:t>
                </a:r>
              </a:p>
            </p:txBody>
          </p:sp>
          <p:sp>
            <p:nvSpPr>
              <p:cNvPr id="53326" name="Line 79"/>
              <p:cNvSpPr>
                <a:spLocks noChangeShapeType="1"/>
              </p:cNvSpPr>
              <p:nvPr/>
            </p:nvSpPr>
            <p:spPr bwMode="auto">
              <a:xfrm>
                <a:off x="3515" y="2341"/>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3299" name="Line 80"/>
            <p:cNvSpPr>
              <a:spLocks noChangeShapeType="1"/>
            </p:cNvSpPr>
            <p:nvPr/>
          </p:nvSpPr>
          <p:spPr bwMode="auto">
            <a:xfrm flipH="1">
              <a:off x="1927" y="1253"/>
              <a:ext cx="681" cy="453"/>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0" name="Line 81"/>
            <p:cNvSpPr>
              <a:spLocks noChangeShapeType="1"/>
            </p:cNvSpPr>
            <p:nvPr/>
          </p:nvSpPr>
          <p:spPr bwMode="auto">
            <a:xfrm>
              <a:off x="2925" y="1207"/>
              <a:ext cx="908" cy="499"/>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1" name="Line 82"/>
            <p:cNvSpPr>
              <a:spLocks noChangeShapeType="1"/>
            </p:cNvSpPr>
            <p:nvPr/>
          </p:nvSpPr>
          <p:spPr bwMode="auto">
            <a:xfrm flipH="1">
              <a:off x="1052" y="2413"/>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2" name="Rectangle 83"/>
            <p:cNvSpPr>
              <a:spLocks noChangeArrowheads="1"/>
            </p:cNvSpPr>
            <p:nvPr/>
          </p:nvSpPr>
          <p:spPr bwMode="auto">
            <a:xfrm>
              <a:off x="862" y="2659"/>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a:t>
              </a:r>
            </a:p>
          </p:txBody>
        </p:sp>
        <p:sp>
          <p:nvSpPr>
            <p:cNvPr id="53303" name="Rectangle 84"/>
            <p:cNvSpPr>
              <a:spLocks noChangeArrowheads="1"/>
            </p:cNvSpPr>
            <p:nvPr/>
          </p:nvSpPr>
          <p:spPr bwMode="auto">
            <a:xfrm>
              <a:off x="1927" y="2704"/>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3-4</a:t>
              </a:r>
            </a:p>
          </p:txBody>
        </p:sp>
        <p:sp>
          <p:nvSpPr>
            <p:cNvPr id="53304" name="Line 85"/>
            <p:cNvSpPr>
              <a:spLocks noChangeShapeType="1"/>
            </p:cNvSpPr>
            <p:nvPr/>
          </p:nvSpPr>
          <p:spPr bwMode="auto">
            <a:xfrm flipH="1">
              <a:off x="2018" y="2478"/>
              <a:ext cx="182" cy="226"/>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5" name="Line 86"/>
            <p:cNvSpPr>
              <a:spLocks noChangeShapeType="1"/>
            </p:cNvSpPr>
            <p:nvPr/>
          </p:nvSpPr>
          <p:spPr bwMode="auto">
            <a:xfrm flipH="1">
              <a:off x="1338" y="2912"/>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6" name="Rectangle 87"/>
            <p:cNvSpPr>
              <a:spLocks noChangeArrowheads="1"/>
            </p:cNvSpPr>
            <p:nvPr/>
          </p:nvSpPr>
          <p:spPr bwMode="auto">
            <a:xfrm>
              <a:off x="1148" y="3158"/>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1-2</a:t>
              </a:r>
            </a:p>
          </p:txBody>
        </p:sp>
        <p:sp>
          <p:nvSpPr>
            <p:cNvPr id="53307" name="Line 88"/>
            <p:cNvSpPr>
              <a:spLocks noChangeShapeType="1"/>
            </p:cNvSpPr>
            <p:nvPr/>
          </p:nvSpPr>
          <p:spPr bwMode="auto">
            <a:xfrm flipH="1">
              <a:off x="3197" y="2432"/>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8" name="Rectangle 89"/>
            <p:cNvSpPr>
              <a:spLocks noChangeArrowheads="1"/>
            </p:cNvSpPr>
            <p:nvPr/>
          </p:nvSpPr>
          <p:spPr bwMode="auto">
            <a:xfrm>
              <a:off x="3007" y="2678"/>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6-7</a:t>
              </a:r>
            </a:p>
          </p:txBody>
        </p:sp>
        <p:sp>
          <p:nvSpPr>
            <p:cNvPr id="53309" name="Rectangle 90"/>
            <p:cNvSpPr>
              <a:spLocks noChangeArrowheads="1"/>
            </p:cNvSpPr>
            <p:nvPr/>
          </p:nvSpPr>
          <p:spPr bwMode="auto">
            <a:xfrm>
              <a:off x="4150" y="2704"/>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9-10</a:t>
              </a:r>
            </a:p>
          </p:txBody>
        </p:sp>
        <p:sp>
          <p:nvSpPr>
            <p:cNvPr id="53310" name="Line 91"/>
            <p:cNvSpPr>
              <a:spLocks noChangeShapeType="1"/>
            </p:cNvSpPr>
            <p:nvPr/>
          </p:nvSpPr>
          <p:spPr bwMode="auto">
            <a:xfrm flipH="1">
              <a:off x="4195" y="2432"/>
              <a:ext cx="137" cy="272"/>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11" name="Line 92"/>
            <p:cNvSpPr>
              <a:spLocks noChangeShapeType="1"/>
            </p:cNvSpPr>
            <p:nvPr/>
          </p:nvSpPr>
          <p:spPr bwMode="auto">
            <a:xfrm>
              <a:off x="1837" y="2930"/>
              <a:ext cx="227"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12" name="Rectangle 93"/>
            <p:cNvSpPr>
              <a:spLocks noChangeArrowheads="1"/>
            </p:cNvSpPr>
            <p:nvPr/>
          </p:nvSpPr>
          <p:spPr bwMode="auto">
            <a:xfrm>
              <a:off x="1905" y="3158"/>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2-3</a:t>
              </a:r>
            </a:p>
          </p:txBody>
        </p:sp>
        <p:sp>
          <p:nvSpPr>
            <p:cNvPr id="53313" name="Rectangle 94"/>
            <p:cNvSpPr>
              <a:spLocks noChangeArrowheads="1"/>
            </p:cNvSpPr>
            <p:nvPr/>
          </p:nvSpPr>
          <p:spPr bwMode="auto">
            <a:xfrm>
              <a:off x="2282" y="3177"/>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4-5</a:t>
              </a:r>
            </a:p>
          </p:txBody>
        </p:sp>
        <p:sp>
          <p:nvSpPr>
            <p:cNvPr id="53314" name="Rectangle 95"/>
            <p:cNvSpPr>
              <a:spLocks noChangeArrowheads="1"/>
            </p:cNvSpPr>
            <p:nvPr/>
          </p:nvSpPr>
          <p:spPr bwMode="auto">
            <a:xfrm>
              <a:off x="2971" y="3177"/>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5-6</a:t>
              </a:r>
            </a:p>
          </p:txBody>
        </p:sp>
        <p:sp>
          <p:nvSpPr>
            <p:cNvPr id="53315" name="Line 96"/>
            <p:cNvSpPr>
              <a:spLocks noChangeShapeType="1"/>
            </p:cNvSpPr>
            <p:nvPr/>
          </p:nvSpPr>
          <p:spPr bwMode="auto">
            <a:xfrm flipH="1">
              <a:off x="2472" y="2931"/>
              <a:ext cx="136"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16" name="Line 97"/>
            <p:cNvSpPr>
              <a:spLocks noChangeShapeType="1"/>
            </p:cNvSpPr>
            <p:nvPr/>
          </p:nvSpPr>
          <p:spPr bwMode="auto">
            <a:xfrm>
              <a:off x="2789" y="2886"/>
              <a:ext cx="363" cy="272"/>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17" name="Rectangle 98"/>
            <p:cNvSpPr>
              <a:spLocks noChangeArrowheads="1"/>
            </p:cNvSpPr>
            <p:nvPr/>
          </p:nvSpPr>
          <p:spPr bwMode="auto">
            <a:xfrm>
              <a:off x="3439" y="3203"/>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7-8</a:t>
              </a:r>
            </a:p>
          </p:txBody>
        </p:sp>
        <p:sp>
          <p:nvSpPr>
            <p:cNvPr id="53318" name="Rectangle 99"/>
            <p:cNvSpPr>
              <a:spLocks noChangeArrowheads="1"/>
            </p:cNvSpPr>
            <p:nvPr/>
          </p:nvSpPr>
          <p:spPr bwMode="auto">
            <a:xfrm>
              <a:off x="4128" y="3203"/>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8-9</a:t>
              </a:r>
            </a:p>
          </p:txBody>
        </p:sp>
        <p:sp>
          <p:nvSpPr>
            <p:cNvPr id="53319" name="Line 100"/>
            <p:cNvSpPr>
              <a:spLocks noChangeShapeType="1"/>
            </p:cNvSpPr>
            <p:nvPr/>
          </p:nvSpPr>
          <p:spPr bwMode="auto">
            <a:xfrm flipH="1">
              <a:off x="3606" y="2976"/>
              <a:ext cx="272" cy="22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20" name="Line 101"/>
            <p:cNvSpPr>
              <a:spLocks noChangeShapeType="1"/>
            </p:cNvSpPr>
            <p:nvPr/>
          </p:nvSpPr>
          <p:spPr bwMode="auto">
            <a:xfrm>
              <a:off x="4059" y="2931"/>
              <a:ext cx="273" cy="272"/>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21" name="Rectangle 102"/>
            <p:cNvSpPr>
              <a:spLocks noChangeArrowheads="1"/>
            </p:cNvSpPr>
            <p:nvPr/>
          </p:nvSpPr>
          <p:spPr bwMode="auto">
            <a:xfrm>
              <a:off x="4573" y="3203"/>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10-11</a:t>
              </a:r>
            </a:p>
          </p:txBody>
        </p:sp>
        <p:sp>
          <p:nvSpPr>
            <p:cNvPr id="53322" name="Rectangle 103"/>
            <p:cNvSpPr>
              <a:spLocks noChangeArrowheads="1"/>
            </p:cNvSpPr>
            <p:nvPr/>
          </p:nvSpPr>
          <p:spPr bwMode="auto">
            <a:xfrm>
              <a:off x="5262" y="3203"/>
              <a:ext cx="340" cy="272"/>
            </a:xfrm>
            <a:prstGeom prst="rect">
              <a:avLst/>
            </a:prstGeom>
            <a:solidFill>
              <a:schemeClr val="bg1"/>
            </a:solidFill>
            <a:ln w="12700" cap="sq">
              <a:solidFill>
                <a:srgbClr val="0000FF"/>
              </a:solidFill>
              <a:miter lim="800000"/>
              <a:headEnd type="none" w="sm" len="sm"/>
              <a:tailEnd type="none" w="sm" len="sm"/>
            </a:ln>
          </p:spPr>
          <p:txBody>
            <a:bodyPr wrap="none" anchor="ctr"/>
            <a:lstStyle/>
            <a:p>
              <a:pPr algn="ctr"/>
              <a:r>
                <a:rPr kumimoji="1" lang="en-US" altLang="zh-CN" sz="2400">
                  <a:latin typeface="Comic Sans MS" pitchFamily="66" charset="0"/>
                  <a:ea typeface="宋体" pitchFamily="2" charset="-122"/>
                </a:rPr>
                <a:t>11-</a:t>
              </a:r>
            </a:p>
          </p:txBody>
        </p:sp>
        <p:sp>
          <p:nvSpPr>
            <p:cNvPr id="53323" name="Line 104"/>
            <p:cNvSpPr>
              <a:spLocks noChangeShapeType="1"/>
            </p:cNvSpPr>
            <p:nvPr/>
          </p:nvSpPr>
          <p:spPr bwMode="auto">
            <a:xfrm flipH="1">
              <a:off x="4649" y="2886"/>
              <a:ext cx="181" cy="317"/>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24" name="Line 105"/>
            <p:cNvSpPr>
              <a:spLocks noChangeShapeType="1"/>
            </p:cNvSpPr>
            <p:nvPr/>
          </p:nvSpPr>
          <p:spPr bwMode="auto">
            <a:xfrm>
              <a:off x="4999" y="2795"/>
              <a:ext cx="408" cy="409"/>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 name="Rectangle 2">
            <a:extLst>
              <a:ext uri="{FF2B5EF4-FFF2-40B4-BE49-F238E27FC236}">
                <a16:creationId xmlns:a16="http://schemas.microsoft.com/office/drawing/2014/main" id="{2FEF16B1-FA8D-70A7-0326-EA1257151977}"/>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a:latin typeface="微软雅黑" pitchFamily="34" charset="-122"/>
                <a:ea typeface="微软雅黑" pitchFamily="34" charset="-122"/>
                <a:cs typeface="经典粗黑简" pitchFamily="49" charset="-122"/>
              </a:rPr>
              <a:t>性能分析</a:t>
            </a:r>
            <a:endParaRPr kumimoji="1" lang="zh-CN" altLang="en-US" sz="2200" dirty="0">
              <a:latin typeface="微软雅黑" pitchFamily="34" charset="-122"/>
              <a:ea typeface="微软雅黑" pitchFamily="34" charset="-122"/>
              <a:cs typeface="经典粗黑简" pitchFamily="49" charset="-122"/>
            </a:endParaRPr>
          </a:p>
        </p:txBody>
      </p:sp>
      <p:sp>
        <p:nvSpPr>
          <p:cNvPr id="4" name="矩形 3">
            <a:extLst>
              <a:ext uri="{FF2B5EF4-FFF2-40B4-BE49-F238E27FC236}">
                <a16:creationId xmlns:a16="http://schemas.microsoft.com/office/drawing/2014/main" id="{CEBB7C49-C16B-9481-DAE4-40A03BE6247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C1667220-AFBE-C0D0-C10A-7CFD0442F90E}"/>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6" name="直接连接符 5">
            <a:extLst>
              <a:ext uri="{FF2B5EF4-FFF2-40B4-BE49-F238E27FC236}">
                <a16:creationId xmlns:a16="http://schemas.microsoft.com/office/drawing/2014/main" id="{C310E24E-FF4F-8FF3-4177-DF88E0903BDF}"/>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1026">
            <a:extLst>
              <a:ext uri="{FF2B5EF4-FFF2-40B4-BE49-F238E27FC236}">
                <a16:creationId xmlns:a16="http://schemas.microsoft.com/office/drawing/2014/main" id="{0C9B8B62-D2A3-4A35-685D-6A55ED12637C}"/>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144824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body" idx="4294967295"/>
          </p:nvPr>
        </p:nvSpPr>
        <p:spPr>
          <a:xfrm>
            <a:off x="2063552" y="2721696"/>
            <a:ext cx="7620000" cy="720080"/>
          </a:xfrm>
        </p:spPr>
        <p:txBody>
          <a:bodyPr>
            <a:normAutofit/>
          </a:bodyPr>
          <a:lstStyle/>
          <a:p>
            <a:pPr marL="0" indent="0">
              <a:buNone/>
            </a:pPr>
            <a:r>
              <a:rPr kumimoji="1" lang="zh-CN" altLang="en-US" sz="2000" dirty="0">
                <a:latin typeface="微软雅黑" pitchFamily="34" charset="-122"/>
                <a:ea typeface="微软雅黑" pitchFamily="34" charset="-122"/>
                <a:cs typeface="经典粗黑简" pitchFamily="49" charset="-122"/>
              </a:rPr>
              <a:t>       判定树非完全二叉树，但它的叶子结点所在的层次之差最多为</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，则</a:t>
            </a:r>
            <a:r>
              <a:rPr kumimoji="1" lang="en-US" altLang="zh-CN" sz="2000" dirty="0">
                <a:solidFill>
                  <a:srgbClr val="FF0000"/>
                </a:solidFill>
                <a:latin typeface="微软雅黑" pitchFamily="34" charset="-122"/>
                <a:ea typeface="微软雅黑" pitchFamily="34" charset="-122"/>
                <a:cs typeface="经典粗黑简" pitchFamily="49" charset="-122"/>
              </a:rPr>
              <a:t>n</a:t>
            </a:r>
            <a:r>
              <a:rPr kumimoji="1" lang="zh-CN" altLang="en-US" sz="2000" dirty="0">
                <a:solidFill>
                  <a:srgbClr val="FF0000"/>
                </a:solidFill>
                <a:latin typeface="微软雅黑" pitchFamily="34" charset="-122"/>
                <a:ea typeface="微软雅黑" pitchFamily="34" charset="-122"/>
                <a:cs typeface="经典粗黑简" pitchFamily="49" charset="-122"/>
              </a:rPr>
              <a:t>个结点的判定树的深度和</a:t>
            </a:r>
            <a:r>
              <a:rPr kumimoji="1" lang="en-US" altLang="zh-CN" sz="2000" dirty="0">
                <a:solidFill>
                  <a:srgbClr val="FF0000"/>
                </a:solidFill>
                <a:latin typeface="微软雅黑" pitchFamily="34" charset="-122"/>
                <a:ea typeface="微软雅黑" pitchFamily="34" charset="-122"/>
                <a:cs typeface="经典粗黑简" pitchFamily="49" charset="-122"/>
              </a:rPr>
              <a:t>n</a:t>
            </a:r>
            <a:r>
              <a:rPr kumimoji="1" lang="zh-CN" altLang="en-US" sz="2000" dirty="0">
                <a:solidFill>
                  <a:srgbClr val="FF0000"/>
                </a:solidFill>
                <a:latin typeface="微软雅黑" pitchFamily="34" charset="-122"/>
                <a:ea typeface="微软雅黑" pitchFamily="34" charset="-122"/>
                <a:cs typeface="经典粗黑简" pitchFamily="49" charset="-122"/>
              </a:rPr>
              <a:t>个结点的完全二叉树的深度相同</a:t>
            </a:r>
            <a:r>
              <a:rPr kumimoji="1" lang="zh-CN" altLang="en-US" sz="2000" dirty="0">
                <a:latin typeface="微软雅黑" pitchFamily="34" charset="-122"/>
                <a:ea typeface="微软雅黑" pitchFamily="34" charset="-122"/>
                <a:cs typeface="经典粗黑简" pitchFamily="49" charset="-122"/>
              </a:rPr>
              <a:t>。</a:t>
            </a:r>
          </a:p>
        </p:txBody>
      </p:sp>
      <p:sp>
        <p:nvSpPr>
          <p:cNvPr id="2" name="矩形 1"/>
          <p:cNvSpPr/>
          <p:nvPr/>
        </p:nvSpPr>
        <p:spPr>
          <a:xfrm>
            <a:off x="2135560" y="3585793"/>
            <a:ext cx="7704856"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       这般查找在查找成功和查找失败时进行比较的关键字个数最多不超过树的深度，而具有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个结点的判定树的深度为</a:t>
            </a:r>
            <a:r>
              <a:rPr kumimoji="1" lang="zh-CN" altLang="en-US" sz="2000" dirty="0">
                <a:latin typeface="微软雅黑" pitchFamily="34" charset="-122"/>
                <a:ea typeface="微软雅黑" pitchFamily="34" charset="-122"/>
                <a:cs typeface="经典粗黑简" pitchFamily="49" charset="-122"/>
                <a:sym typeface="Symbol" pitchFamily="18" charset="2"/>
              </a:rPr>
              <a:t></a:t>
            </a:r>
            <a:r>
              <a:rPr kumimoji="1" lang="en-US" altLang="zh-CN" sz="2000" dirty="0">
                <a:latin typeface="微软雅黑" pitchFamily="34" charset="-122"/>
                <a:ea typeface="微软雅黑" pitchFamily="34" charset="-122"/>
                <a:cs typeface="经典粗黑简" pitchFamily="49" charset="-122"/>
              </a:rPr>
              <a:t>log</a:t>
            </a:r>
            <a:r>
              <a:rPr kumimoji="1" lang="en-US" altLang="zh-CN" sz="2000" baseline="-25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n </a:t>
            </a:r>
            <a:r>
              <a:rPr kumimoji="1" lang="en-US" altLang="zh-CN" sz="2000" dirty="0">
                <a:latin typeface="微软雅黑" pitchFamily="34" charset="-122"/>
                <a:ea typeface="微软雅黑" pitchFamily="34" charset="-122"/>
                <a:cs typeface="经典粗黑简" pitchFamily="49" charset="-122"/>
                <a:sym typeface="Symbol" pitchFamily="18" charset="2"/>
              </a:rPr>
              <a:t></a:t>
            </a:r>
            <a:r>
              <a:rPr kumimoji="1" lang="en-US" altLang="zh-CN" sz="2000" dirty="0">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，因此</a:t>
            </a:r>
            <a:r>
              <a:rPr kumimoji="1" lang="zh-CN" altLang="en-US" sz="2000" dirty="0">
                <a:solidFill>
                  <a:srgbClr val="FF0000"/>
                </a:solidFill>
                <a:latin typeface="微软雅黑" pitchFamily="34" charset="-122"/>
                <a:ea typeface="微软雅黑" pitchFamily="34" charset="-122"/>
                <a:cs typeface="经典粗黑简" pitchFamily="49" charset="-122"/>
              </a:rPr>
              <a:t>折半查找的平均时间复杂度为</a:t>
            </a:r>
            <a:r>
              <a:rPr kumimoji="1" lang="en-US" altLang="zh-CN" sz="2000" dirty="0">
                <a:solidFill>
                  <a:srgbClr val="FF0000"/>
                </a:solidFill>
                <a:latin typeface="微软雅黑" pitchFamily="34" charset="-122"/>
                <a:ea typeface="微软雅黑" pitchFamily="34" charset="-122"/>
                <a:cs typeface="经典粗黑简" pitchFamily="49" charset="-122"/>
              </a:rPr>
              <a:t>O(log</a:t>
            </a:r>
            <a:r>
              <a:rPr kumimoji="1" lang="en-US" altLang="zh-CN" sz="2000" baseline="-25000" dirty="0">
                <a:solidFill>
                  <a:srgbClr val="FF0000"/>
                </a:solidFill>
                <a:latin typeface="微软雅黑" pitchFamily="34" charset="-122"/>
                <a:ea typeface="微软雅黑" pitchFamily="34" charset="-122"/>
                <a:cs typeface="经典粗黑简" pitchFamily="49" charset="-122"/>
              </a:rPr>
              <a:t>2</a:t>
            </a:r>
            <a:r>
              <a:rPr kumimoji="1" lang="en-US" altLang="zh-CN" sz="2000" dirty="0">
                <a:solidFill>
                  <a:srgbClr val="FF0000"/>
                </a:solidFill>
                <a:latin typeface="微软雅黑" pitchFamily="34" charset="-122"/>
                <a:ea typeface="微软雅黑" pitchFamily="34" charset="-122"/>
                <a:cs typeface="经典粗黑简" pitchFamily="49" charset="-122"/>
              </a:rPr>
              <a:t>n )</a:t>
            </a:r>
            <a:r>
              <a:rPr kumimoji="1" lang="zh-CN" altLang="en-US" sz="2000" dirty="0">
                <a:latin typeface="微软雅黑" pitchFamily="34" charset="-122"/>
                <a:ea typeface="微软雅黑" pitchFamily="34" charset="-122"/>
                <a:cs typeface="经典粗黑简" pitchFamily="49" charset="-122"/>
              </a:rPr>
              <a:t>。</a:t>
            </a:r>
          </a:p>
        </p:txBody>
      </p:sp>
      <p:sp>
        <p:nvSpPr>
          <p:cNvPr id="3" name="Rectangle 2">
            <a:extLst>
              <a:ext uri="{FF2B5EF4-FFF2-40B4-BE49-F238E27FC236}">
                <a16:creationId xmlns:a16="http://schemas.microsoft.com/office/drawing/2014/main" id="{7375CA87-9395-0303-4DD0-D3C6CBF05360}"/>
              </a:ext>
            </a:extLst>
          </p:cNvPr>
          <p:cNvSpPr txBox="1">
            <a:spLocks/>
          </p:cNvSpPr>
          <p:nvPr/>
        </p:nvSpPr>
        <p:spPr>
          <a:xfrm>
            <a:off x="4061618" y="1899392"/>
            <a:ext cx="1328738" cy="41803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zh-CN" altLang="en-US" sz="2200">
                <a:latin typeface="微软雅黑" pitchFamily="34" charset="-122"/>
                <a:ea typeface="微软雅黑" pitchFamily="34" charset="-122"/>
                <a:cs typeface="经典粗黑简" pitchFamily="49" charset="-122"/>
              </a:rPr>
              <a:t>性能分析</a:t>
            </a:r>
            <a:endParaRPr kumimoji="1" lang="zh-CN" altLang="en-US" sz="2200" dirty="0">
              <a:latin typeface="微软雅黑" pitchFamily="34" charset="-122"/>
              <a:ea typeface="微软雅黑" pitchFamily="34" charset="-122"/>
              <a:cs typeface="经典粗黑简" pitchFamily="49" charset="-122"/>
            </a:endParaRPr>
          </a:p>
        </p:txBody>
      </p:sp>
      <p:sp>
        <p:nvSpPr>
          <p:cNvPr id="4" name="矩形 3">
            <a:extLst>
              <a:ext uri="{FF2B5EF4-FFF2-40B4-BE49-F238E27FC236}">
                <a16:creationId xmlns:a16="http://schemas.microsoft.com/office/drawing/2014/main" id="{3AD96D5F-0476-6A7F-A8CA-144ED48EFAD6}"/>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D90ADD59-686E-DDFE-3034-4C5BC84AD549}"/>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6" name="直接连接符 5">
            <a:extLst>
              <a:ext uri="{FF2B5EF4-FFF2-40B4-BE49-F238E27FC236}">
                <a16:creationId xmlns:a16="http://schemas.microsoft.com/office/drawing/2014/main" id="{F04ACEAD-C190-F0E5-92F9-31A22E4A56DA}"/>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1026">
            <a:extLst>
              <a:ext uri="{FF2B5EF4-FFF2-40B4-BE49-F238E27FC236}">
                <a16:creationId xmlns:a16="http://schemas.microsoft.com/office/drawing/2014/main" id="{2EE9C664-2B30-F480-6647-5E317DBDEBBE}"/>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132212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body" idx="4294967295"/>
          </p:nvPr>
        </p:nvSpPr>
        <p:spPr>
          <a:xfrm>
            <a:off x="2855640" y="2479220"/>
            <a:ext cx="3744416" cy="504056"/>
          </a:xfrm>
        </p:spPr>
        <p:txBody>
          <a:bodyPr>
            <a:normAutofit/>
          </a:bodyPr>
          <a:lstStyle/>
          <a:p>
            <a:pPr marL="0" indent="0">
              <a:buNone/>
            </a:pPr>
            <a:r>
              <a:rPr kumimoji="1" lang="zh-CN" altLang="en-US" sz="2400" dirty="0">
                <a:latin typeface="微软雅黑" pitchFamily="34" charset="-122"/>
                <a:ea typeface="微软雅黑" pitchFamily="34" charset="-122"/>
                <a:cs typeface="经典粗黑简" pitchFamily="49" charset="-122"/>
              </a:rPr>
              <a:t>顺序查找与折半查找比较</a:t>
            </a:r>
          </a:p>
        </p:txBody>
      </p:sp>
      <p:sp>
        <p:nvSpPr>
          <p:cNvPr id="2" name="矩形 1"/>
          <p:cNvSpPr/>
          <p:nvPr/>
        </p:nvSpPr>
        <p:spPr>
          <a:xfrm>
            <a:off x="2855640" y="3067189"/>
            <a:ext cx="6984776" cy="1200329"/>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）顺序查找的查找表既可以采用顺序存储结构，又可以采用链式存储结构；折半查找的查找表只能采用顺序存储结构。</a:t>
            </a:r>
          </a:p>
        </p:txBody>
      </p:sp>
      <p:sp>
        <p:nvSpPr>
          <p:cNvPr id="6" name="矩形 5"/>
          <p:cNvSpPr/>
          <p:nvPr/>
        </p:nvSpPr>
        <p:spPr>
          <a:xfrm>
            <a:off x="2855640" y="4351429"/>
            <a:ext cx="6840760"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）顺序查找大查找表可以是有序的也可以是无序的；折半查找的查找表必须是有序的。</a:t>
            </a:r>
          </a:p>
        </p:txBody>
      </p:sp>
      <p:sp>
        <p:nvSpPr>
          <p:cNvPr id="4" name="矩形 3">
            <a:extLst>
              <a:ext uri="{FF2B5EF4-FFF2-40B4-BE49-F238E27FC236}">
                <a16:creationId xmlns:a16="http://schemas.microsoft.com/office/drawing/2014/main" id="{DD855AE2-7942-851C-E55A-89804F294E9C}"/>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58038DAE-D733-D057-B4A4-199FBF3D135E}"/>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7" name="直接连接符 6">
            <a:extLst>
              <a:ext uri="{FF2B5EF4-FFF2-40B4-BE49-F238E27FC236}">
                <a16:creationId xmlns:a16="http://schemas.microsoft.com/office/drawing/2014/main" id="{B7C0001E-B06C-9C58-9019-C166179985B1}"/>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1026">
            <a:extLst>
              <a:ext uri="{FF2B5EF4-FFF2-40B4-BE49-F238E27FC236}">
                <a16:creationId xmlns:a16="http://schemas.microsoft.com/office/drawing/2014/main" id="{19C75A39-14FE-2D16-CB4C-6ADE654018E9}"/>
              </a:ext>
            </a:extLst>
          </p:cNvPr>
          <p:cNvSpPr txBox="1">
            <a:spLocks noChangeArrowheads="1"/>
          </p:cNvSpPr>
          <p:nvPr/>
        </p:nvSpPr>
        <p:spPr bwMode="auto">
          <a:xfrm>
            <a:off x="1199456" y="1825658"/>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1</a:t>
            </a:r>
            <a:r>
              <a:rPr kumimoji="1" lang="zh-CN" altLang="en-US" sz="2200">
                <a:solidFill>
                  <a:srgbClr val="FF0000"/>
                </a:solidFill>
                <a:latin typeface="微软雅黑" pitchFamily="34" charset="-122"/>
                <a:ea typeface="微软雅黑" pitchFamily="34" charset="-122"/>
                <a:cs typeface="Times New Roman" pitchFamily="18" charset="0"/>
              </a:rPr>
              <a:t>、基本</a:t>
            </a:r>
            <a:r>
              <a:rPr kumimoji="1" lang="zh-CN" altLang="en-US" sz="2200">
                <a:solidFill>
                  <a:srgbClr val="FF0000"/>
                </a:solidFill>
                <a:latin typeface="微软雅黑" pitchFamily="34" charset="-122"/>
                <a:ea typeface="微软雅黑" pitchFamily="34" charset="-122"/>
                <a:cs typeface="Consolas" pitchFamily="49" charset="0"/>
              </a:rPr>
              <a:t>折半查找</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4160902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p:bldP spid="2"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166A4-EC23-7E9A-F2DA-61C38503C7A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652B313-8FD6-3533-5DD9-2CDE9753D0A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49E17110-6D37-1664-F42A-36CCD274575B}"/>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7" name="直接连接符 6">
            <a:extLst>
              <a:ext uri="{FF2B5EF4-FFF2-40B4-BE49-F238E27FC236}">
                <a16:creationId xmlns:a16="http://schemas.microsoft.com/office/drawing/2014/main" id="{8C08A8E5-E471-2108-74C3-AFD0D0B3E633}"/>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 Box 1026">
            <a:extLst>
              <a:ext uri="{FF2B5EF4-FFF2-40B4-BE49-F238E27FC236}">
                <a16:creationId xmlns:a16="http://schemas.microsoft.com/office/drawing/2014/main" id="{17AD2671-9FC8-3A9E-302A-B53ECE72EACA}"/>
              </a:ext>
            </a:extLst>
          </p:cNvPr>
          <p:cNvSpPr txBox="1">
            <a:spLocks noChangeArrowheads="1"/>
          </p:cNvSpPr>
          <p:nvPr/>
        </p:nvSpPr>
        <p:spPr bwMode="auto">
          <a:xfrm>
            <a:off x="1200026" y="1897047"/>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2</a:t>
            </a:r>
            <a:r>
              <a:rPr kumimoji="1" lang="zh-CN" altLang="en-US" sz="2200">
                <a:solidFill>
                  <a:srgbClr val="FF0000"/>
                </a:solidFill>
                <a:latin typeface="微软雅黑" pitchFamily="34" charset="-122"/>
                <a:ea typeface="微软雅黑" pitchFamily="34" charset="-122"/>
                <a:cs typeface="Times New Roman" pitchFamily="18" charset="0"/>
              </a:rPr>
              <a:t>、</a:t>
            </a:r>
            <a:r>
              <a:rPr kumimoji="1" lang="zh-CN" altLang="en-US" sz="2200">
                <a:solidFill>
                  <a:srgbClr val="FF0000"/>
                </a:solidFill>
                <a:latin typeface="微软雅黑" pitchFamily="34" charset="-122"/>
                <a:ea typeface="微软雅黑" pitchFamily="34" charset="-122"/>
                <a:cs typeface="Consolas" pitchFamily="49" charset="0"/>
              </a:rPr>
              <a:t>折半查找的扩展</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
        <p:nvSpPr>
          <p:cNvPr id="9" name="TextBox 12">
            <a:extLst>
              <a:ext uri="{FF2B5EF4-FFF2-40B4-BE49-F238E27FC236}">
                <a16:creationId xmlns:a16="http://schemas.microsoft.com/office/drawing/2014/main" id="{319734BC-FF1F-F48D-CAD2-267FED254C03}"/>
              </a:ext>
            </a:extLst>
          </p:cNvPr>
          <p:cNvSpPr txBox="1"/>
          <p:nvPr/>
        </p:nvSpPr>
        <p:spPr>
          <a:xfrm>
            <a:off x="1271464" y="2682865"/>
            <a:ext cx="8072494" cy="2057652"/>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nSpc>
                <a:spcPts val="2800"/>
              </a:lnSpc>
              <a:spcBef>
                <a:spcPts val="600"/>
              </a:spcBef>
              <a:buBlip>
                <a:blip r:embed="rId2"/>
              </a:buBlip>
            </a:pPr>
            <a:r>
              <a:rPr lang="zh-CN" altLang="zh-CN" sz="2000">
                <a:solidFill>
                  <a:srgbClr val="3333FF"/>
                </a:solidFill>
                <a:latin typeface="Times New Roman" pitchFamily="18" charset="0"/>
                <a:ea typeface="楷体" pitchFamily="49" charset="-122"/>
                <a:cs typeface="Times New Roman" pitchFamily="18" charset="0"/>
              </a:rPr>
              <a:t>假设递增有序顺序表为</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[0..</a:t>
            </a:r>
            <a:r>
              <a:rPr lang="en-US" altLang="zh-CN" sz="2000" i="1">
                <a:solidFill>
                  <a:srgbClr val="3333FF"/>
                </a:solidFill>
                <a:latin typeface="Times New Roman" pitchFamily="18" charset="0"/>
                <a:ea typeface="楷体" pitchFamily="49" charset="-122"/>
                <a:cs typeface="Times New Roman" pitchFamily="18" charset="0"/>
              </a:rPr>
              <a:t>n</a:t>
            </a:r>
            <a:r>
              <a:rPr lang="en-US" altLang="zh-CN" sz="2000">
                <a:solidFill>
                  <a:srgbClr val="3333FF"/>
                </a:solidFill>
                <a:latin typeface="Times New Roman" pitchFamily="18" charset="0"/>
                <a:ea typeface="楷体" pitchFamily="49" charset="-122"/>
                <a:cs typeface="Times New Roman" pitchFamily="18" charset="0"/>
              </a:rPr>
              <a:t>-1]</a:t>
            </a:r>
            <a:r>
              <a:rPr lang="zh-CN" altLang="zh-CN" sz="2000">
                <a:solidFill>
                  <a:srgbClr val="3333FF"/>
                </a:solidFill>
                <a:latin typeface="Times New Roman" pitchFamily="18" charset="0"/>
                <a:ea typeface="楷体" pitchFamily="49" charset="-122"/>
                <a:cs typeface="Times New Roman" pitchFamily="18" charset="0"/>
              </a:rPr>
              <a:t>，其中可能存在多个相同关键字的元素，现在求第一个大于等于</a:t>
            </a:r>
            <a:r>
              <a:rPr lang="en-US" altLang="zh-CN" sz="2000" i="1">
                <a:solidFill>
                  <a:srgbClr val="3333FF"/>
                </a:solidFill>
                <a:latin typeface="Times New Roman" pitchFamily="18" charset="0"/>
                <a:ea typeface="楷体" pitchFamily="49" charset="-122"/>
                <a:cs typeface="Times New Roman" pitchFamily="18" charset="0"/>
              </a:rPr>
              <a:t>k</a:t>
            </a:r>
            <a:r>
              <a:rPr lang="zh-CN" altLang="zh-CN" sz="2000">
                <a:solidFill>
                  <a:srgbClr val="3333FF"/>
                </a:solidFill>
                <a:latin typeface="Times New Roman" pitchFamily="18" charset="0"/>
                <a:ea typeface="楷体" pitchFamily="49" charset="-122"/>
                <a:cs typeface="Times New Roman" pitchFamily="18" charset="0"/>
              </a:rPr>
              <a:t>的元素位置（从</a:t>
            </a:r>
            <a:r>
              <a:rPr lang="en-US" altLang="zh-CN" sz="2000">
                <a:solidFill>
                  <a:srgbClr val="3333FF"/>
                </a:solidFill>
                <a:latin typeface="Times New Roman" pitchFamily="18" charset="0"/>
                <a:ea typeface="楷体" pitchFamily="49" charset="-122"/>
                <a:cs typeface="Times New Roman" pitchFamily="18" charset="0"/>
              </a:rPr>
              <a:t>0</a:t>
            </a:r>
            <a:r>
              <a:rPr lang="zh-CN" altLang="zh-CN" sz="2000">
                <a:solidFill>
                  <a:srgbClr val="3333FF"/>
                </a:solidFill>
                <a:latin typeface="Times New Roman" pitchFamily="18" charset="0"/>
                <a:ea typeface="楷体" pitchFamily="49" charset="-122"/>
                <a:cs typeface="Times New Roman" pitchFamily="18" charset="0"/>
              </a:rPr>
              <a:t>开始的下标），如果</a:t>
            </a:r>
            <a:r>
              <a:rPr lang="en-US" altLang="zh-CN" sz="2000" i="1">
                <a:solidFill>
                  <a:srgbClr val="3333FF"/>
                </a:solidFill>
                <a:latin typeface="Times New Roman" pitchFamily="18" charset="0"/>
                <a:ea typeface="楷体" pitchFamily="49" charset="-122"/>
                <a:cs typeface="Times New Roman" pitchFamily="18" charset="0"/>
              </a:rPr>
              <a:t>k</a:t>
            </a:r>
            <a:r>
              <a:rPr lang="zh-CN" altLang="zh-CN" sz="2000">
                <a:solidFill>
                  <a:srgbClr val="3333FF"/>
                </a:solidFill>
                <a:latin typeface="Times New Roman" pitchFamily="18" charset="0"/>
                <a:ea typeface="楷体" pitchFamily="49" charset="-122"/>
                <a:cs typeface="Times New Roman" pitchFamily="18" charset="0"/>
              </a:rPr>
              <a:t>大于</a:t>
            </a:r>
            <a:r>
              <a:rPr lang="en-US" altLang="zh-CN" sz="2000" i="1">
                <a:solidFill>
                  <a:srgbClr val="3333FF"/>
                </a:solidFill>
                <a:latin typeface="Times New Roman" pitchFamily="18" charset="0"/>
                <a:ea typeface="楷体" pitchFamily="49" charset="-122"/>
                <a:cs typeface="Times New Roman" pitchFamily="18" charset="0"/>
              </a:rPr>
              <a:t>R</a:t>
            </a:r>
            <a:r>
              <a:rPr lang="zh-CN" altLang="zh-CN" sz="2000">
                <a:solidFill>
                  <a:srgbClr val="3333FF"/>
                </a:solidFill>
                <a:latin typeface="Times New Roman" pitchFamily="18" charset="0"/>
                <a:ea typeface="楷体" pitchFamily="49" charset="-122"/>
                <a:cs typeface="Times New Roman" pitchFamily="18" charset="0"/>
              </a:rPr>
              <a:t>中全部元素，则返回结果</a:t>
            </a:r>
            <a:r>
              <a:rPr lang="en-US" altLang="zh-CN" sz="2000" i="1">
                <a:solidFill>
                  <a:srgbClr val="3333FF"/>
                </a:solidFill>
                <a:latin typeface="Times New Roman" pitchFamily="18" charset="0"/>
                <a:ea typeface="楷体" pitchFamily="49" charset="-122"/>
                <a:cs typeface="Times New Roman" pitchFamily="18" charset="0"/>
              </a:rPr>
              <a:t>n</a:t>
            </a:r>
            <a:r>
              <a:rPr lang="zh-CN" altLang="zh-CN" sz="2000">
                <a:solidFill>
                  <a:srgbClr val="3333FF"/>
                </a:solidFill>
                <a:latin typeface="Times New Roman" pitchFamily="18" charset="0"/>
                <a:ea typeface="楷体" pitchFamily="49" charset="-122"/>
                <a:cs typeface="Times New Roman" pitchFamily="18" charset="0"/>
              </a:rPr>
              <a:t>。</a:t>
            </a:r>
            <a:endParaRPr lang="en-US" altLang="zh-CN" sz="2000">
              <a:solidFill>
                <a:srgbClr val="3333FF"/>
              </a:solidFill>
              <a:latin typeface="Times New Roman" pitchFamily="18" charset="0"/>
              <a:ea typeface="楷体" pitchFamily="49" charset="-122"/>
              <a:cs typeface="Times New Roman" pitchFamily="18" charset="0"/>
            </a:endParaRPr>
          </a:p>
          <a:p>
            <a:pPr marL="457200" indent="-457200">
              <a:lnSpc>
                <a:spcPts val="2800"/>
              </a:lnSpc>
              <a:spcBef>
                <a:spcPts val="600"/>
              </a:spcBef>
              <a:buBlip>
                <a:blip r:embed="rId2"/>
              </a:buBlip>
            </a:pPr>
            <a:r>
              <a:rPr lang="zh-CN" altLang="zh-CN" sz="2000">
                <a:solidFill>
                  <a:srgbClr val="3333FF"/>
                </a:solidFill>
                <a:latin typeface="Times New Roman" pitchFamily="18" charset="0"/>
                <a:ea typeface="楷体" pitchFamily="49" charset="-122"/>
                <a:cs typeface="Times New Roman" pitchFamily="18" charset="0"/>
              </a:rPr>
              <a:t>例如，</a:t>
            </a:r>
            <a:r>
              <a:rPr lang="en-US" altLang="zh-CN" sz="2000" i="1">
                <a:solidFill>
                  <a:srgbClr val="3333FF"/>
                </a:solidFill>
                <a:latin typeface="Times New Roman" pitchFamily="18" charset="0"/>
                <a:ea typeface="楷体" pitchFamily="49" charset="-122"/>
                <a:cs typeface="Times New Roman" pitchFamily="18" charset="0"/>
              </a:rPr>
              <a:t>n</a:t>
            </a:r>
            <a:r>
              <a:rPr lang="en-US" altLang="zh-CN" sz="2000">
                <a:solidFill>
                  <a:srgbClr val="3333FF"/>
                </a:solidFill>
                <a:latin typeface="Times New Roman" pitchFamily="18" charset="0"/>
                <a:ea typeface="楷体" pitchFamily="49" charset="-122"/>
                <a:cs typeface="Times New Roman" pitchFamily="18" charset="0"/>
              </a:rPr>
              <a:t>=7</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[0..6]={1</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2</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4</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4</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4</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5</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6}</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i="1">
                <a:solidFill>
                  <a:srgbClr val="3333FF"/>
                </a:solidFill>
                <a:latin typeface="Times New Roman" pitchFamily="18" charset="0"/>
                <a:ea typeface="楷体" pitchFamily="49" charset="-122"/>
                <a:cs typeface="Times New Roman" pitchFamily="18" charset="0"/>
              </a:rPr>
              <a:t>k</a:t>
            </a:r>
            <a:r>
              <a:rPr lang="en-US" altLang="zh-CN" sz="2000">
                <a:solidFill>
                  <a:srgbClr val="3333FF"/>
                </a:solidFill>
                <a:latin typeface="Times New Roman" pitchFamily="18" charset="0"/>
                <a:ea typeface="楷体" pitchFamily="49" charset="-122"/>
                <a:cs typeface="Times New Roman" pitchFamily="18" charset="0"/>
              </a:rPr>
              <a:t>=2</a:t>
            </a:r>
            <a:r>
              <a:rPr lang="zh-CN" altLang="zh-CN" sz="2000">
                <a:solidFill>
                  <a:srgbClr val="3333FF"/>
                </a:solidFill>
                <a:latin typeface="Times New Roman" pitchFamily="18" charset="0"/>
                <a:ea typeface="楷体" pitchFamily="49" charset="-122"/>
                <a:cs typeface="Times New Roman" pitchFamily="18" charset="0"/>
              </a:rPr>
              <a:t>时返回</a:t>
            </a:r>
            <a:r>
              <a:rPr lang="en-US" altLang="zh-CN" sz="2000">
                <a:solidFill>
                  <a:srgbClr val="3333FF"/>
                </a:solidFill>
                <a:latin typeface="Times New Roman" pitchFamily="18" charset="0"/>
                <a:ea typeface="楷体" pitchFamily="49" charset="-122"/>
                <a:cs typeface="Times New Roman" pitchFamily="18" charset="0"/>
              </a:rPr>
              <a:t>1</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i="1">
                <a:solidFill>
                  <a:srgbClr val="3333FF"/>
                </a:solidFill>
                <a:latin typeface="Times New Roman" pitchFamily="18" charset="0"/>
                <a:ea typeface="楷体" pitchFamily="49" charset="-122"/>
                <a:cs typeface="Times New Roman" pitchFamily="18" charset="0"/>
              </a:rPr>
              <a:t>k</a:t>
            </a:r>
            <a:r>
              <a:rPr lang="en-US" altLang="zh-CN" sz="2000">
                <a:solidFill>
                  <a:srgbClr val="3333FF"/>
                </a:solidFill>
                <a:latin typeface="Times New Roman" pitchFamily="18" charset="0"/>
                <a:ea typeface="楷体" pitchFamily="49" charset="-122"/>
                <a:cs typeface="Times New Roman" pitchFamily="18" charset="0"/>
              </a:rPr>
              <a:t>=4</a:t>
            </a:r>
            <a:r>
              <a:rPr lang="zh-CN" altLang="zh-CN" sz="2000">
                <a:solidFill>
                  <a:srgbClr val="3333FF"/>
                </a:solidFill>
                <a:latin typeface="Times New Roman" pitchFamily="18" charset="0"/>
                <a:ea typeface="楷体" pitchFamily="49" charset="-122"/>
                <a:cs typeface="Times New Roman" pitchFamily="18" charset="0"/>
              </a:rPr>
              <a:t>时返回</a:t>
            </a:r>
            <a:r>
              <a:rPr lang="en-US" altLang="zh-CN" sz="2000">
                <a:solidFill>
                  <a:srgbClr val="3333FF"/>
                </a:solidFill>
                <a:latin typeface="Times New Roman" pitchFamily="18" charset="0"/>
                <a:ea typeface="楷体" pitchFamily="49" charset="-122"/>
                <a:cs typeface="Times New Roman" pitchFamily="18" charset="0"/>
              </a:rPr>
              <a:t>2</a:t>
            </a:r>
            <a:r>
              <a:rPr lang="zh-CN" altLang="zh-CN" sz="2000">
                <a:solidFill>
                  <a:srgbClr val="3333FF"/>
                </a:solidFill>
                <a:latin typeface="Times New Roman" pitchFamily="18" charset="0"/>
                <a:ea typeface="楷体" pitchFamily="49" charset="-122"/>
                <a:cs typeface="Times New Roman" pitchFamily="18" charset="0"/>
              </a:rPr>
              <a:t>，</a:t>
            </a:r>
            <a:r>
              <a:rPr lang="en-US" altLang="zh-CN" sz="2000" i="1">
                <a:solidFill>
                  <a:srgbClr val="3333FF"/>
                </a:solidFill>
                <a:latin typeface="Times New Roman" pitchFamily="18" charset="0"/>
                <a:ea typeface="楷体" pitchFamily="49" charset="-122"/>
                <a:cs typeface="Times New Roman" pitchFamily="18" charset="0"/>
              </a:rPr>
              <a:t>k</a:t>
            </a:r>
            <a:r>
              <a:rPr lang="en-US" altLang="zh-CN" sz="2000">
                <a:solidFill>
                  <a:srgbClr val="3333FF"/>
                </a:solidFill>
                <a:latin typeface="Times New Roman" pitchFamily="18" charset="0"/>
                <a:ea typeface="楷体" pitchFamily="49" charset="-122"/>
                <a:cs typeface="Times New Roman" pitchFamily="18" charset="0"/>
              </a:rPr>
              <a:t>=10</a:t>
            </a:r>
            <a:r>
              <a:rPr lang="zh-CN" altLang="zh-CN" sz="2000">
                <a:solidFill>
                  <a:srgbClr val="3333FF"/>
                </a:solidFill>
                <a:latin typeface="Times New Roman" pitchFamily="18" charset="0"/>
                <a:ea typeface="楷体" pitchFamily="49" charset="-122"/>
                <a:cs typeface="Times New Roman" pitchFamily="18" charset="0"/>
              </a:rPr>
              <a:t>时返回</a:t>
            </a:r>
            <a:r>
              <a:rPr lang="en-US" altLang="zh-CN" sz="2000">
                <a:solidFill>
                  <a:srgbClr val="3333FF"/>
                </a:solidFill>
                <a:latin typeface="Times New Roman" pitchFamily="18" charset="0"/>
                <a:ea typeface="楷体" pitchFamily="49" charset="-122"/>
                <a:cs typeface="Times New Roman" pitchFamily="18" charset="0"/>
              </a:rPr>
              <a:t>7</a:t>
            </a:r>
            <a:r>
              <a:rPr lang="zh-CN" altLang="zh-CN" sz="2000">
                <a:solidFill>
                  <a:srgbClr val="3333FF"/>
                </a:solidFill>
                <a:latin typeface="Times New Roman" pitchFamily="18" charset="0"/>
                <a:ea typeface="楷体" pitchFamily="49" charset="-122"/>
                <a:cs typeface="Times New Roman" pitchFamily="18" charset="0"/>
              </a:rPr>
              <a:t>。</a:t>
            </a:r>
          </a:p>
        </p:txBody>
      </p:sp>
      <p:sp>
        <p:nvSpPr>
          <p:cNvPr id="10" name="TextBox 13">
            <a:extLst>
              <a:ext uri="{FF2B5EF4-FFF2-40B4-BE49-F238E27FC236}">
                <a16:creationId xmlns:a16="http://schemas.microsoft.com/office/drawing/2014/main" id="{CD39325F-710D-33DB-7E43-D2F2AA34B802}"/>
              </a:ext>
            </a:extLst>
          </p:cNvPr>
          <p:cNvSpPr txBox="1"/>
          <p:nvPr/>
        </p:nvSpPr>
        <p:spPr>
          <a:xfrm>
            <a:off x="1414340" y="5397509"/>
            <a:ext cx="8072494" cy="400110"/>
          </a:xfrm>
          <a:prstGeom prst="rect">
            <a:avLst/>
          </a:prstGeom>
          <a:noFill/>
        </p:spPr>
        <p:txBody>
          <a:bodyPr wrap="square" rtlCol="0">
            <a:spAutoFit/>
          </a:bodyPr>
          <a:lstStyle/>
          <a:p>
            <a:r>
              <a:rPr lang="zh-CN" altLang="zh-CN" sz="2000">
                <a:ea typeface="仿宋" pitchFamily="49" charset="-122"/>
                <a:cs typeface="Times New Roman" pitchFamily="18" charset="0"/>
              </a:rPr>
              <a:t>采用基本折半查找算法，对于上述</a:t>
            </a:r>
            <a:r>
              <a:rPr lang="en-US" altLang="zh-CN" sz="2000" i="1">
                <a:ea typeface="仿宋" pitchFamily="49" charset="-122"/>
                <a:cs typeface="Times New Roman" pitchFamily="18" charset="0"/>
              </a:rPr>
              <a:t>R</a:t>
            </a:r>
            <a:r>
              <a:rPr lang="zh-CN" altLang="zh-CN" sz="2000">
                <a:ea typeface="仿宋" pitchFamily="49" charset="-122"/>
                <a:cs typeface="Times New Roman" pitchFamily="18" charset="0"/>
              </a:rPr>
              <a:t>，当</a:t>
            </a:r>
            <a:r>
              <a:rPr lang="en-US" altLang="zh-CN" sz="2000" i="1">
                <a:ea typeface="仿宋" pitchFamily="49" charset="-122"/>
                <a:cs typeface="Times New Roman" pitchFamily="18" charset="0"/>
              </a:rPr>
              <a:t>k</a:t>
            </a:r>
            <a:r>
              <a:rPr lang="en-US" altLang="zh-CN" sz="2000">
                <a:ea typeface="仿宋" pitchFamily="49" charset="-122"/>
                <a:cs typeface="Times New Roman" pitchFamily="18" charset="0"/>
              </a:rPr>
              <a:t>=4</a:t>
            </a:r>
            <a:r>
              <a:rPr lang="zh-CN" altLang="zh-CN" sz="2000">
                <a:ea typeface="仿宋" pitchFamily="49" charset="-122"/>
                <a:cs typeface="Times New Roman" pitchFamily="18" charset="0"/>
              </a:rPr>
              <a:t>时返回</a:t>
            </a:r>
            <a:r>
              <a:rPr lang="en-US" altLang="zh-CN" sz="2000">
                <a:ea typeface="仿宋" pitchFamily="49" charset="-122"/>
                <a:cs typeface="Times New Roman" pitchFamily="18" charset="0"/>
              </a:rPr>
              <a:t>3</a:t>
            </a:r>
            <a:r>
              <a:rPr lang="zh-CN" altLang="zh-CN" sz="2000">
                <a:ea typeface="仿宋" pitchFamily="49" charset="-122"/>
                <a:cs typeface="Times New Roman" pitchFamily="18" charset="0"/>
              </a:rPr>
              <a:t>，显然是错误的。</a:t>
            </a:r>
            <a:endParaRPr lang="zh-CN" altLang="en-US" sz="2000">
              <a:ea typeface="仿宋" pitchFamily="49" charset="-122"/>
              <a:cs typeface="Times New Roman" pitchFamily="18" charset="0"/>
            </a:endParaRPr>
          </a:p>
        </p:txBody>
      </p:sp>
      <p:sp>
        <p:nvSpPr>
          <p:cNvPr id="11" name="上箭头 14">
            <a:extLst>
              <a:ext uri="{FF2B5EF4-FFF2-40B4-BE49-F238E27FC236}">
                <a16:creationId xmlns:a16="http://schemas.microsoft.com/office/drawing/2014/main" id="{B3BFD543-46BE-A716-AC4F-895B8C23A042}"/>
              </a:ext>
            </a:extLst>
          </p:cNvPr>
          <p:cNvSpPr/>
          <p:nvPr/>
        </p:nvSpPr>
        <p:spPr>
          <a:xfrm>
            <a:off x="5129116" y="4826005"/>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2510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65DC1-7D4D-5C0F-C8FF-2F7E6C9372A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7D4E70C-E887-B29B-76EC-629FE9247A4B}"/>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A3BC643D-E911-9721-5A87-0A8D712939CE}"/>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7" name="直接连接符 6">
            <a:extLst>
              <a:ext uri="{FF2B5EF4-FFF2-40B4-BE49-F238E27FC236}">
                <a16:creationId xmlns:a16="http://schemas.microsoft.com/office/drawing/2014/main" id="{75A4084A-46D1-3E66-D472-E0CBB914AD92}"/>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 Box 1026">
            <a:extLst>
              <a:ext uri="{FF2B5EF4-FFF2-40B4-BE49-F238E27FC236}">
                <a16:creationId xmlns:a16="http://schemas.microsoft.com/office/drawing/2014/main" id="{4BD341EC-394A-BFA3-BC12-A2D67076AD11}"/>
              </a:ext>
            </a:extLst>
          </p:cNvPr>
          <p:cNvSpPr txBox="1">
            <a:spLocks noChangeArrowheads="1"/>
          </p:cNvSpPr>
          <p:nvPr/>
        </p:nvSpPr>
        <p:spPr bwMode="auto">
          <a:xfrm>
            <a:off x="1200026" y="1897047"/>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2</a:t>
            </a:r>
            <a:r>
              <a:rPr kumimoji="1" lang="zh-CN" altLang="en-US" sz="2200">
                <a:solidFill>
                  <a:srgbClr val="FF0000"/>
                </a:solidFill>
                <a:latin typeface="微软雅黑" pitchFamily="34" charset="-122"/>
                <a:ea typeface="微软雅黑" pitchFamily="34" charset="-122"/>
                <a:cs typeface="Times New Roman" pitchFamily="18" charset="0"/>
              </a:rPr>
              <a:t>、</a:t>
            </a:r>
            <a:r>
              <a:rPr kumimoji="1" lang="zh-CN" altLang="en-US" sz="2200">
                <a:solidFill>
                  <a:srgbClr val="FF0000"/>
                </a:solidFill>
                <a:latin typeface="微软雅黑" pitchFamily="34" charset="-122"/>
                <a:ea typeface="微软雅黑" pitchFamily="34" charset="-122"/>
                <a:cs typeface="Consolas" pitchFamily="49" charset="0"/>
              </a:rPr>
              <a:t>折半查找的扩展</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
        <p:nvSpPr>
          <p:cNvPr id="2" name="TextBox 12">
            <a:extLst>
              <a:ext uri="{FF2B5EF4-FFF2-40B4-BE49-F238E27FC236}">
                <a16:creationId xmlns:a16="http://schemas.microsoft.com/office/drawing/2014/main" id="{393CF55E-4630-A67F-FB21-E874EC14D1A7}"/>
              </a:ext>
            </a:extLst>
          </p:cNvPr>
          <p:cNvSpPr txBox="1"/>
          <p:nvPr/>
        </p:nvSpPr>
        <p:spPr>
          <a:xfrm>
            <a:off x="1631504" y="2485499"/>
            <a:ext cx="8072494" cy="204158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2800"/>
              </a:lnSpc>
              <a:spcBef>
                <a:spcPts val="600"/>
              </a:spcBef>
            </a:pPr>
            <a:r>
              <a:rPr lang="zh-CN" altLang="zh-CN" sz="2000">
                <a:solidFill>
                  <a:srgbClr val="3333FF"/>
                </a:solidFill>
                <a:latin typeface="Times New Roman" pitchFamily="18" charset="0"/>
                <a:ea typeface="楷体" pitchFamily="49" charset="-122"/>
                <a:cs typeface="Times New Roman" pitchFamily="18" charset="0"/>
              </a:rPr>
              <a:t>为此</a:t>
            </a:r>
            <a:r>
              <a:rPr lang="zh-CN" altLang="zh-CN" sz="2000">
                <a:solidFill>
                  <a:srgbClr val="FF0000"/>
                </a:solidFill>
                <a:latin typeface="Times New Roman" pitchFamily="18" charset="0"/>
                <a:ea typeface="楷体" pitchFamily="49" charset="-122"/>
                <a:cs typeface="Times New Roman" pitchFamily="18" charset="0"/>
              </a:rPr>
              <a:t>修改基本折半查找方法</a:t>
            </a:r>
            <a:r>
              <a:rPr lang="zh-CN" altLang="zh-CN" sz="2000">
                <a:solidFill>
                  <a:srgbClr val="3333FF"/>
                </a:solidFill>
                <a:latin typeface="Times New Roman" pitchFamily="18" charset="0"/>
                <a:ea typeface="楷体" pitchFamily="49" charset="-122"/>
                <a:cs typeface="Times New Roman" pitchFamily="18" charset="0"/>
              </a:rPr>
              <a:t>，设</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[low..high]</a:t>
            </a:r>
            <a:r>
              <a:rPr lang="zh-CN" altLang="zh-CN" sz="2000">
                <a:solidFill>
                  <a:srgbClr val="3333FF"/>
                </a:solidFill>
                <a:latin typeface="Times New Roman" pitchFamily="18" charset="0"/>
                <a:ea typeface="楷体" pitchFamily="49" charset="-122"/>
                <a:cs typeface="Times New Roman" pitchFamily="18" charset="0"/>
              </a:rPr>
              <a:t>是当前的查找区间，首先确定该区间的中点位置</a:t>
            </a:r>
            <a:r>
              <a:rPr lang="en-US" altLang="zh-CN" sz="2000">
                <a:solidFill>
                  <a:srgbClr val="3333FF"/>
                </a:solidFill>
                <a:latin typeface="Times New Roman" pitchFamily="18" charset="0"/>
                <a:ea typeface="楷体" pitchFamily="49" charset="-122"/>
                <a:cs typeface="Times New Roman" pitchFamily="18" charset="0"/>
              </a:rPr>
              <a:t>mid=</a:t>
            </a:r>
            <a:r>
              <a:rPr lang="en-US" altLang="zh-CN" sz="2000">
                <a:solidFill>
                  <a:srgbClr val="3333FF"/>
                </a:solidFill>
                <a:latin typeface="Times New Roman" pitchFamily="18" charset="0"/>
                <a:ea typeface="楷体" pitchFamily="49" charset="-122"/>
                <a:cs typeface="Times New Roman" pitchFamily="18" charset="0"/>
                <a:sym typeface="Symbol"/>
              </a:rPr>
              <a:t></a:t>
            </a:r>
            <a:r>
              <a:rPr lang="en-US" altLang="zh-CN" sz="2000">
                <a:solidFill>
                  <a:srgbClr val="3333FF"/>
                </a:solidFill>
                <a:latin typeface="Times New Roman" pitchFamily="18" charset="0"/>
                <a:ea typeface="楷体" pitchFamily="49" charset="-122"/>
                <a:cs typeface="Times New Roman" pitchFamily="18" charset="0"/>
              </a:rPr>
              <a:t>(low+high)/2</a:t>
            </a:r>
            <a:r>
              <a:rPr lang="en-US" altLang="zh-CN" sz="2000">
                <a:solidFill>
                  <a:srgbClr val="3333FF"/>
                </a:solidFill>
                <a:latin typeface="Times New Roman" pitchFamily="18" charset="0"/>
                <a:ea typeface="楷体" pitchFamily="49" charset="-122"/>
                <a:cs typeface="Times New Roman" pitchFamily="18" charset="0"/>
                <a:sym typeface="Symbol"/>
              </a:rPr>
              <a:t></a:t>
            </a:r>
            <a:r>
              <a:rPr lang="zh-CN" altLang="zh-CN" sz="2000">
                <a:solidFill>
                  <a:srgbClr val="3333FF"/>
                </a:solidFill>
                <a:latin typeface="Times New Roman" pitchFamily="18" charset="0"/>
                <a:ea typeface="楷体" pitchFamily="49" charset="-122"/>
                <a:cs typeface="Times New Roman" pitchFamily="18" charset="0"/>
              </a:rPr>
              <a:t>，然后将待查的</a:t>
            </a:r>
            <a:r>
              <a:rPr lang="en-US" altLang="zh-CN" sz="2000" i="1">
                <a:solidFill>
                  <a:srgbClr val="3333FF"/>
                </a:solidFill>
                <a:latin typeface="Times New Roman" pitchFamily="18" charset="0"/>
                <a:ea typeface="楷体" pitchFamily="49" charset="-122"/>
                <a:cs typeface="Times New Roman" pitchFamily="18" charset="0"/>
              </a:rPr>
              <a:t>k</a:t>
            </a:r>
            <a:r>
              <a:rPr lang="zh-CN" altLang="zh-CN" sz="2000">
                <a:solidFill>
                  <a:srgbClr val="3333FF"/>
                </a:solidFill>
                <a:latin typeface="Times New Roman" pitchFamily="18" charset="0"/>
                <a:ea typeface="楷体" pitchFamily="49" charset="-122"/>
                <a:cs typeface="Times New Roman" pitchFamily="18" charset="0"/>
              </a:rPr>
              <a:t>值与</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[mid].key</a:t>
            </a:r>
            <a:r>
              <a:rPr lang="zh-CN" altLang="zh-CN" sz="2000">
                <a:solidFill>
                  <a:srgbClr val="3333FF"/>
                </a:solidFill>
                <a:latin typeface="Times New Roman" pitchFamily="18" charset="0"/>
                <a:ea typeface="楷体" pitchFamily="49" charset="-122"/>
                <a:cs typeface="Times New Roman" pitchFamily="18" charset="0"/>
              </a:rPr>
              <a:t>比较：</a:t>
            </a:r>
          </a:p>
          <a:p>
            <a:pPr>
              <a:lnSpc>
                <a:spcPts val="2800"/>
              </a:lnSpc>
              <a:spcBef>
                <a:spcPts val="600"/>
              </a:spcBef>
            </a:pP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1</a:t>
            </a:r>
            <a:r>
              <a:rPr lang="zh-CN" altLang="zh-CN" sz="2000">
                <a:solidFill>
                  <a:srgbClr val="3333FF"/>
                </a:solidFill>
                <a:latin typeface="Times New Roman" pitchFamily="18" charset="0"/>
                <a:ea typeface="楷体" pitchFamily="49" charset="-122"/>
                <a:cs typeface="Times New Roman" pitchFamily="18" charset="0"/>
              </a:rPr>
              <a:t>）若</a:t>
            </a:r>
            <a:r>
              <a:rPr lang="en-US" altLang="zh-CN" sz="2000" i="1">
                <a:solidFill>
                  <a:srgbClr val="FF00FF"/>
                </a:solidFill>
                <a:latin typeface="Times New Roman" pitchFamily="18" charset="0"/>
                <a:ea typeface="楷体" pitchFamily="49" charset="-122"/>
                <a:cs typeface="Times New Roman" pitchFamily="18" charset="0"/>
              </a:rPr>
              <a:t>k</a:t>
            </a:r>
            <a:r>
              <a:rPr lang="zh-CN" altLang="zh-CN" sz="2000">
                <a:solidFill>
                  <a:srgbClr val="FF00FF"/>
                </a:solidFill>
                <a:latin typeface="+mj-ea"/>
                <a:ea typeface="+mj-ea"/>
                <a:cs typeface="Times New Roman" pitchFamily="18" charset="0"/>
              </a:rPr>
              <a:t>≤</a:t>
            </a:r>
            <a:r>
              <a:rPr lang="en-US" altLang="zh-CN" sz="2000" i="1">
                <a:solidFill>
                  <a:srgbClr val="FF00FF"/>
                </a:solidFill>
                <a:latin typeface="Times New Roman" pitchFamily="18" charset="0"/>
                <a:ea typeface="楷体" pitchFamily="49" charset="-122"/>
                <a:cs typeface="Times New Roman" pitchFamily="18" charset="0"/>
              </a:rPr>
              <a:t>R</a:t>
            </a:r>
            <a:r>
              <a:rPr lang="en-US" altLang="zh-CN" sz="2000">
                <a:solidFill>
                  <a:srgbClr val="FF00FF"/>
                </a:solidFill>
                <a:latin typeface="Times New Roman" pitchFamily="18" charset="0"/>
                <a:ea typeface="楷体" pitchFamily="49" charset="-122"/>
                <a:cs typeface="Times New Roman" pitchFamily="18" charset="0"/>
              </a:rPr>
              <a:t>[mid].key</a:t>
            </a:r>
            <a:r>
              <a:rPr lang="zh-CN" altLang="zh-CN" sz="2000">
                <a:solidFill>
                  <a:srgbClr val="3333FF"/>
                </a:solidFill>
                <a:latin typeface="Times New Roman" pitchFamily="18" charset="0"/>
                <a:ea typeface="楷体" pitchFamily="49" charset="-122"/>
                <a:cs typeface="Times New Roman" pitchFamily="18" charset="0"/>
              </a:rPr>
              <a:t>，修改新的查找区间为</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[low..mid-1]</a:t>
            </a:r>
            <a:r>
              <a:rPr lang="zh-CN" altLang="zh-CN" sz="2000">
                <a:solidFill>
                  <a:srgbClr val="3333FF"/>
                </a:solidFill>
                <a:latin typeface="Times New Roman" pitchFamily="18" charset="0"/>
                <a:ea typeface="楷体" pitchFamily="49" charset="-122"/>
                <a:cs typeface="Times New Roman" pitchFamily="18" charset="0"/>
              </a:rPr>
              <a:t>。</a:t>
            </a:r>
          </a:p>
          <a:p>
            <a:pPr>
              <a:lnSpc>
                <a:spcPts val="2800"/>
              </a:lnSpc>
              <a:spcBef>
                <a:spcPts val="600"/>
              </a:spcBef>
            </a:pPr>
            <a:r>
              <a:rPr lang="zh-CN" altLang="zh-CN" sz="2000">
                <a:solidFill>
                  <a:srgbClr val="3333FF"/>
                </a:solidFill>
                <a:latin typeface="Times New Roman" pitchFamily="18" charset="0"/>
                <a:ea typeface="楷体" pitchFamily="49" charset="-122"/>
                <a:cs typeface="Times New Roman" pitchFamily="18" charset="0"/>
              </a:rPr>
              <a:t>（</a:t>
            </a:r>
            <a:r>
              <a:rPr lang="en-US" altLang="zh-CN" sz="2000">
                <a:solidFill>
                  <a:srgbClr val="3333FF"/>
                </a:solidFill>
                <a:latin typeface="Times New Roman" pitchFamily="18" charset="0"/>
                <a:ea typeface="楷体" pitchFamily="49" charset="-122"/>
                <a:cs typeface="Times New Roman" pitchFamily="18" charset="0"/>
              </a:rPr>
              <a:t>2</a:t>
            </a:r>
            <a:r>
              <a:rPr lang="zh-CN" altLang="zh-CN" sz="2000">
                <a:solidFill>
                  <a:srgbClr val="3333FF"/>
                </a:solidFill>
                <a:latin typeface="Times New Roman" pitchFamily="18" charset="0"/>
                <a:ea typeface="楷体" pitchFamily="49" charset="-122"/>
                <a:cs typeface="Times New Roman" pitchFamily="18" charset="0"/>
              </a:rPr>
              <a:t>）若</a:t>
            </a:r>
            <a:r>
              <a:rPr lang="en-US" altLang="zh-CN" sz="2000" i="1">
                <a:solidFill>
                  <a:srgbClr val="FF00FF"/>
                </a:solidFill>
                <a:latin typeface="Times New Roman" pitchFamily="18" charset="0"/>
                <a:ea typeface="楷体" pitchFamily="49" charset="-122"/>
                <a:cs typeface="Times New Roman" pitchFamily="18" charset="0"/>
              </a:rPr>
              <a:t>k</a:t>
            </a:r>
            <a:r>
              <a:rPr lang="en-US" altLang="zh-CN" sz="2000">
                <a:solidFill>
                  <a:srgbClr val="FF00FF"/>
                </a:solidFill>
                <a:latin typeface="Times New Roman" pitchFamily="18" charset="0"/>
                <a:ea typeface="楷体" pitchFamily="49" charset="-122"/>
                <a:cs typeface="Times New Roman" pitchFamily="18" charset="0"/>
              </a:rPr>
              <a:t>&gt;R[mid].key </a:t>
            </a:r>
            <a:r>
              <a:rPr lang="zh-CN" altLang="zh-CN" sz="2000">
                <a:solidFill>
                  <a:srgbClr val="3333FF"/>
                </a:solidFill>
                <a:latin typeface="Times New Roman" pitchFamily="18" charset="0"/>
                <a:ea typeface="楷体" pitchFamily="49" charset="-122"/>
                <a:cs typeface="Times New Roman" pitchFamily="18" charset="0"/>
              </a:rPr>
              <a:t>，修改新的查找区间为</a:t>
            </a:r>
            <a:r>
              <a:rPr lang="en-US" altLang="zh-CN" sz="2000" i="1">
                <a:solidFill>
                  <a:srgbClr val="3333FF"/>
                </a:solidFill>
                <a:latin typeface="Times New Roman" pitchFamily="18" charset="0"/>
                <a:ea typeface="楷体" pitchFamily="49" charset="-122"/>
                <a:cs typeface="Times New Roman" pitchFamily="18" charset="0"/>
              </a:rPr>
              <a:t>R</a:t>
            </a:r>
            <a:r>
              <a:rPr lang="en-US" altLang="zh-CN" sz="2000">
                <a:solidFill>
                  <a:srgbClr val="3333FF"/>
                </a:solidFill>
                <a:latin typeface="Times New Roman" pitchFamily="18" charset="0"/>
                <a:ea typeface="楷体" pitchFamily="49" charset="-122"/>
                <a:cs typeface="Times New Roman" pitchFamily="18" charset="0"/>
              </a:rPr>
              <a:t>[mid+1..high]</a:t>
            </a:r>
            <a:r>
              <a:rPr lang="zh-CN" altLang="zh-CN" sz="2000">
                <a:solidFill>
                  <a:srgbClr val="3333FF"/>
                </a:solidFill>
                <a:latin typeface="Times New Roman" pitchFamily="18" charset="0"/>
                <a:ea typeface="楷体" pitchFamily="49" charset="-122"/>
                <a:cs typeface="Times New Roman" pitchFamily="18" charset="0"/>
              </a:rPr>
              <a:t>。</a:t>
            </a:r>
          </a:p>
        </p:txBody>
      </p:sp>
      <p:sp>
        <p:nvSpPr>
          <p:cNvPr id="6" name="TextBox 4">
            <a:extLst>
              <a:ext uri="{FF2B5EF4-FFF2-40B4-BE49-F238E27FC236}">
                <a16:creationId xmlns:a16="http://schemas.microsoft.com/office/drawing/2014/main" id="{FDF8F892-13C3-C2D4-26F1-8B77C77D5C6D}"/>
              </a:ext>
            </a:extLst>
          </p:cNvPr>
          <p:cNvSpPr txBox="1"/>
          <p:nvPr/>
        </p:nvSpPr>
        <p:spPr>
          <a:xfrm>
            <a:off x="1631504" y="5057267"/>
            <a:ext cx="8215370" cy="1682512"/>
          </a:xfrm>
          <a:prstGeom prst="rect">
            <a:avLst/>
          </a:prstGeom>
          <a:noFill/>
        </p:spPr>
        <p:txBody>
          <a:bodyPr wrap="square" rtlCol="0">
            <a:spAutoFit/>
          </a:bodyPr>
          <a:lstStyle/>
          <a:p>
            <a:pPr marL="457200" indent="-457200">
              <a:lnSpc>
                <a:spcPts val="2800"/>
              </a:lnSpc>
              <a:spcBef>
                <a:spcPts val="600"/>
              </a:spcBef>
              <a:buBlip>
                <a:blip r:embed="rId2"/>
              </a:buBlip>
            </a:pPr>
            <a:r>
              <a:rPr lang="zh-CN" altLang="zh-CN" sz="2000">
                <a:ea typeface="仿宋" pitchFamily="49" charset="-122"/>
                <a:cs typeface="Times New Roman" pitchFamily="18" charset="0"/>
              </a:rPr>
              <a:t>在比较相等时也需要向左逼近即在左区间</a:t>
            </a:r>
            <a:r>
              <a:rPr lang="en-US" altLang="zh-CN" sz="2000" i="1">
                <a:ea typeface="仿宋" pitchFamily="49" charset="-122"/>
                <a:cs typeface="Times New Roman" pitchFamily="18" charset="0"/>
              </a:rPr>
              <a:t>R</a:t>
            </a:r>
            <a:r>
              <a:rPr lang="en-US" altLang="zh-CN" sz="2000">
                <a:ea typeface="仿宋" pitchFamily="49" charset="-122"/>
                <a:cs typeface="Times New Roman" pitchFamily="18" charset="0"/>
              </a:rPr>
              <a:t>[low..mid-1]</a:t>
            </a:r>
            <a:r>
              <a:rPr lang="zh-CN" altLang="zh-CN" sz="2000">
                <a:ea typeface="仿宋" pitchFamily="49" charset="-122"/>
                <a:cs typeface="Times New Roman" pitchFamily="18" charset="0"/>
              </a:rPr>
              <a:t>中继续查找</a:t>
            </a:r>
            <a:r>
              <a:rPr lang="zh-CN" altLang="en-US" sz="2000">
                <a:ea typeface="仿宋" pitchFamily="49" charset="-122"/>
                <a:cs typeface="Times New Roman" pitchFamily="18" charset="0"/>
              </a:rPr>
              <a:t>。</a:t>
            </a:r>
            <a:endParaRPr lang="en-US" altLang="zh-CN" sz="2000">
              <a:ea typeface="仿宋" pitchFamily="49" charset="-122"/>
              <a:cs typeface="Times New Roman" pitchFamily="18" charset="0"/>
            </a:endParaRPr>
          </a:p>
          <a:p>
            <a:pPr marL="457200" indent="-457200">
              <a:lnSpc>
                <a:spcPts val="2800"/>
              </a:lnSpc>
              <a:spcBef>
                <a:spcPts val="600"/>
              </a:spcBef>
              <a:buBlip>
                <a:blip r:embed="rId2"/>
              </a:buBlip>
            </a:pPr>
            <a:r>
              <a:rPr lang="zh-CN" altLang="zh-CN" sz="2000">
                <a:ea typeface="仿宋" pitchFamily="49" charset="-122"/>
                <a:cs typeface="Times New Roman" pitchFamily="18" charset="0"/>
              </a:rPr>
              <a:t>这样的过程一直到查找区间</a:t>
            </a:r>
            <a:r>
              <a:rPr lang="en-US" altLang="zh-CN" sz="2000" i="1">
                <a:ea typeface="仿宋" pitchFamily="49" charset="-122"/>
                <a:cs typeface="Times New Roman" pitchFamily="18" charset="0"/>
              </a:rPr>
              <a:t>R</a:t>
            </a:r>
            <a:r>
              <a:rPr lang="en-US" altLang="zh-CN" sz="2000">
                <a:ea typeface="仿宋" pitchFamily="49" charset="-122"/>
                <a:cs typeface="Times New Roman" pitchFamily="18" charset="0"/>
              </a:rPr>
              <a:t>[low..high]</a:t>
            </a:r>
            <a:r>
              <a:rPr lang="zh-CN" altLang="zh-CN" sz="2000">
                <a:ea typeface="仿宋" pitchFamily="49" charset="-122"/>
                <a:cs typeface="Times New Roman" pitchFamily="18" charset="0"/>
              </a:rPr>
              <a:t>为空。</a:t>
            </a:r>
            <a:endParaRPr lang="en-US" altLang="zh-CN" sz="2000">
              <a:ea typeface="仿宋" pitchFamily="49" charset="-122"/>
              <a:cs typeface="Times New Roman" pitchFamily="18" charset="0"/>
            </a:endParaRPr>
          </a:p>
          <a:p>
            <a:pPr marL="457200" indent="-457200">
              <a:lnSpc>
                <a:spcPts val="2800"/>
              </a:lnSpc>
              <a:spcBef>
                <a:spcPts val="600"/>
              </a:spcBef>
              <a:buBlip>
                <a:blip r:embed="rId2"/>
              </a:buBlip>
            </a:pPr>
            <a:r>
              <a:rPr lang="zh-CN" altLang="zh-CN" sz="2000">
                <a:ea typeface="仿宋" pitchFamily="49" charset="-122"/>
                <a:cs typeface="Times New Roman" pitchFamily="18" charset="0"/>
              </a:rPr>
              <a:t>当</a:t>
            </a:r>
            <a:r>
              <a:rPr lang="en-US" altLang="zh-CN" sz="2000" i="1">
                <a:ea typeface="仿宋" pitchFamily="49" charset="-122"/>
                <a:cs typeface="Times New Roman" pitchFamily="18" charset="0"/>
              </a:rPr>
              <a:t>R</a:t>
            </a:r>
            <a:r>
              <a:rPr lang="en-US" altLang="zh-CN" sz="2000">
                <a:ea typeface="仿宋" pitchFamily="49" charset="-122"/>
                <a:cs typeface="Times New Roman" pitchFamily="18" charset="0"/>
              </a:rPr>
              <a:t>[low..high]</a:t>
            </a:r>
            <a:r>
              <a:rPr lang="zh-CN" altLang="zh-CN" sz="2000">
                <a:ea typeface="仿宋" pitchFamily="49" charset="-122"/>
                <a:cs typeface="Times New Roman" pitchFamily="18" charset="0"/>
              </a:rPr>
              <a:t>为空时有</a:t>
            </a:r>
            <a:r>
              <a:rPr lang="en-US" altLang="zh-CN" sz="2000">
                <a:ea typeface="仿宋" pitchFamily="49" charset="-122"/>
                <a:cs typeface="Times New Roman" pitchFamily="18" charset="0"/>
              </a:rPr>
              <a:t>low=high+1</a:t>
            </a:r>
            <a:r>
              <a:rPr lang="zh-CN" altLang="zh-CN" sz="2000">
                <a:ea typeface="仿宋" pitchFamily="49" charset="-122"/>
                <a:cs typeface="Times New Roman" pitchFamily="18" charset="0"/>
              </a:rPr>
              <a:t>，此时</a:t>
            </a:r>
            <a:r>
              <a:rPr lang="en-US" altLang="zh-CN" sz="2000" i="1">
                <a:solidFill>
                  <a:srgbClr val="FF0000"/>
                </a:solidFill>
                <a:ea typeface="仿宋" pitchFamily="49" charset="-122"/>
                <a:cs typeface="Times New Roman" pitchFamily="18" charset="0"/>
              </a:rPr>
              <a:t>R</a:t>
            </a:r>
            <a:r>
              <a:rPr lang="en-US" altLang="zh-CN" sz="2000">
                <a:solidFill>
                  <a:srgbClr val="FF0000"/>
                </a:solidFill>
                <a:ea typeface="仿宋" pitchFamily="49" charset="-122"/>
                <a:cs typeface="Times New Roman" pitchFamily="18" charset="0"/>
              </a:rPr>
              <a:t>[high+1]</a:t>
            </a:r>
            <a:r>
              <a:rPr lang="zh-CN" altLang="zh-CN" sz="2000">
                <a:ea typeface="仿宋" pitchFamily="49" charset="-122"/>
                <a:cs typeface="Times New Roman" pitchFamily="18" charset="0"/>
              </a:rPr>
              <a:t>或者</a:t>
            </a:r>
            <a:r>
              <a:rPr lang="en-US" altLang="zh-CN" sz="2000" i="1">
                <a:solidFill>
                  <a:srgbClr val="FF0000"/>
                </a:solidFill>
                <a:ea typeface="仿宋" pitchFamily="49" charset="-122"/>
                <a:cs typeface="Times New Roman" pitchFamily="18" charset="0"/>
              </a:rPr>
              <a:t>R</a:t>
            </a:r>
            <a:r>
              <a:rPr lang="en-US" altLang="zh-CN" sz="2000">
                <a:solidFill>
                  <a:srgbClr val="FF0000"/>
                </a:solidFill>
                <a:ea typeface="仿宋" pitchFamily="49" charset="-122"/>
                <a:cs typeface="Times New Roman" pitchFamily="18" charset="0"/>
              </a:rPr>
              <a:t>[low]</a:t>
            </a:r>
            <a:r>
              <a:rPr lang="zh-CN" altLang="zh-CN" sz="2000">
                <a:ea typeface="仿宋" pitchFamily="49" charset="-122"/>
                <a:cs typeface="Times New Roman" pitchFamily="18" charset="0"/>
              </a:rPr>
              <a:t>就是第一个大于等于</a:t>
            </a:r>
            <a:r>
              <a:rPr lang="en-US" altLang="zh-CN" sz="2000" i="1">
                <a:ea typeface="仿宋" pitchFamily="49" charset="-122"/>
                <a:cs typeface="Times New Roman" pitchFamily="18" charset="0"/>
              </a:rPr>
              <a:t>k</a:t>
            </a:r>
            <a:r>
              <a:rPr lang="zh-CN" altLang="zh-CN" sz="2000">
                <a:ea typeface="仿宋" pitchFamily="49" charset="-122"/>
                <a:cs typeface="Times New Roman" pitchFamily="18" charset="0"/>
              </a:rPr>
              <a:t>的元素。</a:t>
            </a:r>
            <a:endParaRPr lang="zh-CN" altLang="en-US" sz="2000">
              <a:ea typeface="仿宋" pitchFamily="49" charset="-122"/>
              <a:cs typeface="Times New Roman" pitchFamily="18" charset="0"/>
            </a:endParaRPr>
          </a:p>
        </p:txBody>
      </p:sp>
      <p:sp>
        <p:nvSpPr>
          <p:cNvPr id="8" name="上箭头 5">
            <a:extLst>
              <a:ext uri="{FF2B5EF4-FFF2-40B4-BE49-F238E27FC236}">
                <a16:creationId xmlns:a16="http://schemas.microsoft.com/office/drawing/2014/main" id="{5FD15CFD-024D-2D2F-8EB2-A58E226D2CB4}"/>
              </a:ext>
            </a:extLst>
          </p:cNvPr>
          <p:cNvSpPr/>
          <p:nvPr/>
        </p:nvSpPr>
        <p:spPr>
          <a:xfrm>
            <a:off x="4917652" y="4700077"/>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81551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93A2A-77B1-1B33-4013-104D7C3556D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1698C7C-6E12-2369-B742-BC271E78789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5" name="矩形 4">
            <a:extLst>
              <a:ext uri="{FF2B5EF4-FFF2-40B4-BE49-F238E27FC236}">
                <a16:creationId xmlns:a16="http://schemas.microsoft.com/office/drawing/2014/main" id="{75565AE1-AC85-819B-6D8C-2BFD6D9DE4D5}"/>
              </a:ext>
            </a:extLst>
          </p:cNvPr>
          <p:cNvSpPr/>
          <p:nvPr/>
        </p:nvSpPr>
        <p:spPr>
          <a:xfrm>
            <a:off x="255372" y="1152249"/>
            <a:ext cx="27442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9.2.2 </a:t>
            </a:r>
            <a:r>
              <a:rPr lang="zh-CN" altLang="en-US" sz="2800" b="1" dirty="0">
                <a:solidFill>
                  <a:schemeClr val="bg1"/>
                </a:solidFill>
                <a:latin typeface="经典粗黑简" pitchFamily="49" charset="-122"/>
                <a:ea typeface="经典粗黑简" pitchFamily="49" charset="-122"/>
                <a:cs typeface="经典粗黑简" pitchFamily="49" charset="-122"/>
              </a:rPr>
              <a:t>折半查找</a:t>
            </a:r>
          </a:p>
        </p:txBody>
      </p:sp>
      <p:cxnSp>
        <p:nvCxnSpPr>
          <p:cNvPr id="7" name="直接连接符 6">
            <a:extLst>
              <a:ext uri="{FF2B5EF4-FFF2-40B4-BE49-F238E27FC236}">
                <a16:creationId xmlns:a16="http://schemas.microsoft.com/office/drawing/2014/main" id="{6FBCD31D-56EF-36BE-8C59-007643D07925}"/>
              </a:ext>
            </a:extLst>
          </p:cNvPr>
          <p:cNvCxnSpPr>
            <a:cxnSpLocks/>
          </p:cNvCxnSpPr>
          <p:nvPr/>
        </p:nvCxnSpPr>
        <p:spPr>
          <a:xfrm>
            <a:off x="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 Box 1026">
            <a:extLst>
              <a:ext uri="{FF2B5EF4-FFF2-40B4-BE49-F238E27FC236}">
                <a16:creationId xmlns:a16="http://schemas.microsoft.com/office/drawing/2014/main" id="{E0EE2B3C-55E1-5788-D0ED-0BB9D3BC4897}"/>
              </a:ext>
            </a:extLst>
          </p:cNvPr>
          <p:cNvSpPr txBox="1">
            <a:spLocks noChangeArrowheads="1"/>
          </p:cNvSpPr>
          <p:nvPr/>
        </p:nvSpPr>
        <p:spPr bwMode="auto">
          <a:xfrm>
            <a:off x="1200026" y="1897047"/>
            <a:ext cx="2643206" cy="430887"/>
          </a:xfrm>
          <a:prstGeom prst="rect">
            <a:avLst/>
          </a:prstGeom>
          <a:solidFill>
            <a:srgbClr val="A9B3FD"/>
          </a:solidFill>
          <a:ln w="9525">
            <a:noFill/>
            <a:miter lim="800000"/>
            <a:headEnd/>
            <a:tailEnd/>
          </a:ln>
          <a:effectLst/>
        </p:spPr>
        <p:txBody>
          <a:bodyPr wrap="square">
            <a:spAutoFit/>
          </a:bodyPr>
          <a:lstStyle/>
          <a:p>
            <a:pPr algn="ctr">
              <a:spcBef>
                <a:spcPct val="50000"/>
              </a:spcBef>
            </a:pPr>
            <a:r>
              <a:rPr kumimoji="1" lang="en-US" altLang="zh-CN" sz="2200">
                <a:solidFill>
                  <a:srgbClr val="FF0000"/>
                </a:solidFill>
                <a:latin typeface="微软雅黑" pitchFamily="34" charset="-122"/>
                <a:ea typeface="微软雅黑" pitchFamily="34" charset="-122"/>
                <a:cs typeface="Times New Roman" pitchFamily="18" charset="0"/>
              </a:rPr>
              <a:t>2</a:t>
            </a:r>
            <a:r>
              <a:rPr kumimoji="1" lang="zh-CN" altLang="en-US" sz="2200">
                <a:solidFill>
                  <a:srgbClr val="FF0000"/>
                </a:solidFill>
                <a:latin typeface="微软雅黑" pitchFamily="34" charset="-122"/>
                <a:ea typeface="微软雅黑" pitchFamily="34" charset="-122"/>
                <a:cs typeface="Times New Roman" pitchFamily="18" charset="0"/>
              </a:rPr>
              <a:t>、</a:t>
            </a:r>
            <a:r>
              <a:rPr kumimoji="1" lang="zh-CN" altLang="en-US" sz="2200">
                <a:solidFill>
                  <a:srgbClr val="FF0000"/>
                </a:solidFill>
                <a:latin typeface="微软雅黑" pitchFamily="34" charset="-122"/>
                <a:ea typeface="微软雅黑" pitchFamily="34" charset="-122"/>
                <a:cs typeface="Consolas" pitchFamily="49" charset="0"/>
              </a:rPr>
              <a:t>折半查找的扩展</a:t>
            </a:r>
            <a:endParaRPr kumimoji="1" lang="zh-CN" altLang="en-US" sz="2200" dirty="0">
              <a:solidFill>
                <a:srgbClr val="FF0000"/>
              </a:solidFill>
              <a:latin typeface="微软雅黑" pitchFamily="34" charset="-122"/>
              <a:ea typeface="微软雅黑" pitchFamily="34" charset="-122"/>
              <a:cs typeface="Times New Roman" pitchFamily="18" charset="0"/>
            </a:endParaRPr>
          </a:p>
        </p:txBody>
      </p:sp>
      <p:sp>
        <p:nvSpPr>
          <p:cNvPr id="9" name="Text Box 12">
            <a:extLst>
              <a:ext uri="{FF2B5EF4-FFF2-40B4-BE49-F238E27FC236}">
                <a16:creationId xmlns:a16="http://schemas.microsoft.com/office/drawing/2014/main" id="{E7DC1581-03DE-B6A9-E0B2-F5FA4A17CA4D}"/>
              </a:ext>
            </a:extLst>
          </p:cNvPr>
          <p:cNvSpPr txBox="1">
            <a:spLocks noChangeArrowheads="1"/>
          </p:cNvSpPr>
          <p:nvPr/>
        </p:nvSpPr>
        <p:spPr bwMode="auto">
          <a:xfrm>
            <a:off x="1809720" y="2422136"/>
            <a:ext cx="8572560" cy="4034539"/>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spcBef>
                <a:spcPts val="600"/>
              </a:spcBef>
            </a:pPr>
            <a:r>
              <a:rPr lang="en-US" altLang="zh-CN" sz="1800">
                <a:solidFill>
                  <a:srgbClr val="3333FF"/>
                </a:solidFill>
                <a:latin typeface="Consolas" pitchFamily="49" charset="0"/>
                <a:ea typeface="仿宋" pitchFamily="49" charset="-122"/>
                <a:cs typeface="Consolas" pitchFamily="49" charset="0"/>
              </a:rPr>
              <a:t>int </a:t>
            </a:r>
            <a:r>
              <a:rPr lang="en-US" altLang="zh-CN" sz="1800">
                <a:solidFill>
                  <a:srgbClr val="FF0000"/>
                </a:solidFill>
                <a:latin typeface="Consolas" pitchFamily="49" charset="0"/>
                <a:ea typeface="仿宋" pitchFamily="49" charset="-122"/>
                <a:cs typeface="Consolas" pitchFamily="49" charset="0"/>
              </a:rPr>
              <a:t>BinSearch2</a:t>
            </a:r>
            <a:r>
              <a:rPr lang="en-US" altLang="zh-CN" sz="1800">
                <a:solidFill>
                  <a:srgbClr val="3333FF"/>
                </a:solidFill>
                <a:latin typeface="Consolas" pitchFamily="49" charset="0"/>
                <a:ea typeface="仿宋" pitchFamily="49" charset="-122"/>
                <a:cs typeface="Consolas" pitchFamily="49" charset="0"/>
              </a:rPr>
              <a:t>(RecType R[],int n,KeyType k)</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int low=0,high=n-1,mid;</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while (low&lt;=high)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查找区间有一个或者更多元素时</a:t>
            </a:r>
          </a:p>
          <a:p>
            <a:pPr>
              <a:spcBef>
                <a:spcPts val="600"/>
              </a:spcBef>
            </a:pPr>
            <a:r>
              <a:rPr lang="en-US" altLang="zh-CN" sz="1800">
                <a:solidFill>
                  <a:srgbClr val="3333FF"/>
                </a:solidFill>
                <a:latin typeface="Consolas" pitchFamily="49" charset="0"/>
                <a:ea typeface="仿宋" pitchFamily="49" charset="-122"/>
                <a:cs typeface="Consolas" pitchFamily="49" charset="0"/>
              </a:rPr>
              <a:t>    {  mid=(low+high)/2;</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if (k&lt;=R[mid].key)</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high=mid-1;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继续在左区间查找</a:t>
            </a:r>
          </a:p>
          <a:p>
            <a:pPr>
              <a:spcBef>
                <a:spcPts val="600"/>
              </a:spcBef>
            </a:pPr>
            <a:r>
              <a:rPr lang="en-US" altLang="zh-CN" sz="1800">
                <a:solidFill>
                  <a:srgbClr val="3333FF"/>
                </a:solidFill>
                <a:latin typeface="Consolas" pitchFamily="49" charset="0"/>
                <a:ea typeface="仿宋" pitchFamily="49" charset="-122"/>
                <a:cs typeface="Consolas" pitchFamily="49" charset="0"/>
              </a:rPr>
              <a:t>       else</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low=mid+1;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继续在右区间查找</a:t>
            </a:r>
          </a:p>
          <a:p>
            <a:pPr>
              <a:spcBef>
                <a:spcPts val="600"/>
              </a:spcBef>
            </a:pPr>
            <a:r>
              <a:rPr lang="en-US" altLang="zh-CN" sz="1800">
                <a:solidFill>
                  <a:srgbClr val="3333FF"/>
                </a:solidFill>
                <a:latin typeface="Consolas" pitchFamily="49" charset="0"/>
                <a:ea typeface="仿宋" pitchFamily="49" charset="-122"/>
                <a:cs typeface="Consolas" pitchFamily="49" charset="0"/>
              </a:rPr>
              <a:t>    }</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    return </a:t>
            </a:r>
            <a:r>
              <a:rPr lang="en-US" altLang="zh-CN" sz="1800">
                <a:solidFill>
                  <a:srgbClr val="FF00FF"/>
                </a:solidFill>
                <a:latin typeface="Consolas" pitchFamily="49" charset="0"/>
                <a:ea typeface="仿宋" pitchFamily="49" charset="-122"/>
                <a:cs typeface="Consolas" pitchFamily="49" charset="0"/>
              </a:rPr>
              <a:t>high+1</a:t>
            </a:r>
            <a:r>
              <a:rPr lang="en-US" altLang="zh-CN" sz="1800">
                <a:solidFill>
                  <a:srgbClr val="3333FF"/>
                </a:solidFill>
                <a:latin typeface="Consolas" pitchFamily="49" charset="0"/>
                <a:ea typeface="仿宋" pitchFamily="49" charset="-122"/>
                <a:cs typeface="Consolas" pitchFamily="49" charset="0"/>
              </a:rPr>
              <a:t>;</a:t>
            </a:r>
            <a:endParaRPr lang="zh-CN" altLang="zh-CN" sz="1800">
              <a:solidFill>
                <a:srgbClr val="3333FF"/>
              </a:solidFill>
              <a:latin typeface="Consolas" pitchFamily="49" charset="0"/>
              <a:ea typeface="仿宋" pitchFamily="49" charset="-122"/>
              <a:cs typeface="Consolas" pitchFamily="49" charset="0"/>
            </a:endParaRPr>
          </a:p>
          <a:p>
            <a:pPr>
              <a:spcBef>
                <a:spcPts val="600"/>
              </a:spcBef>
            </a:pPr>
            <a:r>
              <a:rPr lang="en-US" altLang="zh-CN" sz="1800">
                <a:solidFill>
                  <a:srgbClr val="3333FF"/>
                </a:solidFill>
                <a:latin typeface="Consolas" pitchFamily="49" charset="0"/>
                <a:ea typeface="仿宋" pitchFamily="49" charset="-122"/>
                <a:cs typeface="Consolas" pitchFamily="49" charset="0"/>
              </a:rPr>
              <a:t>}</a:t>
            </a:r>
            <a:endParaRPr lang="zh-CN" altLang="zh-CN" sz="1800">
              <a:solidFill>
                <a:srgbClr val="3333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41536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333E5E8-7C46-E795-7BD2-8D0244C270F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B0261CFC-3C8F-569A-2204-0CC97397A3C8}"/>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31BB39E1-BEEF-41C9-5502-4C27464E920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6">
            <a:extLst>
              <a:ext uri="{FF2B5EF4-FFF2-40B4-BE49-F238E27FC236}">
                <a16:creationId xmlns:a16="http://schemas.microsoft.com/office/drawing/2014/main" id="{CBB9575D-9248-E2FD-4ABF-1F87AF5C0961}"/>
              </a:ext>
            </a:extLst>
          </p:cNvPr>
          <p:cNvSpPr txBox="1">
            <a:spLocks noChangeArrowheads="1"/>
          </p:cNvSpPr>
          <p:nvPr/>
        </p:nvSpPr>
        <p:spPr bwMode="auto">
          <a:xfrm>
            <a:off x="1343472" y="2780928"/>
            <a:ext cx="5000660" cy="492443"/>
          </a:xfrm>
          <a:prstGeom prst="rect">
            <a:avLst/>
          </a:prstGeom>
          <a:noFill/>
          <a:ln w="9525">
            <a:noFill/>
            <a:miter lim="800000"/>
            <a:headEnd/>
            <a:tailEnd/>
          </a:ln>
          <a:effectLst/>
        </p:spPr>
        <p:txBody>
          <a:bodyPr wrap="square">
            <a:spAutoFit/>
          </a:bodyPr>
          <a:lstStyle/>
          <a:p>
            <a:pPr algn="l">
              <a:lnSpc>
                <a:spcPct val="140000"/>
              </a:lnSpc>
            </a:pPr>
            <a:r>
              <a:rPr lang="zh-CN" altLang="en-US" sz="2000">
                <a:latin typeface="华文中宋" pitchFamily="2" charset="-122"/>
                <a:ea typeface="华文中宋" pitchFamily="2" charset="-122"/>
                <a:cs typeface="Consolas" pitchFamily="49" charset="0"/>
              </a:rPr>
              <a:t>索引</a:t>
            </a:r>
            <a:r>
              <a:rPr lang="zh-CN" altLang="en-US" sz="2000" dirty="0">
                <a:latin typeface="华文中宋" pitchFamily="2" charset="-122"/>
                <a:ea typeface="华文中宋" pitchFamily="2" charset="-122"/>
                <a:cs typeface="Consolas" pitchFamily="49" charset="0"/>
              </a:rPr>
              <a:t>存储</a:t>
            </a:r>
            <a:r>
              <a:rPr lang="zh-CN" altLang="en-US" sz="2000">
                <a:latin typeface="华文中宋" pitchFamily="2" charset="-122"/>
                <a:ea typeface="华文中宋" pitchFamily="2" charset="-122"/>
                <a:cs typeface="Consolas" pitchFamily="49" charset="0"/>
              </a:rPr>
              <a:t>结构 </a:t>
            </a:r>
            <a:r>
              <a:rPr lang="en-US" altLang="zh-CN" sz="2000">
                <a:latin typeface="华文中宋" pitchFamily="2" charset="-122"/>
                <a:ea typeface="华文中宋" pitchFamily="2" charset="-122"/>
                <a:cs typeface="Consolas" pitchFamily="49" charset="0"/>
              </a:rPr>
              <a:t>= </a:t>
            </a:r>
            <a:r>
              <a:rPr lang="zh-CN" altLang="en-US" sz="2000">
                <a:latin typeface="华文中宋" pitchFamily="2" charset="-122"/>
                <a:ea typeface="华文中宋" pitchFamily="2" charset="-122"/>
                <a:cs typeface="Consolas" pitchFamily="49" charset="0"/>
              </a:rPr>
              <a:t>主数据表 </a:t>
            </a:r>
            <a:r>
              <a:rPr lang="en-US" altLang="zh-CN" sz="2000">
                <a:latin typeface="华文中宋" pitchFamily="2" charset="-122"/>
                <a:ea typeface="华文中宋" pitchFamily="2" charset="-122"/>
                <a:cs typeface="Consolas" pitchFamily="49" charset="0"/>
              </a:rPr>
              <a:t>+ </a:t>
            </a:r>
            <a:r>
              <a:rPr lang="zh-CN" altLang="en-US" sz="2000">
                <a:solidFill>
                  <a:srgbClr val="FF33CC"/>
                </a:solidFill>
                <a:latin typeface="华文中宋" pitchFamily="2" charset="-122"/>
                <a:ea typeface="华文中宋" pitchFamily="2" charset="-122"/>
                <a:cs typeface="Consolas" pitchFamily="49" charset="0"/>
              </a:rPr>
              <a:t>索引表</a:t>
            </a:r>
            <a:r>
              <a:rPr lang="zh-CN" altLang="en-US" sz="2000">
                <a:latin typeface="华文中宋" pitchFamily="2" charset="-122"/>
                <a:ea typeface="华文中宋" pitchFamily="2" charset="-122"/>
                <a:cs typeface="Consolas" pitchFamily="49" charset="0"/>
              </a:rPr>
              <a:t>      </a:t>
            </a:r>
            <a:endParaRPr lang="zh-CN" altLang="en-US" sz="2000" dirty="0">
              <a:latin typeface="华文中宋" pitchFamily="2" charset="-122"/>
              <a:ea typeface="华文中宋" pitchFamily="2" charset="-122"/>
              <a:cs typeface="Consolas" pitchFamily="49" charset="0"/>
            </a:endParaRPr>
          </a:p>
        </p:txBody>
      </p:sp>
      <p:sp>
        <p:nvSpPr>
          <p:cNvPr id="8" name="Text Box 6">
            <a:extLst>
              <a:ext uri="{FF2B5EF4-FFF2-40B4-BE49-F238E27FC236}">
                <a16:creationId xmlns:a16="http://schemas.microsoft.com/office/drawing/2014/main" id="{6313B1D6-C57B-FBE9-CD5A-99017D5ACDA7}"/>
              </a:ext>
            </a:extLst>
          </p:cNvPr>
          <p:cNvSpPr txBox="1">
            <a:spLocks noChangeArrowheads="1"/>
          </p:cNvSpPr>
          <p:nvPr/>
        </p:nvSpPr>
        <p:spPr bwMode="auto">
          <a:xfrm>
            <a:off x="954561" y="3423870"/>
            <a:ext cx="8247091" cy="1769587"/>
          </a:xfrm>
          <a:prstGeom prst="rect">
            <a:avLst/>
          </a:prstGeom>
          <a:noFill/>
          <a:ln w="9525">
            <a:noFill/>
            <a:miter lim="800000"/>
            <a:headEnd/>
            <a:tailEnd/>
          </a:ln>
          <a:effectLst/>
        </p:spPr>
        <p:txBody>
          <a:bodyPr wrap="square">
            <a:spAutoFit/>
          </a:bodyPr>
          <a:lstStyle/>
          <a:p>
            <a:pPr algn="l">
              <a:lnSpc>
                <a:spcPct val="140000"/>
              </a:lnSpc>
            </a:pPr>
            <a:r>
              <a:rPr lang="zh-CN" altLang="en-US" sz="2000" dirty="0">
                <a:latin typeface="Consolas" pitchFamily="49" charset="0"/>
                <a:ea typeface="仿宋" pitchFamily="49" charset="-122"/>
                <a:cs typeface="Consolas" pitchFamily="49" charset="0"/>
              </a:rPr>
              <a:t>   索引表中的每一项称为索引项，索引项的一般形式是：</a:t>
            </a:r>
          </a:p>
          <a:p>
            <a:pPr algn="l">
              <a:lnSpc>
                <a:spcPct val="140000"/>
              </a:lnSpc>
            </a:pPr>
            <a:r>
              <a:rPr lang="zh-CN" altLang="en-US" sz="2000" dirty="0">
                <a:latin typeface="Consolas" pitchFamily="49" charset="0"/>
                <a:ea typeface="仿宋" pitchFamily="49" charset="-122"/>
                <a:cs typeface="Consolas" pitchFamily="49" charset="0"/>
              </a:rPr>
              <a:t>      </a:t>
            </a:r>
            <a:r>
              <a:rPr lang="zh-CN" altLang="en-US" sz="2000" dirty="0">
                <a:solidFill>
                  <a:srgbClr val="CC00CC"/>
                </a:solidFill>
                <a:latin typeface="Consolas" pitchFamily="49" charset="0"/>
                <a:ea typeface="仿宋" pitchFamily="49" charset="-122"/>
                <a:cs typeface="Consolas" pitchFamily="49" charset="0"/>
              </a:rPr>
              <a:t>（关键字，地址）</a:t>
            </a:r>
          </a:p>
          <a:p>
            <a:pPr algn="l">
              <a:lnSpc>
                <a:spcPct val="140000"/>
              </a:lnSpc>
            </a:pPr>
            <a:r>
              <a:rPr lang="zh-CN" altLang="en-US" sz="2000" dirty="0">
                <a:latin typeface="Consolas" pitchFamily="49" charset="0"/>
                <a:ea typeface="仿宋" pitchFamily="49" charset="-122"/>
                <a:cs typeface="Consolas" pitchFamily="49" charset="0"/>
              </a:rPr>
              <a:t>   关键字唯一标识一个元素，地址作为指向该关键字对应元素的指针，也可以是相对地址。 </a:t>
            </a:r>
          </a:p>
        </p:txBody>
      </p:sp>
      <p:sp>
        <p:nvSpPr>
          <p:cNvPr id="16" name="文本框 15">
            <a:extLst>
              <a:ext uri="{FF2B5EF4-FFF2-40B4-BE49-F238E27FC236}">
                <a16:creationId xmlns:a16="http://schemas.microsoft.com/office/drawing/2014/main" id="{15D687F3-2DD3-3FE9-7A00-06AF64C7F2D9}"/>
              </a:ext>
            </a:extLst>
          </p:cNvPr>
          <p:cNvSpPr txBox="1"/>
          <p:nvPr/>
        </p:nvSpPr>
        <p:spPr>
          <a:xfrm>
            <a:off x="1127448" y="2050177"/>
            <a:ext cx="2520280" cy="430887"/>
          </a:xfrm>
          <a:prstGeom prst="rect">
            <a:avLst/>
          </a:prstGeom>
          <a:noFill/>
        </p:spPr>
        <p:txBody>
          <a:bodyPr wrap="square">
            <a:spAutoFit/>
          </a:bodyPr>
          <a:lstStyle/>
          <a:p>
            <a:pPr algn="ctr">
              <a:spcBef>
                <a:spcPct val="50000"/>
              </a:spcBef>
            </a:pPr>
            <a:r>
              <a:rPr kumimoji="1" lang="en-US" altLang="zh-CN" sz="2200" dirty="0">
                <a:latin typeface="微软雅黑" pitchFamily="34" charset="-122"/>
                <a:ea typeface="微软雅黑" pitchFamily="34" charset="-122"/>
                <a:cs typeface="经典粗黑简" pitchFamily="49" charset="-122"/>
              </a:rPr>
              <a:t>1</a:t>
            </a:r>
            <a:r>
              <a:rPr kumimoji="1" lang="zh-CN" altLang="en-US" sz="2200" dirty="0">
                <a:latin typeface="微软雅黑" pitchFamily="34" charset="-122"/>
                <a:ea typeface="微软雅黑" pitchFamily="34" charset="-122"/>
                <a:cs typeface="经典粗黑简" pitchFamily="49" charset="-122"/>
              </a:rPr>
              <a:t>、索引存储结构</a:t>
            </a:r>
          </a:p>
        </p:txBody>
      </p:sp>
    </p:spTree>
    <p:extLst>
      <p:ext uri="{BB962C8B-B14F-4D97-AF65-F5344CB8AC3E}">
        <p14:creationId xmlns:p14="http://schemas.microsoft.com/office/powerpoint/2010/main" val="12563553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ChangeArrowheads="1"/>
          </p:cNvSpPr>
          <p:nvPr/>
        </p:nvSpPr>
        <p:spPr bwMode="auto">
          <a:xfrm>
            <a:off x="2079022" y="2634431"/>
            <a:ext cx="2652464" cy="97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Wingdings" pitchFamily="2" charset="2"/>
              <a:buChar char="§"/>
            </a:pPr>
            <a:r>
              <a:rPr kumimoji="1" lang="zh-CN" altLang="en-US" sz="2400" dirty="0">
                <a:latin typeface="微软雅黑" pitchFamily="34" charset="-122"/>
                <a:ea typeface="微软雅黑" pitchFamily="34" charset="-122"/>
                <a:cs typeface="经典粗黑简" pitchFamily="49" charset="-122"/>
              </a:rPr>
              <a:t>元素分块有序</a:t>
            </a:r>
          </a:p>
          <a:p>
            <a:pPr marL="342900" indent="-342900">
              <a:spcBef>
                <a:spcPct val="20000"/>
              </a:spcBef>
              <a:buFont typeface="Wingdings" pitchFamily="2" charset="2"/>
              <a:buChar char="§"/>
            </a:pPr>
            <a:r>
              <a:rPr kumimoji="1" lang="zh-CN" altLang="en-US" sz="2400" dirty="0">
                <a:latin typeface="微软雅黑" pitchFamily="34" charset="-122"/>
                <a:ea typeface="微软雅黑" pitchFamily="34" charset="-122"/>
                <a:cs typeface="经典粗黑简" pitchFamily="49" charset="-122"/>
              </a:rPr>
              <a:t>建立索引表</a:t>
            </a:r>
          </a:p>
        </p:txBody>
      </p:sp>
      <p:sp>
        <p:nvSpPr>
          <p:cNvPr id="56324" name="Rectangle 4"/>
          <p:cNvSpPr>
            <a:spLocks noChangeArrowheads="1"/>
          </p:cNvSpPr>
          <p:nvPr/>
        </p:nvSpPr>
        <p:spPr bwMode="auto">
          <a:xfrm>
            <a:off x="31240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13</a:t>
            </a:r>
          </a:p>
        </p:txBody>
      </p:sp>
      <p:sp>
        <p:nvSpPr>
          <p:cNvPr id="56325" name="Rectangle 5"/>
          <p:cNvSpPr>
            <a:spLocks noChangeArrowheads="1"/>
          </p:cNvSpPr>
          <p:nvPr/>
        </p:nvSpPr>
        <p:spPr bwMode="auto">
          <a:xfrm>
            <a:off x="35812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8</a:t>
            </a:r>
          </a:p>
        </p:txBody>
      </p:sp>
      <p:sp>
        <p:nvSpPr>
          <p:cNvPr id="56326" name="Rectangle 6"/>
          <p:cNvSpPr>
            <a:spLocks noChangeArrowheads="1"/>
          </p:cNvSpPr>
          <p:nvPr/>
        </p:nvSpPr>
        <p:spPr bwMode="auto">
          <a:xfrm>
            <a:off x="40384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9</a:t>
            </a:r>
          </a:p>
        </p:txBody>
      </p:sp>
      <p:sp>
        <p:nvSpPr>
          <p:cNvPr id="56327" name="Rectangle 7"/>
          <p:cNvSpPr>
            <a:spLocks noChangeArrowheads="1"/>
          </p:cNvSpPr>
          <p:nvPr/>
        </p:nvSpPr>
        <p:spPr bwMode="auto">
          <a:xfrm>
            <a:off x="44956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20</a:t>
            </a:r>
          </a:p>
        </p:txBody>
      </p:sp>
      <p:sp>
        <p:nvSpPr>
          <p:cNvPr id="56328" name="Rectangle 8"/>
          <p:cNvSpPr>
            <a:spLocks noChangeArrowheads="1"/>
          </p:cNvSpPr>
          <p:nvPr/>
        </p:nvSpPr>
        <p:spPr bwMode="auto">
          <a:xfrm>
            <a:off x="49528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33</a:t>
            </a:r>
          </a:p>
        </p:txBody>
      </p:sp>
      <p:sp>
        <p:nvSpPr>
          <p:cNvPr id="56329" name="Rectangle 9"/>
          <p:cNvSpPr>
            <a:spLocks noChangeArrowheads="1"/>
          </p:cNvSpPr>
          <p:nvPr/>
        </p:nvSpPr>
        <p:spPr bwMode="auto">
          <a:xfrm>
            <a:off x="54100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42</a:t>
            </a:r>
          </a:p>
        </p:txBody>
      </p:sp>
      <p:sp>
        <p:nvSpPr>
          <p:cNvPr id="56330" name="Rectangle 10"/>
          <p:cNvSpPr>
            <a:spLocks noChangeArrowheads="1"/>
          </p:cNvSpPr>
          <p:nvPr/>
        </p:nvSpPr>
        <p:spPr bwMode="auto">
          <a:xfrm>
            <a:off x="58672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44</a:t>
            </a:r>
          </a:p>
        </p:txBody>
      </p:sp>
      <p:sp>
        <p:nvSpPr>
          <p:cNvPr id="56331" name="Rectangle 11"/>
          <p:cNvSpPr>
            <a:spLocks noChangeArrowheads="1"/>
          </p:cNvSpPr>
          <p:nvPr/>
        </p:nvSpPr>
        <p:spPr bwMode="auto">
          <a:xfrm>
            <a:off x="63244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38</a:t>
            </a:r>
          </a:p>
        </p:txBody>
      </p:sp>
      <p:sp>
        <p:nvSpPr>
          <p:cNvPr id="56332" name="Rectangle 12"/>
          <p:cNvSpPr>
            <a:spLocks noChangeArrowheads="1"/>
          </p:cNvSpPr>
          <p:nvPr/>
        </p:nvSpPr>
        <p:spPr bwMode="auto">
          <a:xfrm>
            <a:off x="67816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24</a:t>
            </a:r>
          </a:p>
        </p:txBody>
      </p:sp>
      <p:sp>
        <p:nvSpPr>
          <p:cNvPr id="56333" name="Rectangle 13"/>
          <p:cNvSpPr>
            <a:spLocks noChangeArrowheads="1"/>
          </p:cNvSpPr>
          <p:nvPr/>
        </p:nvSpPr>
        <p:spPr bwMode="auto">
          <a:xfrm>
            <a:off x="72388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48</a:t>
            </a:r>
          </a:p>
        </p:txBody>
      </p:sp>
      <p:sp>
        <p:nvSpPr>
          <p:cNvPr id="56334" name="Rectangle 14"/>
          <p:cNvSpPr>
            <a:spLocks noChangeArrowheads="1"/>
          </p:cNvSpPr>
          <p:nvPr/>
        </p:nvSpPr>
        <p:spPr bwMode="auto">
          <a:xfrm>
            <a:off x="76960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60</a:t>
            </a:r>
          </a:p>
        </p:txBody>
      </p:sp>
      <p:sp>
        <p:nvSpPr>
          <p:cNvPr id="56335" name="Rectangle 15"/>
          <p:cNvSpPr>
            <a:spLocks noChangeArrowheads="1"/>
          </p:cNvSpPr>
          <p:nvPr/>
        </p:nvSpPr>
        <p:spPr bwMode="auto">
          <a:xfrm>
            <a:off x="81532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58</a:t>
            </a:r>
          </a:p>
        </p:txBody>
      </p:sp>
      <p:sp>
        <p:nvSpPr>
          <p:cNvPr id="56336" name="Rectangle 16"/>
          <p:cNvSpPr>
            <a:spLocks noChangeArrowheads="1"/>
          </p:cNvSpPr>
          <p:nvPr/>
        </p:nvSpPr>
        <p:spPr bwMode="auto">
          <a:xfrm>
            <a:off x="86104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74</a:t>
            </a:r>
          </a:p>
        </p:txBody>
      </p:sp>
      <p:sp>
        <p:nvSpPr>
          <p:cNvPr id="56337" name="Rectangle 17"/>
          <p:cNvSpPr>
            <a:spLocks noChangeArrowheads="1"/>
          </p:cNvSpPr>
          <p:nvPr/>
        </p:nvSpPr>
        <p:spPr bwMode="auto">
          <a:xfrm>
            <a:off x="90676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49</a:t>
            </a:r>
          </a:p>
        </p:txBody>
      </p:sp>
      <p:sp>
        <p:nvSpPr>
          <p:cNvPr id="56338" name="Rectangle 18"/>
          <p:cNvSpPr>
            <a:spLocks noChangeArrowheads="1"/>
          </p:cNvSpPr>
          <p:nvPr/>
        </p:nvSpPr>
        <p:spPr bwMode="auto">
          <a:xfrm>
            <a:off x="95248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86</a:t>
            </a:r>
          </a:p>
        </p:txBody>
      </p:sp>
      <p:sp>
        <p:nvSpPr>
          <p:cNvPr id="56339" name="Rectangle 19"/>
          <p:cNvSpPr>
            <a:spLocks noChangeArrowheads="1"/>
          </p:cNvSpPr>
          <p:nvPr/>
        </p:nvSpPr>
        <p:spPr bwMode="auto">
          <a:xfrm>
            <a:off x="99820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53</a:t>
            </a:r>
          </a:p>
        </p:txBody>
      </p:sp>
      <p:sp>
        <p:nvSpPr>
          <p:cNvPr id="56340" name="Rectangle 20"/>
          <p:cNvSpPr>
            <a:spLocks noChangeArrowheads="1"/>
          </p:cNvSpPr>
          <p:nvPr/>
        </p:nvSpPr>
        <p:spPr bwMode="auto">
          <a:xfrm>
            <a:off x="22096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22</a:t>
            </a:r>
          </a:p>
        </p:txBody>
      </p:sp>
      <p:sp>
        <p:nvSpPr>
          <p:cNvPr id="56341" name="Rectangle 21"/>
          <p:cNvSpPr>
            <a:spLocks noChangeArrowheads="1"/>
          </p:cNvSpPr>
          <p:nvPr/>
        </p:nvSpPr>
        <p:spPr bwMode="auto">
          <a:xfrm>
            <a:off x="2666818" y="4258408"/>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12</a:t>
            </a:r>
          </a:p>
        </p:txBody>
      </p:sp>
      <p:grpSp>
        <p:nvGrpSpPr>
          <p:cNvPr id="2" name="Group 22"/>
          <p:cNvGrpSpPr>
            <a:grpSpLocks/>
          </p:cNvGrpSpPr>
          <p:nvPr/>
        </p:nvGrpSpPr>
        <p:grpSpPr bwMode="auto">
          <a:xfrm>
            <a:off x="2209618" y="4868008"/>
            <a:ext cx="2743200" cy="838200"/>
            <a:chOff x="336" y="3648"/>
            <a:chExt cx="1728" cy="528"/>
          </a:xfrm>
        </p:grpSpPr>
        <p:sp>
          <p:nvSpPr>
            <p:cNvPr id="56365" name="AutoShape 23"/>
            <p:cNvSpPr>
              <a:spLocks/>
            </p:cNvSpPr>
            <p:nvPr/>
          </p:nvSpPr>
          <p:spPr bwMode="auto">
            <a:xfrm rot="-5400000">
              <a:off x="1080" y="2904"/>
              <a:ext cx="240" cy="1728"/>
            </a:xfrm>
            <a:prstGeom prst="leftBrace">
              <a:avLst>
                <a:gd name="adj1" fmla="val 60000"/>
                <a:gd name="adj2" fmla="val 50000"/>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6" name="Text Box 24"/>
            <p:cNvSpPr txBox="1">
              <a:spLocks noChangeArrowheads="1"/>
            </p:cNvSpPr>
            <p:nvPr/>
          </p:nvSpPr>
          <p:spPr bwMode="auto">
            <a:xfrm>
              <a:off x="1008"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B1</a:t>
              </a:r>
            </a:p>
          </p:txBody>
        </p:sp>
      </p:grpSp>
      <p:grpSp>
        <p:nvGrpSpPr>
          <p:cNvPr id="3" name="Group 25"/>
          <p:cNvGrpSpPr>
            <a:grpSpLocks/>
          </p:cNvGrpSpPr>
          <p:nvPr/>
        </p:nvGrpSpPr>
        <p:grpSpPr bwMode="auto">
          <a:xfrm>
            <a:off x="4952818" y="4868008"/>
            <a:ext cx="2743200" cy="838200"/>
            <a:chOff x="2064" y="3648"/>
            <a:chExt cx="1728" cy="528"/>
          </a:xfrm>
        </p:grpSpPr>
        <p:sp>
          <p:nvSpPr>
            <p:cNvPr id="56363" name="AutoShape 26"/>
            <p:cNvSpPr>
              <a:spLocks/>
            </p:cNvSpPr>
            <p:nvPr/>
          </p:nvSpPr>
          <p:spPr bwMode="auto">
            <a:xfrm rot="-5400000">
              <a:off x="2808" y="2904"/>
              <a:ext cx="240" cy="1728"/>
            </a:xfrm>
            <a:prstGeom prst="leftBrace">
              <a:avLst>
                <a:gd name="adj1" fmla="val 60000"/>
                <a:gd name="adj2" fmla="val 50000"/>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4" name="Text Box 27"/>
            <p:cNvSpPr txBox="1">
              <a:spLocks noChangeArrowheads="1"/>
            </p:cNvSpPr>
            <p:nvPr/>
          </p:nvSpPr>
          <p:spPr bwMode="auto">
            <a:xfrm>
              <a:off x="2736"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B2</a:t>
              </a:r>
            </a:p>
          </p:txBody>
        </p:sp>
      </p:grpSp>
      <p:grpSp>
        <p:nvGrpSpPr>
          <p:cNvPr id="4" name="Group 28"/>
          <p:cNvGrpSpPr>
            <a:grpSpLocks/>
          </p:cNvGrpSpPr>
          <p:nvPr/>
        </p:nvGrpSpPr>
        <p:grpSpPr bwMode="auto">
          <a:xfrm>
            <a:off x="7696018" y="4868008"/>
            <a:ext cx="2743200" cy="838200"/>
            <a:chOff x="3792" y="3648"/>
            <a:chExt cx="1728" cy="528"/>
          </a:xfrm>
        </p:grpSpPr>
        <p:sp>
          <p:nvSpPr>
            <p:cNvPr id="56361" name="AutoShape 29"/>
            <p:cNvSpPr>
              <a:spLocks/>
            </p:cNvSpPr>
            <p:nvPr/>
          </p:nvSpPr>
          <p:spPr bwMode="auto">
            <a:xfrm rot="-5400000">
              <a:off x="4536" y="2904"/>
              <a:ext cx="240" cy="1728"/>
            </a:xfrm>
            <a:prstGeom prst="leftBrace">
              <a:avLst>
                <a:gd name="adj1" fmla="val 60000"/>
                <a:gd name="adj2" fmla="val 50000"/>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2" name="Text Box 30"/>
            <p:cNvSpPr txBox="1">
              <a:spLocks noChangeArrowheads="1"/>
            </p:cNvSpPr>
            <p:nvPr/>
          </p:nvSpPr>
          <p:spPr bwMode="auto">
            <a:xfrm>
              <a:off x="4464"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B3</a:t>
              </a:r>
            </a:p>
          </p:txBody>
        </p:sp>
      </p:grpSp>
      <p:grpSp>
        <p:nvGrpSpPr>
          <p:cNvPr id="5" name="Group 31"/>
          <p:cNvGrpSpPr>
            <a:grpSpLocks/>
          </p:cNvGrpSpPr>
          <p:nvPr/>
        </p:nvGrpSpPr>
        <p:grpSpPr bwMode="auto">
          <a:xfrm>
            <a:off x="5638618" y="2429608"/>
            <a:ext cx="457200" cy="914400"/>
            <a:chOff x="2496" y="2112"/>
            <a:chExt cx="288" cy="576"/>
          </a:xfrm>
        </p:grpSpPr>
        <p:sp>
          <p:nvSpPr>
            <p:cNvPr id="56359" name="Rectangle 32"/>
            <p:cNvSpPr>
              <a:spLocks noChangeArrowheads="1"/>
            </p:cNvSpPr>
            <p:nvPr/>
          </p:nvSpPr>
          <p:spPr bwMode="auto">
            <a:xfrm>
              <a:off x="2496"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22</a:t>
              </a:r>
            </a:p>
          </p:txBody>
        </p:sp>
        <p:sp>
          <p:nvSpPr>
            <p:cNvPr id="56360" name="Rectangle 33"/>
            <p:cNvSpPr>
              <a:spLocks noChangeArrowheads="1"/>
            </p:cNvSpPr>
            <p:nvPr/>
          </p:nvSpPr>
          <p:spPr bwMode="auto">
            <a:xfrm>
              <a:off x="2496"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1</a:t>
              </a:r>
            </a:p>
          </p:txBody>
        </p:sp>
      </p:grpSp>
      <p:grpSp>
        <p:nvGrpSpPr>
          <p:cNvPr id="6" name="Group 34"/>
          <p:cNvGrpSpPr>
            <a:grpSpLocks/>
          </p:cNvGrpSpPr>
          <p:nvPr/>
        </p:nvGrpSpPr>
        <p:grpSpPr bwMode="auto">
          <a:xfrm>
            <a:off x="6095818" y="2429608"/>
            <a:ext cx="457200" cy="914400"/>
            <a:chOff x="2784" y="2112"/>
            <a:chExt cx="288" cy="576"/>
          </a:xfrm>
        </p:grpSpPr>
        <p:sp>
          <p:nvSpPr>
            <p:cNvPr id="56357" name="Rectangle 35"/>
            <p:cNvSpPr>
              <a:spLocks noChangeArrowheads="1"/>
            </p:cNvSpPr>
            <p:nvPr/>
          </p:nvSpPr>
          <p:spPr bwMode="auto">
            <a:xfrm>
              <a:off x="2784"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48</a:t>
              </a:r>
            </a:p>
          </p:txBody>
        </p:sp>
        <p:sp>
          <p:nvSpPr>
            <p:cNvPr id="56358" name="Rectangle 36"/>
            <p:cNvSpPr>
              <a:spLocks noChangeArrowheads="1"/>
            </p:cNvSpPr>
            <p:nvPr/>
          </p:nvSpPr>
          <p:spPr bwMode="auto">
            <a:xfrm>
              <a:off x="2784"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7</a:t>
              </a:r>
            </a:p>
          </p:txBody>
        </p:sp>
      </p:grpSp>
      <p:grpSp>
        <p:nvGrpSpPr>
          <p:cNvPr id="7" name="Group 37"/>
          <p:cNvGrpSpPr>
            <a:grpSpLocks/>
          </p:cNvGrpSpPr>
          <p:nvPr/>
        </p:nvGrpSpPr>
        <p:grpSpPr bwMode="auto">
          <a:xfrm>
            <a:off x="6553018" y="2429608"/>
            <a:ext cx="457200" cy="914400"/>
            <a:chOff x="3072" y="2112"/>
            <a:chExt cx="288" cy="576"/>
          </a:xfrm>
        </p:grpSpPr>
        <p:sp>
          <p:nvSpPr>
            <p:cNvPr id="56355" name="Rectangle 38"/>
            <p:cNvSpPr>
              <a:spLocks noChangeArrowheads="1"/>
            </p:cNvSpPr>
            <p:nvPr/>
          </p:nvSpPr>
          <p:spPr bwMode="auto">
            <a:xfrm>
              <a:off x="3072"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86</a:t>
              </a:r>
            </a:p>
          </p:txBody>
        </p:sp>
        <p:sp>
          <p:nvSpPr>
            <p:cNvPr id="56356" name="Rectangle 39"/>
            <p:cNvSpPr>
              <a:spLocks noChangeArrowheads="1"/>
            </p:cNvSpPr>
            <p:nvPr/>
          </p:nvSpPr>
          <p:spPr bwMode="auto">
            <a:xfrm>
              <a:off x="3072"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13</a:t>
              </a:r>
            </a:p>
          </p:txBody>
        </p:sp>
      </p:grpSp>
      <p:sp>
        <p:nvSpPr>
          <p:cNvPr id="191528" name="Line 40"/>
          <p:cNvSpPr>
            <a:spLocks noChangeShapeType="1"/>
          </p:cNvSpPr>
          <p:nvPr/>
        </p:nvSpPr>
        <p:spPr bwMode="auto">
          <a:xfrm flipH="1">
            <a:off x="2438218" y="3344008"/>
            <a:ext cx="34290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1529" name="Line 41"/>
          <p:cNvSpPr>
            <a:spLocks noChangeShapeType="1"/>
          </p:cNvSpPr>
          <p:nvPr/>
        </p:nvSpPr>
        <p:spPr bwMode="auto">
          <a:xfrm flipH="1">
            <a:off x="5181418" y="3344008"/>
            <a:ext cx="11430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1530" name="Line 42"/>
          <p:cNvSpPr>
            <a:spLocks noChangeShapeType="1"/>
          </p:cNvSpPr>
          <p:nvPr/>
        </p:nvSpPr>
        <p:spPr bwMode="auto">
          <a:xfrm>
            <a:off x="6781618" y="3344008"/>
            <a:ext cx="12192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 name="Group 43"/>
          <p:cNvGrpSpPr>
            <a:grpSpLocks/>
          </p:cNvGrpSpPr>
          <p:nvPr/>
        </p:nvGrpSpPr>
        <p:grpSpPr bwMode="auto">
          <a:xfrm>
            <a:off x="7010218" y="2429608"/>
            <a:ext cx="1676400" cy="1068388"/>
            <a:chOff x="3360" y="2112"/>
            <a:chExt cx="1056" cy="673"/>
          </a:xfrm>
        </p:grpSpPr>
        <p:sp>
          <p:nvSpPr>
            <p:cNvPr id="56353" name="Text Box 44"/>
            <p:cNvSpPr txBox="1">
              <a:spLocks noChangeArrowheads="1"/>
            </p:cNvSpPr>
            <p:nvPr/>
          </p:nvSpPr>
          <p:spPr bwMode="auto">
            <a:xfrm>
              <a:off x="3360" y="2112"/>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a:latin typeface="Tahoma" pitchFamily="34" charset="0"/>
                  <a:ea typeface="宋体" pitchFamily="2" charset="-122"/>
                </a:rPr>
                <a:t>最大关键字</a:t>
              </a:r>
            </a:p>
          </p:txBody>
        </p:sp>
        <p:sp>
          <p:nvSpPr>
            <p:cNvPr id="56354" name="Text Box 45"/>
            <p:cNvSpPr txBox="1">
              <a:spLocks noChangeArrowheads="1"/>
            </p:cNvSpPr>
            <p:nvPr/>
          </p:nvSpPr>
          <p:spPr bwMode="auto">
            <a:xfrm>
              <a:off x="3360" y="2400"/>
              <a:ext cx="816"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a:latin typeface="Tahoma" pitchFamily="34" charset="0"/>
                  <a:ea typeface="宋体" pitchFamily="2" charset="-122"/>
                </a:rPr>
                <a:t>起始地址</a:t>
              </a:r>
              <a:r>
                <a:rPr kumimoji="1" lang="en-US" altLang="zh-CN" sz="1600">
                  <a:latin typeface="Tahoma" pitchFamily="34" charset="0"/>
                  <a:ea typeface="宋体" pitchFamily="2" charset="-122"/>
                </a:rPr>
                <a:t>(</a:t>
              </a:r>
              <a:r>
                <a:rPr kumimoji="1" lang="zh-CN" altLang="en-US" sz="1600">
                  <a:latin typeface="Tahoma" pitchFamily="34" charset="0"/>
                  <a:ea typeface="宋体" pitchFamily="2" charset="-122"/>
                </a:rPr>
                <a:t>下标</a:t>
              </a:r>
              <a:r>
                <a:rPr kumimoji="1" lang="en-US" altLang="zh-CN" sz="1600">
                  <a:latin typeface="Tahoma" pitchFamily="34" charset="0"/>
                  <a:ea typeface="宋体" pitchFamily="2" charset="-122"/>
                </a:rPr>
                <a:t>)</a:t>
              </a:r>
            </a:p>
          </p:txBody>
        </p:sp>
      </p:grpSp>
      <p:sp>
        <p:nvSpPr>
          <p:cNvPr id="191534" name="Text Box 46"/>
          <p:cNvSpPr txBox="1">
            <a:spLocks noChangeArrowheads="1"/>
          </p:cNvSpPr>
          <p:nvPr/>
        </p:nvSpPr>
        <p:spPr bwMode="auto">
          <a:xfrm>
            <a:off x="5791018" y="1972408"/>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索引表</a:t>
            </a:r>
          </a:p>
        </p:txBody>
      </p:sp>
      <p:sp>
        <p:nvSpPr>
          <p:cNvPr id="9" name="矩形 8">
            <a:extLst>
              <a:ext uri="{FF2B5EF4-FFF2-40B4-BE49-F238E27FC236}">
                <a16:creationId xmlns:a16="http://schemas.microsoft.com/office/drawing/2014/main" id="{AFBE53BC-CF1D-696B-D4D5-24D7E682B67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10" name="矩形 9">
            <a:extLst>
              <a:ext uri="{FF2B5EF4-FFF2-40B4-BE49-F238E27FC236}">
                <a16:creationId xmlns:a16="http://schemas.microsoft.com/office/drawing/2014/main" id="{EA1A7FAD-54A9-0992-A6CD-318F1AC11AE9}"/>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11" name="直接连接符 10">
            <a:extLst>
              <a:ext uri="{FF2B5EF4-FFF2-40B4-BE49-F238E27FC236}">
                <a16:creationId xmlns:a16="http://schemas.microsoft.com/office/drawing/2014/main" id="{E6B5D866-7220-DE54-AE7C-132E1D5B95C8}"/>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3D7440AB-15BE-FE7F-4614-B0500AA02C1B}"/>
              </a:ext>
            </a:extLst>
          </p:cNvPr>
          <p:cNvSpPr txBox="1"/>
          <p:nvPr/>
        </p:nvSpPr>
        <p:spPr>
          <a:xfrm>
            <a:off x="1127448" y="2050177"/>
            <a:ext cx="2520280" cy="430887"/>
          </a:xfrm>
          <a:prstGeom prst="rect">
            <a:avLst/>
          </a:prstGeom>
          <a:noFill/>
        </p:spPr>
        <p:txBody>
          <a:bodyPr wrap="square">
            <a:spAutoFit/>
          </a:bodyPr>
          <a:lstStyle/>
          <a:p>
            <a:pPr algn="ctr">
              <a:spcBef>
                <a:spcPct val="50000"/>
              </a:spcBef>
            </a:pPr>
            <a:r>
              <a:rPr kumimoji="1" lang="en-US" altLang="zh-CN" sz="2200" dirty="0">
                <a:latin typeface="微软雅黑" pitchFamily="34" charset="-122"/>
                <a:ea typeface="微软雅黑" pitchFamily="34" charset="-122"/>
                <a:cs typeface="经典粗黑简" pitchFamily="49" charset="-122"/>
              </a:rPr>
              <a:t>1</a:t>
            </a:r>
            <a:r>
              <a:rPr kumimoji="1" lang="zh-CN" altLang="en-US" sz="2200" dirty="0">
                <a:latin typeface="微软雅黑" pitchFamily="34" charset="-122"/>
                <a:ea typeface="微软雅黑" pitchFamily="34" charset="-122"/>
                <a:cs typeface="经典粗黑简" pitchFamily="49" charset="-122"/>
              </a:rPr>
              <a:t>、索引存储结构</a:t>
            </a:r>
          </a:p>
        </p:txBody>
      </p:sp>
    </p:spTree>
    <p:extLst>
      <p:ext uri="{BB962C8B-B14F-4D97-AF65-F5344CB8AC3E}">
        <p14:creationId xmlns:p14="http://schemas.microsoft.com/office/powerpoint/2010/main" val="23597397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91528"/>
                                        </p:tgtEl>
                                        <p:attrNameLst>
                                          <p:attrName>style.visibility</p:attrName>
                                        </p:attrNameLst>
                                      </p:cBhvr>
                                      <p:to>
                                        <p:strVal val="visible"/>
                                      </p:to>
                                    </p:set>
                                    <p:animEffect transition="in" filter="wipe(up)">
                                      <p:cBhvr>
                                        <p:cTn id="27" dur="500"/>
                                        <p:tgtEl>
                                          <p:spTgt spid="1915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91529"/>
                                        </p:tgtEl>
                                        <p:attrNameLst>
                                          <p:attrName>style.visibility</p:attrName>
                                        </p:attrNameLst>
                                      </p:cBhvr>
                                      <p:to>
                                        <p:strVal val="visible"/>
                                      </p:to>
                                    </p:set>
                                    <p:animEffect transition="in" filter="wipe(up)">
                                      <p:cBhvr>
                                        <p:cTn id="37" dur="500"/>
                                        <p:tgtEl>
                                          <p:spTgt spid="1915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91530"/>
                                        </p:tgtEl>
                                        <p:attrNameLst>
                                          <p:attrName>style.visibility</p:attrName>
                                        </p:attrNameLst>
                                      </p:cBhvr>
                                      <p:to>
                                        <p:strVal val="visible"/>
                                      </p:to>
                                    </p:set>
                                    <p:animEffect transition="in" filter="wipe(up)">
                                      <p:cBhvr>
                                        <p:cTn id="47" dur="500"/>
                                        <p:tgtEl>
                                          <p:spTgt spid="1915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1534"/>
                                        </p:tgtEl>
                                        <p:attrNameLst>
                                          <p:attrName>style.visibility</p:attrName>
                                        </p:attrNameLst>
                                      </p:cBhvr>
                                      <p:to>
                                        <p:strVal val="visible"/>
                                      </p:to>
                                    </p:set>
                                    <p:animEffect transition="in" filter="wipe(left)">
                                      <p:cBhvr>
                                        <p:cTn id="52" dur="500"/>
                                        <p:tgtEl>
                                          <p:spTgt spid="1915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28" grpId="0" animBg="1"/>
      <p:bldP spid="191529" grpId="0" animBg="1"/>
      <p:bldP spid="191530" grpId="0" animBg="1"/>
      <p:bldP spid="19153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BBDA7-2CC3-A7E9-3907-B7682597C8AF}"/>
            </a:ext>
          </a:extLst>
        </p:cNvPr>
        <p:cNvGrpSpPr/>
        <p:nvPr/>
      </p:nvGrpSpPr>
      <p:grpSpPr>
        <a:xfrm>
          <a:off x="0" y="0"/>
          <a:ext cx="0" cy="0"/>
          <a:chOff x="0" y="0"/>
          <a:chExt cx="0" cy="0"/>
        </a:xfrm>
      </p:grpSpPr>
      <p:sp>
        <p:nvSpPr>
          <p:cNvPr id="55" name="矩形 54">
            <a:extLst>
              <a:ext uri="{FF2B5EF4-FFF2-40B4-BE49-F238E27FC236}">
                <a16:creationId xmlns:a16="http://schemas.microsoft.com/office/drawing/2014/main" id="{6A57D405-511D-410B-7C24-CA7B03CF4279}"/>
              </a:ext>
            </a:extLst>
          </p:cNvPr>
          <p:cNvSpPr/>
          <p:nvPr/>
        </p:nvSpPr>
        <p:spPr>
          <a:xfrm>
            <a:off x="1199456" y="1905401"/>
            <a:ext cx="1760418" cy="430887"/>
          </a:xfrm>
          <a:prstGeom prst="rect">
            <a:avLst/>
          </a:prstGeom>
        </p:spPr>
        <p:txBody>
          <a:bodyPr wrap="none">
            <a:spAutoFit/>
          </a:bodyPr>
          <a:lstStyle/>
          <a:p>
            <a:r>
              <a:rPr kumimoji="1" lang="en-US" altLang="zh-CN" sz="2200" dirty="0">
                <a:latin typeface="微软雅黑" pitchFamily="34" charset="-122"/>
                <a:ea typeface="微软雅黑" pitchFamily="34" charset="-122"/>
                <a:cs typeface="经典粗黑简" pitchFamily="49" charset="-122"/>
              </a:rPr>
              <a:t>2</a:t>
            </a:r>
            <a:r>
              <a:rPr kumimoji="1" lang="zh-CN" altLang="en-US" sz="2200" dirty="0">
                <a:latin typeface="微软雅黑" pitchFamily="34" charset="-122"/>
                <a:ea typeface="微软雅黑" pitchFamily="34" charset="-122"/>
                <a:cs typeface="经典粗黑简" pitchFamily="49" charset="-122"/>
              </a:rPr>
              <a:t>、分块查找</a:t>
            </a:r>
          </a:p>
        </p:txBody>
      </p:sp>
      <p:sp>
        <p:nvSpPr>
          <p:cNvPr id="9" name="矩形 8">
            <a:extLst>
              <a:ext uri="{FF2B5EF4-FFF2-40B4-BE49-F238E27FC236}">
                <a16:creationId xmlns:a16="http://schemas.microsoft.com/office/drawing/2014/main" id="{AA67F6D5-61B2-2C81-E9FB-0614E4D740A1}"/>
              </a:ext>
            </a:extLst>
          </p:cNvPr>
          <p:cNvSpPr/>
          <p:nvPr/>
        </p:nvSpPr>
        <p:spPr>
          <a:xfrm>
            <a:off x="1631504" y="2528793"/>
            <a:ext cx="7704856" cy="1015663"/>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生活中这种利用索引查找单词的方法可以运用于数据表的查找，称之为分块查找，或称为分块索引查找，该方法适用于对关键字分块有序的查找表进行查找操作。</a:t>
            </a:r>
          </a:p>
        </p:txBody>
      </p:sp>
      <p:sp>
        <p:nvSpPr>
          <p:cNvPr id="10" name="矩形 9">
            <a:extLst>
              <a:ext uri="{FF2B5EF4-FFF2-40B4-BE49-F238E27FC236}">
                <a16:creationId xmlns:a16="http://schemas.microsoft.com/office/drawing/2014/main" id="{4666D500-5FD3-6C02-5255-6C76343134E9}"/>
              </a:ext>
            </a:extLst>
          </p:cNvPr>
          <p:cNvSpPr/>
          <p:nvPr/>
        </p:nvSpPr>
        <p:spPr>
          <a:xfrm>
            <a:off x="1703512" y="3736962"/>
            <a:ext cx="7704856" cy="1015663"/>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所谓分块有序是指查找表可按关键字大小分成若干子表（或称块），且前一块中的最大关键字小于后一块中的最小关键字，但是各块内部的关键字不一定有序。</a:t>
            </a:r>
            <a:endParaRPr kumimoji="1" lang="en-US" altLang="zh-CN" sz="2000" dirty="0">
              <a:latin typeface="微软雅黑" pitchFamily="34" charset="-122"/>
              <a:ea typeface="微软雅黑" pitchFamily="34" charset="-122"/>
              <a:cs typeface="经典粗黑简" pitchFamily="49" charset="-122"/>
            </a:endParaRPr>
          </a:p>
        </p:txBody>
      </p:sp>
      <p:sp>
        <p:nvSpPr>
          <p:cNvPr id="11" name="矩形 10">
            <a:extLst>
              <a:ext uri="{FF2B5EF4-FFF2-40B4-BE49-F238E27FC236}">
                <a16:creationId xmlns:a16="http://schemas.microsoft.com/office/drawing/2014/main" id="{BEFE36B1-7CF4-25BE-6FD2-C6F2CF3E1703}"/>
              </a:ext>
            </a:extLst>
          </p:cNvPr>
          <p:cNvSpPr/>
          <p:nvPr/>
        </p:nvSpPr>
        <p:spPr>
          <a:xfrm>
            <a:off x="1703512" y="4889089"/>
            <a:ext cx="7560840" cy="923330"/>
          </a:xfrm>
          <a:prstGeom prst="rect">
            <a:avLst/>
          </a:prstGeom>
        </p:spPr>
        <p:txBody>
          <a:bodyPr wrap="square">
            <a:spAutoFit/>
          </a:bodyPr>
          <a:lstStyle/>
          <a:p>
            <a:pPr>
              <a:defRPr/>
            </a:pPr>
            <a:r>
              <a:rPr kumimoji="1" lang="zh-CN" altLang="en-US" dirty="0">
                <a:latin typeface="微软雅黑" pitchFamily="34" charset="-122"/>
                <a:ea typeface="微软雅黑" pitchFamily="34" charset="-122"/>
                <a:cs typeface="经典粗黑简" pitchFamily="49" charset="-122"/>
              </a:rPr>
              <a:t>分块查找需对子表建立索引表，查找表的每一个子表由索引表中的索引项确定。索引项包括两个字段：关键字字段（存放对应子表中的最大关键字值）和指针字段（存放子表的起始序号）。</a:t>
            </a:r>
          </a:p>
        </p:txBody>
      </p:sp>
      <p:sp>
        <p:nvSpPr>
          <p:cNvPr id="3" name="矩形 2">
            <a:extLst>
              <a:ext uri="{FF2B5EF4-FFF2-40B4-BE49-F238E27FC236}">
                <a16:creationId xmlns:a16="http://schemas.microsoft.com/office/drawing/2014/main" id="{ABED450C-B542-5CF1-A9EF-3038B5DD683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34E160B6-B804-FFAE-846C-FB70FFACAF3E}"/>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1FBB65B8-F7D5-0762-66E2-327185EFF014}"/>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181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3"/>
          <p:cNvSpPr>
            <a:spLocks noChangeArrowheads="1"/>
          </p:cNvSpPr>
          <p:nvPr/>
        </p:nvSpPr>
        <p:spPr bwMode="auto">
          <a:xfrm>
            <a:off x="2350274" y="2308921"/>
            <a:ext cx="6248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kumimoji="1" lang="zh-CN" altLang="en-US" sz="2000" dirty="0">
                <a:latin typeface="微软雅黑" pitchFamily="34" charset="-122"/>
                <a:ea typeface="微软雅黑" pitchFamily="34" charset="-122"/>
                <a:cs typeface="经典粗黑简" pitchFamily="49" charset="-122"/>
              </a:rPr>
              <a:t>在索引顺序表中查找指定元素时，分两步：</a:t>
            </a:r>
          </a:p>
          <a:p>
            <a:pPr marL="742950" lvl="1" indent="-285750">
              <a:spcBef>
                <a:spcPct val="20000"/>
              </a:spcBef>
              <a:buFont typeface="Wingdings" pitchFamily="2" charset="2"/>
              <a:buChar char="Ø"/>
            </a:pPr>
            <a:r>
              <a:rPr kumimoji="1" lang="zh-CN" altLang="en-US" sz="2000" dirty="0">
                <a:latin typeface="微软雅黑" pitchFamily="34" charset="-122"/>
                <a:ea typeface="微软雅黑" pitchFamily="34" charset="-122"/>
                <a:cs typeface="经典粗黑简" pitchFamily="49" charset="-122"/>
              </a:rPr>
              <a:t>先在索引表中确定元素所在的块；</a:t>
            </a:r>
          </a:p>
          <a:p>
            <a:pPr marL="742950" lvl="1" indent="-285750">
              <a:spcBef>
                <a:spcPct val="20000"/>
              </a:spcBef>
              <a:buFont typeface="Wingdings" pitchFamily="2" charset="2"/>
              <a:buChar char="Ø"/>
            </a:pPr>
            <a:r>
              <a:rPr kumimoji="1" lang="zh-CN" altLang="en-US" sz="2000" dirty="0">
                <a:latin typeface="微软雅黑" pitchFamily="34" charset="-122"/>
                <a:ea typeface="微软雅黑" pitchFamily="34" charset="-122"/>
                <a:cs typeface="经典粗黑简" pitchFamily="49" charset="-122"/>
              </a:rPr>
              <a:t>再在块中顺序查找；</a:t>
            </a:r>
          </a:p>
        </p:txBody>
      </p:sp>
      <p:sp>
        <p:nvSpPr>
          <p:cNvPr id="57348" name="Rectangle 4"/>
          <p:cNvSpPr>
            <a:spLocks noChangeArrowheads="1"/>
          </p:cNvSpPr>
          <p:nvPr/>
        </p:nvSpPr>
        <p:spPr bwMode="auto">
          <a:xfrm>
            <a:off x="29598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13</a:t>
            </a:r>
          </a:p>
        </p:txBody>
      </p:sp>
      <p:sp>
        <p:nvSpPr>
          <p:cNvPr id="57349" name="Rectangle 5"/>
          <p:cNvSpPr>
            <a:spLocks noChangeArrowheads="1"/>
          </p:cNvSpPr>
          <p:nvPr/>
        </p:nvSpPr>
        <p:spPr bwMode="auto">
          <a:xfrm>
            <a:off x="34170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8</a:t>
            </a:r>
          </a:p>
        </p:txBody>
      </p:sp>
      <p:sp>
        <p:nvSpPr>
          <p:cNvPr id="57350" name="Rectangle 6"/>
          <p:cNvSpPr>
            <a:spLocks noChangeArrowheads="1"/>
          </p:cNvSpPr>
          <p:nvPr/>
        </p:nvSpPr>
        <p:spPr bwMode="auto">
          <a:xfrm>
            <a:off x="38742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9</a:t>
            </a:r>
          </a:p>
        </p:txBody>
      </p:sp>
      <p:sp>
        <p:nvSpPr>
          <p:cNvPr id="57351" name="Rectangle 7"/>
          <p:cNvSpPr>
            <a:spLocks noChangeArrowheads="1"/>
          </p:cNvSpPr>
          <p:nvPr/>
        </p:nvSpPr>
        <p:spPr bwMode="auto">
          <a:xfrm>
            <a:off x="43314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20</a:t>
            </a:r>
          </a:p>
        </p:txBody>
      </p:sp>
      <p:sp>
        <p:nvSpPr>
          <p:cNvPr id="57352" name="Rectangle 8"/>
          <p:cNvSpPr>
            <a:spLocks noChangeArrowheads="1"/>
          </p:cNvSpPr>
          <p:nvPr/>
        </p:nvSpPr>
        <p:spPr bwMode="auto">
          <a:xfrm>
            <a:off x="47886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33</a:t>
            </a:r>
          </a:p>
        </p:txBody>
      </p:sp>
      <p:sp>
        <p:nvSpPr>
          <p:cNvPr id="57353" name="Rectangle 9"/>
          <p:cNvSpPr>
            <a:spLocks noChangeArrowheads="1"/>
          </p:cNvSpPr>
          <p:nvPr/>
        </p:nvSpPr>
        <p:spPr bwMode="auto">
          <a:xfrm>
            <a:off x="52458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42</a:t>
            </a:r>
          </a:p>
        </p:txBody>
      </p:sp>
      <p:sp>
        <p:nvSpPr>
          <p:cNvPr id="57354" name="Rectangle 10"/>
          <p:cNvSpPr>
            <a:spLocks noChangeArrowheads="1"/>
          </p:cNvSpPr>
          <p:nvPr/>
        </p:nvSpPr>
        <p:spPr bwMode="auto">
          <a:xfrm>
            <a:off x="57030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44</a:t>
            </a:r>
          </a:p>
        </p:txBody>
      </p:sp>
      <p:sp>
        <p:nvSpPr>
          <p:cNvPr id="57355" name="Rectangle 11"/>
          <p:cNvSpPr>
            <a:spLocks noChangeArrowheads="1"/>
          </p:cNvSpPr>
          <p:nvPr/>
        </p:nvSpPr>
        <p:spPr bwMode="auto">
          <a:xfrm>
            <a:off x="61602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38</a:t>
            </a:r>
          </a:p>
        </p:txBody>
      </p:sp>
      <p:sp>
        <p:nvSpPr>
          <p:cNvPr id="57356" name="Rectangle 12"/>
          <p:cNvSpPr>
            <a:spLocks noChangeArrowheads="1"/>
          </p:cNvSpPr>
          <p:nvPr/>
        </p:nvSpPr>
        <p:spPr bwMode="auto">
          <a:xfrm>
            <a:off x="66174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24</a:t>
            </a:r>
          </a:p>
        </p:txBody>
      </p:sp>
      <p:sp>
        <p:nvSpPr>
          <p:cNvPr id="57357" name="Rectangle 13"/>
          <p:cNvSpPr>
            <a:spLocks noChangeArrowheads="1"/>
          </p:cNvSpPr>
          <p:nvPr/>
        </p:nvSpPr>
        <p:spPr bwMode="auto">
          <a:xfrm>
            <a:off x="70746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48</a:t>
            </a:r>
          </a:p>
        </p:txBody>
      </p:sp>
      <p:sp>
        <p:nvSpPr>
          <p:cNvPr id="57358" name="Rectangle 14"/>
          <p:cNvSpPr>
            <a:spLocks noChangeArrowheads="1"/>
          </p:cNvSpPr>
          <p:nvPr/>
        </p:nvSpPr>
        <p:spPr bwMode="auto">
          <a:xfrm>
            <a:off x="75318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60</a:t>
            </a:r>
          </a:p>
        </p:txBody>
      </p:sp>
      <p:sp>
        <p:nvSpPr>
          <p:cNvPr id="57359" name="Rectangle 15"/>
          <p:cNvSpPr>
            <a:spLocks noChangeArrowheads="1"/>
          </p:cNvSpPr>
          <p:nvPr/>
        </p:nvSpPr>
        <p:spPr bwMode="auto">
          <a:xfrm>
            <a:off x="79890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58</a:t>
            </a:r>
          </a:p>
        </p:txBody>
      </p:sp>
      <p:sp>
        <p:nvSpPr>
          <p:cNvPr id="57360" name="Rectangle 16"/>
          <p:cNvSpPr>
            <a:spLocks noChangeArrowheads="1"/>
          </p:cNvSpPr>
          <p:nvPr/>
        </p:nvSpPr>
        <p:spPr bwMode="auto">
          <a:xfrm>
            <a:off x="84462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74</a:t>
            </a:r>
          </a:p>
        </p:txBody>
      </p:sp>
      <p:sp>
        <p:nvSpPr>
          <p:cNvPr id="57361" name="Rectangle 17"/>
          <p:cNvSpPr>
            <a:spLocks noChangeArrowheads="1"/>
          </p:cNvSpPr>
          <p:nvPr/>
        </p:nvSpPr>
        <p:spPr bwMode="auto">
          <a:xfrm>
            <a:off x="89034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49</a:t>
            </a:r>
          </a:p>
        </p:txBody>
      </p:sp>
      <p:sp>
        <p:nvSpPr>
          <p:cNvPr id="57362" name="Rectangle 18"/>
          <p:cNvSpPr>
            <a:spLocks noChangeArrowheads="1"/>
          </p:cNvSpPr>
          <p:nvPr/>
        </p:nvSpPr>
        <p:spPr bwMode="auto">
          <a:xfrm>
            <a:off x="93606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86</a:t>
            </a:r>
          </a:p>
        </p:txBody>
      </p:sp>
      <p:sp>
        <p:nvSpPr>
          <p:cNvPr id="57363" name="Rectangle 19"/>
          <p:cNvSpPr>
            <a:spLocks noChangeArrowheads="1"/>
          </p:cNvSpPr>
          <p:nvPr/>
        </p:nvSpPr>
        <p:spPr bwMode="auto">
          <a:xfrm>
            <a:off x="98178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53</a:t>
            </a:r>
          </a:p>
        </p:txBody>
      </p:sp>
      <p:sp>
        <p:nvSpPr>
          <p:cNvPr id="57364" name="Rectangle 20"/>
          <p:cNvSpPr>
            <a:spLocks noChangeArrowheads="1"/>
          </p:cNvSpPr>
          <p:nvPr/>
        </p:nvSpPr>
        <p:spPr bwMode="auto">
          <a:xfrm>
            <a:off x="20454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22</a:t>
            </a:r>
          </a:p>
        </p:txBody>
      </p:sp>
      <p:sp>
        <p:nvSpPr>
          <p:cNvPr id="57365" name="Rectangle 21"/>
          <p:cNvSpPr>
            <a:spLocks noChangeArrowheads="1"/>
          </p:cNvSpPr>
          <p:nvPr/>
        </p:nvSpPr>
        <p:spPr bwMode="auto">
          <a:xfrm>
            <a:off x="2502674" y="53576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a:latin typeface="Times New Roman" pitchFamily="18" charset="0"/>
                <a:ea typeface="宋体" pitchFamily="2" charset="-122"/>
              </a:rPr>
              <a:t>12</a:t>
            </a:r>
          </a:p>
        </p:txBody>
      </p:sp>
      <p:grpSp>
        <p:nvGrpSpPr>
          <p:cNvPr id="57366" name="Group 22"/>
          <p:cNvGrpSpPr>
            <a:grpSpLocks/>
          </p:cNvGrpSpPr>
          <p:nvPr/>
        </p:nvGrpSpPr>
        <p:grpSpPr bwMode="auto">
          <a:xfrm>
            <a:off x="2045474" y="5967265"/>
            <a:ext cx="2743200" cy="838200"/>
            <a:chOff x="336" y="3648"/>
            <a:chExt cx="1728" cy="528"/>
          </a:xfrm>
        </p:grpSpPr>
        <p:sp>
          <p:nvSpPr>
            <p:cNvPr id="57389" name="AutoShape 23"/>
            <p:cNvSpPr>
              <a:spLocks/>
            </p:cNvSpPr>
            <p:nvPr/>
          </p:nvSpPr>
          <p:spPr bwMode="auto">
            <a:xfrm rot="-5400000">
              <a:off x="1080" y="2904"/>
              <a:ext cx="240" cy="1728"/>
            </a:xfrm>
            <a:prstGeom prst="leftBrace">
              <a:avLst>
                <a:gd name="adj1" fmla="val 60000"/>
                <a:gd name="adj2" fmla="val 50000"/>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90" name="Text Box 24"/>
            <p:cNvSpPr txBox="1">
              <a:spLocks noChangeArrowheads="1"/>
            </p:cNvSpPr>
            <p:nvPr/>
          </p:nvSpPr>
          <p:spPr bwMode="auto">
            <a:xfrm>
              <a:off x="1008"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B1</a:t>
              </a:r>
            </a:p>
          </p:txBody>
        </p:sp>
      </p:grpSp>
      <p:grpSp>
        <p:nvGrpSpPr>
          <p:cNvPr id="57367" name="Group 25"/>
          <p:cNvGrpSpPr>
            <a:grpSpLocks/>
          </p:cNvGrpSpPr>
          <p:nvPr/>
        </p:nvGrpSpPr>
        <p:grpSpPr bwMode="auto">
          <a:xfrm>
            <a:off x="4788674" y="5967265"/>
            <a:ext cx="2743200" cy="838200"/>
            <a:chOff x="2064" y="3648"/>
            <a:chExt cx="1728" cy="528"/>
          </a:xfrm>
        </p:grpSpPr>
        <p:sp>
          <p:nvSpPr>
            <p:cNvPr id="57387" name="AutoShape 26"/>
            <p:cNvSpPr>
              <a:spLocks/>
            </p:cNvSpPr>
            <p:nvPr/>
          </p:nvSpPr>
          <p:spPr bwMode="auto">
            <a:xfrm rot="-5400000">
              <a:off x="2808" y="2904"/>
              <a:ext cx="240" cy="1728"/>
            </a:xfrm>
            <a:prstGeom prst="leftBrace">
              <a:avLst>
                <a:gd name="adj1" fmla="val 60000"/>
                <a:gd name="adj2" fmla="val 50000"/>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88" name="Text Box 27"/>
            <p:cNvSpPr txBox="1">
              <a:spLocks noChangeArrowheads="1"/>
            </p:cNvSpPr>
            <p:nvPr/>
          </p:nvSpPr>
          <p:spPr bwMode="auto">
            <a:xfrm>
              <a:off x="2736"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B2</a:t>
              </a:r>
            </a:p>
          </p:txBody>
        </p:sp>
      </p:grpSp>
      <p:grpSp>
        <p:nvGrpSpPr>
          <p:cNvPr id="57368" name="Group 28"/>
          <p:cNvGrpSpPr>
            <a:grpSpLocks/>
          </p:cNvGrpSpPr>
          <p:nvPr/>
        </p:nvGrpSpPr>
        <p:grpSpPr bwMode="auto">
          <a:xfrm>
            <a:off x="7531874" y="5967265"/>
            <a:ext cx="2743200" cy="838200"/>
            <a:chOff x="3792" y="3648"/>
            <a:chExt cx="1728" cy="528"/>
          </a:xfrm>
        </p:grpSpPr>
        <p:sp>
          <p:nvSpPr>
            <p:cNvPr id="57385" name="AutoShape 29"/>
            <p:cNvSpPr>
              <a:spLocks/>
            </p:cNvSpPr>
            <p:nvPr/>
          </p:nvSpPr>
          <p:spPr bwMode="auto">
            <a:xfrm rot="-5400000">
              <a:off x="4536" y="2904"/>
              <a:ext cx="240" cy="1728"/>
            </a:xfrm>
            <a:prstGeom prst="leftBrace">
              <a:avLst>
                <a:gd name="adj1" fmla="val 60000"/>
                <a:gd name="adj2" fmla="val 50000"/>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86" name="Text Box 30"/>
            <p:cNvSpPr txBox="1">
              <a:spLocks noChangeArrowheads="1"/>
            </p:cNvSpPr>
            <p:nvPr/>
          </p:nvSpPr>
          <p:spPr bwMode="auto">
            <a:xfrm>
              <a:off x="4464"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a:latin typeface="Tahoma" pitchFamily="34" charset="0"/>
                  <a:ea typeface="宋体" pitchFamily="2" charset="-122"/>
                </a:rPr>
                <a:t>B3</a:t>
              </a:r>
            </a:p>
          </p:txBody>
        </p:sp>
      </p:grpSp>
      <p:grpSp>
        <p:nvGrpSpPr>
          <p:cNvPr id="57369" name="Group 31"/>
          <p:cNvGrpSpPr>
            <a:grpSpLocks/>
          </p:cNvGrpSpPr>
          <p:nvPr/>
        </p:nvGrpSpPr>
        <p:grpSpPr bwMode="auto">
          <a:xfrm>
            <a:off x="5474474" y="3528865"/>
            <a:ext cx="457200" cy="914400"/>
            <a:chOff x="2496" y="2112"/>
            <a:chExt cx="288" cy="576"/>
          </a:xfrm>
        </p:grpSpPr>
        <p:sp>
          <p:nvSpPr>
            <p:cNvPr id="57383" name="Rectangle 32"/>
            <p:cNvSpPr>
              <a:spLocks noChangeArrowheads="1"/>
            </p:cNvSpPr>
            <p:nvPr/>
          </p:nvSpPr>
          <p:spPr bwMode="auto">
            <a:xfrm>
              <a:off x="2496"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22</a:t>
              </a:r>
            </a:p>
          </p:txBody>
        </p:sp>
        <p:sp>
          <p:nvSpPr>
            <p:cNvPr id="57384" name="Rectangle 33"/>
            <p:cNvSpPr>
              <a:spLocks noChangeArrowheads="1"/>
            </p:cNvSpPr>
            <p:nvPr/>
          </p:nvSpPr>
          <p:spPr bwMode="auto">
            <a:xfrm>
              <a:off x="2496"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1</a:t>
              </a:r>
            </a:p>
          </p:txBody>
        </p:sp>
      </p:grpSp>
      <p:grpSp>
        <p:nvGrpSpPr>
          <p:cNvPr id="57370" name="Group 34"/>
          <p:cNvGrpSpPr>
            <a:grpSpLocks/>
          </p:cNvGrpSpPr>
          <p:nvPr/>
        </p:nvGrpSpPr>
        <p:grpSpPr bwMode="auto">
          <a:xfrm>
            <a:off x="5931674" y="3528865"/>
            <a:ext cx="457200" cy="914400"/>
            <a:chOff x="2784" y="2112"/>
            <a:chExt cx="288" cy="576"/>
          </a:xfrm>
        </p:grpSpPr>
        <p:sp>
          <p:nvSpPr>
            <p:cNvPr id="57381" name="Rectangle 35"/>
            <p:cNvSpPr>
              <a:spLocks noChangeArrowheads="1"/>
            </p:cNvSpPr>
            <p:nvPr/>
          </p:nvSpPr>
          <p:spPr bwMode="auto">
            <a:xfrm>
              <a:off x="2784"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48</a:t>
              </a:r>
            </a:p>
          </p:txBody>
        </p:sp>
        <p:sp>
          <p:nvSpPr>
            <p:cNvPr id="57382" name="Rectangle 36"/>
            <p:cNvSpPr>
              <a:spLocks noChangeArrowheads="1"/>
            </p:cNvSpPr>
            <p:nvPr/>
          </p:nvSpPr>
          <p:spPr bwMode="auto">
            <a:xfrm>
              <a:off x="2784"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7</a:t>
              </a:r>
            </a:p>
          </p:txBody>
        </p:sp>
      </p:grpSp>
      <p:grpSp>
        <p:nvGrpSpPr>
          <p:cNvPr id="57371" name="Group 37"/>
          <p:cNvGrpSpPr>
            <a:grpSpLocks/>
          </p:cNvGrpSpPr>
          <p:nvPr/>
        </p:nvGrpSpPr>
        <p:grpSpPr bwMode="auto">
          <a:xfrm>
            <a:off x="6388874" y="3528865"/>
            <a:ext cx="457200" cy="914400"/>
            <a:chOff x="3072" y="2112"/>
            <a:chExt cx="288" cy="576"/>
          </a:xfrm>
        </p:grpSpPr>
        <p:sp>
          <p:nvSpPr>
            <p:cNvPr id="57379" name="Rectangle 38"/>
            <p:cNvSpPr>
              <a:spLocks noChangeArrowheads="1"/>
            </p:cNvSpPr>
            <p:nvPr/>
          </p:nvSpPr>
          <p:spPr bwMode="auto">
            <a:xfrm>
              <a:off x="3072" y="2112"/>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rgbClr val="CC3300"/>
                  </a:solidFill>
                  <a:latin typeface="Times New Roman" pitchFamily="18" charset="0"/>
                  <a:ea typeface="宋体" pitchFamily="2" charset="-122"/>
                </a:rPr>
                <a:t>86</a:t>
              </a:r>
            </a:p>
          </p:txBody>
        </p:sp>
        <p:sp>
          <p:nvSpPr>
            <p:cNvPr id="57380" name="Rectangle 39"/>
            <p:cNvSpPr>
              <a:spLocks noChangeArrowheads="1"/>
            </p:cNvSpPr>
            <p:nvPr/>
          </p:nvSpPr>
          <p:spPr bwMode="auto">
            <a:xfrm>
              <a:off x="3072" y="240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spcBef>
                  <a:spcPct val="20000"/>
                </a:spcBef>
                <a:buFont typeface="Wingdings" pitchFamily="2" charset="2"/>
                <a:buNone/>
              </a:pPr>
              <a:r>
                <a:rPr kumimoji="1" lang="en-US" altLang="zh-CN" sz="2400" b="1">
                  <a:solidFill>
                    <a:schemeClr val="folHlink"/>
                  </a:solidFill>
                  <a:latin typeface="Times New Roman" pitchFamily="18" charset="0"/>
                  <a:ea typeface="宋体" pitchFamily="2" charset="-122"/>
                </a:rPr>
                <a:t>13</a:t>
              </a:r>
            </a:p>
          </p:txBody>
        </p:sp>
      </p:grpSp>
      <p:sp>
        <p:nvSpPr>
          <p:cNvPr id="57372" name="Line 40"/>
          <p:cNvSpPr>
            <a:spLocks noChangeShapeType="1"/>
          </p:cNvSpPr>
          <p:nvPr/>
        </p:nvSpPr>
        <p:spPr bwMode="auto">
          <a:xfrm flipH="1">
            <a:off x="2274074" y="4443265"/>
            <a:ext cx="34290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7373" name="Line 41"/>
          <p:cNvSpPr>
            <a:spLocks noChangeShapeType="1"/>
          </p:cNvSpPr>
          <p:nvPr/>
        </p:nvSpPr>
        <p:spPr bwMode="auto">
          <a:xfrm flipH="1">
            <a:off x="5017274" y="4443265"/>
            <a:ext cx="11430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7374" name="Line 42"/>
          <p:cNvSpPr>
            <a:spLocks noChangeShapeType="1"/>
          </p:cNvSpPr>
          <p:nvPr/>
        </p:nvSpPr>
        <p:spPr bwMode="auto">
          <a:xfrm>
            <a:off x="6617474" y="4443265"/>
            <a:ext cx="12192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7375" name="Group 43"/>
          <p:cNvGrpSpPr>
            <a:grpSpLocks/>
          </p:cNvGrpSpPr>
          <p:nvPr/>
        </p:nvGrpSpPr>
        <p:grpSpPr bwMode="auto">
          <a:xfrm>
            <a:off x="6846074" y="3528865"/>
            <a:ext cx="1676400" cy="1068388"/>
            <a:chOff x="3360" y="2112"/>
            <a:chExt cx="1056" cy="673"/>
          </a:xfrm>
        </p:grpSpPr>
        <p:sp>
          <p:nvSpPr>
            <p:cNvPr id="57377" name="Text Box 44"/>
            <p:cNvSpPr txBox="1">
              <a:spLocks noChangeArrowheads="1"/>
            </p:cNvSpPr>
            <p:nvPr/>
          </p:nvSpPr>
          <p:spPr bwMode="auto">
            <a:xfrm>
              <a:off x="3360" y="2112"/>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a:latin typeface="Tahoma" pitchFamily="34" charset="0"/>
                  <a:ea typeface="宋体" pitchFamily="2" charset="-122"/>
                </a:rPr>
                <a:t>最大关键字</a:t>
              </a:r>
            </a:p>
          </p:txBody>
        </p:sp>
        <p:sp>
          <p:nvSpPr>
            <p:cNvPr id="57378" name="Text Box 45"/>
            <p:cNvSpPr txBox="1">
              <a:spLocks noChangeArrowheads="1"/>
            </p:cNvSpPr>
            <p:nvPr/>
          </p:nvSpPr>
          <p:spPr bwMode="auto">
            <a:xfrm>
              <a:off x="3360" y="2400"/>
              <a:ext cx="816"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a:latin typeface="Tahoma" pitchFamily="34" charset="0"/>
                  <a:ea typeface="宋体" pitchFamily="2" charset="-122"/>
                </a:rPr>
                <a:t>起始地址</a:t>
              </a:r>
              <a:r>
                <a:rPr kumimoji="1" lang="en-US" altLang="zh-CN" sz="1600">
                  <a:latin typeface="Tahoma" pitchFamily="34" charset="0"/>
                  <a:ea typeface="宋体" pitchFamily="2" charset="-122"/>
                </a:rPr>
                <a:t>(</a:t>
              </a:r>
              <a:r>
                <a:rPr kumimoji="1" lang="zh-CN" altLang="en-US" sz="1600">
                  <a:latin typeface="Tahoma" pitchFamily="34" charset="0"/>
                  <a:ea typeface="宋体" pitchFamily="2" charset="-122"/>
                </a:rPr>
                <a:t>下标</a:t>
              </a:r>
              <a:r>
                <a:rPr kumimoji="1" lang="en-US" altLang="zh-CN" sz="1600">
                  <a:latin typeface="Tahoma" pitchFamily="34" charset="0"/>
                  <a:ea typeface="宋体" pitchFamily="2" charset="-122"/>
                </a:rPr>
                <a:t>)</a:t>
              </a:r>
            </a:p>
          </p:txBody>
        </p:sp>
      </p:grpSp>
      <p:sp>
        <p:nvSpPr>
          <p:cNvPr id="57376" name="Text Box 46"/>
          <p:cNvSpPr txBox="1">
            <a:spLocks noChangeArrowheads="1"/>
          </p:cNvSpPr>
          <p:nvPr/>
        </p:nvSpPr>
        <p:spPr bwMode="auto">
          <a:xfrm>
            <a:off x="5550674" y="3071665"/>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索引表</a:t>
            </a:r>
          </a:p>
        </p:txBody>
      </p:sp>
      <p:sp>
        <p:nvSpPr>
          <p:cNvPr id="2" name="矩形 1">
            <a:extLst>
              <a:ext uri="{FF2B5EF4-FFF2-40B4-BE49-F238E27FC236}">
                <a16:creationId xmlns:a16="http://schemas.microsoft.com/office/drawing/2014/main" id="{46976653-EA36-2251-B1AB-B13C4658D7FE}"/>
              </a:ext>
            </a:extLst>
          </p:cNvPr>
          <p:cNvSpPr/>
          <p:nvPr/>
        </p:nvSpPr>
        <p:spPr>
          <a:xfrm>
            <a:off x="1199456" y="1905401"/>
            <a:ext cx="1760418" cy="430887"/>
          </a:xfrm>
          <a:prstGeom prst="rect">
            <a:avLst/>
          </a:prstGeom>
        </p:spPr>
        <p:txBody>
          <a:bodyPr wrap="none">
            <a:spAutoFit/>
          </a:bodyPr>
          <a:lstStyle/>
          <a:p>
            <a:r>
              <a:rPr kumimoji="1" lang="en-US" altLang="zh-CN" sz="2200" dirty="0">
                <a:latin typeface="微软雅黑" pitchFamily="34" charset="-122"/>
                <a:ea typeface="微软雅黑" pitchFamily="34" charset="-122"/>
                <a:cs typeface="经典粗黑简" pitchFamily="49" charset="-122"/>
              </a:rPr>
              <a:t>2</a:t>
            </a:r>
            <a:r>
              <a:rPr kumimoji="1" lang="zh-CN" altLang="en-US" sz="2200" dirty="0">
                <a:latin typeface="微软雅黑" pitchFamily="34" charset="-122"/>
                <a:ea typeface="微软雅黑" pitchFamily="34" charset="-122"/>
                <a:cs typeface="经典粗黑简" pitchFamily="49" charset="-122"/>
              </a:rPr>
              <a:t>、分块查找</a:t>
            </a:r>
          </a:p>
        </p:txBody>
      </p:sp>
      <p:sp>
        <p:nvSpPr>
          <p:cNvPr id="3" name="矩形 2">
            <a:extLst>
              <a:ext uri="{FF2B5EF4-FFF2-40B4-BE49-F238E27FC236}">
                <a16:creationId xmlns:a16="http://schemas.microsoft.com/office/drawing/2014/main" id="{A8CFC144-1895-3CAD-57DE-2FC5285FF50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55C4C48D-C62D-7DB6-C062-8DD4A90A4094}"/>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E7A887B9-62D6-C5E7-96A1-5788B4B3F0C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9874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wipe(left)">
                                      <p:cBhvr>
                                        <p:cTn id="7" dur="500"/>
                                        <p:tgtEl>
                                          <p:spTgt spid="1925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2515">
                                            <p:txEl>
                                              <p:pRg st="1" end="1"/>
                                            </p:txEl>
                                          </p:spTgt>
                                        </p:tgtEl>
                                        <p:attrNameLst>
                                          <p:attrName>style.visibility</p:attrName>
                                        </p:attrNameLst>
                                      </p:cBhvr>
                                      <p:to>
                                        <p:strVal val="visible"/>
                                      </p:to>
                                    </p:set>
                                    <p:animEffect transition="in" filter="wipe(left)">
                                      <p:cBhvr>
                                        <p:cTn id="10" dur="500"/>
                                        <p:tgtEl>
                                          <p:spTgt spid="19251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2515">
                                            <p:txEl>
                                              <p:pRg st="2" end="2"/>
                                            </p:txEl>
                                          </p:spTgt>
                                        </p:tgtEl>
                                        <p:attrNameLst>
                                          <p:attrName>style.visibility</p:attrName>
                                        </p:attrNameLst>
                                      </p:cBhvr>
                                      <p:to>
                                        <p:strVal val="visible"/>
                                      </p:to>
                                    </p:set>
                                    <p:animEffect transition="in" filter="wipe(left)">
                                      <p:cBhvr>
                                        <p:cTn id="13" dur="500"/>
                                        <p:tgtEl>
                                          <p:spTgt spid="192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50895-505C-155B-F424-81CEA4557D7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27C3ADD-852A-C5FB-11F1-3B1BF7DFBE71}"/>
              </a:ext>
            </a:extLst>
          </p:cNvPr>
          <p:cNvSpPr/>
          <p:nvPr/>
        </p:nvSpPr>
        <p:spPr>
          <a:xfrm>
            <a:off x="1199456" y="1905401"/>
            <a:ext cx="1760418" cy="430887"/>
          </a:xfrm>
          <a:prstGeom prst="rect">
            <a:avLst/>
          </a:prstGeom>
        </p:spPr>
        <p:txBody>
          <a:bodyPr wrap="none">
            <a:spAutoFit/>
          </a:bodyPr>
          <a:lstStyle/>
          <a:p>
            <a:r>
              <a:rPr kumimoji="1" lang="en-US" altLang="zh-CN" sz="2200" dirty="0">
                <a:latin typeface="微软雅黑" pitchFamily="34" charset="-122"/>
                <a:ea typeface="微软雅黑" pitchFamily="34" charset="-122"/>
                <a:cs typeface="经典粗黑简" pitchFamily="49" charset="-122"/>
              </a:rPr>
              <a:t>2</a:t>
            </a:r>
            <a:r>
              <a:rPr kumimoji="1" lang="zh-CN" altLang="en-US" sz="2200" dirty="0">
                <a:latin typeface="微软雅黑" pitchFamily="34" charset="-122"/>
                <a:ea typeface="微软雅黑" pitchFamily="34" charset="-122"/>
                <a:cs typeface="经典粗黑简" pitchFamily="49" charset="-122"/>
              </a:rPr>
              <a:t>、分块查找</a:t>
            </a:r>
          </a:p>
        </p:txBody>
      </p:sp>
      <p:sp>
        <p:nvSpPr>
          <p:cNvPr id="3" name="矩形 2">
            <a:extLst>
              <a:ext uri="{FF2B5EF4-FFF2-40B4-BE49-F238E27FC236}">
                <a16:creationId xmlns:a16="http://schemas.microsoft.com/office/drawing/2014/main" id="{F95D435A-598B-D2ED-2FD0-9DF982935DE5}"/>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BFAF58CE-922C-5454-0D23-391490FC274A}"/>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413809DD-53C4-C1B5-A4C0-5315A54E75D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67782607-FD0C-1E6E-6964-9550CE18F7DC}"/>
              </a:ext>
            </a:extLst>
          </p:cNvPr>
          <p:cNvSpPr txBox="1"/>
          <p:nvPr/>
        </p:nvSpPr>
        <p:spPr>
          <a:xfrm>
            <a:off x="2959874" y="1936178"/>
            <a:ext cx="7858180" cy="400110"/>
          </a:xfrm>
          <a:prstGeom prst="rect">
            <a:avLst/>
          </a:prstGeom>
          <a:noFill/>
        </p:spPr>
        <p:txBody>
          <a:bodyPr wrap="square" rtlCol="0">
            <a:spAutoFit/>
          </a:bodyPr>
          <a:lstStyle/>
          <a:p>
            <a:r>
              <a:rPr lang="zh-CN" altLang="zh-CN" sz="2000">
                <a:latin typeface="Consolas" pitchFamily="49" charset="0"/>
                <a:ea typeface="楷体" pitchFamily="49" charset="-122"/>
                <a:cs typeface="Consolas" pitchFamily="49" charset="0"/>
              </a:rPr>
              <a:t>采用折半查找索引表的分块查找算法如下（索引表</a:t>
            </a:r>
            <a:r>
              <a:rPr lang="en-US" altLang="zh-CN" sz="2000" i="1">
                <a:latin typeface="Consolas" pitchFamily="49" charset="0"/>
                <a:ea typeface="楷体" pitchFamily="49" charset="-122"/>
                <a:cs typeface="Consolas" pitchFamily="49" charset="0"/>
              </a:rPr>
              <a:t>I</a:t>
            </a:r>
            <a:r>
              <a:rPr lang="zh-CN" altLang="zh-CN" sz="2000">
                <a:latin typeface="Consolas" pitchFamily="49" charset="0"/>
                <a:ea typeface="楷体" pitchFamily="49" charset="-122"/>
                <a:cs typeface="Consolas" pitchFamily="49" charset="0"/>
              </a:rPr>
              <a:t>的长度为</a:t>
            </a:r>
            <a:r>
              <a:rPr lang="en-US" altLang="zh-CN" sz="2000" i="1">
                <a:latin typeface="Consolas" pitchFamily="49" charset="0"/>
                <a:ea typeface="楷体" pitchFamily="49" charset="-122"/>
                <a:cs typeface="Consolas" pitchFamily="49" charset="0"/>
              </a:rPr>
              <a:t>b</a:t>
            </a:r>
            <a:r>
              <a:rPr lang="zh-CN" altLang="zh-CN" sz="2000">
                <a:latin typeface="Consolas" pitchFamily="49" charset="0"/>
                <a:ea typeface="楷体" pitchFamily="49" charset="-122"/>
                <a:cs typeface="Consolas" pitchFamily="49" charset="0"/>
              </a:rPr>
              <a:t>）：</a:t>
            </a:r>
            <a:endParaRPr lang="zh-CN" altLang="en-US" sz="2000">
              <a:latin typeface="Consolas" pitchFamily="49" charset="0"/>
              <a:ea typeface="楷体" pitchFamily="49" charset="-122"/>
              <a:cs typeface="Consolas" pitchFamily="49" charset="0"/>
            </a:endParaRPr>
          </a:p>
        </p:txBody>
      </p:sp>
      <p:sp>
        <p:nvSpPr>
          <p:cNvPr id="7" name="TextBox 3">
            <a:extLst>
              <a:ext uri="{FF2B5EF4-FFF2-40B4-BE49-F238E27FC236}">
                <a16:creationId xmlns:a16="http://schemas.microsoft.com/office/drawing/2014/main" id="{5C6EDD01-4C9F-68E1-ADEE-9123CB6992B3}"/>
              </a:ext>
            </a:extLst>
          </p:cNvPr>
          <p:cNvSpPr txBox="1"/>
          <p:nvPr/>
        </p:nvSpPr>
        <p:spPr>
          <a:xfrm>
            <a:off x="2959874" y="2397573"/>
            <a:ext cx="8072494" cy="411808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nSpc>
                <a:spcPts val="1600"/>
              </a:lnSpc>
            </a:pPr>
            <a:r>
              <a:rPr lang="en-US" altLang="zh-CN" sz="1600" dirty="0">
                <a:solidFill>
                  <a:srgbClr val="3333FF"/>
                </a:solidFill>
                <a:latin typeface="Consolas" pitchFamily="49" charset="0"/>
                <a:ea typeface="仿宋" pitchFamily="49" charset="-122"/>
                <a:cs typeface="Consolas" pitchFamily="49" charset="0"/>
              </a:rPr>
              <a:t>int </a:t>
            </a:r>
            <a:r>
              <a:rPr lang="en-US" altLang="zh-CN" sz="1600" dirty="0" err="1">
                <a:solidFill>
                  <a:srgbClr val="FF0000"/>
                </a:solidFill>
                <a:latin typeface="Consolas" pitchFamily="49" charset="0"/>
                <a:ea typeface="仿宋" pitchFamily="49" charset="-122"/>
                <a:cs typeface="Consolas" pitchFamily="49" charset="0"/>
              </a:rPr>
              <a:t>IdxSearch</a:t>
            </a:r>
            <a:r>
              <a:rPr lang="en-US" altLang="zh-CN" sz="1600" dirty="0">
                <a:solidFill>
                  <a:srgbClr val="3333FF"/>
                </a:solidFill>
                <a:latin typeface="Consolas" pitchFamily="49" charset="0"/>
                <a:ea typeface="仿宋" pitchFamily="49" charset="-122"/>
                <a:cs typeface="Consolas" pitchFamily="49" charset="0"/>
              </a:rPr>
              <a:t>(</a:t>
            </a:r>
            <a:r>
              <a:rPr lang="en-US" altLang="zh-CN" sz="1600" dirty="0" err="1">
                <a:solidFill>
                  <a:srgbClr val="3333FF"/>
                </a:solidFill>
                <a:latin typeface="Consolas" pitchFamily="49" charset="0"/>
                <a:ea typeface="仿宋" pitchFamily="49" charset="-122"/>
                <a:cs typeface="Consolas" pitchFamily="49" charset="0"/>
              </a:rPr>
              <a:t>IdxType</a:t>
            </a:r>
            <a:r>
              <a:rPr lang="en-US" altLang="zh-CN" sz="1600" dirty="0">
                <a:solidFill>
                  <a:srgbClr val="3333FF"/>
                </a:solidFill>
                <a:latin typeface="Consolas" pitchFamily="49" charset="0"/>
                <a:ea typeface="仿宋" pitchFamily="49" charset="-122"/>
                <a:cs typeface="Consolas" pitchFamily="49" charset="0"/>
              </a:rPr>
              <a:t> I[],int </a:t>
            </a:r>
            <a:r>
              <a:rPr lang="en-US" altLang="zh-CN" sz="1600" dirty="0" err="1">
                <a:solidFill>
                  <a:srgbClr val="3333FF"/>
                </a:solidFill>
                <a:latin typeface="Consolas" pitchFamily="49" charset="0"/>
                <a:ea typeface="仿宋" pitchFamily="49" charset="-122"/>
                <a:cs typeface="Consolas" pitchFamily="49" charset="0"/>
              </a:rPr>
              <a:t>b,RecType</a:t>
            </a:r>
            <a:r>
              <a:rPr lang="en-US" altLang="zh-CN" sz="1600" dirty="0">
                <a:solidFill>
                  <a:srgbClr val="3333FF"/>
                </a:solidFill>
                <a:latin typeface="Consolas" pitchFamily="49" charset="0"/>
                <a:ea typeface="仿宋" pitchFamily="49" charset="-122"/>
                <a:cs typeface="Consolas" pitchFamily="49" charset="0"/>
              </a:rPr>
              <a:t> R[],int </a:t>
            </a:r>
            <a:r>
              <a:rPr lang="en-US" altLang="zh-CN" sz="1600" dirty="0" err="1">
                <a:solidFill>
                  <a:srgbClr val="3333FF"/>
                </a:solidFill>
                <a:latin typeface="Consolas" pitchFamily="49" charset="0"/>
                <a:ea typeface="仿宋" pitchFamily="49" charset="-122"/>
                <a:cs typeface="Consolas" pitchFamily="49" charset="0"/>
              </a:rPr>
              <a:t>n,KeyType</a:t>
            </a:r>
            <a:r>
              <a:rPr lang="en-US" altLang="zh-CN" sz="1600" dirty="0">
                <a:solidFill>
                  <a:srgbClr val="3333FF"/>
                </a:solidFill>
                <a:latin typeface="Consolas" pitchFamily="49" charset="0"/>
                <a:ea typeface="仿宋" pitchFamily="49" charset="-122"/>
                <a:cs typeface="Consolas" pitchFamily="49" charset="0"/>
              </a:rPr>
              <a:t> k) </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int s=(n+b-1)/b;		</a:t>
            </a:r>
            <a:r>
              <a:rPr lang="en-US" altLang="zh-CN" sz="1600" dirty="0">
                <a:solidFill>
                  <a:srgbClr val="00B0F0"/>
                </a:solidFill>
                <a:latin typeface="Consolas" pitchFamily="49" charset="0"/>
                <a:ea typeface="仿宋" pitchFamily="49" charset="-122"/>
                <a:cs typeface="Consolas" pitchFamily="49" charset="0"/>
              </a:rPr>
              <a:t>//s</a:t>
            </a:r>
            <a:r>
              <a:rPr lang="zh-CN" altLang="zh-CN" sz="1600" dirty="0">
                <a:solidFill>
                  <a:srgbClr val="00B0F0"/>
                </a:solidFill>
                <a:latin typeface="Consolas" pitchFamily="49" charset="0"/>
                <a:ea typeface="仿宋" pitchFamily="49" charset="-122"/>
                <a:cs typeface="Consolas" pitchFamily="49" charset="0"/>
              </a:rPr>
              <a:t>为每块的元素个数，</a:t>
            </a:r>
            <a:r>
              <a:rPr lang="zh-CN" altLang="en-US" sz="1600" dirty="0">
                <a:solidFill>
                  <a:srgbClr val="00B0F0"/>
                </a:solidFill>
                <a:latin typeface="Consolas" pitchFamily="49" charset="0"/>
                <a:ea typeface="仿宋" pitchFamily="49" charset="-122"/>
                <a:cs typeface="Consolas" pitchFamily="49" charset="0"/>
              </a:rPr>
              <a:t>即</a:t>
            </a:r>
            <a:r>
              <a:rPr lang="en-US" altLang="zh-CN" sz="1600" dirty="0">
                <a:solidFill>
                  <a:srgbClr val="00B0F0"/>
                </a:solidFill>
                <a:latin typeface="Consolas" pitchFamily="49" charset="0"/>
                <a:ea typeface="仿宋" pitchFamily="49" charset="-122"/>
                <a:cs typeface="Consolas" pitchFamily="49" charset="0"/>
              </a:rPr>
              <a:t>s=</a:t>
            </a:r>
            <a:r>
              <a:rPr lang="en-US" altLang="zh-CN" sz="1600" dirty="0">
                <a:solidFill>
                  <a:srgbClr val="00B0F0"/>
                </a:solidFill>
                <a:latin typeface="Consolas" pitchFamily="49" charset="0"/>
                <a:ea typeface="仿宋" pitchFamily="49" charset="-122"/>
                <a:cs typeface="Consolas" pitchFamily="49" charset="0"/>
                <a:sym typeface="Symbol"/>
              </a:rPr>
              <a:t></a:t>
            </a:r>
            <a:r>
              <a:rPr lang="en-US" altLang="zh-CN" sz="1600" dirty="0">
                <a:solidFill>
                  <a:srgbClr val="00B0F0"/>
                </a:solidFill>
                <a:latin typeface="Consolas" pitchFamily="49" charset="0"/>
                <a:ea typeface="仿宋" pitchFamily="49" charset="-122"/>
                <a:cs typeface="Consolas" pitchFamily="49" charset="0"/>
              </a:rPr>
              <a:t>n/b</a:t>
            </a:r>
            <a:r>
              <a:rPr lang="en-US" altLang="zh-CN" sz="1600" dirty="0">
                <a:solidFill>
                  <a:srgbClr val="00B0F0"/>
                </a:solidFill>
                <a:latin typeface="Consolas" pitchFamily="49" charset="0"/>
                <a:ea typeface="仿宋" pitchFamily="49" charset="-122"/>
                <a:cs typeface="Consolas" pitchFamily="49" charset="0"/>
                <a:sym typeface="Symbol"/>
              </a:rPr>
              <a:t></a:t>
            </a:r>
            <a:endParaRPr lang="zh-CN" altLang="zh-CN" sz="1600" dirty="0">
              <a:solidFill>
                <a:srgbClr val="00B0F0"/>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int low=0,high=b-1,mid,i;</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while (</a:t>
            </a:r>
            <a:r>
              <a:rPr lang="en-US" altLang="zh-CN" sz="1600" dirty="0">
                <a:solidFill>
                  <a:srgbClr val="FF33CC"/>
                </a:solidFill>
                <a:latin typeface="Consolas" pitchFamily="49" charset="0"/>
                <a:ea typeface="仿宋" pitchFamily="49" charset="-122"/>
                <a:cs typeface="Consolas" pitchFamily="49" charset="0"/>
              </a:rPr>
              <a:t>low&lt;=high</a:t>
            </a:r>
            <a:r>
              <a:rPr lang="en-US" altLang="zh-CN" sz="1600" dirty="0">
                <a:solidFill>
                  <a:srgbClr val="3333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zh-CN" sz="1600" dirty="0">
                <a:solidFill>
                  <a:srgbClr val="00B0F0"/>
                </a:solidFill>
                <a:latin typeface="Consolas" pitchFamily="49" charset="0"/>
                <a:ea typeface="仿宋" pitchFamily="49" charset="-122"/>
                <a:cs typeface="Consolas" pitchFamily="49" charset="0"/>
              </a:rPr>
              <a:t>折半查找，找到的位置为</a:t>
            </a:r>
            <a:r>
              <a:rPr lang="en-US" altLang="zh-CN" sz="1600" dirty="0">
                <a:solidFill>
                  <a:srgbClr val="00B0F0"/>
                </a:solidFill>
                <a:latin typeface="Consolas" pitchFamily="49" charset="0"/>
                <a:ea typeface="仿宋" pitchFamily="49" charset="-122"/>
                <a:cs typeface="Consolas" pitchFamily="49" charset="0"/>
              </a:rPr>
              <a:t>high+1</a:t>
            </a:r>
            <a:endParaRPr lang="zh-CN" altLang="zh-CN" sz="1600" dirty="0">
              <a:solidFill>
                <a:srgbClr val="00B0F0"/>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  mid=(</a:t>
            </a:r>
            <a:r>
              <a:rPr lang="en-US" altLang="zh-CN" sz="1600" dirty="0" err="1">
                <a:solidFill>
                  <a:srgbClr val="3333FF"/>
                </a:solidFill>
                <a:latin typeface="Consolas" pitchFamily="49" charset="0"/>
                <a:ea typeface="仿宋" pitchFamily="49" charset="-122"/>
                <a:cs typeface="Consolas" pitchFamily="49" charset="0"/>
              </a:rPr>
              <a:t>low+high</a:t>
            </a:r>
            <a:r>
              <a:rPr lang="en-US" altLang="zh-CN" sz="1600" dirty="0">
                <a:solidFill>
                  <a:srgbClr val="3333FF"/>
                </a:solidFill>
                <a:latin typeface="Consolas" pitchFamily="49" charset="0"/>
                <a:ea typeface="仿宋" pitchFamily="49" charset="-122"/>
                <a:cs typeface="Consolas" pitchFamily="49" charset="0"/>
              </a:rPr>
              <a:t>)/2;</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if (I[mid].key&gt;=k)</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high=mid-1;</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else </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low=mid+1;</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a:t>
            </a:r>
          </a:p>
          <a:p>
            <a:pPr>
              <a:lnSpc>
                <a:spcPts val="1600"/>
              </a:lnSpc>
            </a:pPr>
            <a:r>
              <a:rPr lang="en-US" altLang="zh-CN" sz="1600" dirty="0">
                <a:solidFill>
                  <a:srgbClr val="3333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zh-CN" sz="1600" dirty="0">
                <a:solidFill>
                  <a:srgbClr val="00B0F0"/>
                </a:solidFill>
                <a:latin typeface="Consolas" pitchFamily="49" charset="0"/>
                <a:ea typeface="仿宋" pitchFamily="49" charset="-122"/>
                <a:cs typeface="Consolas" pitchFamily="49" charset="0"/>
              </a:rPr>
              <a:t>在主数据表</a:t>
            </a:r>
            <a:r>
              <a:rPr lang="zh-CN" altLang="en-US" sz="1600" dirty="0">
                <a:solidFill>
                  <a:srgbClr val="00B0F0"/>
                </a:solidFill>
                <a:latin typeface="Consolas" pitchFamily="49" charset="0"/>
                <a:ea typeface="仿宋" pitchFamily="49" charset="-122"/>
                <a:cs typeface="Consolas" pitchFamily="49" charset="0"/>
              </a:rPr>
              <a:t>的</a:t>
            </a:r>
            <a:r>
              <a:rPr lang="en-US" altLang="zh-CN" sz="1600" dirty="0">
                <a:solidFill>
                  <a:srgbClr val="00B0F0"/>
                </a:solidFill>
                <a:latin typeface="Consolas" pitchFamily="49" charset="0"/>
                <a:ea typeface="仿宋" pitchFamily="49" charset="-122"/>
                <a:cs typeface="Consolas" pitchFamily="49" charset="0"/>
              </a:rPr>
              <a:t>high+1</a:t>
            </a:r>
            <a:r>
              <a:rPr lang="zh-CN" altLang="zh-CN" sz="1600" dirty="0">
                <a:solidFill>
                  <a:srgbClr val="00B0F0"/>
                </a:solidFill>
                <a:latin typeface="Consolas" pitchFamily="49" charset="0"/>
                <a:ea typeface="仿宋" pitchFamily="49" charset="-122"/>
                <a:cs typeface="Consolas" pitchFamily="49" charset="0"/>
              </a:rPr>
              <a:t>块中进行顺序查找</a:t>
            </a:r>
          </a:p>
          <a:p>
            <a:pPr>
              <a:lnSpc>
                <a:spcPts val="1600"/>
              </a:lnSpc>
            </a:pPr>
            <a:r>
              <a:rPr lang="en-US" altLang="zh-CN" sz="1600" dirty="0">
                <a:solidFill>
                  <a:srgbClr val="3333FF"/>
                </a:solidFill>
                <a:latin typeface="Consolas" pitchFamily="49" charset="0"/>
                <a:ea typeface="仿宋" pitchFamily="49" charset="-122"/>
                <a:cs typeface="Consolas" pitchFamily="49" charset="0"/>
              </a:rPr>
              <a:t>   </a:t>
            </a:r>
            <a:r>
              <a:rPr lang="en-US" altLang="zh-CN" sz="1600" dirty="0" err="1">
                <a:solidFill>
                  <a:srgbClr val="3333FF"/>
                </a:solidFill>
                <a:latin typeface="Consolas" pitchFamily="49" charset="0"/>
                <a:ea typeface="仿宋" pitchFamily="49" charset="-122"/>
                <a:cs typeface="Consolas" pitchFamily="49" charset="0"/>
              </a:rPr>
              <a:t>i</a:t>
            </a:r>
            <a:r>
              <a:rPr lang="en-US" altLang="zh-CN" sz="1600" dirty="0">
                <a:solidFill>
                  <a:srgbClr val="3333FF"/>
                </a:solidFill>
                <a:latin typeface="Consolas" pitchFamily="49" charset="0"/>
                <a:ea typeface="仿宋" pitchFamily="49" charset="-122"/>
                <a:cs typeface="Consolas" pitchFamily="49" charset="0"/>
              </a:rPr>
              <a:t>=I[high+1].link;</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while (</a:t>
            </a:r>
            <a:r>
              <a:rPr lang="en-US" altLang="zh-CN" sz="1600" dirty="0" err="1">
                <a:solidFill>
                  <a:srgbClr val="3333FF"/>
                </a:solidFill>
                <a:latin typeface="Consolas" pitchFamily="49" charset="0"/>
                <a:ea typeface="仿宋" pitchFamily="49" charset="-122"/>
                <a:cs typeface="Consolas" pitchFamily="49" charset="0"/>
              </a:rPr>
              <a:t>i</a:t>
            </a:r>
            <a:r>
              <a:rPr lang="en-US" altLang="zh-CN" sz="1600" dirty="0">
                <a:solidFill>
                  <a:srgbClr val="3333FF"/>
                </a:solidFill>
                <a:latin typeface="Consolas" pitchFamily="49" charset="0"/>
                <a:ea typeface="仿宋" pitchFamily="49" charset="-122"/>
                <a:cs typeface="Consolas" pitchFamily="49" charset="0"/>
              </a:rPr>
              <a:t>&lt;=I[high+1].link+s-1 &amp;&amp; R[</a:t>
            </a:r>
            <a:r>
              <a:rPr lang="en-US" altLang="zh-CN" sz="1600" dirty="0" err="1">
                <a:solidFill>
                  <a:srgbClr val="3333FF"/>
                </a:solidFill>
                <a:latin typeface="Consolas" pitchFamily="49" charset="0"/>
                <a:ea typeface="仿宋" pitchFamily="49" charset="-122"/>
                <a:cs typeface="Consolas" pitchFamily="49" charset="0"/>
              </a:rPr>
              <a:t>i</a:t>
            </a:r>
            <a:r>
              <a:rPr lang="en-US" altLang="zh-CN" sz="1600" dirty="0">
                <a:solidFill>
                  <a:srgbClr val="3333FF"/>
                </a:solidFill>
                <a:latin typeface="Consolas" pitchFamily="49" charset="0"/>
                <a:ea typeface="仿宋" pitchFamily="49" charset="-122"/>
                <a:cs typeface="Consolas" pitchFamily="49" charset="0"/>
              </a:rPr>
              <a:t>].key!=k)</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a:t>
            </a:r>
            <a:r>
              <a:rPr lang="en-US" altLang="zh-CN" sz="1600" dirty="0" err="1">
                <a:solidFill>
                  <a:srgbClr val="3333FF"/>
                </a:solidFill>
                <a:latin typeface="Consolas" pitchFamily="49" charset="0"/>
                <a:ea typeface="仿宋" pitchFamily="49" charset="-122"/>
                <a:cs typeface="Consolas" pitchFamily="49" charset="0"/>
              </a:rPr>
              <a:t>i</a:t>
            </a:r>
            <a:r>
              <a:rPr lang="en-US" altLang="zh-CN" sz="1600" dirty="0">
                <a:solidFill>
                  <a:srgbClr val="3333FF"/>
                </a:solidFill>
                <a:latin typeface="Consolas" pitchFamily="49" charset="0"/>
                <a:ea typeface="仿宋" pitchFamily="49" charset="-122"/>
                <a:cs typeface="Consolas" pitchFamily="49" charset="0"/>
              </a:rPr>
              <a:t>++;</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if (</a:t>
            </a:r>
            <a:r>
              <a:rPr lang="en-US" altLang="zh-CN" sz="1600" dirty="0" err="1">
                <a:solidFill>
                  <a:srgbClr val="3333FF"/>
                </a:solidFill>
                <a:latin typeface="Consolas" pitchFamily="49" charset="0"/>
                <a:ea typeface="仿宋" pitchFamily="49" charset="-122"/>
                <a:cs typeface="Consolas" pitchFamily="49" charset="0"/>
              </a:rPr>
              <a:t>i</a:t>
            </a:r>
            <a:r>
              <a:rPr lang="en-US" altLang="zh-CN" sz="1600" dirty="0">
                <a:solidFill>
                  <a:srgbClr val="3333FF"/>
                </a:solidFill>
                <a:latin typeface="Consolas" pitchFamily="49" charset="0"/>
                <a:ea typeface="仿宋" pitchFamily="49" charset="-122"/>
                <a:cs typeface="Consolas" pitchFamily="49" charset="0"/>
              </a:rPr>
              <a:t>&lt;=I[high+1].link+s-1)</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return i+1;		</a:t>
            </a:r>
            <a:r>
              <a:rPr lang="en-US" altLang="zh-CN" sz="1600" dirty="0">
                <a:solidFill>
                  <a:srgbClr val="00B0F0"/>
                </a:solidFill>
                <a:latin typeface="Consolas" pitchFamily="49" charset="0"/>
                <a:ea typeface="仿宋" pitchFamily="49" charset="-122"/>
                <a:cs typeface="Consolas" pitchFamily="49" charset="0"/>
              </a:rPr>
              <a:t>//</a:t>
            </a:r>
            <a:r>
              <a:rPr lang="zh-CN" altLang="zh-CN" sz="1600" dirty="0">
                <a:solidFill>
                  <a:srgbClr val="00B0F0"/>
                </a:solidFill>
                <a:latin typeface="Consolas" pitchFamily="49" charset="0"/>
                <a:ea typeface="仿宋" pitchFamily="49" charset="-122"/>
                <a:cs typeface="Consolas" pitchFamily="49" charset="0"/>
              </a:rPr>
              <a:t>查找成功，返回该元素的逻辑序号</a:t>
            </a:r>
          </a:p>
          <a:p>
            <a:pPr>
              <a:lnSpc>
                <a:spcPts val="1600"/>
              </a:lnSpc>
            </a:pPr>
            <a:r>
              <a:rPr lang="en-US" altLang="zh-CN" sz="1600" dirty="0">
                <a:solidFill>
                  <a:srgbClr val="3333FF"/>
                </a:solidFill>
                <a:latin typeface="Consolas" pitchFamily="49" charset="0"/>
                <a:ea typeface="仿宋" pitchFamily="49" charset="-122"/>
                <a:cs typeface="Consolas" pitchFamily="49" charset="0"/>
              </a:rPr>
              <a:t>   else</a:t>
            </a:r>
            <a:endParaRPr lang="zh-CN" altLang="zh-CN" sz="1600" dirty="0">
              <a:solidFill>
                <a:srgbClr val="3333FF"/>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      return 0;		</a:t>
            </a:r>
            <a:r>
              <a:rPr lang="en-US" altLang="zh-CN" sz="1600" dirty="0">
                <a:solidFill>
                  <a:srgbClr val="00B0F0"/>
                </a:solidFill>
                <a:latin typeface="Consolas" pitchFamily="49" charset="0"/>
                <a:ea typeface="仿宋" pitchFamily="49" charset="-122"/>
                <a:cs typeface="Consolas" pitchFamily="49" charset="0"/>
              </a:rPr>
              <a:t>//</a:t>
            </a:r>
            <a:r>
              <a:rPr lang="zh-CN" altLang="zh-CN" sz="1600" dirty="0">
                <a:solidFill>
                  <a:srgbClr val="00B0F0"/>
                </a:solidFill>
                <a:latin typeface="Consolas" pitchFamily="49" charset="0"/>
                <a:ea typeface="仿宋" pitchFamily="49" charset="-122"/>
                <a:cs typeface="Consolas" pitchFamily="49" charset="0"/>
              </a:rPr>
              <a:t>查找失败，返回</a:t>
            </a:r>
            <a:r>
              <a:rPr lang="en-US" altLang="zh-CN" sz="1600" dirty="0">
                <a:solidFill>
                  <a:srgbClr val="00B0F0"/>
                </a:solidFill>
                <a:latin typeface="Consolas" pitchFamily="49" charset="0"/>
                <a:ea typeface="仿宋" pitchFamily="49" charset="-122"/>
                <a:cs typeface="Consolas" pitchFamily="49" charset="0"/>
              </a:rPr>
              <a:t>0</a:t>
            </a:r>
            <a:endParaRPr lang="zh-CN" altLang="zh-CN" sz="1600" dirty="0">
              <a:solidFill>
                <a:srgbClr val="00B0F0"/>
              </a:solidFill>
              <a:latin typeface="Consolas" pitchFamily="49" charset="0"/>
              <a:ea typeface="仿宋" pitchFamily="49" charset="-122"/>
              <a:cs typeface="Consolas" pitchFamily="49" charset="0"/>
            </a:endParaRPr>
          </a:p>
          <a:p>
            <a:pPr>
              <a:lnSpc>
                <a:spcPts val="1600"/>
              </a:lnSpc>
            </a:pPr>
            <a:r>
              <a:rPr lang="en-US" altLang="zh-CN" sz="1600" dirty="0">
                <a:solidFill>
                  <a:srgbClr val="3333FF"/>
                </a:solidFill>
                <a:latin typeface="Consolas" pitchFamily="49" charset="0"/>
                <a:ea typeface="仿宋" pitchFamily="49" charset="-122"/>
                <a:cs typeface="Consolas" pitchFamily="49" charset="0"/>
              </a:rPr>
              <a:t>}</a:t>
            </a:r>
            <a:endParaRPr lang="zh-CN" altLang="en-US" sz="1600" dirty="0">
              <a:solidFill>
                <a:srgbClr val="3333FF"/>
              </a:solidFill>
              <a:latin typeface="Consolas" pitchFamily="49" charset="0"/>
              <a:ea typeface="仿宋" pitchFamily="49" charset="-122"/>
              <a:cs typeface="Consolas" pitchFamily="49" charset="0"/>
            </a:endParaRPr>
          </a:p>
        </p:txBody>
      </p:sp>
      <p:grpSp>
        <p:nvGrpSpPr>
          <p:cNvPr id="8" name="组合 7">
            <a:extLst>
              <a:ext uri="{FF2B5EF4-FFF2-40B4-BE49-F238E27FC236}">
                <a16:creationId xmlns:a16="http://schemas.microsoft.com/office/drawing/2014/main" id="{29FC1695-BDFC-91E2-6138-7527CC8407A2}"/>
              </a:ext>
            </a:extLst>
          </p:cNvPr>
          <p:cNvGrpSpPr/>
          <p:nvPr/>
        </p:nvGrpSpPr>
        <p:grpSpPr>
          <a:xfrm>
            <a:off x="5552162" y="3955855"/>
            <a:ext cx="3143272" cy="369332"/>
            <a:chOff x="3286116" y="3143248"/>
            <a:chExt cx="3143272" cy="369332"/>
          </a:xfrm>
        </p:grpSpPr>
        <p:sp>
          <p:nvSpPr>
            <p:cNvPr id="9" name="TextBox 5">
              <a:extLst>
                <a:ext uri="{FF2B5EF4-FFF2-40B4-BE49-F238E27FC236}">
                  <a16:creationId xmlns:a16="http://schemas.microsoft.com/office/drawing/2014/main" id="{ED759AD3-BE91-DD2E-9333-A6954BAEF01D}"/>
                </a:ext>
              </a:extLst>
            </p:cNvPr>
            <p:cNvSpPr txBox="1"/>
            <p:nvPr/>
          </p:nvSpPr>
          <p:spPr>
            <a:xfrm>
              <a:off x="3786182" y="3143248"/>
              <a:ext cx="2643206" cy="369332"/>
            </a:xfrm>
            <a:prstGeom prst="rect">
              <a:avLst/>
            </a:prstGeom>
            <a:noFill/>
          </p:spPr>
          <p:txBody>
            <a:bodyPr wrap="square" rtlCol="0">
              <a:spAutoFit/>
            </a:bodyPr>
            <a:lstStyle/>
            <a:p>
              <a:r>
                <a:rPr lang="zh-CN" altLang="en-US" sz="1800" dirty="0">
                  <a:solidFill>
                    <a:srgbClr val="C00000"/>
                  </a:solidFill>
                  <a:latin typeface="Consolas" pitchFamily="49" charset="0"/>
                  <a:ea typeface="华文中宋" pitchFamily="2" charset="-122"/>
                  <a:cs typeface="Consolas" pitchFamily="49" charset="0"/>
                </a:rPr>
                <a:t>对应的块为</a:t>
              </a:r>
              <a:r>
                <a:rPr lang="en-US" altLang="zh-CN" sz="1800" dirty="0">
                  <a:solidFill>
                    <a:srgbClr val="C00000"/>
                  </a:solidFill>
                  <a:latin typeface="Consolas" pitchFamily="49" charset="0"/>
                  <a:ea typeface="华文中宋" pitchFamily="2" charset="-122"/>
                  <a:cs typeface="Consolas" pitchFamily="49" charset="0"/>
                </a:rPr>
                <a:t>high+1</a:t>
              </a:r>
              <a:endParaRPr lang="zh-CN" altLang="en-US" sz="1800" dirty="0">
                <a:solidFill>
                  <a:srgbClr val="C00000"/>
                </a:solidFill>
                <a:latin typeface="Consolas" pitchFamily="49" charset="0"/>
                <a:ea typeface="华文中宋" pitchFamily="2" charset="-122"/>
                <a:cs typeface="Consolas" pitchFamily="49" charset="0"/>
              </a:endParaRPr>
            </a:p>
          </p:txBody>
        </p:sp>
        <p:sp>
          <p:nvSpPr>
            <p:cNvPr id="10" name="右箭头 6">
              <a:extLst>
                <a:ext uri="{FF2B5EF4-FFF2-40B4-BE49-F238E27FC236}">
                  <a16:creationId xmlns:a16="http://schemas.microsoft.com/office/drawing/2014/main" id="{9B4D6AF5-AD68-E90F-19C9-C42F8123CEEC}"/>
                </a:ext>
              </a:extLst>
            </p:cNvPr>
            <p:cNvSpPr/>
            <p:nvPr/>
          </p:nvSpPr>
          <p:spPr>
            <a:xfrm>
              <a:off x="3286116" y="3245932"/>
              <a:ext cx="42862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201152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
                                            <p:txEl>
                                              <p:pRg st="12" end="12"/>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
                                            <p:txEl>
                                              <p:pRg st="13" end="13"/>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7">
                                            <p:txEl>
                                              <p:pRg st="14" end="14"/>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
                                            <p:txEl>
                                              <p:pRg st="15" end="15"/>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
                                            <p:txEl>
                                              <p:pRg st="16" end="16"/>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540" name="Object 4"/>
          <p:cNvGraphicFramePr>
            <a:graphicFrameLocks noChangeAspect="1"/>
          </p:cNvGraphicFramePr>
          <p:nvPr>
            <p:extLst>
              <p:ext uri="{D42A27DB-BD31-4B8C-83A1-F6EECF244321}">
                <p14:modId xmlns:p14="http://schemas.microsoft.com/office/powerpoint/2010/main" val="352855059"/>
              </p:ext>
            </p:extLst>
          </p:nvPr>
        </p:nvGraphicFramePr>
        <p:xfrm>
          <a:off x="2495550" y="4293096"/>
          <a:ext cx="7200900" cy="623888"/>
        </p:xfrm>
        <a:graphic>
          <a:graphicData uri="http://schemas.openxmlformats.org/presentationml/2006/ole">
            <mc:AlternateContent xmlns:mc="http://schemas.openxmlformats.org/markup-compatibility/2006">
              <mc:Choice xmlns:v="urn:schemas-microsoft-com:vml" Requires="v">
                <p:oleObj name="Equation" r:id="rId2" imgW="2489040" imgH="215640" progId="Equation.3">
                  <p:embed/>
                </p:oleObj>
              </mc:Choice>
              <mc:Fallback>
                <p:oleObj name="Equation" r:id="rId2" imgW="248904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4293096"/>
                        <a:ext cx="7200900"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3"/>
          <p:cNvSpPr>
            <a:spLocks noChangeArrowheads="1"/>
          </p:cNvSpPr>
          <p:nvPr/>
        </p:nvSpPr>
        <p:spPr bwMode="auto">
          <a:xfrm>
            <a:off x="2434258" y="2708920"/>
            <a:ext cx="6248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kumimoji="1" lang="zh-CN" altLang="en-US" sz="2000" dirty="0">
                <a:latin typeface="微软雅黑" pitchFamily="34" charset="-122"/>
                <a:ea typeface="微软雅黑" pitchFamily="34" charset="-122"/>
                <a:cs typeface="经典粗黑简" pitchFamily="49" charset="-122"/>
              </a:rPr>
              <a:t>在索引顺序表中查找指定元素时，分两步：</a:t>
            </a:r>
          </a:p>
          <a:p>
            <a:pPr marL="742950" lvl="1" indent="-285750">
              <a:spcBef>
                <a:spcPct val="20000"/>
              </a:spcBef>
              <a:buFont typeface="Wingdings" pitchFamily="2" charset="2"/>
              <a:buChar char="Ø"/>
            </a:pPr>
            <a:r>
              <a:rPr kumimoji="1" lang="zh-CN" altLang="en-US" sz="2000" dirty="0">
                <a:latin typeface="微软雅黑" pitchFamily="34" charset="-122"/>
                <a:ea typeface="微软雅黑" pitchFamily="34" charset="-122"/>
                <a:cs typeface="经典粗黑简" pitchFamily="49" charset="-122"/>
              </a:rPr>
              <a:t>先在索引表中确定元素所在的块；</a:t>
            </a:r>
          </a:p>
          <a:p>
            <a:pPr marL="742950" lvl="1" indent="-285750">
              <a:spcBef>
                <a:spcPct val="20000"/>
              </a:spcBef>
              <a:buFont typeface="Wingdings" pitchFamily="2" charset="2"/>
              <a:buChar char="Ø"/>
            </a:pPr>
            <a:r>
              <a:rPr kumimoji="1" lang="zh-CN" altLang="en-US" sz="2000" dirty="0">
                <a:latin typeface="微软雅黑" pitchFamily="34" charset="-122"/>
                <a:ea typeface="微软雅黑" pitchFamily="34" charset="-122"/>
                <a:cs typeface="经典粗黑简" pitchFamily="49" charset="-122"/>
              </a:rPr>
              <a:t>再在块中顺序查找；</a:t>
            </a:r>
          </a:p>
        </p:txBody>
      </p:sp>
      <p:sp>
        <p:nvSpPr>
          <p:cNvPr id="2" name="矩形 1">
            <a:extLst>
              <a:ext uri="{FF2B5EF4-FFF2-40B4-BE49-F238E27FC236}">
                <a16:creationId xmlns:a16="http://schemas.microsoft.com/office/drawing/2014/main" id="{7839CB0A-B47B-2D1B-F788-481C250EC0DE}"/>
              </a:ext>
            </a:extLst>
          </p:cNvPr>
          <p:cNvSpPr/>
          <p:nvPr/>
        </p:nvSpPr>
        <p:spPr>
          <a:xfrm>
            <a:off x="1199456" y="1905401"/>
            <a:ext cx="1760418" cy="430887"/>
          </a:xfrm>
          <a:prstGeom prst="rect">
            <a:avLst/>
          </a:prstGeom>
        </p:spPr>
        <p:txBody>
          <a:bodyPr wrap="none">
            <a:spAutoFit/>
          </a:bodyPr>
          <a:lstStyle/>
          <a:p>
            <a:r>
              <a:rPr kumimoji="1" lang="en-US" altLang="zh-CN" sz="2200" dirty="0">
                <a:latin typeface="微软雅黑" pitchFamily="34" charset="-122"/>
                <a:ea typeface="微软雅黑" pitchFamily="34" charset="-122"/>
                <a:cs typeface="经典粗黑简" pitchFamily="49" charset="-122"/>
              </a:rPr>
              <a:t>2</a:t>
            </a:r>
            <a:r>
              <a:rPr kumimoji="1" lang="zh-CN" altLang="en-US" sz="2200" dirty="0">
                <a:latin typeface="微软雅黑" pitchFamily="34" charset="-122"/>
                <a:ea typeface="微软雅黑" pitchFamily="34" charset="-122"/>
                <a:cs typeface="经典粗黑简" pitchFamily="49" charset="-122"/>
              </a:rPr>
              <a:t>、分块查找</a:t>
            </a:r>
          </a:p>
        </p:txBody>
      </p:sp>
      <p:sp>
        <p:nvSpPr>
          <p:cNvPr id="3" name="矩形 2">
            <a:extLst>
              <a:ext uri="{FF2B5EF4-FFF2-40B4-BE49-F238E27FC236}">
                <a16:creationId xmlns:a16="http://schemas.microsoft.com/office/drawing/2014/main" id="{E7BC0BEB-4767-448F-1261-906697E8F4E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CD79040B-9960-85DC-C874-232C5A10549E}"/>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62E885C6-00E7-B402-4CE4-461FF0033115}"/>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9483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3540"/>
                                        </p:tgtEl>
                                        <p:attrNameLst>
                                          <p:attrName>style.visibility</p:attrName>
                                        </p:attrNameLst>
                                      </p:cBhvr>
                                      <p:to>
                                        <p:strVal val="visible"/>
                                      </p:to>
                                    </p:set>
                                    <p:animEffect transition="in" filter="wipe(left)">
                                      <p:cBhvr>
                                        <p:cTn id="7" dur="500"/>
                                        <p:tgtEl>
                                          <p:spTgt spid="193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500"/>
                                        <p:tgtEl>
                                          <p:spTgt spid="12">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wipe(left)">
                                      <p:cBhvr>
                                        <p:cTn id="15" dur="500"/>
                                        <p:tgtEl>
                                          <p:spTgt spid="12">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xEl>
                                              <p:pRg st="2" end="2"/>
                                            </p:txEl>
                                          </p:spTgt>
                                        </p:tgtEl>
                                        <p:attrNameLst>
                                          <p:attrName>style.visibility</p:attrName>
                                        </p:attrNameLst>
                                      </p:cBhvr>
                                      <p:to>
                                        <p:strVal val="visible"/>
                                      </p:to>
                                    </p:set>
                                    <p:animEffect transition="in" filter="wipe(left)">
                                      <p:cBhvr>
                                        <p:cTn id="18"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540" name="Object 4"/>
          <p:cNvGraphicFramePr>
            <a:graphicFrameLocks noChangeAspect="1"/>
          </p:cNvGraphicFramePr>
          <p:nvPr>
            <p:extLst>
              <p:ext uri="{D42A27DB-BD31-4B8C-83A1-F6EECF244321}">
                <p14:modId xmlns:p14="http://schemas.microsoft.com/office/powerpoint/2010/main" val="466093437"/>
              </p:ext>
            </p:extLst>
          </p:nvPr>
        </p:nvGraphicFramePr>
        <p:xfrm>
          <a:off x="2423492" y="3068960"/>
          <a:ext cx="7200900" cy="623888"/>
        </p:xfrm>
        <a:graphic>
          <a:graphicData uri="http://schemas.openxmlformats.org/presentationml/2006/ole">
            <mc:AlternateContent xmlns:mc="http://schemas.openxmlformats.org/markup-compatibility/2006">
              <mc:Choice xmlns:v="urn:schemas-microsoft-com:vml" Requires="v">
                <p:oleObj name="Equation" r:id="rId2" imgW="2489040" imgH="215640" progId="Equation.3">
                  <p:embed/>
                </p:oleObj>
              </mc:Choice>
              <mc:Fallback>
                <p:oleObj name="Equation" r:id="rId2" imgW="248904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492" y="3068960"/>
                        <a:ext cx="7200900"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3"/>
          <p:cNvSpPr>
            <a:spLocks noChangeArrowheads="1"/>
          </p:cNvSpPr>
          <p:nvPr/>
        </p:nvSpPr>
        <p:spPr bwMode="auto">
          <a:xfrm>
            <a:off x="2266350" y="2304856"/>
            <a:ext cx="8229600" cy="79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kumimoji="1" lang="zh-CN" altLang="en-US" sz="2000" dirty="0">
                <a:latin typeface="微软雅黑" pitchFamily="34" charset="-122"/>
                <a:ea typeface="微软雅黑" pitchFamily="34" charset="-122"/>
                <a:cs typeface="经典粗黑简" pitchFamily="49" charset="-122"/>
              </a:rPr>
              <a:t>设查找表中的元素可均匀地分为</a:t>
            </a:r>
            <a:r>
              <a:rPr kumimoji="1" lang="en-US" altLang="zh-CN" sz="2000" dirty="0">
                <a:latin typeface="微软雅黑" pitchFamily="34" charset="-122"/>
                <a:ea typeface="微软雅黑" pitchFamily="34" charset="-122"/>
                <a:cs typeface="经典粗黑简" pitchFamily="49" charset="-122"/>
              </a:rPr>
              <a:t>b</a:t>
            </a:r>
            <a:r>
              <a:rPr kumimoji="1" lang="zh-CN" altLang="en-US" sz="2000" dirty="0">
                <a:latin typeface="微软雅黑" pitchFamily="34" charset="-122"/>
                <a:ea typeface="微软雅黑" pitchFamily="34" charset="-122"/>
                <a:cs typeface="经典粗黑简" pitchFamily="49" charset="-122"/>
              </a:rPr>
              <a:t>块，每块含有</a:t>
            </a:r>
            <a:r>
              <a:rPr kumimoji="1" lang="en-US" altLang="zh-CN" sz="2000" dirty="0">
                <a:latin typeface="微软雅黑" pitchFamily="34" charset="-122"/>
                <a:ea typeface="微软雅黑" pitchFamily="34" charset="-122"/>
                <a:cs typeface="经典粗黑简" pitchFamily="49" charset="-122"/>
              </a:rPr>
              <a:t>s</a:t>
            </a:r>
            <a:r>
              <a:rPr kumimoji="1" lang="zh-CN" altLang="en-US" sz="2000" dirty="0">
                <a:latin typeface="微软雅黑" pitchFamily="34" charset="-122"/>
                <a:ea typeface="微软雅黑" pitchFamily="34" charset="-122"/>
                <a:cs typeface="经典粗黑简" pitchFamily="49" charset="-122"/>
              </a:rPr>
              <a:t>个记录，若在索引表和块内都进行顺序查找，则：</a:t>
            </a:r>
          </a:p>
        </p:txBody>
      </p:sp>
      <p:sp>
        <p:nvSpPr>
          <p:cNvPr id="13" name="Rectangle 5"/>
          <p:cNvSpPr>
            <a:spLocks noChangeArrowheads="1"/>
          </p:cNvSpPr>
          <p:nvPr/>
        </p:nvSpPr>
        <p:spPr bwMode="auto">
          <a:xfrm>
            <a:off x="2286000" y="5867400"/>
            <a:ext cx="4458072"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kumimoji="1" lang="zh-CN" altLang="en-US" sz="2000" dirty="0">
                <a:latin typeface="微软雅黑" pitchFamily="34" charset="-122"/>
                <a:ea typeface="微软雅黑" pitchFamily="34" charset="-122"/>
                <a:cs typeface="经典粗黑简" pitchFamily="49" charset="-122"/>
              </a:rPr>
              <a:t>实际上，在索引表中可进行折半查找。</a:t>
            </a:r>
          </a:p>
        </p:txBody>
      </p:sp>
      <p:graphicFrame>
        <p:nvGraphicFramePr>
          <p:cNvPr id="14" name="Object 6"/>
          <p:cNvGraphicFramePr>
            <a:graphicFrameLocks noChangeAspect="1"/>
          </p:cNvGraphicFramePr>
          <p:nvPr/>
        </p:nvGraphicFramePr>
        <p:xfrm>
          <a:off x="4329114" y="3733800"/>
          <a:ext cx="1285875" cy="1136650"/>
        </p:xfrm>
        <a:graphic>
          <a:graphicData uri="http://schemas.openxmlformats.org/presentationml/2006/ole">
            <mc:AlternateContent xmlns:mc="http://schemas.openxmlformats.org/markup-compatibility/2006">
              <mc:Choice xmlns:v="urn:schemas-microsoft-com:vml" Requires="v">
                <p:oleObj name="Equation" r:id="rId4" imgW="444240" imgH="393480" progId="Equation.3">
                  <p:embed/>
                </p:oleObj>
              </mc:Choice>
              <mc:Fallback>
                <p:oleObj name="Equation" r:id="rId4" imgW="44424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9114" y="3733800"/>
                        <a:ext cx="1285875"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7"/>
          <p:cNvGraphicFramePr>
            <a:graphicFrameLocks noChangeAspect="1"/>
          </p:cNvGraphicFramePr>
          <p:nvPr/>
        </p:nvGraphicFramePr>
        <p:xfrm>
          <a:off x="5791201" y="3733801"/>
          <a:ext cx="1287463" cy="1101725"/>
        </p:xfrm>
        <a:graphic>
          <a:graphicData uri="http://schemas.openxmlformats.org/presentationml/2006/ole">
            <mc:AlternateContent xmlns:mc="http://schemas.openxmlformats.org/markup-compatibility/2006">
              <mc:Choice xmlns:v="urn:schemas-microsoft-com:vml" Requires="v">
                <p:oleObj name="Equation" r:id="rId6" imgW="444240" imgH="380880" progId="Equation.3">
                  <p:embed/>
                </p:oleObj>
              </mc:Choice>
              <mc:Fallback>
                <p:oleObj name="Equation" r:id="rId6" imgW="444240" imgH="3808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1201" y="3733801"/>
                        <a:ext cx="1287463"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8"/>
          <p:cNvGraphicFramePr>
            <a:graphicFrameLocks noChangeAspect="1"/>
          </p:cNvGraphicFramePr>
          <p:nvPr/>
        </p:nvGraphicFramePr>
        <p:xfrm>
          <a:off x="4348164" y="4876801"/>
          <a:ext cx="5253037" cy="1065213"/>
        </p:xfrm>
        <a:graphic>
          <a:graphicData uri="http://schemas.openxmlformats.org/presentationml/2006/ole">
            <mc:AlternateContent xmlns:mc="http://schemas.openxmlformats.org/markup-compatibility/2006">
              <mc:Choice xmlns:v="urn:schemas-microsoft-com:vml" Requires="v">
                <p:oleObj name="Equation" r:id="rId8" imgW="1815840" imgH="368280" progId="Equation.3">
                  <p:embed/>
                </p:oleObj>
              </mc:Choice>
              <mc:Fallback>
                <p:oleObj name="Equation" r:id="rId8" imgW="1815840" imgH="3682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8164" y="4876801"/>
                        <a:ext cx="5253037"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A946A2F2-B7B3-3A1F-BFDA-4154F9FCCDED}"/>
              </a:ext>
            </a:extLst>
          </p:cNvPr>
          <p:cNvSpPr/>
          <p:nvPr/>
        </p:nvSpPr>
        <p:spPr>
          <a:xfrm>
            <a:off x="1199456" y="1905401"/>
            <a:ext cx="1760418" cy="430887"/>
          </a:xfrm>
          <a:prstGeom prst="rect">
            <a:avLst/>
          </a:prstGeom>
        </p:spPr>
        <p:txBody>
          <a:bodyPr wrap="none">
            <a:spAutoFit/>
          </a:bodyPr>
          <a:lstStyle/>
          <a:p>
            <a:r>
              <a:rPr kumimoji="1" lang="en-US" altLang="zh-CN" sz="2200" dirty="0">
                <a:latin typeface="微软雅黑" pitchFamily="34" charset="-122"/>
                <a:ea typeface="微软雅黑" pitchFamily="34" charset="-122"/>
                <a:cs typeface="经典粗黑简" pitchFamily="49" charset="-122"/>
              </a:rPr>
              <a:t>2</a:t>
            </a:r>
            <a:r>
              <a:rPr kumimoji="1" lang="zh-CN" altLang="en-US" sz="2200" dirty="0">
                <a:latin typeface="微软雅黑" pitchFamily="34" charset="-122"/>
                <a:ea typeface="微软雅黑" pitchFamily="34" charset="-122"/>
                <a:cs typeface="经典粗黑简" pitchFamily="49" charset="-122"/>
              </a:rPr>
              <a:t>、分块查找</a:t>
            </a:r>
          </a:p>
        </p:txBody>
      </p:sp>
      <p:sp>
        <p:nvSpPr>
          <p:cNvPr id="3" name="矩形 2">
            <a:extLst>
              <a:ext uri="{FF2B5EF4-FFF2-40B4-BE49-F238E27FC236}">
                <a16:creationId xmlns:a16="http://schemas.microsoft.com/office/drawing/2014/main" id="{5E404517-B60D-B37C-60BD-E8C1B177755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9.2 </a:t>
            </a:r>
            <a:r>
              <a:rPr lang="zh-CN" altLang="en-US" sz="3000" b="1" dirty="0">
                <a:latin typeface="黑体" pitchFamily="49" charset="-122"/>
                <a:ea typeface="黑体" pitchFamily="49" charset="-122"/>
                <a:cs typeface="经典粗黑简" pitchFamily="49" charset="-122"/>
              </a:rPr>
              <a:t>线性表的查找</a:t>
            </a:r>
          </a:p>
        </p:txBody>
      </p:sp>
      <p:sp>
        <p:nvSpPr>
          <p:cNvPr id="4" name="矩形 3">
            <a:extLst>
              <a:ext uri="{FF2B5EF4-FFF2-40B4-BE49-F238E27FC236}">
                <a16:creationId xmlns:a16="http://schemas.microsoft.com/office/drawing/2014/main" id="{B4195E6F-68E3-9842-B601-FA7A394042EF}"/>
              </a:ext>
            </a:extLst>
          </p:cNvPr>
          <p:cNvSpPr/>
          <p:nvPr/>
        </p:nvSpPr>
        <p:spPr>
          <a:xfrm>
            <a:off x="255372" y="1152249"/>
            <a:ext cx="5336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9.2.3 </a:t>
            </a:r>
            <a:r>
              <a:rPr lang="zh-CN" altLang="en-US" sz="2800" b="1" dirty="0">
                <a:solidFill>
                  <a:schemeClr val="bg1"/>
                </a:solidFill>
                <a:latin typeface="经典粗黑简" pitchFamily="49" charset="-122"/>
                <a:ea typeface="经典粗黑简" pitchFamily="49" charset="-122"/>
                <a:cs typeface="经典粗黑简" pitchFamily="49" charset="-122"/>
              </a:rPr>
              <a:t>索引存储结构和分块查找</a:t>
            </a:r>
          </a:p>
        </p:txBody>
      </p:sp>
      <p:cxnSp>
        <p:nvCxnSpPr>
          <p:cNvPr id="5" name="直接连接符 4">
            <a:extLst>
              <a:ext uri="{FF2B5EF4-FFF2-40B4-BE49-F238E27FC236}">
                <a16:creationId xmlns:a16="http://schemas.microsoft.com/office/drawing/2014/main" id="{E2436C95-BCE2-7A8B-34CC-87AF236E3CE7}"/>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2303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3540"/>
                                        </p:tgtEl>
                                        <p:attrNameLst>
                                          <p:attrName>style.visibility</p:attrName>
                                        </p:attrNameLst>
                                      </p:cBhvr>
                                      <p:to>
                                        <p:strVal val="visible"/>
                                      </p:to>
                                    </p:set>
                                    <p:animEffect transition="in" filter="wipe(left)">
                                      <p:cBhvr>
                                        <p:cTn id="7" dur="500"/>
                                        <p:tgtEl>
                                          <p:spTgt spid="193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FADE80D-40C0-66AC-134C-DA1096014B1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cxnSp>
        <p:nvCxnSpPr>
          <p:cNvPr id="8" name="直接连接符 7">
            <a:extLst>
              <a:ext uri="{FF2B5EF4-FFF2-40B4-BE49-F238E27FC236}">
                <a16:creationId xmlns:a16="http://schemas.microsoft.com/office/drawing/2014/main" id="{5EB34BA8-7D0A-B2C4-A7E0-435C44592A6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EE084F6B-D84E-67F0-537B-B862E44D64DB}"/>
              </a:ext>
            </a:extLst>
          </p:cNvPr>
          <p:cNvSpPr txBox="1">
            <a:spLocks noChangeArrowheads="1"/>
          </p:cNvSpPr>
          <p:nvPr/>
        </p:nvSpPr>
        <p:spPr bwMode="auto">
          <a:xfrm>
            <a:off x="2135560" y="1425859"/>
            <a:ext cx="7643866" cy="203001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3000"/>
              </a:lnSpc>
              <a:spcBef>
                <a:spcPts val="1200"/>
              </a:spcBef>
              <a:buBlip>
                <a:blip r:embed="rId2"/>
              </a:buBlip>
            </a:pPr>
            <a:r>
              <a:rPr lang="zh-CN" altLang="en-US" sz="2000" b="1">
                <a:solidFill>
                  <a:srgbClr val="0000FF"/>
                </a:solidFill>
                <a:latin typeface="Consolas" pitchFamily="49" charset="0"/>
                <a:ea typeface="仿宋" pitchFamily="49" charset="-122"/>
                <a:cs typeface="Consolas" pitchFamily="49" charset="0"/>
              </a:rPr>
              <a:t>以</a:t>
            </a:r>
            <a:r>
              <a:rPr lang="zh-CN" altLang="en-US" sz="2000" b="1" dirty="0">
                <a:solidFill>
                  <a:srgbClr val="0000FF"/>
                </a:solidFill>
                <a:latin typeface="Consolas" pitchFamily="49" charset="0"/>
                <a:ea typeface="仿宋" pitchFamily="49" charset="-122"/>
                <a:cs typeface="Consolas" pitchFamily="49" charset="0"/>
              </a:rPr>
              <a:t>二叉</a:t>
            </a:r>
            <a:r>
              <a:rPr lang="zh-CN" altLang="en-US" sz="2000" b="1">
                <a:solidFill>
                  <a:srgbClr val="0000FF"/>
                </a:solidFill>
                <a:latin typeface="Consolas" pitchFamily="49" charset="0"/>
                <a:ea typeface="仿宋" pitchFamily="49" charset="-122"/>
                <a:cs typeface="Consolas" pitchFamily="49" charset="0"/>
              </a:rPr>
              <a:t>树或其他树作为查找表的组织形式，称为</a:t>
            </a:r>
            <a:r>
              <a:rPr lang="zh-CN" altLang="en-US" sz="2000" b="1">
                <a:solidFill>
                  <a:srgbClr val="FF0000"/>
                </a:solidFill>
                <a:latin typeface="微软雅黑" pitchFamily="34" charset="-122"/>
                <a:ea typeface="微软雅黑" pitchFamily="34" charset="-122"/>
                <a:cs typeface="Consolas" pitchFamily="49" charset="0"/>
              </a:rPr>
              <a:t>树表</a:t>
            </a:r>
            <a:r>
              <a:rPr lang="zh-CN" altLang="en-US" sz="2000" b="1">
                <a:solidFill>
                  <a:srgbClr val="0000FF"/>
                </a:solidFill>
                <a:latin typeface="Consolas" pitchFamily="49" charset="0"/>
                <a:ea typeface="仿宋" pitchFamily="49" charset="-122"/>
                <a:cs typeface="Consolas" pitchFamily="49" charset="0"/>
              </a:rPr>
              <a:t>。</a:t>
            </a:r>
            <a:endParaRPr lang="en-US" altLang="zh-CN" sz="2000" b="1">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en-US" sz="2000" b="1">
                <a:solidFill>
                  <a:srgbClr val="0000FF"/>
                </a:solidFill>
                <a:latin typeface="Consolas" pitchFamily="49" charset="0"/>
                <a:ea typeface="仿宋" pitchFamily="49" charset="-122"/>
                <a:cs typeface="Consolas" pitchFamily="49" charset="0"/>
              </a:rPr>
              <a:t>树表主要采用</a:t>
            </a:r>
            <a:r>
              <a:rPr lang="zh-CN" altLang="en-US" sz="2000" b="1">
                <a:solidFill>
                  <a:srgbClr val="FF0000"/>
                </a:solidFill>
                <a:latin typeface="微软雅黑" pitchFamily="34" charset="-122"/>
                <a:ea typeface="微软雅黑" pitchFamily="34" charset="-122"/>
                <a:cs typeface="Consolas" pitchFamily="49" charset="0"/>
              </a:rPr>
              <a:t>链式存储结构</a:t>
            </a:r>
            <a:r>
              <a:rPr lang="zh-CN" altLang="en-US" sz="2000" b="1">
                <a:solidFill>
                  <a:srgbClr val="0000FF"/>
                </a:solidFill>
                <a:latin typeface="Consolas" pitchFamily="49" charset="0"/>
                <a:ea typeface="仿宋" pitchFamily="49" charset="-122"/>
                <a:cs typeface="Consolas" pitchFamily="49" charset="0"/>
              </a:rPr>
              <a:t>。</a:t>
            </a:r>
            <a:endParaRPr lang="en-US" altLang="zh-CN" sz="2000" b="1">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en-US" sz="2000" b="1">
                <a:solidFill>
                  <a:srgbClr val="0000FF"/>
                </a:solidFill>
                <a:latin typeface="Consolas" pitchFamily="49" charset="0"/>
                <a:ea typeface="仿宋" pitchFamily="49" charset="-122"/>
                <a:cs typeface="Consolas" pitchFamily="49" charset="0"/>
              </a:rPr>
              <a:t>这类存储结构不仅</a:t>
            </a:r>
            <a:r>
              <a:rPr lang="zh-CN" altLang="en-US" sz="2000" b="1" dirty="0">
                <a:solidFill>
                  <a:srgbClr val="0000FF"/>
                </a:solidFill>
                <a:latin typeface="Consolas" pitchFamily="49" charset="0"/>
                <a:ea typeface="仿宋" pitchFamily="49" charset="-122"/>
                <a:cs typeface="Consolas" pitchFamily="49" charset="0"/>
              </a:rPr>
              <a:t>适</a:t>
            </a:r>
            <a:r>
              <a:rPr lang="zh-CN" altLang="en-US" sz="2000" b="1">
                <a:solidFill>
                  <a:srgbClr val="0000FF"/>
                </a:solidFill>
                <a:latin typeface="Consolas" pitchFamily="49" charset="0"/>
                <a:ea typeface="仿宋" pitchFamily="49" charset="-122"/>
                <a:cs typeface="Consolas" pitchFamily="49" charset="0"/>
              </a:rPr>
              <a:t>合于查找，也</a:t>
            </a:r>
            <a:r>
              <a:rPr lang="zh-CN" altLang="en-US" sz="2000" b="1" dirty="0">
                <a:solidFill>
                  <a:srgbClr val="0000FF"/>
                </a:solidFill>
                <a:latin typeface="Consolas" pitchFamily="49" charset="0"/>
                <a:ea typeface="仿宋" pitchFamily="49" charset="-122"/>
                <a:cs typeface="Consolas" pitchFamily="49" charset="0"/>
              </a:rPr>
              <a:t>适</a:t>
            </a:r>
            <a:r>
              <a:rPr lang="zh-CN" altLang="en-US" sz="2000" b="1">
                <a:solidFill>
                  <a:srgbClr val="0000FF"/>
                </a:solidFill>
                <a:latin typeface="Consolas" pitchFamily="49" charset="0"/>
                <a:ea typeface="仿宋" pitchFamily="49" charset="-122"/>
                <a:cs typeface="Consolas" pitchFamily="49" charset="0"/>
              </a:rPr>
              <a:t>合于插</a:t>
            </a:r>
            <a:r>
              <a:rPr lang="zh-CN" altLang="en-US" sz="2000" b="1" dirty="0">
                <a:solidFill>
                  <a:srgbClr val="0000FF"/>
                </a:solidFill>
                <a:latin typeface="Consolas" pitchFamily="49" charset="0"/>
                <a:ea typeface="仿宋" pitchFamily="49" charset="-122"/>
                <a:cs typeface="Consolas" pitchFamily="49" charset="0"/>
              </a:rPr>
              <a:t>入和删除操</a:t>
            </a:r>
            <a:r>
              <a:rPr lang="zh-CN" altLang="en-US" sz="2000" b="1">
                <a:solidFill>
                  <a:srgbClr val="0000FF"/>
                </a:solidFill>
                <a:latin typeface="Consolas" pitchFamily="49" charset="0"/>
                <a:ea typeface="仿宋" pitchFamily="49" charset="-122"/>
                <a:cs typeface="Consolas" pitchFamily="49" charset="0"/>
              </a:rPr>
              <a:t>作。属于</a:t>
            </a:r>
            <a:r>
              <a:rPr lang="zh-CN" altLang="en-US" sz="2000" b="1">
                <a:solidFill>
                  <a:srgbClr val="FF0000"/>
                </a:solidFill>
                <a:latin typeface="Consolas" pitchFamily="49" charset="0"/>
                <a:ea typeface="仿宋" pitchFamily="49" charset="-122"/>
                <a:cs typeface="Consolas" pitchFamily="49" charset="0"/>
              </a:rPr>
              <a:t>动态查找表</a:t>
            </a:r>
            <a:r>
              <a:rPr lang="zh-CN" altLang="en-US" sz="2000" b="1">
                <a:solidFill>
                  <a:srgbClr val="0000FF"/>
                </a:solidFill>
                <a:latin typeface="Consolas" pitchFamily="49" charset="0"/>
                <a:ea typeface="仿宋" pitchFamily="49" charset="-122"/>
                <a:cs typeface="Consolas" pitchFamily="49" charset="0"/>
              </a:rPr>
              <a:t>。</a:t>
            </a:r>
            <a:endParaRPr lang="zh-CN" altLang="en-US" sz="2000" b="1" dirty="0">
              <a:solidFill>
                <a:srgbClr val="0000FF"/>
              </a:solidFill>
              <a:latin typeface="Consolas" pitchFamily="49" charset="0"/>
              <a:ea typeface="仿宋" pitchFamily="49" charset="-122"/>
              <a:cs typeface="Consolas" pitchFamily="49" charset="0"/>
            </a:endParaRPr>
          </a:p>
        </p:txBody>
      </p:sp>
      <p:sp>
        <p:nvSpPr>
          <p:cNvPr id="10" name="Text Box 2">
            <a:extLst>
              <a:ext uri="{FF2B5EF4-FFF2-40B4-BE49-F238E27FC236}">
                <a16:creationId xmlns:a16="http://schemas.microsoft.com/office/drawing/2014/main" id="{91B6EDDD-3BD9-30BF-A3EE-4A8BC38DC9DD}"/>
              </a:ext>
            </a:extLst>
          </p:cNvPr>
          <p:cNvSpPr txBox="1">
            <a:spLocks noChangeArrowheads="1"/>
          </p:cNvSpPr>
          <p:nvPr/>
        </p:nvSpPr>
        <p:spPr bwMode="auto">
          <a:xfrm>
            <a:off x="3836693" y="3596580"/>
            <a:ext cx="2808287" cy="400110"/>
          </a:xfrm>
          <a:prstGeom prst="rect">
            <a:avLst/>
          </a:prstGeom>
          <a:noFill/>
          <a:ln w="9525">
            <a:noFill/>
            <a:miter lim="800000"/>
            <a:headEnd/>
            <a:tailEnd/>
          </a:ln>
        </p:spPr>
        <p:txBody>
          <a:bodyPr>
            <a:spAutoFit/>
          </a:bodyPr>
          <a:lstStyle/>
          <a:p>
            <a:pPr algn="l">
              <a:spcBef>
                <a:spcPct val="50000"/>
              </a:spcBef>
            </a:pPr>
            <a:r>
              <a:rPr kumimoji="0" lang="zh-CN" altLang="en-US" sz="2000" b="1" dirty="0">
                <a:solidFill>
                  <a:srgbClr val="3333FF"/>
                </a:solidFill>
                <a:latin typeface="Consolas" pitchFamily="49" charset="0"/>
                <a:ea typeface="楷体" pitchFamily="49" charset="-122"/>
                <a:cs typeface="Consolas" pitchFamily="49" charset="0"/>
              </a:rPr>
              <a:t>常见的树表：</a:t>
            </a:r>
          </a:p>
        </p:txBody>
      </p:sp>
      <p:sp>
        <p:nvSpPr>
          <p:cNvPr id="11" name="Text Box 3">
            <a:extLst>
              <a:ext uri="{FF2B5EF4-FFF2-40B4-BE49-F238E27FC236}">
                <a16:creationId xmlns:a16="http://schemas.microsoft.com/office/drawing/2014/main" id="{8B121950-973D-E35A-DB80-FBE67799C58B}"/>
              </a:ext>
            </a:extLst>
          </p:cNvPr>
          <p:cNvSpPr txBox="1">
            <a:spLocks noChangeArrowheads="1"/>
          </p:cNvSpPr>
          <p:nvPr/>
        </p:nvSpPr>
        <p:spPr bwMode="auto">
          <a:xfrm>
            <a:off x="3842609" y="4091039"/>
            <a:ext cx="1928827" cy="2372545"/>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spcBef>
                <a:spcPct val="50000"/>
              </a:spcBef>
              <a:buFontTx/>
              <a:buBlip>
                <a:blip r:embed="rId3"/>
              </a:buBlip>
            </a:pPr>
            <a:r>
              <a:rPr kumimoji="0" lang="en-US" altLang="zh-CN" sz="2000" b="1">
                <a:solidFill>
                  <a:srgbClr val="3333FF"/>
                </a:solidFill>
                <a:latin typeface="Consolas" pitchFamily="49" charset="0"/>
                <a:ea typeface="仿宋" pitchFamily="49" charset="-122"/>
                <a:cs typeface="Consolas" pitchFamily="49" charset="0"/>
              </a:rPr>
              <a:t> </a:t>
            </a:r>
            <a:r>
              <a:rPr kumimoji="0" lang="zh-CN" altLang="en-US" sz="2000" b="1">
                <a:solidFill>
                  <a:srgbClr val="FF00FF"/>
                </a:solidFill>
                <a:latin typeface="Consolas" pitchFamily="49" charset="0"/>
                <a:ea typeface="仿宋" pitchFamily="49" charset="-122"/>
                <a:cs typeface="Consolas" pitchFamily="49" charset="0"/>
              </a:rPr>
              <a:t>二</a:t>
            </a:r>
            <a:r>
              <a:rPr kumimoji="0" lang="zh-CN" altLang="en-US" sz="2000" b="1" dirty="0">
                <a:solidFill>
                  <a:srgbClr val="FF00FF"/>
                </a:solidFill>
                <a:latin typeface="Consolas" pitchFamily="49" charset="0"/>
                <a:ea typeface="仿宋" pitchFamily="49" charset="-122"/>
                <a:cs typeface="Consolas" pitchFamily="49" charset="0"/>
              </a:rPr>
              <a:t>叉排序树</a:t>
            </a:r>
          </a:p>
          <a:p>
            <a:pPr algn="l">
              <a:spcBef>
                <a:spcPct val="50000"/>
              </a:spcBef>
              <a:buFontTx/>
              <a:buBlip>
                <a:blip r:embed="rId3"/>
              </a:buBlip>
            </a:pPr>
            <a:r>
              <a:rPr kumimoji="0" lang="zh-CN" altLang="en-US" sz="2000" b="1">
                <a:solidFill>
                  <a:srgbClr val="FF00FF"/>
                </a:solidFill>
                <a:latin typeface="Consolas" pitchFamily="49" charset="0"/>
                <a:ea typeface="仿宋" pitchFamily="49" charset="-122"/>
                <a:cs typeface="Consolas" pitchFamily="49" charset="0"/>
              </a:rPr>
              <a:t> 平</a:t>
            </a:r>
            <a:r>
              <a:rPr kumimoji="0" lang="zh-CN" altLang="en-US" sz="2000" b="1" dirty="0">
                <a:solidFill>
                  <a:srgbClr val="FF00FF"/>
                </a:solidFill>
                <a:latin typeface="Consolas" pitchFamily="49" charset="0"/>
                <a:ea typeface="仿宋" pitchFamily="49" charset="-122"/>
                <a:cs typeface="Consolas" pitchFamily="49" charset="0"/>
              </a:rPr>
              <a:t>衡二</a:t>
            </a:r>
            <a:r>
              <a:rPr kumimoji="0" lang="zh-CN" altLang="en-US" sz="2000" b="1">
                <a:solidFill>
                  <a:srgbClr val="FF00FF"/>
                </a:solidFill>
                <a:latin typeface="Consolas" pitchFamily="49" charset="0"/>
                <a:ea typeface="仿宋" pitchFamily="49" charset="-122"/>
                <a:cs typeface="Consolas" pitchFamily="49" charset="0"/>
              </a:rPr>
              <a:t>叉树</a:t>
            </a:r>
            <a:endParaRPr kumimoji="0" lang="en-US" altLang="zh-CN" sz="2000" b="1">
              <a:solidFill>
                <a:srgbClr val="FF00FF"/>
              </a:solidFill>
              <a:latin typeface="Consolas" pitchFamily="49" charset="0"/>
              <a:ea typeface="仿宋" pitchFamily="49" charset="-122"/>
              <a:cs typeface="Consolas" pitchFamily="49" charset="0"/>
            </a:endParaRPr>
          </a:p>
          <a:p>
            <a:pPr algn="l">
              <a:spcBef>
                <a:spcPct val="50000"/>
              </a:spcBef>
              <a:buFontTx/>
              <a:buBlip>
                <a:blip r:embed="rId3"/>
              </a:buBlip>
            </a:pPr>
            <a:r>
              <a:rPr kumimoji="0" lang="zh-CN" altLang="en-US" sz="2000" b="1">
                <a:solidFill>
                  <a:srgbClr val="FF00FF"/>
                </a:solidFill>
                <a:latin typeface="Consolas" pitchFamily="49" charset="0"/>
                <a:ea typeface="仿宋" pitchFamily="49" charset="-122"/>
                <a:cs typeface="Consolas" pitchFamily="49" charset="0"/>
              </a:rPr>
              <a:t> 红黑树</a:t>
            </a:r>
            <a:endParaRPr kumimoji="0" lang="en-US" altLang="zh-CN" sz="2000" b="1">
              <a:solidFill>
                <a:srgbClr val="FF00FF"/>
              </a:solidFill>
              <a:latin typeface="Consolas" pitchFamily="49" charset="0"/>
              <a:ea typeface="仿宋" pitchFamily="49" charset="-122"/>
              <a:cs typeface="Consolas" pitchFamily="49" charset="0"/>
            </a:endParaRPr>
          </a:p>
          <a:p>
            <a:pPr algn="l">
              <a:spcBef>
                <a:spcPct val="50000"/>
              </a:spcBef>
              <a:buFontTx/>
              <a:buBlip>
                <a:blip r:embed="rId3"/>
              </a:buBlip>
            </a:pPr>
            <a:r>
              <a:rPr kumimoji="0" lang="en-US" altLang="zh-CN" sz="2000" b="1">
                <a:solidFill>
                  <a:srgbClr val="FF00FF"/>
                </a:solidFill>
                <a:latin typeface="Consolas" pitchFamily="49" charset="0"/>
                <a:ea typeface="仿宋" pitchFamily="49" charset="-122"/>
                <a:cs typeface="Consolas" pitchFamily="49" charset="0"/>
              </a:rPr>
              <a:t> B</a:t>
            </a:r>
            <a:r>
              <a:rPr kumimoji="0" lang="zh-CN" altLang="en-US" sz="2000" b="1">
                <a:solidFill>
                  <a:srgbClr val="FF00FF"/>
                </a:solidFill>
                <a:latin typeface="Consolas" pitchFamily="49" charset="0"/>
                <a:ea typeface="仿宋" pitchFamily="49" charset="-122"/>
                <a:cs typeface="Consolas" pitchFamily="49" charset="0"/>
              </a:rPr>
              <a:t>树</a:t>
            </a:r>
            <a:endParaRPr kumimoji="0" lang="zh-CN" altLang="en-US" sz="2000" b="1" dirty="0">
              <a:solidFill>
                <a:srgbClr val="FF00FF"/>
              </a:solidFill>
              <a:latin typeface="Consolas" pitchFamily="49" charset="0"/>
              <a:ea typeface="仿宋" pitchFamily="49" charset="-122"/>
              <a:cs typeface="Consolas" pitchFamily="49" charset="0"/>
            </a:endParaRPr>
          </a:p>
          <a:p>
            <a:pPr algn="l">
              <a:spcBef>
                <a:spcPct val="50000"/>
              </a:spcBef>
              <a:buFontTx/>
              <a:buBlip>
                <a:blip r:embed="rId3"/>
              </a:buBlip>
            </a:pPr>
            <a:r>
              <a:rPr kumimoji="0" lang="zh-CN" altLang="en-US" sz="2000" b="1">
                <a:solidFill>
                  <a:srgbClr val="FF00FF"/>
                </a:solidFill>
                <a:latin typeface="Consolas" pitchFamily="49" charset="0"/>
                <a:ea typeface="仿宋" pitchFamily="49" charset="-122"/>
                <a:cs typeface="Consolas" pitchFamily="49" charset="0"/>
              </a:rPr>
              <a:t> </a:t>
            </a:r>
            <a:r>
              <a:rPr kumimoji="0" lang="en-US" altLang="zh-CN" sz="2000" b="1">
                <a:solidFill>
                  <a:srgbClr val="FF00FF"/>
                </a:solidFill>
                <a:latin typeface="Consolas" pitchFamily="49" charset="0"/>
                <a:ea typeface="仿宋" pitchFamily="49" charset="-122"/>
                <a:cs typeface="Consolas" pitchFamily="49" charset="0"/>
              </a:rPr>
              <a:t>B</a:t>
            </a:r>
            <a:r>
              <a:rPr kumimoji="0" lang="en-US" altLang="zh-CN" sz="2000" b="1" dirty="0">
                <a:solidFill>
                  <a:srgbClr val="FF00FF"/>
                </a:solidFill>
                <a:latin typeface="Consolas" pitchFamily="49" charset="0"/>
                <a:ea typeface="仿宋" pitchFamily="49" charset="-122"/>
                <a:cs typeface="Consolas" pitchFamily="49" charset="0"/>
              </a:rPr>
              <a:t>+</a:t>
            </a:r>
            <a:r>
              <a:rPr kumimoji="0" lang="zh-CN" altLang="en-US" sz="2000" b="1" dirty="0">
                <a:solidFill>
                  <a:srgbClr val="FF00FF"/>
                </a:solidFill>
                <a:latin typeface="Consolas" pitchFamily="49" charset="0"/>
                <a:ea typeface="仿宋" pitchFamily="49" charset="-122"/>
                <a:cs typeface="Consolas" pitchFamily="49" charset="0"/>
              </a:rPr>
              <a:t>树</a:t>
            </a:r>
          </a:p>
        </p:txBody>
      </p:sp>
      <p:grpSp>
        <p:nvGrpSpPr>
          <p:cNvPr id="13" name="组合 12">
            <a:extLst>
              <a:ext uri="{FF2B5EF4-FFF2-40B4-BE49-F238E27FC236}">
                <a16:creationId xmlns:a16="http://schemas.microsoft.com/office/drawing/2014/main" id="{5EF2B31F-AF1D-4A7B-95CD-70B7CC441A84}"/>
              </a:ext>
            </a:extLst>
          </p:cNvPr>
          <p:cNvGrpSpPr/>
          <p:nvPr/>
        </p:nvGrpSpPr>
        <p:grpSpPr>
          <a:xfrm>
            <a:off x="5914312" y="4157233"/>
            <a:ext cx="2143140" cy="1141906"/>
            <a:chOff x="3929058" y="1928802"/>
            <a:chExt cx="2143140" cy="1141906"/>
          </a:xfrm>
        </p:grpSpPr>
        <p:sp>
          <p:nvSpPr>
            <p:cNvPr id="17" name="右大括号 16">
              <a:extLst>
                <a:ext uri="{FF2B5EF4-FFF2-40B4-BE49-F238E27FC236}">
                  <a16:creationId xmlns:a16="http://schemas.microsoft.com/office/drawing/2014/main" id="{D66B3992-7715-02FC-4A0F-481C43C273F4}"/>
                </a:ext>
              </a:extLst>
            </p:cNvPr>
            <p:cNvSpPr/>
            <p:nvPr/>
          </p:nvSpPr>
          <p:spPr>
            <a:xfrm>
              <a:off x="3929058" y="1928802"/>
              <a:ext cx="142876" cy="1141906"/>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2000"/>
            </a:p>
          </p:txBody>
        </p:sp>
        <p:sp>
          <p:nvSpPr>
            <p:cNvPr id="18" name="TextBox 7">
              <a:extLst>
                <a:ext uri="{FF2B5EF4-FFF2-40B4-BE49-F238E27FC236}">
                  <a16:creationId xmlns:a16="http://schemas.microsoft.com/office/drawing/2014/main" id="{3D7C60CA-107E-5339-26F0-179E28825CD0}"/>
                </a:ext>
              </a:extLst>
            </p:cNvPr>
            <p:cNvSpPr txBox="1"/>
            <p:nvPr/>
          </p:nvSpPr>
          <p:spPr>
            <a:xfrm>
              <a:off x="4214810" y="2273850"/>
              <a:ext cx="1071570" cy="400110"/>
            </a:xfrm>
            <a:prstGeom prst="rect">
              <a:avLst/>
            </a:prstGeom>
            <a:noFill/>
          </p:spPr>
          <p:txBody>
            <a:bodyPr wrap="square" rtlCol="0">
              <a:spAutoFit/>
            </a:bodyPr>
            <a:lstStyle/>
            <a:p>
              <a:pPr algn="l"/>
              <a:r>
                <a:rPr kumimoji="0" lang="zh-CN" altLang="en-US" sz="2000" b="1">
                  <a:solidFill>
                    <a:srgbClr val="0000FF"/>
                  </a:solidFill>
                  <a:latin typeface="Consolas" pitchFamily="49" charset="0"/>
                  <a:ea typeface="仿宋" pitchFamily="49" charset="-122"/>
                  <a:cs typeface="Consolas" pitchFamily="49" charset="0"/>
                </a:rPr>
                <a:t>二叉树</a:t>
              </a:r>
              <a:endParaRPr lang="zh-CN" altLang="en-US" sz="2000" b="1" dirty="0">
                <a:solidFill>
                  <a:srgbClr val="0000FF"/>
                </a:solidFill>
                <a:ea typeface="楷体" pitchFamily="49" charset="-122"/>
                <a:cs typeface="Times New Roman" pitchFamily="18" charset="0"/>
              </a:endParaRPr>
            </a:p>
          </p:txBody>
        </p:sp>
        <p:sp>
          <p:nvSpPr>
            <p:cNvPr id="19" name="椭圆 18">
              <a:extLst>
                <a:ext uri="{FF2B5EF4-FFF2-40B4-BE49-F238E27FC236}">
                  <a16:creationId xmlns:a16="http://schemas.microsoft.com/office/drawing/2014/main" id="{8D42C0F4-7E23-3D26-F1EF-075290F804D1}"/>
                </a:ext>
              </a:extLst>
            </p:cNvPr>
            <p:cNvSpPr/>
            <p:nvPr/>
          </p:nvSpPr>
          <p:spPr>
            <a:xfrm>
              <a:off x="5715008" y="2142014"/>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sp>
          <p:nvSpPr>
            <p:cNvPr id="20" name="椭圆 19">
              <a:extLst>
                <a:ext uri="{FF2B5EF4-FFF2-40B4-BE49-F238E27FC236}">
                  <a16:creationId xmlns:a16="http://schemas.microsoft.com/office/drawing/2014/main" id="{4C2F661C-680D-C447-49C4-0D6A256E468A}"/>
                </a:ext>
              </a:extLst>
            </p:cNvPr>
            <p:cNvSpPr/>
            <p:nvPr/>
          </p:nvSpPr>
          <p:spPr>
            <a:xfrm>
              <a:off x="5500694" y="2604956"/>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sp>
          <p:nvSpPr>
            <p:cNvPr id="21" name="椭圆 20">
              <a:extLst>
                <a:ext uri="{FF2B5EF4-FFF2-40B4-BE49-F238E27FC236}">
                  <a16:creationId xmlns:a16="http://schemas.microsoft.com/office/drawing/2014/main" id="{2A003900-78FC-962A-DFA7-67AEB6BE909A}"/>
                </a:ext>
              </a:extLst>
            </p:cNvPr>
            <p:cNvSpPr/>
            <p:nvPr/>
          </p:nvSpPr>
          <p:spPr>
            <a:xfrm>
              <a:off x="5929322" y="2604956"/>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cxnSp>
          <p:nvCxnSpPr>
            <p:cNvPr id="22" name="直接连接符 21">
              <a:extLst>
                <a:ext uri="{FF2B5EF4-FFF2-40B4-BE49-F238E27FC236}">
                  <a16:creationId xmlns:a16="http://schemas.microsoft.com/office/drawing/2014/main" id="{29679C1E-05D5-61C4-26D8-8A1DFFFF6541}"/>
                </a:ext>
              </a:extLst>
            </p:cNvPr>
            <p:cNvCxnSpPr>
              <a:stCxn id="19" idx="3"/>
              <a:endCxn id="20" idx="0"/>
            </p:cNvCxnSpPr>
            <p:nvPr/>
          </p:nvCxnSpPr>
          <p:spPr>
            <a:xfrm rot="5400000">
              <a:off x="5499381" y="2368405"/>
              <a:ext cx="309302" cy="16380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3" name="直接连接符 22">
              <a:extLst>
                <a:ext uri="{FF2B5EF4-FFF2-40B4-BE49-F238E27FC236}">
                  <a16:creationId xmlns:a16="http://schemas.microsoft.com/office/drawing/2014/main" id="{CFA8486B-A462-0319-4C30-E5B112BD8ADB}"/>
                </a:ext>
              </a:extLst>
            </p:cNvPr>
            <p:cNvCxnSpPr>
              <a:stCxn id="19" idx="5"/>
              <a:endCxn id="21" idx="0"/>
            </p:cNvCxnSpPr>
            <p:nvPr/>
          </p:nvCxnSpPr>
          <p:spPr>
            <a:xfrm rot="16200000" flipH="1">
              <a:off x="5764209" y="2368405"/>
              <a:ext cx="309302" cy="163800"/>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grpSp>
        <p:nvGrpSpPr>
          <p:cNvPr id="24" name="组合 23">
            <a:extLst>
              <a:ext uri="{FF2B5EF4-FFF2-40B4-BE49-F238E27FC236}">
                <a16:creationId xmlns:a16="http://schemas.microsoft.com/office/drawing/2014/main" id="{5FC89BDD-6D38-3F52-0A53-FDA8C3F4E507}"/>
              </a:ext>
            </a:extLst>
          </p:cNvPr>
          <p:cNvGrpSpPr/>
          <p:nvPr/>
        </p:nvGrpSpPr>
        <p:grpSpPr>
          <a:xfrm>
            <a:off x="5914312" y="5656329"/>
            <a:ext cx="2071702" cy="642942"/>
            <a:chOff x="3929058" y="2857496"/>
            <a:chExt cx="2071702" cy="642942"/>
          </a:xfrm>
        </p:grpSpPr>
        <p:sp>
          <p:nvSpPr>
            <p:cNvPr id="25" name="右大括号 24">
              <a:extLst>
                <a:ext uri="{FF2B5EF4-FFF2-40B4-BE49-F238E27FC236}">
                  <a16:creationId xmlns:a16="http://schemas.microsoft.com/office/drawing/2014/main" id="{890A696D-F885-AE58-C8DF-701895A2A514}"/>
                </a:ext>
              </a:extLst>
            </p:cNvPr>
            <p:cNvSpPr/>
            <p:nvPr/>
          </p:nvSpPr>
          <p:spPr>
            <a:xfrm>
              <a:off x="3929058" y="2857496"/>
              <a:ext cx="142876" cy="642942"/>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2000"/>
            </a:p>
          </p:txBody>
        </p:sp>
        <p:sp>
          <p:nvSpPr>
            <p:cNvPr id="26" name="TextBox 17">
              <a:extLst>
                <a:ext uri="{FF2B5EF4-FFF2-40B4-BE49-F238E27FC236}">
                  <a16:creationId xmlns:a16="http://schemas.microsoft.com/office/drawing/2014/main" id="{ABA1DB9E-98A2-1FB2-3F74-AA8308B2C131}"/>
                </a:ext>
              </a:extLst>
            </p:cNvPr>
            <p:cNvSpPr txBox="1"/>
            <p:nvPr/>
          </p:nvSpPr>
          <p:spPr>
            <a:xfrm>
              <a:off x="4143372" y="2988230"/>
              <a:ext cx="1071570" cy="400110"/>
            </a:xfrm>
            <a:prstGeom prst="rect">
              <a:avLst/>
            </a:prstGeom>
            <a:noFill/>
          </p:spPr>
          <p:txBody>
            <a:bodyPr wrap="square" rtlCol="0">
              <a:spAutoFit/>
            </a:bodyPr>
            <a:lstStyle/>
            <a:p>
              <a:pPr algn="l"/>
              <a:r>
                <a:rPr kumimoji="0" lang="en-US" altLang="zh-CN" sz="2000" b="1" i="1">
                  <a:solidFill>
                    <a:srgbClr val="0000FF"/>
                  </a:solidFill>
                  <a:latin typeface="Consolas" pitchFamily="49" charset="0"/>
                  <a:ea typeface="仿宋" pitchFamily="49" charset="-122"/>
                  <a:cs typeface="Consolas" pitchFamily="49" charset="0"/>
                </a:rPr>
                <a:t>m</a:t>
              </a:r>
              <a:r>
                <a:rPr kumimoji="0" lang="zh-CN" altLang="en-US" sz="2000" b="1">
                  <a:solidFill>
                    <a:srgbClr val="0000FF"/>
                  </a:solidFill>
                  <a:latin typeface="Consolas" pitchFamily="49" charset="0"/>
                  <a:ea typeface="仿宋" pitchFamily="49" charset="-122"/>
                  <a:cs typeface="Consolas" pitchFamily="49" charset="0"/>
                </a:rPr>
                <a:t>叉树</a:t>
              </a:r>
              <a:endParaRPr lang="zh-CN" altLang="en-US" sz="2000" b="1" dirty="0">
                <a:solidFill>
                  <a:srgbClr val="0000FF"/>
                </a:solidFill>
                <a:ea typeface="楷体" pitchFamily="49" charset="-122"/>
                <a:cs typeface="Times New Roman" pitchFamily="18" charset="0"/>
              </a:endParaRPr>
            </a:p>
          </p:txBody>
        </p:sp>
        <p:sp>
          <p:nvSpPr>
            <p:cNvPr id="27" name="椭圆 26">
              <a:extLst>
                <a:ext uri="{FF2B5EF4-FFF2-40B4-BE49-F238E27FC236}">
                  <a16:creationId xmlns:a16="http://schemas.microsoft.com/office/drawing/2014/main" id="{1C8A0A12-1FC9-000A-98F6-9C3AC2836039}"/>
                </a:ext>
              </a:extLst>
            </p:cNvPr>
            <p:cNvSpPr/>
            <p:nvPr/>
          </p:nvSpPr>
          <p:spPr>
            <a:xfrm>
              <a:off x="5643570" y="2857496"/>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sp>
          <p:nvSpPr>
            <p:cNvPr id="28" name="椭圆 27">
              <a:extLst>
                <a:ext uri="{FF2B5EF4-FFF2-40B4-BE49-F238E27FC236}">
                  <a16:creationId xmlns:a16="http://schemas.microsoft.com/office/drawing/2014/main" id="{7BD8061B-4F49-73CA-D7FD-24FB67438DCA}"/>
                </a:ext>
              </a:extLst>
            </p:cNvPr>
            <p:cNvSpPr/>
            <p:nvPr/>
          </p:nvSpPr>
          <p:spPr>
            <a:xfrm>
              <a:off x="5429256" y="3320438"/>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sp>
          <p:nvSpPr>
            <p:cNvPr id="29" name="椭圆 28">
              <a:extLst>
                <a:ext uri="{FF2B5EF4-FFF2-40B4-BE49-F238E27FC236}">
                  <a16:creationId xmlns:a16="http://schemas.microsoft.com/office/drawing/2014/main" id="{F7FEA20A-0C9B-D2F5-DEC6-606B142E22D1}"/>
                </a:ext>
              </a:extLst>
            </p:cNvPr>
            <p:cNvSpPr/>
            <p:nvPr/>
          </p:nvSpPr>
          <p:spPr>
            <a:xfrm>
              <a:off x="5857884" y="3320438"/>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cxnSp>
          <p:nvCxnSpPr>
            <p:cNvPr id="30" name="直接连接符 29">
              <a:extLst>
                <a:ext uri="{FF2B5EF4-FFF2-40B4-BE49-F238E27FC236}">
                  <a16:creationId xmlns:a16="http://schemas.microsoft.com/office/drawing/2014/main" id="{2EF04FA6-3B27-5E8F-AD2F-03E37AAC2A5B}"/>
                </a:ext>
              </a:extLst>
            </p:cNvPr>
            <p:cNvCxnSpPr>
              <a:stCxn id="27" idx="3"/>
              <a:endCxn id="28" idx="0"/>
            </p:cNvCxnSpPr>
            <p:nvPr/>
          </p:nvCxnSpPr>
          <p:spPr>
            <a:xfrm rot="5400000">
              <a:off x="5427943" y="3083887"/>
              <a:ext cx="309302" cy="16380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1" name="直接连接符 30">
              <a:extLst>
                <a:ext uri="{FF2B5EF4-FFF2-40B4-BE49-F238E27FC236}">
                  <a16:creationId xmlns:a16="http://schemas.microsoft.com/office/drawing/2014/main" id="{A3F62B3D-33F0-DC62-9A24-836CA40D0DCD}"/>
                </a:ext>
              </a:extLst>
            </p:cNvPr>
            <p:cNvCxnSpPr>
              <a:stCxn id="27" idx="5"/>
              <a:endCxn id="29" idx="0"/>
            </p:cNvCxnSpPr>
            <p:nvPr/>
          </p:nvCxnSpPr>
          <p:spPr>
            <a:xfrm rot="16200000" flipH="1">
              <a:off x="5692771" y="3083887"/>
              <a:ext cx="309302" cy="163800"/>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32" name="椭圆 31">
              <a:extLst>
                <a:ext uri="{FF2B5EF4-FFF2-40B4-BE49-F238E27FC236}">
                  <a16:creationId xmlns:a16="http://schemas.microsoft.com/office/drawing/2014/main" id="{B2F398A8-F9D2-D31C-ACD6-50A58415F505}"/>
                </a:ext>
              </a:extLst>
            </p:cNvPr>
            <p:cNvSpPr/>
            <p:nvPr/>
          </p:nvSpPr>
          <p:spPr>
            <a:xfrm>
              <a:off x="5643570" y="3320438"/>
              <a:ext cx="142876" cy="180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cxnSp>
          <p:nvCxnSpPr>
            <p:cNvPr id="33" name="直接连接符 32">
              <a:extLst>
                <a:ext uri="{FF2B5EF4-FFF2-40B4-BE49-F238E27FC236}">
                  <a16:creationId xmlns:a16="http://schemas.microsoft.com/office/drawing/2014/main" id="{B8A126B9-169D-A537-DE1A-189BD476B3AB}"/>
                </a:ext>
              </a:extLst>
            </p:cNvPr>
            <p:cNvCxnSpPr>
              <a:stCxn id="27" idx="4"/>
              <a:endCxn id="32" idx="0"/>
            </p:cNvCxnSpPr>
            <p:nvPr/>
          </p:nvCxnSpPr>
          <p:spPr>
            <a:xfrm rot="5400000">
              <a:off x="5573537" y="3178967"/>
              <a:ext cx="282942" cy="0"/>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spTree>
    <p:extLst>
      <p:ext uri="{BB962C8B-B14F-4D97-AF65-F5344CB8AC3E}">
        <p14:creationId xmlns:p14="http://schemas.microsoft.com/office/powerpoint/2010/main" val="5141732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E4EF2-7F27-96DF-306F-BD17E04E1BD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C0945E5-AF92-B845-CA26-B2664010AAE7}"/>
              </a:ext>
            </a:extLst>
          </p:cNvPr>
          <p:cNvSpPr/>
          <p:nvPr/>
        </p:nvSpPr>
        <p:spPr>
          <a:xfrm>
            <a:off x="1631504" y="2348881"/>
            <a:ext cx="8280920" cy="461665"/>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二叉排序树或者是一棵空树；或者是具有下列性质的二叉树：</a:t>
            </a:r>
          </a:p>
        </p:txBody>
      </p:sp>
      <p:sp>
        <p:nvSpPr>
          <p:cNvPr id="3" name="矩形 2">
            <a:extLst>
              <a:ext uri="{FF2B5EF4-FFF2-40B4-BE49-F238E27FC236}">
                <a16:creationId xmlns:a16="http://schemas.microsoft.com/office/drawing/2014/main" id="{4BC93BBE-7956-37E2-31D7-8C89DF497012}"/>
              </a:ext>
            </a:extLst>
          </p:cNvPr>
          <p:cNvSpPr/>
          <p:nvPr/>
        </p:nvSpPr>
        <p:spPr>
          <a:xfrm>
            <a:off x="1775520" y="3212976"/>
            <a:ext cx="7848872"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若它的左子树不空，则左子树上所有结点的值均小于它的根结点的值；</a:t>
            </a:r>
          </a:p>
        </p:txBody>
      </p:sp>
      <p:sp>
        <p:nvSpPr>
          <p:cNvPr id="4" name="矩形 3">
            <a:extLst>
              <a:ext uri="{FF2B5EF4-FFF2-40B4-BE49-F238E27FC236}">
                <a16:creationId xmlns:a16="http://schemas.microsoft.com/office/drawing/2014/main" id="{C5D3519F-16F4-F66A-76F7-6A292361913D}"/>
              </a:ext>
            </a:extLst>
          </p:cNvPr>
          <p:cNvSpPr/>
          <p:nvPr/>
        </p:nvSpPr>
        <p:spPr>
          <a:xfrm>
            <a:off x="1775520" y="4005064"/>
            <a:ext cx="7920880"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若它的右子树不空，则右子树上所有结点的值均大于它的根结点的值；</a:t>
            </a:r>
          </a:p>
        </p:txBody>
      </p:sp>
      <p:sp>
        <p:nvSpPr>
          <p:cNvPr id="5" name="矩形 4">
            <a:extLst>
              <a:ext uri="{FF2B5EF4-FFF2-40B4-BE49-F238E27FC236}">
                <a16:creationId xmlns:a16="http://schemas.microsoft.com/office/drawing/2014/main" id="{6B4C4716-B51E-34E4-78EB-1C392B3E1B82}"/>
              </a:ext>
            </a:extLst>
          </p:cNvPr>
          <p:cNvSpPr/>
          <p:nvPr/>
        </p:nvSpPr>
        <p:spPr>
          <a:xfrm>
            <a:off x="1775520" y="4797152"/>
            <a:ext cx="4544834"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它的左、右子树也分别为二叉排序树。</a:t>
            </a:r>
          </a:p>
        </p:txBody>
      </p:sp>
      <p:sp>
        <p:nvSpPr>
          <p:cNvPr id="6" name="矩形 5">
            <a:extLst>
              <a:ext uri="{FF2B5EF4-FFF2-40B4-BE49-F238E27FC236}">
                <a16:creationId xmlns:a16="http://schemas.microsoft.com/office/drawing/2014/main" id="{7D8A079D-7A37-6BD4-97D1-A995F0553286}"/>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7" name="矩形 6">
            <a:extLst>
              <a:ext uri="{FF2B5EF4-FFF2-40B4-BE49-F238E27FC236}">
                <a16:creationId xmlns:a16="http://schemas.microsoft.com/office/drawing/2014/main" id="{AE927A09-DC28-328F-5032-555E422C4F9D}"/>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8" name="直接连接符 7">
            <a:extLst>
              <a:ext uri="{FF2B5EF4-FFF2-40B4-BE49-F238E27FC236}">
                <a16:creationId xmlns:a16="http://schemas.microsoft.com/office/drawing/2014/main" id="{EE1E14E0-E3F7-D52E-1159-57730878AA84}"/>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E1A4908F-65BC-5801-9AE4-4B318F233241}"/>
              </a:ext>
            </a:extLst>
          </p:cNvPr>
          <p:cNvSpPr txBox="1">
            <a:spLocks noChangeArrowheads="1"/>
          </p:cNvSpPr>
          <p:nvPr/>
        </p:nvSpPr>
        <p:spPr bwMode="auto">
          <a:xfrm>
            <a:off x="2711624" y="5521085"/>
            <a:ext cx="5214974" cy="369332"/>
          </a:xfrm>
          <a:prstGeom prst="rect">
            <a:avLst/>
          </a:prstGeom>
          <a:noFill/>
          <a:ln w="9525">
            <a:noFill/>
            <a:miter lim="800000"/>
            <a:headEnd/>
            <a:tailEnd/>
          </a:ln>
        </p:spPr>
        <p:txBody>
          <a:bodyPr wrap="square">
            <a:spAutoFit/>
          </a:bodyPr>
          <a:lstStyle/>
          <a:p>
            <a:pPr algn="l">
              <a:spcBef>
                <a:spcPct val="50000"/>
              </a:spcBef>
            </a:pPr>
            <a:r>
              <a:rPr kumimoji="0" lang="zh-CN" altLang="en-US" sz="1800" b="1" dirty="0">
                <a:latin typeface="Consolas" pitchFamily="49" charset="0"/>
                <a:ea typeface="华文中宋" pitchFamily="2" charset="-122"/>
                <a:cs typeface="Consolas" pitchFamily="49" charset="0"/>
              </a:rPr>
              <a:t>注意：</a:t>
            </a:r>
            <a:r>
              <a:rPr kumimoji="0" lang="zh-CN" altLang="en-US" sz="1800" b="1" dirty="0">
                <a:solidFill>
                  <a:srgbClr val="3333FF"/>
                </a:solidFill>
                <a:latin typeface="Consolas" pitchFamily="49" charset="0"/>
                <a:ea typeface="华文中宋" pitchFamily="2" charset="-122"/>
                <a:cs typeface="Consolas" pitchFamily="49" charset="0"/>
              </a:rPr>
              <a:t>二叉排序树中没有相同关键字的结点。</a:t>
            </a:r>
          </a:p>
        </p:txBody>
      </p:sp>
    </p:spTree>
    <p:extLst>
      <p:ext uri="{BB962C8B-B14F-4D97-AF65-F5344CB8AC3E}">
        <p14:creationId xmlns:p14="http://schemas.microsoft.com/office/powerpoint/2010/main" val="15188398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963045" y="1814131"/>
            <a:ext cx="4681537" cy="2616374"/>
            <a:chOff x="1292" y="164"/>
            <a:chExt cx="3312" cy="2133"/>
          </a:xfrm>
        </p:grpSpPr>
        <p:sp>
          <p:nvSpPr>
            <p:cNvPr id="59399" name="Oval 3"/>
            <p:cNvSpPr>
              <a:spLocks noChangeArrowheads="1"/>
            </p:cNvSpPr>
            <p:nvPr/>
          </p:nvSpPr>
          <p:spPr bwMode="auto">
            <a:xfrm>
              <a:off x="2698" y="1888"/>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29</a:t>
              </a:r>
            </a:p>
          </p:txBody>
        </p:sp>
        <p:sp>
          <p:nvSpPr>
            <p:cNvPr id="59400" name="Oval 4"/>
            <p:cNvSpPr>
              <a:spLocks noChangeArrowheads="1"/>
            </p:cNvSpPr>
            <p:nvPr/>
          </p:nvSpPr>
          <p:spPr bwMode="auto">
            <a:xfrm>
              <a:off x="1292" y="1253"/>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9</a:t>
              </a:r>
            </a:p>
          </p:txBody>
        </p:sp>
        <p:sp>
          <p:nvSpPr>
            <p:cNvPr id="59401" name="Oval 5"/>
            <p:cNvSpPr>
              <a:spLocks noChangeArrowheads="1"/>
            </p:cNvSpPr>
            <p:nvPr/>
          </p:nvSpPr>
          <p:spPr bwMode="auto">
            <a:xfrm>
              <a:off x="2109" y="1343"/>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25</a:t>
              </a:r>
            </a:p>
          </p:txBody>
        </p:sp>
        <p:sp>
          <p:nvSpPr>
            <p:cNvPr id="59402" name="Oval 6"/>
            <p:cNvSpPr>
              <a:spLocks noChangeArrowheads="1"/>
            </p:cNvSpPr>
            <p:nvPr/>
          </p:nvSpPr>
          <p:spPr bwMode="auto">
            <a:xfrm>
              <a:off x="4241" y="1343"/>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60</a:t>
              </a:r>
            </a:p>
          </p:txBody>
        </p:sp>
        <p:sp>
          <p:nvSpPr>
            <p:cNvPr id="59403" name="Oval 7"/>
            <p:cNvSpPr>
              <a:spLocks noChangeArrowheads="1"/>
            </p:cNvSpPr>
            <p:nvPr/>
          </p:nvSpPr>
          <p:spPr bwMode="auto">
            <a:xfrm>
              <a:off x="3198" y="1298"/>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39</a:t>
              </a:r>
            </a:p>
          </p:txBody>
        </p:sp>
        <p:sp>
          <p:nvSpPr>
            <p:cNvPr id="59404" name="Oval 8"/>
            <p:cNvSpPr>
              <a:spLocks noChangeArrowheads="1"/>
            </p:cNvSpPr>
            <p:nvPr/>
          </p:nvSpPr>
          <p:spPr bwMode="auto">
            <a:xfrm>
              <a:off x="1746" y="754"/>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13</a:t>
              </a:r>
            </a:p>
          </p:txBody>
        </p:sp>
        <p:sp>
          <p:nvSpPr>
            <p:cNvPr id="59405" name="Oval 9"/>
            <p:cNvSpPr>
              <a:spLocks noChangeArrowheads="1"/>
            </p:cNvSpPr>
            <p:nvPr/>
          </p:nvSpPr>
          <p:spPr bwMode="auto">
            <a:xfrm>
              <a:off x="3697" y="754"/>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52</a:t>
              </a:r>
            </a:p>
          </p:txBody>
        </p:sp>
        <p:sp>
          <p:nvSpPr>
            <p:cNvPr id="59406" name="Oval 10"/>
            <p:cNvSpPr>
              <a:spLocks noChangeArrowheads="1"/>
            </p:cNvSpPr>
            <p:nvPr/>
          </p:nvSpPr>
          <p:spPr bwMode="auto">
            <a:xfrm>
              <a:off x="2653" y="164"/>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31</a:t>
              </a:r>
            </a:p>
          </p:txBody>
        </p:sp>
        <p:sp>
          <p:nvSpPr>
            <p:cNvPr id="59407" name="Line 11"/>
            <p:cNvSpPr>
              <a:spLocks noChangeShapeType="1"/>
            </p:cNvSpPr>
            <p:nvPr/>
          </p:nvSpPr>
          <p:spPr bwMode="auto">
            <a:xfrm>
              <a:off x="3016" y="345"/>
              <a:ext cx="748" cy="454"/>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08" name="Line 12"/>
            <p:cNvSpPr>
              <a:spLocks noChangeShapeType="1"/>
            </p:cNvSpPr>
            <p:nvPr/>
          </p:nvSpPr>
          <p:spPr bwMode="auto">
            <a:xfrm flipH="1">
              <a:off x="3425" y="981"/>
              <a:ext cx="272" cy="317"/>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09" name="Line 13"/>
            <p:cNvSpPr>
              <a:spLocks noChangeShapeType="1"/>
            </p:cNvSpPr>
            <p:nvPr/>
          </p:nvSpPr>
          <p:spPr bwMode="auto">
            <a:xfrm>
              <a:off x="4060" y="980"/>
              <a:ext cx="362" cy="363"/>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0" name="Line 14"/>
            <p:cNvSpPr>
              <a:spLocks noChangeShapeType="1"/>
            </p:cNvSpPr>
            <p:nvPr/>
          </p:nvSpPr>
          <p:spPr bwMode="auto">
            <a:xfrm flipH="1">
              <a:off x="2041" y="345"/>
              <a:ext cx="612" cy="454"/>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1" name="Line 15"/>
            <p:cNvSpPr>
              <a:spLocks noChangeShapeType="1"/>
            </p:cNvSpPr>
            <p:nvPr/>
          </p:nvSpPr>
          <p:spPr bwMode="auto">
            <a:xfrm>
              <a:off x="2064" y="1071"/>
              <a:ext cx="181" cy="272"/>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2" name="Line 16"/>
            <p:cNvSpPr>
              <a:spLocks noChangeShapeType="1"/>
            </p:cNvSpPr>
            <p:nvPr/>
          </p:nvSpPr>
          <p:spPr bwMode="auto">
            <a:xfrm flipH="1">
              <a:off x="1519" y="981"/>
              <a:ext cx="227" cy="272"/>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3" name="Line 17"/>
            <p:cNvSpPr>
              <a:spLocks noChangeShapeType="1"/>
            </p:cNvSpPr>
            <p:nvPr/>
          </p:nvSpPr>
          <p:spPr bwMode="auto">
            <a:xfrm>
              <a:off x="2472" y="1616"/>
              <a:ext cx="363" cy="272"/>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4" name="Oval 18"/>
            <p:cNvSpPr>
              <a:spLocks noChangeArrowheads="1"/>
            </p:cNvSpPr>
            <p:nvPr/>
          </p:nvSpPr>
          <p:spPr bwMode="auto">
            <a:xfrm>
              <a:off x="1565" y="1934"/>
              <a:ext cx="363" cy="363"/>
            </a:xfrm>
            <a:prstGeom prst="ellipse">
              <a:avLst/>
            </a:prstGeom>
            <a:solidFill>
              <a:schemeClr val="bg1"/>
            </a:solidFill>
            <a:ln w="19050" cap="sq">
              <a:solidFill>
                <a:srgbClr val="0033CC"/>
              </a:solidFill>
              <a:miter lim="800000"/>
              <a:headEnd type="none" w="sm" len="sm"/>
              <a:tailEnd type="none" w="sm" len="sm"/>
            </a:ln>
          </p:spPr>
          <p:txBody>
            <a:bodyPr wrap="none" anchor="ctr"/>
            <a:lstStyle/>
            <a:p>
              <a:pPr algn="ctr"/>
              <a:r>
                <a:rPr kumimoji="1" lang="en-US" altLang="zh-CN" sz="2400">
                  <a:latin typeface="Comic Sans MS" pitchFamily="66" charset="0"/>
                  <a:ea typeface="隶书" pitchFamily="49" charset="-122"/>
                </a:rPr>
                <a:t>18</a:t>
              </a:r>
            </a:p>
          </p:txBody>
        </p:sp>
        <p:sp>
          <p:nvSpPr>
            <p:cNvPr id="59415" name="Line 19"/>
            <p:cNvSpPr>
              <a:spLocks noChangeShapeType="1"/>
            </p:cNvSpPr>
            <p:nvPr/>
          </p:nvSpPr>
          <p:spPr bwMode="auto">
            <a:xfrm flipH="1">
              <a:off x="1837" y="1616"/>
              <a:ext cx="317" cy="318"/>
            </a:xfrm>
            <a:prstGeom prst="line">
              <a:avLst/>
            </a:prstGeom>
            <a:noFill/>
            <a:ln w="19050" cap="sq">
              <a:solidFill>
                <a:srgbClr val="0033CC"/>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9395" name="Text Box 20"/>
          <p:cNvSpPr txBox="1">
            <a:spLocks noChangeArrowheads="1"/>
          </p:cNvSpPr>
          <p:nvPr/>
        </p:nvSpPr>
        <p:spPr bwMode="auto">
          <a:xfrm>
            <a:off x="2712816" y="2364433"/>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zh-CN" altLang="en-US" sz="2400" dirty="0">
                <a:latin typeface="微软雅黑" pitchFamily="34" charset="-122"/>
                <a:ea typeface="微软雅黑" pitchFamily="34" charset="-122"/>
                <a:cs typeface="经典粗黑简" pitchFamily="49" charset="-122"/>
              </a:rPr>
              <a:t>例如</a:t>
            </a:r>
          </a:p>
        </p:txBody>
      </p:sp>
      <p:sp>
        <p:nvSpPr>
          <p:cNvPr id="103445" name="Text Box 21"/>
          <p:cNvSpPr txBox="1">
            <a:spLocks noChangeArrowheads="1"/>
          </p:cNvSpPr>
          <p:nvPr/>
        </p:nvSpPr>
        <p:spPr bwMode="auto">
          <a:xfrm>
            <a:off x="3082436" y="4671330"/>
            <a:ext cx="2249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000" dirty="0">
                <a:latin typeface="微软雅黑" pitchFamily="34" charset="-122"/>
                <a:ea typeface="微软雅黑" pitchFamily="34" charset="-122"/>
                <a:cs typeface="经典粗黑简" pitchFamily="49" charset="-122"/>
              </a:rPr>
              <a:t>中序遍历序列：</a:t>
            </a:r>
          </a:p>
        </p:txBody>
      </p:sp>
      <p:sp>
        <p:nvSpPr>
          <p:cNvPr id="103446" name="Text Box 22"/>
          <p:cNvSpPr txBox="1">
            <a:spLocks noChangeArrowheads="1"/>
          </p:cNvSpPr>
          <p:nvPr/>
        </p:nvSpPr>
        <p:spPr bwMode="auto">
          <a:xfrm>
            <a:off x="4955015" y="4702995"/>
            <a:ext cx="41764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000" dirty="0">
                <a:solidFill>
                  <a:srgbClr val="FF3300"/>
                </a:solidFill>
                <a:latin typeface="Comic Sans MS" pitchFamily="66" charset="0"/>
                <a:ea typeface="隶书" pitchFamily="49" charset="-122"/>
              </a:rPr>
              <a:t>9  13  18  25  29  31  39  52  60</a:t>
            </a:r>
            <a:r>
              <a:rPr kumimoji="1" lang="en-US" altLang="zh-CN" sz="2000" b="1" dirty="0">
                <a:solidFill>
                  <a:srgbClr val="FF3300"/>
                </a:solidFill>
                <a:latin typeface="Comic Sans MS" pitchFamily="66" charset="0"/>
                <a:ea typeface="隶书" pitchFamily="49" charset="-122"/>
              </a:rPr>
              <a:t>  </a:t>
            </a:r>
          </a:p>
        </p:txBody>
      </p:sp>
      <p:sp>
        <p:nvSpPr>
          <p:cNvPr id="3" name="矩形 2">
            <a:extLst>
              <a:ext uri="{FF2B5EF4-FFF2-40B4-BE49-F238E27FC236}">
                <a16:creationId xmlns:a16="http://schemas.microsoft.com/office/drawing/2014/main" id="{590E8271-DABD-E0EC-9334-C9F85BDD8AA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4" name="矩形 3">
            <a:extLst>
              <a:ext uri="{FF2B5EF4-FFF2-40B4-BE49-F238E27FC236}">
                <a16:creationId xmlns:a16="http://schemas.microsoft.com/office/drawing/2014/main" id="{040414CF-0688-A3FF-38F6-763E92254696}"/>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5" name="直接连接符 4">
            <a:extLst>
              <a:ext uri="{FF2B5EF4-FFF2-40B4-BE49-F238E27FC236}">
                <a16:creationId xmlns:a16="http://schemas.microsoft.com/office/drawing/2014/main" id="{5E9C6A54-884B-A3CE-F985-234A996E0EC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7">
            <a:extLst>
              <a:ext uri="{FF2B5EF4-FFF2-40B4-BE49-F238E27FC236}">
                <a16:creationId xmlns:a16="http://schemas.microsoft.com/office/drawing/2014/main" id="{C4EB7B3E-B419-1CA3-C9BE-64B84E54B698}"/>
              </a:ext>
            </a:extLst>
          </p:cNvPr>
          <p:cNvSpPr txBox="1">
            <a:spLocks noChangeArrowheads="1"/>
          </p:cNvSpPr>
          <p:nvPr/>
        </p:nvSpPr>
        <p:spPr bwMode="auto">
          <a:xfrm>
            <a:off x="2950433" y="3044704"/>
            <a:ext cx="1723549" cy="461665"/>
          </a:xfrm>
          <a:prstGeom prst="rect">
            <a:avLst/>
          </a:prstGeom>
          <a:noFill/>
          <a:ln w="9525">
            <a:solidFill>
              <a:schemeClr val="bg1"/>
            </a:solidFill>
            <a:miter lim="800000"/>
            <a:headEnd/>
            <a:tailEnd/>
          </a:ln>
        </p:spPr>
        <p:txBody>
          <a:bodyPr wrap="none">
            <a:spAutoFit/>
          </a:bodyPr>
          <a:lstStyle/>
          <a:p>
            <a:pPr algn="l"/>
            <a:r>
              <a:rPr kumimoji="1" lang="zh-CN" altLang="en-US" sz="2400" dirty="0">
                <a:latin typeface="微软雅黑" pitchFamily="34" charset="-122"/>
                <a:ea typeface="微软雅黑" pitchFamily="34" charset="-122"/>
                <a:cs typeface="经典粗黑简" pitchFamily="49" charset="-122"/>
              </a:rPr>
              <a:t>二叉排序树</a:t>
            </a:r>
          </a:p>
        </p:txBody>
      </p:sp>
      <p:sp>
        <p:nvSpPr>
          <p:cNvPr id="7" name="Text Box 4">
            <a:extLst>
              <a:ext uri="{FF2B5EF4-FFF2-40B4-BE49-F238E27FC236}">
                <a16:creationId xmlns:a16="http://schemas.microsoft.com/office/drawing/2014/main" id="{61B3B8E8-7E50-217F-3101-AFEA358AD113}"/>
              </a:ext>
            </a:extLst>
          </p:cNvPr>
          <p:cNvSpPr txBox="1">
            <a:spLocks noChangeArrowheads="1"/>
          </p:cNvSpPr>
          <p:nvPr/>
        </p:nvSpPr>
        <p:spPr bwMode="auto">
          <a:xfrm>
            <a:off x="3141976" y="5175061"/>
            <a:ext cx="6624637" cy="1554272"/>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spcBef>
                <a:spcPct val="50000"/>
              </a:spcBef>
            </a:pPr>
            <a:r>
              <a:rPr kumimoji="0" lang="zh-CN" altLang="en-US" sz="2000" b="1">
                <a:latin typeface="方正启体简体" pitchFamily="65" charset="-122"/>
                <a:ea typeface="方正启体简体" pitchFamily="65" charset="-122"/>
                <a:cs typeface="Times New Roman" pitchFamily="18" charset="0"/>
              </a:rPr>
              <a:t>特点：</a:t>
            </a:r>
            <a:endParaRPr kumimoji="0" lang="en-US" altLang="zh-CN" sz="2000" b="1">
              <a:latin typeface="方正启体简体" pitchFamily="65" charset="-122"/>
              <a:ea typeface="方正启体简体" pitchFamily="65" charset="-122"/>
              <a:cs typeface="Times New Roman" pitchFamily="18" charset="0"/>
            </a:endParaRPr>
          </a:p>
          <a:p>
            <a:pPr marL="342900" indent="-342900" algn="l">
              <a:spcBef>
                <a:spcPts val="600"/>
              </a:spcBef>
              <a:buBlip>
                <a:blip r:embed="rId2"/>
              </a:buBlip>
            </a:pPr>
            <a:r>
              <a:rPr kumimoji="0" lang="zh-CN" altLang="en-US" sz="2000" b="1">
                <a:solidFill>
                  <a:srgbClr val="3333FF"/>
                </a:solidFill>
                <a:latin typeface="Consolas" pitchFamily="49" charset="0"/>
                <a:ea typeface="华文中宋" pitchFamily="2" charset="-122"/>
                <a:cs typeface="Consolas" pitchFamily="49" charset="0"/>
              </a:rPr>
              <a:t>二</a:t>
            </a:r>
            <a:r>
              <a:rPr kumimoji="0" lang="zh-CN" altLang="en-US" sz="2000" b="1" dirty="0">
                <a:solidFill>
                  <a:srgbClr val="3333FF"/>
                </a:solidFill>
                <a:latin typeface="Consolas" pitchFamily="49" charset="0"/>
                <a:ea typeface="华文中宋" pitchFamily="2" charset="-122"/>
                <a:cs typeface="Consolas" pitchFamily="49" charset="0"/>
              </a:rPr>
              <a:t>叉排序树的</a:t>
            </a:r>
            <a:r>
              <a:rPr kumimoji="0" lang="zh-CN" altLang="en-US" sz="2000" b="1">
                <a:solidFill>
                  <a:srgbClr val="3333FF"/>
                </a:solidFill>
                <a:latin typeface="Consolas" pitchFamily="49" charset="0"/>
                <a:ea typeface="华文中宋" pitchFamily="2" charset="-122"/>
                <a:cs typeface="Consolas" pitchFamily="49" charset="0"/>
              </a:rPr>
              <a:t>中序序列是一个递增有序序列</a:t>
            </a:r>
            <a:endParaRPr kumimoji="0" lang="en-US" altLang="zh-CN" sz="2000" b="1">
              <a:solidFill>
                <a:srgbClr val="3333FF"/>
              </a:solidFill>
              <a:latin typeface="Consolas" pitchFamily="49" charset="0"/>
              <a:ea typeface="华文中宋" pitchFamily="2" charset="-122"/>
              <a:cs typeface="Consolas" pitchFamily="49" charset="0"/>
            </a:endParaRPr>
          </a:p>
          <a:p>
            <a:pPr marL="342900" indent="-342900" algn="l">
              <a:spcBef>
                <a:spcPts val="600"/>
              </a:spcBef>
              <a:buBlip>
                <a:blip r:embed="rId2"/>
              </a:buBlip>
            </a:pPr>
            <a:r>
              <a:rPr lang="zh-CN" altLang="en-US" sz="2000" b="1">
                <a:solidFill>
                  <a:srgbClr val="3333FF"/>
                </a:solidFill>
                <a:latin typeface="Consolas" pitchFamily="49" charset="0"/>
                <a:ea typeface="华文中宋" pitchFamily="2" charset="-122"/>
                <a:cs typeface="Consolas" pitchFamily="49" charset="0"/>
              </a:rPr>
              <a:t>根结点的最</a:t>
            </a:r>
            <a:r>
              <a:rPr kumimoji="0" lang="zh-CN" altLang="en-US" sz="2000" b="1">
                <a:solidFill>
                  <a:srgbClr val="3333FF"/>
                </a:solidFill>
                <a:latin typeface="Consolas" pitchFamily="49" charset="0"/>
                <a:ea typeface="华文中宋" pitchFamily="2" charset="-122"/>
                <a:cs typeface="Consolas" pitchFamily="49" charset="0"/>
              </a:rPr>
              <a:t>左下结点是关键字最小的结点</a:t>
            </a:r>
            <a:endParaRPr kumimoji="0" lang="en-US" altLang="zh-CN" sz="2000" b="1">
              <a:solidFill>
                <a:srgbClr val="3333FF"/>
              </a:solidFill>
              <a:latin typeface="Consolas" pitchFamily="49" charset="0"/>
              <a:ea typeface="华文中宋" pitchFamily="2" charset="-122"/>
              <a:cs typeface="Consolas" pitchFamily="49" charset="0"/>
            </a:endParaRPr>
          </a:p>
          <a:p>
            <a:pPr marL="342900" indent="-342900" algn="l">
              <a:spcBef>
                <a:spcPts val="600"/>
              </a:spcBef>
              <a:buBlip>
                <a:blip r:embed="rId2"/>
              </a:buBlip>
            </a:pPr>
            <a:r>
              <a:rPr lang="zh-CN" altLang="en-US" sz="2000" b="1">
                <a:solidFill>
                  <a:srgbClr val="3333FF"/>
                </a:solidFill>
                <a:latin typeface="Consolas" pitchFamily="49" charset="0"/>
                <a:ea typeface="华文中宋" pitchFamily="2" charset="-122"/>
                <a:cs typeface="Consolas" pitchFamily="49" charset="0"/>
              </a:rPr>
              <a:t>根结点的最</a:t>
            </a:r>
            <a:r>
              <a:rPr kumimoji="0" lang="zh-CN" altLang="en-US" sz="2000" b="1">
                <a:solidFill>
                  <a:srgbClr val="3333FF"/>
                </a:solidFill>
                <a:latin typeface="Consolas" pitchFamily="49" charset="0"/>
                <a:ea typeface="华文中宋" pitchFamily="2" charset="-122"/>
                <a:cs typeface="Consolas" pitchFamily="49" charset="0"/>
              </a:rPr>
              <a:t>右下结点是关键字最大的结点</a:t>
            </a:r>
            <a:endParaRPr kumimoji="0" lang="zh-CN" altLang="en-US" sz="2000" b="1" dirty="0">
              <a:solidFill>
                <a:srgbClr val="3333FF"/>
              </a:solidFill>
              <a:latin typeface="Consolas" pitchFamily="49" charset="0"/>
              <a:ea typeface="华文中宋" pitchFamily="2" charset="-122"/>
              <a:cs typeface="Consolas" pitchFamily="49" charset="0"/>
            </a:endParaRPr>
          </a:p>
        </p:txBody>
      </p:sp>
    </p:spTree>
    <p:extLst>
      <p:ext uri="{BB962C8B-B14F-4D97-AF65-F5344CB8AC3E}">
        <p14:creationId xmlns:p14="http://schemas.microsoft.com/office/powerpoint/2010/main" val="2387622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44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45" grpId="0"/>
      <p:bldP spid="103446" grpId="0"/>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A742-F2E2-7587-73CD-80536DB60AD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AB6FFC2-EF9D-DBA2-88A6-D14AB96F7B4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4" name="矩形 3">
            <a:extLst>
              <a:ext uri="{FF2B5EF4-FFF2-40B4-BE49-F238E27FC236}">
                <a16:creationId xmlns:a16="http://schemas.microsoft.com/office/drawing/2014/main" id="{F61A4C97-B74A-7747-CD52-C89E9C8EB0C0}"/>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5" name="直接连接符 4">
            <a:extLst>
              <a:ext uri="{FF2B5EF4-FFF2-40B4-BE49-F238E27FC236}">
                <a16:creationId xmlns:a16="http://schemas.microsoft.com/office/drawing/2014/main" id="{B2CC8708-BD13-8173-38E9-401CE92B5F1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7">
            <a:extLst>
              <a:ext uri="{FF2B5EF4-FFF2-40B4-BE49-F238E27FC236}">
                <a16:creationId xmlns:a16="http://schemas.microsoft.com/office/drawing/2014/main" id="{9F001F45-2E0A-C870-ED62-D00D15347023}"/>
              </a:ext>
            </a:extLst>
          </p:cNvPr>
          <p:cNvSpPr txBox="1">
            <a:spLocks noChangeArrowheads="1"/>
          </p:cNvSpPr>
          <p:nvPr/>
        </p:nvSpPr>
        <p:spPr bwMode="auto">
          <a:xfrm>
            <a:off x="5601699" y="5995353"/>
            <a:ext cx="2339102" cy="461665"/>
          </a:xfrm>
          <a:prstGeom prst="rect">
            <a:avLst/>
          </a:prstGeom>
          <a:noFill/>
          <a:ln w="9525">
            <a:solidFill>
              <a:schemeClr val="bg1"/>
            </a:solidFill>
            <a:miter lim="800000"/>
            <a:headEnd/>
            <a:tailEnd/>
          </a:ln>
        </p:spPr>
        <p:txBody>
          <a:bodyPr wrap="none">
            <a:spAutoFit/>
          </a:bodyPr>
          <a:lstStyle/>
          <a:p>
            <a:pPr algn="l"/>
            <a:r>
              <a:rPr kumimoji="1" lang="zh-CN" altLang="en-US" sz="2400" dirty="0">
                <a:latin typeface="微软雅黑" pitchFamily="34" charset="-122"/>
                <a:ea typeface="微软雅黑" pitchFamily="34" charset="-122"/>
                <a:cs typeface="经典粗黑简" pitchFamily="49" charset="-122"/>
              </a:rPr>
              <a:t>不是二叉排序树</a:t>
            </a:r>
          </a:p>
        </p:txBody>
      </p:sp>
      <p:grpSp>
        <p:nvGrpSpPr>
          <p:cNvPr id="9" name="组合 79">
            <a:extLst>
              <a:ext uri="{FF2B5EF4-FFF2-40B4-BE49-F238E27FC236}">
                <a16:creationId xmlns:a16="http://schemas.microsoft.com/office/drawing/2014/main" id="{EED5DDAC-DA4C-0B17-FA5F-960F74CD25DA}"/>
              </a:ext>
            </a:extLst>
          </p:cNvPr>
          <p:cNvGrpSpPr/>
          <p:nvPr/>
        </p:nvGrpSpPr>
        <p:grpSpPr>
          <a:xfrm>
            <a:off x="3935760" y="1792978"/>
            <a:ext cx="5357850" cy="3643338"/>
            <a:chOff x="1571604" y="428604"/>
            <a:chExt cx="5357850" cy="3643338"/>
          </a:xfrm>
        </p:grpSpPr>
        <p:sp>
          <p:nvSpPr>
            <p:cNvPr id="10" name="椭圆 9">
              <a:extLst>
                <a:ext uri="{FF2B5EF4-FFF2-40B4-BE49-F238E27FC236}">
                  <a16:creationId xmlns:a16="http://schemas.microsoft.com/office/drawing/2014/main" id="{0A7D89F6-5AE0-FA8F-F14D-E6B39051A064}"/>
                </a:ext>
              </a:extLst>
            </p:cNvPr>
            <p:cNvSpPr/>
            <p:nvPr/>
          </p:nvSpPr>
          <p:spPr>
            <a:xfrm>
              <a:off x="4429124" y="428604"/>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50</a:t>
              </a:r>
              <a:endParaRPr lang="zh-CN" altLang="en-US" sz="1800" b="1">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484C7822-D731-924F-758B-8D8B3C55789C}"/>
                </a:ext>
              </a:extLst>
            </p:cNvPr>
            <p:cNvSpPr/>
            <p:nvPr/>
          </p:nvSpPr>
          <p:spPr>
            <a:xfrm>
              <a:off x="3214678" y="117448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30</a:t>
              </a:r>
              <a:endParaRPr lang="zh-CN" altLang="en-US" sz="1800" b="1">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B0B50FD9-77A8-51BF-1935-F540648C2C5B}"/>
                </a:ext>
              </a:extLst>
            </p:cNvPr>
            <p:cNvSpPr/>
            <p:nvPr/>
          </p:nvSpPr>
          <p:spPr>
            <a:xfrm>
              <a:off x="5496760" y="117448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80</a:t>
              </a:r>
              <a:endParaRPr lang="zh-CN" altLang="en-US" sz="1800" b="1">
                <a:solidFill>
                  <a:srgbClr val="0000FF"/>
                </a:solidFill>
                <a:latin typeface="Consolas" pitchFamily="49" charset="0"/>
                <a:cs typeface="Consolas" pitchFamily="49" charset="0"/>
              </a:endParaRPr>
            </a:p>
          </p:txBody>
        </p:sp>
        <p:cxnSp>
          <p:nvCxnSpPr>
            <p:cNvPr id="13" name="直接连接符 12">
              <a:extLst>
                <a:ext uri="{FF2B5EF4-FFF2-40B4-BE49-F238E27FC236}">
                  <a16:creationId xmlns:a16="http://schemas.microsoft.com/office/drawing/2014/main" id="{50DC1542-EA72-0574-7C03-EE893C735FD2}"/>
                </a:ext>
              </a:extLst>
            </p:cNvPr>
            <p:cNvCxnSpPr>
              <a:endCxn id="11" idx="7"/>
            </p:cNvCxnSpPr>
            <p:nvPr/>
          </p:nvCxnSpPr>
          <p:spPr>
            <a:xfrm rot="10800000" flipV="1">
              <a:off x="3644869" y="809139"/>
              <a:ext cx="797776" cy="44443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4" name="直接连接符 13">
              <a:extLst>
                <a:ext uri="{FF2B5EF4-FFF2-40B4-BE49-F238E27FC236}">
                  <a16:creationId xmlns:a16="http://schemas.microsoft.com/office/drawing/2014/main" id="{8DEBF71F-48B3-DBC2-6FF2-17CF83A78B35}"/>
                </a:ext>
              </a:extLst>
            </p:cNvPr>
            <p:cNvCxnSpPr>
              <a:endCxn id="12" idx="1"/>
            </p:cNvCxnSpPr>
            <p:nvPr/>
          </p:nvCxnSpPr>
          <p:spPr>
            <a:xfrm>
              <a:off x="4929651" y="799091"/>
              <a:ext cx="640918" cy="45447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5" name="椭圆 14">
              <a:extLst>
                <a:ext uri="{FF2B5EF4-FFF2-40B4-BE49-F238E27FC236}">
                  <a16:creationId xmlns:a16="http://schemas.microsoft.com/office/drawing/2014/main" id="{DC6E67FC-56C5-46BA-038F-213A5E0605B5}"/>
                </a:ext>
              </a:extLst>
            </p:cNvPr>
            <p:cNvSpPr/>
            <p:nvPr/>
          </p:nvSpPr>
          <p:spPr>
            <a:xfrm>
              <a:off x="2214546" y="196030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20</a:t>
              </a:r>
              <a:endParaRPr lang="zh-CN" altLang="en-US" sz="1800" b="1">
                <a:solidFill>
                  <a:srgbClr val="0000FF"/>
                </a:solidFill>
                <a:latin typeface="Consolas" pitchFamily="49" charset="0"/>
                <a:cs typeface="Consolas" pitchFamily="49" charset="0"/>
              </a:endParaRPr>
            </a:p>
          </p:txBody>
        </p:sp>
        <p:sp>
          <p:nvSpPr>
            <p:cNvPr id="16" name="椭圆 15">
              <a:extLst>
                <a:ext uri="{FF2B5EF4-FFF2-40B4-BE49-F238E27FC236}">
                  <a16:creationId xmlns:a16="http://schemas.microsoft.com/office/drawing/2014/main" id="{9BF29885-91EB-E732-969C-73C077BDAAFE}"/>
                </a:ext>
              </a:extLst>
            </p:cNvPr>
            <p:cNvSpPr/>
            <p:nvPr/>
          </p:nvSpPr>
          <p:spPr>
            <a:xfrm>
              <a:off x="1571604" y="278605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10</a:t>
              </a:r>
              <a:endParaRPr lang="zh-CN" altLang="en-US" sz="1800" b="1">
                <a:solidFill>
                  <a:srgbClr val="0000FF"/>
                </a:solidFill>
                <a:latin typeface="Consolas" pitchFamily="49" charset="0"/>
                <a:cs typeface="Consolas" pitchFamily="49" charset="0"/>
              </a:endParaRPr>
            </a:p>
          </p:txBody>
        </p:sp>
        <p:sp>
          <p:nvSpPr>
            <p:cNvPr id="17" name="椭圆 16">
              <a:extLst>
                <a:ext uri="{FF2B5EF4-FFF2-40B4-BE49-F238E27FC236}">
                  <a16:creationId xmlns:a16="http://schemas.microsoft.com/office/drawing/2014/main" id="{7D494FF5-A35E-DDC3-A6DC-32D16660A115}"/>
                </a:ext>
              </a:extLst>
            </p:cNvPr>
            <p:cNvSpPr/>
            <p:nvPr/>
          </p:nvSpPr>
          <p:spPr>
            <a:xfrm>
              <a:off x="2853554" y="278605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25</a:t>
              </a:r>
              <a:endParaRPr lang="zh-CN" altLang="en-US" sz="1800" b="1">
                <a:solidFill>
                  <a:srgbClr val="0000FF"/>
                </a:solidFill>
                <a:latin typeface="Consolas" pitchFamily="49" charset="0"/>
                <a:cs typeface="Consolas" pitchFamily="49" charset="0"/>
              </a:endParaRPr>
            </a:p>
          </p:txBody>
        </p:sp>
        <p:sp>
          <p:nvSpPr>
            <p:cNvPr id="18" name="椭圆 17">
              <a:extLst>
                <a:ext uri="{FF2B5EF4-FFF2-40B4-BE49-F238E27FC236}">
                  <a16:creationId xmlns:a16="http://schemas.microsoft.com/office/drawing/2014/main" id="{B9BCCC50-CCDB-21C7-4FBA-7E2F4D2709F4}"/>
                </a:ext>
              </a:extLst>
            </p:cNvPr>
            <p:cNvSpPr/>
            <p:nvPr/>
          </p:nvSpPr>
          <p:spPr>
            <a:xfrm>
              <a:off x="2214546" y="353194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23</a:t>
              </a:r>
              <a:endParaRPr lang="zh-CN" altLang="en-US" sz="1800" b="1">
                <a:solidFill>
                  <a:srgbClr val="0000FF"/>
                </a:solidFill>
                <a:latin typeface="Consolas" pitchFamily="49" charset="0"/>
                <a:cs typeface="Consolas" pitchFamily="49" charset="0"/>
              </a:endParaRPr>
            </a:p>
          </p:txBody>
        </p:sp>
        <p:cxnSp>
          <p:nvCxnSpPr>
            <p:cNvPr id="19" name="直接连接符 18">
              <a:extLst>
                <a:ext uri="{FF2B5EF4-FFF2-40B4-BE49-F238E27FC236}">
                  <a16:creationId xmlns:a16="http://schemas.microsoft.com/office/drawing/2014/main" id="{DA007DE8-FC51-3480-34C6-AB9C1852F357}"/>
                </a:ext>
              </a:extLst>
            </p:cNvPr>
            <p:cNvCxnSpPr>
              <a:stCxn id="15" idx="3"/>
              <a:endCxn id="16" idx="7"/>
            </p:cNvCxnSpPr>
            <p:nvPr/>
          </p:nvCxnSpPr>
          <p:spPr>
            <a:xfrm rot="5400000">
              <a:off x="1923118" y="2499902"/>
              <a:ext cx="443914" cy="28656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0" name="直接连接符 19">
              <a:extLst>
                <a:ext uri="{FF2B5EF4-FFF2-40B4-BE49-F238E27FC236}">
                  <a16:creationId xmlns:a16="http://schemas.microsoft.com/office/drawing/2014/main" id="{127D4773-1EEC-818D-8F6E-D94C0BD3AF7B}"/>
                </a:ext>
              </a:extLst>
            </p:cNvPr>
            <p:cNvCxnSpPr>
              <a:stCxn id="15" idx="5"/>
              <a:endCxn id="17" idx="1"/>
            </p:cNvCxnSpPr>
            <p:nvPr/>
          </p:nvCxnSpPr>
          <p:spPr>
            <a:xfrm rot="16200000" flipH="1">
              <a:off x="2564093" y="2501869"/>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1" name="直接连接符 20">
              <a:extLst>
                <a:ext uri="{FF2B5EF4-FFF2-40B4-BE49-F238E27FC236}">
                  <a16:creationId xmlns:a16="http://schemas.microsoft.com/office/drawing/2014/main" id="{3B23B59F-95D9-76C0-2A38-5A0BEEEDC02F}"/>
                </a:ext>
              </a:extLst>
            </p:cNvPr>
            <p:cNvCxnSpPr>
              <a:stCxn id="17" idx="3"/>
              <a:endCxn id="18" idx="7"/>
            </p:cNvCxnSpPr>
            <p:nvPr/>
          </p:nvCxnSpPr>
          <p:spPr>
            <a:xfrm rot="5400000">
              <a:off x="2604027" y="3287687"/>
              <a:ext cx="364046"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795A327B-2595-EC31-1783-4C1F538475F4}"/>
                </a:ext>
              </a:extLst>
            </p:cNvPr>
            <p:cNvCxnSpPr>
              <a:endCxn id="15" idx="7"/>
            </p:cNvCxnSpPr>
            <p:nvPr/>
          </p:nvCxnSpPr>
          <p:spPr>
            <a:xfrm rot="10800000" flipV="1">
              <a:off x="2644737" y="1555023"/>
              <a:ext cx="59351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23" name="椭圆 22">
              <a:extLst>
                <a:ext uri="{FF2B5EF4-FFF2-40B4-BE49-F238E27FC236}">
                  <a16:creationId xmlns:a16="http://schemas.microsoft.com/office/drawing/2014/main" id="{480B35AB-4078-2EA4-0DD4-ACF13C3B6CCB}"/>
                </a:ext>
              </a:extLst>
            </p:cNvPr>
            <p:cNvSpPr/>
            <p:nvPr/>
          </p:nvSpPr>
          <p:spPr>
            <a:xfrm>
              <a:off x="4210876" y="196030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40</a:t>
              </a:r>
              <a:endParaRPr lang="zh-CN" altLang="en-US" sz="1800" b="1">
                <a:solidFill>
                  <a:srgbClr val="0000FF"/>
                </a:solidFill>
                <a:latin typeface="Consolas" pitchFamily="49" charset="0"/>
                <a:cs typeface="Consolas" pitchFamily="49" charset="0"/>
              </a:endParaRPr>
            </a:p>
          </p:txBody>
        </p:sp>
        <p:sp>
          <p:nvSpPr>
            <p:cNvPr id="24" name="椭圆 23">
              <a:extLst>
                <a:ext uri="{FF2B5EF4-FFF2-40B4-BE49-F238E27FC236}">
                  <a16:creationId xmlns:a16="http://schemas.microsoft.com/office/drawing/2014/main" id="{E6157974-A1DA-760C-3220-2D527568E81A}"/>
                </a:ext>
              </a:extLst>
            </p:cNvPr>
            <p:cNvSpPr/>
            <p:nvPr/>
          </p:nvSpPr>
          <p:spPr>
            <a:xfrm>
              <a:off x="3500430" y="278605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35</a:t>
              </a:r>
              <a:endParaRPr lang="zh-CN" altLang="en-US" sz="1800" b="1">
                <a:solidFill>
                  <a:srgbClr val="0000FF"/>
                </a:solidFill>
                <a:latin typeface="Consolas" pitchFamily="49" charset="0"/>
                <a:cs typeface="Consolas" pitchFamily="49" charset="0"/>
              </a:endParaRPr>
            </a:p>
          </p:txBody>
        </p:sp>
        <p:cxnSp>
          <p:nvCxnSpPr>
            <p:cNvPr id="25" name="直接连接符 24">
              <a:extLst>
                <a:ext uri="{FF2B5EF4-FFF2-40B4-BE49-F238E27FC236}">
                  <a16:creationId xmlns:a16="http://schemas.microsoft.com/office/drawing/2014/main" id="{4354700C-0FCB-AF97-3C10-CBE6085B7B5E}"/>
                </a:ext>
              </a:extLst>
            </p:cNvPr>
            <p:cNvCxnSpPr>
              <a:endCxn id="23" idx="1"/>
            </p:cNvCxnSpPr>
            <p:nvPr/>
          </p:nvCxnSpPr>
          <p:spPr>
            <a:xfrm>
              <a:off x="3715205" y="1555023"/>
              <a:ext cx="56948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6" name="直接连接符 25">
              <a:extLst>
                <a:ext uri="{FF2B5EF4-FFF2-40B4-BE49-F238E27FC236}">
                  <a16:creationId xmlns:a16="http://schemas.microsoft.com/office/drawing/2014/main" id="{0E7F86CF-D2B6-80A3-DB0A-10C480C5120F}"/>
                </a:ext>
              </a:extLst>
            </p:cNvPr>
            <p:cNvCxnSpPr>
              <a:stCxn id="23" idx="3"/>
              <a:endCxn id="24" idx="7"/>
            </p:cNvCxnSpPr>
            <p:nvPr/>
          </p:nvCxnSpPr>
          <p:spPr>
            <a:xfrm rot="5400000">
              <a:off x="3885696" y="2466150"/>
              <a:ext cx="443914" cy="35406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27" name="椭圆 26">
              <a:extLst>
                <a:ext uri="{FF2B5EF4-FFF2-40B4-BE49-F238E27FC236}">
                  <a16:creationId xmlns:a16="http://schemas.microsoft.com/office/drawing/2014/main" id="{84079953-BEA3-4A44-2ECB-926717F0BF98}"/>
                </a:ext>
              </a:extLst>
            </p:cNvPr>
            <p:cNvSpPr/>
            <p:nvPr/>
          </p:nvSpPr>
          <p:spPr>
            <a:xfrm>
              <a:off x="6354016" y="196030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90</a:t>
              </a:r>
              <a:endParaRPr lang="zh-CN" altLang="en-US" sz="1800" b="1">
                <a:solidFill>
                  <a:srgbClr val="0000FF"/>
                </a:solidFill>
                <a:latin typeface="Consolas" pitchFamily="49" charset="0"/>
                <a:cs typeface="Consolas" pitchFamily="49" charset="0"/>
              </a:endParaRPr>
            </a:p>
          </p:txBody>
        </p:sp>
        <p:sp>
          <p:nvSpPr>
            <p:cNvPr id="28" name="椭圆 27">
              <a:extLst>
                <a:ext uri="{FF2B5EF4-FFF2-40B4-BE49-F238E27FC236}">
                  <a16:creationId xmlns:a16="http://schemas.microsoft.com/office/drawing/2014/main" id="{654985FD-3C92-B2E5-A687-E9C026CA1943}"/>
                </a:ext>
              </a:extLst>
            </p:cNvPr>
            <p:cNvSpPr/>
            <p:nvPr/>
          </p:nvSpPr>
          <p:spPr>
            <a:xfrm>
              <a:off x="5715008" y="278605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85</a:t>
              </a:r>
              <a:endParaRPr lang="zh-CN" altLang="en-US" sz="1800" b="1">
                <a:solidFill>
                  <a:srgbClr val="0000FF"/>
                </a:solidFill>
                <a:latin typeface="Consolas" pitchFamily="49" charset="0"/>
                <a:cs typeface="Consolas" pitchFamily="49" charset="0"/>
              </a:endParaRPr>
            </a:p>
          </p:txBody>
        </p:sp>
        <p:sp>
          <p:nvSpPr>
            <p:cNvPr id="29" name="椭圆 28">
              <a:extLst>
                <a:ext uri="{FF2B5EF4-FFF2-40B4-BE49-F238E27FC236}">
                  <a16:creationId xmlns:a16="http://schemas.microsoft.com/office/drawing/2014/main" id="{1D3DD058-F3B7-D37E-2792-BCCB6E63A76C}"/>
                </a:ext>
              </a:extLst>
            </p:cNvPr>
            <p:cNvSpPr/>
            <p:nvPr/>
          </p:nvSpPr>
          <p:spPr>
            <a:xfrm>
              <a:off x="6425454" y="353194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88</a:t>
              </a:r>
              <a:endParaRPr lang="zh-CN" altLang="en-US" sz="1800" b="1">
                <a:solidFill>
                  <a:srgbClr val="0000FF"/>
                </a:solidFill>
                <a:latin typeface="Consolas" pitchFamily="49" charset="0"/>
                <a:cs typeface="Consolas" pitchFamily="49" charset="0"/>
              </a:endParaRPr>
            </a:p>
          </p:txBody>
        </p:sp>
        <p:cxnSp>
          <p:nvCxnSpPr>
            <p:cNvPr id="30" name="直接连接符 29">
              <a:extLst>
                <a:ext uri="{FF2B5EF4-FFF2-40B4-BE49-F238E27FC236}">
                  <a16:creationId xmlns:a16="http://schemas.microsoft.com/office/drawing/2014/main" id="{40846712-B689-369D-57E4-965E8029FF2A}"/>
                </a:ext>
              </a:extLst>
            </p:cNvPr>
            <p:cNvCxnSpPr>
              <a:stCxn id="12" idx="5"/>
              <a:endCxn id="27" idx="1"/>
            </p:cNvCxnSpPr>
            <p:nvPr/>
          </p:nvCxnSpPr>
          <p:spPr>
            <a:xfrm rot="16200000" flipH="1">
              <a:off x="5975398" y="1586960"/>
              <a:ext cx="403980" cy="50087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1" name="直接连接符 30">
              <a:extLst>
                <a:ext uri="{FF2B5EF4-FFF2-40B4-BE49-F238E27FC236}">
                  <a16:creationId xmlns:a16="http://schemas.microsoft.com/office/drawing/2014/main" id="{C78A7652-1246-3D0C-756C-099FC688D37B}"/>
                </a:ext>
              </a:extLst>
            </p:cNvPr>
            <p:cNvCxnSpPr>
              <a:stCxn id="27" idx="3"/>
              <a:endCxn id="28" idx="7"/>
            </p:cNvCxnSpPr>
            <p:nvPr/>
          </p:nvCxnSpPr>
          <p:spPr>
            <a:xfrm rot="5400000">
              <a:off x="6064555" y="2501869"/>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2" name="直接连接符 31">
              <a:extLst>
                <a:ext uri="{FF2B5EF4-FFF2-40B4-BE49-F238E27FC236}">
                  <a16:creationId xmlns:a16="http://schemas.microsoft.com/office/drawing/2014/main" id="{82651F46-5CC5-56AE-A3F3-DFA2BAFEDAEC}"/>
                </a:ext>
              </a:extLst>
            </p:cNvPr>
            <p:cNvCxnSpPr>
              <a:stCxn id="28" idx="5"/>
              <a:endCxn id="29" idx="1"/>
            </p:cNvCxnSpPr>
            <p:nvPr/>
          </p:nvCxnSpPr>
          <p:spPr>
            <a:xfrm rot="16200000" flipH="1">
              <a:off x="6140208" y="3251968"/>
              <a:ext cx="364046" cy="354064"/>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grpSp>
        <p:nvGrpSpPr>
          <p:cNvPr id="33" name="组合 78">
            <a:extLst>
              <a:ext uri="{FF2B5EF4-FFF2-40B4-BE49-F238E27FC236}">
                <a16:creationId xmlns:a16="http://schemas.microsoft.com/office/drawing/2014/main" id="{25A7E773-6A20-0FE6-9E41-0921344767C1}"/>
              </a:ext>
            </a:extLst>
          </p:cNvPr>
          <p:cNvGrpSpPr/>
          <p:nvPr/>
        </p:nvGrpSpPr>
        <p:grpSpPr>
          <a:xfrm>
            <a:off x="6286909" y="4633774"/>
            <a:ext cx="814523" cy="889035"/>
            <a:chOff x="4128288" y="3531942"/>
            <a:chExt cx="814523" cy="889035"/>
          </a:xfrm>
        </p:grpSpPr>
        <p:sp>
          <p:nvSpPr>
            <p:cNvPr id="34" name="椭圆 33">
              <a:extLst>
                <a:ext uri="{FF2B5EF4-FFF2-40B4-BE49-F238E27FC236}">
                  <a16:creationId xmlns:a16="http://schemas.microsoft.com/office/drawing/2014/main" id="{7C943A61-FB8E-B69C-965E-B6DB2E38F20D}"/>
                </a:ext>
              </a:extLst>
            </p:cNvPr>
            <p:cNvSpPr/>
            <p:nvPr/>
          </p:nvSpPr>
          <p:spPr>
            <a:xfrm>
              <a:off x="4438811" y="3880977"/>
              <a:ext cx="504000" cy="540000"/>
            </a:xfrm>
            <a:prstGeom prst="ellipse">
              <a:avLst/>
            </a:prstGeom>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lang="en-US" altLang="zh-CN" sz="1800" b="1" dirty="0">
                  <a:solidFill>
                    <a:srgbClr val="0000FF"/>
                  </a:solidFill>
                  <a:latin typeface="Consolas" pitchFamily="49" charset="0"/>
                  <a:cs typeface="Consolas" pitchFamily="49" charset="0"/>
                </a:rPr>
                <a:t>66</a:t>
              </a:r>
              <a:endParaRPr lang="zh-CN" altLang="en-US" sz="1800" b="1" dirty="0">
                <a:solidFill>
                  <a:srgbClr val="0000FF"/>
                </a:solidFill>
                <a:latin typeface="Consolas" pitchFamily="49" charset="0"/>
                <a:cs typeface="Consolas" pitchFamily="49" charset="0"/>
              </a:endParaRPr>
            </a:p>
          </p:txBody>
        </p:sp>
        <p:cxnSp>
          <p:nvCxnSpPr>
            <p:cNvPr id="35" name="直接连接符 34">
              <a:extLst>
                <a:ext uri="{FF2B5EF4-FFF2-40B4-BE49-F238E27FC236}">
                  <a16:creationId xmlns:a16="http://schemas.microsoft.com/office/drawing/2014/main" id="{2AE2AFA8-23BC-E83B-C703-3DCF7D1A86CA}"/>
                </a:ext>
              </a:extLst>
            </p:cNvPr>
            <p:cNvCxnSpPr>
              <a:stCxn id="24" idx="5"/>
              <a:endCxn id="34" idx="1"/>
            </p:cNvCxnSpPr>
            <p:nvPr/>
          </p:nvCxnSpPr>
          <p:spPr>
            <a:xfrm>
              <a:off x="4128288" y="3531942"/>
              <a:ext cx="384332" cy="428116"/>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sp>
        <p:nvSpPr>
          <p:cNvPr id="37" name="Text Box 20">
            <a:extLst>
              <a:ext uri="{FF2B5EF4-FFF2-40B4-BE49-F238E27FC236}">
                <a16:creationId xmlns:a16="http://schemas.microsoft.com/office/drawing/2014/main" id="{813911EC-9E5E-1310-A18A-090F17C5700B}"/>
              </a:ext>
            </a:extLst>
          </p:cNvPr>
          <p:cNvSpPr txBox="1">
            <a:spLocks noChangeArrowheads="1"/>
          </p:cNvSpPr>
          <p:nvPr/>
        </p:nvSpPr>
        <p:spPr bwMode="auto">
          <a:xfrm>
            <a:off x="2712816" y="2364433"/>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zh-CN" altLang="en-US" sz="2400" dirty="0">
                <a:latin typeface="微软雅黑" pitchFamily="34" charset="-122"/>
                <a:ea typeface="微软雅黑" pitchFamily="34" charset="-122"/>
                <a:cs typeface="经典粗黑简" pitchFamily="49" charset="-122"/>
              </a:rPr>
              <a:t>例如</a:t>
            </a:r>
          </a:p>
        </p:txBody>
      </p:sp>
    </p:spTree>
    <p:extLst>
      <p:ext uri="{BB962C8B-B14F-4D97-AF65-F5344CB8AC3E}">
        <p14:creationId xmlns:p14="http://schemas.microsoft.com/office/powerpoint/2010/main" val="363019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D789B15-AB3C-61FB-D6D4-E8C2F2DEBD5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EECDFDBB-4298-6124-DF28-CB396E3068DA}"/>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E4DE9572-793B-9427-DA7B-1844A6CAF00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C44D3E37-9FD6-80BB-0691-2208DF6773C0}"/>
              </a:ext>
            </a:extLst>
          </p:cNvPr>
          <p:cNvSpPr txBox="1">
            <a:spLocks noChangeArrowheads="1"/>
          </p:cNvSpPr>
          <p:nvPr/>
        </p:nvSpPr>
        <p:spPr bwMode="auto">
          <a:xfrm>
            <a:off x="1271464" y="2567087"/>
            <a:ext cx="7000924" cy="2340604"/>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52000" tIns="144000" rIns="144000" bIns="144000">
            <a:spAutoFit/>
          </a:bodyPr>
          <a:lstStyle/>
          <a:p>
            <a:pPr algn="just">
              <a:lnSpc>
                <a:spcPct val="120000"/>
              </a:lnSpc>
              <a:spcBef>
                <a:spcPct val="50000"/>
              </a:spcBef>
            </a:pPr>
            <a:r>
              <a:rPr lang="en-US" altLang="zh-CN" sz="1800" b="1" dirty="0" err="1">
                <a:solidFill>
                  <a:srgbClr val="3333FF"/>
                </a:solidFill>
                <a:latin typeface="Consolas" pitchFamily="49" charset="0"/>
                <a:ea typeface="仿宋" pitchFamily="49" charset="-122"/>
                <a:cs typeface="Consolas" pitchFamily="49" charset="0"/>
              </a:rPr>
              <a:t>typedef</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struct</a:t>
            </a:r>
            <a:r>
              <a:rPr lang="en-US" altLang="zh-CN" sz="1800" b="1" dirty="0">
                <a:solidFill>
                  <a:srgbClr val="3333FF"/>
                </a:solidFill>
                <a:latin typeface="Consolas" pitchFamily="49" charset="0"/>
                <a:ea typeface="仿宋" pitchFamily="49" charset="-122"/>
                <a:cs typeface="Consolas" pitchFamily="49" charset="0"/>
              </a:rPr>
              <a:t> node </a:t>
            </a:r>
          </a:p>
          <a:p>
            <a:pPr algn="just">
              <a:lnSpc>
                <a:spcPct val="120000"/>
              </a:lnSpc>
              <a:spcBef>
                <a:spcPct val="50000"/>
              </a:spcBef>
            </a:pPr>
            <a:r>
              <a:rPr lang="en-US" altLang="zh-CN" sz="1800" b="1">
                <a:solidFill>
                  <a:srgbClr val="3333FF"/>
                </a:solidFill>
                <a:latin typeface="Consolas" pitchFamily="49" charset="0"/>
                <a:ea typeface="仿宋" pitchFamily="49" charset="-122"/>
                <a:cs typeface="Consolas" pitchFamily="49" charset="0"/>
              </a:rPr>
              <a:t>{  </a:t>
            </a:r>
            <a:r>
              <a:rPr lang="en-US" altLang="zh-CN" sz="1800" b="1" dirty="0" err="1">
                <a:solidFill>
                  <a:srgbClr val="FF00FF"/>
                </a:solidFill>
                <a:latin typeface="Consolas" pitchFamily="49" charset="0"/>
                <a:ea typeface="仿宋" pitchFamily="49" charset="-122"/>
                <a:cs typeface="Consolas" pitchFamily="49" charset="0"/>
              </a:rPr>
              <a:t>KeyType</a:t>
            </a:r>
            <a:r>
              <a:rPr lang="en-US" altLang="zh-CN" sz="1800" b="1" dirty="0">
                <a:solidFill>
                  <a:srgbClr val="FF00FF"/>
                </a:solidFill>
                <a:latin typeface="Consolas" pitchFamily="49" charset="0"/>
                <a:ea typeface="仿宋" pitchFamily="49" charset="-122"/>
                <a:cs typeface="Consolas" pitchFamily="49" charset="0"/>
              </a:rPr>
              <a:t> key;  </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  	</a:t>
            </a:r>
            <a:r>
              <a:rPr lang="en-US" altLang="zh-CN" sz="1800" b="1">
                <a:solidFill>
                  <a:srgbClr val="00B0F0"/>
                </a:solidFill>
                <a:latin typeface="Consolas" pitchFamily="49" charset="0"/>
                <a:ea typeface="仿宋" pitchFamily="49" charset="-122"/>
                <a:cs typeface="Consolas" pitchFamily="49" charset="0"/>
              </a:rPr>
              <a:t>//</a:t>
            </a:r>
            <a:r>
              <a:rPr lang="zh-CN" altLang="en-US" sz="1800" b="1" dirty="0">
                <a:solidFill>
                  <a:srgbClr val="00B0F0"/>
                </a:solidFill>
                <a:latin typeface="Consolas" pitchFamily="49" charset="0"/>
                <a:ea typeface="仿宋" pitchFamily="49" charset="-122"/>
                <a:cs typeface="Consolas" pitchFamily="49" charset="0"/>
              </a:rPr>
              <a:t>关键字项</a:t>
            </a:r>
          </a:p>
          <a:p>
            <a:pPr algn="just">
              <a:spcBef>
                <a:spcPct val="50000"/>
              </a:spcBef>
            </a:pPr>
            <a:r>
              <a:rPr lang="zh-CN" altLang="en-US" sz="1800" b="1">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InfoType</a:t>
            </a:r>
            <a:r>
              <a:rPr lang="en-US" altLang="zh-CN" sz="1800" b="1" dirty="0">
                <a:solidFill>
                  <a:srgbClr val="3333FF"/>
                </a:solidFill>
                <a:latin typeface="Consolas" pitchFamily="49" charset="0"/>
                <a:ea typeface="仿宋" pitchFamily="49" charset="-122"/>
                <a:cs typeface="Consolas" pitchFamily="49" charset="0"/>
              </a:rPr>
              <a:t> data;          	</a:t>
            </a:r>
            <a:r>
              <a:rPr lang="en-US" altLang="zh-CN" sz="1800" b="1">
                <a:solidFill>
                  <a:srgbClr val="3333FF"/>
                </a:solidFill>
                <a:latin typeface="Consolas" pitchFamily="49" charset="0"/>
                <a:ea typeface="仿宋" pitchFamily="49" charset="-122"/>
                <a:cs typeface="Consolas" pitchFamily="49" charset="0"/>
              </a:rPr>
              <a:t> </a:t>
            </a:r>
            <a:r>
              <a:rPr lang="en-US" altLang="zh-CN" sz="1800" b="1">
                <a:solidFill>
                  <a:srgbClr val="00B0F0"/>
                </a:solidFill>
                <a:latin typeface="Consolas" pitchFamily="49" charset="0"/>
                <a:ea typeface="仿宋" pitchFamily="49" charset="-122"/>
                <a:cs typeface="Consolas" pitchFamily="49" charset="0"/>
              </a:rPr>
              <a:t> 	//</a:t>
            </a:r>
            <a:r>
              <a:rPr lang="zh-CN" altLang="en-US" sz="1800" b="1" dirty="0">
                <a:solidFill>
                  <a:srgbClr val="00B0F0"/>
                </a:solidFill>
                <a:latin typeface="Consolas" pitchFamily="49" charset="0"/>
                <a:ea typeface="仿宋" pitchFamily="49" charset="-122"/>
                <a:cs typeface="Consolas" pitchFamily="49" charset="0"/>
              </a:rPr>
              <a:t>其他数据域</a:t>
            </a:r>
          </a:p>
          <a:p>
            <a:pPr algn="just">
              <a:spcBef>
                <a:spcPct val="50000"/>
              </a:spcBef>
            </a:pPr>
            <a:r>
              <a:rPr lang="zh-CN" altLang="en-US" sz="1800" b="1">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struct</a:t>
            </a:r>
            <a:r>
              <a:rPr lang="en-US" altLang="zh-CN" sz="1800" b="1" dirty="0">
                <a:solidFill>
                  <a:srgbClr val="3333FF"/>
                </a:solidFill>
                <a:latin typeface="Consolas" pitchFamily="49" charset="0"/>
                <a:ea typeface="仿宋" pitchFamily="49" charset="-122"/>
                <a:cs typeface="Consolas" pitchFamily="49" charset="0"/>
              </a:rPr>
              <a:t> node </a:t>
            </a:r>
            <a:r>
              <a:rPr lang="en-US" altLang="zh-CN" sz="1800" b="1">
                <a:solidFill>
                  <a:srgbClr val="3333FF"/>
                </a:solidFill>
                <a:latin typeface="Consolas" pitchFamily="49" charset="0"/>
                <a:ea typeface="仿宋" pitchFamily="49" charset="-122"/>
                <a:cs typeface="Consolas" pitchFamily="49" charset="0"/>
              </a:rPr>
              <a:t>*lchild</a:t>
            </a:r>
            <a:r>
              <a:rPr lang="zh-CN" altLang="en-US" sz="1800" b="1">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a:t>
            </a:r>
            <a:r>
              <a:rPr lang="en-US" altLang="zh-CN" sz="1800" b="1" dirty="0" err="1">
                <a:solidFill>
                  <a:srgbClr val="3333FF"/>
                </a:solidFill>
                <a:latin typeface="Consolas" pitchFamily="49" charset="0"/>
                <a:ea typeface="仿宋" pitchFamily="49" charset="-122"/>
                <a:cs typeface="Consolas" pitchFamily="49" charset="0"/>
              </a:rPr>
              <a:t>rchild</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	</a:t>
            </a:r>
            <a:r>
              <a:rPr lang="en-US" altLang="zh-CN" sz="1800" b="1">
                <a:solidFill>
                  <a:srgbClr val="00B0F0"/>
                </a:solidFill>
                <a:latin typeface="Consolas" pitchFamily="49" charset="0"/>
                <a:ea typeface="仿宋" pitchFamily="49" charset="-122"/>
                <a:cs typeface="Consolas" pitchFamily="49" charset="0"/>
              </a:rPr>
              <a:t>//</a:t>
            </a:r>
            <a:r>
              <a:rPr lang="zh-CN" altLang="en-US" sz="1800" b="1" dirty="0">
                <a:solidFill>
                  <a:srgbClr val="00B0F0"/>
                </a:solidFill>
                <a:latin typeface="Consolas" pitchFamily="49" charset="0"/>
                <a:ea typeface="仿宋" pitchFamily="49" charset="-122"/>
                <a:cs typeface="Consolas" pitchFamily="49" charset="0"/>
              </a:rPr>
              <a:t>左右孩子指针</a:t>
            </a:r>
          </a:p>
          <a:p>
            <a:pPr algn="just">
              <a:spcBef>
                <a:spcPct val="50000"/>
              </a:spcBef>
            </a:pPr>
            <a:r>
              <a:rPr lang="en-US" altLang="zh-CN" sz="1800" b="1">
                <a:solidFill>
                  <a:srgbClr val="3333FF"/>
                </a:solidFill>
                <a:latin typeface="Consolas" pitchFamily="49" charset="0"/>
                <a:ea typeface="仿宋" pitchFamily="49" charset="-122"/>
                <a:cs typeface="Consolas" pitchFamily="49" charset="0"/>
              </a:rPr>
              <a:t>}  </a:t>
            </a:r>
            <a:r>
              <a:rPr lang="en-US" altLang="zh-CN" sz="1800" b="1">
                <a:solidFill>
                  <a:srgbClr val="FF0000"/>
                </a:solidFill>
                <a:latin typeface="Consolas" pitchFamily="49" charset="0"/>
                <a:ea typeface="仿宋" pitchFamily="49" charset="-122"/>
                <a:cs typeface="Consolas" pitchFamily="49" charset="0"/>
              </a:rPr>
              <a:t>BSTNode</a:t>
            </a:r>
            <a:r>
              <a:rPr lang="en-US" altLang="zh-CN" sz="1800" b="1" dirty="0">
                <a:solidFill>
                  <a:srgbClr val="3333FF"/>
                </a:solidFill>
                <a:latin typeface="Consolas" pitchFamily="49" charset="0"/>
                <a:ea typeface="仿宋" pitchFamily="49" charset="-122"/>
                <a:cs typeface="Consolas" pitchFamily="49" charset="0"/>
              </a:rPr>
              <a:t>;</a:t>
            </a:r>
          </a:p>
        </p:txBody>
      </p:sp>
      <p:sp>
        <p:nvSpPr>
          <p:cNvPr id="6" name="Text Box 2">
            <a:extLst>
              <a:ext uri="{FF2B5EF4-FFF2-40B4-BE49-F238E27FC236}">
                <a16:creationId xmlns:a16="http://schemas.microsoft.com/office/drawing/2014/main" id="{7A64C73B-5445-2D66-19ED-2B9961D66079}"/>
              </a:ext>
            </a:extLst>
          </p:cNvPr>
          <p:cNvSpPr txBox="1">
            <a:spLocks noChangeArrowheads="1"/>
          </p:cNvSpPr>
          <p:nvPr/>
        </p:nvSpPr>
        <p:spPr bwMode="auto">
          <a:xfrm>
            <a:off x="1165099" y="1944355"/>
            <a:ext cx="4821241" cy="497957"/>
          </a:xfrm>
          <a:prstGeom prst="rect">
            <a:avLst/>
          </a:prstGeom>
          <a:noFill/>
          <a:ln w="9525">
            <a:noFill/>
            <a:miter lim="800000"/>
            <a:headEnd/>
            <a:tailEnd/>
          </a:ln>
        </p:spPr>
        <p:txBody>
          <a:bodyPr wrap="square">
            <a:spAutoFit/>
          </a:bodyPr>
          <a:lstStyle/>
          <a:p>
            <a:pPr algn="l">
              <a:lnSpc>
                <a:spcPct val="120000"/>
              </a:lnSpc>
              <a:spcBef>
                <a:spcPct val="50000"/>
              </a:spcBef>
            </a:pPr>
            <a:r>
              <a:rPr kumimoji="1" lang="zh-CN" altLang="en-US" sz="2400" dirty="0">
                <a:latin typeface="微软雅黑" pitchFamily="34" charset="-122"/>
                <a:ea typeface="微软雅黑" pitchFamily="34" charset="-122"/>
                <a:cs typeface="经典粗黑简" pitchFamily="49" charset="-122"/>
              </a:rPr>
              <a:t>二叉排序树的结点类型如下：</a:t>
            </a:r>
          </a:p>
        </p:txBody>
      </p:sp>
    </p:spTree>
    <p:extLst>
      <p:ext uri="{BB962C8B-B14F-4D97-AF65-F5344CB8AC3E}">
        <p14:creationId xmlns:p14="http://schemas.microsoft.com/office/powerpoint/2010/main" val="2093114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841F7-93A3-01FB-F0BC-AF57F199D70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6D9F1B2-81EC-FD3E-0E8A-9F187B626B3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DE7F5CC8-0545-FF05-1986-DEBA29EBF0CD}"/>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1F545A8B-B27A-5689-3C4E-00D8C3BD8E5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C0558AF5-A379-11E8-168F-65CC72B8B158}"/>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7" name="Text Box 2">
            <a:extLst>
              <a:ext uri="{FF2B5EF4-FFF2-40B4-BE49-F238E27FC236}">
                <a16:creationId xmlns:a16="http://schemas.microsoft.com/office/drawing/2014/main" id="{5BF32FAE-9322-DE8B-8A86-69CE22461543}"/>
              </a:ext>
            </a:extLst>
          </p:cNvPr>
          <p:cNvSpPr txBox="1">
            <a:spLocks noChangeArrowheads="1"/>
          </p:cNvSpPr>
          <p:nvPr/>
        </p:nvSpPr>
        <p:spPr bwMode="auto">
          <a:xfrm>
            <a:off x="1055440" y="2351491"/>
            <a:ext cx="9577064" cy="407676"/>
          </a:xfrm>
          <a:prstGeom prst="rect">
            <a:avLst/>
          </a:prstGeom>
          <a:noFill/>
          <a:ln w="9525">
            <a:noFill/>
            <a:miter lim="800000"/>
            <a:headEnd/>
            <a:tailEnd/>
          </a:ln>
        </p:spPr>
        <p:txBody>
          <a:bodyPr wrap="square">
            <a:spAutoFit/>
          </a:bodyPr>
          <a:lstStyle/>
          <a:p>
            <a:pPr algn="just">
              <a:lnSpc>
                <a:spcPct val="110000"/>
              </a:lnSpc>
              <a:spcBef>
                <a:spcPct val="50000"/>
              </a:spcBef>
            </a:pPr>
            <a:r>
              <a:rPr lang="zh-CN" altLang="en-US" sz="2000" b="1" dirty="0">
                <a:solidFill>
                  <a:srgbClr val="3333FF"/>
                </a:solidFill>
                <a:latin typeface="Consolas" pitchFamily="49" charset="0"/>
                <a:ea typeface="楷体" pitchFamily="49" charset="-122"/>
                <a:cs typeface="Consolas" pitchFamily="49" charset="0"/>
              </a:rPr>
              <a:t>　　在二叉排序树中插入一个关键字为</a:t>
            </a:r>
            <a:r>
              <a:rPr lang="en-US" altLang="zh-CN" sz="2000" b="1" i="1" dirty="0">
                <a:solidFill>
                  <a:srgbClr val="3333FF"/>
                </a:solidFill>
                <a:latin typeface="Consolas" pitchFamily="49" charset="0"/>
                <a:ea typeface="楷体" pitchFamily="49" charset="-122"/>
                <a:cs typeface="Consolas" pitchFamily="49" charset="0"/>
              </a:rPr>
              <a:t>k</a:t>
            </a:r>
            <a:r>
              <a:rPr lang="zh-CN" altLang="en-US" sz="2000" b="1" dirty="0">
                <a:solidFill>
                  <a:srgbClr val="3333FF"/>
                </a:solidFill>
                <a:latin typeface="Consolas" pitchFamily="49" charset="0"/>
                <a:ea typeface="楷体" pitchFamily="49" charset="-122"/>
                <a:cs typeface="Consolas" pitchFamily="49" charset="0"/>
              </a:rPr>
              <a:t>的新结点，要保证插入后仍满足</a:t>
            </a:r>
            <a:r>
              <a:rPr lang="en-US" altLang="zh-CN" sz="2000" b="1" dirty="0" err="1">
                <a:solidFill>
                  <a:srgbClr val="3333FF"/>
                </a:solidFill>
                <a:latin typeface="Consolas" pitchFamily="49" charset="0"/>
                <a:ea typeface="楷体" pitchFamily="49" charset="-122"/>
                <a:cs typeface="Consolas" pitchFamily="49" charset="0"/>
              </a:rPr>
              <a:t>BST</a:t>
            </a:r>
            <a:r>
              <a:rPr lang="zh-CN" altLang="en-US" sz="2000" b="1" dirty="0">
                <a:solidFill>
                  <a:srgbClr val="3333FF"/>
                </a:solidFill>
                <a:latin typeface="Consolas" pitchFamily="49" charset="0"/>
                <a:ea typeface="楷体" pitchFamily="49" charset="-122"/>
                <a:cs typeface="Consolas" pitchFamily="49" charset="0"/>
              </a:rPr>
              <a:t>性质。　　</a:t>
            </a:r>
          </a:p>
        </p:txBody>
      </p:sp>
      <p:sp>
        <p:nvSpPr>
          <p:cNvPr id="9" name="TextBox 3">
            <a:extLst>
              <a:ext uri="{FF2B5EF4-FFF2-40B4-BE49-F238E27FC236}">
                <a16:creationId xmlns:a16="http://schemas.microsoft.com/office/drawing/2014/main" id="{590BB878-55CA-D834-49BA-FFAFCA460690}"/>
              </a:ext>
            </a:extLst>
          </p:cNvPr>
          <p:cNvSpPr txBox="1"/>
          <p:nvPr/>
        </p:nvSpPr>
        <p:spPr>
          <a:xfrm>
            <a:off x="1502836" y="3539969"/>
            <a:ext cx="9136968" cy="242203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2">
            <a:schemeClr val="accent6"/>
          </a:fillRef>
          <a:effectRef idx="1">
            <a:schemeClr val="accent6"/>
          </a:effectRef>
          <a:fontRef idx="minor">
            <a:schemeClr val="dk1"/>
          </a:fontRef>
        </p:style>
        <p:txBody>
          <a:bodyPr wrap="square" lIns="216000" tIns="144000" rIns="180000" bIns="144000" rtlCol="0">
            <a:spAutoFit/>
          </a:bodyPr>
          <a:lstStyle/>
          <a:p>
            <a:pPr algn="just">
              <a:lnSpc>
                <a:spcPct val="110000"/>
              </a:lnSpc>
              <a:spcBef>
                <a:spcPct val="50000"/>
              </a:spcBef>
            </a:pPr>
            <a:r>
              <a:rPr lang="zh-CN" altLang="en-US" sz="2000" b="1" dirty="0">
                <a:solidFill>
                  <a:srgbClr val="3333FF"/>
                </a:solidFill>
                <a:latin typeface="Consolas" pitchFamily="49" charset="0"/>
                <a:ea typeface="仿宋" pitchFamily="49" charset="-122"/>
                <a:cs typeface="Consolas" pitchFamily="49" charset="0"/>
              </a:rPr>
              <a:t>　（</a:t>
            </a:r>
            <a:r>
              <a:rPr lang="en-US" altLang="zh-CN" sz="2000" b="1" dirty="0">
                <a:solidFill>
                  <a:srgbClr val="3333FF"/>
                </a:solidFill>
                <a:latin typeface="Consolas" pitchFamily="49" charset="0"/>
                <a:ea typeface="仿宋" pitchFamily="49" charset="-122"/>
                <a:cs typeface="Consolas" pitchFamily="49" charset="0"/>
              </a:rPr>
              <a:t>1</a:t>
            </a:r>
            <a:r>
              <a:rPr lang="zh-CN" altLang="en-US" sz="2000" b="1" dirty="0">
                <a:solidFill>
                  <a:srgbClr val="3333FF"/>
                </a:solidFill>
                <a:latin typeface="Consolas" pitchFamily="49" charset="0"/>
                <a:ea typeface="仿宋" pitchFamily="49" charset="-122"/>
                <a:cs typeface="Consolas" pitchFamily="49" charset="0"/>
              </a:rPr>
              <a:t>）若二叉排序树</a:t>
            </a:r>
            <a:r>
              <a:rPr lang="en-US" altLang="zh-CN" sz="2000" b="1" dirty="0" err="1">
                <a:solidFill>
                  <a:srgbClr val="3333FF"/>
                </a:solidFill>
                <a:latin typeface="Consolas" pitchFamily="49" charset="0"/>
                <a:ea typeface="仿宋" pitchFamily="49" charset="-122"/>
                <a:cs typeface="Consolas" pitchFamily="49" charset="0"/>
              </a:rPr>
              <a:t>bt</a:t>
            </a:r>
            <a:r>
              <a:rPr lang="zh-CN" altLang="en-US" sz="2000" b="1" dirty="0">
                <a:solidFill>
                  <a:srgbClr val="3333FF"/>
                </a:solidFill>
                <a:latin typeface="Consolas" pitchFamily="49" charset="0"/>
                <a:ea typeface="仿宋" pitchFamily="49" charset="-122"/>
                <a:cs typeface="Consolas" pitchFamily="49" charset="0"/>
              </a:rPr>
              <a:t>为空，则创建一个</a:t>
            </a:r>
            <a:r>
              <a:rPr lang="en-US" altLang="zh-CN" sz="2000" b="1" dirty="0">
                <a:solidFill>
                  <a:srgbClr val="3333FF"/>
                </a:solidFill>
                <a:latin typeface="Consolas" pitchFamily="49" charset="0"/>
                <a:ea typeface="仿宋" pitchFamily="49" charset="-122"/>
                <a:cs typeface="Consolas" pitchFamily="49" charset="0"/>
              </a:rPr>
              <a:t>key</a:t>
            </a:r>
            <a:r>
              <a:rPr lang="zh-CN" altLang="en-US" sz="2000" b="1" dirty="0">
                <a:solidFill>
                  <a:srgbClr val="3333FF"/>
                </a:solidFill>
                <a:latin typeface="Consolas" pitchFamily="49" charset="0"/>
                <a:ea typeface="仿宋" pitchFamily="49" charset="-122"/>
                <a:cs typeface="Consolas" pitchFamily="49" charset="0"/>
              </a:rPr>
              <a:t>域为</a:t>
            </a:r>
            <a:r>
              <a:rPr lang="en-US" altLang="zh-CN" sz="2000" b="1" i="1" dirty="0">
                <a:solidFill>
                  <a:srgbClr val="3333FF"/>
                </a:solidFill>
                <a:latin typeface="Consolas" pitchFamily="49" charset="0"/>
                <a:ea typeface="仿宋" pitchFamily="49" charset="-122"/>
                <a:cs typeface="Consolas" pitchFamily="49" charset="0"/>
              </a:rPr>
              <a:t>k</a:t>
            </a:r>
            <a:r>
              <a:rPr lang="zh-CN" altLang="en-US" sz="2000" b="1" dirty="0">
                <a:solidFill>
                  <a:srgbClr val="3333FF"/>
                </a:solidFill>
                <a:latin typeface="Consolas" pitchFamily="49" charset="0"/>
                <a:ea typeface="仿宋" pitchFamily="49" charset="-122"/>
                <a:cs typeface="Consolas" pitchFamily="49" charset="0"/>
              </a:rPr>
              <a:t>的结点，将它作为根结点。</a:t>
            </a:r>
          </a:p>
          <a:p>
            <a:pPr algn="just">
              <a:lnSpc>
                <a:spcPct val="110000"/>
              </a:lnSpc>
              <a:spcBef>
                <a:spcPct val="50000"/>
              </a:spcBef>
            </a:pPr>
            <a:r>
              <a:rPr lang="zh-CN" altLang="en-US" sz="2000" b="1" dirty="0">
                <a:solidFill>
                  <a:srgbClr val="3333FF"/>
                </a:solidFill>
                <a:latin typeface="Consolas" pitchFamily="49" charset="0"/>
                <a:ea typeface="仿宋" pitchFamily="49" charset="-122"/>
                <a:cs typeface="Consolas" pitchFamily="49" charset="0"/>
              </a:rPr>
              <a:t>　（</a:t>
            </a:r>
            <a:r>
              <a:rPr lang="en-US" altLang="zh-CN" sz="2000" b="1" dirty="0">
                <a:solidFill>
                  <a:srgbClr val="3333FF"/>
                </a:solidFill>
                <a:latin typeface="Consolas" pitchFamily="49" charset="0"/>
                <a:ea typeface="仿宋" pitchFamily="49" charset="-122"/>
                <a:cs typeface="Consolas" pitchFamily="49" charset="0"/>
              </a:rPr>
              <a:t>2</a:t>
            </a:r>
            <a:r>
              <a:rPr lang="zh-CN" altLang="en-US" sz="2000" b="1" dirty="0">
                <a:solidFill>
                  <a:srgbClr val="3333FF"/>
                </a:solidFill>
                <a:latin typeface="Consolas" pitchFamily="49" charset="0"/>
                <a:ea typeface="仿宋" pitchFamily="49" charset="-122"/>
                <a:cs typeface="Consolas" pitchFamily="49" charset="0"/>
              </a:rPr>
              <a:t>）否则将</a:t>
            </a:r>
            <a:r>
              <a:rPr lang="en-US" altLang="zh-CN" sz="2000" b="1" i="1" dirty="0">
                <a:solidFill>
                  <a:srgbClr val="3333FF"/>
                </a:solidFill>
                <a:latin typeface="Consolas" pitchFamily="49" charset="0"/>
                <a:ea typeface="仿宋" pitchFamily="49" charset="-122"/>
                <a:cs typeface="Consolas" pitchFamily="49" charset="0"/>
              </a:rPr>
              <a:t>k</a:t>
            </a:r>
            <a:r>
              <a:rPr lang="zh-CN" altLang="en-US" sz="2000" b="1" dirty="0">
                <a:solidFill>
                  <a:srgbClr val="3333FF"/>
                </a:solidFill>
                <a:latin typeface="Consolas" pitchFamily="49" charset="0"/>
                <a:ea typeface="仿宋" pitchFamily="49" charset="-122"/>
                <a:cs typeface="Consolas" pitchFamily="49" charset="0"/>
              </a:rPr>
              <a:t>和根结点的关键字比较，若</a:t>
            </a:r>
            <a:r>
              <a:rPr lang="en-US" altLang="zh-CN" sz="2000" b="1" i="1" dirty="0">
                <a:solidFill>
                  <a:srgbClr val="3333FF"/>
                </a:solidFill>
                <a:latin typeface="Consolas" pitchFamily="49" charset="0"/>
                <a:ea typeface="仿宋" pitchFamily="49" charset="-122"/>
                <a:cs typeface="Consolas" pitchFamily="49" charset="0"/>
              </a:rPr>
              <a:t>k</a:t>
            </a:r>
            <a:r>
              <a:rPr lang="en-US" altLang="zh-CN" sz="2000" b="1" dirty="0">
                <a:solidFill>
                  <a:srgbClr val="3333FF"/>
                </a:solidFill>
                <a:latin typeface="Consolas" pitchFamily="49" charset="0"/>
                <a:ea typeface="仿宋" pitchFamily="49" charset="-122"/>
                <a:cs typeface="Consolas" pitchFamily="49" charset="0"/>
              </a:rPr>
              <a:t>&lt;</a:t>
            </a:r>
            <a:r>
              <a:rPr lang="en-US" altLang="zh-CN" sz="2000" b="1" dirty="0" err="1">
                <a:solidFill>
                  <a:srgbClr val="3333FF"/>
                </a:solidFill>
                <a:latin typeface="Consolas" pitchFamily="49" charset="0"/>
                <a:ea typeface="仿宋" pitchFamily="49" charset="-122"/>
                <a:cs typeface="Consolas" pitchFamily="49" charset="0"/>
              </a:rPr>
              <a:t>bt</a:t>
            </a:r>
            <a:r>
              <a:rPr lang="en-US" altLang="zh-CN" sz="2000" b="1" dirty="0">
                <a:solidFill>
                  <a:srgbClr val="3333FF"/>
                </a:solidFill>
                <a:latin typeface="Consolas" pitchFamily="49" charset="0"/>
                <a:ea typeface="仿宋" pitchFamily="49" charset="-122"/>
                <a:cs typeface="Consolas" pitchFamily="49" charset="0"/>
              </a:rPr>
              <a:t>-&gt;key</a:t>
            </a:r>
            <a:r>
              <a:rPr lang="zh-CN" altLang="en-US" sz="2000" b="1" dirty="0">
                <a:solidFill>
                  <a:srgbClr val="3333FF"/>
                </a:solidFill>
                <a:latin typeface="Consolas" pitchFamily="49" charset="0"/>
                <a:ea typeface="仿宋" pitchFamily="49" charset="-122"/>
                <a:cs typeface="Consolas" pitchFamily="49" charset="0"/>
              </a:rPr>
              <a:t>，则将</a:t>
            </a:r>
            <a:r>
              <a:rPr lang="en-US" altLang="zh-CN" sz="2000" b="1" i="1" dirty="0">
                <a:solidFill>
                  <a:srgbClr val="3333FF"/>
                </a:solidFill>
                <a:latin typeface="Consolas" pitchFamily="49" charset="0"/>
                <a:ea typeface="仿宋" pitchFamily="49" charset="-122"/>
                <a:cs typeface="Consolas" pitchFamily="49" charset="0"/>
              </a:rPr>
              <a:t>k</a:t>
            </a:r>
            <a:r>
              <a:rPr lang="zh-CN" altLang="en-US" sz="2000" b="1" dirty="0">
                <a:solidFill>
                  <a:srgbClr val="3333FF"/>
                </a:solidFill>
                <a:latin typeface="Consolas" pitchFamily="49" charset="0"/>
                <a:ea typeface="仿宋" pitchFamily="49" charset="-122"/>
                <a:cs typeface="Consolas" pitchFamily="49" charset="0"/>
              </a:rPr>
              <a:t>插入根结点的左子树中。</a:t>
            </a:r>
          </a:p>
          <a:p>
            <a:pPr algn="just">
              <a:lnSpc>
                <a:spcPct val="110000"/>
              </a:lnSpc>
              <a:spcBef>
                <a:spcPct val="50000"/>
              </a:spcBef>
            </a:pPr>
            <a:r>
              <a:rPr lang="zh-CN" altLang="en-US" sz="2000" b="1" dirty="0">
                <a:solidFill>
                  <a:srgbClr val="3333FF"/>
                </a:solidFill>
                <a:latin typeface="Consolas" pitchFamily="49" charset="0"/>
                <a:ea typeface="仿宋" pitchFamily="49" charset="-122"/>
                <a:cs typeface="Consolas" pitchFamily="49" charset="0"/>
              </a:rPr>
              <a:t>　（</a:t>
            </a:r>
            <a:r>
              <a:rPr lang="en-US" altLang="zh-CN" sz="2000" b="1" dirty="0">
                <a:solidFill>
                  <a:srgbClr val="3333FF"/>
                </a:solidFill>
                <a:latin typeface="Consolas" pitchFamily="49" charset="0"/>
                <a:ea typeface="仿宋" pitchFamily="49" charset="-122"/>
                <a:cs typeface="Consolas" pitchFamily="49" charset="0"/>
              </a:rPr>
              <a:t>3</a:t>
            </a:r>
            <a:r>
              <a:rPr lang="zh-CN" altLang="en-US" sz="2000" b="1" dirty="0">
                <a:solidFill>
                  <a:srgbClr val="3333FF"/>
                </a:solidFill>
                <a:latin typeface="Consolas" pitchFamily="49" charset="0"/>
                <a:ea typeface="仿宋" pitchFamily="49" charset="-122"/>
                <a:cs typeface="Consolas" pitchFamily="49" charset="0"/>
              </a:rPr>
              <a:t>）若</a:t>
            </a:r>
            <a:r>
              <a:rPr lang="en-US" altLang="zh-CN" sz="2000" b="1" i="1" dirty="0">
                <a:solidFill>
                  <a:srgbClr val="3333FF"/>
                </a:solidFill>
                <a:latin typeface="Consolas" pitchFamily="49" charset="0"/>
                <a:ea typeface="仿宋" pitchFamily="49" charset="-122"/>
                <a:cs typeface="Consolas" pitchFamily="49" charset="0"/>
              </a:rPr>
              <a:t>k</a:t>
            </a:r>
            <a:r>
              <a:rPr lang="en-US" altLang="zh-CN" sz="2000" b="1" dirty="0">
                <a:solidFill>
                  <a:srgbClr val="3333FF"/>
                </a:solidFill>
                <a:latin typeface="Consolas" pitchFamily="49" charset="0"/>
                <a:ea typeface="仿宋" pitchFamily="49" charset="-122"/>
                <a:cs typeface="Consolas" pitchFamily="49" charset="0"/>
              </a:rPr>
              <a:t>&gt;</a:t>
            </a:r>
            <a:r>
              <a:rPr lang="en-US" altLang="zh-CN" sz="2000" b="1" dirty="0" err="1">
                <a:solidFill>
                  <a:srgbClr val="3333FF"/>
                </a:solidFill>
                <a:latin typeface="Consolas" pitchFamily="49" charset="0"/>
                <a:ea typeface="仿宋" pitchFamily="49" charset="-122"/>
                <a:cs typeface="Consolas" pitchFamily="49" charset="0"/>
              </a:rPr>
              <a:t>bt</a:t>
            </a:r>
            <a:r>
              <a:rPr lang="en-US" altLang="zh-CN" sz="2000" b="1" dirty="0">
                <a:solidFill>
                  <a:srgbClr val="3333FF"/>
                </a:solidFill>
                <a:latin typeface="Consolas" pitchFamily="49" charset="0"/>
                <a:ea typeface="仿宋" pitchFamily="49" charset="-122"/>
                <a:cs typeface="Consolas" pitchFamily="49" charset="0"/>
              </a:rPr>
              <a:t>-&gt;key</a:t>
            </a:r>
            <a:r>
              <a:rPr lang="zh-CN" altLang="en-US" sz="2000" b="1" dirty="0">
                <a:solidFill>
                  <a:srgbClr val="3333FF"/>
                </a:solidFill>
                <a:latin typeface="Consolas" pitchFamily="49" charset="0"/>
                <a:ea typeface="仿宋" pitchFamily="49" charset="-122"/>
                <a:cs typeface="Consolas" pitchFamily="49" charset="0"/>
              </a:rPr>
              <a:t>，将它插入右子树中。</a:t>
            </a:r>
            <a:endParaRPr lang="en-US" altLang="zh-CN" sz="2000" b="1" dirty="0">
              <a:solidFill>
                <a:srgbClr val="3333FF"/>
              </a:solidFill>
              <a:latin typeface="Consolas" pitchFamily="49" charset="0"/>
              <a:ea typeface="仿宋" pitchFamily="49" charset="-122"/>
              <a:cs typeface="Consolas" pitchFamily="49" charset="0"/>
            </a:endParaRPr>
          </a:p>
          <a:p>
            <a:pPr algn="just">
              <a:lnSpc>
                <a:spcPct val="110000"/>
              </a:lnSpc>
              <a:spcBef>
                <a:spcPct val="50000"/>
              </a:spcBef>
            </a:pPr>
            <a:r>
              <a:rPr lang="zh-CN" altLang="en-US" sz="2000" b="1" dirty="0">
                <a:solidFill>
                  <a:srgbClr val="3333FF"/>
                </a:solidFill>
                <a:latin typeface="Consolas" pitchFamily="49" charset="0"/>
                <a:ea typeface="仿宋" pitchFamily="49" charset="-122"/>
                <a:cs typeface="Consolas" pitchFamily="49" charset="0"/>
              </a:rPr>
              <a:t>  （</a:t>
            </a:r>
            <a:r>
              <a:rPr lang="en-US" altLang="zh-CN" sz="2000" b="1" dirty="0">
                <a:solidFill>
                  <a:srgbClr val="3333FF"/>
                </a:solidFill>
                <a:latin typeface="Consolas" pitchFamily="49" charset="0"/>
                <a:ea typeface="仿宋" pitchFamily="49" charset="-122"/>
                <a:cs typeface="Consolas" pitchFamily="49" charset="0"/>
              </a:rPr>
              <a:t>4</a:t>
            </a:r>
            <a:r>
              <a:rPr lang="zh-CN" altLang="en-US" sz="2000" b="1" dirty="0">
                <a:solidFill>
                  <a:srgbClr val="3333FF"/>
                </a:solidFill>
                <a:latin typeface="Consolas" pitchFamily="49" charset="0"/>
                <a:ea typeface="仿宋" pitchFamily="49" charset="-122"/>
                <a:cs typeface="Consolas" pitchFamily="49" charset="0"/>
              </a:rPr>
              <a:t>）若</a:t>
            </a:r>
            <a:r>
              <a:rPr lang="en-US" altLang="zh-CN" sz="2000" b="1" dirty="0">
                <a:solidFill>
                  <a:srgbClr val="3333FF"/>
                </a:solidFill>
                <a:latin typeface="Consolas" pitchFamily="49" charset="0"/>
                <a:ea typeface="仿宋" pitchFamily="49" charset="-122"/>
                <a:cs typeface="Consolas" pitchFamily="49" charset="0"/>
              </a:rPr>
              <a:t>k==</a:t>
            </a:r>
            <a:r>
              <a:rPr lang="en-US" altLang="zh-CN" sz="2000" b="1" dirty="0" err="1">
                <a:solidFill>
                  <a:srgbClr val="3333FF"/>
                </a:solidFill>
                <a:latin typeface="Consolas" pitchFamily="49" charset="0"/>
                <a:ea typeface="仿宋" pitchFamily="49" charset="-122"/>
                <a:cs typeface="Consolas" pitchFamily="49" charset="0"/>
              </a:rPr>
              <a:t>bt</a:t>
            </a:r>
            <a:r>
              <a:rPr lang="en-US" altLang="zh-CN" sz="2000" b="1" dirty="0">
                <a:solidFill>
                  <a:srgbClr val="3333FF"/>
                </a:solidFill>
                <a:latin typeface="Consolas" pitchFamily="49" charset="0"/>
                <a:ea typeface="仿宋" pitchFamily="49" charset="-122"/>
                <a:cs typeface="Consolas" pitchFamily="49" charset="0"/>
              </a:rPr>
              <a:t>-&gt;key</a:t>
            </a:r>
            <a:r>
              <a:rPr lang="zh-CN" altLang="en-US" sz="2000" b="1" dirty="0">
                <a:solidFill>
                  <a:srgbClr val="3333FF"/>
                </a:solidFill>
                <a:latin typeface="Consolas" pitchFamily="49" charset="0"/>
                <a:ea typeface="仿宋" pitchFamily="49" charset="-122"/>
                <a:cs typeface="Consolas" pitchFamily="49" charset="0"/>
              </a:rPr>
              <a:t>，说明树中已有此关键字</a:t>
            </a:r>
            <a:r>
              <a:rPr lang="en-US" altLang="zh-CN" sz="2000" b="1" i="1" dirty="0">
                <a:solidFill>
                  <a:srgbClr val="3333FF"/>
                </a:solidFill>
                <a:latin typeface="Consolas" pitchFamily="49" charset="0"/>
                <a:ea typeface="仿宋" pitchFamily="49" charset="-122"/>
                <a:cs typeface="Consolas" pitchFamily="49" charset="0"/>
              </a:rPr>
              <a:t>k</a:t>
            </a:r>
            <a:r>
              <a:rPr lang="zh-CN" altLang="en-US" sz="2000" b="1" dirty="0">
                <a:solidFill>
                  <a:srgbClr val="3333FF"/>
                </a:solidFill>
                <a:latin typeface="Consolas" pitchFamily="49" charset="0"/>
                <a:ea typeface="仿宋" pitchFamily="49" charset="-122"/>
                <a:cs typeface="Consolas" pitchFamily="49" charset="0"/>
              </a:rPr>
              <a:t>，无须插入。</a:t>
            </a:r>
            <a:endParaRPr lang="zh-CN" altLang="en-US" sz="2000" dirty="0">
              <a:latin typeface="Consolas" pitchFamily="49" charset="0"/>
              <a:ea typeface="仿宋" pitchFamily="49" charset="-122"/>
              <a:cs typeface="Consolas" pitchFamily="49" charset="0"/>
            </a:endParaRPr>
          </a:p>
        </p:txBody>
      </p:sp>
      <p:sp>
        <p:nvSpPr>
          <p:cNvPr id="10" name="TextBox 4">
            <a:extLst>
              <a:ext uri="{FF2B5EF4-FFF2-40B4-BE49-F238E27FC236}">
                <a16:creationId xmlns:a16="http://schemas.microsoft.com/office/drawing/2014/main" id="{A855F7AA-7CC8-F4B4-C1EA-D134C305E4EA}"/>
              </a:ext>
            </a:extLst>
          </p:cNvPr>
          <p:cNvSpPr txBox="1"/>
          <p:nvPr/>
        </p:nvSpPr>
        <p:spPr>
          <a:xfrm>
            <a:off x="1575456" y="2776182"/>
            <a:ext cx="2000264" cy="400110"/>
          </a:xfrm>
          <a:prstGeom prst="rect">
            <a:avLst/>
          </a:prstGeom>
          <a:noFill/>
        </p:spPr>
        <p:txBody>
          <a:bodyPr wrap="square" rtlCol="0">
            <a:spAutoFit/>
          </a:bodyPr>
          <a:lstStyle/>
          <a:p>
            <a:pPr algn="l"/>
            <a:r>
              <a:rPr lang="zh-CN" altLang="en-US" sz="2000" b="1" dirty="0">
                <a:latin typeface="微软雅黑" pitchFamily="34" charset="-122"/>
                <a:ea typeface="微软雅黑" pitchFamily="34" charset="-122"/>
                <a:cs typeface="Times New Roman" pitchFamily="18" charset="0"/>
              </a:rPr>
              <a:t>插入过程：</a:t>
            </a:r>
          </a:p>
        </p:txBody>
      </p:sp>
    </p:spTree>
    <p:extLst>
      <p:ext uri="{BB962C8B-B14F-4D97-AF65-F5344CB8AC3E}">
        <p14:creationId xmlns:p14="http://schemas.microsoft.com/office/powerpoint/2010/main" val="12703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593C-EBCB-6A45-E595-BE07D928D18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0CB9624-7C8F-88B5-8C68-661E913CA8A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D61C47BF-E670-A722-86C8-B5F9D8DCDEAF}"/>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47B3BBD8-6746-190F-4B47-C32EADEC310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C3EEEF3B-B6C2-44B6-E480-E1BC2CCB0003}"/>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5" name="Text Box 2">
            <a:extLst>
              <a:ext uri="{FF2B5EF4-FFF2-40B4-BE49-F238E27FC236}">
                <a16:creationId xmlns:a16="http://schemas.microsoft.com/office/drawing/2014/main" id="{59DFCDDD-C882-5445-4982-BE1432E23CA0}"/>
              </a:ext>
            </a:extLst>
          </p:cNvPr>
          <p:cNvSpPr txBox="1">
            <a:spLocks noChangeArrowheads="1"/>
          </p:cNvSpPr>
          <p:nvPr/>
        </p:nvSpPr>
        <p:spPr bwMode="auto">
          <a:xfrm>
            <a:off x="1676174" y="2748052"/>
            <a:ext cx="8715436" cy="403478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bIns="144000">
            <a:spAutoFit/>
          </a:bodyPr>
          <a:lstStyle/>
          <a:p>
            <a:pPr algn="l">
              <a:lnSpc>
                <a:spcPts val="2800"/>
              </a:lnSpc>
            </a:pPr>
            <a:r>
              <a:rPr lang="en-US" altLang="zh-CN" sz="1600" b="1" dirty="0" err="1">
                <a:solidFill>
                  <a:srgbClr val="0000FF"/>
                </a:solidFill>
                <a:latin typeface="Consolas" pitchFamily="49" charset="0"/>
                <a:ea typeface="仿宋" pitchFamily="49" charset="-122"/>
                <a:cs typeface="Consolas" pitchFamily="49" charset="0"/>
              </a:rPr>
              <a:t>BSTNode</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err="1">
                <a:solidFill>
                  <a:srgbClr val="FF0000"/>
                </a:solidFill>
                <a:latin typeface="Consolas" pitchFamily="49" charset="0"/>
                <a:ea typeface="仿宋" pitchFamily="49" charset="-122"/>
                <a:cs typeface="Consolas" pitchFamily="49" charset="0"/>
              </a:rPr>
              <a:t>InsertBST</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BSTNode</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err="1">
                <a:solidFill>
                  <a:srgbClr val="0000FF"/>
                </a:solidFill>
                <a:latin typeface="Consolas" pitchFamily="49" charset="0"/>
                <a:ea typeface="仿宋" pitchFamily="49" charset="-122"/>
                <a:cs typeface="Consolas" pitchFamily="49" charset="0"/>
              </a:rPr>
              <a:t>bt,KeyType</a:t>
            </a:r>
            <a:r>
              <a:rPr lang="en-US" altLang="zh-CN" sz="1600" b="1" dirty="0">
                <a:solidFill>
                  <a:srgbClr val="0000FF"/>
                </a:solidFill>
                <a:latin typeface="Consolas" pitchFamily="49" charset="0"/>
                <a:ea typeface="仿宋" pitchFamily="49" charset="-122"/>
                <a:cs typeface="Consolas" pitchFamily="49" charset="0"/>
              </a:rPr>
              <a:t> k)</a:t>
            </a:r>
          </a:p>
          <a:p>
            <a:pPr algn="l">
              <a:lnSpc>
                <a:spcPts val="2400"/>
              </a:lnSpc>
            </a:pPr>
            <a:r>
              <a:rPr lang="en-US" altLang="zh-CN" sz="1600" b="1" dirty="0">
                <a:solidFill>
                  <a:srgbClr val="0000FF"/>
                </a:solidFill>
                <a:latin typeface="Consolas" pitchFamily="49" charset="0"/>
                <a:ea typeface="仿宋" pitchFamily="49" charset="-122"/>
                <a:cs typeface="Consolas" pitchFamily="49" charset="0"/>
              </a:rPr>
              <a:t>{  if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==NULL) 					</a:t>
            </a:r>
            <a:r>
              <a:rPr lang="en-US" altLang="zh-CN" sz="1600" b="1" dirty="0">
                <a:solidFill>
                  <a:srgbClr val="00B0F0"/>
                </a:solidFill>
                <a:latin typeface="Consolas" pitchFamily="49" charset="0"/>
                <a:ea typeface="仿宋" pitchFamily="49" charset="-122"/>
                <a:cs typeface="Consolas" pitchFamily="49" charset="0"/>
              </a:rPr>
              <a:t>//</a:t>
            </a:r>
            <a:r>
              <a:rPr lang="zh-CN" altLang="zh-CN" sz="1600" b="1" dirty="0">
                <a:solidFill>
                  <a:srgbClr val="00B0F0"/>
                </a:solidFill>
                <a:latin typeface="Consolas" pitchFamily="49" charset="0"/>
                <a:ea typeface="仿宋" pitchFamily="49" charset="-122"/>
                <a:cs typeface="Consolas" pitchFamily="49" charset="0"/>
              </a:rPr>
              <a:t>原树为空</a:t>
            </a: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   {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BSTNode</a:t>
            </a:r>
            <a:r>
              <a:rPr lang="en-US" altLang="zh-CN" sz="1600" b="1" dirty="0">
                <a:solidFill>
                  <a:srgbClr val="0000FF"/>
                </a:solidFill>
                <a:latin typeface="Consolas" pitchFamily="49" charset="0"/>
                <a:ea typeface="仿宋" pitchFamily="49" charset="-122"/>
                <a:cs typeface="Consolas" pitchFamily="49" charset="0"/>
              </a:rPr>
              <a:t> *)malloc(</a:t>
            </a:r>
            <a:r>
              <a:rPr lang="en-US" altLang="zh-CN" sz="1600" b="1" dirty="0" err="1">
                <a:solidFill>
                  <a:srgbClr val="0000FF"/>
                </a:solidFill>
                <a:latin typeface="Consolas" pitchFamily="49" charset="0"/>
                <a:ea typeface="仿宋" pitchFamily="49" charset="-122"/>
                <a:cs typeface="Consolas" pitchFamily="49" charset="0"/>
              </a:rPr>
              <a:t>sizeof</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BSTNode</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a:solidFill>
                  <a:srgbClr val="00B0F0"/>
                </a:solidFill>
                <a:latin typeface="Consolas" pitchFamily="49" charset="0"/>
                <a:ea typeface="仿宋" pitchFamily="49" charset="-122"/>
                <a:cs typeface="Consolas" pitchFamily="49" charset="0"/>
              </a:rPr>
              <a:t>//</a:t>
            </a:r>
            <a:r>
              <a:rPr lang="zh-CN" altLang="zh-CN" sz="1600" b="1" dirty="0">
                <a:solidFill>
                  <a:srgbClr val="00B0F0"/>
                </a:solidFill>
                <a:latin typeface="Consolas" pitchFamily="49" charset="0"/>
                <a:ea typeface="仿宋" pitchFamily="49" charset="-122"/>
                <a:cs typeface="Consolas" pitchFamily="49" charset="0"/>
              </a:rPr>
              <a:t>新建根结点</a:t>
            </a:r>
            <a:r>
              <a:rPr lang="en-US" altLang="zh-CN" sz="1600" b="1" dirty="0" err="1">
                <a:solidFill>
                  <a:srgbClr val="00B0F0"/>
                </a:solidFill>
                <a:latin typeface="Consolas" pitchFamily="49" charset="0"/>
                <a:ea typeface="仿宋" pitchFamily="49" charset="-122"/>
                <a:cs typeface="Consolas" pitchFamily="49" charset="0"/>
              </a:rPr>
              <a:t>bt</a:t>
            </a:r>
            <a:r>
              <a:rPr lang="en-US" altLang="zh-CN" sz="1600" b="1" dirty="0">
                <a:solidFill>
                  <a:srgbClr val="00B0F0"/>
                </a:solidFill>
                <a:latin typeface="Consolas" pitchFamily="49" charset="0"/>
                <a:ea typeface="仿宋" pitchFamily="49" charset="-122"/>
                <a:cs typeface="Consolas" pitchFamily="49" charset="0"/>
              </a:rPr>
              <a:t> </a:t>
            </a:r>
            <a:endParaRPr lang="zh-CN" altLang="zh-CN" sz="1600" b="1" dirty="0">
              <a:solidFill>
                <a:srgbClr val="00B0F0"/>
              </a:solidFill>
              <a:latin typeface="Consolas" pitchFamily="49" charset="0"/>
              <a:ea typeface="仿宋" pitchFamily="49" charset="-122"/>
              <a:cs typeface="Consolas" pitchFamily="49" charset="0"/>
            </a:endParaRPr>
          </a:p>
          <a:p>
            <a:pPr algn="l">
              <a:lnSpc>
                <a:spcPts val="2400"/>
              </a:lnSpc>
            </a:pP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-&gt;key=k;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lchild</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rchild</a:t>
            </a:r>
            <a:r>
              <a:rPr lang="en-US" altLang="zh-CN" sz="1600" b="1" dirty="0">
                <a:solidFill>
                  <a:srgbClr val="0000FF"/>
                </a:solidFill>
                <a:latin typeface="Consolas" pitchFamily="49" charset="0"/>
                <a:ea typeface="仿宋" pitchFamily="49" charset="-122"/>
                <a:cs typeface="Consolas" pitchFamily="49" charset="0"/>
              </a:rPr>
              <a:t>=NULL;</a:t>
            </a:r>
            <a:endParaRPr lang="zh-CN" altLang="zh-CN" sz="1600" b="1" dirty="0">
              <a:solidFill>
                <a:srgbClr val="0000FF"/>
              </a:solidFill>
              <a:latin typeface="Consolas" pitchFamily="49" charset="0"/>
              <a:ea typeface="仿宋" pitchFamily="49" charset="-122"/>
              <a:cs typeface="Consolas" pitchFamily="49" charset="0"/>
            </a:endParaRP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   }</a:t>
            </a:r>
            <a:endParaRPr lang="zh-CN" altLang="zh-CN" sz="1600" b="1" dirty="0">
              <a:solidFill>
                <a:srgbClr val="0000FF"/>
              </a:solidFill>
              <a:latin typeface="Consolas" pitchFamily="49" charset="0"/>
              <a:ea typeface="仿宋" pitchFamily="49" charset="-122"/>
              <a:cs typeface="Consolas" pitchFamily="49" charset="0"/>
            </a:endParaRPr>
          </a:p>
          <a:p>
            <a:pPr algn="l">
              <a:lnSpc>
                <a:spcPts val="2400"/>
              </a:lnSpc>
            </a:pPr>
            <a:r>
              <a:rPr lang="en-US" altLang="zh-CN" sz="1600" b="1" dirty="0">
                <a:solidFill>
                  <a:srgbClr val="0000FF"/>
                </a:solidFill>
                <a:latin typeface="Consolas" pitchFamily="49" charset="0"/>
                <a:ea typeface="仿宋" pitchFamily="49" charset="-122"/>
                <a:cs typeface="Consolas" pitchFamily="49" charset="0"/>
              </a:rPr>
              <a:t>   else if (k&lt;</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-&gt;key) </a:t>
            </a:r>
            <a:endParaRPr lang="zh-CN" altLang="zh-CN" sz="1600" b="1" dirty="0">
              <a:solidFill>
                <a:srgbClr val="0000FF"/>
              </a:solidFill>
              <a:latin typeface="Consolas" pitchFamily="49" charset="0"/>
              <a:ea typeface="仿宋" pitchFamily="49" charset="-122"/>
              <a:cs typeface="Consolas" pitchFamily="49" charset="0"/>
            </a:endParaRP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lchild</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FF0000"/>
                </a:solidFill>
                <a:latin typeface="Consolas" pitchFamily="49" charset="0"/>
                <a:ea typeface="仿宋" pitchFamily="49" charset="-122"/>
                <a:cs typeface="Consolas" pitchFamily="49" charset="0"/>
              </a:rPr>
              <a:t>InsertBST</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lchild,k</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a:solidFill>
                  <a:srgbClr val="00B0F0"/>
                </a:solidFill>
                <a:latin typeface="Consolas" pitchFamily="49" charset="0"/>
                <a:ea typeface="仿宋" pitchFamily="49" charset="-122"/>
                <a:cs typeface="Consolas" pitchFamily="49" charset="0"/>
              </a:rPr>
              <a:t>//</a:t>
            </a:r>
            <a:r>
              <a:rPr lang="zh-CN" altLang="zh-CN" sz="1600" b="1" dirty="0">
                <a:solidFill>
                  <a:srgbClr val="00B0F0"/>
                </a:solidFill>
                <a:latin typeface="Consolas" pitchFamily="49" charset="0"/>
                <a:ea typeface="仿宋" pitchFamily="49" charset="-122"/>
                <a:cs typeface="Consolas" pitchFamily="49" charset="0"/>
              </a:rPr>
              <a:t>插入到左子树中</a:t>
            </a: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   else if(k&gt;</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-&gt;key)</a:t>
            </a:r>
            <a:endParaRPr lang="zh-CN" altLang="zh-CN" sz="1600" b="1" dirty="0">
              <a:solidFill>
                <a:srgbClr val="0000FF"/>
              </a:solidFill>
              <a:latin typeface="Consolas" pitchFamily="49" charset="0"/>
              <a:ea typeface="仿宋" pitchFamily="49" charset="-122"/>
              <a:cs typeface="Consolas" pitchFamily="49" charset="0"/>
            </a:endParaRP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rchild</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FF0000"/>
                </a:solidFill>
                <a:latin typeface="Consolas" pitchFamily="49" charset="0"/>
                <a:ea typeface="仿宋" pitchFamily="49" charset="-122"/>
                <a:cs typeface="Consolas" pitchFamily="49" charset="0"/>
              </a:rPr>
              <a:t>InsertBST</a:t>
            </a:r>
            <a:r>
              <a:rPr lang="en-US" altLang="zh-CN" sz="1600" b="1" dirty="0">
                <a:solidFill>
                  <a:srgbClr val="0000FF"/>
                </a:solidFill>
                <a:latin typeface="Consolas" pitchFamily="49" charset="0"/>
                <a:ea typeface="仿宋" pitchFamily="49" charset="-122"/>
                <a:cs typeface="Consolas" pitchFamily="49" charset="0"/>
              </a:rPr>
              <a:t>(</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-&gt;</a:t>
            </a:r>
            <a:r>
              <a:rPr lang="en-US" altLang="zh-CN" sz="1600" b="1" dirty="0" err="1">
                <a:solidFill>
                  <a:srgbClr val="0000FF"/>
                </a:solidFill>
                <a:latin typeface="Consolas" pitchFamily="49" charset="0"/>
                <a:ea typeface="仿宋" pitchFamily="49" charset="-122"/>
                <a:cs typeface="Consolas" pitchFamily="49" charset="0"/>
              </a:rPr>
              <a:t>rchild,k</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a:solidFill>
                  <a:srgbClr val="00B0F0"/>
                </a:solidFill>
                <a:latin typeface="Consolas" pitchFamily="49" charset="0"/>
                <a:ea typeface="仿宋" pitchFamily="49" charset="-122"/>
                <a:cs typeface="Consolas" pitchFamily="49" charset="0"/>
              </a:rPr>
              <a:t>//</a:t>
            </a:r>
            <a:r>
              <a:rPr lang="zh-CN" altLang="zh-CN" sz="1600" b="1" dirty="0">
                <a:solidFill>
                  <a:srgbClr val="00B0F0"/>
                </a:solidFill>
                <a:latin typeface="Consolas" pitchFamily="49" charset="0"/>
                <a:ea typeface="仿宋" pitchFamily="49" charset="-122"/>
                <a:cs typeface="Consolas" pitchFamily="49" charset="0"/>
              </a:rPr>
              <a:t>插入到右子树中</a:t>
            </a:r>
          </a:p>
          <a:p>
            <a:pPr algn="l">
              <a:lnSpc>
                <a:spcPts val="2400"/>
              </a:lnSpc>
            </a:pPr>
            <a:r>
              <a:rPr lang="en-US" altLang="zh-CN" sz="1600" b="1" dirty="0">
                <a:solidFill>
                  <a:srgbClr val="0000FF"/>
                </a:solidFill>
                <a:latin typeface="Consolas" pitchFamily="49" charset="0"/>
                <a:ea typeface="仿宋" pitchFamily="49" charset="-122"/>
                <a:cs typeface="Consolas" pitchFamily="49" charset="0"/>
              </a:rPr>
              <a:t>   return </a:t>
            </a:r>
            <a:r>
              <a:rPr lang="en-US" altLang="zh-CN" sz="1600" b="1" dirty="0" err="1">
                <a:solidFill>
                  <a:srgbClr val="0000FF"/>
                </a:solidFill>
                <a:latin typeface="Consolas" pitchFamily="49" charset="0"/>
                <a:ea typeface="仿宋" pitchFamily="49" charset="-122"/>
                <a:cs typeface="Consolas" pitchFamily="49" charset="0"/>
              </a:rPr>
              <a:t>bt</a:t>
            </a:r>
            <a:r>
              <a:rPr lang="en-US" altLang="zh-CN" sz="1600" b="1" dirty="0">
                <a:solidFill>
                  <a:srgbClr val="0000FF"/>
                </a:solidFill>
                <a:latin typeface="Consolas" pitchFamily="49" charset="0"/>
                <a:ea typeface="仿宋" pitchFamily="49" charset="-122"/>
                <a:cs typeface="Consolas" pitchFamily="49" charset="0"/>
              </a:rPr>
              <a:t>;						</a:t>
            </a:r>
            <a:r>
              <a:rPr lang="en-US" altLang="zh-CN" sz="1600" b="1" dirty="0">
                <a:solidFill>
                  <a:srgbClr val="00B0F0"/>
                </a:solidFill>
                <a:latin typeface="Consolas" pitchFamily="49" charset="0"/>
                <a:ea typeface="仿宋" pitchFamily="49" charset="-122"/>
                <a:cs typeface="Consolas" pitchFamily="49" charset="0"/>
              </a:rPr>
              <a:t>//</a:t>
            </a:r>
            <a:r>
              <a:rPr lang="zh-CN" altLang="zh-CN" sz="1600" b="1" dirty="0">
                <a:solidFill>
                  <a:srgbClr val="00B0F0"/>
                </a:solidFill>
                <a:latin typeface="Consolas" pitchFamily="49" charset="0"/>
                <a:ea typeface="仿宋" pitchFamily="49" charset="-122"/>
                <a:cs typeface="Consolas" pitchFamily="49" charset="0"/>
              </a:rPr>
              <a:t>返回根结点</a:t>
            </a:r>
          </a:p>
          <a:p>
            <a:pPr algn="l">
              <a:lnSpc>
                <a:spcPts val="2800"/>
              </a:lnSpc>
            </a:pPr>
            <a:r>
              <a:rPr lang="en-US" altLang="zh-CN" sz="1600" b="1" dirty="0">
                <a:solidFill>
                  <a:srgbClr val="0000FF"/>
                </a:solidFill>
                <a:latin typeface="Consolas" pitchFamily="49" charset="0"/>
                <a:ea typeface="仿宋" pitchFamily="49" charset="-122"/>
                <a:cs typeface="Consolas" pitchFamily="49" charset="0"/>
              </a:rPr>
              <a:t>}</a:t>
            </a:r>
            <a:endParaRPr lang="zh-CN" altLang="zh-CN" sz="1600" b="1" dirty="0">
              <a:solidFill>
                <a:srgbClr val="0000FF"/>
              </a:solidFill>
              <a:latin typeface="Consolas" pitchFamily="49" charset="0"/>
              <a:ea typeface="仿宋" pitchFamily="49" charset="-122"/>
              <a:cs typeface="Consolas" pitchFamily="49" charset="0"/>
            </a:endParaRPr>
          </a:p>
        </p:txBody>
      </p:sp>
      <p:sp>
        <p:nvSpPr>
          <p:cNvPr id="8" name="Text Box 4">
            <a:extLst>
              <a:ext uri="{FF2B5EF4-FFF2-40B4-BE49-F238E27FC236}">
                <a16:creationId xmlns:a16="http://schemas.microsoft.com/office/drawing/2014/main" id="{8AE6AAAF-2B07-E576-09E8-128C8A32FCCC}"/>
              </a:ext>
            </a:extLst>
          </p:cNvPr>
          <p:cNvSpPr txBox="1">
            <a:spLocks noChangeArrowheads="1"/>
          </p:cNvSpPr>
          <p:nvPr/>
        </p:nvSpPr>
        <p:spPr bwMode="auto">
          <a:xfrm>
            <a:off x="1559496" y="2283384"/>
            <a:ext cx="8429684" cy="400110"/>
          </a:xfrm>
          <a:prstGeom prst="rect">
            <a:avLst/>
          </a:prstGeom>
          <a:noFill/>
          <a:ln w="9525">
            <a:noFill/>
            <a:miter lim="800000"/>
            <a:headEnd/>
            <a:tailEnd/>
          </a:ln>
        </p:spPr>
        <p:txBody>
          <a:bodyPr wrap="square">
            <a:spAutoFit/>
          </a:bodyPr>
          <a:lstStyle/>
          <a:p>
            <a:pPr algn="l">
              <a:spcBef>
                <a:spcPct val="50000"/>
              </a:spcBef>
            </a:pPr>
            <a:r>
              <a:rPr lang="zh-CN" altLang="en-US" sz="2000" b="1" dirty="0">
                <a:solidFill>
                  <a:srgbClr val="3333FF"/>
                </a:solidFill>
                <a:latin typeface="Consolas" pitchFamily="49" charset="0"/>
                <a:ea typeface="楷体" pitchFamily="49" charset="-122"/>
                <a:cs typeface="Consolas" pitchFamily="49" charset="0"/>
              </a:rPr>
              <a:t>算法</a:t>
            </a:r>
            <a:r>
              <a:rPr lang="en-US" altLang="zh-CN" sz="2000" b="1" dirty="0" err="1">
                <a:solidFill>
                  <a:srgbClr val="3333FF"/>
                </a:solidFill>
                <a:latin typeface="Consolas" pitchFamily="49" charset="0"/>
                <a:ea typeface="楷体" pitchFamily="49" charset="-122"/>
                <a:cs typeface="Consolas" pitchFamily="49" charset="0"/>
              </a:rPr>
              <a:t>InsertBST</a:t>
            </a:r>
            <a:r>
              <a:rPr lang="en-US" altLang="zh-CN" sz="2000" b="1" dirty="0">
                <a:solidFill>
                  <a:srgbClr val="3333FF"/>
                </a:solidFill>
                <a:latin typeface="Consolas" pitchFamily="49" charset="0"/>
                <a:ea typeface="楷体" pitchFamily="49" charset="-122"/>
                <a:cs typeface="Consolas" pitchFamily="49" charset="0"/>
              </a:rPr>
              <a:t>(</a:t>
            </a:r>
            <a:r>
              <a:rPr lang="en-US" altLang="zh-CN" sz="2000" b="1" dirty="0" err="1">
                <a:solidFill>
                  <a:srgbClr val="3333FF"/>
                </a:solidFill>
                <a:latin typeface="Consolas" pitchFamily="49" charset="0"/>
                <a:ea typeface="楷体" pitchFamily="49" charset="-122"/>
                <a:cs typeface="Consolas" pitchFamily="49" charset="0"/>
              </a:rPr>
              <a:t>bt,k</a:t>
            </a:r>
            <a:r>
              <a:rPr lang="en-US" altLang="zh-CN" sz="2000" b="1" dirty="0">
                <a:solidFill>
                  <a:srgbClr val="3333FF"/>
                </a:solidFill>
                <a:latin typeface="Consolas" pitchFamily="49" charset="0"/>
                <a:ea typeface="楷体" pitchFamily="49" charset="-122"/>
                <a:cs typeface="Consolas" pitchFamily="49" charset="0"/>
              </a:rPr>
              <a:t>)</a:t>
            </a:r>
            <a:r>
              <a:rPr lang="zh-CN" altLang="en-US" sz="2000" b="1" dirty="0">
                <a:solidFill>
                  <a:srgbClr val="3333FF"/>
                </a:solidFill>
                <a:latin typeface="Consolas" pitchFamily="49" charset="0"/>
                <a:ea typeface="楷体" pitchFamily="49" charset="-122"/>
                <a:cs typeface="Consolas" pitchFamily="49" charset="0"/>
              </a:rPr>
              <a:t>：返回</a:t>
            </a:r>
            <a:r>
              <a:rPr lang="en-US" altLang="zh-CN" sz="2000" b="1" dirty="0" err="1">
                <a:solidFill>
                  <a:srgbClr val="3333FF"/>
                </a:solidFill>
                <a:latin typeface="Consolas" pitchFamily="49" charset="0"/>
                <a:ea typeface="楷体" pitchFamily="49" charset="-122"/>
                <a:cs typeface="Consolas" pitchFamily="49" charset="0"/>
              </a:rPr>
              <a:t>bt</a:t>
            </a:r>
            <a:r>
              <a:rPr lang="zh-CN" altLang="en-US" sz="2000" b="1" dirty="0">
                <a:solidFill>
                  <a:srgbClr val="3333FF"/>
                </a:solidFill>
                <a:latin typeface="Consolas" pitchFamily="49" charset="0"/>
                <a:ea typeface="楷体" pitchFamily="49" charset="-122"/>
                <a:cs typeface="Consolas" pitchFamily="49" charset="0"/>
              </a:rPr>
              <a:t>中插入关键字</a:t>
            </a:r>
            <a:r>
              <a:rPr lang="en-US" altLang="zh-CN" sz="2000" b="1" dirty="0">
                <a:solidFill>
                  <a:srgbClr val="3333FF"/>
                </a:solidFill>
                <a:latin typeface="Consolas" pitchFamily="49" charset="0"/>
                <a:ea typeface="楷体" pitchFamily="49" charset="-122"/>
                <a:cs typeface="Consolas" pitchFamily="49" charset="0"/>
              </a:rPr>
              <a:t>k</a:t>
            </a:r>
            <a:r>
              <a:rPr lang="zh-CN" altLang="en-US" sz="2000" b="1" dirty="0">
                <a:solidFill>
                  <a:srgbClr val="3333FF"/>
                </a:solidFill>
                <a:latin typeface="Consolas" pitchFamily="49" charset="0"/>
                <a:ea typeface="楷体" pitchFamily="49" charset="-122"/>
                <a:cs typeface="Consolas" pitchFamily="49" charset="0"/>
              </a:rPr>
              <a:t>的二叉排序树根结点地址</a:t>
            </a:r>
          </a:p>
        </p:txBody>
      </p:sp>
      <p:grpSp>
        <p:nvGrpSpPr>
          <p:cNvPr id="11" name="组合 5">
            <a:extLst>
              <a:ext uri="{FF2B5EF4-FFF2-40B4-BE49-F238E27FC236}">
                <a16:creationId xmlns:a16="http://schemas.microsoft.com/office/drawing/2014/main" id="{F07B0944-0730-1183-C5CA-DB126B513770}"/>
              </a:ext>
            </a:extLst>
          </p:cNvPr>
          <p:cNvGrpSpPr/>
          <p:nvPr/>
        </p:nvGrpSpPr>
        <p:grpSpPr>
          <a:xfrm>
            <a:off x="9768408" y="5805264"/>
            <a:ext cx="2744779" cy="900176"/>
            <a:chOff x="928662" y="5643578"/>
            <a:chExt cx="2744779" cy="900176"/>
          </a:xfrm>
        </p:grpSpPr>
        <p:sp>
          <p:nvSpPr>
            <p:cNvPr id="12" name="Text Box 3">
              <a:extLst>
                <a:ext uri="{FF2B5EF4-FFF2-40B4-BE49-F238E27FC236}">
                  <a16:creationId xmlns:a16="http://schemas.microsoft.com/office/drawing/2014/main" id="{CAF38D53-330C-1C19-A63F-601CE0151CC4}"/>
                </a:ext>
              </a:extLst>
            </p:cNvPr>
            <p:cNvSpPr txBox="1">
              <a:spLocks noChangeArrowheads="1"/>
            </p:cNvSpPr>
            <p:nvPr/>
          </p:nvSpPr>
          <p:spPr bwMode="auto">
            <a:xfrm>
              <a:off x="1142976" y="6143644"/>
              <a:ext cx="2530465" cy="400110"/>
            </a:xfrm>
            <a:prstGeom prst="rect">
              <a:avLst/>
            </a:prstGeom>
            <a:noFill/>
            <a:ln w="9525">
              <a:noFill/>
              <a:miter lim="800000"/>
              <a:headEnd/>
              <a:tailEnd/>
            </a:ln>
          </p:spPr>
          <p:txBody>
            <a:bodyPr wrap="square">
              <a:spAutoFit/>
            </a:bodyPr>
            <a:lstStyle/>
            <a:p>
              <a:pPr>
                <a:spcBef>
                  <a:spcPct val="50000"/>
                </a:spcBef>
              </a:pPr>
              <a:r>
                <a:rPr kumimoji="0" lang="zh-CN" altLang="en-US" sz="2000" b="1" dirty="0">
                  <a:solidFill>
                    <a:srgbClr val="3333FF"/>
                  </a:solidFill>
                  <a:latin typeface="仿宋" pitchFamily="49" charset="-122"/>
                  <a:ea typeface="仿宋" pitchFamily="49" charset="-122"/>
                  <a:cs typeface="Times New Roman" pitchFamily="18" charset="0"/>
                </a:rPr>
                <a:t>先序遍历的思想</a:t>
              </a:r>
            </a:p>
          </p:txBody>
        </p:sp>
        <p:sp>
          <p:nvSpPr>
            <p:cNvPr id="13" name="上弧形箭头 4">
              <a:extLst>
                <a:ext uri="{FF2B5EF4-FFF2-40B4-BE49-F238E27FC236}">
                  <a16:creationId xmlns:a16="http://schemas.microsoft.com/office/drawing/2014/main" id="{C8652D67-88B6-CFC1-6EE3-624E1277C5DE}"/>
                </a:ext>
              </a:extLst>
            </p:cNvPr>
            <p:cNvSpPr/>
            <p:nvPr/>
          </p:nvSpPr>
          <p:spPr>
            <a:xfrm rot="16200000">
              <a:off x="714360" y="5857880"/>
              <a:ext cx="714356" cy="285752"/>
            </a:xfrm>
            <a:prstGeom prst="curved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388469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D7362-201B-C6CD-7C8F-DC56699D012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FF2F968-7292-4801-E43A-D0C00C18916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040A15D8-AD3B-441A-E0BD-402FE06D0C12}"/>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08B66056-1EC3-CE24-7A4A-7DF20B3791CC}"/>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7347D94B-F4F3-9E58-257C-9D7A57769D42}"/>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7" name="Text Box 4">
            <a:extLst>
              <a:ext uri="{FF2B5EF4-FFF2-40B4-BE49-F238E27FC236}">
                <a16:creationId xmlns:a16="http://schemas.microsoft.com/office/drawing/2014/main" id="{96321CB2-8AC7-795C-BA3D-1FB37AF20EF5}"/>
              </a:ext>
            </a:extLst>
          </p:cNvPr>
          <p:cNvSpPr txBox="1">
            <a:spLocks noChangeArrowheads="1"/>
          </p:cNvSpPr>
          <p:nvPr/>
        </p:nvSpPr>
        <p:spPr bwMode="auto">
          <a:xfrm>
            <a:off x="1487488" y="3429000"/>
            <a:ext cx="8429684" cy="1493578"/>
          </a:xfrm>
          <a:prstGeom prst="rect">
            <a:avLst/>
          </a:prstGeom>
          <a:ln>
            <a:solidFill>
              <a:schemeClr val="accent3">
                <a:lumMod val="40000"/>
                <a:lumOff val="60000"/>
              </a:schemeClr>
            </a:solid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a:spAutoFit/>
          </a:bodyPr>
          <a:lstStyle/>
          <a:p>
            <a:pPr marL="457200" indent="-457200" algn="l">
              <a:lnSpc>
                <a:spcPts val="2800"/>
              </a:lnSpc>
              <a:spcBef>
                <a:spcPct val="50000"/>
              </a:spcBef>
              <a:buBlip>
                <a:blip r:embed="rId2"/>
              </a:buBlip>
            </a:pPr>
            <a:r>
              <a:rPr lang="zh-CN" altLang="zh-CN" sz="2000" b="1">
                <a:solidFill>
                  <a:srgbClr val="0000FF"/>
                </a:solidFill>
                <a:latin typeface="Consolas" pitchFamily="49" charset="0"/>
                <a:ea typeface="楷体" pitchFamily="49" charset="-122"/>
                <a:cs typeface="Consolas" pitchFamily="49" charset="0"/>
              </a:rPr>
              <a:t>创建一棵二叉排序树是从一个空树开始</a:t>
            </a:r>
            <a:r>
              <a:rPr lang="zh-CN" altLang="en-US"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bt=NULL</a:t>
            </a:r>
            <a:r>
              <a:rPr lang="zh-CN" altLang="en-US" sz="2000" b="1">
                <a:solidFill>
                  <a:srgbClr val="0000FF"/>
                </a:solidFill>
                <a:latin typeface="Consolas" pitchFamily="49" charset="0"/>
                <a:ea typeface="楷体" pitchFamily="49" charset="-122"/>
                <a:cs typeface="Consolas" pitchFamily="49" charset="0"/>
              </a:rPr>
              <a:t>）。</a:t>
            </a:r>
            <a:endParaRPr lang="en-US" altLang="zh-CN" sz="2000" b="1">
              <a:solidFill>
                <a:srgbClr val="0000FF"/>
              </a:solidFill>
              <a:latin typeface="Consolas" pitchFamily="49" charset="0"/>
              <a:ea typeface="楷体" pitchFamily="49" charset="-122"/>
              <a:cs typeface="Consolas" pitchFamily="49" charset="0"/>
            </a:endParaRPr>
          </a:p>
          <a:p>
            <a:pPr marL="457200" indent="-457200" algn="l">
              <a:lnSpc>
                <a:spcPts val="2800"/>
              </a:lnSpc>
              <a:spcBef>
                <a:spcPct val="50000"/>
              </a:spcBef>
              <a:buBlip>
                <a:blip r:embed="rId2"/>
              </a:buBlip>
            </a:pPr>
            <a:r>
              <a:rPr lang="zh-CN" altLang="zh-CN" sz="2000" b="1">
                <a:solidFill>
                  <a:srgbClr val="0000FF"/>
                </a:solidFill>
                <a:latin typeface="Consolas" pitchFamily="49" charset="0"/>
                <a:ea typeface="楷体" pitchFamily="49" charset="-122"/>
                <a:cs typeface="Consolas" pitchFamily="49" charset="0"/>
              </a:rPr>
              <a:t>每插入一个关键字</a:t>
            </a:r>
            <a:r>
              <a:rPr lang="en-US" altLang="zh-CN" sz="2000" b="1">
                <a:solidFill>
                  <a:srgbClr val="0000FF"/>
                </a:solidFill>
                <a:latin typeface="Consolas" pitchFamily="49" charset="0"/>
                <a:ea typeface="楷体" pitchFamily="49" charset="-122"/>
                <a:cs typeface="Consolas" pitchFamily="49" charset="0"/>
              </a:rPr>
              <a:t>k</a:t>
            </a:r>
            <a:r>
              <a:rPr lang="zh-CN" altLang="zh-CN" sz="2000" b="1">
                <a:solidFill>
                  <a:srgbClr val="0000FF"/>
                </a:solidFill>
                <a:latin typeface="Consolas" pitchFamily="49" charset="0"/>
                <a:ea typeface="楷体" pitchFamily="49" charset="-122"/>
                <a:cs typeface="Consolas" pitchFamily="49" charset="0"/>
              </a:rPr>
              <a:t>，就调用一次</a:t>
            </a:r>
            <a:r>
              <a:rPr lang="en-US" altLang="zh-CN" sz="2000" b="1">
                <a:solidFill>
                  <a:srgbClr val="0000FF"/>
                </a:solidFill>
                <a:latin typeface="Consolas" pitchFamily="49" charset="0"/>
                <a:ea typeface="楷体" pitchFamily="49" charset="-122"/>
                <a:cs typeface="Consolas" pitchFamily="49" charset="0"/>
              </a:rPr>
              <a:t>InsertBST(bt,k)</a:t>
            </a:r>
            <a:r>
              <a:rPr lang="zh-CN" altLang="zh-CN" sz="2000" b="1">
                <a:solidFill>
                  <a:srgbClr val="0000FF"/>
                </a:solidFill>
                <a:latin typeface="Consolas" pitchFamily="49" charset="0"/>
                <a:ea typeface="楷体" pitchFamily="49" charset="-122"/>
                <a:cs typeface="Consolas" pitchFamily="49" charset="0"/>
              </a:rPr>
              <a:t>算法将</a:t>
            </a:r>
            <a:r>
              <a:rPr lang="en-US" altLang="zh-CN" sz="2000" b="1">
                <a:solidFill>
                  <a:srgbClr val="0000FF"/>
                </a:solidFill>
                <a:latin typeface="Consolas" pitchFamily="49" charset="0"/>
                <a:ea typeface="楷体" pitchFamily="49" charset="-122"/>
                <a:cs typeface="Consolas" pitchFamily="49" charset="0"/>
              </a:rPr>
              <a:t>k</a:t>
            </a:r>
            <a:r>
              <a:rPr lang="zh-CN" altLang="zh-CN" sz="2000" b="1">
                <a:solidFill>
                  <a:srgbClr val="0000FF"/>
                </a:solidFill>
                <a:latin typeface="Consolas" pitchFamily="49" charset="0"/>
                <a:ea typeface="楷体" pitchFamily="49" charset="-122"/>
                <a:cs typeface="Consolas" pitchFamily="49" charset="0"/>
              </a:rPr>
              <a:t>插入到当前已生成的二叉排序树中。</a:t>
            </a:r>
            <a:endParaRPr lang="zh-CN" altLang="en-US" sz="2000" b="1" dirty="0">
              <a:solidFill>
                <a:srgbClr val="0000FF"/>
              </a:solidFill>
              <a:latin typeface="Consolas" pitchFamily="49" charset="0"/>
              <a:ea typeface="楷体" pitchFamily="49" charset="-122"/>
              <a:cs typeface="Consolas" pitchFamily="49" charset="0"/>
            </a:endParaRPr>
          </a:p>
        </p:txBody>
      </p:sp>
      <p:sp>
        <p:nvSpPr>
          <p:cNvPr id="9" name="圆角矩形 4">
            <a:extLst>
              <a:ext uri="{FF2B5EF4-FFF2-40B4-BE49-F238E27FC236}">
                <a16:creationId xmlns:a16="http://schemas.microsoft.com/office/drawing/2014/main" id="{66063748-C379-9465-20A5-97AC7377C0B8}"/>
              </a:ext>
            </a:extLst>
          </p:cNvPr>
          <p:cNvSpPr/>
          <p:nvPr/>
        </p:nvSpPr>
        <p:spPr bwMode="auto">
          <a:xfrm>
            <a:off x="1630364" y="2500306"/>
            <a:ext cx="2428891" cy="544194"/>
          </a:xfrm>
          <a:prstGeom prst="roundRect">
            <a:avLst>
              <a:gd name="adj" fmla="val 7848"/>
            </a:avLst>
          </a:prstGeom>
          <a:solidFill>
            <a:schemeClr val="accent5">
              <a:lumMod val="20000"/>
              <a:lumOff val="80000"/>
            </a:schemeClr>
          </a:solidFill>
          <a:ln w="381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spcBef>
                <a:spcPts val="0"/>
              </a:spcBef>
              <a:spcAft>
                <a:spcPts val="0"/>
              </a:spcAft>
              <a:buClr>
                <a:srgbClr val="FF0000"/>
              </a:buClr>
              <a:buSzPct val="70000"/>
              <a:tabLst>
                <a:tab pos="136525" algn="l"/>
              </a:tabLst>
              <a:defRPr/>
            </a:pPr>
            <a:r>
              <a:rPr lang="zh-CN" altLang="en-US" sz="2000" b="1">
                <a:solidFill>
                  <a:srgbClr val="FF0000"/>
                </a:solidFill>
                <a:latin typeface="微软雅黑" pitchFamily="34" charset="-122"/>
                <a:ea typeface="微软雅黑" pitchFamily="34" charset="-122"/>
              </a:rPr>
              <a:t>创建二叉排序树</a:t>
            </a:r>
            <a:endParaRPr lang="zh-CN" altLang="en-US" sz="20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8510235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B9A8-79A1-9103-2E30-1D2A42DBCD8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5652426-6DB7-4531-6EC2-6F80BB5229F6}"/>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28305FFA-928E-56A9-5906-82A80A840A16}"/>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D9F9EDDD-ED60-8D8F-32E3-5693485313BF}"/>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E18C9805-2120-AB4D-C7D5-0944804C18C8}"/>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5" name="Text Box 2">
            <a:extLst>
              <a:ext uri="{FF2B5EF4-FFF2-40B4-BE49-F238E27FC236}">
                <a16:creationId xmlns:a16="http://schemas.microsoft.com/office/drawing/2014/main" id="{3099BD4A-8CEA-38C0-CCC9-830CACDB8BD0}"/>
              </a:ext>
            </a:extLst>
          </p:cNvPr>
          <p:cNvSpPr txBox="1">
            <a:spLocks noChangeArrowheads="1"/>
          </p:cNvSpPr>
          <p:nvPr/>
        </p:nvSpPr>
        <p:spPr bwMode="auto">
          <a:xfrm>
            <a:off x="3975593" y="2580419"/>
            <a:ext cx="7881047" cy="344340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44000">
            <a:spAutoFit/>
          </a:bodyPr>
          <a:lstStyle/>
          <a:p>
            <a:pPr algn="just">
              <a:lnSpc>
                <a:spcPts val="2700"/>
              </a:lnSpc>
              <a:spcBef>
                <a:spcPts val="0"/>
              </a:spcBef>
            </a:pPr>
            <a:r>
              <a:rPr lang="en-US" altLang="zh-CN" sz="1800" b="1" dirty="0" err="1">
                <a:solidFill>
                  <a:srgbClr val="3333FF"/>
                </a:solidFill>
                <a:latin typeface="Consolas" pitchFamily="49" charset="0"/>
                <a:ea typeface="仿宋" pitchFamily="49" charset="-122"/>
                <a:cs typeface="Consolas" pitchFamily="49" charset="0"/>
              </a:rPr>
              <a:t>BSTNode</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FF0000"/>
                </a:solidFill>
                <a:latin typeface="Consolas" pitchFamily="49" charset="0"/>
                <a:ea typeface="仿宋" pitchFamily="49" charset="-122"/>
                <a:cs typeface="Consolas" pitchFamily="49" charset="0"/>
              </a:rPr>
              <a:t>CreatBST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3333FF"/>
                </a:solidFill>
                <a:latin typeface="Consolas" pitchFamily="49" charset="0"/>
                <a:ea typeface="仿宋" pitchFamily="49" charset="-122"/>
                <a:cs typeface="Consolas" pitchFamily="49" charset="0"/>
              </a:rPr>
              <a:t>KeyType</a:t>
            </a:r>
            <a:r>
              <a:rPr lang="en-US" altLang="zh-CN" sz="1800" b="1" dirty="0">
                <a:solidFill>
                  <a:srgbClr val="3333FF"/>
                </a:solidFill>
                <a:latin typeface="Consolas" pitchFamily="49" charset="0"/>
                <a:ea typeface="仿宋" pitchFamily="49" charset="-122"/>
                <a:cs typeface="Consolas" pitchFamily="49" charset="0"/>
              </a:rPr>
              <a:t> a[]</a:t>
            </a:r>
            <a:r>
              <a:rPr lang="zh-CN" altLang="en-US" sz="1800" b="1" dirty="0">
                <a:solidFill>
                  <a:srgbClr val="3333FF"/>
                </a:solidFill>
                <a:latin typeface="Consolas" pitchFamily="49" charset="0"/>
                <a:ea typeface="仿宋" pitchFamily="49" charset="-122"/>
                <a:cs typeface="Consolas" pitchFamily="49" charset="0"/>
              </a:rPr>
              <a:t>，</a:t>
            </a:r>
            <a:r>
              <a:rPr lang="en-US" altLang="zh-CN" sz="1800" b="1" dirty="0">
                <a:solidFill>
                  <a:srgbClr val="3333FF"/>
                </a:solidFill>
                <a:latin typeface="Consolas" pitchFamily="49" charset="0"/>
                <a:ea typeface="仿宋" pitchFamily="49" charset="-122"/>
                <a:cs typeface="Consolas" pitchFamily="49" charset="0"/>
              </a:rPr>
              <a:t>int n) </a:t>
            </a:r>
            <a:r>
              <a:rPr lang="en-US" altLang="zh-CN" sz="1800" b="1" dirty="0">
                <a:solidFill>
                  <a:srgbClr val="00B050"/>
                </a:solidFill>
                <a:latin typeface="Consolas" pitchFamily="49" charset="0"/>
                <a:ea typeface="仿宋" pitchFamily="49" charset="-122"/>
                <a:cs typeface="Consolas" pitchFamily="49" charset="0"/>
              </a:rPr>
              <a:t>//</a:t>
            </a:r>
            <a:r>
              <a:rPr lang="zh-CN" altLang="en-US" sz="1800" b="1" dirty="0">
                <a:solidFill>
                  <a:srgbClr val="00B050"/>
                </a:solidFill>
                <a:latin typeface="Consolas" pitchFamily="49" charset="0"/>
                <a:ea typeface="仿宋" pitchFamily="49" charset="-122"/>
                <a:cs typeface="Consolas" pitchFamily="49" charset="0"/>
              </a:rPr>
              <a:t>返回树根指针</a:t>
            </a:r>
          </a:p>
          <a:p>
            <a:pPr algn="just">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BSTNode</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=NULL;    		 </a:t>
            </a:r>
            <a:r>
              <a:rPr lang="en-US" altLang="zh-CN" sz="1800" b="1" dirty="0">
                <a:solidFill>
                  <a:srgbClr val="00B0F0"/>
                </a:solidFill>
                <a:latin typeface="Consolas" pitchFamily="49" charset="0"/>
                <a:ea typeface="仿宋" pitchFamily="49" charset="-122"/>
                <a:cs typeface="Consolas" pitchFamily="49" charset="0"/>
              </a:rPr>
              <a:t>//</a:t>
            </a:r>
            <a:r>
              <a:rPr lang="zh-CN" altLang="en-US" sz="1800" b="1" dirty="0">
                <a:solidFill>
                  <a:srgbClr val="00B0F0"/>
                </a:solidFill>
                <a:latin typeface="Consolas" pitchFamily="49" charset="0"/>
                <a:ea typeface="仿宋" pitchFamily="49" charset="-122"/>
                <a:cs typeface="Consolas" pitchFamily="49" charset="0"/>
              </a:rPr>
              <a:t>初始时</a:t>
            </a:r>
            <a:r>
              <a:rPr lang="en-US" altLang="zh-CN" sz="1800" b="1" dirty="0" err="1">
                <a:solidFill>
                  <a:srgbClr val="00B0F0"/>
                </a:solidFill>
                <a:latin typeface="Consolas" pitchFamily="49" charset="0"/>
                <a:ea typeface="仿宋" pitchFamily="49" charset="-122"/>
                <a:cs typeface="Consolas" pitchFamily="49" charset="0"/>
              </a:rPr>
              <a:t>bt</a:t>
            </a:r>
            <a:r>
              <a:rPr lang="zh-CN" altLang="en-US" sz="1800" b="1" dirty="0">
                <a:solidFill>
                  <a:srgbClr val="00B0F0"/>
                </a:solidFill>
                <a:latin typeface="Consolas" pitchFamily="49" charset="0"/>
                <a:ea typeface="仿宋" pitchFamily="49" charset="-122"/>
                <a:cs typeface="Consolas" pitchFamily="49" charset="0"/>
              </a:rPr>
              <a:t>为空树</a:t>
            </a:r>
          </a:p>
          <a:p>
            <a:pPr algn="just">
              <a:lnSpc>
                <a:spcPts val="2700"/>
              </a:lnSpc>
              <a:spcBef>
                <a:spcPts val="0"/>
              </a:spcBef>
            </a:pPr>
            <a:r>
              <a:rPr lang="zh-CN" altLang="en-US" sz="1800" b="1" dirty="0">
                <a:solidFill>
                  <a:srgbClr val="3333FF"/>
                </a:solidFill>
                <a:latin typeface="Consolas" pitchFamily="49" charset="0"/>
                <a:ea typeface="仿宋" pitchFamily="49" charset="-122"/>
                <a:cs typeface="Consolas" pitchFamily="49" charset="0"/>
              </a:rPr>
              <a:t>   </a:t>
            </a:r>
            <a:r>
              <a:rPr lang="en-US" altLang="zh-CN" sz="1800" b="1" dirty="0">
                <a:solidFill>
                  <a:srgbClr val="3333FF"/>
                </a:solidFill>
                <a:latin typeface="Consolas" pitchFamily="49" charset="0"/>
                <a:ea typeface="仿宋" pitchFamily="49" charset="-122"/>
                <a:cs typeface="Consolas" pitchFamily="49" charset="0"/>
              </a:rPr>
              <a:t>int </a:t>
            </a:r>
            <a:r>
              <a:rPr lang="en-US" altLang="zh-CN" sz="1800" b="1" dirty="0" err="1">
                <a:solidFill>
                  <a:srgbClr val="3333FF"/>
                </a:solidFill>
                <a:latin typeface="Consolas" pitchFamily="49" charset="0"/>
                <a:ea typeface="仿宋" pitchFamily="49" charset="-122"/>
                <a:cs typeface="Consolas" pitchFamily="49" charset="0"/>
              </a:rPr>
              <a:t>i</a:t>
            </a:r>
            <a:r>
              <a:rPr lang="en-US" altLang="zh-CN" sz="1800" b="1" dirty="0">
                <a:solidFill>
                  <a:srgbClr val="3333FF"/>
                </a:solidFill>
                <a:latin typeface="Consolas" pitchFamily="49" charset="0"/>
                <a:ea typeface="仿宋" pitchFamily="49" charset="-122"/>
                <a:cs typeface="Consolas" pitchFamily="49" charset="0"/>
              </a:rPr>
              <a:t>=0;</a:t>
            </a:r>
          </a:p>
          <a:p>
            <a:pPr algn="just">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while (</a:t>
            </a:r>
            <a:r>
              <a:rPr lang="en-US" altLang="zh-CN" sz="1800" b="1" dirty="0" err="1">
                <a:solidFill>
                  <a:srgbClr val="3333FF"/>
                </a:solidFill>
                <a:latin typeface="Consolas" pitchFamily="49" charset="0"/>
                <a:ea typeface="仿宋" pitchFamily="49" charset="-122"/>
                <a:cs typeface="Consolas" pitchFamily="49" charset="0"/>
              </a:rPr>
              <a:t>i</a:t>
            </a:r>
            <a:r>
              <a:rPr lang="en-US" altLang="zh-CN" sz="1800" b="1" dirty="0">
                <a:solidFill>
                  <a:srgbClr val="3333FF"/>
                </a:solidFill>
                <a:latin typeface="Consolas" pitchFamily="49" charset="0"/>
                <a:ea typeface="仿宋" pitchFamily="49" charset="-122"/>
                <a:cs typeface="Consolas" pitchFamily="49" charset="0"/>
              </a:rPr>
              <a:t>&lt;n) </a:t>
            </a:r>
          </a:p>
          <a:p>
            <a:pPr algn="just">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  </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FF00FF"/>
                </a:solidFill>
                <a:latin typeface="Consolas" pitchFamily="49" charset="0"/>
                <a:ea typeface="仿宋" pitchFamily="49" charset="-122"/>
                <a:cs typeface="Consolas" pitchFamily="49" charset="0"/>
              </a:rPr>
              <a:t>InsertBST</a:t>
            </a:r>
            <a:r>
              <a:rPr lang="en-US" altLang="zh-CN" sz="1800" b="1" dirty="0">
                <a:solidFill>
                  <a:srgbClr val="FF00FF"/>
                </a:solidFill>
                <a:latin typeface="Consolas" pitchFamily="49" charset="0"/>
                <a:ea typeface="仿宋" pitchFamily="49" charset="-122"/>
                <a:cs typeface="Consolas" pitchFamily="49" charset="0"/>
              </a:rPr>
              <a:t>(</a:t>
            </a:r>
            <a:r>
              <a:rPr lang="en-US" altLang="zh-CN" sz="1800" b="1" dirty="0" err="1">
                <a:solidFill>
                  <a:srgbClr val="FF00FF"/>
                </a:solidFill>
                <a:latin typeface="Consolas" pitchFamily="49" charset="0"/>
                <a:ea typeface="仿宋" pitchFamily="49" charset="-122"/>
                <a:cs typeface="Consolas" pitchFamily="49" charset="0"/>
              </a:rPr>
              <a:t>bt</a:t>
            </a:r>
            <a:r>
              <a:rPr lang="zh-CN" altLang="en-US" sz="1800" b="1" dirty="0">
                <a:solidFill>
                  <a:srgbClr val="FF00FF"/>
                </a:solidFill>
                <a:latin typeface="Consolas" pitchFamily="49" charset="0"/>
                <a:ea typeface="仿宋" pitchFamily="49" charset="-122"/>
                <a:cs typeface="Consolas" pitchFamily="49" charset="0"/>
              </a:rPr>
              <a:t>，</a:t>
            </a:r>
            <a:r>
              <a:rPr lang="en-US" altLang="zh-CN" sz="1800" b="1" dirty="0">
                <a:solidFill>
                  <a:srgbClr val="FF00FF"/>
                </a:solidFill>
                <a:latin typeface="Consolas" pitchFamily="49" charset="0"/>
                <a:ea typeface="仿宋" pitchFamily="49" charset="-122"/>
                <a:cs typeface="Consolas" pitchFamily="49" charset="0"/>
              </a:rPr>
              <a:t>a[</a:t>
            </a:r>
            <a:r>
              <a:rPr lang="en-US" altLang="zh-CN" sz="1800" b="1" dirty="0" err="1">
                <a:solidFill>
                  <a:srgbClr val="FF00FF"/>
                </a:solidFill>
                <a:latin typeface="Consolas" pitchFamily="49" charset="0"/>
                <a:ea typeface="仿宋" pitchFamily="49" charset="-122"/>
                <a:cs typeface="Consolas" pitchFamily="49" charset="0"/>
              </a:rPr>
              <a:t>i</a:t>
            </a:r>
            <a:r>
              <a:rPr lang="en-US" altLang="zh-CN" sz="1800" b="1" dirty="0">
                <a:solidFill>
                  <a:srgbClr val="FF00FF"/>
                </a:solidFill>
                <a:latin typeface="Consolas" pitchFamily="49" charset="0"/>
                <a:ea typeface="仿宋" pitchFamily="49" charset="-122"/>
                <a:cs typeface="Consolas" pitchFamily="49" charset="0"/>
              </a:rPr>
              <a:t>]); </a:t>
            </a:r>
            <a:r>
              <a:rPr lang="en-US" altLang="zh-CN" sz="1800" b="1" dirty="0">
                <a:solidFill>
                  <a:srgbClr val="00B0F0"/>
                </a:solidFill>
                <a:latin typeface="Consolas" pitchFamily="49" charset="0"/>
                <a:ea typeface="仿宋" pitchFamily="49" charset="-122"/>
                <a:cs typeface="Consolas" pitchFamily="49" charset="0"/>
              </a:rPr>
              <a:t>  	//</a:t>
            </a:r>
            <a:r>
              <a:rPr lang="zh-CN" altLang="en-US" sz="1800" b="1" dirty="0">
                <a:solidFill>
                  <a:srgbClr val="00B0F0"/>
                </a:solidFill>
                <a:latin typeface="Consolas" pitchFamily="49" charset="0"/>
                <a:ea typeface="仿宋" pitchFamily="49" charset="-122"/>
                <a:cs typeface="Consolas" pitchFamily="49" charset="0"/>
              </a:rPr>
              <a:t>将</a:t>
            </a:r>
            <a:r>
              <a:rPr lang="en-US" altLang="zh-CN" sz="1800" b="1" dirty="0">
                <a:solidFill>
                  <a:srgbClr val="00B0F0"/>
                </a:solidFill>
                <a:latin typeface="Consolas" pitchFamily="49" charset="0"/>
                <a:ea typeface="仿宋" pitchFamily="49" charset="-122"/>
                <a:cs typeface="Consolas" pitchFamily="49" charset="0"/>
              </a:rPr>
              <a:t>a[</a:t>
            </a:r>
            <a:r>
              <a:rPr lang="en-US" altLang="zh-CN" sz="1800" b="1" dirty="0" err="1">
                <a:solidFill>
                  <a:srgbClr val="00B0F0"/>
                </a:solidFill>
                <a:latin typeface="Consolas" pitchFamily="49" charset="0"/>
                <a:ea typeface="仿宋" pitchFamily="49" charset="-122"/>
                <a:cs typeface="Consolas" pitchFamily="49" charset="0"/>
              </a:rPr>
              <a:t>i</a:t>
            </a:r>
            <a:r>
              <a:rPr lang="en-US" altLang="zh-CN" sz="1800" b="1" dirty="0">
                <a:solidFill>
                  <a:srgbClr val="00B0F0"/>
                </a:solidFill>
                <a:latin typeface="Consolas" pitchFamily="49" charset="0"/>
                <a:ea typeface="仿宋" pitchFamily="49" charset="-122"/>
                <a:cs typeface="Consolas" pitchFamily="49" charset="0"/>
              </a:rPr>
              <a:t>]</a:t>
            </a:r>
            <a:r>
              <a:rPr lang="zh-CN" altLang="en-US" sz="1800" b="1" dirty="0">
                <a:solidFill>
                  <a:srgbClr val="00B0F0"/>
                </a:solidFill>
                <a:latin typeface="Consolas" pitchFamily="49" charset="0"/>
                <a:ea typeface="仿宋" pitchFamily="49" charset="-122"/>
                <a:cs typeface="Consolas" pitchFamily="49" charset="0"/>
              </a:rPr>
              <a:t>插入到</a:t>
            </a:r>
            <a:r>
              <a:rPr lang="en-US" altLang="zh-CN" sz="1800" b="1" dirty="0" err="1">
                <a:solidFill>
                  <a:srgbClr val="00B0F0"/>
                </a:solidFill>
                <a:latin typeface="Consolas" pitchFamily="49" charset="0"/>
                <a:ea typeface="仿宋" pitchFamily="49" charset="-122"/>
                <a:cs typeface="Consolas" pitchFamily="49" charset="0"/>
              </a:rPr>
              <a:t>bt</a:t>
            </a:r>
            <a:r>
              <a:rPr lang="zh-CN" altLang="en-US" sz="1800" b="1" dirty="0">
                <a:solidFill>
                  <a:srgbClr val="00B0F0"/>
                </a:solidFill>
                <a:latin typeface="Consolas" pitchFamily="49" charset="0"/>
                <a:ea typeface="仿宋" pitchFamily="49" charset="-122"/>
                <a:cs typeface="Consolas" pitchFamily="49" charset="0"/>
              </a:rPr>
              <a:t>中</a:t>
            </a:r>
          </a:p>
          <a:p>
            <a:pPr algn="just">
              <a:lnSpc>
                <a:spcPts val="2700"/>
              </a:lnSpc>
              <a:spcBef>
                <a:spcPts val="0"/>
              </a:spcBef>
            </a:pPr>
            <a:r>
              <a:rPr lang="zh-CN" altLang="en-US"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3333FF"/>
                </a:solidFill>
                <a:latin typeface="Consolas" pitchFamily="49" charset="0"/>
                <a:ea typeface="仿宋" pitchFamily="49" charset="-122"/>
                <a:cs typeface="Consolas" pitchFamily="49" charset="0"/>
              </a:rPr>
              <a:t>i</a:t>
            </a:r>
            <a:r>
              <a:rPr lang="en-US" altLang="zh-CN" sz="1800" b="1" dirty="0">
                <a:solidFill>
                  <a:srgbClr val="3333FF"/>
                </a:solidFill>
                <a:latin typeface="Consolas" pitchFamily="49" charset="0"/>
                <a:ea typeface="仿宋" pitchFamily="49" charset="-122"/>
                <a:cs typeface="Consolas" pitchFamily="49" charset="0"/>
              </a:rPr>
              <a:t>++;</a:t>
            </a:r>
          </a:p>
          <a:p>
            <a:pPr algn="just">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a:t>
            </a:r>
          </a:p>
          <a:p>
            <a:pPr algn="just">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return </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a:solidFill>
                  <a:srgbClr val="00B0F0"/>
                </a:solidFill>
                <a:latin typeface="Consolas" pitchFamily="49" charset="0"/>
                <a:ea typeface="仿宋" pitchFamily="49" charset="-122"/>
                <a:cs typeface="Consolas" pitchFamily="49" charset="0"/>
              </a:rPr>
              <a:t>  	//</a:t>
            </a:r>
            <a:r>
              <a:rPr lang="zh-CN" altLang="en-US" sz="1800" b="1" dirty="0">
                <a:solidFill>
                  <a:srgbClr val="00B0F0"/>
                </a:solidFill>
                <a:latin typeface="Consolas" pitchFamily="49" charset="0"/>
                <a:ea typeface="仿宋" pitchFamily="49" charset="-122"/>
                <a:cs typeface="Consolas" pitchFamily="49" charset="0"/>
              </a:rPr>
              <a:t>返回新二叉排序树的根结点地址</a:t>
            </a:r>
          </a:p>
          <a:p>
            <a:pPr algn="l">
              <a:lnSpc>
                <a:spcPts val="2700"/>
              </a:lnSpc>
              <a:spcBef>
                <a:spcPts val="0"/>
              </a:spcBef>
            </a:pPr>
            <a:r>
              <a:rPr lang="en-US" altLang="zh-CN" sz="1800" b="1" dirty="0">
                <a:solidFill>
                  <a:srgbClr val="3333FF"/>
                </a:solidFill>
                <a:latin typeface="Consolas" pitchFamily="49" charset="0"/>
                <a:ea typeface="仿宋" pitchFamily="49" charset="-122"/>
                <a:cs typeface="Consolas" pitchFamily="49" charset="0"/>
              </a:rPr>
              <a:t>} </a:t>
            </a:r>
          </a:p>
        </p:txBody>
      </p:sp>
      <p:sp>
        <p:nvSpPr>
          <p:cNvPr id="8" name="Text Box 3">
            <a:extLst>
              <a:ext uri="{FF2B5EF4-FFF2-40B4-BE49-F238E27FC236}">
                <a16:creationId xmlns:a16="http://schemas.microsoft.com/office/drawing/2014/main" id="{0A9420F2-0E2A-31DA-A060-EFAF2E470BEC}"/>
              </a:ext>
            </a:extLst>
          </p:cNvPr>
          <p:cNvSpPr txBox="1">
            <a:spLocks noChangeArrowheads="1"/>
          </p:cNvSpPr>
          <p:nvPr/>
        </p:nvSpPr>
        <p:spPr bwMode="auto">
          <a:xfrm>
            <a:off x="3863752" y="6217549"/>
            <a:ext cx="7459687" cy="400110"/>
          </a:xfrm>
          <a:prstGeom prst="rect">
            <a:avLst/>
          </a:prstGeom>
          <a:noFill/>
          <a:ln w="9525">
            <a:noFill/>
            <a:miter lim="800000"/>
            <a:headEnd/>
            <a:tailEnd/>
          </a:ln>
        </p:spPr>
        <p:txBody>
          <a:bodyPr wrap="square">
            <a:spAutoFit/>
          </a:bodyPr>
          <a:lstStyle/>
          <a:p>
            <a:pPr algn="l">
              <a:spcBef>
                <a:spcPct val="50000"/>
              </a:spcBef>
            </a:pPr>
            <a:r>
              <a:rPr kumimoji="0" lang="zh-CN" altLang="en-US" sz="2000" b="1" dirty="0">
                <a:latin typeface="Consolas" pitchFamily="49" charset="0"/>
                <a:ea typeface="华文中宋" pitchFamily="2" charset="-122"/>
                <a:cs typeface="Consolas" pitchFamily="49" charset="0"/>
              </a:rPr>
              <a:t>注意</a:t>
            </a:r>
            <a:r>
              <a:rPr kumimoji="0" lang="zh-CN" altLang="en-US" sz="2000" b="1">
                <a:latin typeface="Consolas" pitchFamily="49" charset="0"/>
                <a:ea typeface="华文中宋" pitchFamily="2" charset="-122"/>
                <a:cs typeface="Consolas" pitchFamily="49" charset="0"/>
              </a:rPr>
              <a:t>：</a:t>
            </a:r>
            <a:r>
              <a:rPr kumimoji="0" lang="zh-CN" altLang="en-US" sz="2000" b="1">
                <a:solidFill>
                  <a:srgbClr val="3333FF"/>
                </a:solidFill>
                <a:latin typeface="Consolas" pitchFamily="49" charset="0"/>
                <a:ea typeface="华文中宋" pitchFamily="2" charset="-122"/>
                <a:cs typeface="Consolas" pitchFamily="49" charset="0"/>
              </a:rPr>
              <a:t>任何结点插入</a:t>
            </a:r>
            <a:r>
              <a:rPr kumimoji="0" lang="zh-CN" altLang="en-US" sz="2000" b="1" dirty="0">
                <a:solidFill>
                  <a:srgbClr val="3333FF"/>
                </a:solidFill>
                <a:latin typeface="Consolas" pitchFamily="49" charset="0"/>
                <a:ea typeface="华文中宋" pitchFamily="2" charset="-122"/>
                <a:cs typeface="Consolas" pitchFamily="49" charset="0"/>
              </a:rPr>
              <a:t>到二叉排序</a:t>
            </a:r>
            <a:r>
              <a:rPr kumimoji="0" lang="zh-CN" altLang="en-US" sz="2000" b="1">
                <a:solidFill>
                  <a:srgbClr val="3333FF"/>
                </a:solidFill>
                <a:latin typeface="Consolas" pitchFamily="49" charset="0"/>
                <a:ea typeface="华文中宋" pitchFamily="2" charset="-122"/>
                <a:cs typeface="Consolas" pitchFamily="49" charset="0"/>
              </a:rPr>
              <a:t>树时，都是以</a:t>
            </a:r>
            <a:r>
              <a:rPr kumimoji="0" lang="zh-CN" altLang="en-US" sz="2000" b="1">
                <a:solidFill>
                  <a:srgbClr val="FF00FF"/>
                </a:solidFill>
                <a:latin typeface="Consolas" pitchFamily="49" charset="0"/>
                <a:ea typeface="华文中宋" pitchFamily="2" charset="-122"/>
                <a:cs typeface="Consolas" pitchFamily="49" charset="0"/>
              </a:rPr>
              <a:t>叶结点</a:t>
            </a:r>
            <a:r>
              <a:rPr kumimoji="0" lang="zh-CN" altLang="en-US" sz="2000" b="1">
                <a:solidFill>
                  <a:srgbClr val="3333FF"/>
                </a:solidFill>
                <a:latin typeface="Consolas" pitchFamily="49" charset="0"/>
                <a:ea typeface="华文中宋" pitchFamily="2" charset="-122"/>
                <a:cs typeface="Consolas" pitchFamily="49" charset="0"/>
              </a:rPr>
              <a:t>插入</a:t>
            </a:r>
            <a:r>
              <a:rPr kumimoji="0" lang="zh-CN" altLang="en-US" sz="2000" b="1" dirty="0">
                <a:solidFill>
                  <a:srgbClr val="3333FF"/>
                </a:solidFill>
                <a:latin typeface="Consolas" pitchFamily="49" charset="0"/>
                <a:ea typeface="华文中宋" pitchFamily="2" charset="-122"/>
                <a:cs typeface="Consolas" pitchFamily="49" charset="0"/>
              </a:rPr>
              <a:t>的。</a:t>
            </a:r>
          </a:p>
        </p:txBody>
      </p:sp>
      <p:sp>
        <p:nvSpPr>
          <p:cNvPr id="10" name="TextBox 4">
            <a:extLst>
              <a:ext uri="{FF2B5EF4-FFF2-40B4-BE49-F238E27FC236}">
                <a16:creationId xmlns:a16="http://schemas.microsoft.com/office/drawing/2014/main" id="{2B9C3DA3-8497-E056-E3B2-7ACBDCC01FA7}"/>
              </a:ext>
            </a:extLst>
          </p:cNvPr>
          <p:cNvSpPr txBox="1"/>
          <p:nvPr/>
        </p:nvSpPr>
        <p:spPr>
          <a:xfrm>
            <a:off x="234109" y="3823271"/>
            <a:ext cx="1928826" cy="707886"/>
          </a:xfrm>
          <a:prstGeom prst="rect">
            <a:avLst/>
          </a:prstGeom>
          <a:noFill/>
        </p:spPr>
        <p:txBody>
          <a:bodyPr wrap="square" rtlCol="0">
            <a:spAutoFit/>
          </a:bodyPr>
          <a:lstStyle/>
          <a:p>
            <a:r>
              <a:rPr lang="zh-CN" altLang="en-US" sz="2000" b="1" dirty="0">
                <a:solidFill>
                  <a:srgbClr val="3333FF"/>
                </a:solidFill>
                <a:latin typeface="Consolas" pitchFamily="49" charset="0"/>
                <a:ea typeface="仿宋" pitchFamily="49" charset="-122"/>
                <a:cs typeface="Consolas" pitchFamily="49" charset="0"/>
              </a:rPr>
              <a:t>关键字</a:t>
            </a:r>
            <a:r>
              <a:rPr lang="zh-CN" altLang="en-US" sz="2000" b="1">
                <a:solidFill>
                  <a:srgbClr val="3333FF"/>
                </a:solidFill>
                <a:latin typeface="Consolas" pitchFamily="49" charset="0"/>
                <a:ea typeface="仿宋" pitchFamily="49" charset="-122"/>
                <a:cs typeface="Consolas" pitchFamily="49" charset="0"/>
              </a:rPr>
              <a:t>数组</a:t>
            </a:r>
            <a:r>
              <a:rPr lang="en-US" altLang="zh-CN" sz="2000" b="1">
                <a:solidFill>
                  <a:srgbClr val="3333FF"/>
                </a:solidFill>
                <a:latin typeface="Consolas" pitchFamily="49" charset="0"/>
                <a:ea typeface="仿宋" pitchFamily="49" charset="-122"/>
                <a:cs typeface="Consolas" pitchFamily="49" charset="0"/>
              </a:rPr>
              <a:t>a[0</a:t>
            </a:r>
            <a:r>
              <a:rPr lang="en-US" altLang="zh-CN" sz="2000" b="1" dirty="0" err="1">
                <a:solidFill>
                  <a:srgbClr val="3333FF"/>
                </a:solidFill>
                <a:latin typeface="Consolas" pitchFamily="49" charset="0"/>
                <a:ea typeface="仿宋" pitchFamily="49" charset="-122"/>
                <a:cs typeface="Consolas" pitchFamily="49" charset="0"/>
              </a:rPr>
              <a:t>..</a:t>
            </a:r>
            <a:r>
              <a:rPr lang="en-US" altLang="zh-CN" sz="2000" b="1" i="1" dirty="0" err="1">
                <a:solidFill>
                  <a:srgbClr val="3333FF"/>
                </a:solidFill>
                <a:latin typeface="Consolas" pitchFamily="49" charset="0"/>
                <a:ea typeface="仿宋" pitchFamily="49" charset="-122"/>
                <a:cs typeface="Consolas" pitchFamily="49" charset="0"/>
              </a:rPr>
              <a:t>n</a:t>
            </a:r>
            <a:r>
              <a:rPr lang="en-US" altLang="zh-CN" sz="2000" b="1" dirty="0">
                <a:solidFill>
                  <a:srgbClr val="3333FF"/>
                </a:solidFill>
                <a:latin typeface="Consolas" pitchFamily="49" charset="0"/>
                <a:ea typeface="仿宋" pitchFamily="49" charset="-122"/>
                <a:cs typeface="Consolas" pitchFamily="49" charset="0"/>
              </a:rPr>
              <a:t>-1] </a:t>
            </a:r>
            <a:endParaRPr lang="zh-CN" altLang="en-US" sz="2000" dirty="0">
              <a:latin typeface="Consolas" pitchFamily="49" charset="0"/>
              <a:ea typeface="仿宋" pitchFamily="49" charset="-122"/>
              <a:cs typeface="Consolas" pitchFamily="49" charset="0"/>
            </a:endParaRPr>
          </a:p>
        </p:txBody>
      </p:sp>
      <p:sp>
        <p:nvSpPr>
          <p:cNvPr id="11" name="右箭头 5">
            <a:extLst>
              <a:ext uri="{FF2B5EF4-FFF2-40B4-BE49-F238E27FC236}">
                <a16:creationId xmlns:a16="http://schemas.microsoft.com/office/drawing/2014/main" id="{8CFCFD38-10E6-E04B-04CD-5B08820E5BB6}"/>
              </a:ext>
            </a:extLst>
          </p:cNvPr>
          <p:cNvSpPr/>
          <p:nvPr/>
        </p:nvSpPr>
        <p:spPr>
          <a:xfrm>
            <a:off x="1840969" y="3998619"/>
            <a:ext cx="714380" cy="35719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12" name="组合 10">
            <a:extLst>
              <a:ext uri="{FF2B5EF4-FFF2-40B4-BE49-F238E27FC236}">
                <a16:creationId xmlns:a16="http://schemas.microsoft.com/office/drawing/2014/main" id="{4F51D6B1-8BCE-E55A-1131-F18347269366}"/>
              </a:ext>
            </a:extLst>
          </p:cNvPr>
          <p:cNvGrpSpPr/>
          <p:nvPr/>
        </p:nvGrpSpPr>
        <p:grpSpPr>
          <a:xfrm>
            <a:off x="2337498" y="3429000"/>
            <a:ext cx="1571636" cy="1400242"/>
            <a:chOff x="4929190" y="99932"/>
            <a:chExt cx="1857388" cy="1471680"/>
          </a:xfrm>
        </p:grpSpPr>
        <p:sp>
          <p:nvSpPr>
            <p:cNvPr id="13" name="等腰三角形 12">
              <a:extLst>
                <a:ext uri="{FF2B5EF4-FFF2-40B4-BE49-F238E27FC236}">
                  <a16:creationId xmlns:a16="http://schemas.microsoft.com/office/drawing/2014/main" id="{162B9D79-8E00-1254-5BA2-86DE6C460DF0}"/>
                </a:ext>
              </a:extLst>
            </p:cNvPr>
            <p:cNvSpPr/>
            <p:nvPr/>
          </p:nvSpPr>
          <p:spPr>
            <a:xfrm>
              <a:off x="4929190" y="500042"/>
              <a:ext cx="1714512" cy="1071570"/>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C5985D40-692E-509A-B27C-0E7538E74575}"/>
                </a:ext>
              </a:extLst>
            </p:cNvPr>
            <p:cNvCxnSpPr>
              <a:endCxn id="13" idx="0"/>
            </p:cNvCxnSpPr>
            <p:nvPr/>
          </p:nvCxnSpPr>
          <p:spPr>
            <a:xfrm rot="10800000" flipV="1">
              <a:off x="5786446" y="214290"/>
              <a:ext cx="357190" cy="285752"/>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5" name="TextBox 9">
              <a:extLst>
                <a:ext uri="{FF2B5EF4-FFF2-40B4-BE49-F238E27FC236}">
                  <a16:creationId xmlns:a16="http://schemas.microsoft.com/office/drawing/2014/main" id="{A11AEF94-11A4-0CF3-3E5D-E3ED90EC4E8E}"/>
                </a:ext>
              </a:extLst>
            </p:cNvPr>
            <p:cNvSpPr txBox="1"/>
            <p:nvPr/>
          </p:nvSpPr>
          <p:spPr>
            <a:xfrm>
              <a:off x="6000760" y="99932"/>
              <a:ext cx="785818" cy="388175"/>
            </a:xfrm>
            <a:prstGeom prst="rect">
              <a:avLst/>
            </a:prstGeom>
            <a:noFill/>
          </p:spPr>
          <p:txBody>
            <a:bodyPr wrap="square" rtlCol="0">
              <a:spAutoFit/>
            </a:bodyPr>
            <a:lstStyle/>
            <a:p>
              <a:r>
                <a:rPr lang="en-US" altLang="zh-CN" sz="1800" dirty="0" err="1">
                  <a:solidFill>
                    <a:srgbClr val="3333FF"/>
                  </a:solidFill>
                  <a:latin typeface="Consolas" pitchFamily="49" charset="0"/>
                  <a:ea typeface="楷体" pitchFamily="49" charset="-122"/>
                  <a:cs typeface="Consolas" pitchFamily="49" charset="0"/>
                </a:rPr>
                <a:t>bt</a:t>
              </a:r>
              <a:endParaRPr lang="zh-CN" altLang="en-US" sz="1800" dirty="0">
                <a:solidFill>
                  <a:srgbClr val="3333FF"/>
                </a:solidFill>
                <a:latin typeface="Consolas" pitchFamily="49" charset="0"/>
                <a:ea typeface="楷体" pitchFamily="49" charset="-122"/>
                <a:cs typeface="Consolas" pitchFamily="49" charset="0"/>
              </a:endParaRPr>
            </a:p>
          </p:txBody>
        </p:sp>
      </p:grpSp>
    </p:spTree>
    <p:extLst>
      <p:ext uri="{BB962C8B-B14F-4D97-AF65-F5344CB8AC3E}">
        <p14:creationId xmlns:p14="http://schemas.microsoft.com/office/powerpoint/2010/main" val="181222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D1202-1AF9-52A8-FEA2-D734429CF85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F1C2A06-E147-09A3-E3A4-2407B4F70FE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435C0A9A-F01C-B6D7-05BB-D9E6C76C0D58}"/>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692DA5B4-CE7C-2150-8A66-4206D8FB513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8B1A0C45-7CA1-2627-AA65-2F5B13B0225A}"/>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7" name="TextBox 4">
            <a:extLst>
              <a:ext uri="{FF2B5EF4-FFF2-40B4-BE49-F238E27FC236}">
                <a16:creationId xmlns:a16="http://schemas.microsoft.com/office/drawing/2014/main" id="{6ECE1400-4A8A-2A63-8CAD-28ABA3271712}"/>
              </a:ext>
            </a:extLst>
          </p:cNvPr>
          <p:cNvSpPr txBox="1"/>
          <p:nvPr/>
        </p:nvSpPr>
        <p:spPr>
          <a:xfrm>
            <a:off x="72435" y="2273200"/>
            <a:ext cx="8715436" cy="2836674"/>
          </a:xfrm>
          <a:prstGeom prst="rect">
            <a:avLst/>
          </a:prstGeom>
          <a:ln>
            <a:solidFill>
              <a:schemeClr val="accent3">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2"/>
              </a:buBlip>
            </a:pPr>
            <a:r>
              <a:rPr lang="zh-CN" altLang="zh-CN" sz="2000" b="1">
                <a:solidFill>
                  <a:srgbClr val="0000FF"/>
                </a:solidFill>
                <a:latin typeface="Consolas" pitchFamily="49" charset="0"/>
                <a:ea typeface="楷体" pitchFamily="49" charset="-122"/>
                <a:cs typeface="Consolas" pitchFamily="49" charset="0"/>
              </a:rPr>
              <a:t>一个关键字集合有多个关键字序列，不同的关键字序列采用上述创建</a:t>
            </a:r>
            <a:r>
              <a:rPr lang="en-US" altLang="zh-CN" sz="2000" b="1">
                <a:solidFill>
                  <a:srgbClr val="0000FF"/>
                </a:solidFill>
                <a:latin typeface="Consolas" pitchFamily="49" charset="0"/>
                <a:ea typeface="楷体" pitchFamily="49" charset="-122"/>
                <a:cs typeface="Consolas" pitchFamily="49" charset="0"/>
              </a:rPr>
              <a:t>CreateBST</a:t>
            </a:r>
            <a:r>
              <a:rPr lang="zh-CN" altLang="zh-CN" sz="2000" b="1">
                <a:solidFill>
                  <a:srgbClr val="0000FF"/>
                </a:solidFill>
                <a:latin typeface="Consolas" pitchFamily="49" charset="0"/>
                <a:ea typeface="楷体" pitchFamily="49" charset="-122"/>
                <a:cs typeface="Consolas" pitchFamily="49" charset="0"/>
              </a:rPr>
              <a:t>算法得到的二叉排序树可能不同。</a:t>
            </a:r>
            <a:endParaRPr lang="en-US" altLang="zh-CN" sz="2000" b="1">
              <a:solidFill>
                <a:srgbClr val="0000FF"/>
              </a:solidFill>
              <a:latin typeface="Consolas" pitchFamily="49" charset="0"/>
              <a:ea typeface="楷体" pitchFamily="49" charset="-122"/>
              <a:cs typeface="Consolas" pitchFamily="49" charset="0"/>
            </a:endParaRPr>
          </a:p>
          <a:p>
            <a:pPr marL="457200" indent="-457200" algn="l">
              <a:lnSpc>
                <a:spcPts val="2800"/>
              </a:lnSpc>
              <a:spcBef>
                <a:spcPts val="600"/>
              </a:spcBef>
              <a:buBlip>
                <a:blip r:embed="rId2"/>
              </a:buBlip>
            </a:pPr>
            <a:r>
              <a:rPr lang="zh-CN" altLang="zh-CN" sz="2000" b="1">
                <a:solidFill>
                  <a:srgbClr val="0000FF"/>
                </a:solidFill>
                <a:latin typeface="Consolas" pitchFamily="49" charset="0"/>
                <a:ea typeface="楷体" pitchFamily="49" charset="-122"/>
                <a:cs typeface="Consolas" pitchFamily="49" charset="0"/>
              </a:rPr>
              <a:t>例如，同样是</a:t>
            </a:r>
            <a:r>
              <a:rPr lang="en-US" altLang="zh-CN" sz="2000" b="1">
                <a:solidFill>
                  <a:srgbClr val="0000FF"/>
                </a:solidFill>
                <a:latin typeface="Consolas" pitchFamily="49" charset="0"/>
                <a:ea typeface="楷体" pitchFamily="49" charset="-122"/>
                <a:cs typeface="Consolas" pitchFamily="49" charset="0"/>
              </a:rPr>
              <a:t>1</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9</a:t>
            </a:r>
            <a:r>
              <a:rPr lang="zh-CN" altLang="zh-CN" sz="2000" b="1">
                <a:solidFill>
                  <a:srgbClr val="0000FF"/>
                </a:solidFill>
                <a:latin typeface="Consolas" pitchFamily="49" charset="0"/>
                <a:ea typeface="楷体" pitchFamily="49" charset="-122"/>
                <a:cs typeface="Consolas" pitchFamily="49" charset="0"/>
              </a:rPr>
              <a:t>的关键字集合</a:t>
            </a:r>
            <a:r>
              <a:rPr lang="en-US" altLang="zh-CN" sz="2000" b="1">
                <a:solidFill>
                  <a:srgbClr val="0000FF"/>
                </a:solidFill>
                <a:latin typeface="Consolas" pitchFamily="49" charset="0"/>
                <a:ea typeface="楷体" pitchFamily="49" charset="-122"/>
                <a:cs typeface="Consolas" pitchFamily="49" charset="0"/>
              </a:rPr>
              <a:t>:</a:t>
            </a:r>
          </a:p>
          <a:p>
            <a:pPr marL="914400" lvl="1" indent="-457200" algn="l">
              <a:lnSpc>
                <a:spcPts val="2800"/>
              </a:lnSpc>
              <a:spcBef>
                <a:spcPts val="600"/>
              </a:spcBef>
              <a:buBlip>
                <a:blip r:embed="rId3"/>
              </a:buBlip>
            </a:pPr>
            <a:r>
              <a:rPr lang="zh-CN" altLang="zh-CN" sz="2000" b="1">
                <a:solidFill>
                  <a:srgbClr val="0000FF"/>
                </a:solidFill>
                <a:latin typeface="Consolas" pitchFamily="49" charset="0"/>
                <a:ea typeface="仿宋" pitchFamily="49" charset="-122"/>
                <a:cs typeface="Consolas" pitchFamily="49" charset="0"/>
              </a:rPr>
              <a:t>由关键字序列（</a:t>
            </a:r>
            <a:r>
              <a:rPr lang="en-US" altLang="zh-CN" sz="2000" b="1">
                <a:solidFill>
                  <a:srgbClr val="0000FF"/>
                </a:solidFill>
                <a:latin typeface="Consolas" pitchFamily="49" charset="0"/>
                <a:ea typeface="仿宋" pitchFamily="49" charset="-122"/>
                <a:cs typeface="Consolas" pitchFamily="49" charset="0"/>
              </a:rPr>
              <a:t>5</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2</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6</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7</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4</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8</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9</a:t>
            </a:r>
            <a:r>
              <a:rPr lang="zh-CN" altLang="zh-CN" sz="2000" b="1">
                <a:solidFill>
                  <a:srgbClr val="0000FF"/>
                </a:solidFill>
                <a:latin typeface="Consolas" pitchFamily="49" charset="0"/>
                <a:ea typeface="仿宋" pitchFamily="49" charset="-122"/>
                <a:cs typeface="Consolas" pitchFamily="49" charset="0"/>
              </a:rPr>
              <a:t>）创建的二叉排序树如图</a:t>
            </a:r>
            <a:r>
              <a:rPr lang="en-US" altLang="zh-CN" sz="2000" b="1">
                <a:solidFill>
                  <a:srgbClr val="0000FF"/>
                </a:solidFill>
                <a:latin typeface="Consolas" pitchFamily="49" charset="0"/>
                <a:ea typeface="仿宋" pitchFamily="49" charset="-122"/>
                <a:cs typeface="Consolas" pitchFamily="49" charset="0"/>
              </a:rPr>
              <a:t>(a)</a:t>
            </a:r>
            <a:r>
              <a:rPr lang="zh-CN" altLang="zh-CN" sz="2000" b="1">
                <a:solidFill>
                  <a:srgbClr val="0000FF"/>
                </a:solidFill>
                <a:latin typeface="Consolas" pitchFamily="49" charset="0"/>
                <a:ea typeface="仿宋" pitchFamily="49" charset="-122"/>
                <a:cs typeface="Consolas" pitchFamily="49" charset="0"/>
              </a:rPr>
              <a:t>所示</a:t>
            </a:r>
            <a:r>
              <a:rPr lang="zh-CN" altLang="en-US" sz="2000" b="1">
                <a:solidFill>
                  <a:srgbClr val="0000FF"/>
                </a:solidFill>
                <a:latin typeface="Consolas" pitchFamily="49" charset="0"/>
                <a:ea typeface="仿宋" pitchFamily="49" charset="-122"/>
                <a:cs typeface="Consolas" pitchFamily="49" charset="0"/>
              </a:rPr>
              <a:t>。</a:t>
            </a:r>
            <a:endParaRPr lang="en-US" altLang="zh-CN" sz="2000" b="1">
              <a:solidFill>
                <a:srgbClr val="0000FF"/>
              </a:solidFill>
              <a:latin typeface="Consolas" pitchFamily="49" charset="0"/>
              <a:ea typeface="仿宋" pitchFamily="49" charset="-122"/>
              <a:cs typeface="Consolas" pitchFamily="49" charset="0"/>
            </a:endParaRPr>
          </a:p>
          <a:p>
            <a:pPr marL="914400" lvl="1" indent="-457200" algn="l">
              <a:lnSpc>
                <a:spcPts val="2800"/>
              </a:lnSpc>
              <a:spcBef>
                <a:spcPts val="600"/>
              </a:spcBef>
              <a:buBlip>
                <a:blip r:embed="rId3"/>
              </a:buBlip>
            </a:pPr>
            <a:r>
              <a:rPr lang="zh-CN" altLang="zh-CN" sz="2000" b="1">
                <a:solidFill>
                  <a:srgbClr val="0000FF"/>
                </a:solidFill>
                <a:latin typeface="Consolas" pitchFamily="49" charset="0"/>
                <a:ea typeface="仿宋" pitchFamily="49" charset="-122"/>
                <a:cs typeface="Consolas" pitchFamily="49" charset="0"/>
              </a:rPr>
              <a:t>由关键字序列（</a:t>
            </a:r>
            <a:r>
              <a:rPr lang="en-US" altLang="zh-CN" sz="2000" b="1">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2</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4</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5</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6</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7</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8</a:t>
            </a:r>
            <a:r>
              <a:rPr lang="zh-CN" altLang="zh-CN" sz="2000" b="1">
                <a:solidFill>
                  <a:srgbClr val="0000FF"/>
                </a:solidFill>
                <a:latin typeface="Consolas" pitchFamily="49" charset="0"/>
                <a:ea typeface="仿宋" pitchFamily="49" charset="-122"/>
                <a:cs typeface="Consolas" pitchFamily="49" charset="0"/>
              </a:rPr>
              <a:t>，</a:t>
            </a:r>
            <a:r>
              <a:rPr lang="en-US" altLang="zh-CN" sz="2000" b="1">
                <a:solidFill>
                  <a:srgbClr val="0000FF"/>
                </a:solidFill>
                <a:latin typeface="Consolas" pitchFamily="49" charset="0"/>
                <a:ea typeface="仿宋" pitchFamily="49" charset="-122"/>
                <a:cs typeface="Consolas" pitchFamily="49" charset="0"/>
              </a:rPr>
              <a:t>9</a:t>
            </a:r>
            <a:r>
              <a:rPr lang="zh-CN" altLang="zh-CN" sz="2000" b="1">
                <a:solidFill>
                  <a:srgbClr val="0000FF"/>
                </a:solidFill>
                <a:latin typeface="Consolas" pitchFamily="49" charset="0"/>
                <a:ea typeface="仿宋" pitchFamily="49" charset="-122"/>
                <a:cs typeface="Consolas" pitchFamily="49" charset="0"/>
              </a:rPr>
              <a:t>）创建的二叉排序树如图</a:t>
            </a:r>
            <a:r>
              <a:rPr lang="en-US" altLang="zh-CN" sz="2000" b="1">
                <a:solidFill>
                  <a:srgbClr val="0000FF"/>
                </a:solidFill>
                <a:latin typeface="Consolas" pitchFamily="49" charset="0"/>
                <a:ea typeface="仿宋" pitchFamily="49" charset="-122"/>
                <a:cs typeface="Consolas" pitchFamily="49" charset="0"/>
              </a:rPr>
              <a:t>(b)</a:t>
            </a:r>
            <a:r>
              <a:rPr lang="zh-CN" altLang="zh-CN" sz="2000" b="1">
                <a:solidFill>
                  <a:srgbClr val="0000FF"/>
                </a:solidFill>
                <a:latin typeface="Consolas" pitchFamily="49" charset="0"/>
                <a:ea typeface="仿宋" pitchFamily="49" charset="-122"/>
                <a:cs typeface="Consolas" pitchFamily="49" charset="0"/>
              </a:rPr>
              <a:t>所示。</a:t>
            </a:r>
            <a:endParaRPr lang="zh-CN" altLang="en-US" sz="2000" b="1" dirty="0">
              <a:solidFill>
                <a:srgbClr val="3333FF"/>
              </a:solidFill>
              <a:latin typeface="Consolas" pitchFamily="49" charset="0"/>
              <a:ea typeface="仿宋" pitchFamily="49" charset="-122"/>
              <a:cs typeface="Consolas" pitchFamily="49" charset="0"/>
            </a:endParaRPr>
          </a:p>
        </p:txBody>
      </p:sp>
      <p:grpSp>
        <p:nvGrpSpPr>
          <p:cNvPr id="9" name="组合 65">
            <a:extLst>
              <a:ext uri="{FF2B5EF4-FFF2-40B4-BE49-F238E27FC236}">
                <a16:creationId xmlns:a16="http://schemas.microsoft.com/office/drawing/2014/main" id="{4B7268C0-D268-501B-D761-D202AF615D30}"/>
              </a:ext>
            </a:extLst>
          </p:cNvPr>
          <p:cNvGrpSpPr/>
          <p:nvPr/>
        </p:nvGrpSpPr>
        <p:grpSpPr>
          <a:xfrm>
            <a:off x="8903759" y="3279248"/>
            <a:ext cx="2671096" cy="3429000"/>
            <a:chOff x="4901300" y="3429000"/>
            <a:chExt cx="2242468" cy="2880187"/>
          </a:xfrm>
        </p:grpSpPr>
        <p:sp>
          <p:nvSpPr>
            <p:cNvPr id="16" name="Line 27">
              <a:extLst>
                <a:ext uri="{FF2B5EF4-FFF2-40B4-BE49-F238E27FC236}">
                  <a16:creationId xmlns:a16="http://schemas.microsoft.com/office/drawing/2014/main" id="{03A4DA4C-364C-D939-32A8-30F6755D2226}"/>
                </a:ext>
              </a:extLst>
            </p:cNvPr>
            <p:cNvSpPr>
              <a:spLocks noChangeShapeType="1"/>
            </p:cNvSpPr>
            <p:nvPr/>
          </p:nvSpPr>
          <p:spPr bwMode="auto">
            <a:xfrm>
              <a:off x="5111340" y="3586634"/>
              <a:ext cx="1843477" cy="254119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17" name="Oval 16">
              <a:extLst>
                <a:ext uri="{FF2B5EF4-FFF2-40B4-BE49-F238E27FC236}">
                  <a16:creationId xmlns:a16="http://schemas.microsoft.com/office/drawing/2014/main" id="{012FBB37-E944-56A3-BDA4-F9A32E18F81C}"/>
                </a:ext>
              </a:extLst>
            </p:cNvPr>
            <p:cNvSpPr>
              <a:spLocks noChangeArrowheads="1"/>
            </p:cNvSpPr>
            <p:nvPr/>
          </p:nvSpPr>
          <p:spPr bwMode="auto">
            <a:xfrm>
              <a:off x="4901300" y="3429000"/>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1</a:t>
              </a:r>
            </a:p>
          </p:txBody>
        </p:sp>
        <p:sp>
          <p:nvSpPr>
            <p:cNvPr id="18" name="Oval 15">
              <a:extLst>
                <a:ext uri="{FF2B5EF4-FFF2-40B4-BE49-F238E27FC236}">
                  <a16:creationId xmlns:a16="http://schemas.microsoft.com/office/drawing/2014/main" id="{137B7385-66B2-3646-A81B-7BC40FAC9B6A}"/>
                </a:ext>
              </a:extLst>
            </p:cNvPr>
            <p:cNvSpPr>
              <a:spLocks noChangeArrowheads="1"/>
            </p:cNvSpPr>
            <p:nvPr/>
          </p:nvSpPr>
          <p:spPr bwMode="auto">
            <a:xfrm>
              <a:off x="5137922" y="3747443"/>
              <a:ext cx="342557"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2</a:t>
              </a:r>
            </a:p>
          </p:txBody>
        </p:sp>
        <p:sp>
          <p:nvSpPr>
            <p:cNvPr id="19" name="Oval 14">
              <a:extLst>
                <a:ext uri="{FF2B5EF4-FFF2-40B4-BE49-F238E27FC236}">
                  <a16:creationId xmlns:a16="http://schemas.microsoft.com/office/drawing/2014/main" id="{A2C0D16B-5657-CFAA-702E-BAD276E274F5}"/>
                </a:ext>
              </a:extLst>
            </p:cNvPr>
            <p:cNvSpPr>
              <a:spLocks noChangeArrowheads="1"/>
            </p:cNvSpPr>
            <p:nvPr/>
          </p:nvSpPr>
          <p:spPr bwMode="auto">
            <a:xfrm>
              <a:off x="5380485" y="4088102"/>
              <a:ext cx="34156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3</a:t>
              </a:r>
            </a:p>
          </p:txBody>
        </p:sp>
        <p:sp>
          <p:nvSpPr>
            <p:cNvPr id="20" name="Oval 13">
              <a:extLst>
                <a:ext uri="{FF2B5EF4-FFF2-40B4-BE49-F238E27FC236}">
                  <a16:creationId xmlns:a16="http://schemas.microsoft.com/office/drawing/2014/main" id="{825E5554-609F-2C0B-D0A2-6439F22CBC84}"/>
                </a:ext>
              </a:extLst>
            </p:cNvPr>
            <p:cNvSpPr>
              <a:spLocks noChangeArrowheads="1"/>
            </p:cNvSpPr>
            <p:nvPr/>
          </p:nvSpPr>
          <p:spPr bwMode="auto">
            <a:xfrm>
              <a:off x="5622058" y="4398082"/>
              <a:ext cx="34057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4</a:t>
              </a:r>
            </a:p>
          </p:txBody>
        </p:sp>
        <p:sp>
          <p:nvSpPr>
            <p:cNvPr id="21" name="Oval 12">
              <a:extLst>
                <a:ext uri="{FF2B5EF4-FFF2-40B4-BE49-F238E27FC236}">
                  <a16:creationId xmlns:a16="http://schemas.microsoft.com/office/drawing/2014/main" id="{90D9E8BC-34F7-1229-620D-53E861FD84DD}"/>
                </a:ext>
              </a:extLst>
            </p:cNvPr>
            <p:cNvSpPr>
              <a:spLocks noChangeArrowheads="1"/>
            </p:cNvSpPr>
            <p:nvPr/>
          </p:nvSpPr>
          <p:spPr bwMode="auto">
            <a:xfrm>
              <a:off x="5858681" y="4705944"/>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5</a:t>
              </a:r>
            </a:p>
          </p:txBody>
        </p:sp>
        <p:sp>
          <p:nvSpPr>
            <p:cNvPr id="22" name="Oval 11">
              <a:extLst>
                <a:ext uri="{FF2B5EF4-FFF2-40B4-BE49-F238E27FC236}">
                  <a16:creationId xmlns:a16="http://schemas.microsoft.com/office/drawing/2014/main" id="{6A375B96-1576-193E-0D40-144BB397C5C8}"/>
                </a:ext>
              </a:extLst>
            </p:cNvPr>
            <p:cNvSpPr>
              <a:spLocks noChangeArrowheads="1"/>
            </p:cNvSpPr>
            <p:nvPr/>
          </p:nvSpPr>
          <p:spPr bwMode="auto">
            <a:xfrm>
              <a:off x="6106193" y="5021213"/>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6</a:t>
              </a:r>
            </a:p>
          </p:txBody>
        </p:sp>
        <p:sp>
          <p:nvSpPr>
            <p:cNvPr id="23" name="Oval 10">
              <a:extLst>
                <a:ext uri="{FF2B5EF4-FFF2-40B4-BE49-F238E27FC236}">
                  <a16:creationId xmlns:a16="http://schemas.microsoft.com/office/drawing/2014/main" id="{5E489549-5804-0F24-E1C7-D16C91CCFE68}"/>
                </a:ext>
              </a:extLst>
            </p:cNvPr>
            <p:cNvSpPr>
              <a:spLocks noChangeArrowheads="1"/>
            </p:cNvSpPr>
            <p:nvPr/>
          </p:nvSpPr>
          <p:spPr bwMode="auto">
            <a:xfrm>
              <a:off x="6347766" y="5342829"/>
              <a:ext cx="34057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7</a:t>
              </a:r>
            </a:p>
          </p:txBody>
        </p:sp>
        <p:sp>
          <p:nvSpPr>
            <p:cNvPr id="24" name="Oval 9">
              <a:extLst>
                <a:ext uri="{FF2B5EF4-FFF2-40B4-BE49-F238E27FC236}">
                  <a16:creationId xmlns:a16="http://schemas.microsoft.com/office/drawing/2014/main" id="{02CAB96E-279C-4597-A141-3AEB04007918}"/>
                </a:ext>
              </a:extLst>
            </p:cNvPr>
            <p:cNvSpPr>
              <a:spLocks noChangeArrowheads="1"/>
            </p:cNvSpPr>
            <p:nvPr/>
          </p:nvSpPr>
          <p:spPr bwMode="auto">
            <a:xfrm>
              <a:off x="6574487" y="5644345"/>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8</a:t>
              </a:r>
            </a:p>
          </p:txBody>
        </p:sp>
        <p:sp>
          <p:nvSpPr>
            <p:cNvPr id="25" name="Oval 8">
              <a:extLst>
                <a:ext uri="{FF2B5EF4-FFF2-40B4-BE49-F238E27FC236}">
                  <a16:creationId xmlns:a16="http://schemas.microsoft.com/office/drawing/2014/main" id="{83F148AE-75A8-5A8D-5F9C-63A70CACE756}"/>
                </a:ext>
              </a:extLst>
            </p:cNvPr>
            <p:cNvSpPr>
              <a:spLocks noChangeArrowheads="1"/>
            </p:cNvSpPr>
            <p:nvPr/>
          </p:nvSpPr>
          <p:spPr bwMode="auto">
            <a:xfrm>
              <a:off x="6802200" y="5970193"/>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9</a:t>
              </a:r>
            </a:p>
          </p:txBody>
        </p:sp>
        <p:sp>
          <p:nvSpPr>
            <p:cNvPr id="26" name="Text Box 6">
              <a:extLst>
                <a:ext uri="{FF2B5EF4-FFF2-40B4-BE49-F238E27FC236}">
                  <a16:creationId xmlns:a16="http://schemas.microsoft.com/office/drawing/2014/main" id="{9677DF87-449B-1D6B-0855-D3D60A93C6D1}"/>
                </a:ext>
              </a:extLst>
            </p:cNvPr>
            <p:cNvSpPr txBox="1">
              <a:spLocks noChangeArrowheads="1"/>
            </p:cNvSpPr>
            <p:nvPr/>
          </p:nvSpPr>
          <p:spPr bwMode="auto">
            <a:xfrm>
              <a:off x="5519555" y="6072206"/>
              <a:ext cx="552643" cy="2369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(b)</a:t>
              </a:r>
            </a:p>
          </p:txBody>
        </p:sp>
      </p:grpSp>
      <p:grpSp>
        <p:nvGrpSpPr>
          <p:cNvPr id="27" name="组合 64">
            <a:extLst>
              <a:ext uri="{FF2B5EF4-FFF2-40B4-BE49-F238E27FC236}">
                <a16:creationId xmlns:a16="http://schemas.microsoft.com/office/drawing/2014/main" id="{058EF701-BBE9-25C1-428F-DDD7905ED575}"/>
              </a:ext>
            </a:extLst>
          </p:cNvPr>
          <p:cNvGrpSpPr/>
          <p:nvPr/>
        </p:nvGrpSpPr>
        <p:grpSpPr>
          <a:xfrm>
            <a:off x="9119431" y="1096880"/>
            <a:ext cx="2992951" cy="2708798"/>
            <a:chOff x="1643040" y="3695603"/>
            <a:chExt cx="2775116" cy="2590917"/>
          </a:xfrm>
        </p:grpSpPr>
        <p:sp>
          <p:nvSpPr>
            <p:cNvPr id="28" name="Line 26">
              <a:extLst>
                <a:ext uri="{FF2B5EF4-FFF2-40B4-BE49-F238E27FC236}">
                  <a16:creationId xmlns:a16="http://schemas.microsoft.com/office/drawing/2014/main" id="{EB1033E6-03D8-DE27-00C4-A84451C1C179}"/>
                </a:ext>
              </a:extLst>
            </p:cNvPr>
            <p:cNvSpPr>
              <a:spLocks noChangeShapeType="1"/>
            </p:cNvSpPr>
            <p:nvPr/>
          </p:nvSpPr>
          <p:spPr bwMode="auto">
            <a:xfrm>
              <a:off x="2782590" y="3979134"/>
              <a:ext cx="1416764" cy="168319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29" name="Oval 25">
              <a:extLst>
                <a:ext uri="{FF2B5EF4-FFF2-40B4-BE49-F238E27FC236}">
                  <a16:creationId xmlns:a16="http://schemas.microsoft.com/office/drawing/2014/main" id="{083FC0B8-AFBA-A5E2-1F99-759D6BE3F085}"/>
                </a:ext>
              </a:extLst>
            </p:cNvPr>
            <p:cNvSpPr>
              <a:spLocks noChangeArrowheads="1"/>
            </p:cNvSpPr>
            <p:nvPr/>
          </p:nvSpPr>
          <p:spPr bwMode="auto">
            <a:xfrm>
              <a:off x="2483594" y="3695603"/>
              <a:ext cx="34156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5</a:t>
              </a:r>
            </a:p>
          </p:txBody>
        </p:sp>
        <p:sp>
          <p:nvSpPr>
            <p:cNvPr id="30" name="Oval 24">
              <a:extLst>
                <a:ext uri="{FF2B5EF4-FFF2-40B4-BE49-F238E27FC236}">
                  <a16:creationId xmlns:a16="http://schemas.microsoft.com/office/drawing/2014/main" id="{FB1ECAC8-1A13-A39A-89FA-0D19162980AD}"/>
                </a:ext>
              </a:extLst>
            </p:cNvPr>
            <p:cNvSpPr>
              <a:spLocks noChangeArrowheads="1"/>
            </p:cNvSpPr>
            <p:nvPr/>
          </p:nvSpPr>
          <p:spPr bwMode="auto">
            <a:xfrm>
              <a:off x="1985597" y="4167449"/>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2</a:t>
              </a:r>
            </a:p>
          </p:txBody>
        </p:sp>
        <p:sp>
          <p:nvSpPr>
            <p:cNvPr id="31" name="Oval 23">
              <a:extLst>
                <a:ext uri="{FF2B5EF4-FFF2-40B4-BE49-F238E27FC236}">
                  <a16:creationId xmlns:a16="http://schemas.microsoft.com/office/drawing/2014/main" id="{5AEAC137-E3D5-3022-5868-9BF9F3C3B0D2}"/>
                </a:ext>
              </a:extLst>
            </p:cNvPr>
            <p:cNvSpPr>
              <a:spLocks noChangeArrowheads="1"/>
            </p:cNvSpPr>
            <p:nvPr/>
          </p:nvSpPr>
          <p:spPr bwMode="auto">
            <a:xfrm>
              <a:off x="2882584" y="4167449"/>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6</a:t>
              </a:r>
            </a:p>
          </p:txBody>
        </p:sp>
        <p:sp>
          <p:nvSpPr>
            <p:cNvPr id="32" name="Oval 22">
              <a:extLst>
                <a:ext uri="{FF2B5EF4-FFF2-40B4-BE49-F238E27FC236}">
                  <a16:creationId xmlns:a16="http://schemas.microsoft.com/office/drawing/2014/main" id="{06BAE4EA-F9F0-9780-B2AC-915AA4BAD297}"/>
                </a:ext>
              </a:extLst>
            </p:cNvPr>
            <p:cNvSpPr>
              <a:spLocks noChangeArrowheads="1"/>
            </p:cNvSpPr>
            <p:nvPr/>
          </p:nvSpPr>
          <p:spPr bwMode="auto">
            <a:xfrm>
              <a:off x="1643040" y="4799044"/>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1</a:t>
              </a:r>
            </a:p>
          </p:txBody>
        </p:sp>
        <p:sp>
          <p:nvSpPr>
            <p:cNvPr id="33" name="Oval 21">
              <a:extLst>
                <a:ext uri="{FF2B5EF4-FFF2-40B4-BE49-F238E27FC236}">
                  <a16:creationId xmlns:a16="http://schemas.microsoft.com/office/drawing/2014/main" id="{69A2C875-C592-88B7-2789-C2E44DD5818C}"/>
                </a:ext>
              </a:extLst>
            </p:cNvPr>
            <p:cNvSpPr>
              <a:spLocks noChangeArrowheads="1"/>
            </p:cNvSpPr>
            <p:nvPr/>
          </p:nvSpPr>
          <p:spPr bwMode="auto">
            <a:xfrm>
              <a:off x="2328156" y="4799044"/>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dirty="0">
                  <a:ln>
                    <a:noFill/>
                  </a:ln>
                  <a:solidFill>
                    <a:srgbClr val="0000FF"/>
                  </a:solidFill>
                  <a:effectLst/>
                  <a:latin typeface="Consolas" pitchFamily="49" charset="0"/>
                  <a:cs typeface="Consolas" pitchFamily="49" charset="0"/>
                </a:rPr>
                <a:t>4</a:t>
              </a:r>
            </a:p>
          </p:txBody>
        </p:sp>
        <p:sp>
          <p:nvSpPr>
            <p:cNvPr id="34" name="Oval 20">
              <a:extLst>
                <a:ext uri="{FF2B5EF4-FFF2-40B4-BE49-F238E27FC236}">
                  <a16:creationId xmlns:a16="http://schemas.microsoft.com/office/drawing/2014/main" id="{595A247E-7577-D1C1-CC29-4CC3D915A62D}"/>
                </a:ext>
              </a:extLst>
            </p:cNvPr>
            <p:cNvSpPr>
              <a:spLocks noChangeArrowheads="1"/>
            </p:cNvSpPr>
            <p:nvPr/>
          </p:nvSpPr>
          <p:spPr bwMode="auto">
            <a:xfrm>
              <a:off x="1970747" y="5432755"/>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3</a:t>
              </a:r>
            </a:p>
          </p:txBody>
        </p:sp>
        <p:sp>
          <p:nvSpPr>
            <p:cNvPr id="35" name="Oval 19">
              <a:extLst>
                <a:ext uri="{FF2B5EF4-FFF2-40B4-BE49-F238E27FC236}">
                  <a16:creationId xmlns:a16="http://schemas.microsoft.com/office/drawing/2014/main" id="{94D7419A-A336-540B-DBB5-D5812A39009A}"/>
                </a:ext>
              </a:extLst>
            </p:cNvPr>
            <p:cNvSpPr>
              <a:spLocks noChangeArrowheads="1"/>
            </p:cNvSpPr>
            <p:nvPr/>
          </p:nvSpPr>
          <p:spPr bwMode="auto">
            <a:xfrm>
              <a:off x="3323158" y="4696423"/>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7</a:t>
              </a:r>
            </a:p>
          </p:txBody>
        </p:sp>
        <p:sp>
          <p:nvSpPr>
            <p:cNvPr id="36" name="Oval 18">
              <a:extLst>
                <a:ext uri="{FF2B5EF4-FFF2-40B4-BE49-F238E27FC236}">
                  <a16:creationId xmlns:a16="http://schemas.microsoft.com/office/drawing/2014/main" id="{A973D8C2-29ED-F12F-EFA0-7575FBE250D2}"/>
                </a:ext>
              </a:extLst>
            </p:cNvPr>
            <p:cNvSpPr>
              <a:spLocks noChangeArrowheads="1"/>
            </p:cNvSpPr>
            <p:nvPr/>
          </p:nvSpPr>
          <p:spPr bwMode="auto">
            <a:xfrm>
              <a:off x="3721158" y="5167210"/>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8</a:t>
              </a:r>
            </a:p>
          </p:txBody>
        </p:sp>
        <p:sp>
          <p:nvSpPr>
            <p:cNvPr id="37" name="Oval 17">
              <a:extLst>
                <a:ext uri="{FF2B5EF4-FFF2-40B4-BE49-F238E27FC236}">
                  <a16:creationId xmlns:a16="http://schemas.microsoft.com/office/drawing/2014/main" id="{1FDDEEAF-8974-F3F4-B9A5-9F63EC3A3BD8}"/>
                </a:ext>
              </a:extLst>
            </p:cNvPr>
            <p:cNvSpPr>
              <a:spLocks noChangeArrowheads="1"/>
            </p:cNvSpPr>
            <p:nvPr/>
          </p:nvSpPr>
          <p:spPr bwMode="auto">
            <a:xfrm>
              <a:off x="4076588" y="5635881"/>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9</a:t>
              </a:r>
            </a:p>
          </p:txBody>
        </p:sp>
        <p:sp>
          <p:nvSpPr>
            <p:cNvPr id="38" name="Text Box 7">
              <a:extLst>
                <a:ext uri="{FF2B5EF4-FFF2-40B4-BE49-F238E27FC236}">
                  <a16:creationId xmlns:a16="http://schemas.microsoft.com/office/drawing/2014/main" id="{CEAC8F89-A5C8-402C-EA6D-6B3AF2241C7E}"/>
                </a:ext>
              </a:extLst>
            </p:cNvPr>
            <p:cNvSpPr txBox="1">
              <a:spLocks noChangeArrowheads="1"/>
            </p:cNvSpPr>
            <p:nvPr/>
          </p:nvSpPr>
          <p:spPr bwMode="auto">
            <a:xfrm>
              <a:off x="2571736" y="6049539"/>
              <a:ext cx="530476" cy="2369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(a)</a:t>
              </a:r>
            </a:p>
          </p:txBody>
        </p:sp>
        <p:sp>
          <p:nvSpPr>
            <p:cNvPr id="39" name="AutoShape 5">
              <a:extLst>
                <a:ext uri="{FF2B5EF4-FFF2-40B4-BE49-F238E27FC236}">
                  <a16:creationId xmlns:a16="http://schemas.microsoft.com/office/drawing/2014/main" id="{9C24010F-D23D-805D-9155-0FF4ED352608}"/>
                </a:ext>
              </a:extLst>
            </p:cNvPr>
            <p:cNvSpPr>
              <a:spLocks noChangeShapeType="1"/>
            </p:cNvSpPr>
            <p:nvPr/>
          </p:nvSpPr>
          <p:spPr bwMode="auto">
            <a:xfrm flipH="1">
              <a:off x="2142026" y="5068820"/>
              <a:ext cx="235633" cy="363934"/>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40" name="AutoShape 4">
              <a:extLst>
                <a:ext uri="{FF2B5EF4-FFF2-40B4-BE49-F238E27FC236}">
                  <a16:creationId xmlns:a16="http://schemas.microsoft.com/office/drawing/2014/main" id="{E82E24B2-F432-F090-A430-28889E8503AF}"/>
                </a:ext>
              </a:extLst>
            </p:cNvPr>
            <p:cNvSpPr>
              <a:spLocks noChangeShapeType="1"/>
            </p:cNvSpPr>
            <p:nvPr/>
          </p:nvSpPr>
          <p:spPr bwMode="auto">
            <a:xfrm>
              <a:off x="2276673" y="4437225"/>
              <a:ext cx="221772" cy="36181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41" name="AutoShape 3">
              <a:extLst>
                <a:ext uri="{FF2B5EF4-FFF2-40B4-BE49-F238E27FC236}">
                  <a16:creationId xmlns:a16="http://schemas.microsoft.com/office/drawing/2014/main" id="{09BCCC5A-99B8-43B7-33E0-83570FFDD9F4}"/>
                </a:ext>
              </a:extLst>
            </p:cNvPr>
            <p:cNvSpPr>
              <a:spLocks noChangeShapeType="1"/>
            </p:cNvSpPr>
            <p:nvPr/>
          </p:nvSpPr>
          <p:spPr bwMode="auto">
            <a:xfrm flipH="1">
              <a:off x="2276673" y="3966437"/>
              <a:ext cx="257413" cy="24756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42" name="AutoShape 2">
              <a:extLst>
                <a:ext uri="{FF2B5EF4-FFF2-40B4-BE49-F238E27FC236}">
                  <a16:creationId xmlns:a16="http://schemas.microsoft.com/office/drawing/2014/main" id="{DBAE8264-B186-7827-B2B1-3493A55BE9C2}"/>
                </a:ext>
              </a:extLst>
            </p:cNvPr>
            <p:cNvSpPr>
              <a:spLocks noChangeShapeType="1"/>
            </p:cNvSpPr>
            <p:nvPr/>
          </p:nvSpPr>
          <p:spPr bwMode="auto">
            <a:xfrm flipH="1">
              <a:off x="1814319" y="4437225"/>
              <a:ext cx="220781" cy="36181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grpSp>
    </p:spTree>
    <p:extLst>
      <p:ext uri="{BB962C8B-B14F-4D97-AF65-F5344CB8AC3E}">
        <p14:creationId xmlns:p14="http://schemas.microsoft.com/office/powerpoint/2010/main" val="233402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839A7-D496-9F05-4BE0-F1A7CD0D171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7B31C81-1D3B-1F72-5775-C553C36034B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C7E61638-1BD7-244F-8405-B6FD06F4E055}"/>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BFE8454E-C7B1-D20D-63D4-26572E57978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6B39F01A-C59F-B8FA-4F79-25276CE4F8AB}"/>
              </a:ext>
            </a:extLst>
          </p:cNvPr>
          <p:cNvSpPr txBox="1">
            <a:spLocks noChangeArrowheads="1"/>
          </p:cNvSpPr>
          <p:nvPr/>
        </p:nvSpPr>
        <p:spPr bwMode="auto">
          <a:xfrm>
            <a:off x="1135496" y="1785427"/>
            <a:ext cx="4426845"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、二叉排序树的插入和创建</a:t>
            </a:r>
          </a:p>
        </p:txBody>
      </p:sp>
      <p:sp>
        <p:nvSpPr>
          <p:cNvPr id="5" name="TextBox 9">
            <a:extLst>
              <a:ext uri="{FF2B5EF4-FFF2-40B4-BE49-F238E27FC236}">
                <a16:creationId xmlns:a16="http://schemas.microsoft.com/office/drawing/2014/main" id="{C9FA0760-61DB-1E98-17A0-0015EC451F6E}"/>
              </a:ext>
            </a:extLst>
          </p:cNvPr>
          <p:cNvSpPr txBox="1"/>
          <p:nvPr/>
        </p:nvSpPr>
        <p:spPr>
          <a:xfrm>
            <a:off x="1559496" y="2257982"/>
            <a:ext cx="7929618" cy="1141439"/>
          </a:xfrm>
          <a:prstGeom prst="rect">
            <a:avLst/>
          </a:prstGeom>
          <a:ln>
            <a:solidFill>
              <a:schemeClr val="accent3">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ct val="150000"/>
              </a:lnSpc>
            </a:pPr>
            <a:r>
              <a:rPr lang="zh-CN" altLang="zh-CN" sz="2000" b="1">
                <a:solidFill>
                  <a:srgbClr val="0000FF"/>
                </a:solidFill>
                <a:latin typeface="Consolas" pitchFamily="49" charset="0"/>
                <a:ea typeface="楷体" pitchFamily="49" charset="-122"/>
                <a:cs typeface="Consolas" pitchFamily="49" charset="0"/>
              </a:rPr>
              <a:t>由一组关键字</a:t>
            </a:r>
            <a:r>
              <a:rPr lang="en-US" altLang="zh-CN" sz="2000" b="1">
                <a:solidFill>
                  <a:srgbClr val="0000FF"/>
                </a:solidFill>
                <a:latin typeface="Consolas" pitchFamily="49" charset="0"/>
                <a:ea typeface="楷体" pitchFamily="49" charset="-122"/>
                <a:cs typeface="Consolas" pitchFamily="49" charset="0"/>
              </a:rPr>
              <a:t>23</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12</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45</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36</a:t>
            </a:r>
            <a:r>
              <a:rPr lang="zh-CN" altLang="zh-CN" sz="2000" b="1">
                <a:solidFill>
                  <a:srgbClr val="0000FF"/>
                </a:solidFill>
                <a:latin typeface="Consolas" pitchFamily="49" charset="0"/>
                <a:ea typeface="楷体" pitchFamily="49" charset="-122"/>
                <a:cs typeface="Consolas" pitchFamily="49" charset="0"/>
              </a:rPr>
              <a:t>构成的不同二叉排序树有</a:t>
            </a:r>
            <a:r>
              <a:rPr lang="zh-CN" altLang="en-US" sz="2000" b="1">
                <a:solidFill>
                  <a:srgbClr val="0000FF"/>
                </a:solidFill>
                <a:latin typeface="Consolas" pitchFamily="49" charset="0"/>
                <a:ea typeface="楷体" pitchFamily="49" charset="-122"/>
                <a:cs typeface="Consolas" pitchFamily="49" charset="0"/>
              </a:rPr>
              <a:t>（  ）</a:t>
            </a:r>
            <a:r>
              <a:rPr lang="zh-CN" altLang="zh-CN" sz="2000" b="1">
                <a:solidFill>
                  <a:srgbClr val="0000FF"/>
                </a:solidFill>
                <a:latin typeface="Consolas" pitchFamily="49" charset="0"/>
                <a:ea typeface="楷体" pitchFamily="49" charset="-122"/>
                <a:cs typeface="Consolas" pitchFamily="49" charset="0"/>
              </a:rPr>
              <a:t>棵。</a:t>
            </a:r>
          </a:p>
          <a:p>
            <a:pPr algn="l">
              <a:lnSpc>
                <a:spcPct val="150000"/>
              </a:lnSpc>
            </a:pPr>
            <a:r>
              <a:rPr lang="en-US" altLang="zh-CN" sz="2000" b="1">
                <a:solidFill>
                  <a:srgbClr val="0000FF"/>
                </a:solidFill>
                <a:latin typeface="Consolas" pitchFamily="49" charset="0"/>
                <a:ea typeface="楷体" pitchFamily="49" charset="-122"/>
                <a:cs typeface="Consolas" pitchFamily="49" charset="0"/>
              </a:rPr>
              <a:t>A.1		B. 10		C. 14		D.</a:t>
            </a:r>
            <a:r>
              <a:rPr lang="zh-CN" altLang="zh-CN" sz="2000" b="1">
                <a:solidFill>
                  <a:srgbClr val="0000FF"/>
                </a:solidFill>
                <a:latin typeface="Consolas" pitchFamily="49" charset="0"/>
                <a:ea typeface="楷体" pitchFamily="49" charset="-122"/>
                <a:cs typeface="Consolas" pitchFamily="49" charset="0"/>
              </a:rPr>
              <a:t>无法确定</a:t>
            </a:r>
            <a:endParaRPr lang="zh-CN" altLang="en-US" sz="2000" b="1">
              <a:solidFill>
                <a:srgbClr val="0000FF"/>
              </a:solidFill>
              <a:latin typeface="Consolas" pitchFamily="49" charset="0"/>
              <a:ea typeface="楷体" pitchFamily="49" charset="-122"/>
              <a:cs typeface="Consolas" pitchFamily="49" charset="0"/>
            </a:endParaRPr>
          </a:p>
        </p:txBody>
      </p:sp>
      <p:pic>
        <p:nvPicPr>
          <p:cNvPr id="8" name="Picture 2">
            <a:extLst>
              <a:ext uri="{FF2B5EF4-FFF2-40B4-BE49-F238E27FC236}">
                <a16:creationId xmlns:a16="http://schemas.microsoft.com/office/drawing/2014/main" id="{1995D3BF-E2F3-6235-0449-DD57A701142E}"/>
              </a:ext>
            </a:extLst>
          </p:cNvPr>
          <p:cNvPicPr>
            <a:picLocks noChangeAspect="1" noChangeArrowheads="1"/>
          </p:cNvPicPr>
          <p:nvPr/>
        </p:nvPicPr>
        <p:blipFill>
          <a:blip r:embed="rId2" cstate="print"/>
          <a:srcRect/>
          <a:stretch>
            <a:fillRect/>
          </a:stretch>
        </p:blipFill>
        <p:spPr bwMode="auto">
          <a:xfrm>
            <a:off x="6417280" y="3545638"/>
            <a:ext cx="985835" cy="568609"/>
          </a:xfrm>
          <a:prstGeom prst="rect">
            <a:avLst/>
          </a:prstGeom>
          <a:noFill/>
          <a:ln w="9525">
            <a:noFill/>
            <a:miter lim="800000"/>
            <a:headEnd/>
            <a:tailEnd/>
          </a:ln>
        </p:spPr>
      </p:pic>
      <p:sp>
        <p:nvSpPr>
          <p:cNvPr id="10" name="TextBox 3">
            <a:extLst>
              <a:ext uri="{FF2B5EF4-FFF2-40B4-BE49-F238E27FC236}">
                <a16:creationId xmlns:a16="http://schemas.microsoft.com/office/drawing/2014/main" id="{C3820E62-02E4-3610-568F-FE02E011EF85}"/>
              </a:ext>
            </a:extLst>
          </p:cNvPr>
          <p:cNvSpPr txBox="1"/>
          <p:nvPr/>
        </p:nvSpPr>
        <p:spPr>
          <a:xfrm>
            <a:off x="1525182" y="3585065"/>
            <a:ext cx="6786610" cy="400110"/>
          </a:xfrm>
          <a:prstGeom prst="rect">
            <a:avLst/>
          </a:prstGeom>
          <a:noFill/>
        </p:spPr>
        <p:txBody>
          <a:bodyPr wrap="square" rtlCol="0">
            <a:spAutoFit/>
          </a:bodyPr>
          <a:lstStyle/>
          <a:p>
            <a:pPr algn="l"/>
            <a:r>
              <a:rPr lang="en-US" altLang="zh-CN" sz="2000" b="1" i="1">
                <a:solidFill>
                  <a:srgbClr val="0000FF"/>
                </a:solidFill>
                <a:latin typeface="Consolas" pitchFamily="49" charset="0"/>
                <a:ea typeface="仿宋" pitchFamily="49" charset="-122"/>
                <a:cs typeface="Consolas" pitchFamily="49" charset="0"/>
              </a:rPr>
              <a:t>n</a:t>
            </a:r>
            <a:r>
              <a:rPr lang="zh-CN" altLang="en-US" sz="2000" b="1">
                <a:solidFill>
                  <a:srgbClr val="0000FF"/>
                </a:solidFill>
                <a:latin typeface="Consolas" pitchFamily="49" charset="0"/>
                <a:ea typeface="仿宋" pitchFamily="49" charset="-122"/>
                <a:cs typeface="Consolas" pitchFamily="49" charset="0"/>
              </a:rPr>
              <a:t>个不同关键字</a:t>
            </a:r>
            <a:r>
              <a:rPr lang="zh-CN" altLang="zh-CN" sz="2000" b="1">
                <a:solidFill>
                  <a:srgbClr val="0000FF"/>
                </a:solidFill>
                <a:latin typeface="Consolas" pitchFamily="49" charset="0"/>
                <a:ea typeface="仿宋" pitchFamily="49" charset="-122"/>
                <a:cs typeface="Consolas" pitchFamily="49" charset="0"/>
              </a:rPr>
              <a:t>构成的不同的二叉排序树</a:t>
            </a:r>
            <a:r>
              <a:rPr lang="zh-CN" altLang="en-US" sz="2000" b="1">
                <a:solidFill>
                  <a:srgbClr val="0000FF"/>
                </a:solidFill>
                <a:latin typeface="Consolas" pitchFamily="49" charset="0"/>
                <a:ea typeface="仿宋" pitchFamily="49" charset="-122"/>
                <a:cs typeface="Consolas" pitchFamily="49" charset="0"/>
              </a:rPr>
              <a:t>有        </a:t>
            </a:r>
            <a:r>
              <a:rPr lang="zh-CN" altLang="zh-CN" sz="2000" b="1">
                <a:solidFill>
                  <a:srgbClr val="0000FF"/>
                </a:solidFill>
                <a:latin typeface="Consolas" pitchFamily="49" charset="0"/>
                <a:ea typeface="仿宋" pitchFamily="49" charset="-122"/>
                <a:cs typeface="Consolas" pitchFamily="49" charset="0"/>
              </a:rPr>
              <a:t>棵。</a:t>
            </a:r>
            <a:endParaRPr lang="zh-CN" altLang="en-US" sz="2000" b="1" dirty="0">
              <a:solidFill>
                <a:srgbClr val="0000FF"/>
              </a:solidFill>
              <a:latin typeface="Consolas" pitchFamily="49" charset="0"/>
              <a:ea typeface="仿宋" pitchFamily="49" charset="-122"/>
              <a:cs typeface="Consolas" pitchFamily="49" charset="0"/>
            </a:endParaRPr>
          </a:p>
        </p:txBody>
      </p:sp>
      <p:grpSp>
        <p:nvGrpSpPr>
          <p:cNvPr id="11" name="组合 54">
            <a:extLst>
              <a:ext uri="{FF2B5EF4-FFF2-40B4-BE49-F238E27FC236}">
                <a16:creationId xmlns:a16="http://schemas.microsoft.com/office/drawing/2014/main" id="{FA0CEBEF-80B6-404C-FC08-8E36B7F69208}"/>
              </a:ext>
            </a:extLst>
          </p:cNvPr>
          <p:cNvGrpSpPr/>
          <p:nvPr/>
        </p:nvGrpSpPr>
        <p:grpSpPr>
          <a:xfrm>
            <a:off x="1238025" y="4424467"/>
            <a:ext cx="7360924" cy="2324826"/>
            <a:chOff x="639538" y="2143116"/>
            <a:chExt cx="7360924" cy="2324826"/>
          </a:xfrm>
        </p:grpSpPr>
        <p:sp>
          <p:nvSpPr>
            <p:cNvPr id="12" name="椭圆 11">
              <a:extLst>
                <a:ext uri="{FF2B5EF4-FFF2-40B4-BE49-F238E27FC236}">
                  <a16:creationId xmlns:a16="http://schemas.microsoft.com/office/drawing/2014/main" id="{0B55467B-6C49-B662-9B2C-9E9CDC187B74}"/>
                </a:ext>
              </a:extLst>
            </p:cNvPr>
            <p:cNvSpPr/>
            <p:nvPr/>
          </p:nvSpPr>
          <p:spPr>
            <a:xfrm>
              <a:off x="639538" y="4071942"/>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1</a:t>
              </a:r>
              <a:endParaRPr lang="zh-CN" altLang="en-US" sz="1600" dirty="0">
                <a:solidFill>
                  <a:srgbClr val="3333FF"/>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id="{F53AAFA2-E5F0-D6B9-341D-B52FC63FB4C8}"/>
                </a:ext>
              </a:extLst>
            </p:cNvPr>
            <p:cNvSpPr/>
            <p:nvPr/>
          </p:nvSpPr>
          <p:spPr>
            <a:xfrm>
              <a:off x="925290" y="3214686"/>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2</a:t>
              </a:r>
              <a:endParaRPr lang="zh-CN" altLang="en-US" sz="1600" dirty="0">
                <a:solidFill>
                  <a:srgbClr val="3333FF"/>
                </a:solidFill>
                <a:latin typeface="Consolas" pitchFamily="49" charset="0"/>
                <a:cs typeface="Consolas" pitchFamily="49" charset="0"/>
              </a:endParaRPr>
            </a:p>
          </p:txBody>
        </p:sp>
        <p:sp>
          <p:nvSpPr>
            <p:cNvPr id="14" name="椭圆 13">
              <a:extLst>
                <a:ext uri="{FF2B5EF4-FFF2-40B4-BE49-F238E27FC236}">
                  <a16:creationId xmlns:a16="http://schemas.microsoft.com/office/drawing/2014/main" id="{3E66D283-589E-5076-A3EF-11A47DF95BB1}"/>
                </a:ext>
              </a:extLst>
            </p:cNvPr>
            <p:cNvSpPr/>
            <p:nvPr/>
          </p:nvSpPr>
          <p:spPr>
            <a:xfrm>
              <a:off x="1211042" y="2428868"/>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3</a:t>
              </a:r>
              <a:endParaRPr lang="zh-CN" altLang="en-US" sz="1600" dirty="0">
                <a:solidFill>
                  <a:srgbClr val="3333FF"/>
                </a:solidFill>
                <a:latin typeface="Consolas" pitchFamily="49" charset="0"/>
                <a:cs typeface="Consolas" pitchFamily="49" charset="0"/>
              </a:endParaRPr>
            </a:p>
          </p:txBody>
        </p:sp>
        <p:cxnSp>
          <p:nvCxnSpPr>
            <p:cNvPr id="15" name="直接连接符 14">
              <a:extLst>
                <a:ext uri="{FF2B5EF4-FFF2-40B4-BE49-F238E27FC236}">
                  <a16:creationId xmlns:a16="http://schemas.microsoft.com/office/drawing/2014/main" id="{F898EF0D-ABAB-9B85-77A5-7BF5FFF6B927}"/>
                </a:ext>
              </a:extLst>
            </p:cNvPr>
            <p:cNvCxnSpPr>
              <a:stCxn id="14" idx="3"/>
              <a:endCxn id="13" idx="0"/>
            </p:cNvCxnSpPr>
            <p:nvPr/>
          </p:nvCxnSpPr>
          <p:spPr>
            <a:xfrm rot="5400000">
              <a:off x="960622" y="2911544"/>
              <a:ext cx="447811" cy="15847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3" name="直接连接符 42">
              <a:extLst>
                <a:ext uri="{FF2B5EF4-FFF2-40B4-BE49-F238E27FC236}">
                  <a16:creationId xmlns:a16="http://schemas.microsoft.com/office/drawing/2014/main" id="{334591C6-1067-B7DA-6F86-C17E74E538D1}"/>
                </a:ext>
              </a:extLst>
            </p:cNvPr>
            <p:cNvCxnSpPr>
              <a:stCxn id="13" idx="3"/>
              <a:endCxn id="12" idx="0"/>
            </p:cNvCxnSpPr>
            <p:nvPr/>
          </p:nvCxnSpPr>
          <p:spPr>
            <a:xfrm rot="5400000">
              <a:off x="639151" y="3733081"/>
              <a:ext cx="519249" cy="15847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4" name="椭圆 43">
              <a:extLst>
                <a:ext uri="{FF2B5EF4-FFF2-40B4-BE49-F238E27FC236}">
                  <a16:creationId xmlns:a16="http://schemas.microsoft.com/office/drawing/2014/main" id="{467CF1EA-F526-300D-1F63-3E8BD140833C}"/>
                </a:ext>
              </a:extLst>
            </p:cNvPr>
            <p:cNvSpPr/>
            <p:nvPr/>
          </p:nvSpPr>
          <p:spPr>
            <a:xfrm>
              <a:off x="2857488" y="3286124"/>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3</a:t>
              </a:r>
              <a:endParaRPr lang="zh-CN" altLang="en-US" sz="1600" dirty="0">
                <a:solidFill>
                  <a:srgbClr val="3333FF"/>
                </a:solidFill>
                <a:latin typeface="Consolas" pitchFamily="49" charset="0"/>
                <a:cs typeface="Consolas" pitchFamily="49" charset="0"/>
              </a:endParaRPr>
            </a:p>
          </p:txBody>
        </p:sp>
        <p:sp>
          <p:nvSpPr>
            <p:cNvPr id="45" name="椭圆 44">
              <a:extLst>
                <a:ext uri="{FF2B5EF4-FFF2-40B4-BE49-F238E27FC236}">
                  <a16:creationId xmlns:a16="http://schemas.microsoft.com/office/drawing/2014/main" id="{ED303ABE-9515-8FE9-E887-B8291B1A2CF8}"/>
                </a:ext>
              </a:extLst>
            </p:cNvPr>
            <p:cNvSpPr/>
            <p:nvPr/>
          </p:nvSpPr>
          <p:spPr>
            <a:xfrm>
              <a:off x="2143108" y="3286124"/>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1</a:t>
              </a:r>
              <a:endParaRPr lang="zh-CN" altLang="en-US" sz="1600" dirty="0">
                <a:solidFill>
                  <a:srgbClr val="3333FF"/>
                </a:solidFill>
                <a:latin typeface="Consolas" pitchFamily="49" charset="0"/>
                <a:cs typeface="Consolas" pitchFamily="49" charset="0"/>
              </a:endParaRPr>
            </a:p>
          </p:txBody>
        </p:sp>
        <p:sp>
          <p:nvSpPr>
            <p:cNvPr id="46" name="椭圆 45">
              <a:extLst>
                <a:ext uri="{FF2B5EF4-FFF2-40B4-BE49-F238E27FC236}">
                  <a16:creationId xmlns:a16="http://schemas.microsoft.com/office/drawing/2014/main" id="{20652B78-EC45-D347-A607-601C5ABFC394}"/>
                </a:ext>
              </a:extLst>
            </p:cNvPr>
            <p:cNvSpPr/>
            <p:nvPr/>
          </p:nvSpPr>
          <p:spPr>
            <a:xfrm>
              <a:off x="2496926" y="2500306"/>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2</a:t>
              </a:r>
              <a:endParaRPr lang="zh-CN" altLang="en-US" sz="1600" dirty="0">
                <a:solidFill>
                  <a:srgbClr val="3333FF"/>
                </a:solidFill>
                <a:latin typeface="Consolas" pitchFamily="49" charset="0"/>
                <a:cs typeface="Consolas" pitchFamily="49" charset="0"/>
              </a:endParaRPr>
            </a:p>
          </p:txBody>
        </p:sp>
        <p:cxnSp>
          <p:nvCxnSpPr>
            <p:cNvPr id="47" name="直接连接符 46">
              <a:extLst>
                <a:ext uri="{FF2B5EF4-FFF2-40B4-BE49-F238E27FC236}">
                  <a16:creationId xmlns:a16="http://schemas.microsoft.com/office/drawing/2014/main" id="{2A21F108-D929-6CE8-C5DB-16856E2E6C6E}"/>
                </a:ext>
              </a:extLst>
            </p:cNvPr>
            <p:cNvCxnSpPr>
              <a:stCxn id="46" idx="3"/>
              <a:endCxn id="45" idx="0"/>
            </p:cNvCxnSpPr>
            <p:nvPr/>
          </p:nvCxnSpPr>
          <p:spPr>
            <a:xfrm rot="5400000">
              <a:off x="2212473" y="2948949"/>
              <a:ext cx="447811" cy="22653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8" name="直接连接符 47">
              <a:extLst>
                <a:ext uri="{FF2B5EF4-FFF2-40B4-BE49-F238E27FC236}">
                  <a16:creationId xmlns:a16="http://schemas.microsoft.com/office/drawing/2014/main" id="{06F5D083-1D03-C7CA-2B2B-DB7272A2C6AB}"/>
                </a:ext>
              </a:extLst>
            </p:cNvPr>
            <p:cNvCxnSpPr>
              <a:stCxn id="46" idx="5"/>
              <a:endCxn id="44" idx="0"/>
            </p:cNvCxnSpPr>
            <p:nvPr/>
          </p:nvCxnSpPr>
          <p:spPr>
            <a:xfrm rot="16200000" flipH="1">
              <a:off x="2696941" y="2945576"/>
              <a:ext cx="447811" cy="23328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9" name="椭圆 48">
              <a:extLst>
                <a:ext uri="{FF2B5EF4-FFF2-40B4-BE49-F238E27FC236}">
                  <a16:creationId xmlns:a16="http://schemas.microsoft.com/office/drawing/2014/main" id="{8DA2553A-5886-C4DC-2D92-65D140BC46FD}"/>
                </a:ext>
              </a:extLst>
            </p:cNvPr>
            <p:cNvSpPr/>
            <p:nvPr/>
          </p:nvSpPr>
          <p:spPr>
            <a:xfrm>
              <a:off x="4143372" y="3857628"/>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2</a:t>
              </a:r>
              <a:endParaRPr lang="zh-CN" altLang="en-US" sz="1600" dirty="0">
                <a:solidFill>
                  <a:srgbClr val="3333FF"/>
                </a:solidFill>
                <a:latin typeface="Consolas" pitchFamily="49" charset="0"/>
                <a:cs typeface="Consolas" pitchFamily="49" charset="0"/>
              </a:endParaRPr>
            </a:p>
          </p:txBody>
        </p:sp>
        <p:sp>
          <p:nvSpPr>
            <p:cNvPr id="50" name="椭圆 49">
              <a:extLst>
                <a:ext uri="{FF2B5EF4-FFF2-40B4-BE49-F238E27FC236}">
                  <a16:creationId xmlns:a16="http://schemas.microsoft.com/office/drawing/2014/main" id="{EAD32146-4B44-E3E2-2EB6-5226CB1E4007}"/>
                </a:ext>
              </a:extLst>
            </p:cNvPr>
            <p:cNvSpPr/>
            <p:nvPr/>
          </p:nvSpPr>
          <p:spPr>
            <a:xfrm>
              <a:off x="3643306" y="3175314"/>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1</a:t>
              </a:r>
              <a:endParaRPr lang="zh-CN" altLang="en-US" sz="1600" dirty="0">
                <a:solidFill>
                  <a:srgbClr val="3333FF"/>
                </a:solidFill>
                <a:latin typeface="Consolas" pitchFamily="49" charset="0"/>
                <a:cs typeface="Consolas" pitchFamily="49" charset="0"/>
              </a:endParaRPr>
            </a:p>
          </p:txBody>
        </p:sp>
        <p:sp>
          <p:nvSpPr>
            <p:cNvPr id="51" name="椭圆 50">
              <a:extLst>
                <a:ext uri="{FF2B5EF4-FFF2-40B4-BE49-F238E27FC236}">
                  <a16:creationId xmlns:a16="http://schemas.microsoft.com/office/drawing/2014/main" id="{3264915D-D06F-4CE5-BCA1-4F8799901219}"/>
                </a:ext>
              </a:extLst>
            </p:cNvPr>
            <p:cNvSpPr/>
            <p:nvPr/>
          </p:nvSpPr>
          <p:spPr>
            <a:xfrm>
              <a:off x="3997124" y="2357430"/>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3</a:t>
              </a:r>
              <a:endParaRPr lang="zh-CN" altLang="en-US" sz="1600" dirty="0">
                <a:solidFill>
                  <a:srgbClr val="3333FF"/>
                </a:solidFill>
                <a:latin typeface="Consolas" pitchFamily="49" charset="0"/>
                <a:cs typeface="Consolas" pitchFamily="49" charset="0"/>
              </a:endParaRPr>
            </a:p>
          </p:txBody>
        </p:sp>
        <p:cxnSp>
          <p:nvCxnSpPr>
            <p:cNvPr id="52" name="直接连接符 51">
              <a:extLst>
                <a:ext uri="{FF2B5EF4-FFF2-40B4-BE49-F238E27FC236}">
                  <a16:creationId xmlns:a16="http://schemas.microsoft.com/office/drawing/2014/main" id="{4D3AA15C-59FA-6D9E-D097-98B9924D44D7}"/>
                </a:ext>
              </a:extLst>
            </p:cNvPr>
            <p:cNvCxnSpPr>
              <a:stCxn id="51" idx="3"/>
              <a:endCxn id="50" idx="0"/>
            </p:cNvCxnSpPr>
            <p:nvPr/>
          </p:nvCxnSpPr>
          <p:spPr>
            <a:xfrm rot="5400000">
              <a:off x="3696638" y="2822106"/>
              <a:ext cx="479877" cy="22653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3" name="直接连接符 52">
              <a:extLst>
                <a:ext uri="{FF2B5EF4-FFF2-40B4-BE49-F238E27FC236}">
                  <a16:creationId xmlns:a16="http://schemas.microsoft.com/office/drawing/2014/main" id="{283FF5F3-F340-101E-CD2E-D60ADF91132B}"/>
                </a:ext>
              </a:extLst>
            </p:cNvPr>
            <p:cNvCxnSpPr>
              <a:stCxn id="50" idx="5"/>
              <a:endCxn id="49" idx="1"/>
            </p:cNvCxnSpPr>
            <p:nvPr/>
          </p:nvCxnSpPr>
          <p:spPr>
            <a:xfrm rot="16200000" flipH="1">
              <a:off x="3872189" y="3591717"/>
              <a:ext cx="402300" cy="24550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54" name="椭圆 53">
              <a:extLst>
                <a:ext uri="{FF2B5EF4-FFF2-40B4-BE49-F238E27FC236}">
                  <a16:creationId xmlns:a16="http://schemas.microsoft.com/office/drawing/2014/main" id="{CF52D86B-9AE8-D10B-96B8-C2CC864BD11C}"/>
                </a:ext>
              </a:extLst>
            </p:cNvPr>
            <p:cNvSpPr/>
            <p:nvPr/>
          </p:nvSpPr>
          <p:spPr>
            <a:xfrm>
              <a:off x="5500694" y="3786190"/>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2</a:t>
              </a:r>
              <a:endParaRPr lang="zh-CN" altLang="en-US" sz="1600" dirty="0">
                <a:solidFill>
                  <a:srgbClr val="3333FF"/>
                </a:solidFill>
                <a:latin typeface="Consolas" pitchFamily="49" charset="0"/>
                <a:cs typeface="Consolas" pitchFamily="49" charset="0"/>
              </a:endParaRPr>
            </a:p>
          </p:txBody>
        </p:sp>
        <p:sp>
          <p:nvSpPr>
            <p:cNvPr id="55" name="椭圆 54">
              <a:extLst>
                <a:ext uri="{FF2B5EF4-FFF2-40B4-BE49-F238E27FC236}">
                  <a16:creationId xmlns:a16="http://schemas.microsoft.com/office/drawing/2014/main" id="{87BE16A6-B7F3-C059-6429-E4BABF7E4F81}"/>
                </a:ext>
              </a:extLst>
            </p:cNvPr>
            <p:cNvSpPr/>
            <p:nvPr/>
          </p:nvSpPr>
          <p:spPr>
            <a:xfrm>
              <a:off x="5925950" y="3000372"/>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3</a:t>
              </a:r>
              <a:endParaRPr lang="zh-CN" altLang="en-US" sz="1600" dirty="0">
                <a:solidFill>
                  <a:srgbClr val="3333FF"/>
                </a:solidFill>
                <a:latin typeface="Consolas" pitchFamily="49" charset="0"/>
                <a:cs typeface="Consolas" pitchFamily="49" charset="0"/>
              </a:endParaRPr>
            </a:p>
          </p:txBody>
        </p:sp>
        <p:sp>
          <p:nvSpPr>
            <p:cNvPr id="56" name="椭圆 55">
              <a:extLst>
                <a:ext uri="{FF2B5EF4-FFF2-40B4-BE49-F238E27FC236}">
                  <a16:creationId xmlns:a16="http://schemas.microsoft.com/office/drawing/2014/main" id="{C6C8D262-2437-D3AF-9CA6-FDD0F119DD6D}"/>
                </a:ext>
              </a:extLst>
            </p:cNvPr>
            <p:cNvSpPr/>
            <p:nvPr/>
          </p:nvSpPr>
          <p:spPr>
            <a:xfrm>
              <a:off x="5354446" y="2285992"/>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1</a:t>
              </a:r>
              <a:endParaRPr lang="zh-CN" altLang="en-US" sz="1600" dirty="0">
                <a:solidFill>
                  <a:srgbClr val="3333FF"/>
                </a:solidFill>
                <a:latin typeface="Consolas" pitchFamily="49" charset="0"/>
                <a:cs typeface="Consolas" pitchFamily="49" charset="0"/>
              </a:endParaRPr>
            </a:p>
          </p:txBody>
        </p:sp>
        <p:cxnSp>
          <p:nvCxnSpPr>
            <p:cNvPr id="57" name="直接连接符 56">
              <a:extLst>
                <a:ext uri="{FF2B5EF4-FFF2-40B4-BE49-F238E27FC236}">
                  <a16:creationId xmlns:a16="http://schemas.microsoft.com/office/drawing/2014/main" id="{6B5DC2F1-5912-2918-D6A6-5A3598392FA4}"/>
                </a:ext>
              </a:extLst>
            </p:cNvPr>
            <p:cNvCxnSpPr>
              <a:stCxn id="56" idx="5"/>
              <a:endCxn id="55" idx="1"/>
            </p:cNvCxnSpPr>
            <p:nvPr/>
          </p:nvCxnSpPr>
          <p:spPr>
            <a:xfrm rot="16200000" flipH="1">
              <a:off x="5603015" y="2682709"/>
              <a:ext cx="434366" cy="31694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8" name="直接连接符 57">
              <a:extLst>
                <a:ext uri="{FF2B5EF4-FFF2-40B4-BE49-F238E27FC236}">
                  <a16:creationId xmlns:a16="http://schemas.microsoft.com/office/drawing/2014/main" id="{82E8B82A-0175-C9C3-7F0E-0CC7F5FA6EDF}"/>
                </a:ext>
              </a:extLst>
            </p:cNvPr>
            <p:cNvCxnSpPr>
              <a:stCxn id="55" idx="3"/>
              <a:endCxn id="54" idx="7"/>
            </p:cNvCxnSpPr>
            <p:nvPr/>
          </p:nvCxnSpPr>
          <p:spPr>
            <a:xfrm rot="5400000">
              <a:off x="5640420" y="3505932"/>
              <a:ext cx="505804" cy="17069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59" name="椭圆 58">
              <a:extLst>
                <a:ext uri="{FF2B5EF4-FFF2-40B4-BE49-F238E27FC236}">
                  <a16:creationId xmlns:a16="http://schemas.microsoft.com/office/drawing/2014/main" id="{D9D8247E-CB9B-8AB3-115B-39AB0075FEA9}"/>
                </a:ext>
              </a:extLst>
            </p:cNvPr>
            <p:cNvSpPr/>
            <p:nvPr/>
          </p:nvSpPr>
          <p:spPr>
            <a:xfrm>
              <a:off x="7640462" y="3786190"/>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3</a:t>
              </a:r>
              <a:endParaRPr lang="zh-CN" altLang="en-US" sz="1600" dirty="0">
                <a:solidFill>
                  <a:srgbClr val="3333FF"/>
                </a:solidFill>
                <a:latin typeface="Consolas" pitchFamily="49" charset="0"/>
                <a:cs typeface="Consolas" pitchFamily="49" charset="0"/>
              </a:endParaRPr>
            </a:p>
          </p:txBody>
        </p:sp>
        <p:sp>
          <p:nvSpPr>
            <p:cNvPr id="60" name="椭圆 59">
              <a:extLst>
                <a:ext uri="{FF2B5EF4-FFF2-40B4-BE49-F238E27FC236}">
                  <a16:creationId xmlns:a16="http://schemas.microsoft.com/office/drawing/2014/main" id="{CFA00A69-F968-89C9-748F-84B8CC4EE14E}"/>
                </a:ext>
              </a:extLst>
            </p:cNvPr>
            <p:cNvSpPr/>
            <p:nvPr/>
          </p:nvSpPr>
          <p:spPr>
            <a:xfrm>
              <a:off x="7215206" y="2928934"/>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2</a:t>
              </a:r>
              <a:endParaRPr lang="zh-CN" altLang="en-US" sz="1600" dirty="0">
                <a:solidFill>
                  <a:srgbClr val="3333FF"/>
                </a:solidFill>
                <a:latin typeface="Consolas" pitchFamily="49" charset="0"/>
                <a:cs typeface="Consolas" pitchFamily="49" charset="0"/>
              </a:endParaRPr>
            </a:p>
          </p:txBody>
        </p:sp>
        <p:sp>
          <p:nvSpPr>
            <p:cNvPr id="61" name="椭圆 60">
              <a:extLst>
                <a:ext uri="{FF2B5EF4-FFF2-40B4-BE49-F238E27FC236}">
                  <a16:creationId xmlns:a16="http://schemas.microsoft.com/office/drawing/2014/main" id="{F5EBA980-F51C-261B-96C5-591BC3940584}"/>
                </a:ext>
              </a:extLst>
            </p:cNvPr>
            <p:cNvSpPr/>
            <p:nvPr/>
          </p:nvSpPr>
          <p:spPr>
            <a:xfrm>
              <a:off x="6786578" y="2143116"/>
              <a:ext cx="360000" cy="39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3333FF"/>
                  </a:solidFill>
                  <a:latin typeface="Consolas" pitchFamily="49" charset="0"/>
                  <a:cs typeface="Consolas" pitchFamily="49" charset="0"/>
                </a:rPr>
                <a:t>1</a:t>
              </a:r>
              <a:endParaRPr lang="zh-CN" altLang="en-US" sz="1600" dirty="0">
                <a:solidFill>
                  <a:srgbClr val="3333FF"/>
                </a:solidFill>
                <a:latin typeface="Consolas" pitchFamily="49" charset="0"/>
                <a:cs typeface="Consolas" pitchFamily="49" charset="0"/>
              </a:endParaRPr>
            </a:p>
          </p:txBody>
        </p:sp>
        <p:cxnSp>
          <p:nvCxnSpPr>
            <p:cNvPr id="62" name="直接连接符 61">
              <a:extLst>
                <a:ext uri="{FF2B5EF4-FFF2-40B4-BE49-F238E27FC236}">
                  <a16:creationId xmlns:a16="http://schemas.microsoft.com/office/drawing/2014/main" id="{F23A42AA-4265-3C1E-5806-084366474FA9}"/>
                </a:ext>
              </a:extLst>
            </p:cNvPr>
            <p:cNvCxnSpPr>
              <a:stCxn id="61" idx="5"/>
              <a:endCxn id="60" idx="0"/>
            </p:cNvCxnSpPr>
            <p:nvPr/>
          </p:nvCxnSpPr>
          <p:spPr>
            <a:xfrm rot="16200000" flipH="1">
              <a:off x="7020626" y="2554353"/>
              <a:ext cx="447811" cy="30134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3" name="直接连接符 62">
              <a:extLst>
                <a:ext uri="{FF2B5EF4-FFF2-40B4-BE49-F238E27FC236}">
                  <a16:creationId xmlns:a16="http://schemas.microsoft.com/office/drawing/2014/main" id="{47FF7D2F-8A3B-7789-7CE4-D417EC0CAC86}"/>
                </a:ext>
              </a:extLst>
            </p:cNvPr>
            <p:cNvCxnSpPr>
              <a:stCxn id="60" idx="5"/>
              <a:endCxn id="59" idx="0"/>
            </p:cNvCxnSpPr>
            <p:nvPr/>
          </p:nvCxnSpPr>
          <p:spPr>
            <a:xfrm rot="16200000" flipH="1">
              <a:off x="7411849" y="3377576"/>
              <a:ext cx="519249" cy="297977"/>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64" name="组合 48">
            <a:extLst>
              <a:ext uri="{FF2B5EF4-FFF2-40B4-BE49-F238E27FC236}">
                <a16:creationId xmlns:a16="http://schemas.microsoft.com/office/drawing/2014/main" id="{71D26961-54BD-A7B7-C839-D163EDE4448D}"/>
              </a:ext>
            </a:extLst>
          </p:cNvPr>
          <p:cNvGrpSpPr/>
          <p:nvPr/>
        </p:nvGrpSpPr>
        <p:grpSpPr>
          <a:xfrm>
            <a:off x="1491633" y="4072117"/>
            <a:ext cx="6643734" cy="709169"/>
            <a:chOff x="130434" y="1071942"/>
            <a:chExt cx="5786478" cy="709169"/>
          </a:xfrm>
        </p:grpSpPr>
        <p:sp>
          <p:nvSpPr>
            <p:cNvPr id="65" name="TextBox 4">
              <a:extLst>
                <a:ext uri="{FF2B5EF4-FFF2-40B4-BE49-F238E27FC236}">
                  <a16:creationId xmlns:a16="http://schemas.microsoft.com/office/drawing/2014/main" id="{0321A834-E269-DFF4-33A4-F7A20B34DC9A}"/>
                </a:ext>
              </a:extLst>
            </p:cNvPr>
            <p:cNvSpPr txBox="1"/>
            <p:nvPr/>
          </p:nvSpPr>
          <p:spPr>
            <a:xfrm>
              <a:off x="130434" y="1073225"/>
              <a:ext cx="3286148" cy="707886"/>
            </a:xfrm>
            <a:prstGeom prst="rect">
              <a:avLst/>
            </a:prstGeom>
            <a:noFill/>
          </p:spPr>
          <p:txBody>
            <a:bodyPr wrap="square" rtlCol="0">
              <a:spAutoFit/>
            </a:bodyPr>
            <a:lstStyle/>
            <a:p>
              <a:pPr algn="l"/>
              <a:r>
                <a:rPr lang="zh-CN" altLang="en-US" sz="2000" b="1" dirty="0">
                  <a:solidFill>
                    <a:srgbClr val="3333FF"/>
                  </a:solidFill>
                  <a:latin typeface="Consolas" pitchFamily="49" charset="0"/>
                  <a:ea typeface="仿宋" pitchFamily="49" charset="-122"/>
                  <a:cs typeface="Consolas" pitchFamily="49" charset="0"/>
                </a:rPr>
                <a:t>例如：</a:t>
              </a:r>
              <a:r>
                <a:rPr lang="en-US" altLang="zh-CN" sz="2000" b="1" i="1" dirty="0">
                  <a:solidFill>
                    <a:srgbClr val="3333FF"/>
                  </a:solidFill>
                  <a:latin typeface="Consolas" pitchFamily="49" charset="0"/>
                  <a:ea typeface="仿宋" pitchFamily="49" charset="-122"/>
                  <a:cs typeface="Consolas" pitchFamily="49" charset="0"/>
                </a:rPr>
                <a:t>n</a:t>
              </a:r>
              <a:r>
                <a:rPr lang="en-US" altLang="zh-CN" sz="2000" b="1" dirty="0">
                  <a:solidFill>
                    <a:srgbClr val="3333FF"/>
                  </a:solidFill>
                  <a:latin typeface="Consolas" pitchFamily="49" charset="0"/>
                  <a:ea typeface="仿宋" pitchFamily="49" charset="-122"/>
                  <a:cs typeface="Consolas" pitchFamily="49" charset="0"/>
                </a:rPr>
                <a:t>=3</a:t>
              </a:r>
              <a:r>
                <a:rPr lang="zh-CN" altLang="en-US" sz="2000" b="1" dirty="0">
                  <a:solidFill>
                    <a:srgbClr val="3333FF"/>
                  </a:solidFill>
                  <a:latin typeface="Consolas" pitchFamily="49" charset="0"/>
                  <a:ea typeface="仿宋" pitchFamily="49" charset="-122"/>
                  <a:cs typeface="Consolas" pitchFamily="49" charset="0"/>
                </a:rPr>
                <a:t>，关键字为</a:t>
              </a:r>
              <a:r>
                <a:rPr lang="en-US" altLang="zh-CN" sz="2000" b="1" dirty="0">
                  <a:solidFill>
                    <a:srgbClr val="3333FF"/>
                  </a:solidFill>
                  <a:latin typeface="Consolas" pitchFamily="49" charset="0"/>
                  <a:ea typeface="仿宋" pitchFamily="49" charset="-122"/>
                  <a:cs typeface="Consolas" pitchFamily="49" charset="0"/>
                </a:rPr>
                <a:t>1,2,3</a:t>
              </a:r>
              <a:endParaRPr lang="zh-CN" altLang="en-US" sz="2000" b="1" dirty="0">
                <a:solidFill>
                  <a:srgbClr val="3333FF"/>
                </a:solidFill>
                <a:latin typeface="Consolas" pitchFamily="49" charset="0"/>
                <a:ea typeface="仿宋" pitchFamily="49" charset="-122"/>
                <a:cs typeface="Consolas" pitchFamily="49" charset="0"/>
              </a:endParaRPr>
            </a:p>
          </p:txBody>
        </p:sp>
        <p:pic>
          <p:nvPicPr>
            <p:cNvPr id="66" name="Picture 2">
              <a:extLst>
                <a:ext uri="{FF2B5EF4-FFF2-40B4-BE49-F238E27FC236}">
                  <a16:creationId xmlns:a16="http://schemas.microsoft.com/office/drawing/2014/main" id="{B6294CF3-758C-923B-B189-DE618D4AB500}"/>
                </a:ext>
              </a:extLst>
            </p:cNvPr>
            <p:cNvPicPr>
              <a:picLocks noChangeAspect="1" noChangeArrowheads="1"/>
            </p:cNvPicPr>
            <p:nvPr/>
          </p:nvPicPr>
          <p:blipFill>
            <a:blip r:embed="rId2" cstate="print"/>
            <a:srcRect/>
            <a:stretch>
              <a:fillRect/>
            </a:stretch>
          </p:blipFill>
          <p:spPr bwMode="auto">
            <a:xfrm>
              <a:off x="4249377" y="1112080"/>
              <a:ext cx="985835" cy="568609"/>
            </a:xfrm>
            <a:prstGeom prst="rect">
              <a:avLst/>
            </a:prstGeom>
            <a:noFill/>
            <a:ln w="9525">
              <a:noFill/>
              <a:miter lim="800000"/>
              <a:headEnd/>
              <a:tailEnd/>
            </a:ln>
          </p:spPr>
        </p:pic>
        <p:sp>
          <p:nvSpPr>
            <p:cNvPr id="67" name="TextBox 47">
              <a:extLst>
                <a:ext uri="{FF2B5EF4-FFF2-40B4-BE49-F238E27FC236}">
                  <a16:creationId xmlns:a16="http://schemas.microsoft.com/office/drawing/2014/main" id="{A376E1EB-FEED-E4D5-5A0C-0DACC95FB857}"/>
                </a:ext>
              </a:extLst>
            </p:cNvPr>
            <p:cNvSpPr txBox="1"/>
            <p:nvPr/>
          </p:nvSpPr>
          <p:spPr>
            <a:xfrm>
              <a:off x="3416582" y="1071942"/>
              <a:ext cx="2500330" cy="707886"/>
            </a:xfrm>
            <a:prstGeom prst="rect">
              <a:avLst/>
            </a:prstGeom>
            <a:noFill/>
          </p:spPr>
          <p:txBody>
            <a:bodyPr wrap="square" rtlCol="0">
              <a:spAutoFit/>
            </a:bodyPr>
            <a:lstStyle/>
            <a:p>
              <a:pPr algn="l"/>
              <a:r>
                <a:rPr lang="en-US" altLang="zh-CN" sz="2000" b="1" i="1" dirty="0">
                  <a:solidFill>
                    <a:srgbClr val="3333FF"/>
                  </a:solidFill>
                  <a:latin typeface="Consolas" pitchFamily="49" charset="0"/>
                  <a:ea typeface="仿宋" pitchFamily="49" charset="-122"/>
                  <a:cs typeface="Consolas" pitchFamily="49" charset="0"/>
                </a:rPr>
                <a:t>n</a:t>
              </a:r>
              <a:r>
                <a:rPr lang="en-US" altLang="zh-CN" sz="2000" b="1" dirty="0">
                  <a:solidFill>
                    <a:srgbClr val="3333FF"/>
                  </a:solidFill>
                  <a:latin typeface="Consolas" pitchFamily="49" charset="0"/>
                  <a:ea typeface="仿宋" pitchFamily="49" charset="-122"/>
                  <a:cs typeface="Consolas" pitchFamily="49" charset="0"/>
                </a:rPr>
                <a:t>=3</a:t>
              </a:r>
              <a:r>
                <a:rPr lang="zh-CN" altLang="en-US" sz="2000" b="1" dirty="0">
                  <a:solidFill>
                    <a:srgbClr val="3333FF"/>
                  </a:solidFill>
                  <a:latin typeface="Consolas" pitchFamily="49" charset="0"/>
                  <a:ea typeface="仿宋" pitchFamily="49" charset="-122"/>
                  <a:cs typeface="Consolas" pitchFamily="49" charset="0"/>
                </a:rPr>
                <a:t>时，        </a:t>
              </a:r>
              <a:r>
                <a:rPr lang="en-US" altLang="zh-CN" sz="2000" b="1" dirty="0">
                  <a:solidFill>
                    <a:srgbClr val="3333FF"/>
                  </a:solidFill>
                  <a:latin typeface="Consolas" pitchFamily="49" charset="0"/>
                  <a:ea typeface="仿宋" pitchFamily="49" charset="-122"/>
                  <a:cs typeface="Consolas" pitchFamily="49" charset="0"/>
                </a:rPr>
                <a:t>=5</a:t>
              </a:r>
              <a:endParaRPr lang="zh-CN" altLang="en-US" sz="2000" b="1" dirty="0">
                <a:solidFill>
                  <a:srgbClr val="3333FF"/>
                </a:solidFill>
                <a:latin typeface="Consolas" pitchFamily="49" charset="0"/>
                <a:ea typeface="仿宋" pitchFamily="49" charset="-122"/>
                <a:cs typeface="Consolas" pitchFamily="49" charset="0"/>
              </a:endParaRPr>
            </a:p>
          </p:txBody>
        </p:sp>
      </p:grpSp>
      <p:grpSp>
        <p:nvGrpSpPr>
          <p:cNvPr id="68" name="组合 49">
            <a:extLst>
              <a:ext uri="{FF2B5EF4-FFF2-40B4-BE49-F238E27FC236}">
                <a16:creationId xmlns:a16="http://schemas.microsoft.com/office/drawing/2014/main" id="{C8E44ABE-65D0-C5F5-CE8D-7C60F41F566E}"/>
              </a:ext>
            </a:extLst>
          </p:cNvPr>
          <p:cNvGrpSpPr/>
          <p:nvPr/>
        </p:nvGrpSpPr>
        <p:grpSpPr>
          <a:xfrm>
            <a:off x="8760541" y="4905349"/>
            <a:ext cx="3214710" cy="568609"/>
            <a:chOff x="3357554" y="1121411"/>
            <a:chExt cx="2500330" cy="568609"/>
          </a:xfrm>
        </p:grpSpPr>
        <p:pic>
          <p:nvPicPr>
            <p:cNvPr id="69" name="Picture 2">
              <a:extLst>
                <a:ext uri="{FF2B5EF4-FFF2-40B4-BE49-F238E27FC236}">
                  <a16:creationId xmlns:a16="http://schemas.microsoft.com/office/drawing/2014/main" id="{B45B24D2-C80C-3EBE-3910-02A0D5E00B8C}"/>
                </a:ext>
              </a:extLst>
            </p:cNvPr>
            <p:cNvPicPr>
              <a:picLocks noChangeAspect="1" noChangeArrowheads="1"/>
            </p:cNvPicPr>
            <p:nvPr/>
          </p:nvPicPr>
          <p:blipFill>
            <a:blip r:embed="rId2" cstate="print"/>
            <a:srcRect/>
            <a:stretch>
              <a:fillRect/>
            </a:stretch>
          </p:blipFill>
          <p:spPr bwMode="auto">
            <a:xfrm>
              <a:off x="4094169" y="1121411"/>
              <a:ext cx="985835" cy="568609"/>
            </a:xfrm>
            <a:prstGeom prst="rect">
              <a:avLst/>
            </a:prstGeom>
            <a:noFill/>
            <a:ln w="9525">
              <a:noFill/>
              <a:miter lim="800000"/>
              <a:headEnd/>
              <a:tailEnd/>
            </a:ln>
          </p:spPr>
        </p:pic>
        <p:sp>
          <p:nvSpPr>
            <p:cNvPr id="70" name="TextBox 52">
              <a:extLst>
                <a:ext uri="{FF2B5EF4-FFF2-40B4-BE49-F238E27FC236}">
                  <a16:creationId xmlns:a16="http://schemas.microsoft.com/office/drawing/2014/main" id="{72DA1925-A293-6EFC-391B-FC5992C2A1E3}"/>
                </a:ext>
              </a:extLst>
            </p:cNvPr>
            <p:cNvSpPr txBox="1"/>
            <p:nvPr/>
          </p:nvSpPr>
          <p:spPr>
            <a:xfrm>
              <a:off x="3357554" y="1202280"/>
              <a:ext cx="2500330" cy="400110"/>
            </a:xfrm>
            <a:prstGeom prst="rect">
              <a:avLst/>
            </a:prstGeom>
            <a:noFill/>
          </p:spPr>
          <p:txBody>
            <a:bodyPr wrap="square" rtlCol="0">
              <a:spAutoFit/>
            </a:bodyPr>
            <a:lstStyle/>
            <a:p>
              <a:pPr algn="l"/>
              <a:r>
                <a:rPr lang="en-US" altLang="zh-CN" sz="2000" b="1" i="1">
                  <a:solidFill>
                    <a:srgbClr val="3333FF"/>
                  </a:solidFill>
                  <a:latin typeface="Consolas" pitchFamily="49" charset="0"/>
                  <a:ea typeface="仿宋" pitchFamily="49" charset="-122"/>
                  <a:cs typeface="Consolas" pitchFamily="49" charset="0"/>
                </a:rPr>
                <a:t>n</a:t>
              </a:r>
              <a:r>
                <a:rPr lang="en-US" altLang="zh-CN" sz="2000" b="1">
                  <a:solidFill>
                    <a:srgbClr val="3333FF"/>
                  </a:solidFill>
                  <a:latin typeface="Consolas" pitchFamily="49" charset="0"/>
                  <a:ea typeface="仿宋" pitchFamily="49" charset="-122"/>
                  <a:cs typeface="Consolas" pitchFamily="49" charset="0"/>
                </a:rPr>
                <a:t>=4</a:t>
              </a:r>
              <a:r>
                <a:rPr lang="zh-CN" altLang="en-US" sz="2000" b="1">
                  <a:solidFill>
                    <a:srgbClr val="3333FF"/>
                  </a:solidFill>
                  <a:latin typeface="Consolas" pitchFamily="49" charset="0"/>
                  <a:ea typeface="仿宋" pitchFamily="49" charset="-122"/>
                  <a:cs typeface="Consolas" pitchFamily="49" charset="0"/>
                </a:rPr>
                <a:t>时，         </a:t>
              </a:r>
              <a:r>
                <a:rPr lang="en-US" altLang="zh-CN" sz="2000" b="1">
                  <a:solidFill>
                    <a:srgbClr val="3333FF"/>
                  </a:solidFill>
                  <a:latin typeface="Consolas" pitchFamily="49" charset="0"/>
                  <a:ea typeface="仿宋" pitchFamily="49" charset="-122"/>
                  <a:cs typeface="Consolas" pitchFamily="49" charset="0"/>
                </a:rPr>
                <a:t>= 14</a:t>
              </a:r>
              <a:endParaRPr lang="zh-CN" altLang="en-US" sz="2000" b="1" dirty="0">
                <a:solidFill>
                  <a:srgbClr val="3333FF"/>
                </a:solidFill>
                <a:latin typeface="Consolas" pitchFamily="49" charset="0"/>
                <a:ea typeface="仿宋" pitchFamily="49" charset="-122"/>
                <a:cs typeface="Consolas" pitchFamily="49" charset="0"/>
              </a:endParaRPr>
            </a:p>
          </p:txBody>
        </p:sp>
      </p:grpSp>
      <p:sp>
        <p:nvSpPr>
          <p:cNvPr id="71" name="TextBox 53">
            <a:extLst>
              <a:ext uri="{FF2B5EF4-FFF2-40B4-BE49-F238E27FC236}">
                <a16:creationId xmlns:a16="http://schemas.microsoft.com/office/drawing/2014/main" id="{90F3D404-8202-02EC-ECB4-5E592218963A}"/>
              </a:ext>
            </a:extLst>
          </p:cNvPr>
          <p:cNvSpPr txBox="1"/>
          <p:nvPr/>
        </p:nvSpPr>
        <p:spPr>
          <a:xfrm>
            <a:off x="8760541" y="5784178"/>
            <a:ext cx="1928826" cy="400110"/>
          </a:xfrm>
          <a:prstGeom prst="rect">
            <a:avLst/>
          </a:prstGeom>
          <a:noFill/>
        </p:spPr>
        <p:txBody>
          <a:bodyPr wrap="square" rtlCol="0">
            <a:spAutoFit/>
          </a:bodyPr>
          <a:lstStyle/>
          <a:p>
            <a:pPr algn="l"/>
            <a:r>
              <a:rPr lang="zh-CN" altLang="zh-CN" sz="2000" b="1">
                <a:solidFill>
                  <a:srgbClr val="0000FF"/>
                </a:solidFill>
                <a:latin typeface="Consolas" pitchFamily="49" charset="0"/>
                <a:ea typeface="楷体" pitchFamily="49" charset="-122"/>
                <a:cs typeface="Consolas" pitchFamily="49" charset="0"/>
              </a:rPr>
              <a:t>答案：</a:t>
            </a:r>
            <a:r>
              <a:rPr lang="en-US" altLang="zh-CN" sz="2000" b="1">
                <a:solidFill>
                  <a:srgbClr val="C00000"/>
                </a:solidFill>
                <a:latin typeface="Consolas" pitchFamily="49" charset="0"/>
                <a:ea typeface="楷体" pitchFamily="49" charset="-122"/>
                <a:cs typeface="Consolas" pitchFamily="49" charset="0"/>
              </a:rPr>
              <a:t>C</a:t>
            </a:r>
            <a:r>
              <a:rPr lang="zh-CN" altLang="zh-CN" sz="2000" b="1">
                <a:solidFill>
                  <a:srgbClr val="0000FF"/>
                </a:solidFill>
                <a:latin typeface="Consolas" pitchFamily="49" charset="0"/>
                <a:ea typeface="楷体" pitchFamily="49" charset="-122"/>
                <a:cs typeface="Consolas" pitchFamily="49" charset="0"/>
              </a:rPr>
              <a:t>。</a:t>
            </a:r>
          </a:p>
        </p:txBody>
      </p:sp>
    </p:spTree>
    <p:extLst>
      <p:ext uri="{BB962C8B-B14F-4D97-AF65-F5344CB8AC3E}">
        <p14:creationId xmlns:p14="http://schemas.microsoft.com/office/powerpoint/2010/main" val="352303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991D-A438-58E8-D517-DDC798D6040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3B5BC25-4096-1CC4-9A7B-DE4BAEF861DD}"/>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DAD21DEF-8527-A636-F2EC-226BE96DAE91}"/>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1B6FC451-6C48-DE89-C736-1072EAF81D87}"/>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BEE99E7F-307F-2D87-8C91-BDA2AADE134F}"/>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5" name="Text Box 46">
            <a:extLst>
              <a:ext uri="{FF2B5EF4-FFF2-40B4-BE49-F238E27FC236}">
                <a16:creationId xmlns:a16="http://schemas.microsoft.com/office/drawing/2014/main" id="{8897B11A-15E3-B37D-C559-E22E04F59CAD}"/>
              </a:ext>
            </a:extLst>
          </p:cNvPr>
          <p:cNvSpPr txBox="1">
            <a:spLocks noChangeArrowheads="1"/>
          </p:cNvSpPr>
          <p:nvPr/>
        </p:nvSpPr>
        <p:spPr bwMode="auto">
          <a:xfrm>
            <a:off x="1559496" y="2353173"/>
            <a:ext cx="9937104" cy="984858"/>
          </a:xfrm>
          <a:prstGeom prst="rect">
            <a:avLst/>
          </a:prstGeom>
          <a:ln>
            <a:solidFill>
              <a:schemeClr val="accent3">
                <a:lumMod val="40000"/>
                <a:lumOff val="60000"/>
              </a:schemeClr>
            </a:solid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just">
              <a:lnSpc>
                <a:spcPts val="2800"/>
              </a:lnSpc>
              <a:spcBef>
                <a:spcPts val="600"/>
              </a:spcBef>
              <a:buBlip>
                <a:blip r:embed="rId2"/>
              </a:buBlip>
            </a:pPr>
            <a:r>
              <a:rPr lang="zh-CN" altLang="en-US" sz="2000" b="1" dirty="0">
                <a:solidFill>
                  <a:srgbClr val="3333FF"/>
                </a:solidFill>
                <a:latin typeface="Consolas" pitchFamily="49" charset="0"/>
                <a:ea typeface="楷体" pitchFamily="49" charset="-122"/>
                <a:cs typeface="Consolas" pitchFamily="49" charset="0"/>
              </a:rPr>
              <a:t>二叉排序树可看做是一个有序表（中序序列是递增有序序列）。</a:t>
            </a:r>
            <a:endParaRPr lang="en-US" altLang="zh-CN" sz="2000" b="1" dirty="0">
              <a:solidFill>
                <a:srgbClr val="3333FF"/>
              </a:solidFill>
              <a:latin typeface="Consolas" pitchFamily="49" charset="0"/>
              <a:ea typeface="楷体" pitchFamily="49" charset="-122"/>
              <a:cs typeface="Consolas" pitchFamily="49" charset="0"/>
            </a:endParaRPr>
          </a:p>
          <a:p>
            <a:pPr marL="457200" indent="-457200" algn="just">
              <a:lnSpc>
                <a:spcPts val="2800"/>
              </a:lnSpc>
              <a:spcBef>
                <a:spcPts val="600"/>
              </a:spcBef>
              <a:buBlip>
                <a:blip r:embed="rId2"/>
              </a:buBlip>
            </a:pPr>
            <a:r>
              <a:rPr lang="zh-CN" altLang="en-US" sz="2000" b="1" dirty="0">
                <a:solidFill>
                  <a:srgbClr val="3333FF"/>
                </a:solidFill>
                <a:latin typeface="Consolas" pitchFamily="49" charset="0"/>
                <a:ea typeface="楷体" pitchFamily="49" charset="-122"/>
                <a:cs typeface="Consolas" pitchFamily="49" charset="0"/>
              </a:rPr>
              <a:t>在二叉排序树上进行查找，和二分查找类似，也是一个逐步缩小查找范围的过程。</a:t>
            </a:r>
            <a:endParaRPr lang="zh-CN" altLang="en-US" sz="2000" b="1" dirty="0">
              <a:solidFill>
                <a:schemeClr val="tx2"/>
              </a:solidFill>
              <a:latin typeface="Consolas" pitchFamily="49" charset="0"/>
              <a:ea typeface="楷体" pitchFamily="49" charset="-122"/>
              <a:cs typeface="Consolas" pitchFamily="49" charset="0"/>
            </a:endParaRPr>
          </a:p>
        </p:txBody>
      </p:sp>
      <p:sp>
        <p:nvSpPr>
          <p:cNvPr id="8" name="TextBox 26">
            <a:extLst>
              <a:ext uri="{FF2B5EF4-FFF2-40B4-BE49-F238E27FC236}">
                <a16:creationId xmlns:a16="http://schemas.microsoft.com/office/drawing/2014/main" id="{2B845C7F-ABDC-98A8-9AF4-90F7256B45C0}"/>
              </a:ext>
            </a:extLst>
          </p:cNvPr>
          <p:cNvSpPr txBox="1"/>
          <p:nvPr/>
        </p:nvSpPr>
        <p:spPr>
          <a:xfrm>
            <a:off x="3145121" y="6291413"/>
            <a:ext cx="4714908" cy="400110"/>
          </a:xfrm>
          <a:prstGeom prst="rect">
            <a:avLst/>
          </a:prstGeom>
          <a:noFill/>
        </p:spPr>
        <p:txBody>
          <a:bodyPr wrap="square" rtlCol="0">
            <a:spAutoFit/>
          </a:bodyPr>
          <a:lstStyle/>
          <a:p>
            <a:pPr algn="l"/>
            <a:r>
              <a:rPr lang="zh-CN" altLang="en-US" sz="2000" b="1" dirty="0">
                <a:solidFill>
                  <a:srgbClr val="3333FF"/>
                </a:solidFill>
                <a:latin typeface="仿宋" pitchFamily="49" charset="-122"/>
                <a:ea typeface="仿宋" pitchFamily="49" charset="-122"/>
                <a:cs typeface="Consolas" pitchFamily="49" charset="0"/>
              </a:rPr>
              <a:t>每一层只和一个结点进行关键字比较！</a:t>
            </a:r>
          </a:p>
        </p:txBody>
      </p:sp>
      <p:grpSp>
        <p:nvGrpSpPr>
          <p:cNvPr id="9" name="组合 18">
            <a:extLst>
              <a:ext uri="{FF2B5EF4-FFF2-40B4-BE49-F238E27FC236}">
                <a16:creationId xmlns:a16="http://schemas.microsoft.com/office/drawing/2014/main" id="{528D97EB-2294-3169-46A8-F6DE2482873D}"/>
              </a:ext>
            </a:extLst>
          </p:cNvPr>
          <p:cNvGrpSpPr/>
          <p:nvPr/>
        </p:nvGrpSpPr>
        <p:grpSpPr>
          <a:xfrm>
            <a:off x="3287688" y="3499503"/>
            <a:ext cx="3984839" cy="2581180"/>
            <a:chOff x="2143108" y="2721472"/>
            <a:chExt cx="4071934" cy="2667132"/>
          </a:xfrm>
        </p:grpSpPr>
        <p:sp>
          <p:nvSpPr>
            <p:cNvPr id="10" name="椭圆 9">
              <a:extLst>
                <a:ext uri="{FF2B5EF4-FFF2-40B4-BE49-F238E27FC236}">
                  <a16:creationId xmlns:a16="http://schemas.microsoft.com/office/drawing/2014/main" id="{FB402F93-0BDD-2E8F-96BA-77F97C3F9212}"/>
                </a:ext>
              </a:extLst>
            </p:cNvPr>
            <p:cNvSpPr/>
            <p:nvPr/>
          </p:nvSpPr>
          <p:spPr>
            <a:xfrm>
              <a:off x="3817904" y="3174026"/>
              <a:ext cx="611188" cy="528584"/>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i="1" dirty="0">
                  <a:solidFill>
                    <a:srgbClr val="3333FF"/>
                  </a:solidFill>
                  <a:latin typeface="Consolas" pitchFamily="49" charset="0"/>
                  <a:cs typeface="Consolas" pitchFamily="49" charset="0"/>
                </a:rPr>
                <a:t>N</a:t>
              </a:r>
              <a:endParaRPr lang="zh-CN" altLang="en-US" sz="2000" b="1" i="1" dirty="0">
                <a:solidFill>
                  <a:srgbClr val="3333FF"/>
                </a:solidFill>
                <a:latin typeface="Consolas" pitchFamily="49" charset="0"/>
                <a:cs typeface="Consolas" pitchFamily="49" charset="0"/>
              </a:endParaRPr>
            </a:p>
          </p:txBody>
        </p:sp>
        <p:sp>
          <p:nvSpPr>
            <p:cNvPr id="11" name="等腰三角形 10">
              <a:extLst>
                <a:ext uri="{FF2B5EF4-FFF2-40B4-BE49-F238E27FC236}">
                  <a16:creationId xmlns:a16="http://schemas.microsoft.com/office/drawing/2014/main" id="{4932C0B7-E854-FED1-D7F6-F35803D50E03}"/>
                </a:ext>
              </a:extLst>
            </p:cNvPr>
            <p:cNvSpPr/>
            <p:nvPr/>
          </p:nvSpPr>
          <p:spPr>
            <a:xfrm>
              <a:off x="2357422" y="4174158"/>
              <a:ext cx="1428760" cy="1214446"/>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000" b="1" i="1">
                <a:solidFill>
                  <a:srgbClr val="3333FF"/>
                </a:solidFill>
                <a:latin typeface="Consolas" pitchFamily="49" charset="0"/>
                <a:cs typeface="Consolas" pitchFamily="49" charset="0"/>
              </a:endParaRPr>
            </a:p>
          </p:txBody>
        </p:sp>
        <p:cxnSp>
          <p:nvCxnSpPr>
            <p:cNvPr id="12" name="直接箭头连接符 11">
              <a:extLst>
                <a:ext uri="{FF2B5EF4-FFF2-40B4-BE49-F238E27FC236}">
                  <a16:creationId xmlns:a16="http://schemas.microsoft.com/office/drawing/2014/main" id="{98BE33BE-9EF2-1396-B945-3ACC6BD0EE8D}"/>
                </a:ext>
              </a:extLst>
            </p:cNvPr>
            <p:cNvCxnSpPr/>
            <p:nvPr/>
          </p:nvCxnSpPr>
          <p:spPr>
            <a:xfrm rot="5400000">
              <a:off x="3143240" y="3579935"/>
              <a:ext cx="737099" cy="73709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等腰三角形 12">
              <a:extLst>
                <a:ext uri="{FF2B5EF4-FFF2-40B4-BE49-F238E27FC236}">
                  <a16:creationId xmlns:a16="http://schemas.microsoft.com/office/drawing/2014/main" id="{D15E1FBE-E94B-0607-CB0C-8086364263D2}"/>
                </a:ext>
              </a:extLst>
            </p:cNvPr>
            <p:cNvSpPr/>
            <p:nvPr/>
          </p:nvSpPr>
          <p:spPr>
            <a:xfrm>
              <a:off x="4572000" y="4174158"/>
              <a:ext cx="1428760" cy="1214446"/>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000" b="1" i="1">
                <a:solidFill>
                  <a:srgbClr val="3333FF"/>
                </a:solidFill>
                <a:latin typeface="Consolas" pitchFamily="49" charset="0"/>
                <a:cs typeface="Consolas" pitchFamily="49" charset="0"/>
              </a:endParaRPr>
            </a:p>
          </p:txBody>
        </p:sp>
        <p:cxnSp>
          <p:nvCxnSpPr>
            <p:cNvPr id="14" name="直接箭头连接符 13">
              <a:extLst>
                <a:ext uri="{FF2B5EF4-FFF2-40B4-BE49-F238E27FC236}">
                  <a16:creationId xmlns:a16="http://schemas.microsoft.com/office/drawing/2014/main" id="{4EA6716D-8888-F141-E9C0-EDCF4D66C718}"/>
                </a:ext>
              </a:extLst>
            </p:cNvPr>
            <p:cNvCxnSpPr/>
            <p:nvPr/>
          </p:nvCxnSpPr>
          <p:spPr>
            <a:xfrm rot="16200000" flipH="1">
              <a:off x="4442124" y="3544216"/>
              <a:ext cx="737099" cy="8085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0">
              <a:extLst>
                <a:ext uri="{FF2B5EF4-FFF2-40B4-BE49-F238E27FC236}">
                  <a16:creationId xmlns:a16="http://schemas.microsoft.com/office/drawing/2014/main" id="{77F0D4AE-286A-0A8A-534B-4395A12E65BF}"/>
                </a:ext>
              </a:extLst>
            </p:cNvPr>
            <p:cNvSpPr txBox="1"/>
            <p:nvPr/>
          </p:nvSpPr>
          <p:spPr>
            <a:xfrm>
              <a:off x="2143108" y="3531216"/>
              <a:ext cx="1643042" cy="369332"/>
            </a:xfrm>
            <a:prstGeom prst="rect">
              <a:avLst/>
            </a:prstGeom>
            <a:noFill/>
          </p:spPr>
          <p:txBody>
            <a:bodyPr wrap="square" rtlCol="0">
              <a:spAutoFit/>
            </a:bodyPr>
            <a:lstStyle/>
            <a:p>
              <a:pPr algn="l"/>
              <a:r>
                <a:rPr lang="en-US" altLang="zh-CN" sz="1800" b="1" i="1">
                  <a:solidFill>
                    <a:srgbClr val="3333FF"/>
                  </a:solidFill>
                  <a:latin typeface="Consolas" pitchFamily="49" charset="0"/>
                  <a:cs typeface="Consolas" pitchFamily="49" charset="0"/>
                </a:rPr>
                <a:t>k</a:t>
              </a:r>
              <a:r>
                <a:rPr lang="en-US" altLang="zh-CN" sz="1800" b="1">
                  <a:solidFill>
                    <a:srgbClr val="3333FF"/>
                  </a:solidFill>
                  <a:latin typeface="Consolas" pitchFamily="49" charset="0"/>
                  <a:cs typeface="Consolas" pitchFamily="49" charset="0"/>
                </a:rPr>
                <a:t>&lt;bt-</a:t>
              </a:r>
              <a:r>
                <a:rPr lang="en-US" altLang="zh-CN" sz="1800" b="1" dirty="0">
                  <a:solidFill>
                    <a:srgbClr val="3333FF"/>
                  </a:solidFill>
                  <a:latin typeface="Consolas" pitchFamily="49" charset="0"/>
                  <a:cs typeface="Consolas" pitchFamily="49" charset="0"/>
                </a:rPr>
                <a:t>&gt;key</a:t>
              </a:r>
              <a:endParaRPr lang="zh-CN" altLang="en-US" sz="1800" b="1" dirty="0">
                <a:solidFill>
                  <a:srgbClr val="3333FF"/>
                </a:solidFill>
                <a:latin typeface="Consolas" pitchFamily="49" charset="0"/>
                <a:cs typeface="Consolas" pitchFamily="49" charset="0"/>
              </a:endParaRPr>
            </a:p>
          </p:txBody>
        </p:sp>
        <p:sp>
          <p:nvSpPr>
            <p:cNvPr id="16" name="TextBox 12">
              <a:extLst>
                <a:ext uri="{FF2B5EF4-FFF2-40B4-BE49-F238E27FC236}">
                  <a16:creationId xmlns:a16="http://schemas.microsoft.com/office/drawing/2014/main" id="{A2BCFE53-41DE-2684-9F9C-33F6C8C71171}"/>
                </a:ext>
              </a:extLst>
            </p:cNvPr>
            <p:cNvSpPr txBox="1"/>
            <p:nvPr/>
          </p:nvSpPr>
          <p:spPr>
            <a:xfrm>
              <a:off x="3277646" y="2721472"/>
              <a:ext cx="571504" cy="400110"/>
            </a:xfrm>
            <a:prstGeom prst="rect">
              <a:avLst/>
            </a:prstGeom>
            <a:noFill/>
          </p:spPr>
          <p:txBody>
            <a:bodyPr wrap="square" rtlCol="0">
              <a:spAutoFit/>
            </a:bodyPr>
            <a:lstStyle/>
            <a:p>
              <a:r>
                <a:rPr lang="en-US" altLang="zh-CN" sz="2000" dirty="0" err="1">
                  <a:solidFill>
                    <a:srgbClr val="3333FF"/>
                  </a:solidFill>
                  <a:latin typeface="Consolas" pitchFamily="49" charset="0"/>
                  <a:cs typeface="Consolas" pitchFamily="49" charset="0"/>
                </a:rPr>
                <a:t>bt</a:t>
              </a:r>
              <a:endParaRPr lang="zh-CN" altLang="en-US" sz="2000" dirty="0">
                <a:solidFill>
                  <a:srgbClr val="3333FF"/>
                </a:solidFill>
                <a:latin typeface="Consolas" pitchFamily="49" charset="0"/>
                <a:cs typeface="Consolas" pitchFamily="49" charset="0"/>
              </a:endParaRPr>
            </a:p>
          </p:txBody>
        </p:sp>
        <p:sp>
          <p:nvSpPr>
            <p:cNvPr id="17" name="TextBox 13">
              <a:extLst>
                <a:ext uri="{FF2B5EF4-FFF2-40B4-BE49-F238E27FC236}">
                  <a16:creationId xmlns:a16="http://schemas.microsoft.com/office/drawing/2014/main" id="{A729E801-EF5E-180A-1A5E-148460116744}"/>
                </a:ext>
              </a:extLst>
            </p:cNvPr>
            <p:cNvSpPr txBox="1"/>
            <p:nvPr/>
          </p:nvSpPr>
          <p:spPr>
            <a:xfrm>
              <a:off x="4857752" y="3602654"/>
              <a:ext cx="1357290" cy="369332"/>
            </a:xfrm>
            <a:prstGeom prst="rect">
              <a:avLst/>
            </a:prstGeom>
            <a:noFill/>
          </p:spPr>
          <p:txBody>
            <a:bodyPr wrap="square" rtlCol="0">
              <a:spAutoFit/>
            </a:bodyPr>
            <a:lstStyle/>
            <a:p>
              <a:r>
                <a:rPr lang="en-US" altLang="zh-CN" sz="1800" b="1" i="1">
                  <a:solidFill>
                    <a:srgbClr val="3333FF"/>
                  </a:solidFill>
                  <a:latin typeface="Consolas" pitchFamily="49" charset="0"/>
                  <a:cs typeface="Consolas" pitchFamily="49" charset="0"/>
                </a:rPr>
                <a:t>k</a:t>
              </a:r>
              <a:r>
                <a:rPr lang="en-US" altLang="zh-CN" sz="1800" b="1">
                  <a:solidFill>
                    <a:srgbClr val="3333FF"/>
                  </a:solidFill>
                  <a:latin typeface="Consolas" pitchFamily="49" charset="0"/>
                  <a:cs typeface="Consolas" pitchFamily="49" charset="0"/>
                </a:rPr>
                <a:t>&gt;bt-</a:t>
              </a:r>
              <a:r>
                <a:rPr lang="en-US" altLang="zh-CN" sz="1800" b="1" dirty="0">
                  <a:solidFill>
                    <a:srgbClr val="3333FF"/>
                  </a:solidFill>
                  <a:latin typeface="Consolas" pitchFamily="49" charset="0"/>
                  <a:cs typeface="Consolas" pitchFamily="49" charset="0"/>
                </a:rPr>
                <a:t>&gt;key</a:t>
              </a:r>
              <a:endParaRPr lang="zh-CN" altLang="en-US" sz="1800" b="1" dirty="0">
                <a:solidFill>
                  <a:srgbClr val="3333FF"/>
                </a:solidFill>
                <a:latin typeface="Consolas" pitchFamily="49" charset="0"/>
                <a:cs typeface="Consolas" pitchFamily="49" charset="0"/>
              </a:endParaRPr>
            </a:p>
          </p:txBody>
        </p:sp>
        <p:cxnSp>
          <p:nvCxnSpPr>
            <p:cNvPr id="18" name="直接箭头连接符 17">
              <a:extLst>
                <a:ext uri="{FF2B5EF4-FFF2-40B4-BE49-F238E27FC236}">
                  <a16:creationId xmlns:a16="http://schemas.microsoft.com/office/drawing/2014/main" id="{8BC84BA4-6E76-09AF-2F40-71860C7B9E91}"/>
                </a:ext>
              </a:extLst>
            </p:cNvPr>
            <p:cNvCxnSpPr>
              <a:endCxn id="10" idx="1"/>
            </p:cNvCxnSpPr>
            <p:nvPr/>
          </p:nvCxnSpPr>
          <p:spPr>
            <a:xfrm rot="16200000" flipH="1">
              <a:off x="3643739" y="2987764"/>
              <a:ext cx="334644" cy="192698"/>
            </a:xfrm>
            <a:prstGeom prst="straightConnector1">
              <a:avLst/>
            </a:prstGeom>
            <a:ln>
              <a:solidFill>
                <a:schemeClr val="tx1"/>
              </a:solidFill>
              <a:tailEnd type="arrow"/>
            </a:ln>
          </p:spPr>
          <p:style>
            <a:lnRef idx="2">
              <a:schemeClr val="accent5"/>
            </a:lnRef>
            <a:fillRef idx="0">
              <a:schemeClr val="accent5"/>
            </a:fillRef>
            <a:effectRef idx="1">
              <a:schemeClr val="accent5"/>
            </a:effectRef>
            <a:fontRef idx="minor">
              <a:schemeClr val="tx1"/>
            </a:fontRef>
          </p:style>
        </p:cxnSp>
      </p:grpSp>
    </p:spTree>
    <p:extLst>
      <p:ext uri="{BB962C8B-B14F-4D97-AF65-F5344CB8AC3E}">
        <p14:creationId xmlns:p14="http://schemas.microsoft.com/office/powerpoint/2010/main" val="30930899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20A9-CC3B-F914-D23E-DA0A57D6D1A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94B05FA-F28E-1307-933F-F78B8B0A0E3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0ADCF1FD-1394-10E1-B94C-0C1673634EDF}"/>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663FA3E2-6D16-B18E-F4EC-1B0A89F8ED7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E8DDAE53-0834-472D-8F5C-5C171E579143}"/>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9" name="Text Box 2">
            <a:extLst>
              <a:ext uri="{FF2B5EF4-FFF2-40B4-BE49-F238E27FC236}">
                <a16:creationId xmlns:a16="http://schemas.microsoft.com/office/drawing/2014/main" id="{F7114B25-1AF3-6CFE-734E-0BB11E0596FB}"/>
              </a:ext>
            </a:extLst>
          </p:cNvPr>
          <p:cNvSpPr txBox="1">
            <a:spLocks noChangeArrowheads="1"/>
          </p:cNvSpPr>
          <p:nvPr/>
        </p:nvSpPr>
        <p:spPr bwMode="auto">
          <a:xfrm>
            <a:off x="1631504" y="3150329"/>
            <a:ext cx="8143931" cy="3161205"/>
          </a:xfrm>
          <a:prstGeom prst="rect">
            <a:avLst/>
          </a:prstGeom>
          <a:solidFill>
            <a:schemeClr val="bg1"/>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216000" tIns="180000" rIns="144000" bIns="180000">
            <a:spAutoFit/>
          </a:bodyPr>
          <a:lstStyle/>
          <a:p>
            <a:pPr algn="just">
              <a:spcBef>
                <a:spcPct val="50000"/>
              </a:spcBef>
            </a:pPr>
            <a:r>
              <a:rPr lang="en-US" altLang="zh-CN" sz="1800" b="1" dirty="0" err="1">
                <a:solidFill>
                  <a:srgbClr val="3333FF"/>
                </a:solidFill>
                <a:latin typeface="Consolas" pitchFamily="49" charset="0"/>
                <a:ea typeface="仿宋" pitchFamily="49" charset="-122"/>
                <a:cs typeface="Consolas" pitchFamily="49" charset="0"/>
              </a:rPr>
              <a:t>BSTNode</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err="1">
                <a:solidFill>
                  <a:srgbClr val="FF0000"/>
                </a:solidFill>
                <a:latin typeface="Consolas" pitchFamily="49" charset="0"/>
                <a:ea typeface="仿宋" pitchFamily="49" charset="-122"/>
                <a:cs typeface="Consolas" pitchFamily="49" charset="0"/>
              </a:rPr>
              <a:t>SearchBST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3333FF"/>
                </a:solidFill>
                <a:latin typeface="Consolas" pitchFamily="49" charset="0"/>
                <a:ea typeface="仿宋" pitchFamily="49" charset="-122"/>
                <a:cs typeface="Consolas" pitchFamily="49" charset="0"/>
              </a:rPr>
              <a:t>BSTNode</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*bt</a:t>
            </a:r>
            <a:r>
              <a:rPr lang="zh-CN" altLang="en-US" sz="1800" b="1">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KeyType </a:t>
            </a:r>
            <a:r>
              <a:rPr lang="en-US" altLang="zh-CN" sz="1800" b="1" dirty="0">
                <a:solidFill>
                  <a:srgbClr val="3333FF"/>
                </a:solidFill>
                <a:latin typeface="Consolas" pitchFamily="49" charset="0"/>
                <a:ea typeface="仿宋" pitchFamily="49" charset="-122"/>
                <a:cs typeface="Consolas" pitchFamily="49" charset="0"/>
              </a:rPr>
              <a:t>k)</a:t>
            </a:r>
          </a:p>
          <a:p>
            <a:pPr algn="just">
              <a:lnSpc>
                <a:spcPct val="80000"/>
              </a:lnSpc>
              <a:spcBef>
                <a:spcPct val="50000"/>
              </a:spcBef>
            </a:pPr>
            <a:r>
              <a:rPr lang="en-US" altLang="zh-CN" sz="1800" b="1">
                <a:solidFill>
                  <a:srgbClr val="3333FF"/>
                </a:solidFill>
                <a:latin typeface="Consolas" pitchFamily="49" charset="0"/>
                <a:ea typeface="仿宋" pitchFamily="49" charset="-122"/>
                <a:cs typeface="Consolas" pitchFamily="49" charset="0"/>
              </a:rPr>
              <a:t>{   if </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FF00FF"/>
                </a:solidFill>
                <a:latin typeface="Consolas" pitchFamily="49" charset="0"/>
                <a:ea typeface="仿宋" pitchFamily="49" charset="-122"/>
                <a:cs typeface="Consolas" pitchFamily="49" charset="0"/>
              </a:rPr>
              <a:t>bt</a:t>
            </a:r>
            <a:r>
              <a:rPr lang="en-US" altLang="zh-CN" sz="1800" b="1" dirty="0">
                <a:solidFill>
                  <a:srgbClr val="FF00FF"/>
                </a:solidFill>
                <a:latin typeface="Consolas" pitchFamily="49" charset="0"/>
                <a:ea typeface="仿宋" pitchFamily="49" charset="-122"/>
                <a:cs typeface="Consolas" pitchFamily="49" charset="0"/>
              </a:rPr>
              <a:t>==NULL || </a:t>
            </a:r>
            <a:r>
              <a:rPr lang="en-US" altLang="zh-CN" sz="1800" b="1" dirty="0" err="1">
                <a:solidFill>
                  <a:srgbClr val="FF00FF"/>
                </a:solidFill>
                <a:latin typeface="Consolas" pitchFamily="49" charset="0"/>
                <a:ea typeface="仿宋" pitchFamily="49" charset="-122"/>
                <a:cs typeface="Consolas" pitchFamily="49" charset="0"/>
              </a:rPr>
              <a:t>bt</a:t>
            </a:r>
            <a:r>
              <a:rPr lang="en-US" altLang="zh-CN" sz="1800" b="1" dirty="0">
                <a:solidFill>
                  <a:srgbClr val="FF00FF"/>
                </a:solidFill>
                <a:latin typeface="Consolas" pitchFamily="49" charset="0"/>
                <a:ea typeface="仿宋" pitchFamily="49" charset="-122"/>
                <a:cs typeface="Consolas" pitchFamily="49" charset="0"/>
              </a:rPr>
              <a:t>-&gt;key==k</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     </a:t>
            </a:r>
            <a:r>
              <a:rPr lang="en-US" altLang="zh-CN" sz="1800" b="1">
                <a:solidFill>
                  <a:srgbClr val="00B0F0"/>
                </a:solidFill>
                <a:latin typeface="Consolas" pitchFamily="49" charset="0"/>
                <a:ea typeface="仿宋" pitchFamily="49" charset="-122"/>
                <a:cs typeface="Consolas" pitchFamily="49" charset="0"/>
              </a:rPr>
              <a:t>//</a:t>
            </a:r>
            <a:r>
              <a:rPr lang="zh-CN" altLang="en-US" sz="1800" b="1" dirty="0">
                <a:solidFill>
                  <a:srgbClr val="00B0F0"/>
                </a:solidFill>
                <a:latin typeface="Consolas" pitchFamily="49" charset="0"/>
                <a:ea typeface="仿宋" pitchFamily="49" charset="-122"/>
                <a:cs typeface="Consolas" pitchFamily="49" charset="0"/>
              </a:rPr>
              <a:t>递归出口</a:t>
            </a:r>
          </a:p>
          <a:p>
            <a:pPr algn="just">
              <a:lnSpc>
                <a:spcPct val="80000"/>
              </a:lnSpc>
              <a:spcBef>
                <a:spcPct val="50000"/>
              </a:spcBef>
            </a:pPr>
            <a:r>
              <a:rPr lang="zh-CN" altLang="en-US" sz="1800" b="1">
                <a:solidFill>
                  <a:srgbClr val="3333FF"/>
                </a:solidFill>
                <a:latin typeface="Consolas" pitchFamily="49" charset="0"/>
                <a:ea typeface="仿宋" pitchFamily="49" charset="-122"/>
                <a:cs typeface="Consolas" pitchFamily="49" charset="0"/>
              </a:rPr>
              <a:t>        </a:t>
            </a:r>
            <a:r>
              <a:rPr lang="en-US" altLang="zh-CN" sz="1800" b="1" dirty="0">
                <a:solidFill>
                  <a:srgbClr val="3333FF"/>
                </a:solidFill>
                <a:latin typeface="Consolas" pitchFamily="49" charset="0"/>
                <a:ea typeface="仿宋" pitchFamily="49" charset="-122"/>
                <a:cs typeface="Consolas" pitchFamily="49" charset="0"/>
              </a:rPr>
              <a:t>return </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a:t>
            </a:r>
          </a:p>
          <a:p>
            <a:pPr algn="just">
              <a:lnSpc>
                <a:spcPct val="80000"/>
              </a:lnSpc>
              <a:spcBef>
                <a:spcPct val="50000"/>
              </a:spcBef>
            </a:pPr>
            <a:r>
              <a:rPr lang="en-US" altLang="zh-CN" sz="1800" b="1">
                <a:solidFill>
                  <a:srgbClr val="3333FF"/>
                </a:solidFill>
                <a:latin typeface="Consolas" pitchFamily="49" charset="0"/>
                <a:ea typeface="仿宋" pitchFamily="49" charset="-122"/>
                <a:cs typeface="Consolas" pitchFamily="49" charset="0"/>
              </a:rPr>
              <a:t>    if </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a:solidFill>
                  <a:srgbClr val="FF00FF"/>
                </a:solidFill>
                <a:latin typeface="Consolas" pitchFamily="49" charset="0"/>
                <a:ea typeface="仿宋" pitchFamily="49" charset="-122"/>
                <a:cs typeface="Consolas" pitchFamily="49" charset="0"/>
              </a:rPr>
              <a:t>k&lt;</a:t>
            </a:r>
            <a:r>
              <a:rPr lang="en-US" altLang="zh-CN" sz="1800" b="1" dirty="0" err="1">
                <a:solidFill>
                  <a:srgbClr val="FF00FF"/>
                </a:solidFill>
                <a:latin typeface="Consolas" pitchFamily="49" charset="0"/>
                <a:ea typeface="仿宋" pitchFamily="49" charset="-122"/>
                <a:cs typeface="Consolas" pitchFamily="49" charset="0"/>
              </a:rPr>
              <a:t>bt</a:t>
            </a:r>
            <a:r>
              <a:rPr lang="en-US" altLang="zh-CN" sz="1800" b="1" dirty="0">
                <a:solidFill>
                  <a:srgbClr val="FF00FF"/>
                </a:solidFill>
                <a:latin typeface="Consolas" pitchFamily="49" charset="0"/>
                <a:ea typeface="仿宋" pitchFamily="49" charset="-122"/>
                <a:cs typeface="Consolas" pitchFamily="49" charset="0"/>
              </a:rPr>
              <a:t>-&gt;key</a:t>
            </a:r>
            <a:r>
              <a:rPr lang="en-US" altLang="zh-CN" sz="1800" b="1" dirty="0">
                <a:solidFill>
                  <a:srgbClr val="3333FF"/>
                </a:solidFill>
                <a:latin typeface="Consolas" pitchFamily="49" charset="0"/>
                <a:ea typeface="仿宋" pitchFamily="49" charset="-122"/>
                <a:cs typeface="Consolas" pitchFamily="49" charset="0"/>
              </a:rPr>
              <a:t>)</a:t>
            </a:r>
          </a:p>
          <a:p>
            <a:pPr algn="just">
              <a:lnSpc>
                <a:spcPct val="80000"/>
              </a:lnSpc>
              <a:spcBef>
                <a:spcPct val="50000"/>
              </a:spcBef>
            </a:pPr>
            <a:r>
              <a:rPr lang="en-US" altLang="zh-CN" sz="1800" b="1" dirty="0">
                <a:solidFill>
                  <a:srgbClr val="3333FF"/>
                </a:solidFill>
                <a:latin typeface="Consolas" pitchFamily="49" charset="0"/>
                <a:ea typeface="仿宋" pitchFamily="49" charset="-122"/>
                <a:cs typeface="Consolas" pitchFamily="49" charset="0"/>
              </a:rPr>
              <a:t>    </a:t>
            </a:r>
            <a:r>
              <a:rPr lang="zh-CN" altLang="en-US" sz="1800" b="1" dirty="0">
                <a:solidFill>
                  <a:srgbClr val="3333FF"/>
                </a:solidFill>
                <a:latin typeface="Consolas" pitchFamily="49" charset="0"/>
                <a:ea typeface="仿宋" pitchFamily="49" charset="-122"/>
                <a:cs typeface="Consolas" pitchFamily="49" charset="0"/>
              </a:rPr>
              <a:t>　</a:t>
            </a:r>
            <a:r>
              <a:rPr lang="zh-CN" altLang="en-US" sz="1800" b="1">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return </a:t>
            </a:r>
            <a:r>
              <a:rPr lang="en-US" altLang="zh-CN" sz="1800" b="1" dirty="0" err="1">
                <a:solidFill>
                  <a:srgbClr val="FF0000"/>
                </a:solidFill>
                <a:latin typeface="Consolas" pitchFamily="49" charset="0"/>
                <a:ea typeface="仿宋" pitchFamily="49" charset="-122"/>
                <a:cs typeface="Consolas" pitchFamily="49" charset="0"/>
              </a:rPr>
              <a:t>SearchBST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&gt;lchild</a:t>
            </a:r>
            <a:r>
              <a:rPr lang="zh-CN" altLang="en-US" sz="1800" b="1">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k</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a:solidFill>
                  <a:srgbClr val="00B0F0"/>
                </a:solidFill>
                <a:latin typeface="Consolas" pitchFamily="49" charset="0"/>
                <a:ea typeface="仿宋" pitchFamily="49" charset="-122"/>
                <a:cs typeface="Consolas" pitchFamily="49" charset="0"/>
              </a:rPr>
              <a:t> //</a:t>
            </a:r>
            <a:r>
              <a:rPr lang="zh-CN" altLang="en-US" sz="1800" b="1" dirty="0">
                <a:solidFill>
                  <a:srgbClr val="00B0F0"/>
                </a:solidFill>
                <a:latin typeface="Consolas" pitchFamily="49" charset="0"/>
                <a:ea typeface="仿宋" pitchFamily="49" charset="-122"/>
                <a:cs typeface="Consolas" pitchFamily="49" charset="0"/>
              </a:rPr>
              <a:t>在左子树中递归查找</a:t>
            </a:r>
          </a:p>
          <a:p>
            <a:pPr algn="just">
              <a:lnSpc>
                <a:spcPct val="80000"/>
              </a:lnSpc>
              <a:spcBef>
                <a:spcPct val="50000"/>
              </a:spcBef>
            </a:pPr>
            <a:r>
              <a:rPr lang="zh-CN" altLang="en-US" sz="1800" b="1">
                <a:solidFill>
                  <a:srgbClr val="3333FF"/>
                </a:solidFill>
                <a:latin typeface="Consolas" pitchFamily="49" charset="0"/>
                <a:ea typeface="仿宋" pitchFamily="49" charset="-122"/>
                <a:cs typeface="Consolas" pitchFamily="49" charset="0"/>
              </a:rPr>
              <a:t>    </a:t>
            </a:r>
            <a:r>
              <a:rPr lang="en-US" altLang="zh-CN" sz="1800" b="1">
                <a:solidFill>
                  <a:srgbClr val="3333FF"/>
                </a:solidFill>
                <a:latin typeface="Consolas" pitchFamily="49" charset="0"/>
                <a:ea typeface="仿宋" pitchFamily="49" charset="-122"/>
                <a:cs typeface="Consolas" pitchFamily="49" charset="0"/>
              </a:rPr>
              <a:t>else</a:t>
            </a:r>
            <a:endParaRPr lang="en-US" altLang="zh-CN" sz="1800" b="1" dirty="0">
              <a:solidFill>
                <a:srgbClr val="3333FF"/>
              </a:solidFill>
              <a:latin typeface="Consolas" pitchFamily="49" charset="0"/>
              <a:ea typeface="仿宋" pitchFamily="49" charset="-122"/>
              <a:cs typeface="Consolas" pitchFamily="49" charset="0"/>
            </a:endParaRPr>
          </a:p>
          <a:p>
            <a:pPr algn="just">
              <a:lnSpc>
                <a:spcPct val="80000"/>
              </a:lnSpc>
              <a:spcBef>
                <a:spcPct val="50000"/>
              </a:spcBef>
            </a:pPr>
            <a:r>
              <a:rPr lang="en-US" altLang="zh-CN" sz="1800" b="1">
                <a:solidFill>
                  <a:srgbClr val="3333FF"/>
                </a:solidFill>
                <a:latin typeface="Consolas" pitchFamily="49" charset="0"/>
                <a:ea typeface="仿宋" pitchFamily="49" charset="-122"/>
                <a:cs typeface="Consolas" pitchFamily="49" charset="0"/>
              </a:rPr>
              <a:t>    </a:t>
            </a:r>
            <a:r>
              <a:rPr lang="zh-CN" altLang="en-US" sz="1800" b="1">
                <a:solidFill>
                  <a:srgbClr val="3333FF"/>
                </a:solidFill>
                <a:latin typeface="Consolas" pitchFamily="49" charset="0"/>
                <a:ea typeface="仿宋" pitchFamily="49" charset="-122"/>
                <a:cs typeface="Consolas" pitchFamily="49" charset="0"/>
              </a:rPr>
              <a:t>   </a:t>
            </a:r>
            <a:r>
              <a:rPr lang="en-US" altLang="zh-CN" sz="1800" b="1" dirty="0">
                <a:solidFill>
                  <a:srgbClr val="3333FF"/>
                </a:solidFill>
                <a:latin typeface="Consolas" pitchFamily="49" charset="0"/>
                <a:ea typeface="仿宋" pitchFamily="49" charset="-122"/>
                <a:cs typeface="Consolas" pitchFamily="49" charset="0"/>
              </a:rPr>
              <a:t>return </a:t>
            </a:r>
            <a:r>
              <a:rPr lang="en-US" altLang="zh-CN" sz="1800" b="1" dirty="0" err="1">
                <a:solidFill>
                  <a:srgbClr val="FF0000"/>
                </a:solidFill>
                <a:latin typeface="Consolas" pitchFamily="49" charset="0"/>
                <a:ea typeface="仿宋" pitchFamily="49" charset="-122"/>
                <a:cs typeface="Consolas" pitchFamily="49" charset="0"/>
              </a:rPr>
              <a:t>SearchBST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dirty="0" err="1">
                <a:solidFill>
                  <a:srgbClr val="3333FF"/>
                </a:solidFill>
                <a:latin typeface="Consolas" pitchFamily="49" charset="0"/>
                <a:ea typeface="仿宋" pitchFamily="49" charset="-122"/>
                <a:cs typeface="Consolas" pitchFamily="49" charset="0"/>
              </a:rPr>
              <a:t>bt</a:t>
            </a:r>
            <a:r>
              <a:rPr lang="en-US" altLang="zh-CN" sz="1800" b="1" dirty="0">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&gt;rchild</a:t>
            </a:r>
            <a:r>
              <a:rPr lang="zh-CN" altLang="en-US" sz="1800" b="1">
                <a:solidFill>
                  <a:srgbClr val="3333FF"/>
                </a:solidFill>
                <a:latin typeface="Consolas" pitchFamily="49" charset="0"/>
                <a:ea typeface="仿宋" pitchFamily="49" charset="-122"/>
                <a:cs typeface="Consolas" pitchFamily="49" charset="0"/>
              </a:rPr>
              <a:t>，</a:t>
            </a:r>
            <a:r>
              <a:rPr lang="en-US" altLang="zh-CN" sz="1800" b="1">
                <a:solidFill>
                  <a:srgbClr val="3333FF"/>
                </a:solidFill>
                <a:latin typeface="Consolas" pitchFamily="49" charset="0"/>
                <a:ea typeface="仿宋" pitchFamily="49" charset="-122"/>
                <a:cs typeface="Consolas" pitchFamily="49" charset="0"/>
              </a:rPr>
              <a:t>k</a:t>
            </a:r>
            <a:r>
              <a:rPr lang="en-US" altLang="zh-CN" sz="1800" b="1" dirty="0">
                <a:solidFill>
                  <a:srgbClr val="3333FF"/>
                </a:solidFill>
                <a:latin typeface="Consolas" pitchFamily="49" charset="0"/>
                <a:ea typeface="仿宋" pitchFamily="49" charset="-122"/>
                <a:cs typeface="Consolas" pitchFamily="49" charset="0"/>
              </a:rPr>
              <a:t>);  </a:t>
            </a:r>
            <a:r>
              <a:rPr lang="en-US" altLang="zh-CN" sz="1800" b="1" dirty="0">
                <a:solidFill>
                  <a:srgbClr val="00B0F0"/>
                </a:solidFill>
                <a:latin typeface="Consolas" pitchFamily="49" charset="0"/>
                <a:ea typeface="仿宋" pitchFamily="49" charset="-122"/>
                <a:cs typeface="Consolas" pitchFamily="49" charset="0"/>
              </a:rPr>
              <a:t> //</a:t>
            </a:r>
            <a:r>
              <a:rPr lang="zh-CN" altLang="en-US" sz="1800" b="1" dirty="0">
                <a:solidFill>
                  <a:srgbClr val="00B0F0"/>
                </a:solidFill>
                <a:latin typeface="Consolas" pitchFamily="49" charset="0"/>
                <a:ea typeface="仿宋" pitchFamily="49" charset="-122"/>
                <a:cs typeface="Consolas" pitchFamily="49" charset="0"/>
              </a:rPr>
              <a:t>在右子树中递归查找</a:t>
            </a:r>
          </a:p>
          <a:p>
            <a:pPr algn="just">
              <a:lnSpc>
                <a:spcPct val="80000"/>
              </a:lnSpc>
              <a:spcBef>
                <a:spcPct val="50000"/>
              </a:spcBef>
            </a:pPr>
            <a:r>
              <a:rPr lang="en-US" altLang="zh-CN" sz="1800" b="1" dirty="0">
                <a:solidFill>
                  <a:srgbClr val="3333FF"/>
                </a:solidFill>
                <a:latin typeface="Consolas" pitchFamily="49" charset="0"/>
                <a:ea typeface="仿宋" pitchFamily="49" charset="-122"/>
                <a:cs typeface="Consolas" pitchFamily="49" charset="0"/>
              </a:rPr>
              <a:t>}</a:t>
            </a:r>
          </a:p>
        </p:txBody>
      </p:sp>
      <p:sp>
        <p:nvSpPr>
          <p:cNvPr id="16" name="Text Box 3">
            <a:extLst>
              <a:ext uri="{FF2B5EF4-FFF2-40B4-BE49-F238E27FC236}">
                <a16:creationId xmlns:a16="http://schemas.microsoft.com/office/drawing/2014/main" id="{7F175118-96B8-CD57-2E71-97148CBBD4F6}"/>
              </a:ext>
            </a:extLst>
          </p:cNvPr>
          <p:cNvSpPr txBox="1">
            <a:spLocks noChangeArrowheads="1"/>
          </p:cNvSpPr>
          <p:nvPr/>
        </p:nvSpPr>
        <p:spPr bwMode="auto">
          <a:xfrm>
            <a:off x="1631504" y="2327875"/>
            <a:ext cx="8351838" cy="83612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a:spAutoFit/>
          </a:bodyPr>
          <a:lstStyle/>
          <a:p>
            <a:pPr marL="457200" indent="-457200" algn="just">
              <a:lnSpc>
                <a:spcPts val="2900"/>
              </a:lnSpc>
              <a:spcBef>
                <a:spcPts val="0"/>
              </a:spcBef>
              <a:buBlip>
                <a:blip r:embed="rId2"/>
              </a:buBlip>
            </a:pPr>
            <a:r>
              <a:rPr lang="zh-CN" altLang="en-US" sz="2000" b="1">
                <a:solidFill>
                  <a:srgbClr val="3333FF"/>
                </a:solidFill>
                <a:latin typeface="Consolas" pitchFamily="49" charset="0"/>
                <a:ea typeface="楷体" pitchFamily="49" charset="-122"/>
                <a:cs typeface="Consolas" pitchFamily="49" charset="0"/>
              </a:rPr>
              <a:t>查</a:t>
            </a:r>
            <a:r>
              <a:rPr lang="zh-CN" altLang="en-US" sz="2000" b="1" dirty="0">
                <a:solidFill>
                  <a:srgbClr val="3333FF"/>
                </a:solidFill>
                <a:latin typeface="Consolas" pitchFamily="49" charset="0"/>
                <a:ea typeface="楷体" pitchFamily="49" charset="-122"/>
                <a:cs typeface="Consolas" pitchFamily="49" charset="0"/>
              </a:rPr>
              <a:t>找算</a:t>
            </a:r>
            <a:r>
              <a:rPr lang="zh-CN" altLang="en-US" sz="2000" b="1">
                <a:solidFill>
                  <a:srgbClr val="3333FF"/>
                </a:solidFill>
                <a:latin typeface="Consolas" pitchFamily="49" charset="0"/>
                <a:ea typeface="楷体" pitchFamily="49" charset="-122"/>
                <a:cs typeface="Consolas" pitchFamily="49" charset="0"/>
              </a:rPr>
              <a:t>法</a:t>
            </a:r>
            <a:r>
              <a:rPr lang="en-US" altLang="zh-CN" sz="2000" b="1">
                <a:solidFill>
                  <a:srgbClr val="FF0000"/>
                </a:solidFill>
                <a:latin typeface="Consolas" pitchFamily="49" charset="0"/>
                <a:ea typeface="楷体" pitchFamily="49" charset="-122"/>
                <a:cs typeface="Consolas" pitchFamily="49" charset="0"/>
              </a:rPr>
              <a:t>SearchBST</a:t>
            </a:r>
            <a:r>
              <a:rPr lang="en-US" altLang="zh-CN" sz="2000" b="1">
                <a:solidFill>
                  <a:srgbClr val="3333FF"/>
                </a:solidFill>
                <a:latin typeface="Consolas" pitchFamily="49" charset="0"/>
                <a:ea typeface="楷体" pitchFamily="49" charset="-122"/>
                <a:cs typeface="Consolas" pitchFamily="49" charset="0"/>
              </a:rPr>
              <a:t>(bt,k)</a:t>
            </a:r>
            <a:r>
              <a:rPr lang="zh-CN" altLang="en-US" sz="2000" b="1">
                <a:solidFill>
                  <a:srgbClr val="3333FF"/>
                </a:solidFill>
                <a:latin typeface="Consolas" pitchFamily="49" charset="0"/>
                <a:ea typeface="楷体" pitchFamily="49" charset="-122"/>
                <a:cs typeface="Consolas" pitchFamily="49" charset="0"/>
              </a:rPr>
              <a:t>：在</a:t>
            </a:r>
            <a:r>
              <a:rPr lang="zh-CN" altLang="en-US" sz="2000" b="1" dirty="0">
                <a:solidFill>
                  <a:srgbClr val="3333FF"/>
                </a:solidFill>
                <a:latin typeface="Consolas" pitchFamily="49" charset="0"/>
                <a:ea typeface="楷体" pitchFamily="49" charset="-122"/>
                <a:cs typeface="Consolas" pitchFamily="49" charset="0"/>
              </a:rPr>
              <a:t>二叉排序树</a:t>
            </a:r>
            <a:r>
              <a:rPr lang="en-US" altLang="zh-CN" sz="2000" b="1" dirty="0" err="1">
                <a:solidFill>
                  <a:srgbClr val="3333FF"/>
                </a:solidFill>
                <a:latin typeface="Consolas" pitchFamily="49" charset="0"/>
                <a:ea typeface="楷体" pitchFamily="49" charset="-122"/>
                <a:cs typeface="Consolas" pitchFamily="49" charset="0"/>
              </a:rPr>
              <a:t>bt</a:t>
            </a:r>
            <a:r>
              <a:rPr lang="zh-CN" altLang="en-US" sz="2000" b="1" dirty="0">
                <a:solidFill>
                  <a:srgbClr val="3333FF"/>
                </a:solidFill>
                <a:latin typeface="Consolas" pitchFamily="49" charset="0"/>
                <a:ea typeface="楷体" pitchFamily="49" charset="-122"/>
                <a:cs typeface="Consolas" pitchFamily="49" charset="0"/>
              </a:rPr>
              <a:t>上查找关键字为</a:t>
            </a:r>
            <a:r>
              <a:rPr lang="en-US" altLang="zh-CN" sz="2000" b="1" i="1">
                <a:solidFill>
                  <a:srgbClr val="3333FF"/>
                </a:solidFill>
                <a:latin typeface="Consolas" pitchFamily="49" charset="0"/>
                <a:ea typeface="楷体" pitchFamily="49" charset="-122"/>
                <a:cs typeface="Consolas" pitchFamily="49" charset="0"/>
              </a:rPr>
              <a:t>k</a:t>
            </a:r>
            <a:r>
              <a:rPr lang="zh-CN" altLang="en-US" sz="2000" b="1">
                <a:solidFill>
                  <a:srgbClr val="3333FF"/>
                </a:solidFill>
                <a:latin typeface="Consolas" pitchFamily="49" charset="0"/>
                <a:ea typeface="楷体" pitchFamily="49" charset="-122"/>
                <a:cs typeface="Consolas" pitchFamily="49" charset="0"/>
              </a:rPr>
              <a:t>的结点，成功</a:t>
            </a:r>
            <a:r>
              <a:rPr lang="zh-CN" altLang="en-US" sz="2000" b="1" dirty="0">
                <a:solidFill>
                  <a:srgbClr val="3333FF"/>
                </a:solidFill>
                <a:latin typeface="Consolas" pitchFamily="49" charset="0"/>
                <a:ea typeface="楷体" pitchFamily="49" charset="-122"/>
                <a:cs typeface="Consolas" pitchFamily="49" charset="0"/>
              </a:rPr>
              <a:t>时</a:t>
            </a:r>
            <a:r>
              <a:rPr lang="zh-CN" altLang="en-US" sz="2000" b="1">
                <a:solidFill>
                  <a:srgbClr val="3333FF"/>
                </a:solidFill>
                <a:latin typeface="Consolas" pitchFamily="49" charset="0"/>
                <a:ea typeface="楷体" pitchFamily="49" charset="-122"/>
                <a:cs typeface="Consolas" pitchFamily="49" charset="0"/>
              </a:rPr>
              <a:t>返回该结点地址，否则</a:t>
            </a:r>
            <a:r>
              <a:rPr lang="zh-CN" altLang="en-US" sz="2000" b="1" dirty="0">
                <a:solidFill>
                  <a:srgbClr val="3333FF"/>
                </a:solidFill>
                <a:latin typeface="Consolas" pitchFamily="49" charset="0"/>
                <a:ea typeface="楷体" pitchFamily="49" charset="-122"/>
                <a:cs typeface="Consolas" pitchFamily="49" charset="0"/>
              </a:rPr>
              <a:t>返</a:t>
            </a:r>
            <a:r>
              <a:rPr lang="zh-CN" altLang="en-US" sz="2000" b="1">
                <a:solidFill>
                  <a:srgbClr val="3333FF"/>
                </a:solidFill>
                <a:latin typeface="Consolas" pitchFamily="49" charset="0"/>
                <a:ea typeface="楷体" pitchFamily="49" charset="-122"/>
                <a:cs typeface="Consolas" pitchFamily="49" charset="0"/>
              </a:rPr>
              <a:t>回</a:t>
            </a:r>
            <a:r>
              <a:rPr lang="en-US" altLang="zh-CN" sz="2000" b="1">
                <a:solidFill>
                  <a:srgbClr val="3333FF"/>
                </a:solidFill>
                <a:latin typeface="Consolas" pitchFamily="49" charset="0"/>
                <a:ea typeface="楷体" pitchFamily="49" charset="-122"/>
                <a:cs typeface="Consolas" pitchFamily="49" charset="0"/>
              </a:rPr>
              <a:t>NULL</a:t>
            </a:r>
            <a:r>
              <a:rPr lang="zh-CN" altLang="en-US" sz="2000" b="1">
                <a:solidFill>
                  <a:srgbClr val="3333FF"/>
                </a:solidFill>
                <a:latin typeface="Consolas" pitchFamily="49" charset="0"/>
                <a:ea typeface="楷体" pitchFamily="49" charset="-122"/>
                <a:cs typeface="Consolas" pitchFamily="49" charset="0"/>
              </a:rPr>
              <a:t>。</a:t>
            </a:r>
            <a:endParaRPr kumimoji="0" lang="zh-CN" altLang="en-US" sz="2000" b="1" dirty="0">
              <a:solidFill>
                <a:srgbClr val="3333FF"/>
              </a:solidFill>
              <a:latin typeface="Consolas" pitchFamily="49" charset="0"/>
              <a:ea typeface="楷体" pitchFamily="49" charset="-122"/>
              <a:cs typeface="Consolas" pitchFamily="49" charset="0"/>
            </a:endParaRPr>
          </a:p>
        </p:txBody>
      </p:sp>
      <p:sp>
        <p:nvSpPr>
          <p:cNvPr id="18" name="TextBox 5">
            <a:extLst>
              <a:ext uri="{FF2B5EF4-FFF2-40B4-BE49-F238E27FC236}">
                <a16:creationId xmlns:a16="http://schemas.microsoft.com/office/drawing/2014/main" id="{9C76B5BF-60DD-FC50-0CC5-2A69A5849914}"/>
              </a:ext>
            </a:extLst>
          </p:cNvPr>
          <p:cNvSpPr txBox="1"/>
          <p:nvPr/>
        </p:nvSpPr>
        <p:spPr>
          <a:xfrm>
            <a:off x="10272464" y="5435932"/>
            <a:ext cx="1285884" cy="369332"/>
          </a:xfrm>
          <a:prstGeom prst="rect">
            <a:avLst/>
          </a:prstGeom>
          <a:noFill/>
        </p:spPr>
        <p:txBody>
          <a:bodyPr wrap="square" rtlCol="0">
            <a:spAutoFit/>
          </a:bodyPr>
          <a:lstStyle/>
          <a:p>
            <a:r>
              <a:rPr lang="zh-CN" altLang="en-US" sz="1800" b="1" dirty="0">
                <a:solidFill>
                  <a:srgbClr val="3333FF"/>
                </a:solidFill>
                <a:latin typeface="微软雅黑" pitchFamily="34" charset="-122"/>
                <a:ea typeface="微软雅黑" pitchFamily="34" charset="-122"/>
                <a:cs typeface="Times New Roman" pitchFamily="18" charset="0"/>
              </a:rPr>
              <a:t>递归算法</a:t>
            </a:r>
          </a:p>
        </p:txBody>
      </p:sp>
      <p:sp>
        <p:nvSpPr>
          <p:cNvPr id="20" name="上箭头 6">
            <a:extLst>
              <a:ext uri="{FF2B5EF4-FFF2-40B4-BE49-F238E27FC236}">
                <a16:creationId xmlns:a16="http://schemas.microsoft.com/office/drawing/2014/main" id="{DEEE6BD3-7051-4449-3431-683C8AC896DD}"/>
              </a:ext>
            </a:extLst>
          </p:cNvPr>
          <p:cNvSpPr/>
          <p:nvPr/>
        </p:nvSpPr>
        <p:spPr>
          <a:xfrm rot="16200000">
            <a:off x="9927658" y="5442003"/>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869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57979-3250-F100-AA81-2D17F1373A7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F66D0DE-B0F4-25C9-C214-05DC92C5C365}"/>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CB0199AC-2D66-2B1C-0773-63694BCBCFB3}"/>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53E8C9AA-7991-C3CB-C995-41D0392A116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D74CB8DA-9687-64F0-58E7-60957FECB955}"/>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cxnSp>
        <p:nvCxnSpPr>
          <p:cNvPr id="5" name="直接连接符 4">
            <a:extLst>
              <a:ext uri="{FF2B5EF4-FFF2-40B4-BE49-F238E27FC236}">
                <a16:creationId xmlns:a16="http://schemas.microsoft.com/office/drawing/2014/main" id="{736A22A5-B329-7B87-C2DB-D3C33DA9A69A}"/>
              </a:ext>
            </a:extLst>
          </p:cNvPr>
          <p:cNvCxnSpPr>
            <a:endCxn id="49" idx="1"/>
          </p:cNvCxnSpPr>
          <p:nvPr/>
        </p:nvCxnSpPr>
        <p:spPr>
          <a:xfrm flipV="1">
            <a:off x="1480078" y="6173095"/>
            <a:ext cx="614366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6" name="直接连接符 5">
            <a:extLst>
              <a:ext uri="{FF2B5EF4-FFF2-40B4-BE49-F238E27FC236}">
                <a16:creationId xmlns:a16="http://schemas.microsoft.com/office/drawing/2014/main" id="{577CC65B-9E8F-B8F3-F730-3B47A09B3A55}"/>
              </a:ext>
            </a:extLst>
          </p:cNvPr>
          <p:cNvCxnSpPr>
            <a:endCxn id="48" idx="1"/>
          </p:cNvCxnSpPr>
          <p:nvPr/>
        </p:nvCxnSpPr>
        <p:spPr>
          <a:xfrm>
            <a:off x="837136" y="5416925"/>
            <a:ext cx="678661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 name="直接连接符 7">
            <a:extLst>
              <a:ext uri="{FF2B5EF4-FFF2-40B4-BE49-F238E27FC236}">
                <a16:creationId xmlns:a16="http://schemas.microsoft.com/office/drawing/2014/main" id="{5D25A193-E9AF-4D12-EB18-67DA76EBEBF3}"/>
              </a:ext>
            </a:extLst>
          </p:cNvPr>
          <p:cNvCxnSpPr>
            <a:endCxn id="47" idx="1"/>
          </p:cNvCxnSpPr>
          <p:nvPr/>
        </p:nvCxnSpPr>
        <p:spPr>
          <a:xfrm flipV="1">
            <a:off x="1122888" y="4621555"/>
            <a:ext cx="65008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9" name="直接连接符 8">
            <a:extLst>
              <a:ext uri="{FF2B5EF4-FFF2-40B4-BE49-F238E27FC236}">
                <a16:creationId xmlns:a16="http://schemas.microsoft.com/office/drawing/2014/main" id="{A7794E94-F34D-CF26-74D7-1D8FDC01FD5B}"/>
              </a:ext>
            </a:extLst>
          </p:cNvPr>
          <p:cNvCxnSpPr>
            <a:endCxn id="44" idx="1"/>
          </p:cNvCxnSpPr>
          <p:nvPr/>
        </p:nvCxnSpPr>
        <p:spPr>
          <a:xfrm>
            <a:off x="4694788" y="3028225"/>
            <a:ext cx="29289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10" name="直接连接符 9">
            <a:extLst>
              <a:ext uri="{FF2B5EF4-FFF2-40B4-BE49-F238E27FC236}">
                <a16:creationId xmlns:a16="http://schemas.microsoft.com/office/drawing/2014/main" id="{75190BA2-F83D-F2F3-34B1-DD63B36BA595}"/>
              </a:ext>
            </a:extLst>
          </p:cNvPr>
          <p:cNvCxnSpPr>
            <a:endCxn id="46" idx="1"/>
          </p:cNvCxnSpPr>
          <p:nvPr/>
        </p:nvCxnSpPr>
        <p:spPr>
          <a:xfrm flipV="1">
            <a:off x="2194458" y="3784505"/>
            <a:ext cx="542928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1" name="TextBox 2">
            <a:extLst>
              <a:ext uri="{FF2B5EF4-FFF2-40B4-BE49-F238E27FC236}">
                <a16:creationId xmlns:a16="http://schemas.microsoft.com/office/drawing/2014/main" id="{56FBB5AF-9B8F-8A22-9363-A517CF94833A}"/>
              </a:ext>
            </a:extLst>
          </p:cNvPr>
          <p:cNvSpPr txBox="1"/>
          <p:nvPr/>
        </p:nvSpPr>
        <p:spPr>
          <a:xfrm>
            <a:off x="1579810" y="2281518"/>
            <a:ext cx="2714644" cy="40011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l"/>
            <a:r>
              <a:rPr lang="zh-CN" altLang="en-US" sz="2000" b="1" dirty="0">
                <a:solidFill>
                  <a:srgbClr val="FF0000"/>
                </a:solidFill>
                <a:latin typeface="华文中宋" pitchFamily="2" charset="-122"/>
                <a:ea typeface="华文中宋" pitchFamily="2" charset="-122"/>
                <a:cs typeface="Times New Roman" pitchFamily="18" charset="0"/>
                <a:sym typeface="Wingdings"/>
              </a:rPr>
              <a:t> </a:t>
            </a:r>
            <a:r>
              <a:rPr lang="zh-CN" altLang="en-US" sz="2000" b="1" dirty="0">
                <a:solidFill>
                  <a:srgbClr val="FF0000"/>
                </a:solidFill>
                <a:latin typeface="华文中宋" pitchFamily="2" charset="-122"/>
                <a:ea typeface="华文中宋" pitchFamily="2" charset="-122"/>
                <a:cs typeface="Times New Roman" pitchFamily="18" charset="0"/>
              </a:rPr>
              <a:t>查找成功的情况</a:t>
            </a:r>
          </a:p>
        </p:txBody>
      </p:sp>
      <p:sp>
        <p:nvSpPr>
          <p:cNvPr id="12" name="椭圆 11">
            <a:extLst>
              <a:ext uri="{FF2B5EF4-FFF2-40B4-BE49-F238E27FC236}">
                <a16:creationId xmlns:a16="http://schemas.microsoft.com/office/drawing/2014/main" id="{80511DAB-F19D-2DFB-71AE-2D1C55296323}"/>
              </a:ext>
            </a:extLst>
          </p:cNvPr>
          <p:cNvSpPr/>
          <p:nvPr/>
        </p:nvSpPr>
        <p:spPr>
          <a:xfrm>
            <a:off x="3980408" y="2793815"/>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50</a:t>
            </a:r>
            <a:endParaRPr lang="zh-CN" altLang="en-US" sz="1800" b="1">
              <a:solidFill>
                <a:srgbClr val="0000FF"/>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id="{126F2BCB-3667-7ACA-9376-E8BB0CE01089}"/>
              </a:ext>
            </a:extLst>
          </p:cNvPr>
          <p:cNvSpPr/>
          <p:nvPr/>
        </p:nvSpPr>
        <p:spPr>
          <a:xfrm>
            <a:off x="2765962" y="353969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30</a:t>
            </a:r>
            <a:endParaRPr lang="zh-CN" altLang="en-US" sz="1800" b="1">
              <a:solidFill>
                <a:srgbClr val="0000FF"/>
              </a:solidFill>
              <a:latin typeface="Consolas" pitchFamily="49" charset="0"/>
              <a:cs typeface="Consolas" pitchFamily="49" charset="0"/>
            </a:endParaRPr>
          </a:p>
        </p:txBody>
      </p:sp>
      <p:sp>
        <p:nvSpPr>
          <p:cNvPr id="14" name="椭圆 13">
            <a:extLst>
              <a:ext uri="{FF2B5EF4-FFF2-40B4-BE49-F238E27FC236}">
                <a16:creationId xmlns:a16="http://schemas.microsoft.com/office/drawing/2014/main" id="{08DEDF65-7BC4-C1B5-E495-CBE91312C4E5}"/>
              </a:ext>
            </a:extLst>
          </p:cNvPr>
          <p:cNvSpPr/>
          <p:nvPr/>
        </p:nvSpPr>
        <p:spPr>
          <a:xfrm>
            <a:off x="5048044" y="353969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80</a:t>
            </a:r>
            <a:endParaRPr lang="zh-CN" altLang="en-US" sz="1800">
              <a:solidFill>
                <a:srgbClr val="0000FF"/>
              </a:solidFill>
              <a:latin typeface="Consolas" pitchFamily="49" charset="0"/>
              <a:cs typeface="Consolas" pitchFamily="49" charset="0"/>
            </a:endParaRPr>
          </a:p>
        </p:txBody>
      </p:sp>
      <p:cxnSp>
        <p:nvCxnSpPr>
          <p:cNvPr id="15" name="直接连接符 14">
            <a:extLst>
              <a:ext uri="{FF2B5EF4-FFF2-40B4-BE49-F238E27FC236}">
                <a16:creationId xmlns:a16="http://schemas.microsoft.com/office/drawing/2014/main" id="{DF05E19F-3DC9-5879-F317-0A0921D59272}"/>
              </a:ext>
            </a:extLst>
          </p:cNvPr>
          <p:cNvCxnSpPr>
            <a:endCxn id="13" idx="7"/>
          </p:cNvCxnSpPr>
          <p:nvPr/>
        </p:nvCxnSpPr>
        <p:spPr>
          <a:xfrm rot="10800000" flipV="1">
            <a:off x="3196153" y="3174350"/>
            <a:ext cx="797776" cy="444430"/>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F09C59D7-0E81-AEF7-FB66-E9BBF3EF4C39}"/>
              </a:ext>
            </a:extLst>
          </p:cNvPr>
          <p:cNvCxnSpPr>
            <a:endCxn id="14" idx="1"/>
          </p:cNvCxnSpPr>
          <p:nvPr/>
        </p:nvCxnSpPr>
        <p:spPr>
          <a:xfrm>
            <a:off x="4480935" y="3164302"/>
            <a:ext cx="640918" cy="45447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7" name="椭圆 16">
            <a:extLst>
              <a:ext uri="{FF2B5EF4-FFF2-40B4-BE49-F238E27FC236}">
                <a16:creationId xmlns:a16="http://schemas.microsoft.com/office/drawing/2014/main" id="{878D38E9-B6F0-C3F2-0A04-2CFB2D5EC8ED}"/>
              </a:ext>
            </a:extLst>
          </p:cNvPr>
          <p:cNvSpPr/>
          <p:nvPr/>
        </p:nvSpPr>
        <p:spPr>
          <a:xfrm>
            <a:off x="1765830" y="432551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20</a:t>
            </a:r>
            <a:endParaRPr lang="zh-CN" altLang="en-US" sz="1800">
              <a:solidFill>
                <a:srgbClr val="0000FF"/>
              </a:solidFill>
              <a:latin typeface="Consolas" pitchFamily="49" charset="0"/>
              <a:cs typeface="Consolas" pitchFamily="49" charset="0"/>
            </a:endParaRPr>
          </a:p>
        </p:txBody>
      </p:sp>
      <p:sp>
        <p:nvSpPr>
          <p:cNvPr id="18" name="椭圆 17">
            <a:extLst>
              <a:ext uri="{FF2B5EF4-FFF2-40B4-BE49-F238E27FC236}">
                <a16:creationId xmlns:a16="http://schemas.microsoft.com/office/drawing/2014/main" id="{1F52A581-0E81-7D38-5B2D-F966170FCA0E}"/>
              </a:ext>
            </a:extLst>
          </p:cNvPr>
          <p:cNvSpPr/>
          <p:nvPr/>
        </p:nvSpPr>
        <p:spPr>
          <a:xfrm>
            <a:off x="1122888" y="515126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10</a:t>
            </a:r>
            <a:endParaRPr lang="zh-CN" altLang="en-US" sz="1800">
              <a:solidFill>
                <a:srgbClr val="0000FF"/>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id="{7040D472-0691-1B1A-C429-440FD1868CBA}"/>
              </a:ext>
            </a:extLst>
          </p:cNvPr>
          <p:cNvSpPr/>
          <p:nvPr/>
        </p:nvSpPr>
        <p:spPr>
          <a:xfrm>
            <a:off x="2404838" y="515126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25</a:t>
            </a:r>
            <a:endParaRPr lang="zh-CN" altLang="en-US" sz="1800">
              <a:solidFill>
                <a:srgbClr val="0000FF"/>
              </a:solidFill>
              <a:latin typeface="Consolas" pitchFamily="49" charset="0"/>
              <a:cs typeface="Consolas" pitchFamily="49" charset="0"/>
            </a:endParaRPr>
          </a:p>
        </p:txBody>
      </p:sp>
      <p:sp>
        <p:nvSpPr>
          <p:cNvPr id="20" name="椭圆 19">
            <a:extLst>
              <a:ext uri="{FF2B5EF4-FFF2-40B4-BE49-F238E27FC236}">
                <a16:creationId xmlns:a16="http://schemas.microsoft.com/office/drawing/2014/main" id="{55736D18-F2AA-77E3-52ED-06F9AF384D45}"/>
              </a:ext>
            </a:extLst>
          </p:cNvPr>
          <p:cNvSpPr/>
          <p:nvPr/>
        </p:nvSpPr>
        <p:spPr>
          <a:xfrm>
            <a:off x="1765830" y="5897153"/>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23</a:t>
            </a:r>
            <a:endParaRPr lang="zh-CN" altLang="en-US" sz="1800">
              <a:solidFill>
                <a:srgbClr val="0000FF"/>
              </a:solidFill>
              <a:latin typeface="Consolas" pitchFamily="49" charset="0"/>
              <a:cs typeface="Consolas" pitchFamily="49" charset="0"/>
            </a:endParaRPr>
          </a:p>
        </p:txBody>
      </p:sp>
      <p:cxnSp>
        <p:nvCxnSpPr>
          <p:cNvPr id="21" name="直接连接符 20">
            <a:extLst>
              <a:ext uri="{FF2B5EF4-FFF2-40B4-BE49-F238E27FC236}">
                <a16:creationId xmlns:a16="http://schemas.microsoft.com/office/drawing/2014/main" id="{6ED4244F-6DD9-A0CB-D70F-A727457A252E}"/>
              </a:ext>
            </a:extLst>
          </p:cNvPr>
          <p:cNvCxnSpPr>
            <a:stCxn id="17" idx="3"/>
            <a:endCxn id="18" idx="7"/>
          </p:cNvCxnSpPr>
          <p:nvPr/>
        </p:nvCxnSpPr>
        <p:spPr>
          <a:xfrm rot="5400000">
            <a:off x="1474402" y="4865113"/>
            <a:ext cx="443914" cy="286560"/>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2" name="直接连接符 21">
            <a:extLst>
              <a:ext uri="{FF2B5EF4-FFF2-40B4-BE49-F238E27FC236}">
                <a16:creationId xmlns:a16="http://schemas.microsoft.com/office/drawing/2014/main" id="{1F4E13B1-D14C-61F6-0A74-D99F2E67A53C}"/>
              </a:ext>
            </a:extLst>
          </p:cNvPr>
          <p:cNvCxnSpPr>
            <a:stCxn id="17" idx="5"/>
            <a:endCxn id="19" idx="1"/>
          </p:cNvCxnSpPr>
          <p:nvPr/>
        </p:nvCxnSpPr>
        <p:spPr>
          <a:xfrm rot="16200000" flipH="1">
            <a:off x="2115377" y="4867080"/>
            <a:ext cx="443914" cy="28262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3" name="直接连接符 22">
            <a:extLst>
              <a:ext uri="{FF2B5EF4-FFF2-40B4-BE49-F238E27FC236}">
                <a16:creationId xmlns:a16="http://schemas.microsoft.com/office/drawing/2014/main" id="{88D06EE4-892D-1E5E-7C72-40F8F6C2A0E1}"/>
              </a:ext>
            </a:extLst>
          </p:cNvPr>
          <p:cNvCxnSpPr>
            <a:stCxn id="19" idx="3"/>
            <a:endCxn id="20" idx="7"/>
          </p:cNvCxnSpPr>
          <p:nvPr/>
        </p:nvCxnSpPr>
        <p:spPr>
          <a:xfrm rot="5400000">
            <a:off x="2155311" y="5652898"/>
            <a:ext cx="364046" cy="28262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4" name="直接连接符 23">
            <a:extLst>
              <a:ext uri="{FF2B5EF4-FFF2-40B4-BE49-F238E27FC236}">
                <a16:creationId xmlns:a16="http://schemas.microsoft.com/office/drawing/2014/main" id="{3C5522E8-571B-F2CE-12B6-B5AB8296B2B3}"/>
              </a:ext>
            </a:extLst>
          </p:cNvPr>
          <p:cNvCxnSpPr>
            <a:endCxn id="17" idx="7"/>
          </p:cNvCxnSpPr>
          <p:nvPr/>
        </p:nvCxnSpPr>
        <p:spPr>
          <a:xfrm rot="10800000" flipV="1">
            <a:off x="2196021" y="3920234"/>
            <a:ext cx="593510" cy="48436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5" name="椭圆 24">
            <a:extLst>
              <a:ext uri="{FF2B5EF4-FFF2-40B4-BE49-F238E27FC236}">
                <a16:creationId xmlns:a16="http://schemas.microsoft.com/office/drawing/2014/main" id="{80334B3E-1190-045E-9149-90DF4A8C274D}"/>
              </a:ext>
            </a:extLst>
          </p:cNvPr>
          <p:cNvSpPr/>
          <p:nvPr/>
        </p:nvSpPr>
        <p:spPr>
          <a:xfrm>
            <a:off x="3762160" y="432551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40</a:t>
            </a:r>
            <a:endParaRPr lang="zh-CN" altLang="en-US" sz="1800" b="1">
              <a:solidFill>
                <a:srgbClr val="0000FF"/>
              </a:solidFill>
              <a:latin typeface="Consolas" pitchFamily="49" charset="0"/>
              <a:cs typeface="Consolas" pitchFamily="49" charset="0"/>
            </a:endParaRPr>
          </a:p>
        </p:txBody>
      </p:sp>
      <p:sp>
        <p:nvSpPr>
          <p:cNvPr id="26" name="椭圆 25">
            <a:extLst>
              <a:ext uri="{FF2B5EF4-FFF2-40B4-BE49-F238E27FC236}">
                <a16:creationId xmlns:a16="http://schemas.microsoft.com/office/drawing/2014/main" id="{15C90DC7-F1E0-6E88-158E-44A5CE51DCDB}"/>
              </a:ext>
            </a:extLst>
          </p:cNvPr>
          <p:cNvSpPr/>
          <p:nvPr/>
        </p:nvSpPr>
        <p:spPr>
          <a:xfrm>
            <a:off x="3051714" y="515126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35</a:t>
            </a:r>
            <a:endParaRPr lang="zh-CN" altLang="en-US" sz="1800" b="1">
              <a:solidFill>
                <a:srgbClr val="0000FF"/>
              </a:solidFill>
              <a:latin typeface="Consolas" pitchFamily="49" charset="0"/>
              <a:cs typeface="Consolas" pitchFamily="49" charset="0"/>
            </a:endParaRPr>
          </a:p>
        </p:txBody>
      </p:sp>
      <p:cxnSp>
        <p:nvCxnSpPr>
          <p:cNvPr id="27" name="直接连接符 26">
            <a:extLst>
              <a:ext uri="{FF2B5EF4-FFF2-40B4-BE49-F238E27FC236}">
                <a16:creationId xmlns:a16="http://schemas.microsoft.com/office/drawing/2014/main" id="{D021244B-1E2D-AAC3-36E4-A6FC291858A8}"/>
              </a:ext>
            </a:extLst>
          </p:cNvPr>
          <p:cNvCxnSpPr>
            <a:endCxn id="25" idx="1"/>
          </p:cNvCxnSpPr>
          <p:nvPr/>
        </p:nvCxnSpPr>
        <p:spPr>
          <a:xfrm>
            <a:off x="3266489" y="3920234"/>
            <a:ext cx="569480" cy="48436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8" name="直接连接符 27">
            <a:extLst>
              <a:ext uri="{FF2B5EF4-FFF2-40B4-BE49-F238E27FC236}">
                <a16:creationId xmlns:a16="http://schemas.microsoft.com/office/drawing/2014/main" id="{EC9EBCE8-D113-3A96-BA25-7565EA6EDB0E}"/>
              </a:ext>
            </a:extLst>
          </p:cNvPr>
          <p:cNvCxnSpPr>
            <a:stCxn id="25" idx="3"/>
            <a:endCxn id="26" idx="7"/>
          </p:cNvCxnSpPr>
          <p:nvPr/>
        </p:nvCxnSpPr>
        <p:spPr>
          <a:xfrm rot="5400000">
            <a:off x="3436980" y="4831361"/>
            <a:ext cx="443914" cy="35406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9" name="椭圆 28">
            <a:extLst>
              <a:ext uri="{FF2B5EF4-FFF2-40B4-BE49-F238E27FC236}">
                <a16:creationId xmlns:a16="http://schemas.microsoft.com/office/drawing/2014/main" id="{47605B17-B8F7-99F3-EE9C-6303AADEAF3A}"/>
              </a:ext>
            </a:extLst>
          </p:cNvPr>
          <p:cNvSpPr/>
          <p:nvPr/>
        </p:nvSpPr>
        <p:spPr>
          <a:xfrm>
            <a:off x="5905300" y="432551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90</a:t>
            </a:r>
            <a:endParaRPr lang="zh-CN" altLang="en-US" sz="1800">
              <a:solidFill>
                <a:srgbClr val="0000FF"/>
              </a:solidFill>
              <a:latin typeface="Consolas" pitchFamily="49" charset="0"/>
              <a:cs typeface="Consolas" pitchFamily="49" charset="0"/>
            </a:endParaRPr>
          </a:p>
        </p:txBody>
      </p:sp>
      <p:sp>
        <p:nvSpPr>
          <p:cNvPr id="30" name="椭圆 29">
            <a:extLst>
              <a:ext uri="{FF2B5EF4-FFF2-40B4-BE49-F238E27FC236}">
                <a16:creationId xmlns:a16="http://schemas.microsoft.com/office/drawing/2014/main" id="{EC5DFFAA-BF92-4C2A-4A67-4DA739D69F43}"/>
              </a:ext>
            </a:extLst>
          </p:cNvPr>
          <p:cNvSpPr/>
          <p:nvPr/>
        </p:nvSpPr>
        <p:spPr>
          <a:xfrm>
            <a:off x="5266292" y="515126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85</a:t>
            </a:r>
            <a:endParaRPr lang="zh-CN" altLang="en-US" sz="1800">
              <a:solidFill>
                <a:srgbClr val="0000FF"/>
              </a:solidFill>
              <a:latin typeface="Consolas" pitchFamily="49" charset="0"/>
              <a:cs typeface="Consolas" pitchFamily="49" charset="0"/>
            </a:endParaRPr>
          </a:p>
        </p:txBody>
      </p:sp>
      <p:sp>
        <p:nvSpPr>
          <p:cNvPr id="31" name="椭圆 30">
            <a:extLst>
              <a:ext uri="{FF2B5EF4-FFF2-40B4-BE49-F238E27FC236}">
                <a16:creationId xmlns:a16="http://schemas.microsoft.com/office/drawing/2014/main" id="{2464C19A-A362-92DB-7544-50FF40784720}"/>
              </a:ext>
            </a:extLst>
          </p:cNvPr>
          <p:cNvSpPr/>
          <p:nvPr/>
        </p:nvSpPr>
        <p:spPr>
          <a:xfrm>
            <a:off x="5976738" y="5897153"/>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88</a:t>
            </a:r>
            <a:endParaRPr lang="zh-CN" altLang="en-US" sz="1800">
              <a:solidFill>
                <a:srgbClr val="0000FF"/>
              </a:solidFill>
              <a:latin typeface="Consolas" pitchFamily="49" charset="0"/>
              <a:cs typeface="Consolas" pitchFamily="49" charset="0"/>
            </a:endParaRPr>
          </a:p>
        </p:txBody>
      </p:sp>
      <p:cxnSp>
        <p:nvCxnSpPr>
          <p:cNvPr id="32" name="直接连接符 31">
            <a:extLst>
              <a:ext uri="{FF2B5EF4-FFF2-40B4-BE49-F238E27FC236}">
                <a16:creationId xmlns:a16="http://schemas.microsoft.com/office/drawing/2014/main" id="{1EBD0522-252D-62A1-98A1-48B377699202}"/>
              </a:ext>
            </a:extLst>
          </p:cNvPr>
          <p:cNvCxnSpPr>
            <a:stCxn id="14" idx="5"/>
            <a:endCxn id="29" idx="1"/>
          </p:cNvCxnSpPr>
          <p:nvPr/>
        </p:nvCxnSpPr>
        <p:spPr>
          <a:xfrm rot="16200000" flipH="1">
            <a:off x="5526682" y="3952171"/>
            <a:ext cx="403980" cy="50087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3" name="直接连接符 32">
            <a:extLst>
              <a:ext uri="{FF2B5EF4-FFF2-40B4-BE49-F238E27FC236}">
                <a16:creationId xmlns:a16="http://schemas.microsoft.com/office/drawing/2014/main" id="{3AE88347-0C9E-C966-AFD2-FD0415077E18}"/>
              </a:ext>
            </a:extLst>
          </p:cNvPr>
          <p:cNvCxnSpPr>
            <a:stCxn id="29" idx="3"/>
            <a:endCxn id="30" idx="7"/>
          </p:cNvCxnSpPr>
          <p:nvPr/>
        </p:nvCxnSpPr>
        <p:spPr>
          <a:xfrm rot="5400000">
            <a:off x="5615839" y="4867080"/>
            <a:ext cx="443914" cy="28262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4" name="直接连接符 33">
            <a:extLst>
              <a:ext uri="{FF2B5EF4-FFF2-40B4-BE49-F238E27FC236}">
                <a16:creationId xmlns:a16="http://schemas.microsoft.com/office/drawing/2014/main" id="{ADB53481-D143-796A-1ADE-8FE5219DBA69}"/>
              </a:ext>
            </a:extLst>
          </p:cNvPr>
          <p:cNvCxnSpPr>
            <a:stCxn id="30" idx="5"/>
            <a:endCxn id="31" idx="1"/>
          </p:cNvCxnSpPr>
          <p:nvPr/>
        </p:nvCxnSpPr>
        <p:spPr>
          <a:xfrm rot="16200000" flipH="1">
            <a:off x="5691492" y="5617179"/>
            <a:ext cx="364046" cy="35406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5" name="TextBox 27">
            <a:extLst>
              <a:ext uri="{FF2B5EF4-FFF2-40B4-BE49-F238E27FC236}">
                <a16:creationId xmlns:a16="http://schemas.microsoft.com/office/drawing/2014/main" id="{92BC2FCD-4299-7411-5598-1FA53D1DB130}"/>
              </a:ext>
            </a:extLst>
          </p:cNvPr>
          <p:cNvSpPr txBox="1"/>
          <p:nvPr/>
        </p:nvSpPr>
        <p:spPr>
          <a:xfrm>
            <a:off x="622822" y="3545750"/>
            <a:ext cx="1357322" cy="369332"/>
          </a:xfrm>
          <a:prstGeom prst="rect">
            <a:avLst/>
          </a:prstGeom>
          <a:noFill/>
        </p:spPr>
        <p:txBody>
          <a:bodyPr wrap="square" rtlCol="0">
            <a:spAutoFit/>
          </a:bodyPr>
          <a:lstStyle/>
          <a:p>
            <a:pPr algn="l"/>
            <a:r>
              <a:rPr lang="zh-CN" altLang="en-US" sz="1800" b="1">
                <a:solidFill>
                  <a:srgbClr val="3333FF"/>
                </a:solidFill>
                <a:latin typeface="Consolas" pitchFamily="49" charset="0"/>
                <a:ea typeface="楷体" pitchFamily="49" charset="-122"/>
                <a:cs typeface="Consolas" pitchFamily="49" charset="0"/>
              </a:rPr>
              <a:t>查找：</a:t>
            </a:r>
            <a:r>
              <a:rPr lang="en-US" altLang="zh-CN" sz="1800" b="1">
                <a:solidFill>
                  <a:srgbClr val="FF00FF"/>
                </a:solidFill>
                <a:latin typeface="Consolas" pitchFamily="49" charset="0"/>
                <a:ea typeface="楷体" pitchFamily="49" charset="-122"/>
                <a:cs typeface="Consolas" pitchFamily="49" charset="0"/>
              </a:rPr>
              <a:t>35</a:t>
            </a:r>
            <a:endParaRPr lang="zh-CN" altLang="en-US" sz="1800" b="1" dirty="0">
              <a:solidFill>
                <a:srgbClr val="FF00FF"/>
              </a:solidFill>
              <a:latin typeface="Consolas" pitchFamily="49" charset="0"/>
              <a:ea typeface="楷体" pitchFamily="49" charset="-122"/>
              <a:cs typeface="Consolas" pitchFamily="49" charset="0"/>
            </a:endParaRPr>
          </a:p>
        </p:txBody>
      </p:sp>
      <p:sp>
        <p:nvSpPr>
          <p:cNvPr id="36" name="椭圆 35">
            <a:extLst>
              <a:ext uri="{FF2B5EF4-FFF2-40B4-BE49-F238E27FC236}">
                <a16:creationId xmlns:a16="http://schemas.microsoft.com/office/drawing/2014/main" id="{FA80DB60-49A2-09D9-5B2B-F82E68E7058D}"/>
              </a:ext>
            </a:extLst>
          </p:cNvPr>
          <p:cNvSpPr/>
          <p:nvPr/>
        </p:nvSpPr>
        <p:spPr>
          <a:xfrm>
            <a:off x="3980408" y="2795175"/>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50</a:t>
            </a:r>
            <a:endParaRPr lang="zh-CN" altLang="en-US" sz="1800">
              <a:solidFill>
                <a:schemeClr val="bg1"/>
              </a:solidFill>
              <a:latin typeface="Consolas" pitchFamily="49" charset="0"/>
              <a:cs typeface="Consolas" pitchFamily="49" charset="0"/>
            </a:endParaRPr>
          </a:p>
        </p:txBody>
      </p:sp>
      <p:sp>
        <p:nvSpPr>
          <p:cNvPr id="37" name="椭圆 36">
            <a:extLst>
              <a:ext uri="{FF2B5EF4-FFF2-40B4-BE49-F238E27FC236}">
                <a16:creationId xmlns:a16="http://schemas.microsoft.com/office/drawing/2014/main" id="{BAB49637-F7EC-6FCB-5D4B-9F402E45F20F}"/>
              </a:ext>
            </a:extLst>
          </p:cNvPr>
          <p:cNvSpPr/>
          <p:nvPr/>
        </p:nvSpPr>
        <p:spPr>
          <a:xfrm>
            <a:off x="2765962" y="3541059"/>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30</a:t>
            </a:r>
            <a:endParaRPr lang="zh-CN" altLang="en-US" sz="1800">
              <a:solidFill>
                <a:schemeClr val="bg1"/>
              </a:solidFill>
              <a:latin typeface="Consolas" pitchFamily="49" charset="0"/>
              <a:cs typeface="Consolas" pitchFamily="49" charset="0"/>
            </a:endParaRPr>
          </a:p>
        </p:txBody>
      </p:sp>
      <p:cxnSp>
        <p:nvCxnSpPr>
          <p:cNvPr id="38" name="直接连接符 37">
            <a:extLst>
              <a:ext uri="{FF2B5EF4-FFF2-40B4-BE49-F238E27FC236}">
                <a16:creationId xmlns:a16="http://schemas.microsoft.com/office/drawing/2014/main" id="{2FA1D9B4-D05E-B254-AB84-4AC14A5D6AD5}"/>
              </a:ext>
            </a:extLst>
          </p:cNvPr>
          <p:cNvCxnSpPr/>
          <p:nvPr/>
        </p:nvCxnSpPr>
        <p:spPr>
          <a:xfrm rot="10800000" flipV="1">
            <a:off x="3176057" y="3095326"/>
            <a:ext cx="797776" cy="444430"/>
          </a:xfrm>
          <a:prstGeom prst="line">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39" name="椭圆 38">
            <a:extLst>
              <a:ext uri="{FF2B5EF4-FFF2-40B4-BE49-F238E27FC236}">
                <a16:creationId xmlns:a16="http://schemas.microsoft.com/office/drawing/2014/main" id="{4107A01D-EEED-D36E-A98E-F5036826B8CB}"/>
              </a:ext>
            </a:extLst>
          </p:cNvPr>
          <p:cNvSpPr/>
          <p:nvPr/>
        </p:nvSpPr>
        <p:spPr>
          <a:xfrm>
            <a:off x="3762160" y="4326877"/>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40</a:t>
            </a:r>
            <a:endParaRPr lang="zh-CN" altLang="en-US" sz="1800">
              <a:solidFill>
                <a:schemeClr val="bg1"/>
              </a:solidFill>
              <a:latin typeface="Consolas" pitchFamily="49" charset="0"/>
              <a:cs typeface="Consolas" pitchFamily="49" charset="0"/>
            </a:endParaRPr>
          </a:p>
        </p:txBody>
      </p:sp>
      <p:sp>
        <p:nvSpPr>
          <p:cNvPr id="40" name="椭圆 39">
            <a:extLst>
              <a:ext uri="{FF2B5EF4-FFF2-40B4-BE49-F238E27FC236}">
                <a16:creationId xmlns:a16="http://schemas.microsoft.com/office/drawing/2014/main" id="{DA7B250A-1BF5-3E17-C45A-74501227A821}"/>
              </a:ext>
            </a:extLst>
          </p:cNvPr>
          <p:cNvSpPr/>
          <p:nvPr/>
        </p:nvSpPr>
        <p:spPr>
          <a:xfrm>
            <a:off x="3051714" y="5152629"/>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35</a:t>
            </a:r>
            <a:endParaRPr lang="zh-CN" altLang="en-US" sz="1800">
              <a:solidFill>
                <a:schemeClr val="bg1"/>
              </a:solidFill>
              <a:latin typeface="Consolas" pitchFamily="49" charset="0"/>
              <a:cs typeface="Consolas" pitchFamily="49" charset="0"/>
            </a:endParaRPr>
          </a:p>
        </p:txBody>
      </p:sp>
      <p:cxnSp>
        <p:nvCxnSpPr>
          <p:cNvPr id="41" name="直接连接符 40">
            <a:extLst>
              <a:ext uri="{FF2B5EF4-FFF2-40B4-BE49-F238E27FC236}">
                <a16:creationId xmlns:a16="http://schemas.microsoft.com/office/drawing/2014/main" id="{72392555-19DF-5619-1F03-76848E128F35}"/>
              </a:ext>
            </a:extLst>
          </p:cNvPr>
          <p:cNvCxnSpPr/>
          <p:nvPr/>
        </p:nvCxnSpPr>
        <p:spPr>
          <a:xfrm>
            <a:off x="3339490" y="3831502"/>
            <a:ext cx="569480" cy="484364"/>
          </a:xfrm>
          <a:prstGeom prst="line">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42" name="直接连接符 41">
            <a:extLst>
              <a:ext uri="{FF2B5EF4-FFF2-40B4-BE49-F238E27FC236}">
                <a16:creationId xmlns:a16="http://schemas.microsoft.com/office/drawing/2014/main" id="{BA0C5C51-9DF0-85B8-A97B-A555D3E85C05}"/>
              </a:ext>
            </a:extLst>
          </p:cNvPr>
          <p:cNvCxnSpPr/>
          <p:nvPr/>
        </p:nvCxnSpPr>
        <p:spPr>
          <a:xfrm rot="5400000">
            <a:off x="3489885" y="4911513"/>
            <a:ext cx="443914" cy="354064"/>
          </a:xfrm>
          <a:prstGeom prst="line">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43" name="TextBox 35">
            <a:extLst>
              <a:ext uri="{FF2B5EF4-FFF2-40B4-BE49-F238E27FC236}">
                <a16:creationId xmlns:a16="http://schemas.microsoft.com/office/drawing/2014/main" id="{8149692F-72BF-9C30-10CE-093858D0E1BF}"/>
              </a:ext>
            </a:extLst>
          </p:cNvPr>
          <p:cNvSpPr txBox="1"/>
          <p:nvPr/>
        </p:nvSpPr>
        <p:spPr>
          <a:xfrm>
            <a:off x="8048440" y="3029612"/>
            <a:ext cx="3979286" cy="19851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0"/>
              </a:spcBef>
              <a:buBlip>
                <a:blip r:embed="rId2"/>
              </a:buBlip>
            </a:pPr>
            <a:r>
              <a:rPr lang="zh-CN" altLang="en-US" sz="2000" b="1">
                <a:solidFill>
                  <a:srgbClr val="0000FF"/>
                </a:solidFill>
                <a:latin typeface="Consolas" pitchFamily="49" charset="0"/>
                <a:ea typeface="仿宋" pitchFamily="49" charset="-122"/>
                <a:cs typeface="Consolas" pitchFamily="49" charset="0"/>
              </a:rPr>
              <a:t>从根结点开始，查找最后落在某个</a:t>
            </a:r>
            <a:r>
              <a:rPr lang="zh-CN" altLang="en-US" sz="2000" b="1">
                <a:solidFill>
                  <a:srgbClr val="FF0000"/>
                </a:solidFill>
                <a:latin typeface="Consolas" pitchFamily="49" charset="0"/>
                <a:ea typeface="仿宋" pitchFamily="49" charset="-122"/>
                <a:cs typeface="Consolas" pitchFamily="49" charset="0"/>
              </a:rPr>
              <a:t>内部结点</a:t>
            </a:r>
            <a:r>
              <a:rPr lang="zh-CN" altLang="en-US" sz="2000" b="1">
                <a:solidFill>
                  <a:srgbClr val="0000FF"/>
                </a:solidFill>
                <a:latin typeface="Consolas" pitchFamily="49" charset="0"/>
                <a:ea typeface="仿宋" pitchFamily="49" charset="-122"/>
                <a:cs typeface="Consolas" pitchFamily="49" charset="0"/>
              </a:rPr>
              <a:t>中</a:t>
            </a:r>
            <a:endParaRPr lang="en-US" altLang="zh-CN" sz="2000" b="1">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en-US" sz="2000" b="1">
                <a:solidFill>
                  <a:srgbClr val="0000FF"/>
                </a:solidFill>
                <a:latin typeface="Consolas" pitchFamily="49" charset="0"/>
                <a:ea typeface="仿宋" pitchFamily="49" charset="-122"/>
                <a:cs typeface="Consolas" pitchFamily="49" charset="0"/>
              </a:rPr>
              <a:t>比较次数为该内部结点的层次</a:t>
            </a:r>
            <a:endParaRPr lang="en-US" altLang="zh-CN" sz="2000" b="1">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en-US" sz="2000" b="1">
                <a:solidFill>
                  <a:srgbClr val="0000FF"/>
                </a:solidFill>
                <a:latin typeface="Consolas" pitchFamily="49" charset="0"/>
                <a:ea typeface="仿宋" pitchFamily="49" charset="-122"/>
                <a:cs typeface="Consolas" pitchFamily="49" charset="0"/>
              </a:rPr>
              <a:t>查找路径是二叉排序树的一部分，本身也是一棵二叉排序树</a:t>
            </a:r>
            <a:endParaRPr lang="zh-CN" altLang="en-US" sz="2000" b="1" dirty="0">
              <a:solidFill>
                <a:srgbClr val="0000FF"/>
              </a:solidFill>
              <a:latin typeface="Consolas" pitchFamily="49" charset="0"/>
              <a:ea typeface="仿宋" pitchFamily="49" charset="-122"/>
              <a:cs typeface="Consolas" pitchFamily="49" charset="0"/>
            </a:endParaRPr>
          </a:p>
        </p:txBody>
      </p:sp>
      <p:sp>
        <p:nvSpPr>
          <p:cNvPr id="44" name="TextBox 36">
            <a:extLst>
              <a:ext uri="{FF2B5EF4-FFF2-40B4-BE49-F238E27FC236}">
                <a16:creationId xmlns:a16="http://schemas.microsoft.com/office/drawing/2014/main" id="{38DD617C-DA32-76D7-0A26-C7C85E3FBE05}"/>
              </a:ext>
            </a:extLst>
          </p:cNvPr>
          <p:cNvSpPr txBox="1"/>
          <p:nvPr/>
        </p:nvSpPr>
        <p:spPr>
          <a:xfrm>
            <a:off x="7623746" y="2873207"/>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1</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5" name="TextBox 39">
            <a:extLst>
              <a:ext uri="{FF2B5EF4-FFF2-40B4-BE49-F238E27FC236}">
                <a16:creationId xmlns:a16="http://schemas.microsoft.com/office/drawing/2014/main" id="{48DBCEC4-A1C3-8219-4F5D-6A0F898E4CD4}"/>
              </a:ext>
            </a:extLst>
          </p:cNvPr>
          <p:cNvSpPr txBox="1"/>
          <p:nvPr/>
        </p:nvSpPr>
        <p:spPr>
          <a:xfrm>
            <a:off x="7480870" y="2424483"/>
            <a:ext cx="785818" cy="369332"/>
          </a:xfrm>
          <a:prstGeom prst="rect">
            <a:avLst/>
          </a:prstGeom>
          <a:noFill/>
        </p:spPr>
        <p:txBody>
          <a:bodyPr wrap="square" rtlCol="0">
            <a:spAutoFit/>
          </a:bodyPr>
          <a:lstStyle/>
          <a:p>
            <a:pPr algn="l"/>
            <a:r>
              <a:rPr lang="zh-CN" altLang="en-US" sz="1800" b="1">
                <a:solidFill>
                  <a:srgbClr val="3333FF"/>
                </a:solidFill>
                <a:latin typeface="仿宋" pitchFamily="49" charset="-122"/>
                <a:ea typeface="仿宋" pitchFamily="49" charset="-122"/>
                <a:cs typeface="Times New Roman" pitchFamily="18" charset="0"/>
              </a:rPr>
              <a:t>层次</a:t>
            </a:r>
            <a:endParaRPr lang="zh-CN" altLang="en-US" sz="1800" b="1" dirty="0">
              <a:solidFill>
                <a:srgbClr val="3333FF"/>
              </a:solidFill>
              <a:latin typeface="仿宋" pitchFamily="49" charset="-122"/>
              <a:ea typeface="仿宋" pitchFamily="49" charset="-122"/>
              <a:cs typeface="Times New Roman" pitchFamily="18" charset="0"/>
            </a:endParaRPr>
          </a:p>
        </p:txBody>
      </p:sp>
      <p:sp>
        <p:nvSpPr>
          <p:cNvPr id="46" name="TextBox 40">
            <a:extLst>
              <a:ext uri="{FF2B5EF4-FFF2-40B4-BE49-F238E27FC236}">
                <a16:creationId xmlns:a16="http://schemas.microsoft.com/office/drawing/2014/main" id="{26D13452-5FE5-7378-CD48-3907517B5F91}"/>
              </a:ext>
            </a:extLst>
          </p:cNvPr>
          <p:cNvSpPr txBox="1"/>
          <p:nvPr/>
        </p:nvSpPr>
        <p:spPr>
          <a:xfrm>
            <a:off x="7623746" y="3599839"/>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2</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7" name="TextBox 42">
            <a:extLst>
              <a:ext uri="{FF2B5EF4-FFF2-40B4-BE49-F238E27FC236}">
                <a16:creationId xmlns:a16="http://schemas.microsoft.com/office/drawing/2014/main" id="{25F9FCC9-A9EA-451A-2593-FE4CDB1FB0AA}"/>
              </a:ext>
            </a:extLst>
          </p:cNvPr>
          <p:cNvSpPr txBox="1"/>
          <p:nvPr/>
        </p:nvSpPr>
        <p:spPr>
          <a:xfrm>
            <a:off x="7623746" y="4436889"/>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3</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8" name="TextBox 44">
            <a:extLst>
              <a:ext uri="{FF2B5EF4-FFF2-40B4-BE49-F238E27FC236}">
                <a16:creationId xmlns:a16="http://schemas.microsoft.com/office/drawing/2014/main" id="{FA5F104A-8B42-A8A8-F500-905CF7837615}"/>
              </a:ext>
            </a:extLst>
          </p:cNvPr>
          <p:cNvSpPr txBox="1"/>
          <p:nvPr/>
        </p:nvSpPr>
        <p:spPr>
          <a:xfrm>
            <a:off x="7623746" y="5274049"/>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4</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9" name="TextBox 46">
            <a:extLst>
              <a:ext uri="{FF2B5EF4-FFF2-40B4-BE49-F238E27FC236}">
                <a16:creationId xmlns:a16="http://schemas.microsoft.com/office/drawing/2014/main" id="{9CEC95F7-EAB9-8343-E0A0-0E072E02F756}"/>
              </a:ext>
            </a:extLst>
          </p:cNvPr>
          <p:cNvSpPr txBox="1"/>
          <p:nvPr/>
        </p:nvSpPr>
        <p:spPr>
          <a:xfrm>
            <a:off x="7623746" y="5988429"/>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5</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50" name="TextBox 48">
            <a:extLst>
              <a:ext uri="{FF2B5EF4-FFF2-40B4-BE49-F238E27FC236}">
                <a16:creationId xmlns:a16="http://schemas.microsoft.com/office/drawing/2014/main" id="{065F218C-B0CF-3271-E9CF-69FC74D0E847}"/>
              </a:ext>
            </a:extLst>
          </p:cNvPr>
          <p:cNvSpPr txBox="1"/>
          <p:nvPr/>
        </p:nvSpPr>
        <p:spPr>
          <a:xfrm>
            <a:off x="4389344" y="1797558"/>
            <a:ext cx="3571900" cy="483960"/>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r>
              <a:rPr lang="zh-CN" altLang="en-US" sz="2200" b="1">
                <a:solidFill>
                  <a:schemeClr val="bg1"/>
                </a:solidFill>
                <a:latin typeface="微软雅黑" pitchFamily="34" charset="-122"/>
                <a:ea typeface="微软雅黑" pitchFamily="34" charset="-122"/>
                <a:cs typeface="Times New Roman" pitchFamily="18" charset="0"/>
              </a:rPr>
              <a:t>二叉排序树查找性能分析</a:t>
            </a:r>
            <a:endParaRPr lang="zh-CN" altLang="en-US" sz="2200" b="1" dirty="0">
              <a:solidFill>
                <a:schemeClr val="bg1"/>
              </a:solidFill>
              <a:latin typeface="微软雅黑" pitchFamily="34" charset="-122"/>
              <a:ea typeface="微软雅黑" pitchFamily="34" charset="-122"/>
              <a:cs typeface="Times New Roman" pitchFamily="18" charset="0"/>
            </a:endParaRPr>
          </a:p>
        </p:txBody>
      </p:sp>
      <p:sp>
        <p:nvSpPr>
          <p:cNvPr id="51" name="TextBox 50">
            <a:extLst>
              <a:ext uri="{FF2B5EF4-FFF2-40B4-BE49-F238E27FC236}">
                <a16:creationId xmlns:a16="http://schemas.microsoft.com/office/drawing/2014/main" id="{EE44F54A-2D3E-67D8-937D-6471D446624E}"/>
              </a:ext>
            </a:extLst>
          </p:cNvPr>
          <p:cNvSpPr txBox="1"/>
          <p:nvPr/>
        </p:nvSpPr>
        <p:spPr>
          <a:xfrm>
            <a:off x="551384" y="2902808"/>
            <a:ext cx="2357454" cy="417358"/>
          </a:xfrm>
          <a:prstGeom prst="rect">
            <a:avLst/>
          </a:prstGeom>
          <a:noFill/>
        </p:spPr>
        <p:txBody>
          <a:bodyPr wrap="square" lIns="0" rIns="0" rtlCol="0">
            <a:spAutoFit/>
          </a:bodyPr>
          <a:lstStyle/>
          <a:p>
            <a:pPr algn="l">
              <a:lnSpc>
                <a:spcPts val="2800"/>
              </a:lnSpc>
            </a:pPr>
            <a:r>
              <a:rPr lang="zh-CN" altLang="en-US" sz="2000" b="1">
                <a:solidFill>
                  <a:srgbClr val="3333FF"/>
                </a:solidFill>
                <a:latin typeface="仿宋" pitchFamily="49" charset="-122"/>
                <a:ea typeface="仿宋" pitchFamily="49" charset="-122"/>
                <a:cs typeface="Times New Roman" pitchFamily="18" charset="0"/>
              </a:rPr>
              <a:t>一棵二叉排序树 </a:t>
            </a:r>
            <a:r>
              <a:rPr lang="zh-CN" altLang="en-US" sz="2000" b="1">
                <a:latin typeface="仿宋" pitchFamily="49" charset="-122"/>
                <a:ea typeface="仿宋" pitchFamily="49" charset="-122"/>
                <a:cs typeface="Times New Roman" pitchFamily="18" charset="0"/>
                <a:sym typeface="Wingdings"/>
              </a:rPr>
              <a:t></a:t>
            </a:r>
            <a:r>
              <a:rPr lang="zh-CN" altLang="en-US" sz="2000" b="1">
                <a:solidFill>
                  <a:srgbClr val="3333FF"/>
                </a:solidFill>
                <a:latin typeface="仿宋" pitchFamily="49" charset="-122"/>
                <a:ea typeface="仿宋" pitchFamily="49" charset="-122"/>
                <a:cs typeface="Times New Roman" pitchFamily="18" charset="0"/>
              </a:rPr>
              <a:t> </a:t>
            </a:r>
            <a:endParaRPr lang="zh-CN" altLang="en-US" sz="2000" b="1" dirty="0">
              <a:solidFill>
                <a:srgbClr val="3333FF"/>
              </a:solidFill>
              <a:latin typeface="仿宋" pitchFamily="49" charset="-122"/>
              <a:ea typeface="仿宋" pitchFamily="49" charset="-122"/>
              <a:cs typeface="Times New Roman" pitchFamily="18" charset="0"/>
            </a:endParaRPr>
          </a:p>
        </p:txBody>
      </p:sp>
    </p:spTree>
    <p:extLst>
      <p:ext uri="{BB962C8B-B14F-4D97-AF65-F5344CB8AC3E}">
        <p14:creationId xmlns:p14="http://schemas.microsoft.com/office/powerpoint/2010/main" val="47753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animBg="1"/>
      <p:bldP spid="39" grpId="0" animBg="1"/>
      <p:bldP spid="40" grpId="0" animBg="1"/>
      <p:bldP spid="4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CAA0-184F-4DEB-AD9B-5DD031FF6F5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7F23303-4DDA-6FC4-5DE5-AA532D3BA0AD}"/>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00A22D3B-4F6F-F701-B5A2-E31C37FFF0EB}"/>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32757C50-3657-3051-C495-E3D0C27A8EA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C50F34F0-4905-7BBF-90EB-B57AF8F32A5E}"/>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cxnSp>
        <p:nvCxnSpPr>
          <p:cNvPr id="21" name="直接连接符 20">
            <a:extLst>
              <a:ext uri="{FF2B5EF4-FFF2-40B4-BE49-F238E27FC236}">
                <a16:creationId xmlns:a16="http://schemas.microsoft.com/office/drawing/2014/main" id="{839C7327-480C-E005-55D7-B1C3D8C905DA}"/>
              </a:ext>
            </a:extLst>
          </p:cNvPr>
          <p:cNvCxnSpPr>
            <a:endCxn id="80" idx="1"/>
          </p:cNvCxnSpPr>
          <p:nvPr/>
        </p:nvCxnSpPr>
        <p:spPr>
          <a:xfrm flipV="1">
            <a:off x="5133540" y="2534408"/>
            <a:ext cx="542928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4B300E2B-1A6C-0E65-00AB-D2EA6791381F}"/>
              </a:ext>
            </a:extLst>
          </p:cNvPr>
          <p:cNvCxnSpPr>
            <a:endCxn id="81" idx="1"/>
          </p:cNvCxnSpPr>
          <p:nvPr/>
        </p:nvCxnSpPr>
        <p:spPr>
          <a:xfrm flipV="1">
            <a:off x="4061970" y="3320226"/>
            <a:ext cx="65008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23" name="直接连接符 22">
            <a:extLst>
              <a:ext uri="{FF2B5EF4-FFF2-40B4-BE49-F238E27FC236}">
                <a16:creationId xmlns:a16="http://schemas.microsoft.com/office/drawing/2014/main" id="{295D7B3B-D2AD-25FA-ACEC-931EC02E930D}"/>
              </a:ext>
            </a:extLst>
          </p:cNvPr>
          <p:cNvCxnSpPr>
            <a:endCxn id="82" idx="1"/>
          </p:cNvCxnSpPr>
          <p:nvPr/>
        </p:nvCxnSpPr>
        <p:spPr>
          <a:xfrm>
            <a:off x="3776218" y="4135692"/>
            <a:ext cx="678661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24" name="直接连接符 23">
            <a:extLst>
              <a:ext uri="{FF2B5EF4-FFF2-40B4-BE49-F238E27FC236}">
                <a16:creationId xmlns:a16="http://schemas.microsoft.com/office/drawing/2014/main" id="{6A6F3E19-466D-1BE1-97B6-4FD9C92C9F25}"/>
              </a:ext>
            </a:extLst>
          </p:cNvPr>
          <p:cNvCxnSpPr>
            <a:endCxn id="83" idx="1"/>
          </p:cNvCxnSpPr>
          <p:nvPr/>
        </p:nvCxnSpPr>
        <p:spPr>
          <a:xfrm flipV="1">
            <a:off x="4419160" y="4861718"/>
            <a:ext cx="614366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25" name="椭圆 24">
            <a:extLst>
              <a:ext uri="{FF2B5EF4-FFF2-40B4-BE49-F238E27FC236}">
                <a16:creationId xmlns:a16="http://schemas.microsoft.com/office/drawing/2014/main" id="{E9B0224D-6A25-914A-0080-52AC87DD51D6}"/>
              </a:ext>
            </a:extLst>
          </p:cNvPr>
          <p:cNvSpPr/>
          <p:nvPr/>
        </p:nvSpPr>
        <p:spPr>
          <a:xfrm>
            <a:off x="6919490" y="151258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50</a:t>
            </a:r>
            <a:endParaRPr lang="zh-CN" altLang="en-US" sz="1800">
              <a:solidFill>
                <a:srgbClr val="0000FF"/>
              </a:solidFill>
              <a:latin typeface="Consolas" pitchFamily="49" charset="0"/>
              <a:cs typeface="Consolas" pitchFamily="49" charset="0"/>
            </a:endParaRPr>
          </a:p>
        </p:txBody>
      </p:sp>
      <p:sp>
        <p:nvSpPr>
          <p:cNvPr id="26" name="椭圆 25">
            <a:extLst>
              <a:ext uri="{FF2B5EF4-FFF2-40B4-BE49-F238E27FC236}">
                <a16:creationId xmlns:a16="http://schemas.microsoft.com/office/drawing/2014/main" id="{9E07217E-A8BB-40A9-463D-09F7FE1D8F93}"/>
              </a:ext>
            </a:extLst>
          </p:cNvPr>
          <p:cNvSpPr/>
          <p:nvPr/>
        </p:nvSpPr>
        <p:spPr>
          <a:xfrm>
            <a:off x="5705044" y="225846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30</a:t>
            </a:r>
            <a:endParaRPr lang="zh-CN" altLang="en-US" sz="1800">
              <a:solidFill>
                <a:srgbClr val="0000FF"/>
              </a:solidFill>
              <a:latin typeface="Consolas" pitchFamily="49" charset="0"/>
              <a:cs typeface="Consolas" pitchFamily="49" charset="0"/>
            </a:endParaRPr>
          </a:p>
        </p:txBody>
      </p:sp>
      <p:sp>
        <p:nvSpPr>
          <p:cNvPr id="27" name="椭圆 26">
            <a:extLst>
              <a:ext uri="{FF2B5EF4-FFF2-40B4-BE49-F238E27FC236}">
                <a16:creationId xmlns:a16="http://schemas.microsoft.com/office/drawing/2014/main" id="{6A2E098C-5C0B-D7E0-2582-1170650F48AD}"/>
              </a:ext>
            </a:extLst>
          </p:cNvPr>
          <p:cNvSpPr/>
          <p:nvPr/>
        </p:nvSpPr>
        <p:spPr>
          <a:xfrm>
            <a:off x="7987126" y="225846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80</a:t>
            </a:r>
            <a:endParaRPr lang="zh-CN" altLang="en-US" sz="1800">
              <a:solidFill>
                <a:srgbClr val="0000FF"/>
              </a:solidFill>
              <a:latin typeface="Consolas" pitchFamily="49" charset="0"/>
              <a:cs typeface="Consolas" pitchFamily="49" charset="0"/>
            </a:endParaRPr>
          </a:p>
        </p:txBody>
      </p:sp>
      <p:cxnSp>
        <p:nvCxnSpPr>
          <p:cNvPr id="28" name="直接连接符 27">
            <a:extLst>
              <a:ext uri="{FF2B5EF4-FFF2-40B4-BE49-F238E27FC236}">
                <a16:creationId xmlns:a16="http://schemas.microsoft.com/office/drawing/2014/main" id="{C14D185C-7675-1556-7130-6557A1E1DD21}"/>
              </a:ext>
            </a:extLst>
          </p:cNvPr>
          <p:cNvCxnSpPr>
            <a:endCxn id="26" idx="7"/>
          </p:cNvCxnSpPr>
          <p:nvPr/>
        </p:nvCxnSpPr>
        <p:spPr>
          <a:xfrm rot="10800000" flipV="1">
            <a:off x="6135235" y="1893117"/>
            <a:ext cx="797776" cy="44443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9" name="直接连接符 28">
            <a:extLst>
              <a:ext uri="{FF2B5EF4-FFF2-40B4-BE49-F238E27FC236}">
                <a16:creationId xmlns:a16="http://schemas.microsoft.com/office/drawing/2014/main" id="{DCE91A2A-2F0F-DDCD-7FFD-B0F83BE99381}"/>
              </a:ext>
            </a:extLst>
          </p:cNvPr>
          <p:cNvCxnSpPr>
            <a:endCxn id="27" idx="1"/>
          </p:cNvCxnSpPr>
          <p:nvPr/>
        </p:nvCxnSpPr>
        <p:spPr>
          <a:xfrm>
            <a:off x="7420017" y="1883069"/>
            <a:ext cx="640918" cy="45447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30" name="椭圆 29">
            <a:extLst>
              <a:ext uri="{FF2B5EF4-FFF2-40B4-BE49-F238E27FC236}">
                <a16:creationId xmlns:a16="http://schemas.microsoft.com/office/drawing/2014/main" id="{ED7146CD-3C07-AEE1-6FAD-89ED6A445A67}"/>
              </a:ext>
            </a:extLst>
          </p:cNvPr>
          <p:cNvSpPr/>
          <p:nvPr/>
        </p:nvSpPr>
        <p:spPr>
          <a:xfrm>
            <a:off x="4704912" y="3044284"/>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20</a:t>
            </a:r>
            <a:endParaRPr lang="zh-CN" altLang="en-US" sz="1800">
              <a:solidFill>
                <a:srgbClr val="0000FF"/>
              </a:solidFill>
              <a:latin typeface="Consolas" pitchFamily="49" charset="0"/>
              <a:cs typeface="Consolas" pitchFamily="49" charset="0"/>
            </a:endParaRPr>
          </a:p>
        </p:txBody>
      </p:sp>
      <p:sp>
        <p:nvSpPr>
          <p:cNvPr id="31" name="椭圆 30">
            <a:extLst>
              <a:ext uri="{FF2B5EF4-FFF2-40B4-BE49-F238E27FC236}">
                <a16:creationId xmlns:a16="http://schemas.microsoft.com/office/drawing/2014/main" id="{B6B91661-AC1D-FA30-4D0D-FB4E4C9C649B}"/>
              </a:ext>
            </a:extLst>
          </p:cNvPr>
          <p:cNvSpPr/>
          <p:nvPr/>
        </p:nvSpPr>
        <p:spPr>
          <a:xfrm>
            <a:off x="4061970" y="387003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10</a:t>
            </a:r>
            <a:endParaRPr lang="zh-CN" altLang="en-US" sz="1800">
              <a:solidFill>
                <a:srgbClr val="0000FF"/>
              </a:solidFill>
              <a:latin typeface="Consolas" pitchFamily="49" charset="0"/>
              <a:cs typeface="Consolas" pitchFamily="49" charset="0"/>
            </a:endParaRPr>
          </a:p>
        </p:txBody>
      </p:sp>
      <p:sp>
        <p:nvSpPr>
          <p:cNvPr id="32" name="椭圆 31">
            <a:extLst>
              <a:ext uri="{FF2B5EF4-FFF2-40B4-BE49-F238E27FC236}">
                <a16:creationId xmlns:a16="http://schemas.microsoft.com/office/drawing/2014/main" id="{27AA6A0B-0148-B5DF-F79B-EE627AA481A9}"/>
              </a:ext>
            </a:extLst>
          </p:cNvPr>
          <p:cNvSpPr/>
          <p:nvPr/>
        </p:nvSpPr>
        <p:spPr>
          <a:xfrm>
            <a:off x="5343920" y="387003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25</a:t>
            </a:r>
            <a:endParaRPr lang="zh-CN" altLang="en-US" sz="1800">
              <a:solidFill>
                <a:srgbClr val="0000FF"/>
              </a:solidFill>
              <a:latin typeface="Consolas" pitchFamily="49" charset="0"/>
              <a:cs typeface="Consolas" pitchFamily="49" charset="0"/>
            </a:endParaRPr>
          </a:p>
        </p:txBody>
      </p:sp>
      <p:sp>
        <p:nvSpPr>
          <p:cNvPr id="33" name="椭圆 32">
            <a:extLst>
              <a:ext uri="{FF2B5EF4-FFF2-40B4-BE49-F238E27FC236}">
                <a16:creationId xmlns:a16="http://schemas.microsoft.com/office/drawing/2014/main" id="{5AB5F4BB-EA4F-78EA-455F-D10C60FB2842}"/>
              </a:ext>
            </a:extLst>
          </p:cNvPr>
          <p:cNvSpPr/>
          <p:nvPr/>
        </p:nvSpPr>
        <p:spPr>
          <a:xfrm>
            <a:off x="4704912" y="461592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23</a:t>
            </a:r>
            <a:endParaRPr lang="zh-CN" altLang="en-US" sz="1800">
              <a:solidFill>
                <a:srgbClr val="0000FF"/>
              </a:solidFill>
              <a:latin typeface="Consolas" pitchFamily="49" charset="0"/>
              <a:cs typeface="Consolas" pitchFamily="49" charset="0"/>
            </a:endParaRPr>
          </a:p>
        </p:txBody>
      </p:sp>
      <p:cxnSp>
        <p:nvCxnSpPr>
          <p:cNvPr id="34" name="直接连接符 33">
            <a:extLst>
              <a:ext uri="{FF2B5EF4-FFF2-40B4-BE49-F238E27FC236}">
                <a16:creationId xmlns:a16="http://schemas.microsoft.com/office/drawing/2014/main" id="{2974D2E7-AA01-EC8C-5DE2-EA557473ACDE}"/>
              </a:ext>
            </a:extLst>
          </p:cNvPr>
          <p:cNvCxnSpPr>
            <a:stCxn id="30" idx="3"/>
            <a:endCxn id="31" idx="7"/>
          </p:cNvCxnSpPr>
          <p:nvPr/>
        </p:nvCxnSpPr>
        <p:spPr>
          <a:xfrm rot="5400000">
            <a:off x="4413484" y="3583880"/>
            <a:ext cx="443914" cy="28656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5" name="直接连接符 34">
            <a:extLst>
              <a:ext uri="{FF2B5EF4-FFF2-40B4-BE49-F238E27FC236}">
                <a16:creationId xmlns:a16="http://schemas.microsoft.com/office/drawing/2014/main" id="{F806DC8F-A592-37DF-931B-C2C535718A61}"/>
              </a:ext>
            </a:extLst>
          </p:cNvPr>
          <p:cNvCxnSpPr>
            <a:stCxn id="30" idx="5"/>
            <a:endCxn id="32" idx="1"/>
          </p:cNvCxnSpPr>
          <p:nvPr/>
        </p:nvCxnSpPr>
        <p:spPr>
          <a:xfrm rot="16200000" flipH="1">
            <a:off x="5054459" y="3585847"/>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6" name="直接连接符 35">
            <a:extLst>
              <a:ext uri="{FF2B5EF4-FFF2-40B4-BE49-F238E27FC236}">
                <a16:creationId xmlns:a16="http://schemas.microsoft.com/office/drawing/2014/main" id="{76234362-40BC-EBF6-6DD0-E69295EA09AB}"/>
              </a:ext>
            </a:extLst>
          </p:cNvPr>
          <p:cNvCxnSpPr>
            <a:stCxn id="32" idx="3"/>
            <a:endCxn id="33" idx="7"/>
          </p:cNvCxnSpPr>
          <p:nvPr/>
        </p:nvCxnSpPr>
        <p:spPr>
          <a:xfrm rot="5400000">
            <a:off x="5094393" y="4371665"/>
            <a:ext cx="364046"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7" name="直接连接符 36">
            <a:extLst>
              <a:ext uri="{FF2B5EF4-FFF2-40B4-BE49-F238E27FC236}">
                <a16:creationId xmlns:a16="http://schemas.microsoft.com/office/drawing/2014/main" id="{7356A5ED-1E31-5CED-D9C2-9AEBAABFAB58}"/>
              </a:ext>
            </a:extLst>
          </p:cNvPr>
          <p:cNvCxnSpPr>
            <a:endCxn id="30" idx="7"/>
          </p:cNvCxnSpPr>
          <p:nvPr/>
        </p:nvCxnSpPr>
        <p:spPr>
          <a:xfrm rot="10800000" flipV="1">
            <a:off x="5135103" y="2639001"/>
            <a:ext cx="59351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38" name="椭圆 37">
            <a:extLst>
              <a:ext uri="{FF2B5EF4-FFF2-40B4-BE49-F238E27FC236}">
                <a16:creationId xmlns:a16="http://schemas.microsoft.com/office/drawing/2014/main" id="{61FCC701-12B0-1D53-3846-4FB45D30306A}"/>
              </a:ext>
            </a:extLst>
          </p:cNvPr>
          <p:cNvSpPr/>
          <p:nvPr/>
        </p:nvSpPr>
        <p:spPr>
          <a:xfrm>
            <a:off x="6701242" y="3044284"/>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40</a:t>
            </a:r>
            <a:endParaRPr lang="zh-CN" altLang="en-US" sz="1800">
              <a:solidFill>
                <a:srgbClr val="0000FF"/>
              </a:solidFill>
              <a:latin typeface="Consolas" pitchFamily="49" charset="0"/>
              <a:cs typeface="Consolas" pitchFamily="49" charset="0"/>
            </a:endParaRPr>
          </a:p>
        </p:txBody>
      </p:sp>
      <p:sp>
        <p:nvSpPr>
          <p:cNvPr id="39" name="椭圆 38">
            <a:extLst>
              <a:ext uri="{FF2B5EF4-FFF2-40B4-BE49-F238E27FC236}">
                <a16:creationId xmlns:a16="http://schemas.microsoft.com/office/drawing/2014/main" id="{12002A62-53EB-AECA-053B-20AC43C9532C}"/>
              </a:ext>
            </a:extLst>
          </p:cNvPr>
          <p:cNvSpPr/>
          <p:nvPr/>
        </p:nvSpPr>
        <p:spPr>
          <a:xfrm>
            <a:off x="5990796" y="387003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cxnSp>
        <p:nvCxnSpPr>
          <p:cNvPr id="40" name="直接连接符 39">
            <a:extLst>
              <a:ext uri="{FF2B5EF4-FFF2-40B4-BE49-F238E27FC236}">
                <a16:creationId xmlns:a16="http://schemas.microsoft.com/office/drawing/2014/main" id="{7EF87C76-2FC6-EDE3-DF53-E32D345569E6}"/>
              </a:ext>
            </a:extLst>
          </p:cNvPr>
          <p:cNvCxnSpPr>
            <a:endCxn id="38" idx="1"/>
          </p:cNvCxnSpPr>
          <p:nvPr/>
        </p:nvCxnSpPr>
        <p:spPr>
          <a:xfrm>
            <a:off x="6205571" y="2639001"/>
            <a:ext cx="56948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41" name="直接连接符 40">
            <a:extLst>
              <a:ext uri="{FF2B5EF4-FFF2-40B4-BE49-F238E27FC236}">
                <a16:creationId xmlns:a16="http://schemas.microsoft.com/office/drawing/2014/main" id="{416B38EB-3663-35AE-686E-5CBC6EBA1F7D}"/>
              </a:ext>
            </a:extLst>
          </p:cNvPr>
          <p:cNvCxnSpPr>
            <a:stCxn id="38" idx="3"/>
            <a:endCxn id="39" idx="7"/>
          </p:cNvCxnSpPr>
          <p:nvPr/>
        </p:nvCxnSpPr>
        <p:spPr>
          <a:xfrm rot="5400000">
            <a:off x="6376062" y="3550128"/>
            <a:ext cx="443914" cy="35406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42" name="椭圆 41">
            <a:extLst>
              <a:ext uri="{FF2B5EF4-FFF2-40B4-BE49-F238E27FC236}">
                <a16:creationId xmlns:a16="http://schemas.microsoft.com/office/drawing/2014/main" id="{C6BA6D13-C202-4243-8060-DBE43431CAC9}"/>
              </a:ext>
            </a:extLst>
          </p:cNvPr>
          <p:cNvSpPr/>
          <p:nvPr/>
        </p:nvSpPr>
        <p:spPr>
          <a:xfrm>
            <a:off x="8844382" y="3044284"/>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90</a:t>
            </a:r>
            <a:endParaRPr lang="zh-CN" altLang="en-US" sz="1800">
              <a:solidFill>
                <a:srgbClr val="0000FF"/>
              </a:solidFill>
              <a:latin typeface="Consolas" pitchFamily="49" charset="0"/>
              <a:cs typeface="Consolas" pitchFamily="49" charset="0"/>
            </a:endParaRPr>
          </a:p>
        </p:txBody>
      </p:sp>
      <p:sp>
        <p:nvSpPr>
          <p:cNvPr id="72" name="椭圆 71">
            <a:extLst>
              <a:ext uri="{FF2B5EF4-FFF2-40B4-BE49-F238E27FC236}">
                <a16:creationId xmlns:a16="http://schemas.microsoft.com/office/drawing/2014/main" id="{7718D3D0-0AC8-264F-5829-541B3724E4AB}"/>
              </a:ext>
            </a:extLst>
          </p:cNvPr>
          <p:cNvSpPr/>
          <p:nvPr/>
        </p:nvSpPr>
        <p:spPr>
          <a:xfrm>
            <a:off x="8205374" y="387003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85</a:t>
            </a:r>
            <a:endParaRPr lang="zh-CN" altLang="en-US" sz="1800">
              <a:solidFill>
                <a:srgbClr val="0000FF"/>
              </a:solidFill>
              <a:latin typeface="Consolas" pitchFamily="49" charset="0"/>
              <a:cs typeface="Consolas" pitchFamily="49" charset="0"/>
            </a:endParaRPr>
          </a:p>
        </p:txBody>
      </p:sp>
      <p:cxnSp>
        <p:nvCxnSpPr>
          <p:cNvPr id="73" name="直接连接符 72">
            <a:extLst>
              <a:ext uri="{FF2B5EF4-FFF2-40B4-BE49-F238E27FC236}">
                <a16:creationId xmlns:a16="http://schemas.microsoft.com/office/drawing/2014/main" id="{4CAB00A2-538A-5097-A9E8-96AD4B1F4D6F}"/>
              </a:ext>
            </a:extLst>
          </p:cNvPr>
          <p:cNvCxnSpPr>
            <a:stCxn id="27" idx="5"/>
            <a:endCxn id="42" idx="1"/>
          </p:cNvCxnSpPr>
          <p:nvPr/>
        </p:nvCxnSpPr>
        <p:spPr>
          <a:xfrm rot="16200000" flipH="1">
            <a:off x="8465764" y="2670938"/>
            <a:ext cx="403980" cy="50087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74" name="直接连接符 73">
            <a:extLst>
              <a:ext uri="{FF2B5EF4-FFF2-40B4-BE49-F238E27FC236}">
                <a16:creationId xmlns:a16="http://schemas.microsoft.com/office/drawing/2014/main" id="{CDFDE373-1000-72C3-54B0-8FD7EFC8A81A}"/>
              </a:ext>
            </a:extLst>
          </p:cNvPr>
          <p:cNvCxnSpPr>
            <a:stCxn id="42" idx="3"/>
            <a:endCxn id="72" idx="7"/>
          </p:cNvCxnSpPr>
          <p:nvPr/>
        </p:nvCxnSpPr>
        <p:spPr>
          <a:xfrm rot="5400000">
            <a:off x="8554921" y="3585847"/>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75" name="直接连接符 74">
            <a:extLst>
              <a:ext uri="{FF2B5EF4-FFF2-40B4-BE49-F238E27FC236}">
                <a16:creationId xmlns:a16="http://schemas.microsoft.com/office/drawing/2014/main" id="{4E12C2E9-89B5-2018-C442-2CB56505593F}"/>
              </a:ext>
            </a:extLst>
          </p:cNvPr>
          <p:cNvCxnSpPr>
            <a:stCxn id="72" idx="5"/>
            <a:endCxn id="85" idx="1"/>
          </p:cNvCxnSpPr>
          <p:nvPr/>
        </p:nvCxnSpPr>
        <p:spPr>
          <a:xfrm rot="16200000" flipH="1">
            <a:off x="8630574" y="4335946"/>
            <a:ext cx="364046" cy="3540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76" name="直接连接符 75">
            <a:extLst>
              <a:ext uri="{FF2B5EF4-FFF2-40B4-BE49-F238E27FC236}">
                <a16:creationId xmlns:a16="http://schemas.microsoft.com/office/drawing/2014/main" id="{63C28BF1-6D9F-9999-0FFD-E24B071D1B60}"/>
              </a:ext>
            </a:extLst>
          </p:cNvPr>
          <p:cNvCxnSpPr/>
          <p:nvPr/>
        </p:nvCxnSpPr>
        <p:spPr>
          <a:xfrm>
            <a:off x="6205571" y="2640361"/>
            <a:ext cx="569480" cy="484364"/>
          </a:xfrm>
          <a:prstGeom prst="line">
            <a:avLst/>
          </a:prstGeom>
          <a:ln>
            <a:tailEnd type="none"/>
          </a:ln>
        </p:spPr>
        <p:style>
          <a:lnRef idx="2">
            <a:schemeClr val="accent2"/>
          </a:lnRef>
          <a:fillRef idx="0">
            <a:schemeClr val="accent2"/>
          </a:fillRef>
          <a:effectRef idx="1">
            <a:schemeClr val="accent2"/>
          </a:effectRef>
          <a:fontRef idx="minor">
            <a:schemeClr val="tx1"/>
          </a:fontRef>
        </p:style>
      </p:cxnSp>
      <p:sp>
        <p:nvSpPr>
          <p:cNvPr id="77" name="TextBox 36">
            <a:extLst>
              <a:ext uri="{FF2B5EF4-FFF2-40B4-BE49-F238E27FC236}">
                <a16:creationId xmlns:a16="http://schemas.microsoft.com/office/drawing/2014/main" id="{A708E2CD-5398-F4AB-E0D4-B694EC877BA4}"/>
              </a:ext>
            </a:extLst>
          </p:cNvPr>
          <p:cNvSpPr txBox="1"/>
          <p:nvPr/>
        </p:nvSpPr>
        <p:spPr>
          <a:xfrm>
            <a:off x="10562828" y="1612070"/>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1</a:t>
            </a:r>
            <a:endParaRPr lang="zh-CN" altLang="en-US" sz="1800" b="1" dirty="0">
              <a:latin typeface="Consolas" pitchFamily="49" charset="0"/>
              <a:ea typeface="楷体" pitchFamily="49" charset="-122"/>
              <a:cs typeface="Consolas" pitchFamily="49" charset="0"/>
            </a:endParaRPr>
          </a:p>
        </p:txBody>
      </p:sp>
      <p:cxnSp>
        <p:nvCxnSpPr>
          <p:cNvPr id="78" name="直接连接符 77">
            <a:extLst>
              <a:ext uri="{FF2B5EF4-FFF2-40B4-BE49-F238E27FC236}">
                <a16:creationId xmlns:a16="http://schemas.microsoft.com/office/drawing/2014/main" id="{B3A8C4BD-A935-22DB-A0AB-50D3646C9566}"/>
              </a:ext>
            </a:extLst>
          </p:cNvPr>
          <p:cNvCxnSpPr>
            <a:endCxn id="77" idx="1"/>
          </p:cNvCxnSpPr>
          <p:nvPr/>
        </p:nvCxnSpPr>
        <p:spPr>
          <a:xfrm>
            <a:off x="7633870" y="1767088"/>
            <a:ext cx="29289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79" name="TextBox 39">
            <a:extLst>
              <a:ext uri="{FF2B5EF4-FFF2-40B4-BE49-F238E27FC236}">
                <a16:creationId xmlns:a16="http://schemas.microsoft.com/office/drawing/2014/main" id="{64FB63FB-B60F-A63A-47BA-DC1F82479ABD}"/>
              </a:ext>
            </a:extLst>
          </p:cNvPr>
          <p:cNvSpPr txBox="1"/>
          <p:nvPr/>
        </p:nvSpPr>
        <p:spPr>
          <a:xfrm>
            <a:off x="10419952" y="1143250"/>
            <a:ext cx="785818" cy="369332"/>
          </a:xfrm>
          <a:prstGeom prst="rect">
            <a:avLst/>
          </a:prstGeom>
          <a:noFill/>
        </p:spPr>
        <p:txBody>
          <a:bodyPr wrap="square" rtlCol="0">
            <a:spAutoFit/>
          </a:bodyPr>
          <a:lstStyle/>
          <a:p>
            <a:pPr algn="l"/>
            <a:r>
              <a:rPr lang="zh-CN" altLang="en-US" sz="1800" b="1">
                <a:solidFill>
                  <a:srgbClr val="3333FF"/>
                </a:solidFill>
                <a:latin typeface="仿宋" pitchFamily="49" charset="-122"/>
                <a:ea typeface="仿宋" pitchFamily="49" charset="-122"/>
                <a:cs typeface="Times New Roman" pitchFamily="18" charset="0"/>
              </a:rPr>
              <a:t>层次</a:t>
            </a:r>
            <a:endParaRPr lang="zh-CN" altLang="en-US" sz="1800" b="1" dirty="0">
              <a:solidFill>
                <a:srgbClr val="3333FF"/>
              </a:solidFill>
              <a:latin typeface="仿宋" pitchFamily="49" charset="-122"/>
              <a:ea typeface="仿宋" pitchFamily="49" charset="-122"/>
              <a:cs typeface="Times New Roman" pitchFamily="18" charset="0"/>
            </a:endParaRPr>
          </a:p>
        </p:txBody>
      </p:sp>
      <p:sp>
        <p:nvSpPr>
          <p:cNvPr id="80" name="TextBox 40">
            <a:extLst>
              <a:ext uri="{FF2B5EF4-FFF2-40B4-BE49-F238E27FC236}">
                <a16:creationId xmlns:a16="http://schemas.microsoft.com/office/drawing/2014/main" id="{C4FC2CCE-240C-5DAA-834E-2D15FB0F7F82}"/>
              </a:ext>
            </a:extLst>
          </p:cNvPr>
          <p:cNvSpPr txBox="1"/>
          <p:nvPr/>
        </p:nvSpPr>
        <p:spPr>
          <a:xfrm>
            <a:off x="10562828" y="2349742"/>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2</a:t>
            </a:r>
            <a:endParaRPr lang="zh-CN" altLang="en-US" sz="1800" b="1" dirty="0">
              <a:latin typeface="Consolas" pitchFamily="49" charset="0"/>
              <a:ea typeface="楷体" pitchFamily="49" charset="-122"/>
              <a:cs typeface="Consolas" pitchFamily="49" charset="0"/>
            </a:endParaRPr>
          </a:p>
        </p:txBody>
      </p:sp>
      <p:sp>
        <p:nvSpPr>
          <p:cNvPr id="81" name="TextBox 42">
            <a:extLst>
              <a:ext uri="{FF2B5EF4-FFF2-40B4-BE49-F238E27FC236}">
                <a16:creationId xmlns:a16="http://schemas.microsoft.com/office/drawing/2014/main" id="{2A695890-1050-A399-D67A-81E6CA445C9D}"/>
              </a:ext>
            </a:extLst>
          </p:cNvPr>
          <p:cNvSpPr txBox="1"/>
          <p:nvPr/>
        </p:nvSpPr>
        <p:spPr>
          <a:xfrm>
            <a:off x="10562828" y="3135560"/>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3</a:t>
            </a:r>
            <a:endParaRPr lang="zh-CN" altLang="en-US" sz="1800" b="1" dirty="0">
              <a:latin typeface="Consolas" pitchFamily="49" charset="0"/>
              <a:ea typeface="楷体" pitchFamily="49" charset="-122"/>
              <a:cs typeface="Consolas" pitchFamily="49" charset="0"/>
            </a:endParaRPr>
          </a:p>
        </p:txBody>
      </p:sp>
      <p:sp>
        <p:nvSpPr>
          <p:cNvPr id="82" name="TextBox 44">
            <a:extLst>
              <a:ext uri="{FF2B5EF4-FFF2-40B4-BE49-F238E27FC236}">
                <a16:creationId xmlns:a16="http://schemas.microsoft.com/office/drawing/2014/main" id="{1F2BC470-09D4-A58D-0395-D0FA4D02BF27}"/>
              </a:ext>
            </a:extLst>
          </p:cNvPr>
          <p:cNvSpPr txBox="1"/>
          <p:nvPr/>
        </p:nvSpPr>
        <p:spPr>
          <a:xfrm>
            <a:off x="10562828" y="3992816"/>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4</a:t>
            </a:r>
            <a:endParaRPr lang="zh-CN" altLang="en-US" sz="1800" b="1" dirty="0">
              <a:latin typeface="Consolas" pitchFamily="49" charset="0"/>
              <a:ea typeface="楷体" pitchFamily="49" charset="-122"/>
              <a:cs typeface="Consolas" pitchFamily="49" charset="0"/>
            </a:endParaRPr>
          </a:p>
        </p:txBody>
      </p:sp>
      <p:sp>
        <p:nvSpPr>
          <p:cNvPr id="83" name="TextBox 46">
            <a:extLst>
              <a:ext uri="{FF2B5EF4-FFF2-40B4-BE49-F238E27FC236}">
                <a16:creationId xmlns:a16="http://schemas.microsoft.com/office/drawing/2014/main" id="{62ED1B0A-B1B2-F28E-4168-BDA99B4088AA}"/>
              </a:ext>
            </a:extLst>
          </p:cNvPr>
          <p:cNvSpPr txBox="1"/>
          <p:nvPr/>
        </p:nvSpPr>
        <p:spPr>
          <a:xfrm>
            <a:off x="10562828" y="4677052"/>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5</a:t>
            </a:r>
            <a:endParaRPr lang="zh-CN" altLang="en-US" sz="1800" b="1" dirty="0">
              <a:latin typeface="Consolas" pitchFamily="49" charset="0"/>
              <a:ea typeface="楷体" pitchFamily="49" charset="-122"/>
              <a:cs typeface="Consolas" pitchFamily="49" charset="0"/>
            </a:endParaRPr>
          </a:p>
        </p:txBody>
      </p:sp>
      <p:pic>
        <p:nvPicPr>
          <p:cNvPr id="84" name="Picture 2">
            <a:extLst>
              <a:ext uri="{FF2B5EF4-FFF2-40B4-BE49-F238E27FC236}">
                <a16:creationId xmlns:a16="http://schemas.microsoft.com/office/drawing/2014/main" id="{A8CB65E5-F3C8-14B5-E681-C58684B567A3}"/>
              </a:ext>
            </a:extLst>
          </p:cNvPr>
          <p:cNvPicPr>
            <a:picLocks noChangeAspect="1" noChangeArrowheads="1"/>
          </p:cNvPicPr>
          <p:nvPr/>
        </p:nvPicPr>
        <p:blipFill>
          <a:blip r:embed="rId2" cstate="print"/>
          <a:srcRect/>
          <a:stretch>
            <a:fillRect/>
          </a:stretch>
        </p:blipFill>
        <p:spPr bwMode="auto">
          <a:xfrm>
            <a:off x="5417729" y="5694168"/>
            <a:ext cx="6143668" cy="831152"/>
          </a:xfrm>
          <a:prstGeom prst="rect">
            <a:avLst/>
          </a:prstGeom>
          <a:noFill/>
          <a:ln w="9525">
            <a:noFill/>
            <a:miter lim="800000"/>
            <a:headEnd/>
            <a:tailEnd/>
          </a:ln>
        </p:spPr>
      </p:pic>
      <p:sp>
        <p:nvSpPr>
          <p:cNvPr id="85" name="椭圆 84">
            <a:extLst>
              <a:ext uri="{FF2B5EF4-FFF2-40B4-BE49-F238E27FC236}">
                <a16:creationId xmlns:a16="http://schemas.microsoft.com/office/drawing/2014/main" id="{C421BE1D-E232-FD1A-3E90-326F3CF070FD}"/>
              </a:ext>
            </a:extLst>
          </p:cNvPr>
          <p:cNvSpPr/>
          <p:nvPr/>
        </p:nvSpPr>
        <p:spPr>
          <a:xfrm>
            <a:off x="8915820" y="461592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88</a:t>
            </a:r>
            <a:endParaRPr lang="zh-CN" altLang="en-US" sz="1800">
              <a:solidFill>
                <a:srgbClr val="0000FF"/>
              </a:solidFill>
              <a:latin typeface="Consolas" pitchFamily="49" charset="0"/>
              <a:cs typeface="Consolas" pitchFamily="49" charset="0"/>
            </a:endParaRPr>
          </a:p>
        </p:txBody>
      </p:sp>
      <p:sp>
        <p:nvSpPr>
          <p:cNvPr id="86" name="TextBox 48">
            <a:extLst>
              <a:ext uri="{FF2B5EF4-FFF2-40B4-BE49-F238E27FC236}">
                <a16:creationId xmlns:a16="http://schemas.microsoft.com/office/drawing/2014/main" id="{4B0248DD-D143-1A07-7102-DD799048D6A0}"/>
              </a:ext>
            </a:extLst>
          </p:cNvPr>
          <p:cNvSpPr txBox="1"/>
          <p:nvPr/>
        </p:nvSpPr>
        <p:spPr>
          <a:xfrm>
            <a:off x="339947" y="5964008"/>
            <a:ext cx="5214974" cy="400110"/>
          </a:xfrm>
          <a:prstGeom prst="rect">
            <a:avLst/>
          </a:prstGeom>
          <a:noFill/>
        </p:spPr>
        <p:txBody>
          <a:bodyPr wrap="square" rtlCol="0">
            <a:spAutoFit/>
          </a:bodyPr>
          <a:lstStyle/>
          <a:p>
            <a:pPr algn="l"/>
            <a:r>
              <a:rPr lang="zh-CN" altLang="zh-CN" sz="2000" b="1" dirty="0">
                <a:solidFill>
                  <a:srgbClr val="0000FF"/>
                </a:solidFill>
                <a:latin typeface="仿宋" pitchFamily="49" charset="-122"/>
                <a:ea typeface="仿宋" pitchFamily="49" charset="-122"/>
              </a:rPr>
              <a:t>在等概率假设下，查找成功的平均查找长度</a:t>
            </a:r>
            <a:endParaRPr lang="zh-CN" altLang="en-US" sz="2000" b="1" dirty="0">
              <a:solidFill>
                <a:srgbClr val="0000FF"/>
              </a:solidFill>
              <a:latin typeface="仿宋" pitchFamily="49" charset="-122"/>
              <a:ea typeface="仿宋" pitchFamily="49" charset="-122"/>
              <a:cs typeface="Times New Roman" pitchFamily="18" charset="0"/>
            </a:endParaRPr>
          </a:p>
        </p:txBody>
      </p:sp>
    </p:spTree>
    <p:extLst>
      <p:ext uri="{BB962C8B-B14F-4D97-AF65-F5344CB8AC3E}">
        <p14:creationId xmlns:p14="http://schemas.microsoft.com/office/powerpoint/2010/main" val="9413215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2C13F-ABE8-E42E-B57D-A74DB7E6FC9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D08198C-FF0C-C8BC-C3ED-4472D8C39B7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73348C34-5008-B057-990B-9A34B1284AA6}"/>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6BBECB74-544A-DCD6-D9DF-AD964BC0F78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46C85B8E-9AD9-BC09-3837-02E17E06CE25}"/>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grpSp>
        <p:nvGrpSpPr>
          <p:cNvPr id="5" name="组合 37">
            <a:extLst>
              <a:ext uri="{FF2B5EF4-FFF2-40B4-BE49-F238E27FC236}">
                <a16:creationId xmlns:a16="http://schemas.microsoft.com/office/drawing/2014/main" id="{DA226978-C829-F66A-8907-FEBEA46EDA35}"/>
              </a:ext>
            </a:extLst>
          </p:cNvPr>
          <p:cNvGrpSpPr/>
          <p:nvPr/>
        </p:nvGrpSpPr>
        <p:grpSpPr>
          <a:xfrm>
            <a:off x="6091429" y="2504801"/>
            <a:ext cx="1611570" cy="432000"/>
            <a:chOff x="1428728" y="1676933"/>
            <a:chExt cx="1611570" cy="432000"/>
          </a:xfrm>
        </p:grpSpPr>
        <p:sp>
          <p:nvSpPr>
            <p:cNvPr id="6" name="矩形 5">
              <a:extLst>
                <a:ext uri="{FF2B5EF4-FFF2-40B4-BE49-F238E27FC236}">
                  <a16:creationId xmlns:a16="http://schemas.microsoft.com/office/drawing/2014/main" id="{A8BC2316-631E-DFFF-9417-D859D4A82497}"/>
                </a:ext>
              </a:extLst>
            </p:cNvPr>
            <p:cNvSpPr/>
            <p:nvPr/>
          </p:nvSpPr>
          <p:spPr>
            <a:xfrm>
              <a:off x="1960298" y="1676933"/>
              <a:ext cx="540000" cy="432000"/>
            </a:xfrm>
            <a:prstGeom prst="rect">
              <a:avLst/>
            </a:prstGeom>
            <a:blipFill>
              <a:blip r:embed="rId2" cstate="print"/>
              <a:tile tx="0" ty="0" sx="100000" sy="100000" flip="none" algn="tl"/>
            </a:blipFill>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800" b="1">
                <a:solidFill>
                  <a:srgbClr val="3333FF"/>
                </a:solidFill>
              </a:endParaRPr>
            </a:p>
          </p:txBody>
        </p:sp>
        <p:sp>
          <p:nvSpPr>
            <p:cNvPr id="8" name="矩形 7">
              <a:extLst>
                <a:ext uri="{FF2B5EF4-FFF2-40B4-BE49-F238E27FC236}">
                  <a16:creationId xmlns:a16="http://schemas.microsoft.com/office/drawing/2014/main" id="{9207A822-D484-4174-FCF5-CEAB06FDBD2A}"/>
                </a:ext>
              </a:extLst>
            </p:cNvPr>
            <p:cNvSpPr/>
            <p:nvPr/>
          </p:nvSpPr>
          <p:spPr>
            <a:xfrm>
              <a:off x="1428728" y="1676933"/>
              <a:ext cx="540000" cy="432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zh-CN" altLang="en-US" sz="1800" b="1">
                  <a:solidFill>
                    <a:srgbClr val="3333FF"/>
                  </a:solidFill>
                </a:rPr>
                <a:t>∧</a:t>
              </a:r>
            </a:p>
          </p:txBody>
        </p:sp>
        <p:sp>
          <p:nvSpPr>
            <p:cNvPr id="9" name="矩形 8">
              <a:extLst>
                <a:ext uri="{FF2B5EF4-FFF2-40B4-BE49-F238E27FC236}">
                  <a16:creationId xmlns:a16="http://schemas.microsoft.com/office/drawing/2014/main" id="{1E3E775C-BCAE-5835-F4EE-BAA119F2B1FA}"/>
                </a:ext>
              </a:extLst>
            </p:cNvPr>
            <p:cNvSpPr/>
            <p:nvPr/>
          </p:nvSpPr>
          <p:spPr>
            <a:xfrm>
              <a:off x="2500298" y="1676933"/>
              <a:ext cx="540000" cy="432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zh-CN" altLang="en-US" sz="1800" b="1">
                  <a:solidFill>
                    <a:srgbClr val="3333FF"/>
                  </a:solidFill>
                </a:rPr>
                <a:t>∧</a:t>
              </a:r>
            </a:p>
          </p:txBody>
        </p:sp>
      </p:grpSp>
      <p:cxnSp>
        <p:nvCxnSpPr>
          <p:cNvPr id="10" name="直接箭头连接符 9">
            <a:extLst>
              <a:ext uri="{FF2B5EF4-FFF2-40B4-BE49-F238E27FC236}">
                <a16:creationId xmlns:a16="http://schemas.microsoft.com/office/drawing/2014/main" id="{E6E0F4D4-1F01-785C-3E6C-AE9DD8AA1056}"/>
              </a:ext>
            </a:extLst>
          </p:cNvPr>
          <p:cNvCxnSpPr/>
          <p:nvPr/>
        </p:nvCxnSpPr>
        <p:spPr>
          <a:xfrm rot="16200000" flipH="1">
            <a:off x="6305743" y="2147611"/>
            <a:ext cx="357190" cy="35719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 name="TextBox 21">
            <a:extLst>
              <a:ext uri="{FF2B5EF4-FFF2-40B4-BE49-F238E27FC236}">
                <a16:creationId xmlns:a16="http://schemas.microsoft.com/office/drawing/2014/main" id="{53F5F94A-1758-1911-4998-C0C213A9DFED}"/>
              </a:ext>
            </a:extLst>
          </p:cNvPr>
          <p:cNvSpPr txBox="1"/>
          <p:nvPr/>
        </p:nvSpPr>
        <p:spPr>
          <a:xfrm>
            <a:off x="5958601" y="1958710"/>
            <a:ext cx="428628" cy="369332"/>
          </a:xfrm>
          <a:prstGeom prst="rect">
            <a:avLst/>
          </a:prstGeom>
          <a:noFill/>
        </p:spPr>
        <p:txBody>
          <a:bodyPr wrap="square" rtlCol="0">
            <a:spAutoFit/>
          </a:bodyPr>
          <a:lstStyle/>
          <a:p>
            <a:r>
              <a:rPr lang="en-US" altLang="zh-CN" sz="1800" b="1" i="1">
                <a:solidFill>
                  <a:srgbClr val="3333FF"/>
                </a:solidFill>
                <a:latin typeface="Consolas" pitchFamily="49" charset="0"/>
                <a:ea typeface="楷体" pitchFamily="49" charset="-122"/>
                <a:cs typeface="Consolas" pitchFamily="49" charset="0"/>
              </a:rPr>
              <a:t>p</a:t>
            </a:r>
            <a:endParaRPr lang="zh-CN" altLang="en-US" sz="1800" b="1" i="1" dirty="0">
              <a:solidFill>
                <a:srgbClr val="3333FF"/>
              </a:solidFill>
              <a:latin typeface="Consolas" pitchFamily="49" charset="0"/>
              <a:ea typeface="楷体" pitchFamily="49" charset="-122"/>
              <a:cs typeface="Consolas" pitchFamily="49" charset="0"/>
            </a:endParaRPr>
          </a:p>
        </p:txBody>
      </p:sp>
      <p:sp>
        <p:nvSpPr>
          <p:cNvPr id="12" name="TextBox 22">
            <a:extLst>
              <a:ext uri="{FF2B5EF4-FFF2-40B4-BE49-F238E27FC236}">
                <a16:creationId xmlns:a16="http://schemas.microsoft.com/office/drawing/2014/main" id="{8C26A2F1-55E4-8D5E-EAF5-E92BF2EFB534}"/>
              </a:ext>
            </a:extLst>
          </p:cNvPr>
          <p:cNvSpPr txBox="1"/>
          <p:nvPr/>
        </p:nvSpPr>
        <p:spPr>
          <a:xfrm>
            <a:off x="6520057" y="1861859"/>
            <a:ext cx="2143140" cy="369332"/>
          </a:xfrm>
          <a:prstGeom prst="rect">
            <a:avLst/>
          </a:prstGeom>
          <a:noFill/>
        </p:spPr>
        <p:txBody>
          <a:bodyPr wrap="square" rtlCol="0">
            <a:spAutoFit/>
          </a:bodyPr>
          <a:lstStyle/>
          <a:p>
            <a:r>
              <a:rPr lang="zh-CN" altLang="en-US" sz="1800" b="1">
                <a:solidFill>
                  <a:srgbClr val="3333FF"/>
                </a:solidFill>
                <a:latin typeface="Consolas" pitchFamily="49" charset="0"/>
                <a:ea typeface="仿宋" pitchFamily="49" charset="-122"/>
                <a:cs typeface="Consolas" pitchFamily="49" charset="0"/>
              </a:rPr>
              <a:t>查找到</a:t>
            </a:r>
            <a:r>
              <a:rPr lang="en-US" altLang="zh-CN" sz="1800" b="1" i="1">
                <a:solidFill>
                  <a:srgbClr val="3333FF"/>
                </a:solidFill>
                <a:latin typeface="Consolas" pitchFamily="49" charset="0"/>
                <a:ea typeface="仿宋" pitchFamily="49" charset="-122"/>
                <a:cs typeface="Consolas" pitchFamily="49" charset="0"/>
              </a:rPr>
              <a:t>p</a:t>
            </a:r>
            <a:r>
              <a:rPr lang="zh-CN" altLang="en-US" sz="1800" b="1">
                <a:solidFill>
                  <a:srgbClr val="3333FF"/>
                </a:solidFill>
                <a:latin typeface="Consolas" pitchFamily="49" charset="0"/>
                <a:ea typeface="仿宋" pitchFamily="49" charset="-122"/>
                <a:cs typeface="Consolas" pitchFamily="49" charset="0"/>
              </a:rPr>
              <a:t>所指结点</a:t>
            </a:r>
            <a:endParaRPr lang="zh-CN" altLang="en-US" sz="1800" b="1" dirty="0">
              <a:solidFill>
                <a:srgbClr val="3333FF"/>
              </a:solidFill>
              <a:latin typeface="Consolas" pitchFamily="49" charset="0"/>
              <a:ea typeface="仿宋" pitchFamily="49" charset="-122"/>
              <a:cs typeface="Consolas" pitchFamily="49" charset="0"/>
            </a:endParaRPr>
          </a:p>
        </p:txBody>
      </p:sp>
      <p:sp>
        <p:nvSpPr>
          <p:cNvPr id="13" name="TextBox 23">
            <a:extLst>
              <a:ext uri="{FF2B5EF4-FFF2-40B4-BE49-F238E27FC236}">
                <a16:creationId xmlns:a16="http://schemas.microsoft.com/office/drawing/2014/main" id="{B594AF15-BEAF-54E5-0D3C-D6D6DAF8F23D}"/>
              </a:ext>
            </a:extLst>
          </p:cNvPr>
          <p:cNvSpPr txBox="1"/>
          <p:nvPr/>
        </p:nvSpPr>
        <p:spPr>
          <a:xfrm>
            <a:off x="2448091" y="3152210"/>
            <a:ext cx="7286676" cy="1014747"/>
          </a:xfrm>
          <a:prstGeom prst="rect">
            <a:avLst/>
          </a:prstGeom>
          <a:solidFill>
            <a:schemeClr val="bg1">
              <a:lumMod val="95000"/>
            </a:schemeClr>
          </a:solidFill>
        </p:spPr>
        <p:style>
          <a:lnRef idx="3">
            <a:schemeClr val="lt1"/>
          </a:lnRef>
          <a:fillRef idx="1">
            <a:schemeClr val="accent6"/>
          </a:fillRef>
          <a:effectRef idx="1">
            <a:schemeClr val="accent6"/>
          </a:effectRef>
          <a:fontRef idx="minor">
            <a:schemeClr val="lt1"/>
          </a:fontRef>
        </p:style>
        <p:txBody>
          <a:bodyPr wrap="square" lIns="180000" tIns="72000" bIns="72000" rtlCol="0">
            <a:spAutoFit/>
          </a:bodyPr>
          <a:lstStyle/>
          <a:p>
            <a:pPr marL="457200" indent="-457200" algn="l">
              <a:lnSpc>
                <a:spcPct val="150000"/>
              </a:lnSpc>
              <a:buBlip>
                <a:blip r:embed="rId3"/>
              </a:buBlip>
            </a:pPr>
            <a:r>
              <a:rPr lang="zh-CN" altLang="en-US" sz="2000" b="1">
                <a:solidFill>
                  <a:srgbClr val="3333FF"/>
                </a:solidFill>
                <a:latin typeface="Consolas" pitchFamily="49" charset="0"/>
                <a:ea typeface="楷体" pitchFamily="49" charset="-122"/>
                <a:cs typeface="Consolas" pitchFamily="49" charset="0"/>
              </a:rPr>
              <a:t>若</a:t>
            </a:r>
            <a:r>
              <a:rPr lang="en-US" altLang="zh-CN" sz="2000" b="1" i="1">
                <a:solidFill>
                  <a:srgbClr val="3333FF"/>
                </a:solidFill>
                <a:latin typeface="Consolas" pitchFamily="49" charset="0"/>
                <a:ea typeface="楷体" pitchFamily="49" charset="-122"/>
                <a:cs typeface="Consolas" pitchFamily="49" charset="0"/>
              </a:rPr>
              <a:t>k</a:t>
            </a:r>
            <a:r>
              <a:rPr lang="en-US" altLang="zh-CN" sz="2000" b="1">
                <a:solidFill>
                  <a:srgbClr val="3333FF"/>
                </a:solidFill>
                <a:latin typeface="Consolas" pitchFamily="49" charset="0"/>
                <a:ea typeface="楷体" pitchFamily="49" charset="-122"/>
                <a:cs typeface="Consolas" pitchFamily="49" charset="0"/>
              </a:rPr>
              <a:t>&lt;p</a:t>
            </a:r>
            <a:r>
              <a:rPr lang="en-US" altLang="zh-CN" sz="2000" b="1">
                <a:solidFill>
                  <a:srgbClr val="3333FF"/>
                </a:solidFill>
                <a:latin typeface="Consolas" pitchFamily="49" charset="0"/>
                <a:ea typeface="+mj-ea"/>
                <a:cs typeface="Consolas" pitchFamily="49" charset="0"/>
              </a:rPr>
              <a:t>-</a:t>
            </a:r>
            <a:r>
              <a:rPr lang="en-US" altLang="zh-CN" sz="2000" b="1">
                <a:solidFill>
                  <a:srgbClr val="3333FF"/>
                </a:solidFill>
                <a:latin typeface="Consolas" pitchFamily="49" charset="0"/>
                <a:ea typeface="楷体" pitchFamily="49" charset="-122"/>
                <a:cs typeface="Consolas" pitchFamily="49" charset="0"/>
              </a:rPr>
              <a:t>&gt;key</a:t>
            </a:r>
            <a:r>
              <a:rPr lang="zh-CN" altLang="en-US" sz="2000" b="1">
                <a:solidFill>
                  <a:srgbClr val="3333FF"/>
                </a:solidFill>
                <a:latin typeface="Consolas" pitchFamily="49" charset="0"/>
                <a:ea typeface="楷体" pitchFamily="49" charset="-122"/>
                <a:cs typeface="Consolas" pitchFamily="49" charset="0"/>
              </a:rPr>
              <a:t>，并且</a:t>
            </a:r>
            <a:r>
              <a:rPr lang="en-US" altLang="zh-CN" sz="2000" b="1">
                <a:solidFill>
                  <a:srgbClr val="3333FF"/>
                </a:solidFill>
                <a:latin typeface="Consolas" pitchFamily="49" charset="0"/>
                <a:ea typeface="楷体" pitchFamily="49" charset="-122"/>
                <a:cs typeface="Consolas" pitchFamily="49" charset="0"/>
              </a:rPr>
              <a:t>p</a:t>
            </a:r>
            <a:r>
              <a:rPr lang="en-US" altLang="zh-CN" sz="2000" b="1">
                <a:solidFill>
                  <a:srgbClr val="3333FF"/>
                </a:solidFill>
                <a:latin typeface="Consolas" pitchFamily="49" charset="0"/>
                <a:ea typeface="+mj-ea"/>
                <a:cs typeface="Consolas" pitchFamily="49" charset="0"/>
              </a:rPr>
              <a:t>-</a:t>
            </a:r>
            <a:r>
              <a:rPr lang="en-US" altLang="zh-CN" sz="2000" b="1">
                <a:solidFill>
                  <a:srgbClr val="3333FF"/>
                </a:solidFill>
                <a:latin typeface="Consolas" pitchFamily="49" charset="0"/>
                <a:ea typeface="楷体" pitchFamily="49" charset="-122"/>
                <a:cs typeface="Consolas" pitchFamily="49" charset="0"/>
              </a:rPr>
              <a:t>&gt;lchild=NULL</a:t>
            </a:r>
            <a:r>
              <a:rPr lang="zh-CN" altLang="en-US" sz="2000" b="1">
                <a:solidFill>
                  <a:srgbClr val="3333FF"/>
                </a:solidFill>
                <a:latin typeface="Consolas" pitchFamily="49" charset="0"/>
                <a:ea typeface="楷体" pitchFamily="49" charset="-122"/>
                <a:cs typeface="Consolas" pitchFamily="49" charset="0"/>
              </a:rPr>
              <a:t>，查找失败。</a:t>
            </a:r>
            <a:endParaRPr lang="en-US" altLang="zh-CN" sz="2000" b="1">
              <a:solidFill>
                <a:srgbClr val="3333FF"/>
              </a:solidFill>
              <a:latin typeface="Consolas" pitchFamily="49" charset="0"/>
              <a:ea typeface="楷体" pitchFamily="49" charset="-122"/>
              <a:cs typeface="Consolas" pitchFamily="49" charset="0"/>
            </a:endParaRPr>
          </a:p>
          <a:p>
            <a:pPr marL="457200" indent="-457200" algn="l">
              <a:lnSpc>
                <a:spcPct val="150000"/>
              </a:lnSpc>
              <a:buBlip>
                <a:blip r:embed="rId3"/>
              </a:buBlip>
            </a:pPr>
            <a:r>
              <a:rPr lang="zh-CN" altLang="en-US" sz="2000" b="1">
                <a:solidFill>
                  <a:srgbClr val="3333FF"/>
                </a:solidFill>
                <a:latin typeface="Consolas" pitchFamily="49" charset="0"/>
                <a:ea typeface="楷体" pitchFamily="49" charset="-122"/>
                <a:cs typeface="Consolas" pitchFamily="49" charset="0"/>
              </a:rPr>
              <a:t>若</a:t>
            </a:r>
            <a:r>
              <a:rPr lang="en-US" altLang="zh-CN" sz="2000" b="1" i="1">
                <a:solidFill>
                  <a:srgbClr val="3333FF"/>
                </a:solidFill>
                <a:latin typeface="Consolas" pitchFamily="49" charset="0"/>
                <a:ea typeface="楷体" pitchFamily="49" charset="-122"/>
                <a:cs typeface="Consolas" pitchFamily="49" charset="0"/>
              </a:rPr>
              <a:t>k</a:t>
            </a:r>
            <a:r>
              <a:rPr lang="en-US" altLang="zh-CN" sz="2000" b="1">
                <a:solidFill>
                  <a:srgbClr val="3333FF"/>
                </a:solidFill>
                <a:latin typeface="Consolas" pitchFamily="49" charset="0"/>
                <a:ea typeface="楷体" pitchFamily="49" charset="-122"/>
                <a:cs typeface="Consolas" pitchFamily="49" charset="0"/>
              </a:rPr>
              <a:t>&gt;p</a:t>
            </a:r>
            <a:r>
              <a:rPr lang="en-US" altLang="zh-CN" sz="2000" b="1">
                <a:solidFill>
                  <a:srgbClr val="3333FF"/>
                </a:solidFill>
                <a:latin typeface="Consolas" pitchFamily="49" charset="0"/>
                <a:ea typeface="+mj-ea"/>
                <a:cs typeface="Consolas" pitchFamily="49" charset="0"/>
              </a:rPr>
              <a:t>-</a:t>
            </a:r>
            <a:r>
              <a:rPr lang="en-US" altLang="zh-CN" sz="2000" b="1">
                <a:solidFill>
                  <a:srgbClr val="3333FF"/>
                </a:solidFill>
                <a:latin typeface="Consolas" pitchFamily="49" charset="0"/>
                <a:ea typeface="楷体" pitchFamily="49" charset="-122"/>
                <a:cs typeface="Consolas" pitchFamily="49" charset="0"/>
              </a:rPr>
              <a:t>&gt;key</a:t>
            </a:r>
            <a:r>
              <a:rPr lang="zh-CN" altLang="en-US" sz="2000" b="1">
                <a:solidFill>
                  <a:srgbClr val="3333FF"/>
                </a:solidFill>
                <a:latin typeface="Consolas" pitchFamily="49" charset="0"/>
                <a:ea typeface="楷体" pitchFamily="49" charset="-122"/>
                <a:cs typeface="Consolas" pitchFamily="49" charset="0"/>
              </a:rPr>
              <a:t>，并且</a:t>
            </a:r>
            <a:r>
              <a:rPr lang="en-US" altLang="zh-CN" sz="2000" b="1">
                <a:solidFill>
                  <a:srgbClr val="3333FF"/>
                </a:solidFill>
                <a:latin typeface="Consolas" pitchFamily="49" charset="0"/>
                <a:ea typeface="楷体" pitchFamily="49" charset="-122"/>
                <a:cs typeface="Consolas" pitchFamily="49" charset="0"/>
              </a:rPr>
              <a:t>p</a:t>
            </a:r>
            <a:r>
              <a:rPr lang="en-US" altLang="zh-CN" sz="2000" b="1">
                <a:solidFill>
                  <a:srgbClr val="3333FF"/>
                </a:solidFill>
                <a:latin typeface="Consolas" pitchFamily="49" charset="0"/>
                <a:ea typeface="+mj-ea"/>
                <a:cs typeface="Consolas" pitchFamily="49" charset="0"/>
              </a:rPr>
              <a:t>-</a:t>
            </a:r>
            <a:r>
              <a:rPr lang="en-US" altLang="zh-CN" sz="2000" b="1">
                <a:solidFill>
                  <a:srgbClr val="3333FF"/>
                </a:solidFill>
                <a:latin typeface="Consolas" pitchFamily="49" charset="0"/>
                <a:ea typeface="楷体" pitchFamily="49" charset="-122"/>
                <a:cs typeface="Consolas" pitchFamily="49" charset="0"/>
              </a:rPr>
              <a:t>&gt;rchild=NULL</a:t>
            </a:r>
            <a:r>
              <a:rPr lang="zh-CN" altLang="en-US" sz="2000" b="1">
                <a:solidFill>
                  <a:srgbClr val="3333FF"/>
                </a:solidFill>
                <a:latin typeface="Consolas" pitchFamily="49" charset="0"/>
                <a:ea typeface="楷体" pitchFamily="49" charset="-122"/>
                <a:cs typeface="Consolas" pitchFamily="49" charset="0"/>
              </a:rPr>
              <a:t>，查找失败。</a:t>
            </a:r>
            <a:endParaRPr lang="en-US" altLang="zh-CN" sz="2000" b="1">
              <a:solidFill>
                <a:srgbClr val="3333FF"/>
              </a:solidFill>
              <a:latin typeface="Consolas" pitchFamily="49" charset="0"/>
              <a:ea typeface="楷体" pitchFamily="49" charset="-122"/>
              <a:cs typeface="Consolas" pitchFamily="49" charset="0"/>
            </a:endParaRPr>
          </a:p>
        </p:txBody>
      </p:sp>
      <p:sp>
        <p:nvSpPr>
          <p:cNvPr id="14" name="TextBox 24">
            <a:extLst>
              <a:ext uri="{FF2B5EF4-FFF2-40B4-BE49-F238E27FC236}">
                <a16:creationId xmlns:a16="http://schemas.microsoft.com/office/drawing/2014/main" id="{0DCDE262-B717-8018-8B89-755C7A02E842}"/>
              </a:ext>
            </a:extLst>
          </p:cNvPr>
          <p:cNvSpPr txBox="1"/>
          <p:nvPr/>
        </p:nvSpPr>
        <p:spPr>
          <a:xfrm>
            <a:off x="1565766" y="2307301"/>
            <a:ext cx="2714644" cy="40011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l"/>
            <a:r>
              <a:rPr lang="zh-CN" altLang="en-US" sz="2000" b="1">
                <a:solidFill>
                  <a:srgbClr val="FF0000"/>
                </a:solidFill>
                <a:latin typeface="华文中宋" pitchFamily="2" charset="-122"/>
                <a:ea typeface="华文中宋" pitchFamily="2" charset="-122"/>
                <a:cs typeface="Times New Roman" pitchFamily="18" charset="0"/>
                <a:sym typeface="Wingdings"/>
              </a:rPr>
              <a:t> </a:t>
            </a:r>
            <a:r>
              <a:rPr lang="zh-CN" altLang="en-US" sz="2000" b="1">
                <a:solidFill>
                  <a:srgbClr val="FF0000"/>
                </a:solidFill>
                <a:latin typeface="华文中宋" pitchFamily="2" charset="-122"/>
                <a:ea typeface="华文中宋" pitchFamily="2" charset="-122"/>
                <a:cs typeface="Times New Roman" pitchFamily="18" charset="0"/>
              </a:rPr>
              <a:t>查找失败的情况</a:t>
            </a:r>
            <a:endParaRPr lang="zh-CN" altLang="en-US" sz="2000" b="1" dirty="0">
              <a:solidFill>
                <a:srgbClr val="FF0000"/>
              </a:solidFill>
              <a:latin typeface="华文中宋" pitchFamily="2" charset="-122"/>
              <a:ea typeface="华文中宋" pitchFamily="2" charset="-122"/>
              <a:cs typeface="Times New Roman" pitchFamily="18" charset="0"/>
            </a:endParaRPr>
          </a:p>
        </p:txBody>
      </p:sp>
      <p:grpSp>
        <p:nvGrpSpPr>
          <p:cNvPr id="15" name="组合 45">
            <a:extLst>
              <a:ext uri="{FF2B5EF4-FFF2-40B4-BE49-F238E27FC236}">
                <a16:creationId xmlns:a16="http://schemas.microsoft.com/office/drawing/2014/main" id="{63AF6CC6-6B21-8B60-DF83-4FC451E8D91A}"/>
              </a:ext>
            </a:extLst>
          </p:cNvPr>
          <p:cNvGrpSpPr/>
          <p:nvPr/>
        </p:nvGrpSpPr>
        <p:grpSpPr>
          <a:xfrm>
            <a:off x="2939727" y="4271489"/>
            <a:ext cx="5866346" cy="2357454"/>
            <a:chOff x="1563174" y="3500438"/>
            <a:chExt cx="5866346" cy="2357454"/>
          </a:xfrm>
        </p:grpSpPr>
        <p:sp>
          <p:nvSpPr>
            <p:cNvPr id="16" name="TextBox 34">
              <a:extLst>
                <a:ext uri="{FF2B5EF4-FFF2-40B4-BE49-F238E27FC236}">
                  <a16:creationId xmlns:a16="http://schemas.microsoft.com/office/drawing/2014/main" id="{5BB26F74-51A7-F354-A719-461DE0E84BBF}"/>
                </a:ext>
              </a:extLst>
            </p:cNvPr>
            <p:cNvSpPr txBox="1"/>
            <p:nvPr/>
          </p:nvSpPr>
          <p:spPr>
            <a:xfrm>
              <a:off x="3071802" y="3643314"/>
              <a:ext cx="2000264" cy="369332"/>
            </a:xfrm>
            <a:prstGeom prst="rect">
              <a:avLst/>
            </a:prstGeom>
            <a:noFill/>
          </p:spPr>
          <p:txBody>
            <a:bodyPr wrap="square" rtlCol="0">
              <a:spAutoFit/>
            </a:bodyPr>
            <a:lstStyle/>
            <a:p>
              <a:pPr algn="l"/>
              <a:r>
                <a:rPr lang="zh-CN" altLang="en-US" sz="1800" b="1">
                  <a:solidFill>
                    <a:srgbClr val="3333FF"/>
                  </a:solidFill>
                  <a:latin typeface="仿宋" pitchFamily="49" charset="-122"/>
                  <a:ea typeface="仿宋" pitchFamily="49" charset="-122"/>
                  <a:cs typeface="Consolas" pitchFamily="49" charset="0"/>
                </a:rPr>
                <a:t>加上</a:t>
              </a:r>
              <a:r>
                <a:rPr lang="zh-CN" altLang="en-US" sz="1800" b="1">
                  <a:latin typeface="仿宋" pitchFamily="49" charset="-122"/>
                  <a:ea typeface="仿宋" pitchFamily="49" charset="-122"/>
                  <a:cs typeface="Consolas" pitchFamily="49" charset="0"/>
                </a:rPr>
                <a:t>外部结点</a:t>
              </a:r>
              <a:endParaRPr lang="zh-CN" altLang="en-US" sz="1800" b="1" dirty="0">
                <a:latin typeface="仿宋" pitchFamily="49" charset="-122"/>
                <a:ea typeface="仿宋" pitchFamily="49" charset="-122"/>
                <a:cs typeface="Consolas" pitchFamily="49" charset="0"/>
              </a:endParaRPr>
            </a:p>
          </p:txBody>
        </p:sp>
        <p:sp>
          <p:nvSpPr>
            <p:cNvPr id="17" name="下箭头 35">
              <a:extLst>
                <a:ext uri="{FF2B5EF4-FFF2-40B4-BE49-F238E27FC236}">
                  <a16:creationId xmlns:a16="http://schemas.microsoft.com/office/drawing/2014/main" id="{BE09F649-C26A-8A02-BCCE-588AE77DEF2F}"/>
                </a:ext>
              </a:extLst>
            </p:cNvPr>
            <p:cNvSpPr/>
            <p:nvPr/>
          </p:nvSpPr>
          <p:spPr>
            <a:xfrm>
              <a:off x="2857488" y="3500438"/>
              <a:ext cx="214314" cy="71438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8" name="TextBox 19">
              <a:extLst>
                <a:ext uri="{FF2B5EF4-FFF2-40B4-BE49-F238E27FC236}">
                  <a16:creationId xmlns:a16="http://schemas.microsoft.com/office/drawing/2014/main" id="{127FFD19-0F8F-124F-8495-667C51E05FB0}"/>
                </a:ext>
              </a:extLst>
            </p:cNvPr>
            <p:cNvSpPr txBox="1"/>
            <p:nvPr/>
          </p:nvSpPr>
          <p:spPr>
            <a:xfrm>
              <a:off x="4572000" y="4857760"/>
              <a:ext cx="2857520" cy="810478"/>
            </a:xfrm>
            <a:prstGeom prst="rect">
              <a:avLst/>
            </a:prstGeom>
            <a:noFill/>
          </p:spPr>
          <p:txBody>
            <a:bodyPr wrap="square" rtlCol="0">
              <a:spAutoFit/>
            </a:bodyPr>
            <a:lstStyle/>
            <a:p>
              <a:pPr>
                <a:lnSpc>
                  <a:spcPts val="2800"/>
                </a:lnSpc>
              </a:pPr>
              <a:r>
                <a:rPr lang="zh-CN" altLang="en-US" sz="2000" b="1">
                  <a:solidFill>
                    <a:srgbClr val="3333FF"/>
                  </a:solidFill>
                  <a:latin typeface="Consolas" pitchFamily="49" charset="0"/>
                  <a:ea typeface="仿宋" pitchFamily="49" charset="-122"/>
                  <a:cs typeface="Consolas" pitchFamily="49" charset="0"/>
                </a:rPr>
                <a:t>一个外部结点对应某内部结点的一个</a:t>
              </a:r>
              <a:r>
                <a:rPr lang="en-US" altLang="zh-CN" sz="2000" b="1">
                  <a:solidFill>
                    <a:srgbClr val="3333FF"/>
                  </a:solidFill>
                  <a:latin typeface="Consolas" pitchFamily="49" charset="0"/>
                  <a:ea typeface="仿宋" pitchFamily="49" charset="-122"/>
                  <a:cs typeface="Consolas" pitchFamily="49" charset="0"/>
                </a:rPr>
                <a:t>NULL</a:t>
              </a:r>
              <a:r>
                <a:rPr lang="zh-CN" altLang="en-US" sz="2000" b="1">
                  <a:solidFill>
                    <a:srgbClr val="3333FF"/>
                  </a:solidFill>
                  <a:latin typeface="Consolas" pitchFamily="49" charset="0"/>
                  <a:ea typeface="仿宋" pitchFamily="49" charset="-122"/>
                  <a:cs typeface="Consolas" pitchFamily="49" charset="0"/>
                </a:rPr>
                <a:t>指针</a:t>
              </a:r>
              <a:endParaRPr lang="zh-CN" altLang="en-US" sz="2000" b="1" dirty="0">
                <a:solidFill>
                  <a:srgbClr val="3333FF"/>
                </a:solidFill>
                <a:latin typeface="Consolas" pitchFamily="49" charset="0"/>
                <a:ea typeface="仿宋" pitchFamily="49" charset="-122"/>
                <a:cs typeface="Consolas" pitchFamily="49" charset="0"/>
              </a:endParaRPr>
            </a:p>
          </p:txBody>
        </p:sp>
        <p:grpSp>
          <p:nvGrpSpPr>
            <p:cNvPr id="19" name="组合 44">
              <a:extLst>
                <a:ext uri="{FF2B5EF4-FFF2-40B4-BE49-F238E27FC236}">
                  <a16:creationId xmlns:a16="http://schemas.microsoft.com/office/drawing/2014/main" id="{D66A3E31-35AC-E9C0-2EF4-37C765594911}"/>
                </a:ext>
              </a:extLst>
            </p:cNvPr>
            <p:cNvGrpSpPr/>
            <p:nvPr/>
          </p:nvGrpSpPr>
          <p:grpSpPr>
            <a:xfrm>
              <a:off x="1563174" y="4357694"/>
              <a:ext cx="2794512" cy="1500198"/>
              <a:chOff x="1563174" y="4357694"/>
              <a:chExt cx="2794512" cy="1500198"/>
            </a:xfrm>
          </p:grpSpPr>
          <p:sp>
            <p:nvSpPr>
              <p:cNvPr id="20" name="矩形 19">
                <a:extLst>
                  <a:ext uri="{FF2B5EF4-FFF2-40B4-BE49-F238E27FC236}">
                    <a16:creationId xmlns:a16="http://schemas.microsoft.com/office/drawing/2014/main" id="{D9A4C826-88C3-F2CB-E755-BC15E18C864D}"/>
                  </a:ext>
                </a:extLst>
              </p:cNvPr>
              <p:cNvSpPr/>
              <p:nvPr/>
            </p:nvSpPr>
            <p:spPr>
              <a:xfrm>
                <a:off x="1563174" y="5425892"/>
                <a:ext cx="540000" cy="432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endParaRPr lang="zh-CN" altLang="en-US" sz="2000" b="1">
                  <a:solidFill>
                    <a:srgbClr val="3333FF"/>
                  </a:solidFill>
                </a:endParaRPr>
              </a:p>
            </p:txBody>
          </p:sp>
          <p:sp>
            <p:nvSpPr>
              <p:cNvPr id="21" name="矩形 20">
                <a:extLst>
                  <a:ext uri="{FF2B5EF4-FFF2-40B4-BE49-F238E27FC236}">
                    <a16:creationId xmlns:a16="http://schemas.microsoft.com/office/drawing/2014/main" id="{E3636973-814D-3FDD-9E4C-C79219C0D587}"/>
                  </a:ext>
                </a:extLst>
              </p:cNvPr>
              <p:cNvSpPr/>
              <p:nvPr/>
            </p:nvSpPr>
            <p:spPr>
              <a:xfrm>
                <a:off x="3817686" y="5425892"/>
                <a:ext cx="540000" cy="432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endParaRPr lang="zh-CN" altLang="en-US" sz="2000" b="1">
                  <a:solidFill>
                    <a:srgbClr val="3333FF"/>
                  </a:solidFill>
                </a:endParaRPr>
              </a:p>
            </p:txBody>
          </p:sp>
          <p:grpSp>
            <p:nvGrpSpPr>
              <p:cNvPr id="22" name="组合 38">
                <a:extLst>
                  <a:ext uri="{FF2B5EF4-FFF2-40B4-BE49-F238E27FC236}">
                    <a16:creationId xmlns:a16="http://schemas.microsoft.com/office/drawing/2014/main" id="{F3A3BA3D-8FE2-0E50-DDD0-E8D6C1400331}"/>
                  </a:ext>
                </a:extLst>
              </p:cNvPr>
              <p:cNvGrpSpPr/>
              <p:nvPr/>
            </p:nvGrpSpPr>
            <p:grpSpPr>
              <a:xfrm>
                <a:off x="2174612" y="4357694"/>
                <a:ext cx="1611570" cy="432000"/>
                <a:chOff x="1428728" y="1676933"/>
                <a:chExt cx="1611570" cy="432000"/>
              </a:xfrm>
            </p:grpSpPr>
            <p:sp>
              <p:nvSpPr>
                <p:cNvPr id="25" name="矩形 24">
                  <a:extLst>
                    <a:ext uri="{FF2B5EF4-FFF2-40B4-BE49-F238E27FC236}">
                      <a16:creationId xmlns:a16="http://schemas.microsoft.com/office/drawing/2014/main" id="{6655A7EC-7EF1-8E3B-70AF-A50F8C3F1800}"/>
                    </a:ext>
                  </a:extLst>
                </p:cNvPr>
                <p:cNvSpPr/>
                <p:nvPr/>
              </p:nvSpPr>
              <p:spPr>
                <a:xfrm>
                  <a:off x="1960298" y="1676933"/>
                  <a:ext cx="540000" cy="432000"/>
                </a:xfrm>
                <a:prstGeom prst="rect">
                  <a:avLst/>
                </a:prstGeom>
                <a:blipFill>
                  <a:blip r:embed="rId2" cstate="print"/>
                  <a:tile tx="0" ty="0" sx="100000" sy="100000" flip="none" algn="tl"/>
                </a:blipFill>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800" b="1">
                    <a:solidFill>
                      <a:srgbClr val="3333FF"/>
                    </a:solidFill>
                  </a:endParaRPr>
                </a:p>
              </p:txBody>
            </p:sp>
            <p:sp>
              <p:nvSpPr>
                <p:cNvPr id="26" name="矩形 25">
                  <a:extLst>
                    <a:ext uri="{FF2B5EF4-FFF2-40B4-BE49-F238E27FC236}">
                      <a16:creationId xmlns:a16="http://schemas.microsoft.com/office/drawing/2014/main" id="{C6D7DB8D-C788-0EBD-4428-3FD027175C1E}"/>
                    </a:ext>
                  </a:extLst>
                </p:cNvPr>
                <p:cNvSpPr/>
                <p:nvPr/>
              </p:nvSpPr>
              <p:spPr>
                <a:xfrm>
                  <a:off x="1428728" y="1676933"/>
                  <a:ext cx="540000" cy="432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800" b="1">
                    <a:solidFill>
                      <a:srgbClr val="3333FF"/>
                    </a:solidFill>
                  </a:endParaRPr>
                </a:p>
              </p:txBody>
            </p:sp>
            <p:sp>
              <p:nvSpPr>
                <p:cNvPr id="27" name="矩形 26">
                  <a:extLst>
                    <a:ext uri="{FF2B5EF4-FFF2-40B4-BE49-F238E27FC236}">
                      <a16:creationId xmlns:a16="http://schemas.microsoft.com/office/drawing/2014/main" id="{ED53C302-BE8F-677D-D7C0-293CC93C23BD}"/>
                    </a:ext>
                  </a:extLst>
                </p:cNvPr>
                <p:cNvSpPr/>
                <p:nvPr/>
              </p:nvSpPr>
              <p:spPr>
                <a:xfrm>
                  <a:off x="2500298" y="1676933"/>
                  <a:ext cx="540000" cy="432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800" b="1">
                    <a:solidFill>
                      <a:srgbClr val="3333FF"/>
                    </a:solidFill>
                  </a:endParaRPr>
                </a:p>
              </p:txBody>
            </p:sp>
          </p:grpSp>
          <p:cxnSp>
            <p:nvCxnSpPr>
              <p:cNvPr id="23" name="直接箭头连接符 22">
                <a:extLst>
                  <a:ext uri="{FF2B5EF4-FFF2-40B4-BE49-F238E27FC236}">
                    <a16:creationId xmlns:a16="http://schemas.microsoft.com/office/drawing/2014/main" id="{8454969A-C8FB-9FCC-A7B2-2275C9DDA26E}"/>
                  </a:ext>
                </a:extLst>
              </p:cNvPr>
              <p:cNvCxnSpPr>
                <a:endCxn id="20" idx="0"/>
              </p:cNvCxnSpPr>
              <p:nvPr/>
            </p:nvCxnSpPr>
            <p:spPr>
              <a:xfrm rot="5400000">
                <a:off x="1718141" y="4683669"/>
                <a:ext cx="857256" cy="6271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FB64CC12-982B-4B48-ACE9-BE514E7837E0}"/>
                  </a:ext>
                </a:extLst>
              </p:cNvPr>
              <p:cNvCxnSpPr>
                <a:endCxn id="21" idx="0"/>
              </p:cNvCxnSpPr>
              <p:nvPr/>
            </p:nvCxnSpPr>
            <p:spPr>
              <a:xfrm rot="16200000" flipH="1">
                <a:off x="3381183" y="4719388"/>
                <a:ext cx="857255" cy="5557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1315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EDB9C-4B34-013F-3C82-B522A820DB2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AE826BC-A73D-0ECE-B68F-E8B205913D3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5F04F85E-C97A-5339-24A6-F25B805423ED}"/>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DEFF0685-1876-66C0-B81B-BEC2C182C15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DFBDEF3A-76E0-F924-3D55-E3945E8447CE}"/>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cxnSp>
        <p:nvCxnSpPr>
          <p:cNvPr id="5" name="直接连接符 4">
            <a:extLst>
              <a:ext uri="{FF2B5EF4-FFF2-40B4-BE49-F238E27FC236}">
                <a16:creationId xmlns:a16="http://schemas.microsoft.com/office/drawing/2014/main" id="{8253688F-4FC7-8EE0-072B-93D6516F89DC}"/>
              </a:ext>
            </a:extLst>
          </p:cNvPr>
          <p:cNvCxnSpPr>
            <a:endCxn id="70" idx="1"/>
          </p:cNvCxnSpPr>
          <p:nvPr/>
        </p:nvCxnSpPr>
        <p:spPr>
          <a:xfrm flipV="1">
            <a:off x="4318003" y="5297712"/>
            <a:ext cx="6143668"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6" name="直接连接符 5">
            <a:extLst>
              <a:ext uri="{FF2B5EF4-FFF2-40B4-BE49-F238E27FC236}">
                <a16:creationId xmlns:a16="http://schemas.microsoft.com/office/drawing/2014/main" id="{0D9015E7-0519-C80E-CA9E-AA4C5E59AEFD}"/>
              </a:ext>
            </a:extLst>
          </p:cNvPr>
          <p:cNvCxnSpPr>
            <a:endCxn id="41" idx="1"/>
          </p:cNvCxnSpPr>
          <p:nvPr/>
        </p:nvCxnSpPr>
        <p:spPr>
          <a:xfrm>
            <a:off x="3675061" y="3726572"/>
            <a:ext cx="6786610"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 name="直接连接符 7">
            <a:extLst>
              <a:ext uri="{FF2B5EF4-FFF2-40B4-BE49-F238E27FC236}">
                <a16:creationId xmlns:a16="http://schemas.microsoft.com/office/drawing/2014/main" id="{730AB869-00B5-1F5E-0A3A-7710A948C70D}"/>
              </a:ext>
            </a:extLst>
          </p:cNvPr>
          <p:cNvCxnSpPr>
            <a:endCxn id="42" idx="1"/>
          </p:cNvCxnSpPr>
          <p:nvPr/>
        </p:nvCxnSpPr>
        <p:spPr>
          <a:xfrm flipV="1">
            <a:off x="3603623" y="4512886"/>
            <a:ext cx="6858048"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9" name="直接连接符 8">
            <a:extLst>
              <a:ext uri="{FF2B5EF4-FFF2-40B4-BE49-F238E27FC236}">
                <a16:creationId xmlns:a16="http://schemas.microsoft.com/office/drawing/2014/main" id="{092A3AB0-DBC4-A7EF-8A80-032B8213893E}"/>
              </a:ext>
            </a:extLst>
          </p:cNvPr>
          <p:cNvCxnSpPr>
            <a:endCxn id="40" idx="1"/>
          </p:cNvCxnSpPr>
          <p:nvPr/>
        </p:nvCxnSpPr>
        <p:spPr>
          <a:xfrm flipV="1">
            <a:off x="3960813" y="2911106"/>
            <a:ext cx="6500858"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10" name="直接连接符 9">
            <a:extLst>
              <a:ext uri="{FF2B5EF4-FFF2-40B4-BE49-F238E27FC236}">
                <a16:creationId xmlns:a16="http://schemas.microsoft.com/office/drawing/2014/main" id="{C27FC6E4-CD53-A198-4E1C-C1DE8B967F55}"/>
              </a:ext>
            </a:extLst>
          </p:cNvPr>
          <p:cNvCxnSpPr>
            <a:endCxn id="39" idx="1"/>
          </p:cNvCxnSpPr>
          <p:nvPr/>
        </p:nvCxnSpPr>
        <p:spPr>
          <a:xfrm flipV="1">
            <a:off x="5032383" y="2134344"/>
            <a:ext cx="5429288"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1" name="椭圆 10">
            <a:extLst>
              <a:ext uri="{FF2B5EF4-FFF2-40B4-BE49-F238E27FC236}">
                <a16:creationId xmlns:a16="http://schemas.microsoft.com/office/drawing/2014/main" id="{EC5C0C12-182C-EEBA-5AEB-0CC9E271292C}"/>
              </a:ext>
            </a:extLst>
          </p:cNvPr>
          <p:cNvSpPr/>
          <p:nvPr/>
        </p:nvSpPr>
        <p:spPr>
          <a:xfrm>
            <a:off x="6818333" y="1123558"/>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50</a:t>
            </a:r>
            <a:endParaRPr lang="zh-CN" altLang="en-US" sz="1800" b="1">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BA9E1B89-EAF8-512E-6914-3B6914ABB51A}"/>
              </a:ext>
            </a:extLst>
          </p:cNvPr>
          <p:cNvSpPr/>
          <p:nvPr/>
        </p:nvSpPr>
        <p:spPr>
          <a:xfrm>
            <a:off x="5603887" y="186944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30</a:t>
            </a:r>
            <a:endParaRPr lang="zh-CN" altLang="en-US" sz="1800" b="1">
              <a:solidFill>
                <a:srgbClr val="0000FF"/>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id="{0987FE74-B403-E784-9A73-D058C4E604E8}"/>
              </a:ext>
            </a:extLst>
          </p:cNvPr>
          <p:cNvSpPr/>
          <p:nvPr/>
        </p:nvSpPr>
        <p:spPr>
          <a:xfrm>
            <a:off x="7926161" y="186944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80</a:t>
            </a:r>
            <a:endParaRPr lang="zh-CN" altLang="en-US" sz="1800">
              <a:solidFill>
                <a:srgbClr val="0000FF"/>
              </a:solidFill>
              <a:latin typeface="Consolas" pitchFamily="49" charset="0"/>
              <a:cs typeface="Consolas" pitchFamily="49" charset="0"/>
            </a:endParaRPr>
          </a:p>
        </p:txBody>
      </p:sp>
      <p:cxnSp>
        <p:nvCxnSpPr>
          <p:cNvPr id="14" name="直接连接符 13">
            <a:extLst>
              <a:ext uri="{FF2B5EF4-FFF2-40B4-BE49-F238E27FC236}">
                <a16:creationId xmlns:a16="http://schemas.microsoft.com/office/drawing/2014/main" id="{103D65E2-A43F-1A12-DA44-F39066494D8B}"/>
              </a:ext>
            </a:extLst>
          </p:cNvPr>
          <p:cNvCxnSpPr>
            <a:endCxn id="12" idx="7"/>
          </p:cNvCxnSpPr>
          <p:nvPr/>
        </p:nvCxnSpPr>
        <p:spPr>
          <a:xfrm rot="10800000" flipV="1">
            <a:off x="6034078" y="1504093"/>
            <a:ext cx="797776" cy="44443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5" name="直接连接符 14">
            <a:extLst>
              <a:ext uri="{FF2B5EF4-FFF2-40B4-BE49-F238E27FC236}">
                <a16:creationId xmlns:a16="http://schemas.microsoft.com/office/drawing/2014/main" id="{F5021200-9E43-A8CA-897E-8641A1D7878F}"/>
              </a:ext>
            </a:extLst>
          </p:cNvPr>
          <p:cNvCxnSpPr>
            <a:endCxn id="13" idx="1"/>
          </p:cNvCxnSpPr>
          <p:nvPr/>
        </p:nvCxnSpPr>
        <p:spPr>
          <a:xfrm>
            <a:off x="7312285" y="1501992"/>
            <a:ext cx="687685" cy="446531"/>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6" name="椭圆 15">
            <a:extLst>
              <a:ext uri="{FF2B5EF4-FFF2-40B4-BE49-F238E27FC236}">
                <a16:creationId xmlns:a16="http://schemas.microsoft.com/office/drawing/2014/main" id="{D0266EFF-D0B6-442E-60B4-6FFD068E877E}"/>
              </a:ext>
            </a:extLst>
          </p:cNvPr>
          <p:cNvSpPr/>
          <p:nvPr/>
        </p:nvSpPr>
        <p:spPr>
          <a:xfrm>
            <a:off x="4603755" y="265526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20</a:t>
            </a:r>
            <a:endParaRPr lang="zh-CN" altLang="en-US" sz="1800" b="1">
              <a:solidFill>
                <a:srgbClr val="0000FF"/>
              </a:solidFill>
              <a:latin typeface="Consolas" pitchFamily="49" charset="0"/>
              <a:cs typeface="Consolas" pitchFamily="49" charset="0"/>
            </a:endParaRPr>
          </a:p>
        </p:txBody>
      </p:sp>
      <p:sp>
        <p:nvSpPr>
          <p:cNvPr id="17" name="椭圆 16">
            <a:extLst>
              <a:ext uri="{FF2B5EF4-FFF2-40B4-BE49-F238E27FC236}">
                <a16:creationId xmlns:a16="http://schemas.microsoft.com/office/drawing/2014/main" id="{B112DB15-BD9D-2753-1E79-E689415623B1}"/>
              </a:ext>
            </a:extLst>
          </p:cNvPr>
          <p:cNvSpPr/>
          <p:nvPr/>
        </p:nvSpPr>
        <p:spPr>
          <a:xfrm>
            <a:off x="3960813" y="348101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10</a:t>
            </a:r>
            <a:endParaRPr lang="zh-CN" altLang="en-US" sz="1800">
              <a:solidFill>
                <a:srgbClr val="0000FF"/>
              </a:solidFill>
              <a:latin typeface="Consolas" pitchFamily="49" charset="0"/>
              <a:cs typeface="Consolas" pitchFamily="49" charset="0"/>
            </a:endParaRPr>
          </a:p>
        </p:txBody>
      </p:sp>
      <p:sp>
        <p:nvSpPr>
          <p:cNvPr id="18" name="椭圆 17">
            <a:extLst>
              <a:ext uri="{FF2B5EF4-FFF2-40B4-BE49-F238E27FC236}">
                <a16:creationId xmlns:a16="http://schemas.microsoft.com/office/drawing/2014/main" id="{91273CB7-34F2-2D23-C0C3-C4E2FCE6EB94}"/>
              </a:ext>
            </a:extLst>
          </p:cNvPr>
          <p:cNvSpPr/>
          <p:nvPr/>
        </p:nvSpPr>
        <p:spPr>
          <a:xfrm>
            <a:off x="5242763" y="348101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a:solidFill>
                  <a:srgbClr val="0000FF"/>
                </a:solidFill>
                <a:latin typeface="Consolas" pitchFamily="49" charset="0"/>
                <a:cs typeface="Consolas" pitchFamily="49" charset="0"/>
              </a:rPr>
              <a:t>25</a:t>
            </a:r>
            <a:endParaRPr lang="zh-CN" altLang="en-US" sz="1800" b="1">
              <a:solidFill>
                <a:srgbClr val="0000FF"/>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id="{24F088BB-2D4D-D666-8377-A2577EDD2087}"/>
              </a:ext>
            </a:extLst>
          </p:cNvPr>
          <p:cNvSpPr/>
          <p:nvPr/>
        </p:nvSpPr>
        <p:spPr>
          <a:xfrm>
            <a:off x="4957011" y="422689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23</a:t>
            </a:r>
            <a:endParaRPr lang="zh-CN" altLang="en-US" sz="1800">
              <a:solidFill>
                <a:srgbClr val="0000FF"/>
              </a:solidFill>
              <a:latin typeface="Consolas" pitchFamily="49" charset="0"/>
              <a:cs typeface="Consolas" pitchFamily="49" charset="0"/>
            </a:endParaRPr>
          </a:p>
        </p:txBody>
      </p:sp>
      <p:cxnSp>
        <p:nvCxnSpPr>
          <p:cNvPr id="20" name="直接连接符 19">
            <a:extLst>
              <a:ext uri="{FF2B5EF4-FFF2-40B4-BE49-F238E27FC236}">
                <a16:creationId xmlns:a16="http://schemas.microsoft.com/office/drawing/2014/main" id="{3243CA20-6577-C937-29CE-DB3EEA000457}"/>
              </a:ext>
            </a:extLst>
          </p:cNvPr>
          <p:cNvCxnSpPr>
            <a:stCxn id="16" idx="3"/>
            <a:endCxn id="17" idx="7"/>
          </p:cNvCxnSpPr>
          <p:nvPr/>
        </p:nvCxnSpPr>
        <p:spPr>
          <a:xfrm rot="5400000">
            <a:off x="4312327" y="3194856"/>
            <a:ext cx="443914" cy="28656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1" name="直接连接符 20">
            <a:extLst>
              <a:ext uri="{FF2B5EF4-FFF2-40B4-BE49-F238E27FC236}">
                <a16:creationId xmlns:a16="http://schemas.microsoft.com/office/drawing/2014/main" id="{0E51EA73-EAA4-3E51-B945-DCEABB0E4B6C}"/>
              </a:ext>
            </a:extLst>
          </p:cNvPr>
          <p:cNvCxnSpPr>
            <a:stCxn id="16" idx="5"/>
            <a:endCxn id="18" idx="1"/>
          </p:cNvCxnSpPr>
          <p:nvPr/>
        </p:nvCxnSpPr>
        <p:spPr>
          <a:xfrm rot="16200000" flipH="1">
            <a:off x="4953302" y="3196823"/>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2" name="直接连接符 21">
            <a:extLst>
              <a:ext uri="{FF2B5EF4-FFF2-40B4-BE49-F238E27FC236}">
                <a16:creationId xmlns:a16="http://schemas.microsoft.com/office/drawing/2014/main" id="{7C3F9E57-93B3-A8CD-FC6D-CA3D57360317}"/>
              </a:ext>
            </a:extLst>
          </p:cNvPr>
          <p:cNvCxnSpPr>
            <a:stCxn id="18" idx="3"/>
            <a:endCxn id="19" idx="0"/>
          </p:cNvCxnSpPr>
          <p:nvPr/>
        </p:nvCxnSpPr>
        <p:spPr>
          <a:xfrm rot="5400000">
            <a:off x="5120310" y="4030633"/>
            <a:ext cx="284965" cy="107561"/>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3" name="直接连接符 22">
            <a:extLst>
              <a:ext uri="{FF2B5EF4-FFF2-40B4-BE49-F238E27FC236}">
                <a16:creationId xmlns:a16="http://schemas.microsoft.com/office/drawing/2014/main" id="{C188A45F-8B9E-0E86-D3B6-5518DCC0D153}"/>
              </a:ext>
            </a:extLst>
          </p:cNvPr>
          <p:cNvCxnSpPr>
            <a:endCxn id="16" idx="7"/>
          </p:cNvCxnSpPr>
          <p:nvPr/>
        </p:nvCxnSpPr>
        <p:spPr>
          <a:xfrm rot="10800000" flipV="1">
            <a:off x="5033946" y="2249977"/>
            <a:ext cx="59351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24" name="椭圆 23">
            <a:extLst>
              <a:ext uri="{FF2B5EF4-FFF2-40B4-BE49-F238E27FC236}">
                <a16:creationId xmlns:a16="http://schemas.microsoft.com/office/drawing/2014/main" id="{CA381F42-AC0F-93E0-C857-7668679F7173}"/>
              </a:ext>
            </a:extLst>
          </p:cNvPr>
          <p:cNvSpPr/>
          <p:nvPr/>
        </p:nvSpPr>
        <p:spPr>
          <a:xfrm>
            <a:off x="6600085" y="265526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40</a:t>
            </a:r>
            <a:endParaRPr lang="zh-CN" altLang="en-US" sz="1800">
              <a:solidFill>
                <a:srgbClr val="0000FF"/>
              </a:solidFill>
              <a:latin typeface="Consolas" pitchFamily="49" charset="0"/>
              <a:cs typeface="Consolas" pitchFamily="49" charset="0"/>
            </a:endParaRPr>
          </a:p>
        </p:txBody>
      </p:sp>
      <p:sp>
        <p:nvSpPr>
          <p:cNvPr id="25" name="椭圆 24">
            <a:extLst>
              <a:ext uri="{FF2B5EF4-FFF2-40B4-BE49-F238E27FC236}">
                <a16:creationId xmlns:a16="http://schemas.microsoft.com/office/drawing/2014/main" id="{460C72B0-553D-9812-F538-D0B796EAE960}"/>
              </a:ext>
            </a:extLst>
          </p:cNvPr>
          <p:cNvSpPr/>
          <p:nvPr/>
        </p:nvSpPr>
        <p:spPr>
          <a:xfrm>
            <a:off x="6246829" y="346887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916D4F5F-D7E0-D3B5-D045-BA8E61318EE9}"/>
              </a:ext>
            </a:extLst>
          </p:cNvPr>
          <p:cNvCxnSpPr>
            <a:endCxn id="24" idx="1"/>
          </p:cNvCxnSpPr>
          <p:nvPr/>
        </p:nvCxnSpPr>
        <p:spPr>
          <a:xfrm>
            <a:off x="6104414" y="2249977"/>
            <a:ext cx="56948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27" name="直接连接符 26">
            <a:extLst>
              <a:ext uri="{FF2B5EF4-FFF2-40B4-BE49-F238E27FC236}">
                <a16:creationId xmlns:a16="http://schemas.microsoft.com/office/drawing/2014/main" id="{02CC2464-9CF7-0703-EE1A-CF692A68EE14}"/>
              </a:ext>
            </a:extLst>
          </p:cNvPr>
          <p:cNvCxnSpPr>
            <a:stCxn id="24" idx="3"/>
            <a:endCxn id="25" idx="0"/>
          </p:cNvCxnSpPr>
          <p:nvPr/>
        </p:nvCxnSpPr>
        <p:spPr>
          <a:xfrm rot="5400000">
            <a:off x="6410017" y="3204992"/>
            <a:ext cx="352691" cy="175065"/>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28" name="椭圆 27">
            <a:extLst>
              <a:ext uri="{FF2B5EF4-FFF2-40B4-BE49-F238E27FC236}">
                <a16:creationId xmlns:a16="http://schemas.microsoft.com/office/drawing/2014/main" id="{AE6795BF-6B5C-CAD5-CC1F-9AA77AAC4111}"/>
              </a:ext>
            </a:extLst>
          </p:cNvPr>
          <p:cNvSpPr/>
          <p:nvPr/>
        </p:nvSpPr>
        <p:spPr>
          <a:xfrm>
            <a:off x="8743225" y="2655260"/>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90</a:t>
            </a:r>
            <a:endParaRPr lang="zh-CN" altLang="en-US" sz="1800">
              <a:solidFill>
                <a:srgbClr val="0000FF"/>
              </a:solidFill>
              <a:latin typeface="Consolas" pitchFamily="49" charset="0"/>
              <a:cs typeface="Consolas" pitchFamily="49" charset="0"/>
            </a:endParaRPr>
          </a:p>
        </p:txBody>
      </p:sp>
      <p:sp>
        <p:nvSpPr>
          <p:cNvPr id="29" name="椭圆 28">
            <a:extLst>
              <a:ext uri="{FF2B5EF4-FFF2-40B4-BE49-F238E27FC236}">
                <a16:creationId xmlns:a16="http://schemas.microsoft.com/office/drawing/2014/main" id="{6C0608BD-CC5D-282B-1DCC-76AFA767898C}"/>
              </a:ext>
            </a:extLst>
          </p:cNvPr>
          <p:cNvSpPr/>
          <p:nvPr/>
        </p:nvSpPr>
        <p:spPr>
          <a:xfrm>
            <a:off x="8104217" y="3481012"/>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85</a:t>
            </a:r>
            <a:endParaRPr lang="zh-CN" altLang="en-US" sz="1800">
              <a:solidFill>
                <a:srgbClr val="0000FF"/>
              </a:solidFill>
              <a:latin typeface="Consolas" pitchFamily="49" charset="0"/>
              <a:cs typeface="Consolas" pitchFamily="49" charset="0"/>
            </a:endParaRPr>
          </a:p>
        </p:txBody>
      </p:sp>
      <p:sp>
        <p:nvSpPr>
          <p:cNvPr id="30" name="椭圆 29">
            <a:extLst>
              <a:ext uri="{FF2B5EF4-FFF2-40B4-BE49-F238E27FC236}">
                <a16:creationId xmlns:a16="http://schemas.microsoft.com/office/drawing/2014/main" id="{E8DDC445-9BCD-CCF5-1C51-993376E96C95}"/>
              </a:ext>
            </a:extLst>
          </p:cNvPr>
          <p:cNvSpPr/>
          <p:nvPr/>
        </p:nvSpPr>
        <p:spPr>
          <a:xfrm>
            <a:off x="8461407" y="4226896"/>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88</a:t>
            </a:r>
            <a:endParaRPr lang="zh-CN" altLang="en-US" sz="1800">
              <a:solidFill>
                <a:srgbClr val="0000FF"/>
              </a:solidFill>
              <a:latin typeface="Consolas" pitchFamily="49" charset="0"/>
              <a:cs typeface="Consolas" pitchFamily="49" charset="0"/>
            </a:endParaRPr>
          </a:p>
        </p:txBody>
      </p:sp>
      <p:cxnSp>
        <p:nvCxnSpPr>
          <p:cNvPr id="31" name="直接连接符 30">
            <a:extLst>
              <a:ext uri="{FF2B5EF4-FFF2-40B4-BE49-F238E27FC236}">
                <a16:creationId xmlns:a16="http://schemas.microsoft.com/office/drawing/2014/main" id="{7B733271-5814-3B5D-2835-BB58FC5AAEA0}"/>
              </a:ext>
            </a:extLst>
          </p:cNvPr>
          <p:cNvCxnSpPr>
            <a:stCxn id="13" idx="5"/>
            <a:endCxn id="28" idx="1"/>
          </p:cNvCxnSpPr>
          <p:nvPr/>
        </p:nvCxnSpPr>
        <p:spPr>
          <a:xfrm rot="16200000" flipH="1">
            <a:off x="8384703" y="2302010"/>
            <a:ext cx="403980" cy="460682"/>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2" name="直接连接符 31">
            <a:extLst>
              <a:ext uri="{FF2B5EF4-FFF2-40B4-BE49-F238E27FC236}">
                <a16:creationId xmlns:a16="http://schemas.microsoft.com/office/drawing/2014/main" id="{32C42D9B-1A52-C372-CEE8-8BE7260D370D}"/>
              </a:ext>
            </a:extLst>
          </p:cNvPr>
          <p:cNvCxnSpPr>
            <a:stCxn id="28" idx="3"/>
            <a:endCxn id="29" idx="7"/>
          </p:cNvCxnSpPr>
          <p:nvPr/>
        </p:nvCxnSpPr>
        <p:spPr>
          <a:xfrm rot="5400000">
            <a:off x="8453764" y="3196823"/>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33" name="直接连接符 32">
            <a:extLst>
              <a:ext uri="{FF2B5EF4-FFF2-40B4-BE49-F238E27FC236}">
                <a16:creationId xmlns:a16="http://schemas.microsoft.com/office/drawing/2014/main" id="{D8604470-98B1-0518-DBAD-643EB4384C2E}"/>
              </a:ext>
            </a:extLst>
          </p:cNvPr>
          <p:cNvCxnSpPr>
            <a:stCxn id="29" idx="5"/>
            <a:endCxn id="30" idx="0"/>
          </p:cNvCxnSpPr>
          <p:nvPr/>
        </p:nvCxnSpPr>
        <p:spPr>
          <a:xfrm rot="16200000" flipH="1">
            <a:off x="8481425" y="3994913"/>
            <a:ext cx="284965" cy="178999"/>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34" name="TextBox 25">
            <a:extLst>
              <a:ext uri="{FF2B5EF4-FFF2-40B4-BE49-F238E27FC236}">
                <a16:creationId xmlns:a16="http://schemas.microsoft.com/office/drawing/2014/main" id="{02BD336F-81A8-4781-D0AC-03381A653D2F}"/>
              </a:ext>
            </a:extLst>
          </p:cNvPr>
          <p:cNvSpPr txBox="1"/>
          <p:nvPr/>
        </p:nvSpPr>
        <p:spPr>
          <a:xfrm>
            <a:off x="1627779" y="2912907"/>
            <a:ext cx="1357322" cy="369332"/>
          </a:xfrm>
          <a:prstGeom prst="rect">
            <a:avLst/>
          </a:prstGeom>
          <a:noFill/>
        </p:spPr>
        <p:txBody>
          <a:bodyPr wrap="square" rtlCol="0">
            <a:spAutoFit/>
          </a:bodyPr>
          <a:lstStyle/>
          <a:p>
            <a:pPr algn="l"/>
            <a:r>
              <a:rPr lang="zh-CN" altLang="en-US" sz="1800" b="1" dirty="0">
                <a:solidFill>
                  <a:srgbClr val="3333FF"/>
                </a:solidFill>
                <a:latin typeface="Consolas" pitchFamily="49" charset="0"/>
                <a:ea typeface="楷体" pitchFamily="49" charset="-122"/>
                <a:cs typeface="Consolas" pitchFamily="49" charset="0"/>
              </a:rPr>
              <a:t>查找：</a:t>
            </a:r>
            <a:r>
              <a:rPr lang="en-US" altLang="zh-CN" sz="1800" b="1" dirty="0">
                <a:solidFill>
                  <a:srgbClr val="FF00FF"/>
                </a:solidFill>
                <a:latin typeface="Consolas" pitchFamily="49" charset="0"/>
                <a:ea typeface="楷体" pitchFamily="49" charset="-122"/>
                <a:cs typeface="Consolas" pitchFamily="49" charset="0"/>
              </a:rPr>
              <a:t>26</a:t>
            </a:r>
            <a:endParaRPr lang="zh-CN" altLang="en-US" sz="1800" b="1" dirty="0">
              <a:solidFill>
                <a:srgbClr val="FF00FF"/>
              </a:solidFill>
              <a:latin typeface="Consolas" pitchFamily="49" charset="0"/>
              <a:ea typeface="楷体" pitchFamily="49" charset="-122"/>
              <a:cs typeface="Consolas" pitchFamily="49" charset="0"/>
            </a:endParaRPr>
          </a:p>
        </p:txBody>
      </p:sp>
      <p:sp>
        <p:nvSpPr>
          <p:cNvPr id="35" name="TextBox 33">
            <a:extLst>
              <a:ext uri="{FF2B5EF4-FFF2-40B4-BE49-F238E27FC236}">
                <a16:creationId xmlns:a16="http://schemas.microsoft.com/office/drawing/2014/main" id="{86410B04-11C2-161B-1750-1A392ADBC895}"/>
              </a:ext>
            </a:extLst>
          </p:cNvPr>
          <p:cNvSpPr txBox="1"/>
          <p:nvPr/>
        </p:nvSpPr>
        <p:spPr>
          <a:xfrm>
            <a:off x="2676492" y="5653549"/>
            <a:ext cx="5857916" cy="1013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en-US" sz="2000" b="1">
                <a:solidFill>
                  <a:srgbClr val="0000FF"/>
                </a:solidFill>
                <a:latin typeface="Consolas" pitchFamily="49" charset="0"/>
                <a:ea typeface="仿宋" pitchFamily="49" charset="-122"/>
                <a:cs typeface="Consolas" pitchFamily="49" charset="0"/>
              </a:rPr>
              <a:t>从根结点开始，查找最后落在某个</a:t>
            </a:r>
            <a:r>
              <a:rPr lang="zh-CN" altLang="en-US" sz="2000" b="1">
                <a:solidFill>
                  <a:srgbClr val="FF0000"/>
                </a:solidFill>
                <a:latin typeface="Consolas" pitchFamily="49" charset="0"/>
                <a:ea typeface="仿宋" pitchFamily="49" charset="-122"/>
                <a:cs typeface="Consolas" pitchFamily="49" charset="0"/>
              </a:rPr>
              <a:t>外部结点</a:t>
            </a:r>
            <a:r>
              <a:rPr lang="zh-CN" altLang="en-US" sz="2000" b="1">
                <a:solidFill>
                  <a:srgbClr val="0000FF"/>
                </a:solidFill>
                <a:latin typeface="Consolas" pitchFamily="49" charset="0"/>
                <a:ea typeface="仿宋" pitchFamily="49" charset="-122"/>
                <a:cs typeface="Consolas" pitchFamily="49" charset="0"/>
              </a:rPr>
              <a:t>中</a:t>
            </a:r>
            <a:endParaRPr lang="en-US" altLang="zh-CN" sz="2000" b="1">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en-US" sz="2000" b="1">
                <a:solidFill>
                  <a:srgbClr val="0000FF"/>
                </a:solidFill>
                <a:latin typeface="Consolas" pitchFamily="49" charset="0"/>
                <a:ea typeface="仿宋" pitchFamily="49" charset="-122"/>
                <a:cs typeface="Consolas" pitchFamily="49" charset="0"/>
              </a:rPr>
              <a:t>比较次数为该外部结点的层次减</a:t>
            </a:r>
            <a:r>
              <a:rPr lang="en-US" altLang="zh-CN" sz="2000" b="1">
                <a:solidFill>
                  <a:srgbClr val="0000FF"/>
                </a:solidFill>
                <a:latin typeface="Consolas" pitchFamily="49" charset="0"/>
                <a:ea typeface="仿宋" pitchFamily="49" charset="-122"/>
                <a:cs typeface="Consolas" pitchFamily="49" charset="0"/>
              </a:rPr>
              <a:t>1</a:t>
            </a:r>
          </a:p>
        </p:txBody>
      </p:sp>
      <p:sp>
        <p:nvSpPr>
          <p:cNvPr id="36" name="TextBox 34">
            <a:extLst>
              <a:ext uri="{FF2B5EF4-FFF2-40B4-BE49-F238E27FC236}">
                <a16:creationId xmlns:a16="http://schemas.microsoft.com/office/drawing/2014/main" id="{A93A6269-C248-9137-2B52-FFA44B34B465}"/>
              </a:ext>
            </a:extLst>
          </p:cNvPr>
          <p:cNvSpPr txBox="1"/>
          <p:nvPr/>
        </p:nvSpPr>
        <p:spPr>
          <a:xfrm>
            <a:off x="10461671" y="1233094"/>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1</a:t>
            </a:r>
            <a:endParaRPr lang="zh-CN" altLang="en-US" sz="1800" b="1" dirty="0">
              <a:solidFill>
                <a:srgbClr val="00B0F0"/>
              </a:solidFill>
              <a:latin typeface="Consolas" pitchFamily="49" charset="0"/>
              <a:ea typeface="楷体" pitchFamily="49" charset="-122"/>
              <a:cs typeface="Consolas" pitchFamily="49" charset="0"/>
            </a:endParaRPr>
          </a:p>
        </p:txBody>
      </p:sp>
      <p:cxnSp>
        <p:nvCxnSpPr>
          <p:cNvPr id="37" name="直接连接符 36">
            <a:extLst>
              <a:ext uri="{FF2B5EF4-FFF2-40B4-BE49-F238E27FC236}">
                <a16:creationId xmlns:a16="http://schemas.microsoft.com/office/drawing/2014/main" id="{41AE77A9-4067-2315-748A-90A0333EF7FF}"/>
              </a:ext>
            </a:extLst>
          </p:cNvPr>
          <p:cNvCxnSpPr>
            <a:endCxn id="36" idx="1"/>
          </p:cNvCxnSpPr>
          <p:nvPr/>
        </p:nvCxnSpPr>
        <p:spPr>
          <a:xfrm>
            <a:off x="7532713" y="1388112"/>
            <a:ext cx="2928958" cy="0"/>
          </a:xfrm>
          <a:prstGeom prst="line">
            <a:avLst/>
          </a:prstGeom>
          <a:ln>
            <a:solidFill>
              <a:schemeClr val="accent5">
                <a:lumMod val="20000"/>
                <a:lumOff val="80000"/>
              </a:schemeClr>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38" name="TextBox 36">
            <a:extLst>
              <a:ext uri="{FF2B5EF4-FFF2-40B4-BE49-F238E27FC236}">
                <a16:creationId xmlns:a16="http://schemas.microsoft.com/office/drawing/2014/main" id="{3BB8F9DC-58EE-57E4-1EB2-AF4C6138D5D2}"/>
              </a:ext>
            </a:extLst>
          </p:cNvPr>
          <p:cNvSpPr txBox="1"/>
          <p:nvPr/>
        </p:nvSpPr>
        <p:spPr>
          <a:xfrm>
            <a:off x="10961737" y="1182854"/>
            <a:ext cx="785818" cy="369332"/>
          </a:xfrm>
          <a:prstGeom prst="rect">
            <a:avLst/>
          </a:prstGeom>
          <a:noFill/>
        </p:spPr>
        <p:txBody>
          <a:bodyPr wrap="square" rtlCol="0">
            <a:spAutoFit/>
          </a:bodyPr>
          <a:lstStyle/>
          <a:p>
            <a:pPr algn="l"/>
            <a:r>
              <a:rPr lang="zh-CN" altLang="en-US" sz="1800" b="1">
                <a:solidFill>
                  <a:srgbClr val="3333FF"/>
                </a:solidFill>
                <a:latin typeface="仿宋" pitchFamily="49" charset="-122"/>
                <a:ea typeface="仿宋" pitchFamily="49" charset="-122"/>
                <a:cs typeface="Times New Roman" pitchFamily="18" charset="0"/>
              </a:rPr>
              <a:t>层次</a:t>
            </a:r>
            <a:endParaRPr lang="zh-CN" altLang="en-US" sz="1800" b="1" dirty="0">
              <a:solidFill>
                <a:srgbClr val="3333FF"/>
              </a:solidFill>
              <a:latin typeface="仿宋" pitchFamily="49" charset="-122"/>
              <a:ea typeface="仿宋" pitchFamily="49" charset="-122"/>
              <a:cs typeface="Times New Roman" pitchFamily="18" charset="0"/>
            </a:endParaRPr>
          </a:p>
        </p:txBody>
      </p:sp>
      <p:sp>
        <p:nvSpPr>
          <p:cNvPr id="39" name="TextBox 37">
            <a:extLst>
              <a:ext uri="{FF2B5EF4-FFF2-40B4-BE49-F238E27FC236}">
                <a16:creationId xmlns:a16="http://schemas.microsoft.com/office/drawing/2014/main" id="{8AAD1A8B-B00A-5296-EFE9-42F1CF317F1B}"/>
              </a:ext>
            </a:extLst>
          </p:cNvPr>
          <p:cNvSpPr txBox="1"/>
          <p:nvPr/>
        </p:nvSpPr>
        <p:spPr>
          <a:xfrm>
            <a:off x="10461671" y="1949678"/>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2</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0" name="TextBox 39">
            <a:extLst>
              <a:ext uri="{FF2B5EF4-FFF2-40B4-BE49-F238E27FC236}">
                <a16:creationId xmlns:a16="http://schemas.microsoft.com/office/drawing/2014/main" id="{D23878D3-199B-ACFD-EB64-C5FCA78DD1D9}"/>
              </a:ext>
            </a:extLst>
          </p:cNvPr>
          <p:cNvSpPr txBox="1"/>
          <p:nvPr/>
        </p:nvSpPr>
        <p:spPr>
          <a:xfrm>
            <a:off x="10461671" y="2726440"/>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3</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1" name="TextBox 41">
            <a:extLst>
              <a:ext uri="{FF2B5EF4-FFF2-40B4-BE49-F238E27FC236}">
                <a16:creationId xmlns:a16="http://schemas.microsoft.com/office/drawing/2014/main" id="{050106CB-7851-D554-FDF2-34741C93F7A4}"/>
              </a:ext>
            </a:extLst>
          </p:cNvPr>
          <p:cNvSpPr txBox="1"/>
          <p:nvPr/>
        </p:nvSpPr>
        <p:spPr>
          <a:xfrm>
            <a:off x="10461671" y="3583696"/>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4</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2" name="TextBox 43">
            <a:extLst>
              <a:ext uri="{FF2B5EF4-FFF2-40B4-BE49-F238E27FC236}">
                <a16:creationId xmlns:a16="http://schemas.microsoft.com/office/drawing/2014/main" id="{3852510C-8C62-6045-4BD1-994746B7F900}"/>
              </a:ext>
            </a:extLst>
          </p:cNvPr>
          <p:cNvSpPr txBox="1"/>
          <p:nvPr/>
        </p:nvSpPr>
        <p:spPr>
          <a:xfrm>
            <a:off x="10461671" y="4328220"/>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5</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43" name="矩形 42">
            <a:extLst>
              <a:ext uri="{FF2B5EF4-FFF2-40B4-BE49-F238E27FC236}">
                <a16:creationId xmlns:a16="http://schemas.microsoft.com/office/drawing/2014/main" id="{67A2B7F3-6967-7771-3F2B-3923033F9515}"/>
              </a:ext>
            </a:extLst>
          </p:cNvPr>
          <p:cNvSpPr/>
          <p:nvPr/>
        </p:nvSpPr>
        <p:spPr>
          <a:xfrm>
            <a:off x="3795637" y="4387516"/>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4CED03FE-A6D3-CF34-FEA7-9142042BC535}"/>
              </a:ext>
            </a:extLst>
          </p:cNvPr>
          <p:cNvSpPr/>
          <p:nvPr/>
        </p:nvSpPr>
        <p:spPr>
          <a:xfrm>
            <a:off x="4318003" y="4387516"/>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580875F9-4CF3-F606-F61E-0924152DB6F3}"/>
              </a:ext>
            </a:extLst>
          </p:cNvPr>
          <p:cNvCxnSpPr>
            <a:endCxn id="43" idx="0"/>
          </p:cNvCxnSpPr>
          <p:nvPr/>
        </p:nvCxnSpPr>
        <p:spPr>
          <a:xfrm rot="5400000">
            <a:off x="3829092" y="4111641"/>
            <a:ext cx="385297" cy="16645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46" name="直接连接符 45">
            <a:extLst>
              <a:ext uri="{FF2B5EF4-FFF2-40B4-BE49-F238E27FC236}">
                <a16:creationId xmlns:a16="http://schemas.microsoft.com/office/drawing/2014/main" id="{4764DF7B-CFBA-EB8B-9B30-89D3ADDBDB4B}"/>
              </a:ext>
            </a:extLst>
          </p:cNvPr>
          <p:cNvCxnSpPr>
            <a:endCxn id="44" idx="0"/>
          </p:cNvCxnSpPr>
          <p:nvPr/>
        </p:nvCxnSpPr>
        <p:spPr>
          <a:xfrm rot="16200000" flipH="1">
            <a:off x="4203834" y="4130471"/>
            <a:ext cx="366504" cy="14758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47" name="矩形 46">
            <a:extLst>
              <a:ext uri="{FF2B5EF4-FFF2-40B4-BE49-F238E27FC236}">
                <a16:creationId xmlns:a16="http://schemas.microsoft.com/office/drawing/2014/main" id="{11275FFF-10E2-9394-6C28-1D5EBEEB081A}"/>
              </a:ext>
            </a:extLst>
          </p:cNvPr>
          <p:cNvSpPr/>
          <p:nvPr/>
        </p:nvSpPr>
        <p:spPr>
          <a:xfrm>
            <a:off x="5675325" y="4377468"/>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9B8AA50E-6D70-98D0-1619-6110426CDA26}"/>
              </a:ext>
            </a:extLst>
          </p:cNvPr>
          <p:cNvSpPr/>
          <p:nvPr/>
        </p:nvSpPr>
        <p:spPr>
          <a:xfrm>
            <a:off x="7747027" y="4387516"/>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D0F51045-7F35-9DD4-EA67-4BD1CF227F62}"/>
              </a:ext>
            </a:extLst>
          </p:cNvPr>
          <p:cNvSpPr/>
          <p:nvPr/>
        </p:nvSpPr>
        <p:spPr>
          <a:xfrm>
            <a:off x="7522665" y="2776790"/>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FA2F4279-7301-EF64-806A-AC069A1147B2}"/>
              </a:ext>
            </a:extLst>
          </p:cNvPr>
          <p:cNvSpPr/>
          <p:nvPr/>
        </p:nvSpPr>
        <p:spPr>
          <a:xfrm>
            <a:off x="9318663" y="3582704"/>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A6CCDE7A-EF2B-6102-55E0-0481821F35CB}"/>
              </a:ext>
            </a:extLst>
          </p:cNvPr>
          <p:cNvCxnSpPr>
            <a:stCxn id="18" idx="5"/>
            <a:endCxn id="47" idx="0"/>
          </p:cNvCxnSpPr>
          <p:nvPr/>
        </p:nvCxnSpPr>
        <p:spPr>
          <a:xfrm rot="16200000" flipH="1">
            <a:off x="5527809" y="4087075"/>
            <a:ext cx="435537" cy="14524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52" name="直接连接符 51">
            <a:extLst>
              <a:ext uri="{FF2B5EF4-FFF2-40B4-BE49-F238E27FC236}">
                <a16:creationId xmlns:a16="http://schemas.microsoft.com/office/drawing/2014/main" id="{473F8059-DA35-6409-514E-32B76D916048}"/>
              </a:ext>
            </a:extLst>
          </p:cNvPr>
          <p:cNvCxnSpPr>
            <a:stCxn id="13" idx="3"/>
            <a:endCxn id="49" idx="0"/>
          </p:cNvCxnSpPr>
          <p:nvPr/>
        </p:nvCxnSpPr>
        <p:spPr>
          <a:xfrm rot="5400000">
            <a:off x="7609542" y="2386361"/>
            <a:ext cx="446429" cy="33442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53" name="直接连接符 52">
            <a:extLst>
              <a:ext uri="{FF2B5EF4-FFF2-40B4-BE49-F238E27FC236}">
                <a16:creationId xmlns:a16="http://schemas.microsoft.com/office/drawing/2014/main" id="{42EF7B19-FD9F-52CB-4358-38E3B924BCB8}"/>
              </a:ext>
            </a:extLst>
          </p:cNvPr>
          <p:cNvCxnSpPr>
            <a:stCxn id="29" idx="3"/>
            <a:endCxn id="48" idx="0"/>
          </p:cNvCxnSpPr>
          <p:nvPr/>
        </p:nvCxnSpPr>
        <p:spPr>
          <a:xfrm rot="5400000">
            <a:off x="7811173" y="4020662"/>
            <a:ext cx="445585" cy="28812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54" name="直接连接符 53">
            <a:extLst>
              <a:ext uri="{FF2B5EF4-FFF2-40B4-BE49-F238E27FC236}">
                <a16:creationId xmlns:a16="http://schemas.microsoft.com/office/drawing/2014/main" id="{F5339BF6-8563-04CB-1D53-C6E440138BB5}"/>
              </a:ext>
            </a:extLst>
          </p:cNvPr>
          <p:cNvCxnSpPr>
            <a:stCxn id="28" idx="5"/>
            <a:endCxn id="50" idx="0"/>
          </p:cNvCxnSpPr>
          <p:nvPr/>
        </p:nvCxnSpPr>
        <p:spPr>
          <a:xfrm rot="16200000" flipH="1">
            <a:off x="9084215" y="3205379"/>
            <a:ext cx="466525" cy="288123"/>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55" name="矩形 54">
            <a:extLst>
              <a:ext uri="{FF2B5EF4-FFF2-40B4-BE49-F238E27FC236}">
                <a16:creationId xmlns:a16="http://schemas.microsoft.com/office/drawing/2014/main" id="{4052FB44-B2DC-DDF0-6813-A20D1E5785A4}"/>
              </a:ext>
            </a:extLst>
          </p:cNvPr>
          <p:cNvSpPr/>
          <p:nvPr/>
        </p:nvSpPr>
        <p:spPr>
          <a:xfrm>
            <a:off x="7104085" y="3582704"/>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18613151-3CE6-F8ED-74C4-C34188BB7FA1}"/>
              </a:ext>
            </a:extLst>
          </p:cNvPr>
          <p:cNvCxnSpPr>
            <a:stCxn id="24" idx="5"/>
            <a:endCxn id="55" idx="0"/>
          </p:cNvCxnSpPr>
          <p:nvPr/>
        </p:nvCxnSpPr>
        <p:spPr>
          <a:xfrm rot="16200000" flipH="1">
            <a:off x="6905356" y="3241098"/>
            <a:ext cx="466525" cy="216685"/>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57" name="矩形 56">
            <a:extLst>
              <a:ext uri="{FF2B5EF4-FFF2-40B4-BE49-F238E27FC236}">
                <a16:creationId xmlns:a16="http://schemas.microsoft.com/office/drawing/2014/main" id="{73347C26-D1A8-D473-CE91-1488DC3EDC3D}"/>
              </a:ext>
            </a:extLst>
          </p:cNvPr>
          <p:cNvSpPr/>
          <p:nvPr/>
        </p:nvSpPr>
        <p:spPr>
          <a:xfrm>
            <a:off x="4816967" y="5160147"/>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DA9C4AC9-E86F-BE2D-DF4E-F2BD6C98468B}"/>
              </a:ext>
            </a:extLst>
          </p:cNvPr>
          <p:cNvSpPr/>
          <p:nvPr/>
        </p:nvSpPr>
        <p:spPr>
          <a:xfrm>
            <a:off x="5339333" y="5160147"/>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F88FF3B1-C555-AE83-61C3-B950B869C6AE}"/>
              </a:ext>
            </a:extLst>
          </p:cNvPr>
          <p:cNvCxnSpPr>
            <a:endCxn id="57" idx="0"/>
          </p:cNvCxnSpPr>
          <p:nvPr/>
        </p:nvCxnSpPr>
        <p:spPr>
          <a:xfrm rot="5400000">
            <a:off x="4840374" y="4874224"/>
            <a:ext cx="405393" cy="16645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60" name="直接连接符 59">
            <a:extLst>
              <a:ext uri="{FF2B5EF4-FFF2-40B4-BE49-F238E27FC236}">
                <a16:creationId xmlns:a16="http://schemas.microsoft.com/office/drawing/2014/main" id="{B218A7CE-C03D-9771-6F80-E9DCFFC8E862}"/>
              </a:ext>
            </a:extLst>
          </p:cNvPr>
          <p:cNvCxnSpPr>
            <a:endCxn id="58" idx="0"/>
          </p:cNvCxnSpPr>
          <p:nvPr/>
        </p:nvCxnSpPr>
        <p:spPr>
          <a:xfrm rot="16200000" flipH="1">
            <a:off x="5205068" y="4883006"/>
            <a:ext cx="406696" cy="14758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61" name="矩形 60">
            <a:extLst>
              <a:ext uri="{FF2B5EF4-FFF2-40B4-BE49-F238E27FC236}">
                <a16:creationId xmlns:a16="http://schemas.microsoft.com/office/drawing/2014/main" id="{145911A3-AAF7-57BB-E98B-689ADD63AA52}"/>
              </a:ext>
            </a:extLst>
          </p:cNvPr>
          <p:cNvSpPr/>
          <p:nvPr/>
        </p:nvSpPr>
        <p:spPr>
          <a:xfrm>
            <a:off x="6092803" y="4374329"/>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8707F702-350C-9547-EEC2-A96095384141}"/>
              </a:ext>
            </a:extLst>
          </p:cNvPr>
          <p:cNvSpPr/>
          <p:nvPr/>
        </p:nvSpPr>
        <p:spPr>
          <a:xfrm>
            <a:off x="6615169" y="4374329"/>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230CA591-325B-6B87-46E8-5CF8F828C0D9}"/>
              </a:ext>
            </a:extLst>
          </p:cNvPr>
          <p:cNvCxnSpPr>
            <a:endCxn id="61" idx="0"/>
          </p:cNvCxnSpPr>
          <p:nvPr/>
        </p:nvCxnSpPr>
        <p:spPr>
          <a:xfrm rot="5400000">
            <a:off x="6096114" y="4108502"/>
            <a:ext cx="405393" cy="126261"/>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64" name="直接连接符 63">
            <a:extLst>
              <a:ext uri="{FF2B5EF4-FFF2-40B4-BE49-F238E27FC236}">
                <a16:creationId xmlns:a16="http://schemas.microsoft.com/office/drawing/2014/main" id="{2C462014-E3B7-4065-1C3E-F2BFBFA4331A}"/>
              </a:ext>
            </a:extLst>
          </p:cNvPr>
          <p:cNvCxnSpPr>
            <a:endCxn id="62" idx="0"/>
          </p:cNvCxnSpPr>
          <p:nvPr/>
        </p:nvCxnSpPr>
        <p:spPr>
          <a:xfrm rot="16200000" flipH="1">
            <a:off x="6495976" y="4112260"/>
            <a:ext cx="386600" cy="13753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65" name="矩形 64">
            <a:extLst>
              <a:ext uri="{FF2B5EF4-FFF2-40B4-BE49-F238E27FC236}">
                <a16:creationId xmlns:a16="http://schemas.microsoft.com/office/drawing/2014/main" id="{727E269C-B2E7-83CE-732A-83C52D933777}"/>
              </a:ext>
            </a:extLst>
          </p:cNvPr>
          <p:cNvSpPr/>
          <p:nvPr/>
        </p:nvSpPr>
        <p:spPr>
          <a:xfrm>
            <a:off x="8327477" y="5143190"/>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1282A5F2-1338-AA77-4175-313E64065D94}"/>
              </a:ext>
            </a:extLst>
          </p:cNvPr>
          <p:cNvSpPr/>
          <p:nvPr/>
        </p:nvSpPr>
        <p:spPr>
          <a:xfrm>
            <a:off x="8849843" y="5143190"/>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67" name="直接连接符 66">
            <a:extLst>
              <a:ext uri="{FF2B5EF4-FFF2-40B4-BE49-F238E27FC236}">
                <a16:creationId xmlns:a16="http://schemas.microsoft.com/office/drawing/2014/main" id="{F58C1FE9-A4CD-4A1D-9B48-6C71F9A3AC87}"/>
              </a:ext>
            </a:extLst>
          </p:cNvPr>
          <p:cNvCxnSpPr>
            <a:endCxn id="65" idx="0"/>
          </p:cNvCxnSpPr>
          <p:nvPr/>
        </p:nvCxnSpPr>
        <p:spPr>
          <a:xfrm rot="5400000">
            <a:off x="8355908" y="4872339"/>
            <a:ext cx="385297" cy="156405"/>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68" name="直接连接符 67">
            <a:extLst>
              <a:ext uri="{FF2B5EF4-FFF2-40B4-BE49-F238E27FC236}">
                <a16:creationId xmlns:a16="http://schemas.microsoft.com/office/drawing/2014/main" id="{4FED6326-F3F4-FB90-5651-A262C4C45903}"/>
              </a:ext>
            </a:extLst>
          </p:cNvPr>
          <p:cNvCxnSpPr>
            <a:endCxn id="66" idx="0"/>
          </p:cNvCxnSpPr>
          <p:nvPr/>
        </p:nvCxnSpPr>
        <p:spPr>
          <a:xfrm rot="16200000" flipH="1">
            <a:off x="8720602" y="4871073"/>
            <a:ext cx="386600" cy="15763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69" name="TextBox 86">
            <a:extLst>
              <a:ext uri="{FF2B5EF4-FFF2-40B4-BE49-F238E27FC236}">
                <a16:creationId xmlns:a16="http://schemas.microsoft.com/office/drawing/2014/main" id="{94F9B9DC-6B21-2FF8-EFC7-F93CC4AF345C}"/>
              </a:ext>
            </a:extLst>
          </p:cNvPr>
          <p:cNvSpPr txBox="1"/>
          <p:nvPr/>
        </p:nvSpPr>
        <p:spPr>
          <a:xfrm>
            <a:off x="1627779" y="2494928"/>
            <a:ext cx="2214578" cy="400110"/>
          </a:xfrm>
          <a:prstGeom prst="rect">
            <a:avLst/>
          </a:prstGeom>
          <a:noFill/>
        </p:spPr>
        <p:txBody>
          <a:bodyPr wrap="square" rtlCol="0">
            <a:spAutoFit/>
          </a:bodyPr>
          <a:lstStyle/>
          <a:p>
            <a:pPr algn="l"/>
            <a:r>
              <a:rPr lang="zh-CN" altLang="en-US" sz="2000" b="1" dirty="0">
                <a:solidFill>
                  <a:srgbClr val="3333FF"/>
                </a:solidFill>
                <a:ea typeface="楷体" pitchFamily="49" charset="-122"/>
                <a:cs typeface="Times New Roman" pitchFamily="18" charset="0"/>
              </a:rPr>
              <a:t>加上外部结点</a:t>
            </a:r>
          </a:p>
        </p:txBody>
      </p:sp>
      <p:sp>
        <p:nvSpPr>
          <p:cNvPr id="70" name="TextBox 87">
            <a:extLst>
              <a:ext uri="{FF2B5EF4-FFF2-40B4-BE49-F238E27FC236}">
                <a16:creationId xmlns:a16="http://schemas.microsoft.com/office/drawing/2014/main" id="{B9133067-1B88-0790-2E57-4A89F137041B}"/>
              </a:ext>
            </a:extLst>
          </p:cNvPr>
          <p:cNvSpPr txBox="1"/>
          <p:nvPr/>
        </p:nvSpPr>
        <p:spPr>
          <a:xfrm>
            <a:off x="10461671" y="5113046"/>
            <a:ext cx="357190" cy="369332"/>
          </a:xfrm>
          <a:prstGeom prst="rect">
            <a:avLst/>
          </a:prstGeom>
          <a:noFill/>
        </p:spPr>
        <p:txBody>
          <a:bodyPr wrap="square" rtlCol="0">
            <a:spAutoFit/>
          </a:bodyPr>
          <a:lstStyle/>
          <a:p>
            <a:pPr algn="l"/>
            <a:r>
              <a:rPr lang="en-US" altLang="zh-CN" sz="1800" b="1">
                <a:solidFill>
                  <a:srgbClr val="00B0F0"/>
                </a:solidFill>
                <a:latin typeface="Consolas" pitchFamily="49" charset="0"/>
                <a:ea typeface="楷体" pitchFamily="49" charset="-122"/>
                <a:cs typeface="Consolas" pitchFamily="49" charset="0"/>
              </a:rPr>
              <a:t>6</a:t>
            </a:r>
            <a:endParaRPr lang="zh-CN" altLang="en-US" sz="1800" b="1" dirty="0">
              <a:solidFill>
                <a:srgbClr val="00B0F0"/>
              </a:solidFill>
              <a:latin typeface="Consolas" pitchFamily="49" charset="0"/>
              <a:ea typeface="楷体" pitchFamily="49" charset="-122"/>
              <a:cs typeface="Consolas" pitchFamily="49" charset="0"/>
            </a:endParaRPr>
          </a:p>
        </p:txBody>
      </p:sp>
      <p:sp>
        <p:nvSpPr>
          <p:cNvPr id="71" name="椭圆 70">
            <a:extLst>
              <a:ext uri="{FF2B5EF4-FFF2-40B4-BE49-F238E27FC236}">
                <a16:creationId xmlns:a16="http://schemas.microsoft.com/office/drawing/2014/main" id="{A09B4407-4FED-DA5E-CFFB-F4EF4FAF7F40}"/>
              </a:ext>
            </a:extLst>
          </p:cNvPr>
          <p:cNvSpPr/>
          <p:nvPr/>
        </p:nvSpPr>
        <p:spPr>
          <a:xfrm>
            <a:off x="6818333" y="1131512"/>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50</a:t>
            </a:r>
            <a:endParaRPr lang="zh-CN" altLang="en-US" sz="1800">
              <a:solidFill>
                <a:schemeClr val="bg1"/>
              </a:solidFill>
              <a:latin typeface="Consolas" pitchFamily="49" charset="0"/>
              <a:cs typeface="Consolas" pitchFamily="49" charset="0"/>
            </a:endParaRPr>
          </a:p>
        </p:txBody>
      </p:sp>
      <p:sp>
        <p:nvSpPr>
          <p:cNvPr id="72" name="椭圆 71">
            <a:extLst>
              <a:ext uri="{FF2B5EF4-FFF2-40B4-BE49-F238E27FC236}">
                <a16:creationId xmlns:a16="http://schemas.microsoft.com/office/drawing/2014/main" id="{98D1BA8E-4BFB-2577-5083-FDEFB0D0C81A}"/>
              </a:ext>
            </a:extLst>
          </p:cNvPr>
          <p:cNvSpPr/>
          <p:nvPr/>
        </p:nvSpPr>
        <p:spPr>
          <a:xfrm>
            <a:off x="5603887" y="1877396"/>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30</a:t>
            </a:r>
            <a:endParaRPr lang="zh-CN" altLang="en-US" sz="1800">
              <a:solidFill>
                <a:schemeClr val="bg1"/>
              </a:solidFill>
              <a:latin typeface="Consolas" pitchFamily="49" charset="0"/>
              <a:cs typeface="Consolas" pitchFamily="49" charset="0"/>
            </a:endParaRPr>
          </a:p>
        </p:txBody>
      </p:sp>
      <p:cxnSp>
        <p:nvCxnSpPr>
          <p:cNvPr id="73" name="直接连接符 72">
            <a:extLst>
              <a:ext uri="{FF2B5EF4-FFF2-40B4-BE49-F238E27FC236}">
                <a16:creationId xmlns:a16="http://schemas.microsoft.com/office/drawing/2014/main" id="{F41AABFD-1C8E-0ABC-31EC-CCE091C52003}"/>
              </a:ext>
            </a:extLst>
          </p:cNvPr>
          <p:cNvCxnSpPr>
            <a:endCxn id="72" idx="7"/>
          </p:cNvCxnSpPr>
          <p:nvPr/>
        </p:nvCxnSpPr>
        <p:spPr>
          <a:xfrm rot="10800000" flipV="1">
            <a:off x="6034078" y="1512047"/>
            <a:ext cx="797776" cy="444430"/>
          </a:xfrm>
          <a:prstGeom prst="line">
            <a:avLst/>
          </a:prstGeom>
          <a:ln>
            <a:tailEnd type="none"/>
          </a:ln>
        </p:spPr>
        <p:style>
          <a:lnRef idx="2">
            <a:schemeClr val="accent2"/>
          </a:lnRef>
          <a:fillRef idx="0">
            <a:schemeClr val="accent2"/>
          </a:fillRef>
          <a:effectRef idx="1">
            <a:schemeClr val="accent2"/>
          </a:effectRef>
          <a:fontRef idx="minor">
            <a:schemeClr val="tx1"/>
          </a:fontRef>
        </p:style>
      </p:cxnSp>
      <p:sp>
        <p:nvSpPr>
          <p:cNvPr id="74" name="椭圆 73">
            <a:extLst>
              <a:ext uri="{FF2B5EF4-FFF2-40B4-BE49-F238E27FC236}">
                <a16:creationId xmlns:a16="http://schemas.microsoft.com/office/drawing/2014/main" id="{8DEA06B2-E7E0-4EE4-3F94-9340D54D2714}"/>
              </a:ext>
            </a:extLst>
          </p:cNvPr>
          <p:cNvSpPr/>
          <p:nvPr/>
        </p:nvSpPr>
        <p:spPr>
          <a:xfrm>
            <a:off x="4603755" y="2663214"/>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20</a:t>
            </a:r>
            <a:endParaRPr lang="zh-CN" altLang="en-US" sz="1800">
              <a:solidFill>
                <a:schemeClr val="bg1"/>
              </a:solidFill>
              <a:latin typeface="Consolas" pitchFamily="49" charset="0"/>
              <a:cs typeface="Consolas" pitchFamily="49" charset="0"/>
            </a:endParaRPr>
          </a:p>
        </p:txBody>
      </p:sp>
      <p:sp>
        <p:nvSpPr>
          <p:cNvPr id="75" name="椭圆 74">
            <a:extLst>
              <a:ext uri="{FF2B5EF4-FFF2-40B4-BE49-F238E27FC236}">
                <a16:creationId xmlns:a16="http://schemas.microsoft.com/office/drawing/2014/main" id="{FB05490C-6452-0606-D0FF-6DB4DDCD4CA8}"/>
              </a:ext>
            </a:extLst>
          </p:cNvPr>
          <p:cNvSpPr/>
          <p:nvPr/>
        </p:nvSpPr>
        <p:spPr>
          <a:xfrm>
            <a:off x="5242763" y="3488966"/>
            <a:ext cx="504000" cy="540000"/>
          </a:xfrm>
          <a:prstGeom prst="ellipse">
            <a:avLst/>
          </a:prstGeom>
        </p:spPr>
        <p:style>
          <a:lnRef idx="1">
            <a:schemeClr val="dk1"/>
          </a:lnRef>
          <a:fillRef idx="3">
            <a:schemeClr val="dk1"/>
          </a:fillRef>
          <a:effectRef idx="2">
            <a:schemeClr val="dk1"/>
          </a:effectRef>
          <a:fontRef idx="minor">
            <a:schemeClr val="lt1"/>
          </a:fontRef>
        </p:style>
        <p:txBody>
          <a:bodyPr lIns="0" rIns="0" rtlCol="0" anchor="ctr"/>
          <a:lstStyle/>
          <a:p>
            <a:pPr algn="ctr"/>
            <a:r>
              <a:rPr lang="en-US" altLang="zh-CN" sz="1800">
                <a:solidFill>
                  <a:schemeClr val="bg1"/>
                </a:solidFill>
                <a:latin typeface="Consolas" pitchFamily="49" charset="0"/>
                <a:cs typeface="Consolas" pitchFamily="49" charset="0"/>
              </a:rPr>
              <a:t>25</a:t>
            </a:r>
            <a:endParaRPr lang="zh-CN" altLang="en-US" sz="1800">
              <a:solidFill>
                <a:schemeClr val="bg1"/>
              </a:solidFill>
              <a:latin typeface="Consolas" pitchFamily="49" charset="0"/>
              <a:cs typeface="Consolas" pitchFamily="49" charset="0"/>
            </a:endParaRPr>
          </a:p>
        </p:txBody>
      </p:sp>
      <p:cxnSp>
        <p:nvCxnSpPr>
          <p:cNvPr id="76" name="直接连接符 75">
            <a:extLst>
              <a:ext uri="{FF2B5EF4-FFF2-40B4-BE49-F238E27FC236}">
                <a16:creationId xmlns:a16="http://schemas.microsoft.com/office/drawing/2014/main" id="{7045A6B0-EB8E-0D99-028A-D97252EB976D}"/>
              </a:ext>
            </a:extLst>
          </p:cNvPr>
          <p:cNvCxnSpPr>
            <a:stCxn id="74" idx="5"/>
            <a:endCxn id="75" idx="1"/>
          </p:cNvCxnSpPr>
          <p:nvPr/>
        </p:nvCxnSpPr>
        <p:spPr>
          <a:xfrm rot="16200000" flipH="1">
            <a:off x="4953302" y="3204777"/>
            <a:ext cx="443914" cy="282626"/>
          </a:xfrm>
          <a:prstGeom prst="line">
            <a:avLst/>
          </a:prstGeom>
          <a:ln>
            <a:tailEnd type="none"/>
          </a:ln>
        </p:spPr>
        <p:style>
          <a:lnRef idx="2">
            <a:schemeClr val="accent2"/>
          </a:lnRef>
          <a:fillRef idx="0">
            <a:schemeClr val="accent2"/>
          </a:fillRef>
          <a:effectRef idx="1">
            <a:schemeClr val="accent2"/>
          </a:effectRef>
          <a:fontRef idx="minor">
            <a:schemeClr val="tx1"/>
          </a:fontRef>
        </p:style>
      </p:cxnSp>
      <p:cxnSp>
        <p:nvCxnSpPr>
          <p:cNvPr id="77" name="直接连接符 76">
            <a:extLst>
              <a:ext uri="{FF2B5EF4-FFF2-40B4-BE49-F238E27FC236}">
                <a16:creationId xmlns:a16="http://schemas.microsoft.com/office/drawing/2014/main" id="{FF3E0784-0421-EEA3-2131-E6691E60FF53}"/>
              </a:ext>
            </a:extLst>
          </p:cNvPr>
          <p:cNvCxnSpPr>
            <a:endCxn id="74" idx="7"/>
          </p:cNvCxnSpPr>
          <p:nvPr/>
        </p:nvCxnSpPr>
        <p:spPr>
          <a:xfrm rot="10800000" flipV="1">
            <a:off x="5033946" y="2257931"/>
            <a:ext cx="593510" cy="484364"/>
          </a:xfrm>
          <a:prstGeom prst="line">
            <a:avLst/>
          </a:prstGeom>
          <a:ln>
            <a:tailEnd type="none"/>
          </a:ln>
        </p:spPr>
        <p:style>
          <a:lnRef idx="2">
            <a:schemeClr val="accent2"/>
          </a:lnRef>
          <a:fillRef idx="0">
            <a:schemeClr val="accent2"/>
          </a:fillRef>
          <a:effectRef idx="1">
            <a:schemeClr val="accent2"/>
          </a:effectRef>
          <a:fontRef idx="minor">
            <a:schemeClr val="tx1"/>
          </a:fontRef>
        </p:style>
      </p:cxnSp>
      <p:sp>
        <p:nvSpPr>
          <p:cNvPr id="78" name="矩形 77">
            <a:extLst>
              <a:ext uri="{FF2B5EF4-FFF2-40B4-BE49-F238E27FC236}">
                <a16:creationId xmlns:a16="http://schemas.microsoft.com/office/drawing/2014/main" id="{3F108D72-1F25-285A-2D5D-3A60AF8E4C15}"/>
              </a:ext>
            </a:extLst>
          </p:cNvPr>
          <p:cNvSpPr/>
          <p:nvPr/>
        </p:nvSpPr>
        <p:spPr>
          <a:xfrm>
            <a:off x="5675325" y="4365326"/>
            <a:ext cx="285752" cy="28575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solidFill>
                <a:schemeClr val="bg1"/>
              </a:solidFill>
            </a:endParaRPr>
          </a:p>
        </p:txBody>
      </p:sp>
      <p:cxnSp>
        <p:nvCxnSpPr>
          <p:cNvPr id="79" name="直接连接符 78">
            <a:extLst>
              <a:ext uri="{FF2B5EF4-FFF2-40B4-BE49-F238E27FC236}">
                <a16:creationId xmlns:a16="http://schemas.microsoft.com/office/drawing/2014/main" id="{348591D9-3270-DAA4-E28D-7837743978E6}"/>
              </a:ext>
            </a:extLst>
          </p:cNvPr>
          <p:cNvCxnSpPr>
            <a:stCxn id="75" idx="5"/>
            <a:endCxn id="78" idx="0"/>
          </p:cNvCxnSpPr>
          <p:nvPr/>
        </p:nvCxnSpPr>
        <p:spPr>
          <a:xfrm rot="16200000" flipH="1">
            <a:off x="5537857" y="4084981"/>
            <a:ext cx="415441" cy="145247"/>
          </a:xfrm>
          <a:prstGeom prst="line">
            <a:avLst/>
          </a:prstGeom>
          <a:ln>
            <a:tailEnd type="non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160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P spid="71" grpId="0" animBg="1"/>
      <p:bldP spid="72" grpId="0" animBg="1"/>
      <p:bldP spid="74" grpId="0" animBg="1"/>
      <p:bldP spid="75" grpId="0" animBg="1"/>
      <p:bldP spid="7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0871-C4F7-8228-BFAB-35380E8C672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1863896-84A6-FB03-2ED9-DAE473A6187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0ED37F2D-C9B5-0464-3A00-71474328F8BA}"/>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C0B264A0-CD08-7394-DE05-C926BE6A5222}"/>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35126798-5C8F-B5F1-DCCC-4767AAA96480}"/>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cxnSp>
        <p:nvCxnSpPr>
          <p:cNvPr id="80" name="直接连接符 79">
            <a:extLst>
              <a:ext uri="{FF2B5EF4-FFF2-40B4-BE49-F238E27FC236}">
                <a16:creationId xmlns:a16="http://schemas.microsoft.com/office/drawing/2014/main" id="{A7D37BEA-037F-E304-7A3E-526E13FC2C12}"/>
              </a:ext>
            </a:extLst>
          </p:cNvPr>
          <p:cNvCxnSpPr>
            <a:endCxn id="139" idx="1"/>
          </p:cNvCxnSpPr>
          <p:nvPr/>
        </p:nvCxnSpPr>
        <p:spPr>
          <a:xfrm flipV="1">
            <a:off x="4808920" y="5213329"/>
            <a:ext cx="614366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1" name="直接连接符 80">
            <a:extLst>
              <a:ext uri="{FF2B5EF4-FFF2-40B4-BE49-F238E27FC236}">
                <a16:creationId xmlns:a16="http://schemas.microsoft.com/office/drawing/2014/main" id="{513EDF1A-C52E-238A-CCB1-FA9ADBA7799F}"/>
              </a:ext>
            </a:extLst>
          </p:cNvPr>
          <p:cNvCxnSpPr>
            <a:endCxn id="111" idx="1"/>
          </p:cNvCxnSpPr>
          <p:nvPr/>
        </p:nvCxnSpPr>
        <p:spPr>
          <a:xfrm>
            <a:off x="4165978" y="3642189"/>
            <a:ext cx="678661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2" name="直接连接符 81">
            <a:extLst>
              <a:ext uri="{FF2B5EF4-FFF2-40B4-BE49-F238E27FC236}">
                <a16:creationId xmlns:a16="http://schemas.microsoft.com/office/drawing/2014/main" id="{EE65E786-9DB9-B3BE-F18B-E7DF9856F103}"/>
              </a:ext>
            </a:extLst>
          </p:cNvPr>
          <p:cNvCxnSpPr>
            <a:endCxn id="112" idx="1"/>
          </p:cNvCxnSpPr>
          <p:nvPr/>
        </p:nvCxnSpPr>
        <p:spPr>
          <a:xfrm flipV="1">
            <a:off x="4094540" y="4428503"/>
            <a:ext cx="685804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3" name="直接连接符 82">
            <a:extLst>
              <a:ext uri="{FF2B5EF4-FFF2-40B4-BE49-F238E27FC236}">
                <a16:creationId xmlns:a16="http://schemas.microsoft.com/office/drawing/2014/main" id="{576E9D78-6565-D33E-EFB6-0F94FBCDC095}"/>
              </a:ext>
            </a:extLst>
          </p:cNvPr>
          <p:cNvCxnSpPr>
            <a:endCxn id="110" idx="1"/>
          </p:cNvCxnSpPr>
          <p:nvPr/>
        </p:nvCxnSpPr>
        <p:spPr>
          <a:xfrm flipV="1">
            <a:off x="4451730" y="2826723"/>
            <a:ext cx="65008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cxnSp>
        <p:nvCxnSpPr>
          <p:cNvPr id="84" name="直接连接符 83">
            <a:extLst>
              <a:ext uri="{FF2B5EF4-FFF2-40B4-BE49-F238E27FC236}">
                <a16:creationId xmlns:a16="http://schemas.microsoft.com/office/drawing/2014/main" id="{1F2F4903-15FE-44CD-0010-C22DC83382CB}"/>
              </a:ext>
            </a:extLst>
          </p:cNvPr>
          <p:cNvCxnSpPr>
            <a:endCxn id="109" idx="1"/>
          </p:cNvCxnSpPr>
          <p:nvPr/>
        </p:nvCxnSpPr>
        <p:spPr>
          <a:xfrm flipV="1">
            <a:off x="5523300" y="2049961"/>
            <a:ext cx="542928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85" name="椭圆 84">
            <a:extLst>
              <a:ext uri="{FF2B5EF4-FFF2-40B4-BE49-F238E27FC236}">
                <a16:creationId xmlns:a16="http://schemas.microsoft.com/office/drawing/2014/main" id="{FDD9766D-3579-EE5F-EF03-FC6DBC134A3E}"/>
              </a:ext>
            </a:extLst>
          </p:cNvPr>
          <p:cNvSpPr/>
          <p:nvPr/>
        </p:nvSpPr>
        <p:spPr>
          <a:xfrm>
            <a:off x="7309250" y="1039175"/>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50</a:t>
            </a:r>
            <a:endParaRPr lang="zh-CN" altLang="en-US" sz="1800">
              <a:solidFill>
                <a:srgbClr val="0000FF"/>
              </a:solidFill>
              <a:latin typeface="Consolas" pitchFamily="49" charset="0"/>
              <a:cs typeface="Consolas" pitchFamily="49" charset="0"/>
            </a:endParaRPr>
          </a:p>
        </p:txBody>
      </p:sp>
      <p:sp>
        <p:nvSpPr>
          <p:cNvPr id="86" name="椭圆 85">
            <a:extLst>
              <a:ext uri="{FF2B5EF4-FFF2-40B4-BE49-F238E27FC236}">
                <a16:creationId xmlns:a16="http://schemas.microsoft.com/office/drawing/2014/main" id="{6851CBD9-0CCB-A06B-827C-B0F599AC880D}"/>
              </a:ext>
            </a:extLst>
          </p:cNvPr>
          <p:cNvSpPr/>
          <p:nvPr/>
        </p:nvSpPr>
        <p:spPr>
          <a:xfrm>
            <a:off x="6094804" y="178505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30</a:t>
            </a:r>
            <a:endParaRPr lang="zh-CN" altLang="en-US" sz="1800">
              <a:solidFill>
                <a:srgbClr val="0000FF"/>
              </a:solidFill>
              <a:latin typeface="Consolas" pitchFamily="49" charset="0"/>
              <a:cs typeface="Consolas" pitchFamily="49" charset="0"/>
            </a:endParaRPr>
          </a:p>
        </p:txBody>
      </p:sp>
      <p:sp>
        <p:nvSpPr>
          <p:cNvPr id="87" name="椭圆 86">
            <a:extLst>
              <a:ext uri="{FF2B5EF4-FFF2-40B4-BE49-F238E27FC236}">
                <a16:creationId xmlns:a16="http://schemas.microsoft.com/office/drawing/2014/main" id="{7F81831D-829A-D65F-E6F6-2F7D8DC736A4}"/>
              </a:ext>
            </a:extLst>
          </p:cNvPr>
          <p:cNvSpPr/>
          <p:nvPr/>
        </p:nvSpPr>
        <p:spPr>
          <a:xfrm>
            <a:off x="8417078" y="178505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80</a:t>
            </a:r>
            <a:endParaRPr lang="zh-CN" altLang="en-US" sz="1800">
              <a:solidFill>
                <a:srgbClr val="0000FF"/>
              </a:solidFill>
              <a:latin typeface="Consolas" pitchFamily="49" charset="0"/>
              <a:cs typeface="Consolas" pitchFamily="49" charset="0"/>
            </a:endParaRPr>
          </a:p>
        </p:txBody>
      </p:sp>
      <p:cxnSp>
        <p:nvCxnSpPr>
          <p:cNvPr id="88" name="直接连接符 87">
            <a:extLst>
              <a:ext uri="{FF2B5EF4-FFF2-40B4-BE49-F238E27FC236}">
                <a16:creationId xmlns:a16="http://schemas.microsoft.com/office/drawing/2014/main" id="{7E63307C-4668-0A3C-FFE3-1F4264F8D5BE}"/>
              </a:ext>
            </a:extLst>
          </p:cNvPr>
          <p:cNvCxnSpPr>
            <a:endCxn id="86" idx="7"/>
          </p:cNvCxnSpPr>
          <p:nvPr/>
        </p:nvCxnSpPr>
        <p:spPr>
          <a:xfrm rot="10800000" flipV="1">
            <a:off x="6524995" y="1419710"/>
            <a:ext cx="797776" cy="44443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89" name="直接连接符 88">
            <a:extLst>
              <a:ext uri="{FF2B5EF4-FFF2-40B4-BE49-F238E27FC236}">
                <a16:creationId xmlns:a16="http://schemas.microsoft.com/office/drawing/2014/main" id="{A5740CB7-D118-CE21-D9BF-C7431EEAF47F}"/>
              </a:ext>
            </a:extLst>
          </p:cNvPr>
          <p:cNvCxnSpPr>
            <a:endCxn id="87" idx="1"/>
          </p:cNvCxnSpPr>
          <p:nvPr/>
        </p:nvCxnSpPr>
        <p:spPr>
          <a:xfrm>
            <a:off x="7803202" y="1417609"/>
            <a:ext cx="687685" cy="446531"/>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90" name="椭圆 89">
            <a:extLst>
              <a:ext uri="{FF2B5EF4-FFF2-40B4-BE49-F238E27FC236}">
                <a16:creationId xmlns:a16="http://schemas.microsoft.com/office/drawing/2014/main" id="{2F59954B-0D24-5127-EDC6-1CB6163E4B52}"/>
              </a:ext>
            </a:extLst>
          </p:cNvPr>
          <p:cNvSpPr/>
          <p:nvPr/>
        </p:nvSpPr>
        <p:spPr>
          <a:xfrm>
            <a:off x="5094672" y="257087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20</a:t>
            </a:r>
            <a:endParaRPr lang="zh-CN" altLang="en-US" sz="1800">
              <a:solidFill>
                <a:srgbClr val="0000FF"/>
              </a:solidFill>
              <a:latin typeface="Consolas" pitchFamily="49" charset="0"/>
              <a:cs typeface="Consolas" pitchFamily="49" charset="0"/>
            </a:endParaRPr>
          </a:p>
        </p:txBody>
      </p:sp>
      <p:sp>
        <p:nvSpPr>
          <p:cNvPr id="91" name="椭圆 90">
            <a:extLst>
              <a:ext uri="{FF2B5EF4-FFF2-40B4-BE49-F238E27FC236}">
                <a16:creationId xmlns:a16="http://schemas.microsoft.com/office/drawing/2014/main" id="{40A201C7-D4AD-EC44-961A-361A4170B9ED}"/>
              </a:ext>
            </a:extLst>
          </p:cNvPr>
          <p:cNvSpPr/>
          <p:nvPr/>
        </p:nvSpPr>
        <p:spPr>
          <a:xfrm>
            <a:off x="4451730" y="339662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10</a:t>
            </a:r>
            <a:endParaRPr lang="zh-CN" altLang="en-US" sz="1800">
              <a:solidFill>
                <a:srgbClr val="0000FF"/>
              </a:solidFill>
              <a:latin typeface="Consolas" pitchFamily="49" charset="0"/>
              <a:cs typeface="Consolas" pitchFamily="49" charset="0"/>
            </a:endParaRPr>
          </a:p>
        </p:txBody>
      </p:sp>
      <p:sp>
        <p:nvSpPr>
          <p:cNvPr id="92" name="椭圆 91">
            <a:extLst>
              <a:ext uri="{FF2B5EF4-FFF2-40B4-BE49-F238E27FC236}">
                <a16:creationId xmlns:a16="http://schemas.microsoft.com/office/drawing/2014/main" id="{2E3D5E98-A9A1-DB2C-7139-7669C822C1FA}"/>
              </a:ext>
            </a:extLst>
          </p:cNvPr>
          <p:cNvSpPr/>
          <p:nvPr/>
        </p:nvSpPr>
        <p:spPr>
          <a:xfrm>
            <a:off x="5733680" y="339662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25</a:t>
            </a:r>
            <a:endParaRPr lang="zh-CN" altLang="en-US" sz="1800">
              <a:solidFill>
                <a:srgbClr val="0000FF"/>
              </a:solidFill>
              <a:latin typeface="Consolas" pitchFamily="49" charset="0"/>
              <a:cs typeface="Consolas" pitchFamily="49" charset="0"/>
            </a:endParaRPr>
          </a:p>
        </p:txBody>
      </p:sp>
      <p:sp>
        <p:nvSpPr>
          <p:cNvPr id="93" name="椭圆 92">
            <a:extLst>
              <a:ext uri="{FF2B5EF4-FFF2-40B4-BE49-F238E27FC236}">
                <a16:creationId xmlns:a16="http://schemas.microsoft.com/office/drawing/2014/main" id="{06A7B331-EDB1-923D-2820-D49119E99DFB}"/>
              </a:ext>
            </a:extLst>
          </p:cNvPr>
          <p:cNvSpPr/>
          <p:nvPr/>
        </p:nvSpPr>
        <p:spPr>
          <a:xfrm>
            <a:off x="5447928" y="4142513"/>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23</a:t>
            </a:r>
            <a:endParaRPr lang="zh-CN" altLang="en-US" sz="1800">
              <a:solidFill>
                <a:srgbClr val="0000FF"/>
              </a:solidFill>
              <a:latin typeface="Consolas" pitchFamily="49" charset="0"/>
              <a:cs typeface="Consolas" pitchFamily="49" charset="0"/>
            </a:endParaRPr>
          </a:p>
        </p:txBody>
      </p:sp>
      <p:cxnSp>
        <p:nvCxnSpPr>
          <p:cNvPr id="94" name="直接连接符 93">
            <a:extLst>
              <a:ext uri="{FF2B5EF4-FFF2-40B4-BE49-F238E27FC236}">
                <a16:creationId xmlns:a16="http://schemas.microsoft.com/office/drawing/2014/main" id="{392A01D4-FB66-717E-B17D-AC4D5243A761}"/>
              </a:ext>
            </a:extLst>
          </p:cNvPr>
          <p:cNvCxnSpPr>
            <a:stCxn id="90" idx="3"/>
            <a:endCxn id="91" idx="7"/>
          </p:cNvCxnSpPr>
          <p:nvPr/>
        </p:nvCxnSpPr>
        <p:spPr>
          <a:xfrm rot="5400000">
            <a:off x="4803244" y="3110473"/>
            <a:ext cx="443914" cy="286560"/>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95" name="直接连接符 94">
            <a:extLst>
              <a:ext uri="{FF2B5EF4-FFF2-40B4-BE49-F238E27FC236}">
                <a16:creationId xmlns:a16="http://schemas.microsoft.com/office/drawing/2014/main" id="{7AD3A8F0-3117-002A-1E43-78D232DCA456}"/>
              </a:ext>
            </a:extLst>
          </p:cNvPr>
          <p:cNvCxnSpPr>
            <a:stCxn id="90" idx="5"/>
            <a:endCxn id="92" idx="1"/>
          </p:cNvCxnSpPr>
          <p:nvPr/>
        </p:nvCxnSpPr>
        <p:spPr>
          <a:xfrm rot="16200000" flipH="1">
            <a:off x="5444219" y="3112440"/>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96" name="直接连接符 95">
            <a:extLst>
              <a:ext uri="{FF2B5EF4-FFF2-40B4-BE49-F238E27FC236}">
                <a16:creationId xmlns:a16="http://schemas.microsoft.com/office/drawing/2014/main" id="{A807B7C0-FE9E-35C3-0CAF-218140C5C56D}"/>
              </a:ext>
            </a:extLst>
          </p:cNvPr>
          <p:cNvCxnSpPr>
            <a:stCxn id="92" idx="3"/>
            <a:endCxn id="93" idx="0"/>
          </p:cNvCxnSpPr>
          <p:nvPr/>
        </p:nvCxnSpPr>
        <p:spPr>
          <a:xfrm rot="5400000">
            <a:off x="5611227" y="3946250"/>
            <a:ext cx="284965" cy="107561"/>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97" name="椭圆 96">
            <a:extLst>
              <a:ext uri="{FF2B5EF4-FFF2-40B4-BE49-F238E27FC236}">
                <a16:creationId xmlns:a16="http://schemas.microsoft.com/office/drawing/2014/main" id="{C048BA60-DFD5-6515-B5DD-CFB233682213}"/>
              </a:ext>
            </a:extLst>
          </p:cNvPr>
          <p:cNvSpPr/>
          <p:nvPr/>
        </p:nvSpPr>
        <p:spPr>
          <a:xfrm>
            <a:off x="7091002" y="257087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40</a:t>
            </a:r>
            <a:endParaRPr lang="zh-CN" altLang="en-US" sz="1800">
              <a:solidFill>
                <a:srgbClr val="0000FF"/>
              </a:solidFill>
              <a:latin typeface="Consolas" pitchFamily="49" charset="0"/>
              <a:cs typeface="Consolas" pitchFamily="49" charset="0"/>
            </a:endParaRPr>
          </a:p>
        </p:txBody>
      </p:sp>
      <p:sp>
        <p:nvSpPr>
          <p:cNvPr id="98" name="椭圆 97">
            <a:extLst>
              <a:ext uri="{FF2B5EF4-FFF2-40B4-BE49-F238E27FC236}">
                <a16:creationId xmlns:a16="http://schemas.microsoft.com/office/drawing/2014/main" id="{F683A5D2-0E04-4EC3-F514-C40C37D99758}"/>
              </a:ext>
            </a:extLst>
          </p:cNvPr>
          <p:cNvSpPr/>
          <p:nvPr/>
        </p:nvSpPr>
        <p:spPr>
          <a:xfrm>
            <a:off x="6737746" y="338448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cxnSp>
        <p:nvCxnSpPr>
          <p:cNvPr id="99" name="直接连接符 98">
            <a:extLst>
              <a:ext uri="{FF2B5EF4-FFF2-40B4-BE49-F238E27FC236}">
                <a16:creationId xmlns:a16="http://schemas.microsoft.com/office/drawing/2014/main" id="{899F269F-5FAA-5E5B-5445-AF9AA1EDE9AE}"/>
              </a:ext>
            </a:extLst>
          </p:cNvPr>
          <p:cNvCxnSpPr>
            <a:endCxn id="97" idx="1"/>
          </p:cNvCxnSpPr>
          <p:nvPr/>
        </p:nvCxnSpPr>
        <p:spPr>
          <a:xfrm>
            <a:off x="6595331" y="2165594"/>
            <a:ext cx="56948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00" name="直接连接符 99">
            <a:extLst>
              <a:ext uri="{FF2B5EF4-FFF2-40B4-BE49-F238E27FC236}">
                <a16:creationId xmlns:a16="http://schemas.microsoft.com/office/drawing/2014/main" id="{23848CAB-2531-6884-BE73-B9AE71BD175E}"/>
              </a:ext>
            </a:extLst>
          </p:cNvPr>
          <p:cNvCxnSpPr>
            <a:stCxn id="97" idx="3"/>
            <a:endCxn id="98" idx="0"/>
          </p:cNvCxnSpPr>
          <p:nvPr/>
        </p:nvCxnSpPr>
        <p:spPr>
          <a:xfrm rot="5400000">
            <a:off x="6900934" y="3120609"/>
            <a:ext cx="352691" cy="175065"/>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01" name="椭圆 100">
            <a:extLst>
              <a:ext uri="{FF2B5EF4-FFF2-40B4-BE49-F238E27FC236}">
                <a16:creationId xmlns:a16="http://schemas.microsoft.com/office/drawing/2014/main" id="{7C0DFBE6-2498-B660-A828-298CFB03D278}"/>
              </a:ext>
            </a:extLst>
          </p:cNvPr>
          <p:cNvSpPr/>
          <p:nvPr/>
        </p:nvSpPr>
        <p:spPr>
          <a:xfrm>
            <a:off x="9234142" y="2570877"/>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90</a:t>
            </a:r>
            <a:endParaRPr lang="zh-CN" altLang="en-US" sz="1800">
              <a:solidFill>
                <a:srgbClr val="0000FF"/>
              </a:solidFill>
              <a:latin typeface="Consolas" pitchFamily="49" charset="0"/>
              <a:cs typeface="Consolas" pitchFamily="49" charset="0"/>
            </a:endParaRPr>
          </a:p>
        </p:txBody>
      </p:sp>
      <p:sp>
        <p:nvSpPr>
          <p:cNvPr id="102" name="椭圆 101">
            <a:extLst>
              <a:ext uri="{FF2B5EF4-FFF2-40B4-BE49-F238E27FC236}">
                <a16:creationId xmlns:a16="http://schemas.microsoft.com/office/drawing/2014/main" id="{9C6B7ACD-5C55-2118-7C1F-EBB26EC8E164}"/>
              </a:ext>
            </a:extLst>
          </p:cNvPr>
          <p:cNvSpPr/>
          <p:nvPr/>
        </p:nvSpPr>
        <p:spPr>
          <a:xfrm>
            <a:off x="8595134" y="3396629"/>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85</a:t>
            </a:r>
            <a:endParaRPr lang="zh-CN" altLang="en-US" sz="1800">
              <a:solidFill>
                <a:srgbClr val="0000FF"/>
              </a:solidFill>
              <a:latin typeface="Consolas" pitchFamily="49" charset="0"/>
              <a:cs typeface="Consolas" pitchFamily="49" charset="0"/>
            </a:endParaRPr>
          </a:p>
        </p:txBody>
      </p:sp>
      <p:sp>
        <p:nvSpPr>
          <p:cNvPr id="103" name="椭圆 102">
            <a:extLst>
              <a:ext uri="{FF2B5EF4-FFF2-40B4-BE49-F238E27FC236}">
                <a16:creationId xmlns:a16="http://schemas.microsoft.com/office/drawing/2014/main" id="{32964A42-6664-5592-84F6-B28D8EE3E30D}"/>
              </a:ext>
            </a:extLst>
          </p:cNvPr>
          <p:cNvSpPr/>
          <p:nvPr/>
        </p:nvSpPr>
        <p:spPr>
          <a:xfrm>
            <a:off x="8952324" y="4142513"/>
            <a:ext cx="504000" cy="540000"/>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a:solidFill>
                  <a:srgbClr val="0000FF"/>
                </a:solidFill>
                <a:latin typeface="Consolas" pitchFamily="49" charset="0"/>
                <a:cs typeface="Consolas" pitchFamily="49" charset="0"/>
              </a:rPr>
              <a:t>88</a:t>
            </a:r>
            <a:endParaRPr lang="zh-CN" altLang="en-US" sz="1800">
              <a:solidFill>
                <a:srgbClr val="0000FF"/>
              </a:solidFill>
              <a:latin typeface="Consolas" pitchFamily="49" charset="0"/>
              <a:cs typeface="Consolas" pitchFamily="49" charset="0"/>
            </a:endParaRPr>
          </a:p>
        </p:txBody>
      </p:sp>
      <p:cxnSp>
        <p:nvCxnSpPr>
          <p:cNvPr id="104" name="直接连接符 103">
            <a:extLst>
              <a:ext uri="{FF2B5EF4-FFF2-40B4-BE49-F238E27FC236}">
                <a16:creationId xmlns:a16="http://schemas.microsoft.com/office/drawing/2014/main" id="{D273B0B6-B023-C9B5-C93C-ADC289D2149C}"/>
              </a:ext>
            </a:extLst>
          </p:cNvPr>
          <p:cNvCxnSpPr>
            <a:stCxn id="87" idx="5"/>
            <a:endCxn id="101" idx="1"/>
          </p:cNvCxnSpPr>
          <p:nvPr/>
        </p:nvCxnSpPr>
        <p:spPr>
          <a:xfrm rot="16200000" flipH="1">
            <a:off x="8875620" y="2217627"/>
            <a:ext cx="403980" cy="460682"/>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05" name="直接连接符 104">
            <a:extLst>
              <a:ext uri="{FF2B5EF4-FFF2-40B4-BE49-F238E27FC236}">
                <a16:creationId xmlns:a16="http://schemas.microsoft.com/office/drawing/2014/main" id="{32426BA4-D80B-8BEB-6E1E-70487F815B19}"/>
              </a:ext>
            </a:extLst>
          </p:cNvPr>
          <p:cNvCxnSpPr>
            <a:stCxn id="101" idx="3"/>
            <a:endCxn id="102" idx="7"/>
          </p:cNvCxnSpPr>
          <p:nvPr/>
        </p:nvCxnSpPr>
        <p:spPr>
          <a:xfrm rot="5400000">
            <a:off x="8944681" y="3112440"/>
            <a:ext cx="443914" cy="28262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06" name="直接连接符 105">
            <a:extLst>
              <a:ext uri="{FF2B5EF4-FFF2-40B4-BE49-F238E27FC236}">
                <a16:creationId xmlns:a16="http://schemas.microsoft.com/office/drawing/2014/main" id="{478F0554-45DF-CBC2-6C23-268A36DFE3A3}"/>
              </a:ext>
            </a:extLst>
          </p:cNvPr>
          <p:cNvCxnSpPr>
            <a:stCxn id="102" idx="5"/>
            <a:endCxn id="103" idx="0"/>
          </p:cNvCxnSpPr>
          <p:nvPr/>
        </p:nvCxnSpPr>
        <p:spPr>
          <a:xfrm rot="16200000" flipH="1">
            <a:off x="8972342" y="3910530"/>
            <a:ext cx="284965" cy="178999"/>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07" name="TextBox 34">
            <a:extLst>
              <a:ext uri="{FF2B5EF4-FFF2-40B4-BE49-F238E27FC236}">
                <a16:creationId xmlns:a16="http://schemas.microsoft.com/office/drawing/2014/main" id="{BAD30C93-8D49-3151-9D3A-E06499360EEB}"/>
              </a:ext>
            </a:extLst>
          </p:cNvPr>
          <p:cNvSpPr txBox="1"/>
          <p:nvPr/>
        </p:nvSpPr>
        <p:spPr>
          <a:xfrm>
            <a:off x="10952588" y="1148711"/>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1</a:t>
            </a:r>
            <a:endParaRPr lang="zh-CN" altLang="en-US" sz="1800" b="1" dirty="0">
              <a:latin typeface="Consolas" pitchFamily="49" charset="0"/>
              <a:ea typeface="楷体" pitchFamily="49" charset="-122"/>
              <a:cs typeface="Consolas" pitchFamily="49" charset="0"/>
            </a:endParaRPr>
          </a:p>
        </p:txBody>
      </p:sp>
      <p:cxnSp>
        <p:nvCxnSpPr>
          <p:cNvPr id="108" name="直接连接符 107">
            <a:extLst>
              <a:ext uri="{FF2B5EF4-FFF2-40B4-BE49-F238E27FC236}">
                <a16:creationId xmlns:a16="http://schemas.microsoft.com/office/drawing/2014/main" id="{95072DA5-3F84-72A4-5BE0-EBC7D9989E77}"/>
              </a:ext>
            </a:extLst>
          </p:cNvPr>
          <p:cNvCxnSpPr>
            <a:endCxn id="107" idx="1"/>
          </p:cNvCxnSpPr>
          <p:nvPr/>
        </p:nvCxnSpPr>
        <p:spPr>
          <a:xfrm>
            <a:off x="8023630" y="1303729"/>
            <a:ext cx="2928958"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09" name="TextBox 37">
            <a:extLst>
              <a:ext uri="{FF2B5EF4-FFF2-40B4-BE49-F238E27FC236}">
                <a16:creationId xmlns:a16="http://schemas.microsoft.com/office/drawing/2014/main" id="{49223385-3B08-637F-FA52-8C657946FC85}"/>
              </a:ext>
            </a:extLst>
          </p:cNvPr>
          <p:cNvSpPr txBox="1"/>
          <p:nvPr/>
        </p:nvSpPr>
        <p:spPr>
          <a:xfrm>
            <a:off x="10952588" y="1865295"/>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2</a:t>
            </a:r>
            <a:endParaRPr lang="zh-CN" altLang="en-US" sz="1800" b="1" dirty="0">
              <a:latin typeface="Consolas" pitchFamily="49" charset="0"/>
              <a:ea typeface="楷体" pitchFamily="49" charset="-122"/>
              <a:cs typeface="Consolas" pitchFamily="49" charset="0"/>
            </a:endParaRPr>
          </a:p>
        </p:txBody>
      </p:sp>
      <p:sp>
        <p:nvSpPr>
          <p:cNvPr id="110" name="TextBox 39">
            <a:extLst>
              <a:ext uri="{FF2B5EF4-FFF2-40B4-BE49-F238E27FC236}">
                <a16:creationId xmlns:a16="http://schemas.microsoft.com/office/drawing/2014/main" id="{5743261E-EE9D-1FCC-29C6-073572164836}"/>
              </a:ext>
            </a:extLst>
          </p:cNvPr>
          <p:cNvSpPr txBox="1"/>
          <p:nvPr/>
        </p:nvSpPr>
        <p:spPr>
          <a:xfrm>
            <a:off x="10952588" y="2642057"/>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3</a:t>
            </a:r>
            <a:endParaRPr lang="zh-CN" altLang="en-US" sz="1800" b="1" dirty="0">
              <a:latin typeface="Consolas" pitchFamily="49" charset="0"/>
              <a:ea typeface="楷体" pitchFamily="49" charset="-122"/>
              <a:cs typeface="Consolas" pitchFamily="49" charset="0"/>
            </a:endParaRPr>
          </a:p>
        </p:txBody>
      </p:sp>
      <p:sp>
        <p:nvSpPr>
          <p:cNvPr id="111" name="TextBox 41">
            <a:extLst>
              <a:ext uri="{FF2B5EF4-FFF2-40B4-BE49-F238E27FC236}">
                <a16:creationId xmlns:a16="http://schemas.microsoft.com/office/drawing/2014/main" id="{015C9D19-A90E-3E14-B734-4FDC63E67DCE}"/>
              </a:ext>
            </a:extLst>
          </p:cNvPr>
          <p:cNvSpPr txBox="1"/>
          <p:nvPr/>
        </p:nvSpPr>
        <p:spPr>
          <a:xfrm>
            <a:off x="10952588" y="3499313"/>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4</a:t>
            </a:r>
            <a:endParaRPr lang="zh-CN" altLang="en-US" sz="1800" b="1" dirty="0">
              <a:latin typeface="Consolas" pitchFamily="49" charset="0"/>
              <a:ea typeface="楷体" pitchFamily="49" charset="-122"/>
              <a:cs typeface="Consolas" pitchFamily="49" charset="0"/>
            </a:endParaRPr>
          </a:p>
        </p:txBody>
      </p:sp>
      <p:sp>
        <p:nvSpPr>
          <p:cNvPr id="112" name="TextBox 43">
            <a:extLst>
              <a:ext uri="{FF2B5EF4-FFF2-40B4-BE49-F238E27FC236}">
                <a16:creationId xmlns:a16="http://schemas.microsoft.com/office/drawing/2014/main" id="{12C3EE3C-4641-EEE3-899A-13D2081EBABA}"/>
              </a:ext>
            </a:extLst>
          </p:cNvPr>
          <p:cNvSpPr txBox="1"/>
          <p:nvPr/>
        </p:nvSpPr>
        <p:spPr>
          <a:xfrm>
            <a:off x="10952588" y="4243837"/>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5</a:t>
            </a:r>
            <a:endParaRPr lang="zh-CN" altLang="en-US" sz="1800" b="1" dirty="0">
              <a:latin typeface="Consolas" pitchFamily="49" charset="0"/>
              <a:ea typeface="楷体" pitchFamily="49" charset="-122"/>
              <a:cs typeface="Consolas" pitchFamily="49" charset="0"/>
            </a:endParaRPr>
          </a:p>
        </p:txBody>
      </p:sp>
      <p:sp>
        <p:nvSpPr>
          <p:cNvPr id="113" name="矩形 112">
            <a:extLst>
              <a:ext uri="{FF2B5EF4-FFF2-40B4-BE49-F238E27FC236}">
                <a16:creationId xmlns:a16="http://schemas.microsoft.com/office/drawing/2014/main" id="{59C94A91-9550-4711-248C-A9E17F7E2C9E}"/>
              </a:ext>
            </a:extLst>
          </p:cNvPr>
          <p:cNvSpPr/>
          <p:nvPr/>
        </p:nvSpPr>
        <p:spPr>
          <a:xfrm>
            <a:off x="4286554" y="4303133"/>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02FF439F-75EB-BF25-ED31-4D8979867237}"/>
              </a:ext>
            </a:extLst>
          </p:cNvPr>
          <p:cNvSpPr/>
          <p:nvPr/>
        </p:nvSpPr>
        <p:spPr>
          <a:xfrm>
            <a:off x="4808920" y="4303133"/>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15" name="直接连接符 114">
            <a:extLst>
              <a:ext uri="{FF2B5EF4-FFF2-40B4-BE49-F238E27FC236}">
                <a16:creationId xmlns:a16="http://schemas.microsoft.com/office/drawing/2014/main" id="{F0519931-34E2-517C-84C6-73AAFFF75B83}"/>
              </a:ext>
            </a:extLst>
          </p:cNvPr>
          <p:cNvCxnSpPr>
            <a:endCxn id="113" idx="0"/>
          </p:cNvCxnSpPr>
          <p:nvPr/>
        </p:nvCxnSpPr>
        <p:spPr>
          <a:xfrm rot="5400000">
            <a:off x="4320009" y="4027258"/>
            <a:ext cx="385297" cy="16645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16" name="直接连接符 115">
            <a:extLst>
              <a:ext uri="{FF2B5EF4-FFF2-40B4-BE49-F238E27FC236}">
                <a16:creationId xmlns:a16="http://schemas.microsoft.com/office/drawing/2014/main" id="{C43D10F2-599A-ECE2-AA44-049C310E5067}"/>
              </a:ext>
            </a:extLst>
          </p:cNvPr>
          <p:cNvCxnSpPr>
            <a:endCxn id="114" idx="0"/>
          </p:cNvCxnSpPr>
          <p:nvPr/>
        </p:nvCxnSpPr>
        <p:spPr>
          <a:xfrm rot="16200000" flipH="1">
            <a:off x="4694751" y="4046088"/>
            <a:ext cx="366504" cy="14758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17" name="矩形 116">
            <a:extLst>
              <a:ext uri="{FF2B5EF4-FFF2-40B4-BE49-F238E27FC236}">
                <a16:creationId xmlns:a16="http://schemas.microsoft.com/office/drawing/2014/main" id="{2FEB180A-51F3-FA7E-E211-F7313CA18A5A}"/>
              </a:ext>
            </a:extLst>
          </p:cNvPr>
          <p:cNvSpPr/>
          <p:nvPr/>
        </p:nvSpPr>
        <p:spPr>
          <a:xfrm>
            <a:off x="6166242" y="4293085"/>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03280516-5C0F-2A5A-012B-8F80B3D89B7E}"/>
              </a:ext>
            </a:extLst>
          </p:cNvPr>
          <p:cNvSpPr/>
          <p:nvPr/>
        </p:nvSpPr>
        <p:spPr>
          <a:xfrm>
            <a:off x="8237944" y="4303133"/>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9" name="矩形 118">
            <a:extLst>
              <a:ext uri="{FF2B5EF4-FFF2-40B4-BE49-F238E27FC236}">
                <a16:creationId xmlns:a16="http://schemas.microsoft.com/office/drawing/2014/main" id="{3C3F5FC3-5E28-55B5-FFDF-F7D8B8A1A84C}"/>
              </a:ext>
            </a:extLst>
          </p:cNvPr>
          <p:cNvSpPr/>
          <p:nvPr/>
        </p:nvSpPr>
        <p:spPr>
          <a:xfrm>
            <a:off x="8013582" y="2692407"/>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E458DF97-7B35-C6D9-A9D9-595D1E16799C}"/>
              </a:ext>
            </a:extLst>
          </p:cNvPr>
          <p:cNvSpPr/>
          <p:nvPr/>
        </p:nvSpPr>
        <p:spPr>
          <a:xfrm>
            <a:off x="9809580" y="3498321"/>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1FA86D4C-9139-C281-B96F-128715EF8667}"/>
              </a:ext>
            </a:extLst>
          </p:cNvPr>
          <p:cNvCxnSpPr>
            <a:stCxn id="92" idx="5"/>
            <a:endCxn id="117" idx="0"/>
          </p:cNvCxnSpPr>
          <p:nvPr/>
        </p:nvCxnSpPr>
        <p:spPr>
          <a:xfrm rot="16200000" flipH="1">
            <a:off x="6018726" y="4002692"/>
            <a:ext cx="435537" cy="145247"/>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22" name="直接连接符 121">
            <a:extLst>
              <a:ext uri="{FF2B5EF4-FFF2-40B4-BE49-F238E27FC236}">
                <a16:creationId xmlns:a16="http://schemas.microsoft.com/office/drawing/2014/main" id="{C5958337-5825-6F7E-43AD-E70BB16996D6}"/>
              </a:ext>
            </a:extLst>
          </p:cNvPr>
          <p:cNvCxnSpPr>
            <a:stCxn id="87" idx="3"/>
            <a:endCxn id="119" idx="0"/>
          </p:cNvCxnSpPr>
          <p:nvPr/>
        </p:nvCxnSpPr>
        <p:spPr>
          <a:xfrm rot="5400000">
            <a:off x="8100459" y="2301978"/>
            <a:ext cx="446429" cy="33442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23" name="直接连接符 122">
            <a:extLst>
              <a:ext uri="{FF2B5EF4-FFF2-40B4-BE49-F238E27FC236}">
                <a16:creationId xmlns:a16="http://schemas.microsoft.com/office/drawing/2014/main" id="{F1E73CC6-5AD9-8BC6-5F4A-1EF3D891604B}"/>
              </a:ext>
            </a:extLst>
          </p:cNvPr>
          <p:cNvCxnSpPr>
            <a:stCxn id="102" idx="3"/>
            <a:endCxn id="118" idx="0"/>
          </p:cNvCxnSpPr>
          <p:nvPr/>
        </p:nvCxnSpPr>
        <p:spPr>
          <a:xfrm rot="5400000">
            <a:off x="8302090" y="3936279"/>
            <a:ext cx="445585" cy="28812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24" name="直接连接符 123">
            <a:extLst>
              <a:ext uri="{FF2B5EF4-FFF2-40B4-BE49-F238E27FC236}">
                <a16:creationId xmlns:a16="http://schemas.microsoft.com/office/drawing/2014/main" id="{2FD1AA9D-DD63-1A2A-9C0B-75AA798D355B}"/>
              </a:ext>
            </a:extLst>
          </p:cNvPr>
          <p:cNvCxnSpPr>
            <a:stCxn id="101" idx="5"/>
            <a:endCxn id="120" idx="0"/>
          </p:cNvCxnSpPr>
          <p:nvPr/>
        </p:nvCxnSpPr>
        <p:spPr>
          <a:xfrm rot="16200000" flipH="1">
            <a:off x="9575132" y="3120996"/>
            <a:ext cx="466525" cy="288123"/>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25" name="矩形 124">
            <a:extLst>
              <a:ext uri="{FF2B5EF4-FFF2-40B4-BE49-F238E27FC236}">
                <a16:creationId xmlns:a16="http://schemas.microsoft.com/office/drawing/2014/main" id="{A7C5F3C7-3371-84FB-8D8F-11416B077FC1}"/>
              </a:ext>
            </a:extLst>
          </p:cNvPr>
          <p:cNvSpPr/>
          <p:nvPr/>
        </p:nvSpPr>
        <p:spPr>
          <a:xfrm>
            <a:off x="7595002" y="3498321"/>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26" name="直接连接符 125">
            <a:extLst>
              <a:ext uri="{FF2B5EF4-FFF2-40B4-BE49-F238E27FC236}">
                <a16:creationId xmlns:a16="http://schemas.microsoft.com/office/drawing/2014/main" id="{070D9510-CADC-2975-DA01-6D1E398D3C84}"/>
              </a:ext>
            </a:extLst>
          </p:cNvPr>
          <p:cNvCxnSpPr>
            <a:stCxn id="97" idx="5"/>
            <a:endCxn id="125" idx="0"/>
          </p:cNvCxnSpPr>
          <p:nvPr/>
        </p:nvCxnSpPr>
        <p:spPr>
          <a:xfrm rot="16200000" flipH="1">
            <a:off x="7396273" y="3156715"/>
            <a:ext cx="466525" cy="216685"/>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27" name="矩形 126">
            <a:extLst>
              <a:ext uri="{FF2B5EF4-FFF2-40B4-BE49-F238E27FC236}">
                <a16:creationId xmlns:a16="http://schemas.microsoft.com/office/drawing/2014/main" id="{40136BEF-EA8A-C819-ED52-4175C0C35257}"/>
              </a:ext>
            </a:extLst>
          </p:cNvPr>
          <p:cNvSpPr/>
          <p:nvPr/>
        </p:nvSpPr>
        <p:spPr>
          <a:xfrm>
            <a:off x="5307884" y="5075764"/>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029636F9-4DE0-9233-34F5-030BBD63F1E1}"/>
              </a:ext>
            </a:extLst>
          </p:cNvPr>
          <p:cNvSpPr/>
          <p:nvPr/>
        </p:nvSpPr>
        <p:spPr>
          <a:xfrm>
            <a:off x="5830250" y="5075764"/>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29" name="直接连接符 128">
            <a:extLst>
              <a:ext uri="{FF2B5EF4-FFF2-40B4-BE49-F238E27FC236}">
                <a16:creationId xmlns:a16="http://schemas.microsoft.com/office/drawing/2014/main" id="{96B4A935-5628-020A-1A65-9262E1FEEAC2}"/>
              </a:ext>
            </a:extLst>
          </p:cNvPr>
          <p:cNvCxnSpPr>
            <a:endCxn id="127" idx="0"/>
          </p:cNvCxnSpPr>
          <p:nvPr/>
        </p:nvCxnSpPr>
        <p:spPr>
          <a:xfrm rot="5400000">
            <a:off x="5331291" y="4789841"/>
            <a:ext cx="405393" cy="166453"/>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30" name="直接连接符 129">
            <a:extLst>
              <a:ext uri="{FF2B5EF4-FFF2-40B4-BE49-F238E27FC236}">
                <a16:creationId xmlns:a16="http://schemas.microsoft.com/office/drawing/2014/main" id="{D4680351-65B6-DB4D-0361-E41BD0903C34}"/>
              </a:ext>
            </a:extLst>
          </p:cNvPr>
          <p:cNvCxnSpPr>
            <a:endCxn id="128" idx="0"/>
          </p:cNvCxnSpPr>
          <p:nvPr/>
        </p:nvCxnSpPr>
        <p:spPr>
          <a:xfrm rot="16200000" flipH="1">
            <a:off x="5695985" y="4798623"/>
            <a:ext cx="406696" cy="14758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31" name="矩形 130">
            <a:extLst>
              <a:ext uri="{FF2B5EF4-FFF2-40B4-BE49-F238E27FC236}">
                <a16:creationId xmlns:a16="http://schemas.microsoft.com/office/drawing/2014/main" id="{6C29D37F-C674-B0C9-1ED3-4C1AD8392945}"/>
              </a:ext>
            </a:extLst>
          </p:cNvPr>
          <p:cNvSpPr/>
          <p:nvPr/>
        </p:nvSpPr>
        <p:spPr>
          <a:xfrm>
            <a:off x="6583720" y="4289946"/>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E4AB998E-8719-0661-21C7-14018B0F13CE}"/>
              </a:ext>
            </a:extLst>
          </p:cNvPr>
          <p:cNvSpPr/>
          <p:nvPr/>
        </p:nvSpPr>
        <p:spPr>
          <a:xfrm>
            <a:off x="7106086" y="4289946"/>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33" name="直接连接符 132">
            <a:extLst>
              <a:ext uri="{FF2B5EF4-FFF2-40B4-BE49-F238E27FC236}">
                <a16:creationId xmlns:a16="http://schemas.microsoft.com/office/drawing/2014/main" id="{33E3A457-3AD1-938B-D426-53A9C7F9FFA5}"/>
              </a:ext>
            </a:extLst>
          </p:cNvPr>
          <p:cNvCxnSpPr>
            <a:endCxn id="131" idx="0"/>
          </p:cNvCxnSpPr>
          <p:nvPr/>
        </p:nvCxnSpPr>
        <p:spPr>
          <a:xfrm rot="5400000">
            <a:off x="6587031" y="4024119"/>
            <a:ext cx="405393" cy="126261"/>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34" name="直接连接符 133">
            <a:extLst>
              <a:ext uri="{FF2B5EF4-FFF2-40B4-BE49-F238E27FC236}">
                <a16:creationId xmlns:a16="http://schemas.microsoft.com/office/drawing/2014/main" id="{BD9786F3-50CF-5D8D-7DEA-C13D32EC7C5C}"/>
              </a:ext>
            </a:extLst>
          </p:cNvPr>
          <p:cNvCxnSpPr>
            <a:endCxn id="132" idx="0"/>
          </p:cNvCxnSpPr>
          <p:nvPr/>
        </p:nvCxnSpPr>
        <p:spPr>
          <a:xfrm rot="16200000" flipH="1">
            <a:off x="6986893" y="4027877"/>
            <a:ext cx="386600" cy="13753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35" name="矩形 134">
            <a:extLst>
              <a:ext uri="{FF2B5EF4-FFF2-40B4-BE49-F238E27FC236}">
                <a16:creationId xmlns:a16="http://schemas.microsoft.com/office/drawing/2014/main" id="{DCA9AC5D-74E0-5D22-BB58-62462ADBBD5E}"/>
              </a:ext>
            </a:extLst>
          </p:cNvPr>
          <p:cNvSpPr/>
          <p:nvPr/>
        </p:nvSpPr>
        <p:spPr>
          <a:xfrm>
            <a:off x="8818394" y="5058807"/>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36" name="矩形 135">
            <a:extLst>
              <a:ext uri="{FF2B5EF4-FFF2-40B4-BE49-F238E27FC236}">
                <a16:creationId xmlns:a16="http://schemas.microsoft.com/office/drawing/2014/main" id="{DBF24A2D-5559-5017-99A5-9381B092B7BE}"/>
              </a:ext>
            </a:extLst>
          </p:cNvPr>
          <p:cNvSpPr/>
          <p:nvPr/>
        </p:nvSpPr>
        <p:spPr>
          <a:xfrm>
            <a:off x="9340760" y="5058807"/>
            <a:ext cx="285752" cy="2857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137" name="直接连接符 136">
            <a:extLst>
              <a:ext uri="{FF2B5EF4-FFF2-40B4-BE49-F238E27FC236}">
                <a16:creationId xmlns:a16="http://schemas.microsoft.com/office/drawing/2014/main" id="{28C7FB9E-DA80-CAD4-025E-199FECDBEC7F}"/>
              </a:ext>
            </a:extLst>
          </p:cNvPr>
          <p:cNvCxnSpPr>
            <a:endCxn id="135" idx="0"/>
          </p:cNvCxnSpPr>
          <p:nvPr/>
        </p:nvCxnSpPr>
        <p:spPr>
          <a:xfrm rot="5400000">
            <a:off x="8846825" y="4787956"/>
            <a:ext cx="385297" cy="156405"/>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38" name="直接连接符 137">
            <a:extLst>
              <a:ext uri="{FF2B5EF4-FFF2-40B4-BE49-F238E27FC236}">
                <a16:creationId xmlns:a16="http://schemas.microsoft.com/office/drawing/2014/main" id="{F8B970B6-C90E-3CE1-7488-30B182FF8671}"/>
              </a:ext>
            </a:extLst>
          </p:cNvPr>
          <p:cNvCxnSpPr>
            <a:endCxn id="136" idx="0"/>
          </p:cNvCxnSpPr>
          <p:nvPr/>
        </p:nvCxnSpPr>
        <p:spPr>
          <a:xfrm rot="16200000" flipH="1">
            <a:off x="9211519" y="4786690"/>
            <a:ext cx="386600" cy="157634"/>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139" name="TextBox 87">
            <a:extLst>
              <a:ext uri="{FF2B5EF4-FFF2-40B4-BE49-F238E27FC236}">
                <a16:creationId xmlns:a16="http://schemas.microsoft.com/office/drawing/2014/main" id="{11F52F48-7BDA-333F-93A1-0E9A976EF7B2}"/>
              </a:ext>
            </a:extLst>
          </p:cNvPr>
          <p:cNvSpPr txBox="1"/>
          <p:nvPr/>
        </p:nvSpPr>
        <p:spPr>
          <a:xfrm>
            <a:off x="10952588" y="5028663"/>
            <a:ext cx="357190" cy="369332"/>
          </a:xfrm>
          <a:prstGeom prst="rect">
            <a:avLst/>
          </a:prstGeom>
          <a:noFill/>
        </p:spPr>
        <p:txBody>
          <a:bodyPr wrap="square" rtlCol="0">
            <a:spAutoFit/>
          </a:bodyPr>
          <a:lstStyle/>
          <a:p>
            <a:pPr algn="l"/>
            <a:r>
              <a:rPr lang="en-US" altLang="zh-CN" sz="1800" b="1">
                <a:latin typeface="Consolas" pitchFamily="49" charset="0"/>
                <a:ea typeface="楷体" pitchFamily="49" charset="-122"/>
                <a:cs typeface="Consolas" pitchFamily="49" charset="0"/>
              </a:rPr>
              <a:t>6</a:t>
            </a:r>
            <a:endParaRPr lang="zh-CN" altLang="en-US" sz="1800" b="1" dirty="0">
              <a:latin typeface="Consolas" pitchFamily="49" charset="0"/>
              <a:ea typeface="楷体" pitchFamily="49" charset="-122"/>
              <a:cs typeface="Consolas" pitchFamily="49" charset="0"/>
            </a:endParaRPr>
          </a:p>
        </p:txBody>
      </p:sp>
      <p:cxnSp>
        <p:nvCxnSpPr>
          <p:cNvPr id="140" name="直接连接符 139">
            <a:extLst>
              <a:ext uri="{FF2B5EF4-FFF2-40B4-BE49-F238E27FC236}">
                <a16:creationId xmlns:a16="http://schemas.microsoft.com/office/drawing/2014/main" id="{E6B40D6B-BB1B-A0DB-4CCD-29AD6C72D781}"/>
              </a:ext>
            </a:extLst>
          </p:cNvPr>
          <p:cNvCxnSpPr/>
          <p:nvPr/>
        </p:nvCxnSpPr>
        <p:spPr>
          <a:xfrm rot="10800000" flipV="1">
            <a:off x="5524863" y="2173548"/>
            <a:ext cx="593510" cy="484364"/>
          </a:xfrm>
          <a:prstGeom prst="line">
            <a:avLst/>
          </a:prstGeom>
          <a:ln>
            <a:tailEnd type="none"/>
          </a:ln>
        </p:spPr>
        <p:style>
          <a:lnRef idx="2">
            <a:schemeClr val="accent5"/>
          </a:lnRef>
          <a:fillRef idx="0">
            <a:schemeClr val="accent5"/>
          </a:fillRef>
          <a:effectRef idx="1">
            <a:schemeClr val="accent5"/>
          </a:effectRef>
          <a:fontRef idx="minor">
            <a:schemeClr val="tx1"/>
          </a:fontRef>
        </p:style>
      </p:cxnSp>
      <p:pic>
        <p:nvPicPr>
          <p:cNvPr id="141" name="Picture 2">
            <a:extLst>
              <a:ext uri="{FF2B5EF4-FFF2-40B4-BE49-F238E27FC236}">
                <a16:creationId xmlns:a16="http://schemas.microsoft.com/office/drawing/2014/main" id="{CE422754-3C29-246C-84F5-834E50AFAB17}"/>
              </a:ext>
            </a:extLst>
          </p:cNvPr>
          <p:cNvPicPr>
            <a:picLocks noChangeAspect="1" noChangeArrowheads="1"/>
          </p:cNvPicPr>
          <p:nvPr/>
        </p:nvPicPr>
        <p:blipFill>
          <a:blip r:embed="rId2" cstate="print"/>
          <a:srcRect/>
          <a:stretch>
            <a:fillRect/>
          </a:stretch>
        </p:blipFill>
        <p:spPr bwMode="auto">
          <a:xfrm>
            <a:off x="5286613" y="6065589"/>
            <a:ext cx="4929222" cy="772245"/>
          </a:xfrm>
          <a:prstGeom prst="rect">
            <a:avLst/>
          </a:prstGeom>
          <a:noFill/>
          <a:ln w="9525">
            <a:noFill/>
            <a:miter lim="800000"/>
            <a:headEnd/>
            <a:tailEnd/>
          </a:ln>
        </p:spPr>
      </p:pic>
      <p:sp>
        <p:nvSpPr>
          <p:cNvPr id="142" name="TextBox 65">
            <a:extLst>
              <a:ext uri="{FF2B5EF4-FFF2-40B4-BE49-F238E27FC236}">
                <a16:creationId xmlns:a16="http://schemas.microsoft.com/office/drawing/2014/main" id="{FEA6E21F-7260-ED5B-4486-62CCC3E009E5}"/>
              </a:ext>
            </a:extLst>
          </p:cNvPr>
          <p:cNvSpPr txBox="1"/>
          <p:nvPr/>
        </p:nvSpPr>
        <p:spPr>
          <a:xfrm>
            <a:off x="4072167" y="5594041"/>
            <a:ext cx="5643602" cy="400110"/>
          </a:xfrm>
          <a:prstGeom prst="rect">
            <a:avLst/>
          </a:prstGeom>
          <a:noFill/>
        </p:spPr>
        <p:txBody>
          <a:bodyPr wrap="square" rtlCol="0">
            <a:spAutoFit/>
          </a:bodyPr>
          <a:lstStyle/>
          <a:p>
            <a:pPr algn="l"/>
            <a:r>
              <a:rPr lang="zh-CN" altLang="zh-CN" sz="2000" b="1">
                <a:solidFill>
                  <a:srgbClr val="0000FF"/>
                </a:solidFill>
                <a:latin typeface="仿宋" pitchFamily="49" charset="-122"/>
                <a:ea typeface="仿宋" pitchFamily="49" charset="-122"/>
              </a:rPr>
              <a:t>在等概率假设下，查找</a:t>
            </a:r>
            <a:r>
              <a:rPr lang="zh-CN" altLang="en-US" sz="2000" b="1">
                <a:solidFill>
                  <a:srgbClr val="0000FF"/>
                </a:solidFill>
                <a:latin typeface="仿宋" pitchFamily="49" charset="-122"/>
                <a:ea typeface="仿宋" pitchFamily="49" charset="-122"/>
              </a:rPr>
              <a:t>不</a:t>
            </a:r>
            <a:r>
              <a:rPr lang="zh-CN" altLang="zh-CN" sz="2000" b="1">
                <a:solidFill>
                  <a:srgbClr val="0000FF"/>
                </a:solidFill>
                <a:latin typeface="仿宋" pitchFamily="49" charset="-122"/>
                <a:ea typeface="仿宋" pitchFamily="49" charset="-122"/>
              </a:rPr>
              <a:t>成功的平均查找长度</a:t>
            </a:r>
            <a:endParaRPr lang="zh-CN" altLang="en-US" sz="2000" b="1" dirty="0">
              <a:solidFill>
                <a:srgbClr val="0000FF"/>
              </a:solidFill>
              <a:latin typeface="仿宋" pitchFamily="49" charset="-122"/>
              <a:ea typeface="仿宋" pitchFamily="49" charset="-122"/>
              <a:cs typeface="Times New Roman" pitchFamily="18" charset="0"/>
            </a:endParaRPr>
          </a:p>
        </p:txBody>
      </p:sp>
    </p:spTree>
    <p:extLst>
      <p:ext uri="{BB962C8B-B14F-4D97-AF65-F5344CB8AC3E}">
        <p14:creationId xmlns:p14="http://schemas.microsoft.com/office/powerpoint/2010/main" val="4290730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41C7-B202-7231-8C6A-1606D9138D3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D591148-B743-AC90-F7F3-9AC75594C8F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4BF6367A-4900-83F3-4244-5A7A8BE62614}"/>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FDD4A574-9F60-05BF-7F1E-250B76B21A3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ADF916E0-D73C-F6E2-0590-4B7DACAF3144}"/>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grpSp>
        <p:nvGrpSpPr>
          <p:cNvPr id="5" name="组合 65">
            <a:extLst>
              <a:ext uri="{FF2B5EF4-FFF2-40B4-BE49-F238E27FC236}">
                <a16:creationId xmlns:a16="http://schemas.microsoft.com/office/drawing/2014/main" id="{A7A73E44-B863-5894-0317-5C16E8892A6B}"/>
              </a:ext>
            </a:extLst>
          </p:cNvPr>
          <p:cNvGrpSpPr/>
          <p:nvPr/>
        </p:nvGrpSpPr>
        <p:grpSpPr>
          <a:xfrm>
            <a:off x="7248129" y="1300320"/>
            <a:ext cx="2528220" cy="3143272"/>
            <a:chOff x="4901300" y="3429000"/>
            <a:chExt cx="2242468" cy="2880187"/>
          </a:xfrm>
        </p:grpSpPr>
        <p:sp>
          <p:nvSpPr>
            <p:cNvPr id="6" name="Line 27">
              <a:extLst>
                <a:ext uri="{FF2B5EF4-FFF2-40B4-BE49-F238E27FC236}">
                  <a16:creationId xmlns:a16="http://schemas.microsoft.com/office/drawing/2014/main" id="{177D68F6-2559-6DB7-3583-422536EFA84A}"/>
                </a:ext>
              </a:extLst>
            </p:cNvPr>
            <p:cNvSpPr>
              <a:spLocks noChangeShapeType="1"/>
            </p:cNvSpPr>
            <p:nvPr/>
          </p:nvSpPr>
          <p:spPr bwMode="auto">
            <a:xfrm>
              <a:off x="5111340" y="3586634"/>
              <a:ext cx="1843477" cy="254119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8" name="Oval 16">
              <a:extLst>
                <a:ext uri="{FF2B5EF4-FFF2-40B4-BE49-F238E27FC236}">
                  <a16:creationId xmlns:a16="http://schemas.microsoft.com/office/drawing/2014/main" id="{47EC9906-A54E-EF09-CD1D-12561BD59DFE}"/>
                </a:ext>
              </a:extLst>
            </p:cNvPr>
            <p:cNvSpPr>
              <a:spLocks noChangeArrowheads="1"/>
            </p:cNvSpPr>
            <p:nvPr/>
          </p:nvSpPr>
          <p:spPr bwMode="auto">
            <a:xfrm>
              <a:off x="4901300" y="3429000"/>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1</a:t>
              </a:r>
            </a:p>
          </p:txBody>
        </p:sp>
        <p:sp>
          <p:nvSpPr>
            <p:cNvPr id="9" name="Oval 15">
              <a:extLst>
                <a:ext uri="{FF2B5EF4-FFF2-40B4-BE49-F238E27FC236}">
                  <a16:creationId xmlns:a16="http://schemas.microsoft.com/office/drawing/2014/main" id="{6A2078B7-BD17-9644-5E82-6AC26F23B2BA}"/>
                </a:ext>
              </a:extLst>
            </p:cNvPr>
            <p:cNvSpPr>
              <a:spLocks noChangeArrowheads="1"/>
            </p:cNvSpPr>
            <p:nvPr/>
          </p:nvSpPr>
          <p:spPr bwMode="auto">
            <a:xfrm>
              <a:off x="5137922" y="3747443"/>
              <a:ext cx="342557"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2</a:t>
              </a:r>
            </a:p>
          </p:txBody>
        </p:sp>
        <p:sp>
          <p:nvSpPr>
            <p:cNvPr id="10" name="Oval 14">
              <a:extLst>
                <a:ext uri="{FF2B5EF4-FFF2-40B4-BE49-F238E27FC236}">
                  <a16:creationId xmlns:a16="http://schemas.microsoft.com/office/drawing/2014/main" id="{49CC3267-51B5-7C5D-2150-727CCB1B02F8}"/>
                </a:ext>
              </a:extLst>
            </p:cNvPr>
            <p:cNvSpPr>
              <a:spLocks noChangeArrowheads="1"/>
            </p:cNvSpPr>
            <p:nvPr/>
          </p:nvSpPr>
          <p:spPr bwMode="auto">
            <a:xfrm>
              <a:off x="5380485" y="4088102"/>
              <a:ext cx="34156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3</a:t>
              </a:r>
            </a:p>
          </p:txBody>
        </p:sp>
        <p:sp>
          <p:nvSpPr>
            <p:cNvPr id="11" name="Oval 13">
              <a:extLst>
                <a:ext uri="{FF2B5EF4-FFF2-40B4-BE49-F238E27FC236}">
                  <a16:creationId xmlns:a16="http://schemas.microsoft.com/office/drawing/2014/main" id="{AEAC5D21-5F2D-9708-E625-D78D11BF911A}"/>
                </a:ext>
              </a:extLst>
            </p:cNvPr>
            <p:cNvSpPr>
              <a:spLocks noChangeArrowheads="1"/>
            </p:cNvSpPr>
            <p:nvPr/>
          </p:nvSpPr>
          <p:spPr bwMode="auto">
            <a:xfrm>
              <a:off x="5622058" y="4398082"/>
              <a:ext cx="34057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4</a:t>
              </a:r>
            </a:p>
          </p:txBody>
        </p:sp>
        <p:sp>
          <p:nvSpPr>
            <p:cNvPr id="12" name="Oval 12">
              <a:extLst>
                <a:ext uri="{FF2B5EF4-FFF2-40B4-BE49-F238E27FC236}">
                  <a16:creationId xmlns:a16="http://schemas.microsoft.com/office/drawing/2014/main" id="{EFCB3AED-2E9D-8468-A65D-A1C61563AF3A}"/>
                </a:ext>
              </a:extLst>
            </p:cNvPr>
            <p:cNvSpPr>
              <a:spLocks noChangeArrowheads="1"/>
            </p:cNvSpPr>
            <p:nvPr/>
          </p:nvSpPr>
          <p:spPr bwMode="auto">
            <a:xfrm>
              <a:off x="5858681" y="4705944"/>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5</a:t>
              </a:r>
            </a:p>
          </p:txBody>
        </p:sp>
        <p:sp>
          <p:nvSpPr>
            <p:cNvPr id="13" name="Oval 11">
              <a:extLst>
                <a:ext uri="{FF2B5EF4-FFF2-40B4-BE49-F238E27FC236}">
                  <a16:creationId xmlns:a16="http://schemas.microsoft.com/office/drawing/2014/main" id="{A5C0DE78-5DBD-EA0F-1CC5-3DA5B3333316}"/>
                </a:ext>
              </a:extLst>
            </p:cNvPr>
            <p:cNvSpPr>
              <a:spLocks noChangeArrowheads="1"/>
            </p:cNvSpPr>
            <p:nvPr/>
          </p:nvSpPr>
          <p:spPr bwMode="auto">
            <a:xfrm>
              <a:off x="6106193" y="5021213"/>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6</a:t>
              </a:r>
            </a:p>
          </p:txBody>
        </p:sp>
        <p:sp>
          <p:nvSpPr>
            <p:cNvPr id="14" name="Oval 10">
              <a:extLst>
                <a:ext uri="{FF2B5EF4-FFF2-40B4-BE49-F238E27FC236}">
                  <a16:creationId xmlns:a16="http://schemas.microsoft.com/office/drawing/2014/main" id="{252BDC63-6075-80CF-3BC6-4B1055EEA4F4}"/>
                </a:ext>
              </a:extLst>
            </p:cNvPr>
            <p:cNvSpPr>
              <a:spLocks noChangeArrowheads="1"/>
            </p:cNvSpPr>
            <p:nvPr/>
          </p:nvSpPr>
          <p:spPr bwMode="auto">
            <a:xfrm>
              <a:off x="6347766" y="5342829"/>
              <a:ext cx="34057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7</a:t>
              </a:r>
            </a:p>
          </p:txBody>
        </p:sp>
        <p:sp>
          <p:nvSpPr>
            <p:cNvPr id="15" name="Oval 9">
              <a:extLst>
                <a:ext uri="{FF2B5EF4-FFF2-40B4-BE49-F238E27FC236}">
                  <a16:creationId xmlns:a16="http://schemas.microsoft.com/office/drawing/2014/main" id="{E6D14D40-6A67-A2C9-0380-7CAF1C9430E3}"/>
                </a:ext>
              </a:extLst>
            </p:cNvPr>
            <p:cNvSpPr>
              <a:spLocks noChangeArrowheads="1"/>
            </p:cNvSpPr>
            <p:nvPr/>
          </p:nvSpPr>
          <p:spPr bwMode="auto">
            <a:xfrm>
              <a:off x="6574487" y="5644345"/>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8</a:t>
              </a:r>
            </a:p>
          </p:txBody>
        </p:sp>
        <p:sp>
          <p:nvSpPr>
            <p:cNvPr id="16" name="Oval 8">
              <a:extLst>
                <a:ext uri="{FF2B5EF4-FFF2-40B4-BE49-F238E27FC236}">
                  <a16:creationId xmlns:a16="http://schemas.microsoft.com/office/drawing/2014/main" id="{57439811-B297-AB92-53BD-036B0D97CC48}"/>
                </a:ext>
              </a:extLst>
            </p:cNvPr>
            <p:cNvSpPr>
              <a:spLocks noChangeArrowheads="1"/>
            </p:cNvSpPr>
            <p:nvPr/>
          </p:nvSpPr>
          <p:spPr bwMode="auto">
            <a:xfrm>
              <a:off x="6802200" y="5970193"/>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9</a:t>
              </a:r>
            </a:p>
          </p:txBody>
        </p:sp>
        <p:sp>
          <p:nvSpPr>
            <p:cNvPr id="17" name="Text Box 6">
              <a:extLst>
                <a:ext uri="{FF2B5EF4-FFF2-40B4-BE49-F238E27FC236}">
                  <a16:creationId xmlns:a16="http://schemas.microsoft.com/office/drawing/2014/main" id="{B28256D0-4E22-0DD8-41E2-AB70F3DACD9C}"/>
                </a:ext>
              </a:extLst>
            </p:cNvPr>
            <p:cNvSpPr txBox="1">
              <a:spLocks noChangeArrowheads="1"/>
            </p:cNvSpPr>
            <p:nvPr/>
          </p:nvSpPr>
          <p:spPr bwMode="auto">
            <a:xfrm>
              <a:off x="5519555" y="6072206"/>
              <a:ext cx="552643" cy="2369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cs typeface="Consolas" pitchFamily="49" charset="0"/>
                </a:rPr>
                <a:t>(b)</a:t>
              </a:r>
            </a:p>
          </p:txBody>
        </p:sp>
      </p:grpSp>
      <p:grpSp>
        <p:nvGrpSpPr>
          <p:cNvPr id="18" name="组合 64">
            <a:extLst>
              <a:ext uri="{FF2B5EF4-FFF2-40B4-BE49-F238E27FC236}">
                <a16:creationId xmlns:a16="http://schemas.microsoft.com/office/drawing/2014/main" id="{33B32B94-EB78-8955-A8E6-DE9F94562A3C}"/>
              </a:ext>
            </a:extLst>
          </p:cNvPr>
          <p:cNvGrpSpPr/>
          <p:nvPr/>
        </p:nvGrpSpPr>
        <p:grpSpPr>
          <a:xfrm>
            <a:off x="1447699" y="2890833"/>
            <a:ext cx="2928958" cy="2733793"/>
            <a:chOff x="1643040" y="3695603"/>
            <a:chExt cx="2775116" cy="2590917"/>
          </a:xfrm>
        </p:grpSpPr>
        <p:sp>
          <p:nvSpPr>
            <p:cNvPr id="19" name="Line 26">
              <a:extLst>
                <a:ext uri="{FF2B5EF4-FFF2-40B4-BE49-F238E27FC236}">
                  <a16:creationId xmlns:a16="http://schemas.microsoft.com/office/drawing/2014/main" id="{22333E6A-6372-E93D-1C8A-2450D24F2BD3}"/>
                </a:ext>
              </a:extLst>
            </p:cNvPr>
            <p:cNvSpPr>
              <a:spLocks noChangeShapeType="1"/>
            </p:cNvSpPr>
            <p:nvPr/>
          </p:nvSpPr>
          <p:spPr bwMode="auto">
            <a:xfrm>
              <a:off x="2782590" y="3979134"/>
              <a:ext cx="1416764" cy="168319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20" name="Oval 25">
              <a:extLst>
                <a:ext uri="{FF2B5EF4-FFF2-40B4-BE49-F238E27FC236}">
                  <a16:creationId xmlns:a16="http://schemas.microsoft.com/office/drawing/2014/main" id="{BE3DC691-67DE-19AD-10F2-23D941B3A897}"/>
                </a:ext>
              </a:extLst>
            </p:cNvPr>
            <p:cNvSpPr>
              <a:spLocks noChangeArrowheads="1"/>
            </p:cNvSpPr>
            <p:nvPr/>
          </p:nvSpPr>
          <p:spPr bwMode="auto">
            <a:xfrm>
              <a:off x="2483594" y="3695603"/>
              <a:ext cx="341568" cy="31738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5</a:t>
              </a:r>
            </a:p>
          </p:txBody>
        </p:sp>
        <p:sp>
          <p:nvSpPr>
            <p:cNvPr id="21" name="Oval 24">
              <a:extLst>
                <a:ext uri="{FF2B5EF4-FFF2-40B4-BE49-F238E27FC236}">
                  <a16:creationId xmlns:a16="http://schemas.microsoft.com/office/drawing/2014/main" id="{B7F62568-75C9-93C8-C7DA-202B89210427}"/>
                </a:ext>
              </a:extLst>
            </p:cNvPr>
            <p:cNvSpPr>
              <a:spLocks noChangeArrowheads="1"/>
            </p:cNvSpPr>
            <p:nvPr/>
          </p:nvSpPr>
          <p:spPr bwMode="auto">
            <a:xfrm>
              <a:off x="1985597" y="4167449"/>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2</a:t>
              </a:r>
            </a:p>
          </p:txBody>
        </p:sp>
        <p:sp>
          <p:nvSpPr>
            <p:cNvPr id="22" name="Oval 23">
              <a:extLst>
                <a:ext uri="{FF2B5EF4-FFF2-40B4-BE49-F238E27FC236}">
                  <a16:creationId xmlns:a16="http://schemas.microsoft.com/office/drawing/2014/main" id="{9FEB01A1-0CF1-3EB9-6B32-711D6A51667C}"/>
                </a:ext>
              </a:extLst>
            </p:cNvPr>
            <p:cNvSpPr>
              <a:spLocks noChangeArrowheads="1"/>
            </p:cNvSpPr>
            <p:nvPr/>
          </p:nvSpPr>
          <p:spPr bwMode="auto">
            <a:xfrm>
              <a:off x="2882584" y="4167449"/>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6</a:t>
              </a:r>
            </a:p>
          </p:txBody>
        </p:sp>
        <p:sp>
          <p:nvSpPr>
            <p:cNvPr id="23" name="Oval 22">
              <a:extLst>
                <a:ext uri="{FF2B5EF4-FFF2-40B4-BE49-F238E27FC236}">
                  <a16:creationId xmlns:a16="http://schemas.microsoft.com/office/drawing/2014/main" id="{86F38C26-0F77-4ECA-3A02-9388C349CF4E}"/>
                </a:ext>
              </a:extLst>
            </p:cNvPr>
            <p:cNvSpPr>
              <a:spLocks noChangeArrowheads="1"/>
            </p:cNvSpPr>
            <p:nvPr/>
          </p:nvSpPr>
          <p:spPr bwMode="auto">
            <a:xfrm>
              <a:off x="1643040" y="4799044"/>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1</a:t>
              </a:r>
            </a:p>
          </p:txBody>
        </p:sp>
        <p:sp>
          <p:nvSpPr>
            <p:cNvPr id="24" name="Oval 21">
              <a:extLst>
                <a:ext uri="{FF2B5EF4-FFF2-40B4-BE49-F238E27FC236}">
                  <a16:creationId xmlns:a16="http://schemas.microsoft.com/office/drawing/2014/main" id="{891DEE08-01DD-E0CF-BA8C-158D2E1B54B0}"/>
                </a:ext>
              </a:extLst>
            </p:cNvPr>
            <p:cNvSpPr>
              <a:spLocks noChangeArrowheads="1"/>
            </p:cNvSpPr>
            <p:nvPr/>
          </p:nvSpPr>
          <p:spPr bwMode="auto">
            <a:xfrm>
              <a:off x="2328156" y="4799044"/>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4</a:t>
              </a:r>
            </a:p>
          </p:txBody>
        </p:sp>
        <p:sp>
          <p:nvSpPr>
            <p:cNvPr id="25" name="Oval 20">
              <a:extLst>
                <a:ext uri="{FF2B5EF4-FFF2-40B4-BE49-F238E27FC236}">
                  <a16:creationId xmlns:a16="http://schemas.microsoft.com/office/drawing/2014/main" id="{A031FB3E-49C5-514E-8688-26BE2A1A9F0D}"/>
                </a:ext>
              </a:extLst>
            </p:cNvPr>
            <p:cNvSpPr>
              <a:spLocks noChangeArrowheads="1"/>
            </p:cNvSpPr>
            <p:nvPr/>
          </p:nvSpPr>
          <p:spPr bwMode="auto">
            <a:xfrm>
              <a:off x="1970747" y="5432755"/>
              <a:ext cx="341568" cy="3152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3</a:t>
              </a:r>
            </a:p>
          </p:txBody>
        </p:sp>
        <p:sp>
          <p:nvSpPr>
            <p:cNvPr id="26" name="Oval 19">
              <a:extLst>
                <a:ext uri="{FF2B5EF4-FFF2-40B4-BE49-F238E27FC236}">
                  <a16:creationId xmlns:a16="http://schemas.microsoft.com/office/drawing/2014/main" id="{14C60753-5394-464F-2967-B4FA5A4DC2DF}"/>
                </a:ext>
              </a:extLst>
            </p:cNvPr>
            <p:cNvSpPr>
              <a:spLocks noChangeArrowheads="1"/>
            </p:cNvSpPr>
            <p:nvPr/>
          </p:nvSpPr>
          <p:spPr bwMode="auto">
            <a:xfrm>
              <a:off x="3323158" y="4696423"/>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7</a:t>
              </a:r>
            </a:p>
          </p:txBody>
        </p:sp>
        <p:sp>
          <p:nvSpPr>
            <p:cNvPr id="27" name="Oval 18">
              <a:extLst>
                <a:ext uri="{FF2B5EF4-FFF2-40B4-BE49-F238E27FC236}">
                  <a16:creationId xmlns:a16="http://schemas.microsoft.com/office/drawing/2014/main" id="{A31BE4C0-3462-D941-B244-9AC223BEB23B}"/>
                </a:ext>
              </a:extLst>
            </p:cNvPr>
            <p:cNvSpPr>
              <a:spLocks noChangeArrowheads="1"/>
            </p:cNvSpPr>
            <p:nvPr/>
          </p:nvSpPr>
          <p:spPr bwMode="auto">
            <a:xfrm>
              <a:off x="3721158" y="5167210"/>
              <a:ext cx="34057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8</a:t>
              </a:r>
            </a:p>
          </p:txBody>
        </p:sp>
        <p:sp>
          <p:nvSpPr>
            <p:cNvPr id="28" name="Oval 17">
              <a:extLst>
                <a:ext uri="{FF2B5EF4-FFF2-40B4-BE49-F238E27FC236}">
                  <a16:creationId xmlns:a16="http://schemas.microsoft.com/office/drawing/2014/main" id="{16E62B1E-45D3-3BFD-9682-6DDB69970255}"/>
                </a:ext>
              </a:extLst>
            </p:cNvPr>
            <p:cNvSpPr>
              <a:spLocks noChangeArrowheads="1"/>
            </p:cNvSpPr>
            <p:nvPr/>
          </p:nvSpPr>
          <p:spPr bwMode="auto">
            <a:xfrm>
              <a:off x="4076588" y="5635881"/>
              <a:ext cx="341568" cy="3163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9</a:t>
              </a:r>
            </a:p>
          </p:txBody>
        </p:sp>
        <p:sp>
          <p:nvSpPr>
            <p:cNvPr id="29" name="Text Box 7">
              <a:extLst>
                <a:ext uri="{FF2B5EF4-FFF2-40B4-BE49-F238E27FC236}">
                  <a16:creationId xmlns:a16="http://schemas.microsoft.com/office/drawing/2014/main" id="{03F997C5-901B-C498-30BA-78852435FFFE}"/>
                </a:ext>
              </a:extLst>
            </p:cNvPr>
            <p:cNvSpPr txBox="1">
              <a:spLocks noChangeArrowheads="1"/>
            </p:cNvSpPr>
            <p:nvPr/>
          </p:nvSpPr>
          <p:spPr bwMode="auto">
            <a:xfrm>
              <a:off x="2571736" y="6049539"/>
              <a:ext cx="530476" cy="2369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cs typeface="Consolas" pitchFamily="49" charset="0"/>
                </a:rPr>
                <a:t>(a)</a:t>
              </a:r>
            </a:p>
          </p:txBody>
        </p:sp>
        <p:sp>
          <p:nvSpPr>
            <p:cNvPr id="30" name="AutoShape 5">
              <a:extLst>
                <a:ext uri="{FF2B5EF4-FFF2-40B4-BE49-F238E27FC236}">
                  <a16:creationId xmlns:a16="http://schemas.microsoft.com/office/drawing/2014/main" id="{94CC0828-0801-CD2C-FA28-8ABA7B4B4236}"/>
                </a:ext>
              </a:extLst>
            </p:cNvPr>
            <p:cNvSpPr>
              <a:spLocks noChangeShapeType="1"/>
            </p:cNvSpPr>
            <p:nvPr/>
          </p:nvSpPr>
          <p:spPr bwMode="auto">
            <a:xfrm flipH="1">
              <a:off x="2142026" y="5068820"/>
              <a:ext cx="235633" cy="363934"/>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31" name="AutoShape 4">
              <a:extLst>
                <a:ext uri="{FF2B5EF4-FFF2-40B4-BE49-F238E27FC236}">
                  <a16:creationId xmlns:a16="http://schemas.microsoft.com/office/drawing/2014/main" id="{EF65ED2C-28BA-BDAF-374F-E99CFAF593D1}"/>
                </a:ext>
              </a:extLst>
            </p:cNvPr>
            <p:cNvSpPr>
              <a:spLocks noChangeShapeType="1"/>
            </p:cNvSpPr>
            <p:nvPr/>
          </p:nvSpPr>
          <p:spPr bwMode="auto">
            <a:xfrm>
              <a:off x="2276673" y="4437225"/>
              <a:ext cx="221772" cy="36181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32" name="AutoShape 3">
              <a:extLst>
                <a:ext uri="{FF2B5EF4-FFF2-40B4-BE49-F238E27FC236}">
                  <a16:creationId xmlns:a16="http://schemas.microsoft.com/office/drawing/2014/main" id="{45A439A7-6A55-A2DA-02B8-0A43AADC3720}"/>
                </a:ext>
              </a:extLst>
            </p:cNvPr>
            <p:cNvSpPr>
              <a:spLocks noChangeShapeType="1"/>
            </p:cNvSpPr>
            <p:nvPr/>
          </p:nvSpPr>
          <p:spPr bwMode="auto">
            <a:xfrm flipH="1">
              <a:off x="2276673" y="3966437"/>
              <a:ext cx="257413" cy="24756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sp>
          <p:nvSpPr>
            <p:cNvPr id="33" name="AutoShape 2">
              <a:extLst>
                <a:ext uri="{FF2B5EF4-FFF2-40B4-BE49-F238E27FC236}">
                  <a16:creationId xmlns:a16="http://schemas.microsoft.com/office/drawing/2014/main" id="{9E07BD9E-EA34-11E4-6914-93BD339048F2}"/>
                </a:ext>
              </a:extLst>
            </p:cNvPr>
            <p:cNvSpPr>
              <a:spLocks noChangeShapeType="1"/>
            </p:cNvSpPr>
            <p:nvPr/>
          </p:nvSpPr>
          <p:spPr bwMode="auto">
            <a:xfrm flipH="1">
              <a:off x="1814319" y="4437225"/>
              <a:ext cx="220781" cy="36181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cs typeface="Consolas" pitchFamily="49" charset="0"/>
              </a:endParaRPr>
            </a:p>
          </p:txBody>
        </p:sp>
      </p:grpSp>
      <p:sp>
        <p:nvSpPr>
          <p:cNvPr id="34" name="TextBox 32">
            <a:extLst>
              <a:ext uri="{FF2B5EF4-FFF2-40B4-BE49-F238E27FC236}">
                <a16:creationId xmlns:a16="http://schemas.microsoft.com/office/drawing/2014/main" id="{43CCADDD-1860-21FD-9169-29DF08D34179}"/>
              </a:ext>
            </a:extLst>
          </p:cNvPr>
          <p:cNvSpPr txBox="1"/>
          <p:nvPr/>
        </p:nvSpPr>
        <p:spPr>
          <a:xfrm>
            <a:off x="1490908" y="2291521"/>
            <a:ext cx="6000792" cy="400110"/>
          </a:xfrm>
          <a:prstGeom prst="rect">
            <a:avLst/>
          </a:prstGeom>
          <a:noFill/>
        </p:spPr>
        <p:txBody>
          <a:bodyPr wrap="square" rtlCol="0">
            <a:spAutoFit/>
          </a:bodyPr>
          <a:lstStyle/>
          <a:p>
            <a:pPr algn="l"/>
            <a:r>
              <a:rPr lang="zh-CN" altLang="zh-CN" sz="2000" b="1">
                <a:solidFill>
                  <a:srgbClr val="0000FF"/>
                </a:solidFill>
                <a:latin typeface="仿宋" pitchFamily="49" charset="-122"/>
                <a:ea typeface="仿宋" pitchFamily="49" charset="-122"/>
              </a:rPr>
              <a:t>在等概率假设下，查找成功的平均查找长度</a:t>
            </a:r>
            <a:endParaRPr lang="zh-CN" altLang="en-US" sz="2000" b="1" dirty="0">
              <a:solidFill>
                <a:srgbClr val="0000FF"/>
              </a:solidFill>
              <a:latin typeface="仿宋" pitchFamily="49" charset="-122"/>
              <a:ea typeface="仿宋" pitchFamily="49" charset="-122"/>
              <a:cs typeface="Times New Roman" pitchFamily="18" charset="0"/>
            </a:endParaRPr>
          </a:p>
        </p:txBody>
      </p:sp>
      <p:pic>
        <p:nvPicPr>
          <p:cNvPr id="35" name="Picture 2">
            <a:extLst>
              <a:ext uri="{FF2B5EF4-FFF2-40B4-BE49-F238E27FC236}">
                <a16:creationId xmlns:a16="http://schemas.microsoft.com/office/drawing/2014/main" id="{3EF9D30F-D8F8-ED27-9F5B-A944C2CE5C9E}"/>
              </a:ext>
            </a:extLst>
          </p:cNvPr>
          <p:cNvPicPr>
            <a:picLocks noChangeAspect="1" noChangeArrowheads="1"/>
          </p:cNvPicPr>
          <p:nvPr/>
        </p:nvPicPr>
        <p:blipFill>
          <a:blip r:embed="rId2" cstate="print"/>
          <a:srcRect/>
          <a:stretch>
            <a:fillRect/>
          </a:stretch>
        </p:blipFill>
        <p:spPr bwMode="auto">
          <a:xfrm>
            <a:off x="269171" y="5734070"/>
            <a:ext cx="4762500" cy="781050"/>
          </a:xfrm>
          <a:prstGeom prst="rect">
            <a:avLst/>
          </a:prstGeom>
          <a:ln>
            <a:noFill/>
          </a:ln>
          <a:effectLst>
            <a:outerShdw blurRad="190500" algn="tl" rotWithShape="0">
              <a:srgbClr val="000000">
                <a:alpha val="70000"/>
              </a:srgbClr>
            </a:outerShdw>
          </a:effectLst>
        </p:spPr>
      </p:pic>
      <p:pic>
        <p:nvPicPr>
          <p:cNvPr id="36" name="Picture 3">
            <a:extLst>
              <a:ext uri="{FF2B5EF4-FFF2-40B4-BE49-F238E27FC236}">
                <a16:creationId xmlns:a16="http://schemas.microsoft.com/office/drawing/2014/main" id="{F946ADAC-F9A8-A6F8-3852-C9AACA37C3D4}"/>
              </a:ext>
            </a:extLst>
          </p:cNvPr>
          <p:cNvPicPr>
            <a:picLocks noChangeAspect="1" noChangeArrowheads="1"/>
          </p:cNvPicPr>
          <p:nvPr/>
        </p:nvPicPr>
        <p:blipFill>
          <a:blip r:embed="rId3" cstate="print"/>
          <a:srcRect/>
          <a:stretch>
            <a:fillRect/>
          </a:stretch>
        </p:blipFill>
        <p:spPr bwMode="auto">
          <a:xfrm>
            <a:off x="4655680" y="4790392"/>
            <a:ext cx="7477125" cy="8191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494206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60F2-069F-0B20-4D85-35169C69A44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73B7831-53F3-2379-9C5C-BF413C65F67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A4ABE1FA-5F36-C016-0968-B52EDDB5AECB}"/>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FFC0C705-DE8C-CCB0-2AE1-1BA4913D5BB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51286FDC-2526-B34F-65EC-3C4D0D81BAD9}"/>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5" name="TextBox 34">
            <a:extLst>
              <a:ext uri="{FF2B5EF4-FFF2-40B4-BE49-F238E27FC236}">
                <a16:creationId xmlns:a16="http://schemas.microsoft.com/office/drawing/2014/main" id="{1557275D-3A03-1273-9D39-9488C1587942}"/>
              </a:ext>
            </a:extLst>
          </p:cNvPr>
          <p:cNvSpPr txBox="1"/>
          <p:nvPr/>
        </p:nvSpPr>
        <p:spPr>
          <a:xfrm>
            <a:off x="1415480" y="2586083"/>
            <a:ext cx="10081120" cy="356465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spcBef>
                <a:spcPts val="1200"/>
              </a:spcBef>
              <a:buBlip>
                <a:blip r:embed="rId2"/>
              </a:buBlip>
            </a:pPr>
            <a:r>
              <a:rPr lang="zh-CN" altLang="zh-CN" sz="2000" b="1" dirty="0">
                <a:solidFill>
                  <a:srgbClr val="0000FF"/>
                </a:solidFill>
                <a:latin typeface="Consolas" pitchFamily="49" charset="0"/>
                <a:ea typeface="仿宋" pitchFamily="49" charset="-122"/>
                <a:cs typeface="Consolas" pitchFamily="49" charset="0"/>
              </a:rPr>
              <a:t>在一棵二叉排序树上进行查找时的平均查找长度和其形态有关。</a:t>
            </a:r>
            <a:endParaRPr lang="en-US" altLang="zh-CN" sz="2000" b="1" dirty="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sz="2000" b="1" dirty="0">
                <a:solidFill>
                  <a:srgbClr val="0000FF"/>
                </a:solidFill>
                <a:latin typeface="Consolas" pitchFamily="49" charset="0"/>
                <a:ea typeface="仿宋" pitchFamily="49" charset="-122"/>
                <a:cs typeface="Consolas" pitchFamily="49" charset="0"/>
              </a:rPr>
              <a:t>含</a:t>
            </a:r>
            <a:r>
              <a:rPr lang="en-US" altLang="zh-CN" sz="2000" b="1" i="1" dirty="0">
                <a:solidFill>
                  <a:srgbClr val="0000FF"/>
                </a:solidFill>
                <a:latin typeface="Consolas" pitchFamily="49" charset="0"/>
                <a:ea typeface="仿宋" pitchFamily="49" charset="-122"/>
                <a:cs typeface="Consolas" pitchFamily="49" charset="0"/>
              </a:rPr>
              <a:t>n</a:t>
            </a:r>
            <a:r>
              <a:rPr lang="zh-CN" altLang="zh-CN" sz="2000" b="1" dirty="0">
                <a:solidFill>
                  <a:srgbClr val="0000FF"/>
                </a:solidFill>
                <a:latin typeface="Consolas" pitchFamily="49" charset="0"/>
                <a:ea typeface="仿宋" pitchFamily="49" charset="-122"/>
                <a:cs typeface="Consolas" pitchFamily="49" charset="0"/>
              </a:rPr>
              <a:t>个关键字的集合（</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&gt;0</a:t>
            </a:r>
            <a:r>
              <a:rPr lang="zh-CN" altLang="zh-CN" sz="2000" b="1" dirty="0">
                <a:solidFill>
                  <a:srgbClr val="0000FF"/>
                </a:solidFill>
                <a:latin typeface="Consolas" pitchFamily="49" charset="0"/>
                <a:ea typeface="仿宋" pitchFamily="49" charset="-122"/>
                <a:cs typeface="Consolas" pitchFamily="49" charset="0"/>
              </a:rPr>
              <a:t>，所有关键字唯一）有</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a:t>
            </a:r>
            <a:r>
              <a:rPr lang="zh-CN" altLang="zh-CN" sz="2000" b="1" dirty="0">
                <a:solidFill>
                  <a:srgbClr val="0000FF"/>
                </a:solidFill>
                <a:latin typeface="Consolas" pitchFamily="49" charset="0"/>
                <a:ea typeface="仿宋" pitchFamily="49" charset="-122"/>
                <a:cs typeface="Consolas" pitchFamily="49" charset="0"/>
              </a:rPr>
              <a:t>个关键字序列，可以构造出</a:t>
            </a:r>
            <a:r>
              <a:rPr lang="en-US" altLang="zh-CN" sz="2000" b="1" dirty="0">
                <a:solidFill>
                  <a:srgbClr val="0000FF"/>
                </a:solidFill>
                <a:latin typeface="Consolas" pitchFamily="49" charset="0"/>
                <a:ea typeface="仿宋" pitchFamily="49" charset="-122"/>
                <a:cs typeface="Consolas" pitchFamily="49" charset="0"/>
              </a:rPr>
              <a:t>        </a:t>
            </a:r>
            <a:r>
              <a:rPr lang="zh-CN" altLang="zh-CN" sz="2000" b="1" dirty="0">
                <a:solidFill>
                  <a:srgbClr val="0000FF"/>
                </a:solidFill>
                <a:latin typeface="Consolas" pitchFamily="49" charset="0"/>
                <a:ea typeface="仿宋" pitchFamily="49" charset="-122"/>
                <a:cs typeface="Consolas" pitchFamily="49" charset="0"/>
              </a:rPr>
              <a:t>棵不同形态的二叉排序树</a:t>
            </a:r>
            <a:r>
              <a:rPr lang="zh-CN" altLang="en-US" sz="2000" b="1" dirty="0">
                <a:solidFill>
                  <a:srgbClr val="0000FF"/>
                </a:solidFill>
                <a:latin typeface="Consolas" pitchFamily="49" charset="0"/>
                <a:ea typeface="仿宋" pitchFamily="49" charset="-122"/>
                <a:cs typeface="Consolas" pitchFamily="49" charset="0"/>
              </a:rPr>
              <a:t>。</a:t>
            </a:r>
            <a:endParaRPr lang="en-US" altLang="zh-CN" sz="2000" b="1" dirty="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sz="2000" b="1" dirty="0">
                <a:solidFill>
                  <a:srgbClr val="FF0000"/>
                </a:solidFill>
                <a:latin typeface="Consolas" pitchFamily="49" charset="0"/>
                <a:ea typeface="仿宋" pitchFamily="49" charset="-122"/>
                <a:cs typeface="Consolas" pitchFamily="49" charset="0"/>
              </a:rPr>
              <a:t>最坏情况</a:t>
            </a:r>
            <a:r>
              <a:rPr lang="zh-CN" altLang="en-US" sz="2000" b="1" dirty="0">
                <a:solidFill>
                  <a:srgbClr val="0000FF"/>
                </a:solidFill>
                <a:latin typeface="Consolas" pitchFamily="49" charset="0"/>
                <a:ea typeface="仿宋" pitchFamily="49" charset="-122"/>
                <a:cs typeface="Consolas" pitchFamily="49" charset="0"/>
              </a:rPr>
              <a:t>：由</a:t>
            </a:r>
            <a:r>
              <a:rPr lang="zh-CN" altLang="zh-CN" sz="2000" b="1" dirty="0">
                <a:solidFill>
                  <a:srgbClr val="0000FF"/>
                </a:solidFill>
                <a:latin typeface="Consolas" pitchFamily="49" charset="0"/>
                <a:ea typeface="仿宋" pitchFamily="49" charset="-122"/>
                <a:cs typeface="Consolas" pitchFamily="49" charset="0"/>
              </a:rPr>
              <a:t>有序序列创建的二叉排序树会蜕化为一棵高度为</a:t>
            </a:r>
            <a:r>
              <a:rPr lang="en-US" altLang="zh-CN" sz="2000" b="1" i="1" dirty="0">
                <a:solidFill>
                  <a:srgbClr val="0000FF"/>
                </a:solidFill>
                <a:latin typeface="Consolas" pitchFamily="49" charset="0"/>
                <a:ea typeface="仿宋" pitchFamily="49" charset="-122"/>
                <a:cs typeface="Consolas" pitchFamily="49" charset="0"/>
              </a:rPr>
              <a:t>n</a:t>
            </a:r>
            <a:r>
              <a:rPr lang="zh-CN" altLang="zh-CN" sz="2000" b="1" dirty="0">
                <a:solidFill>
                  <a:srgbClr val="0000FF"/>
                </a:solidFill>
                <a:latin typeface="Consolas" pitchFamily="49" charset="0"/>
                <a:ea typeface="仿宋" pitchFamily="49" charset="-122"/>
                <a:cs typeface="Consolas" pitchFamily="49" charset="0"/>
              </a:rPr>
              <a:t>的单支树，</a:t>
            </a:r>
            <a:r>
              <a:rPr lang="zh-CN" altLang="en-US" sz="2000" b="1" dirty="0">
                <a:solidFill>
                  <a:srgbClr val="0000FF"/>
                </a:solidFill>
                <a:latin typeface="Consolas" pitchFamily="49" charset="0"/>
                <a:ea typeface="仿宋" pitchFamily="49" charset="-122"/>
                <a:cs typeface="Consolas" pitchFamily="49" charset="0"/>
              </a:rPr>
              <a:t>此时查找</a:t>
            </a:r>
            <a:r>
              <a:rPr lang="zh-CN" altLang="zh-CN" sz="2000" b="1" dirty="0">
                <a:solidFill>
                  <a:srgbClr val="0000FF"/>
                </a:solidFill>
                <a:latin typeface="Consolas" pitchFamily="49" charset="0"/>
                <a:ea typeface="仿宋" pitchFamily="49" charset="-122"/>
                <a:cs typeface="Consolas" pitchFamily="49" charset="0"/>
              </a:rPr>
              <a:t>时间复杂度为</a:t>
            </a:r>
            <a:r>
              <a:rPr lang="en-US" altLang="zh-CN" sz="2000" b="1" dirty="0">
                <a:solidFill>
                  <a:srgbClr val="0000FF"/>
                </a:solidFill>
                <a:latin typeface="Consolas" pitchFamily="49" charset="0"/>
                <a:ea typeface="仿宋" pitchFamily="49" charset="-122"/>
                <a:cs typeface="Consolas" pitchFamily="49" charset="0"/>
              </a:rPr>
              <a:t>O(</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a:t>
            </a:r>
            <a:r>
              <a:rPr lang="zh-CN" altLang="zh-CN" sz="2000" b="1" dirty="0">
                <a:solidFill>
                  <a:srgbClr val="0000FF"/>
                </a:solidFill>
                <a:latin typeface="Consolas" pitchFamily="49" charset="0"/>
                <a:ea typeface="仿宋" pitchFamily="49" charset="-122"/>
                <a:cs typeface="Consolas" pitchFamily="49" charset="0"/>
              </a:rPr>
              <a:t>。</a:t>
            </a:r>
            <a:endParaRPr lang="en-US" altLang="zh-CN" sz="2000" b="1" dirty="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sz="2000" b="1" dirty="0">
                <a:solidFill>
                  <a:srgbClr val="FF0000"/>
                </a:solidFill>
                <a:latin typeface="Consolas" pitchFamily="49" charset="0"/>
                <a:ea typeface="仿宋" pitchFamily="49" charset="-122"/>
                <a:cs typeface="Consolas" pitchFamily="49" charset="0"/>
              </a:rPr>
              <a:t>最好情况</a:t>
            </a:r>
            <a:r>
              <a:rPr lang="zh-CN" altLang="en-US" sz="2000" b="1" dirty="0">
                <a:solidFill>
                  <a:srgbClr val="0000FF"/>
                </a:solidFill>
                <a:latin typeface="Consolas" pitchFamily="49" charset="0"/>
                <a:ea typeface="仿宋" pitchFamily="49" charset="-122"/>
                <a:cs typeface="Consolas" pitchFamily="49" charset="0"/>
              </a:rPr>
              <a:t>：</a:t>
            </a:r>
            <a:r>
              <a:rPr lang="zh-CN" altLang="zh-CN" sz="2000" b="1" dirty="0">
                <a:solidFill>
                  <a:srgbClr val="0000FF"/>
                </a:solidFill>
                <a:latin typeface="Consolas" pitchFamily="49" charset="0"/>
                <a:ea typeface="仿宋" pitchFamily="49" charset="-122"/>
                <a:cs typeface="Consolas" pitchFamily="49" charset="0"/>
              </a:rPr>
              <a:t>创建的二叉排序树形态比较匀称，</a:t>
            </a:r>
            <a:r>
              <a:rPr lang="zh-CN" altLang="en-US" sz="2000" b="1" dirty="0">
                <a:solidFill>
                  <a:srgbClr val="0000FF"/>
                </a:solidFill>
                <a:latin typeface="Consolas" pitchFamily="49" charset="0"/>
                <a:ea typeface="仿宋" pitchFamily="49" charset="-122"/>
                <a:cs typeface="Consolas" pitchFamily="49" charset="0"/>
              </a:rPr>
              <a:t>此时查找</a:t>
            </a:r>
            <a:r>
              <a:rPr lang="zh-CN" altLang="zh-CN" sz="2000" b="1" dirty="0">
                <a:solidFill>
                  <a:srgbClr val="0000FF"/>
                </a:solidFill>
                <a:latin typeface="Consolas" pitchFamily="49" charset="0"/>
                <a:ea typeface="仿宋" pitchFamily="49" charset="-122"/>
                <a:cs typeface="Consolas" pitchFamily="49" charset="0"/>
              </a:rPr>
              <a:t>时间复杂度为</a:t>
            </a:r>
            <a:r>
              <a:rPr lang="en-US" altLang="zh-CN" sz="2000" b="1" dirty="0">
                <a:solidFill>
                  <a:srgbClr val="0000FF"/>
                </a:solidFill>
                <a:latin typeface="Consolas" pitchFamily="49" charset="0"/>
                <a:ea typeface="仿宋" pitchFamily="49" charset="-122"/>
                <a:cs typeface="Consolas" pitchFamily="49" charset="0"/>
              </a:rPr>
              <a:t>O(log</a:t>
            </a:r>
            <a:r>
              <a:rPr lang="en-US" altLang="zh-CN" sz="2000" b="1" baseline="-25000" dirty="0">
                <a:solidFill>
                  <a:srgbClr val="0000FF"/>
                </a:solidFill>
                <a:latin typeface="Consolas" pitchFamily="49" charset="0"/>
                <a:ea typeface="仿宋" pitchFamily="49" charset="-122"/>
                <a:cs typeface="Consolas" pitchFamily="49" charset="0"/>
              </a:rPr>
              <a:t>2</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a:t>
            </a:r>
            <a:r>
              <a:rPr lang="zh-CN" altLang="en-US" sz="2000" b="1" dirty="0">
                <a:solidFill>
                  <a:srgbClr val="0000FF"/>
                </a:solidFill>
                <a:latin typeface="Consolas" pitchFamily="49" charset="0"/>
                <a:ea typeface="仿宋" pitchFamily="49" charset="-122"/>
                <a:cs typeface="Consolas" pitchFamily="49" charset="0"/>
              </a:rPr>
              <a:t>。</a:t>
            </a:r>
            <a:endParaRPr lang="en-US" altLang="zh-CN" sz="2000" b="1" dirty="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sz="2000" b="1" dirty="0">
                <a:solidFill>
                  <a:srgbClr val="0000FF"/>
                </a:solidFill>
                <a:latin typeface="Consolas" pitchFamily="49" charset="0"/>
                <a:ea typeface="仿宋" pitchFamily="49" charset="-122"/>
                <a:cs typeface="Consolas" pitchFamily="49" charset="0"/>
              </a:rPr>
              <a:t>一棵含</a:t>
            </a:r>
            <a:r>
              <a:rPr lang="en-US" altLang="zh-CN" sz="2000" b="1" i="1" dirty="0">
                <a:solidFill>
                  <a:srgbClr val="0000FF"/>
                </a:solidFill>
                <a:latin typeface="Consolas" pitchFamily="49" charset="0"/>
                <a:ea typeface="仿宋" pitchFamily="49" charset="-122"/>
                <a:cs typeface="Consolas" pitchFamily="49" charset="0"/>
              </a:rPr>
              <a:t>n</a:t>
            </a:r>
            <a:r>
              <a:rPr lang="zh-CN" altLang="zh-CN" sz="2000" b="1" dirty="0">
                <a:solidFill>
                  <a:srgbClr val="0000FF"/>
                </a:solidFill>
                <a:latin typeface="Consolas" pitchFamily="49" charset="0"/>
                <a:ea typeface="仿宋" pitchFamily="49" charset="-122"/>
                <a:cs typeface="Consolas" pitchFamily="49" charset="0"/>
              </a:rPr>
              <a:t>个结点的二叉排序树的查找算法的时间复杂度介于</a:t>
            </a:r>
            <a:r>
              <a:rPr lang="en-US" altLang="zh-CN" sz="2000" b="1" dirty="0">
                <a:solidFill>
                  <a:srgbClr val="0000FF"/>
                </a:solidFill>
                <a:latin typeface="Consolas" pitchFamily="49" charset="0"/>
                <a:ea typeface="仿宋" pitchFamily="49" charset="-122"/>
                <a:cs typeface="Consolas" pitchFamily="49" charset="0"/>
              </a:rPr>
              <a:t>O(log</a:t>
            </a:r>
            <a:r>
              <a:rPr lang="en-US" altLang="zh-CN" sz="2000" b="1" baseline="-25000" dirty="0">
                <a:solidFill>
                  <a:srgbClr val="0000FF"/>
                </a:solidFill>
                <a:latin typeface="Consolas" pitchFamily="49" charset="0"/>
                <a:ea typeface="仿宋" pitchFamily="49" charset="-122"/>
                <a:cs typeface="Consolas" pitchFamily="49" charset="0"/>
              </a:rPr>
              <a:t>2</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a:t>
            </a:r>
            <a:r>
              <a:rPr lang="zh-CN" altLang="zh-CN" sz="2000" b="1" dirty="0">
                <a:solidFill>
                  <a:srgbClr val="0000FF"/>
                </a:solidFill>
                <a:latin typeface="Consolas" pitchFamily="49" charset="0"/>
                <a:ea typeface="仿宋" pitchFamily="49" charset="-122"/>
                <a:cs typeface="Consolas" pitchFamily="49" charset="0"/>
              </a:rPr>
              <a:t>和</a:t>
            </a:r>
            <a:r>
              <a:rPr lang="en-US" altLang="zh-CN" sz="2000" b="1" dirty="0">
                <a:solidFill>
                  <a:srgbClr val="0000FF"/>
                </a:solidFill>
                <a:latin typeface="Consolas" pitchFamily="49" charset="0"/>
                <a:ea typeface="仿宋" pitchFamily="49" charset="-122"/>
                <a:cs typeface="Consolas" pitchFamily="49" charset="0"/>
              </a:rPr>
              <a:t>O(</a:t>
            </a:r>
            <a:r>
              <a:rPr lang="en-US" altLang="zh-CN" sz="2000" b="1" i="1" dirty="0">
                <a:solidFill>
                  <a:srgbClr val="0000FF"/>
                </a:solidFill>
                <a:latin typeface="Consolas" pitchFamily="49" charset="0"/>
                <a:ea typeface="仿宋" pitchFamily="49" charset="-122"/>
                <a:cs typeface="Consolas" pitchFamily="49" charset="0"/>
              </a:rPr>
              <a:t>n</a:t>
            </a:r>
            <a:r>
              <a:rPr lang="en-US" altLang="zh-CN" sz="2000" b="1" dirty="0">
                <a:solidFill>
                  <a:srgbClr val="0000FF"/>
                </a:solidFill>
                <a:latin typeface="Consolas" pitchFamily="49" charset="0"/>
                <a:ea typeface="仿宋" pitchFamily="49" charset="-122"/>
                <a:cs typeface="Consolas" pitchFamily="49" charset="0"/>
              </a:rPr>
              <a:t>)</a:t>
            </a:r>
            <a:r>
              <a:rPr lang="zh-CN" altLang="zh-CN" sz="2000" b="1" dirty="0">
                <a:solidFill>
                  <a:srgbClr val="0000FF"/>
                </a:solidFill>
                <a:latin typeface="Consolas" pitchFamily="49" charset="0"/>
                <a:ea typeface="仿宋" pitchFamily="49" charset="-122"/>
                <a:cs typeface="Consolas" pitchFamily="49" charset="0"/>
              </a:rPr>
              <a:t>之间。</a:t>
            </a:r>
            <a:endParaRPr lang="zh-CN" altLang="en-US" sz="2000" b="1" dirty="0">
              <a:solidFill>
                <a:srgbClr val="0000FF"/>
              </a:solidFill>
              <a:latin typeface="Consolas" pitchFamily="49" charset="0"/>
              <a:ea typeface="仿宋" pitchFamily="49" charset="-122"/>
              <a:cs typeface="Consolas" pitchFamily="49" charset="0"/>
            </a:endParaRPr>
          </a:p>
        </p:txBody>
      </p:sp>
      <p:pic>
        <p:nvPicPr>
          <p:cNvPr id="6" name="Picture 5">
            <a:extLst>
              <a:ext uri="{FF2B5EF4-FFF2-40B4-BE49-F238E27FC236}">
                <a16:creationId xmlns:a16="http://schemas.microsoft.com/office/drawing/2014/main" id="{FDC8C57C-CA75-8431-3B80-56445E819804}"/>
              </a:ext>
            </a:extLst>
          </p:cNvPr>
          <p:cNvPicPr>
            <a:picLocks noChangeAspect="1" noChangeArrowheads="1"/>
          </p:cNvPicPr>
          <p:nvPr/>
        </p:nvPicPr>
        <p:blipFill>
          <a:blip r:embed="rId3" cstate="print"/>
          <a:srcRect/>
          <a:stretch>
            <a:fillRect/>
          </a:stretch>
        </p:blipFill>
        <p:spPr bwMode="auto">
          <a:xfrm>
            <a:off x="4473587" y="1482728"/>
            <a:ext cx="1013635" cy="857256"/>
          </a:xfrm>
          <a:prstGeom prst="rect">
            <a:avLst/>
          </a:prstGeom>
          <a:noFill/>
          <a:ln w="9525">
            <a:noFill/>
            <a:miter lim="800000"/>
            <a:headEnd/>
            <a:tailEnd/>
          </a:ln>
        </p:spPr>
      </p:pic>
      <p:pic>
        <p:nvPicPr>
          <p:cNvPr id="8" name="Picture 2">
            <a:extLst>
              <a:ext uri="{FF2B5EF4-FFF2-40B4-BE49-F238E27FC236}">
                <a16:creationId xmlns:a16="http://schemas.microsoft.com/office/drawing/2014/main" id="{C21353B4-C9FE-9064-1C7C-DE13D526D215}"/>
              </a:ext>
            </a:extLst>
          </p:cNvPr>
          <p:cNvPicPr>
            <a:picLocks noChangeAspect="1" noChangeArrowheads="1"/>
          </p:cNvPicPr>
          <p:nvPr/>
        </p:nvPicPr>
        <p:blipFill>
          <a:blip r:embed="rId4" cstate="print"/>
          <a:srcRect/>
          <a:stretch>
            <a:fillRect/>
          </a:stretch>
        </p:blipFill>
        <p:spPr bwMode="auto">
          <a:xfrm>
            <a:off x="3487752" y="4395823"/>
            <a:ext cx="985835" cy="568609"/>
          </a:xfrm>
          <a:prstGeom prst="rect">
            <a:avLst/>
          </a:prstGeom>
          <a:noFill/>
          <a:ln w="9525">
            <a:noFill/>
            <a:miter lim="800000"/>
            <a:headEnd/>
            <a:tailEnd/>
          </a:ln>
        </p:spPr>
      </p:pic>
    </p:spTree>
    <p:extLst>
      <p:ext uri="{BB962C8B-B14F-4D97-AF65-F5344CB8AC3E}">
        <p14:creationId xmlns:p14="http://schemas.microsoft.com/office/powerpoint/2010/main" val="353651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307BD-A3FC-97E0-6FCD-BFCF95E646A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1F904A3-2D96-46B5-D232-A6710744CE2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775C975A-B3DC-902D-F4FF-1A14E948F690}"/>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D81EF0B6-998E-CF2C-1C51-0B61641F9312}"/>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F23515F6-3DC9-044B-902B-50F883FD7EAA}"/>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5" name="TextBox 4">
            <a:extLst>
              <a:ext uri="{FF2B5EF4-FFF2-40B4-BE49-F238E27FC236}">
                <a16:creationId xmlns:a16="http://schemas.microsoft.com/office/drawing/2014/main" id="{9061D3BE-30CE-52DB-2314-D54130DAB8EC}"/>
              </a:ext>
            </a:extLst>
          </p:cNvPr>
          <p:cNvSpPr txBox="1"/>
          <p:nvPr/>
        </p:nvSpPr>
        <p:spPr>
          <a:xfrm>
            <a:off x="1559496" y="2564904"/>
            <a:ext cx="8143932" cy="2477601"/>
          </a:xfrm>
          <a:prstGeom prst="rect">
            <a:avLst/>
          </a:prstGeom>
          <a:solidFill>
            <a:schemeClr val="bg1"/>
          </a:solidFill>
          <a:ln>
            <a:solidFill>
              <a:schemeClr val="accent3">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just">
              <a:lnSpc>
                <a:spcPts val="2800"/>
              </a:lnSpc>
              <a:spcBef>
                <a:spcPts val="600"/>
              </a:spcBef>
            </a:pPr>
            <a:r>
              <a:rPr lang="en-US" altLang="zh-CN" sz="2000" b="1">
                <a:solidFill>
                  <a:srgbClr val="0000FF"/>
                </a:solidFill>
                <a:latin typeface="Consolas" pitchFamily="49" charset="0"/>
                <a:ea typeface="楷体" pitchFamily="49" charset="-122"/>
                <a:cs typeface="Consolas" pitchFamily="49" charset="0"/>
              </a:rPr>
              <a:t>   </a:t>
            </a:r>
            <a:r>
              <a:rPr lang="en-US" altLang="zh-CN" sz="2000" b="1">
                <a:solidFill>
                  <a:srgbClr val="FF0000"/>
                </a:solidFill>
                <a:latin typeface="Consolas" pitchFamily="49" charset="0"/>
                <a:ea typeface="楷体" pitchFamily="49" charset="-122"/>
                <a:cs typeface="Consolas" pitchFamily="49" charset="0"/>
              </a:rPr>
              <a:t>【</a:t>
            </a:r>
            <a:r>
              <a:rPr lang="zh-CN" altLang="en-US" sz="2000" b="1">
                <a:solidFill>
                  <a:srgbClr val="FF0000"/>
                </a:solidFill>
                <a:latin typeface="Consolas" pitchFamily="49" charset="0"/>
                <a:ea typeface="楷体" pitchFamily="49" charset="-122"/>
                <a:cs typeface="Consolas" pitchFamily="49" charset="0"/>
              </a:rPr>
              <a:t>例</a:t>
            </a:r>
            <a:r>
              <a:rPr lang="en-US" altLang="zh-CN" sz="2000" b="1">
                <a:solidFill>
                  <a:srgbClr val="FF0000"/>
                </a:solidFill>
                <a:latin typeface="Consolas" pitchFamily="49" charset="0"/>
                <a:ea typeface="楷体" pitchFamily="49" charset="-122"/>
                <a:cs typeface="Consolas" pitchFamily="49" charset="0"/>
              </a:rPr>
              <a:t>9.3】</a:t>
            </a:r>
            <a:r>
              <a:rPr lang="zh-CN" altLang="en-US" sz="2000" b="1">
                <a:solidFill>
                  <a:srgbClr val="0000FF"/>
                </a:solidFill>
                <a:latin typeface="Consolas" pitchFamily="49" charset="0"/>
                <a:ea typeface="楷体" pitchFamily="49" charset="-122"/>
                <a:cs typeface="Consolas" pitchFamily="49" charset="0"/>
              </a:rPr>
              <a:t>已知关键字序列为</a:t>
            </a:r>
            <a:r>
              <a:rPr lang="en-US" altLang="zh-CN" sz="2000" b="1">
                <a:solidFill>
                  <a:srgbClr val="0000FF"/>
                </a:solidFill>
                <a:latin typeface="Consolas" pitchFamily="49" charset="0"/>
                <a:ea typeface="楷体" pitchFamily="49" charset="-122"/>
                <a:cs typeface="Consolas" pitchFamily="49" charset="0"/>
              </a:rPr>
              <a:t>:</a:t>
            </a:r>
          </a:p>
          <a:p>
            <a:pPr algn="just">
              <a:lnSpc>
                <a:spcPts val="2800"/>
              </a:lnSpc>
              <a:spcBef>
                <a:spcPts val="600"/>
              </a:spcBef>
            </a:pPr>
            <a:r>
              <a:rPr lang="en-US" altLang="zh-CN" sz="2000" b="1">
                <a:solidFill>
                  <a:srgbClr val="006600"/>
                </a:solidFill>
                <a:latin typeface="Consolas" pitchFamily="49" charset="0"/>
                <a:ea typeface="楷体" pitchFamily="49" charset="-122"/>
                <a:cs typeface="Consolas" pitchFamily="49" charset="0"/>
              </a:rPr>
              <a:t>       {25</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18</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46</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2</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53</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39</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32</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4</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74</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67</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60</a:t>
            </a:r>
            <a:r>
              <a:rPr lang="zh-CN" altLang="en-US" sz="2000" b="1">
                <a:solidFill>
                  <a:srgbClr val="006600"/>
                </a:solidFill>
                <a:latin typeface="Consolas" pitchFamily="49" charset="0"/>
                <a:ea typeface="楷体" pitchFamily="49" charset="-122"/>
                <a:cs typeface="Consolas" pitchFamily="49" charset="0"/>
              </a:rPr>
              <a:t>，</a:t>
            </a:r>
            <a:r>
              <a:rPr lang="en-US" altLang="zh-CN" sz="2000" b="1">
                <a:solidFill>
                  <a:srgbClr val="006600"/>
                </a:solidFill>
                <a:latin typeface="Consolas" pitchFamily="49" charset="0"/>
                <a:ea typeface="楷体" pitchFamily="49" charset="-122"/>
                <a:cs typeface="Consolas" pitchFamily="49" charset="0"/>
              </a:rPr>
              <a:t>11}</a:t>
            </a:r>
          </a:p>
          <a:p>
            <a:pPr algn="just">
              <a:lnSpc>
                <a:spcPts val="2800"/>
              </a:lnSpc>
              <a:spcBef>
                <a:spcPts val="600"/>
              </a:spcBef>
            </a:pPr>
            <a:r>
              <a:rPr lang="en-US" altLang="zh-CN" sz="2000" b="1">
                <a:solidFill>
                  <a:srgbClr val="0000FF"/>
                </a:solidFill>
                <a:latin typeface="Consolas" pitchFamily="49" charset="0"/>
                <a:ea typeface="楷体" pitchFamily="49" charset="-122"/>
                <a:cs typeface="Consolas" pitchFamily="49" charset="0"/>
              </a:rPr>
              <a:t>   </a:t>
            </a:r>
            <a:r>
              <a:rPr lang="zh-CN" altLang="en-US" sz="2000" b="1">
                <a:solidFill>
                  <a:srgbClr val="0000FF"/>
                </a:solidFill>
                <a:latin typeface="Consolas" pitchFamily="49" charset="0"/>
                <a:ea typeface="楷体" pitchFamily="49" charset="-122"/>
                <a:cs typeface="Consolas" pitchFamily="49" charset="0"/>
              </a:rPr>
              <a:t>按表中的元素顺序依次插入到一棵初始为空的二叉排序树中，画出结果二叉排序树。</a:t>
            </a:r>
            <a:endParaRPr lang="en-US" altLang="zh-CN" sz="2000" b="1">
              <a:solidFill>
                <a:srgbClr val="0000FF"/>
              </a:solidFill>
              <a:latin typeface="Consolas" pitchFamily="49" charset="0"/>
              <a:ea typeface="楷体" pitchFamily="49" charset="-122"/>
              <a:cs typeface="Consolas" pitchFamily="49" charset="0"/>
            </a:endParaRPr>
          </a:p>
          <a:p>
            <a:pPr algn="just">
              <a:lnSpc>
                <a:spcPts val="2800"/>
              </a:lnSpc>
              <a:spcBef>
                <a:spcPts val="600"/>
              </a:spcBef>
            </a:pPr>
            <a:r>
              <a:rPr lang="en-US" altLang="zh-CN" sz="2000" b="1">
                <a:solidFill>
                  <a:srgbClr val="0000FF"/>
                </a:solidFill>
                <a:latin typeface="Consolas" pitchFamily="49" charset="0"/>
                <a:ea typeface="楷体" pitchFamily="49" charset="-122"/>
                <a:cs typeface="Consolas" pitchFamily="49" charset="0"/>
              </a:rPr>
              <a:t>   </a:t>
            </a:r>
            <a:r>
              <a:rPr lang="zh-CN" altLang="en-US" sz="2000" b="1">
                <a:solidFill>
                  <a:srgbClr val="0000FF"/>
                </a:solidFill>
                <a:latin typeface="Consolas" pitchFamily="49" charset="0"/>
                <a:ea typeface="楷体" pitchFamily="49" charset="-122"/>
                <a:cs typeface="Consolas" pitchFamily="49" charset="0"/>
              </a:rPr>
              <a:t>求在等概率的情况下查找成功的平均查找长度和查找不成功的平均查找长度。      </a:t>
            </a:r>
            <a:endParaRPr lang="zh-CN" altLang="en-US" sz="2000" b="1" dirty="0">
              <a:solidFill>
                <a:srgbClr val="0000FF"/>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1690644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805A-B3B6-A2B0-D6E7-34CD6A6A8BD4}"/>
            </a:ext>
          </a:extLst>
        </p:cNvPr>
        <p:cNvGrpSpPr/>
        <p:nvPr/>
      </p:nvGrpSpPr>
      <p:grpSpPr>
        <a:xfrm>
          <a:off x="0" y="0"/>
          <a:ext cx="0" cy="0"/>
          <a:chOff x="0" y="0"/>
          <a:chExt cx="0" cy="0"/>
        </a:xfrm>
      </p:grpSpPr>
      <p:sp>
        <p:nvSpPr>
          <p:cNvPr id="5" name="Text Box 60">
            <a:extLst>
              <a:ext uri="{FF2B5EF4-FFF2-40B4-BE49-F238E27FC236}">
                <a16:creationId xmlns:a16="http://schemas.microsoft.com/office/drawing/2014/main" id="{DABBC96E-5DFC-B9DC-2114-02840976E97B}"/>
              </a:ext>
            </a:extLst>
          </p:cNvPr>
          <p:cNvSpPr txBox="1">
            <a:spLocks noChangeArrowheads="1"/>
          </p:cNvSpPr>
          <p:nvPr/>
        </p:nvSpPr>
        <p:spPr bwMode="auto">
          <a:xfrm>
            <a:off x="714348" y="368281"/>
            <a:ext cx="863600" cy="400110"/>
          </a:xfrm>
          <a:prstGeom prst="rect">
            <a:avLst/>
          </a:prstGeom>
          <a:noFill/>
          <a:ln w="9525">
            <a:noFill/>
            <a:miter lim="800000"/>
            <a:headEnd/>
            <a:tailEnd/>
          </a:ln>
        </p:spPr>
        <p:txBody>
          <a:bodyPr>
            <a:spAutoFit/>
          </a:bodyPr>
          <a:lstStyle/>
          <a:p>
            <a:pPr algn="l">
              <a:spcBef>
                <a:spcPct val="50000"/>
              </a:spcBef>
            </a:pPr>
            <a:r>
              <a:rPr kumimoji="0" lang="zh-CN" altLang="en-US" sz="2000" b="1" dirty="0">
                <a:solidFill>
                  <a:srgbClr val="3333FF"/>
                </a:solidFill>
                <a:latin typeface="Consolas" pitchFamily="49" charset="0"/>
                <a:ea typeface="楷体" pitchFamily="49" charset="-122"/>
                <a:cs typeface="Consolas" pitchFamily="49" charset="0"/>
              </a:rPr>
              <a:t>序列：</a:t>
            </a:r>
          </a:p>
        </p:txBody>
      </p:sp>
      <p:sp>
        <p:nvSpPr>
          <p:cNvPr id="6" name="Text Box 61">
            <a:extLst>
              <a:ext uri="{FF2B5EF4-FFF2-40B4-BE49-F238E27FC236}">
                <a16:creationId xmlns:a16="http://schemas.microsoft.com/office/drawing/2014/main" id="{48BD5CA0-36AC-C0A3-C363-FDB7EB716058}"/>
              </a:ext>
            </a:extLst>
          </p:cNvPr>
          <p:cNvSpPr txBox="1">
            <a:spLocks noChangeArrowheads="1"/>
          </p:cNvSpPr>
          <p:nvPr/>
        </p:nvSpPr>
        <p:spPr bwMode="auto">
          <a:xfrm>
            <a:off x="1793848"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25</a:t>
            </a:r>
          </a:p>
        </p:txBody>
      </p:sp>
      <p:sp>
        <p:nvSpPr>
          <p:cNvPr id="8" name="Text Box 62">
            <a:extLst>
              <a:ext uri="{FF2B5EF4-FFF2-40B4-BE49-F238E27FC236}">
                <a16:creationId xmlns:a16="http://schemas.microsoft.com/office/drawing/2014/main" id="{509113CC-0F0F-523B-DDB4-D7C102133EA5}"/>
              </a:ext>
            </a:extLst>
          </p:cNvPr>
          <p:cNvSpPr txBox="1">
            <a:spLocks noChangeArrowheads="1"/>
          </p:cNvSpPr>
          <p:nvPr/>
        </p:nvSpPr>
        <p:spPr bwMode="auto">
          <a:xfrm>
            <a:off x="2225648"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a:solidFill>
                  <a:srgbClr val="3333FF"/>
                </a:solidFill>
                <a:latin typeface="Consolas" pitchFamily="49" charset="0"/>
                <a:ea typeface="楷体_GB2312" pitchFamily="49" charset="-122"/>
                <a:cs typeface="Consolas" pitchFamily="49" charset="0"/>
              </a:rPr>
              <a:t>18</a:t>
            </a:r>
          </a:p>
        </p:txBody>
      </p:sp>
      <p:sp>
        <p:nvSpPr>
          <p:cNvPr id="9" name="Text Box 63">
            <a:extLst>
              <a:ext uri="{FF2B5EF4-FFF2-40B4-BE49-F238E27FC236}">
                <a16:creationId xmlns:a16="http://schemas.microsoft.com/office/drawing/2014/main" id="{DF0D89A6-9731-70A0-7831-6117EF8685F8}"/>
              </a:ext>
            </a:extLst>
          </p:cNvPr>
          <p:cNvSpPr txBox="1">
            <a:spLocks noChangeArrowheads="1"/>
          </p:cNvSpPr>
          <p:nvPr/>
        </p:nvSpPr>
        <p:spPr bwMode="auto">
          <a:xfrm>
            <a:off x="2659036"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46</a:t>
            </a:r>
          </a:p>
        </p:txBody>
      </p:sp>
      <p:sp>
        <p:nvSpPr>
          <p:cNvPr id="10" name="Text Box 64">
            <a:extLst>
              <a:ext uri="{FF2B5EF4-FFF2-40B4-BE49-F238E27FC236}">
                <a16:creationId xmlns:a16="http://schemas.microsoft.com/office/drawing/2014/main" id="{D6E4E00D-18AD-8705-2404-EE99D588FD9E}"/>
              </a:ext>
            </a:extLst>
          </p:cNvPr>
          <p:cNvSpPr txBox="1">
            <a:spLocks noChangeArrowheads="1"/>
          </p:cNvSpPr>
          <p:nvPr/>
        </p:nvSpPr>
        <p:spPr bwMode="auto">
          <a:xfrm>
            <a:off x="3090836" y="368281"/>
            <a:ext cx="288925" cy="304800"/>
          </a:xfrm>
          <a:prstGeom prst="rect">
            <a:avLst/>
          </a:prstGeom>
          <a:noFill/>
          <a:ln w="9525">
            <a:noFill/>
            <a:miter lim="800000"/>
            <a:headEnd/>
            <a:tailEnd/>
          </a:ln>
        </p:spPr>
        <p:txBody>
          <a:bodyPr lIns="0" tIns="0" rIns="0" bIns="0">
            <a:spAutoFit/>
          </a:bodyPr>
          <a:lstStyle/>
          <a:p>
            <a:pPr>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2</a:t>
            </a:r>
          </a:p>
        </p:txBody>
      </p:sp>
      <p:sp>
        <p:nvSpPr>
          <p:cNvPr id="11" name="Text Box 65">
            <a:extLst>
              <a:ext uri="{FF2B5EF4-FFF2-40B4-BE49-F238E27FC236}">
                <a16:creationId xmlns:a16="http://schemas.microsoft.com/office/drawing/2014/main" id="{280EE210-162E-DE0F-94ED-F6910C5DC8E5}"/>
              </a:ext>
            </a:extLst>
          </p:cNvPr>
          <p:cNvSpPr txBox="1">
            <a:spLocks noChangeArrowheads="1"/>
          </p:cNvSpPr>
          <p:nvPr/>
        </p:nvSpPr>
        <p:spPr bwMode="auto">
          <a:xfrm>
            <a:off x="3522636"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53</a:t>
            </a:r>
          </a:p>
        </p:txBody>
      </p:sp>
      <p:sp>
        <p:nvSpPr>
          <p:cNvPr id="12" name="Text Box 66">
            <a:extLst>
              <a:ext uri="{FF2B5EF4-FFF2-40B4-BE49-F238E27FC236}">
                <a16:creationId xmlns:a16="http://schemas.microsoft.com/office/drawing/2014/main" id="{0F44F252-C691-20DA-69C2-3A60E37C91CB}"/>
              </a:ext>
            </a:extLst>
          </p:cNvPr>
          <p:cNvSpPr txBox="1">
            <a:spLocks noChangeArrowheads="1"/>
          </p:cNvSpPr>
          <p:nvPr/>
        </p:nvSpPr>
        <p:spPr bwMode="auto">
          <a:xfrm>
            <a:off x="3956023"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39</a:t>
            </a:r>
          </a:p>
        </p:txBody>
      </p:sp>
      <p:sp>
        <p:nvSpPr>
          <p:cNvPr id="13" name="Text Box 67">
            <a:extLst>
              <a:ext uri="{FF2B5EF4-FFF2-40B4-BE49-F238E27FC236}">
                <a16:creationId xmlns:a16="http://schemas.microsoft.com/office/drawing/2014/main" id="{63C8F076-CF88-DE42-8C50-7EFDCA6F3B72}"/>
              </a:ext>
            </a:extLst>
          </p:cNvPr>
          <p:cNvSpPr txBox="1">
            <a:spLocks noChangeArrowheads="1"/>
          </p:cNvSpPr>
          <p:nvPr/>
        </p:nvSpPr>
        <p:spPr bwMode="auto">
          <a:xfrm>
            <a:off x="4386236"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32</a:t>
            </a:r>
          </a:p>
        </p:txBody>
      </p:sp>
      <p:sp>
        <p:nvSpPr>
          <p:cNvPr id="14" name="Text Box 68">
            <a:extLst>
              <a:ext uri="{FF2B5EF4-FFF2-40B4-BE49-F238E27FC236}">
                <a16:creationId xmlns:a16="http://schemas.microsoft.com/office/drawing/2014/main" id="{760A1EAC-4B89-0E06-5D09-A9BE50F15F06}"/>
              </a:ext>
            </a:extLst>
          </p:cNvPr>
          <p:cNvSpPr txBox="1">
            <a:spLocks noChangeArrowheads="1"/>
          </p:cNvSpPr>
          <p:nvPr/>
        </p:nvSpPr>
        <p:spPr bwMode="auto">
          <a:xfrm>
            <a:off x="4818036" y="368281"/>
            <a:ext cx="288925" cy="304800"/>
          </a:xfrm>
          <a:prstGeom prst="rect">
            <a:avLst/>
          </a:prstGeom>
          <a:noFill/>
          <a:ln w="9525">
            <a:noFill/>
            <a:miter lim="800000"/>
            <a:headEnd/>
            <a:tailEnd/>
          </a:ln>
        </p:spPr>
        <p:txBody>
          <a:bodyPr lIns="0" tIns="0" rIns="0" bIns="0">
            <a:spAutoFit/>
          </a:bodyPr>
          <a:lstStyle/>
          <a:p>
            <a:pPr>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4</a:t>
            </a:r>
          </a:p>
        </p:txBody>
      </p:sp>
      <p:sp>
        <p:nvSpPr>
          <p:cNvPr id="15" name="Text Box 69">
            <a:extLst>
              <a:ext uri="{FF2B5EF4-FFF2-40B4-BE49-F238E27FC236}">
                <a16:creationId xmlns:a16="http://schemas.microsoft.com/office/drawing/2014/main" id="{57C126D0-F2AA-71A7-3589-03AAC7E9ACD1}"/>
              </a:ext>
            </a:extLst>
          </p:cNvPr>
          <p:cNvSpPr txBox="1">
            <a:spLocks noChangeArrowheads="1"/>
          </p:cNvSpPr>
          <p:nvPr/>
        </p:nvSpPr>
        <p:spPr bwMode="auto">
          <a:xfrm>
            <a:off x="5251423"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74</a:t>
            </a:r>
          </a:p>
        </p:txBody>
      </p:sp>
      <p:sp>
        <p:nvSpPr>
          <p:cNvPr id="16" name="Text Box 70">
            <a:extLst>
              <a:ext uri="{FF2B5EF4-FFF2-40B4-BE49-F238E27FC236}">
                <a16:creationId xmlns:a16="http://schemas.microsoft.com/office/drawing/2014/main" id="{3DE55364-F177-0287-8169-F2E805EBA594}"/>
              </a:ext>
            </a:extLst>
          </p:cNvPr>
          <p:cNvSpPr txBox="1">
            <a:spLocks noChangeArrowheads="1"/>
          </p:cNvSpPr>
          <p:nvPr/>
        </p:nvSpPr>
        <p:spPr bwMode="auto">
          <a:xfrm>
            <a:off x="5683223"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67</a:t>
            </a:r>
          </a:p>
        </p:txBody>
      </p:sp>
      <p:sp>
        <p:nvSpPr>
          <p:cNvPr id="17" name="Text Box 71">
            <a:extLst>
              <a:ext uri="{FF2B5EF4-FFF2-40B4-BE49-F238E27FC236}">
                <a16:creationId xmlns:a16="http://schemas.microsoft.com/office/drawing/2014/main" id="{418F95D3-F03A-0679-AF6D-76C270D04F1A}"/>
              </a:ext>
            </a:extLst>
          </p:cNvPr>
          <p:cNvSpPr txBox="1">
            <a:spLocks noChangeArrowheads="1"/>
          </p:cNvSpPr>
          <p:nvPr/>
        </p:nvSpPr>
        <p:spPr bwMode="auto">
          <a:xfrm>
            <a:off x="6115023"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60</a:t>
            </a:r>
          </a:p>
        </p:txBody>
      </p:sp>
      <p:sp>
        <p:nvSpPr>
          <p:cNvPr id="18" name="Text Box 72">
            <a:extLst>
              <a:ext uri="{FF2B5EF4-FFF2-40B4-BE49-F238E27FC236}">
                <a16:creationId xmlns:a16="http://schemas.microsoft.com/office/drawing/2014/main" id="{BF19D09D-05EC-EA73-054A-79E6D5CE6821}"/>
              </a:ext>
            </a:extLst>
          </p:cNvPr>
          <p:cNvSpPr txBox="1">
            <a:spLocks noChangeArrowheads="1"/>
          </p:cNvSpPr>
          <p:nvPr/>
        </p:nvSpPr>
        <p:spPr bwMode="auto">
          <a:xfrm>
            <a:off x="6548411" y="368281"/>
            <a:ext cx="288925" cy="304800"/>
          </a:xfrm>
          <a:prstGeom prst="rect">
            <a:avLst/>
          </a:prstGeom>
          <a:noFill/>
          <a:ln w="9525">
            <a:noFill/>
            <a:miter lim="800000"/>
            <a:headEnd/>
            <a:tailEnd/>
          </a:ln>
        </p:spPr>
        <p:txBody>
          <a:bodyPr lIns="0" tIns="0" rIns="0" bIns="0">
            <a:spAutoFit/>
          </a:bodyPr>
          <a:lstStyle/>
          <a:p>
            <a:pPr algn="l">
              <a:spcBef>
                <a:spcPct val="50000"/>
              </a:spcBef>
            </a:pPr>
            <a:r>
              <a:rPr kumimoji="0" lang="en-US" altLang="zh-CN" sz="2000" b="1" dirty="0">
                <a:solidFill>
                  <a:srgbClr val="3333FF"/>
                </a:solidFill>
                <a:latin typeface="Consolas" pitchFamily="49" charset="0"/>
                <a:ea typeface="楷体_GB2312" pitchFamily="49" charset="-122"/>
                <a:cs typeface="Consolas" pitchFamily="49" charset="0"/>
              </a:rPr>
              <a:t>11</a:t>
            </a:r>
          </a:p>
        </p:txBody>
      </p:sp>
      <p:sp>
        <p:nvSpPr>
          <p:cNvPr id="19" name="Text Box 73">
            <a:extLst>
              <a:ext uri="{FF2B5EF4-FFF2-40B4-BE49-F238E27FC236}">
                <a16:creationId xmlns:a16="http://schemas.microsoft.com/office/drawing/2014/main" id="{F8A6BD7A-6D1A-4C2F-EFA6-741460105FC9}"/>
              </a:ext>
            </a:extLst>
          </p:cNvPr>
          <p:cNvSpPr txBox="1">
            <a:spLocks noChangeArrowheads="1"/>
          </p:cNvSpPr>
          <p:nvPr/>
        </p:nvSpPr>
        <p:spPr bwMode="auto">
          <a:xfrm>
            <a:off x="2500298" y="5715016"/>
            <a:ext cx="3143272" cy="400110"/>
          </a:xfrm>
          <a:prstGeom prst="rect">
            <a:avLst/>
          </a:prstGeom>
          <a:noFill/>
          <a:ln w="9525">
            <a:noFill/>
            <a:miter lim="800000"/>
            <a:headEnd/>
            <a:tailEnd/>
          </a:ln>
        </p:spPr>
        <p:txBody>
          <a:bodyPr wrap="square">
            <a:spAutoFit/>
          </a:bodyPr>
          <a:lstStyle/>
          <a:p>
            <a:pPr algn="l">
              <a:spcBef>
                <a:spcPct val="50000"/>
              </a:spcBef>
            </a:pPr>
            <a:r>
              <a:rPr kumimoji="0" lang="zh-CN" altLang="en-US" sz="2000" b="1" dirty="0">
                <a:solidFill>
                  <a:srgbClr val="FF00FF"/>
                </a:solidFill>
                <a:latin typeface="仿宋" pitchFamily="49" charset="-122"/>
                <a:ea typeface="仿宋" pitchFamily="49" charset="-122"/>
                <a:cs typeface="Consolas" pitchFamily="49" charset="0"/>
              </a:rPr>
              <a:t>二叉排序树创建完毕</a:t>
            </a:r>
          </a:p>
        </p:txBody>
      </p:sp>
      <p:sp>
        <p:nvSpPr>
          <p:cNvPr id="20" name="椭圆 19">
            <a:extLst>
              <a:ext uri="{FF2B5EF4-FFF2-40B4-BE49-F238E27FC236}">
                <a16:creationId xmlns:a16="http://schemas.microsoft.com/office/drawing/2014/main" id="{D47A4E2E-0D17-CD4D-E65F-C9FC253444E1}"/>
              </a:ext>
            </a:extLst>
          </p:cNvPr>
          <p:cNvSpPr/>
          <p:nvPr/>
        </p:nvSpPr>
        <p:spPr>
          <a:xfrm>
            <a:off x="3245620" y="1000108"/>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25</a:t>
            </a:r>
            <a:endParaRPr lang="zh-CN" altLang="en-US" sz="1800" dirty="0">
              <a:solidFill>
                <a:srgbClr val="3333FF"/>
              </a:solidFill>
              <a:latin typeface="Consolas" pitchFamily="49" charset="0"/>
              <a:cs typeface="Consolas" pitchFamily="49" charset="0"/>
            </a:endParaRPr>
          </a:p>
        </p:txBody>
      </p:sp>
      <p:grpSp>
        <p:nvGrpSpPr>
          <p:cNvPr id="21" name="组合 105">
            <a:extLst>
              <a:ext uri="{FF2B5EF4-FFF2-40B4-BE49-F238E27FC236}">
                <a16:creationId xmlns:a16="http://schemas.microsoft.com/office/drawing/2014/main" id="{BB6AABF6-1B0B-E693-C57B-E35E7F3CC451}"/>
              </a:ext>
            </a:extLst>
          </p:cNvPr>
          <p:cNvGrpSpPr/>
          <p:nvPr/>
        </p:nvGrpSpPr>
        <p:grpSpPr>
          <a:xfrm>
            <a:off x="1571604" y="1288107"/>
            <a:ext cx="1674017" cy="997885"/>
            <a:chOff x="1571604" y="1288107"/>
            <a:chExt cx="1674017" cy="997885"/>
          </a:xfrm>
        </p:grpSpPr>
        <p:sp>
          <p:nvSpPr>
            <p:cNvPr id="22" name="椭圆 21">
              <a:extLst>
                <a:ext uri="{FF2B5EF4-FFF2-40B4-BE49-F238E27FC236}">
                  <a16:creationId xmlns:a16="http://schemas.microsoft.com/office/drawing/2014/main" id="{D2FB72C9-05ED-7DA3-CE79-86A72A45A493}"/>
                </a:ext>
              </a:extLst>
            </p:cNvPr>
            <p:cNvSpPr/>
            <p:nvPr/>
          </p:nvSpPr>
          <p:spPr>
            <a:xfrm>
              <a:off x="1571604"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18</a:t>
              </a:r>
              <a:endParaRPr lang="zh-CN" altLang="en-US" sz="1800" dirty="0">
                <a:solidFill>
                  <a:srgbClr val="3333FF"/>
                </a:solidFill>
                <a:latin typeface="Consolas" pitchFamily="49" charset="0"/>
                <a:cs typeface="Consolas" pitchFamily="49" charset="0"/>
              </a:endParaRPr>
            </a:p>
          </p:txBody>
        </p:sp>
        <p:cxnSp>
          <p:nvCxnSpPr>
            <p:cNvPr id="23" name="直接连接符 22">
              <a:extLst>
                <a:ext uri="{FF2B5EF4-FFF2-40B4-BE49-F238E27FC236}">
                  <a16:creationId xmlns:a16="http://schemas.microsoft.com/office/drawing/2014/main" id="{D35CEFC2-2103-31E6-EDA6-91389B7BA235}"/>
                </a:ext>
              </a:extLst>
            </p:cNvPr>
            <p:cNvCxnSpPr>
              <a:stCxn id="20" idx="2"/>
              <a:endCxn id="22" idx="7"/>
            </p:cNvCxnSpPr>
            <p:nvPr/>
          </p:nvCxnSpPr>
          <p:spPr>
            <a:xfrm rot="10800000" flipV="1">
              <a:off x="2093980" y="1288107"/>
              <a:ext cx="1151641"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4" name="组合 110">
            <a:extLst>
              <a:ext uri="{FF2B5EF4-FFF2-40B4-BE49-F238E27FC236}">
                <a16:creationId xmlns:a16="http://schemas.microsoft.com/office/drawing/2014/main" id="{87EBF9EE-8CD9-8ED5-ED6A-75CEAA8692FF}"/>
              </a:ext>
            </a:extLst>
          </p:cNvPr>
          <p:cNvGrpSpPr/>
          <p:nvPr/>
        </p:nvGrpSpPr>
        <p:grpSpPr>
          <a:xfrm>
            <a:off x="857224" y="2201639"/>
            <a:ext cx="804005" cy="870171"/>
            <a:chOff x="857224" y="2201639"/>
            <a:chExt cx="804005" cy="870171"/>
          </a:xfrm>
        </p:grpSpPr>
        <p:sp>
          <p:nvSpPr>
            <p:cNvPr id="25" name="椭圆 24">
              <a:extLst>
                <a:ext uri="{FF2B5EF4-FFF2-40B4-BE49-F238E27FC236}">
                  <a16:creationId xmlns:a16="http://schemas.microsoft.com/office/drawing/2014/main" id="{4DDEE4EF-C851-BD8D-F3B1-CD4446AFC491}"/>
                </a:ext>
              </a:extLst>
            </p:cNvPr>
            <p:cNvSpPr/>
            <p:nvPr/>
          </p:nvSpPr>
          <p:spPr>
            <a:xfrm>
              <a:off x="85722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a:t>
              </a:r>
              <a:endParaRPr lang="zh-CN" altLang="en-US" sz="1800" dirty="0">
                <a:solidFill>
                  <a:srgbClr val="3333FF"/>
                </a:solidFill>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6DF94CF8-C32A-9215-0C99-98B6929EC268}"/>
                </a:ext>
              </a:extLst>
            </p:cNvPr>
            <p:cNvCxnSpPr>
              <a:stCxn id="22" idx="3"/>
              <a:endCxn id="25" idx="7"/>
            </p:cNvCxnSpPr>
            <p:nvPr/>
          </p:nvCxnSpPr>
          <p:spPr>
            <a:xfrm rot="5400000">
              <a:off x="1331152" y="2250086"/>
              <a:ext cx="378524" cy="28163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7" name="组合 111">
            <a:extLst>
              <a:ext uri="{FF2B5EF4-FFF2-40B4-BE49-F238E27FC236}">
                <a16:creationId xmlns:a16="http://schemas.microsoft.com/office/drawing/2014/main" id="{8F511F7A-637C-5407-F6D2-C3C4032C64CE}"/>
              </a:ext>
            </a:extLst>
          </p:cNvPr>
          <p:cNvGrpSpPr/>
          <p:nvPr/>
        </p:nvGrpSpPr>
        <p:grpSpPr>
          <a:xfrm>
            <a:off x="1379598" y="2987457"/>
            <a:ext cx="620634" cy="803229"/>
            <a:chOff x="1379598" y="2987457"/>
            <a:chExt cx="620634" cy="803229"/>
          </a:xfrm>
        </p:grpSpPr>
        <p:sp>
          <p:nvSpPr>
            <p:cNvPr id="28" name="椭圆 27">
              <a:extLst>
                <a:ext uri="{FF2B5EF4-FFF2-40B4-BE49-F238E27FC236}">
                  <a16:creationId xmlns:a16="http://schemas.microsoft.com/office/drawing/2014/main" id="{5090ADF3-0D1A-82EA-FCC6-3034C902AC35}"/>
                </a:ext>
              </a:extLst>
            </p:cNvPr>
            <p:cNvSpPr/>
            <p:nvPr/>
          </p:nvSpPr>
          <p:spPr>
            <a:xfrm>
              <a:off x="138823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a:t>
              </a:r>
              <a:endParaRPr lang="zh-CN" altLang="en-US" sz="1800" dirty="0">
                <a:solidFill>
                  <a:srgbClr val="3333FF"/>
                </a:solidFill>
                <a:latin typeface="Consolas" pitchFamily="49" charset="0"/>
                <a:cs typeface="Consolas" pitchFamily="49" charset="0"/>
              </a:endParaRPr>
            </a:p>
          </p:txBody>
        </p:sp>
        <p:cxnSp>
          <p:nvCxnSpPr>
            <p:cNvPr id="29" name="直接连接符 28">
              <a:extLst>
                <a:ext uri="{FF2B5EF4-FFF2-40B4-BE49-F238E27FC236}">
                  <a16:creationId xmlns:a16="http://schemas.microsoft.com/office/drawing/2014/main" id="{0451C9DB-5CC9-E67E-CFEA-2D074282ECE7}"/>
                </a:ext>
              </a:extLst>
            </p:cNvPr>
            <p:cNvCxnSpPr>
              <a:stCxn id="25" idx="5"/>
            </p:cNvCxnSpPr>
            <p:nvPr/>
          </p:nvCxnSpPr>
          <p:spPr>
            <a:xfrm rot="16200000" flipH="1">
              <a:off x="1332618" y="3034437"/>
              <a:ext cx="260566" cy="166605"/>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0" name="组合 112">
            <a:extLst>
              <a:ext uri="{FF2B5EF4-FFF2-40B4-BE49-F238E27FC236}">
                <a16:creationId xmlns:a16="http://schemas.microsoft.com/office/drawing/2014/main" id="{317BA7EF-A65C-B17A-A694-117360BBB54C}"/>
              </a:ext>
            </a:extLst>
          </p:cNvPr>
          <p:cNvGrpSpPr/>
          <p:nvPr/>
        </p:nvGrpSpPr>
        <p:grpSpPr>
          <a:xfrm>
            <a:off x="1910607" y="3706333"/>
            <a:ext cx="701625" cy="937113"/>
            <a:chOff x="1910607" y="3706333"/>
            <a:chExt cx="701625" cy="937113"/>
          </a:xfrm>
        </p:grpSpPr>
        <p:sp>
          <p:nvSpPr>
            <p:cNvPr id="31" name="椭圆 30">
              <a:extLst>
                <a:ext uri="{FF2B5EF4-FFF2-40B4-BE49-F238E27FC236}">
                  <a16:creationId xmlns:a16="http://schemas.microsoft.com/office/drawing/2014/main" id="{A29C3B95-0029-DA72-B041-45F7141E2C6A}"/>
                </a:ext>
              </a:extLst>
            </p:cNvPr>
            <p:cNvSpPr/>
            <p:nvPr/>
          </p:nvSpPr>
          <p:spPr>
            <a:xfrm>
              <a:off x="2000232"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11</a:t>
              </a:r>
              <a:endParaRPr lang="zh-CN" altLang="en-US" sz="1800" dirty="0">
                <a:solidFill>
                  <a:srgbClr val="3333FF"/>
                </a:solidFill>
                <a:latin typeface="Consolas" pitchFamily="49" charset="0"/>
                <a:cs typeface="Consolas" pitchFamily="49" charset="0"/>
              </a:endParaRPr>
            </a:p>
          </p:txBody>
        </p:sp>
        <p:cxnSp>
          <p:nvCxnSpPr>
            <p:cNvPr id="32" name="直接连接符 31">
              <a:extLst>
                <a:ext uri="{FF2B5EF4-FFF2-40B4-BE49-F238E27FC236}">
                  <a16:creationId xmlns:a16="http://schemas.microsoft.com/office/drawing/2014/main" id="{680B9767-46A7-1665-5B0F-C37CBE7CF0D0}"/>
                </a:ext>
              </a:extLst>
            </p:cNvPr>
            <p:cNvCxnSpPr>
              <a:stCxn id="28" idx="5"/>
            </p:cNvCxnSpPr>
            <p:nvPr/>
          </p:nvCxnSpPr>
          <p:spPr>
            <a:xfrm rot="16200000" flipH="1">
              <a:off x="1821949" y="3794991"/>
              <a:ext cx="420066" cy="24275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3" name="组合 106">
            <a:extLst>
              <a:ext uri="{FF2B5EF4-FFF2-40B4-BE49-F238E27FC236}">
                <a16:creationId xmlns:a16="http://schemas.microsoft.com/office/drawing/2014/main" id="{72D84F95-82A2-709A-014B-A6FEC9BF64F6}"/>
              </a:ext>
            </a:extLst>
          </p:cNvPr>
          <p:cNvGrpSpPr/>
          <p:nvPr/>
        </p:nvGrpSpPr>
        <p:grpSpPr>
          <a:xfrm>
            <a:off x="3857620" y="1288108"/>
            <a:ext cx="1689112" cy="997884"/>
            <a:chOff x="3857620" y="1288108"/>
            <a:chExt cx="1689112" cy="997884"/>
          </a:xfrm>
        </p:grpSpPr>
        <p:sp>
          <p:nvSpPr>
            <p:cNvPr id="34" name="椭圆 33">
              <a:extLst>
                <a:ext uri="{FF2B5EF4-FFF2-40B4-BE49-F238E27FC236}">
                  <a16:creationId xmlns:a16="http://schemas.microsoft.com/office/drawing/2014/main" id="{8C6215C6-7FF2-F1E2-201C-1B9235E991FB}"/>
                </a:ext>
              </a:extLst>
            </p:cNvPr>
            <p:cNvSpPr/>
            <p:nvPr/>
          </p:nvSpPr>
          <p:spPr>
            <a:xfrm>
              <a:off x="4934732"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46</a:t>
              </a:r>
              <a:endParaRPr lang="zh-CN" altLang="en-US" sz="1800" dirty="0">
                <a:solidFill>
                  <a:srgbClr val="3333FF"/>
                </a:solidFill>
                <a:latin typeface="Consolas" pitchFamily="49" charset="0"/>
                <a:cs typeface="Consolas" pitchFamily="49" charset="0"/>
              </a:endParaRPr>
            </a:p>
          </p:txBody>
        </p:sp>
        <p:cxnSp>
          <p:nvCxnSpPr>
            <p:cNvPr id="35" name="直接连接符 34">
              <a:extLst>
                <a:ext uri="{FF2B5EF4-FFF2-40B4-BE49-F238E27FC236}">
                  <a16:creationId xmlns:a16="http://schemas.microsoft.com/office/drawing/2014/main" id="{4D018538-DF51-06AB-0E87-C68B8667F9ED}"/>
                </a:ext>
              </a:extLst>
            </p:cNvPr>
            <p:cNvCxnSpPr>
              <a:stCxn id="20" idx="6"/>
              <a:endCxn id="34" idx="1"/>
            </p:cNvCxnSpPr>
            <p:nvPr/>
          </p:nvCxnSpPr>
          <p:spPr>
            <a:xfrm>
              <a:off x="3857620" y="1288108"/>
              <a:ext cx="1166737"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6" name="组合 113">
            <a:extLst>
              <a:ext uri="{FF2B5EF4-FFF2-40B4-BE49-F238E27FC236}">
                <a16:creationId xmlns:a16="http://schemas.microsoft.com/office/drawing/2014/main" id="{1EF46B12-0A87-B8E0-48EA-A4023B8BC775}"/>
              </a:ext>
            </a:extLst>
          </p:cNvPr>
          <p:cNvGrpSpPr/>
          <p:nvPr/>
        </p:nvGrpSpPr>
        <p:grpSpPr>
          <a:xfrm>
            <a:off x="4148914" y="2201639"/>
            <a:ext cx="875443" cy="870171"/>
            <a:chOff x="4148914" y="2201639"/>
            <a:chExt cx="875443" cy="870171"/>
          </a:xfrm>
        </p:grpSpPr>
        <p:sp>
          <p:nvSpPr>
            <p:cNvPr id="37" name="椭圆 36">
              <a:extLst>
                <a:ext uri="{FF2B5EF4-FFF2-40B4-BE49-F238E27FC236}">
                  <a16:creationId xmlns:a16="http://schemas.microsoft.com/office/drawing/2014/main" id="{7685D1A7-B6D4-42C4-1C7F-C5A788B7581C}"/>
                </a:ext>
              </a:extLst>
            </p:cNvPr>
            <p:cNvSpPr/>
            <p:nvPr/>
          </p:nvSpPr>
          <p:spPr>
            <a:xfrm>
              <a:off x="414891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39</a:t>
              </a:r>
              <a:endParaRPr lang="zh-CN" altLang="en-US" sz="1800" dirty="0">
                <a:solidFill>
                  <a:srgbClr val="3333FF"/>
                </a:solidFill>
                <a:latin typeface="Consolas" pitchFamily="49" charset="0"/>
                <a:cs typeface="Consolas" pitchFamily="49" charset="0"/>
              </a:endParaRPr>
            </a:p>
          </p:txBody>
        </p:sp>
        <p:cxnSp>
          <p:nvCxnSpPr>
            <p:cNvPr id="38" name="直接连接符 37">
              <a:extLst>
                <a:ext uri="{FF2B5EF4-FFF2-40B4-BE49-F238E27FC236}">
                  <a16:creationId xmlns:a16="http://schemas.microsoft.com/office/drawing/2014/main" id="{1F397F59-E1A5-B14E-2D4D-D0AAD5901A95}"/>
                </a:ext>
              </a:extLst>
            </p:cNvPr>
            <p:cNvCxnSpPr>
              <a:stCxn id="34" idx="3"/>
              <a:endCxn id="37" idx="7"/>
            </p:cNvCxnSpPr>
            <p:nvPr/>
          </p:nvCxnSpPr>
          <p:spPr>
            <a:xfrm rot="5400000">
              <a:off x="4658561" y="2214367"/>
              <a:ext cx="378524" cy="35306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9" name="组合 115">
            <a:extLst>
              <a:ext uri="{FF2B5EF4-FFF2-40B4-BE49-F238E27FC236}">
                <a16:creationId xmlns:a16="http://schemas.microsoft.com/office/drawing/2014/main" id="{96C75DC6-C621-5304-5EBA-2A5F674C07B2}"/>
              </a:ext>
            </a:extLst>
          </p:cNvPr>
          <p:cNvGrpSpPr/>
          <p:nvPr/>
        </p:nvGrpSpPr>
        <p:grpSpPr>
          <a:xfrm>
            <a:off x="3434534" y="2987457"/>
            <a:ext cx="804005" cy="803229"/>
            <a:chOff x="3434534" y="2987457"/>
            <a:chExt cx="804005" cy="803229"/>
          </a:xfrm>
        </p:grpSpPr>
        <p:sp>
          <p:nvSpPr>
            <p:cNvPr id="40" name="椭圆 39">
              <a:extLst>
                <a:ext uri="{FF2B5EF4-FFF2-40B4-BE49-F238E27FC236}">
                  <a16:creationId xmlns:a16="http://schemas.microsoft.com/office/drawing/2014/main" id="{19A512B8-1264-633F-E326-3435BDC4AD37}"/>
                </a:ext>
              </a:extLst>
            </p:cNvPr>
            <p:cNvSpPr/>
            <p:nvPr/>
          </p:nvSpPr>
          <p:spPr>
            <a:xfrm>
              <a:off x="3434534"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32</a:t>
              </a:r>
              <a:endParaRPr lang="zh-CN" altLang="en-US" sz="1800" dirty="0">
                <a:solidFill>
                  <a:srgbClr val="3333FF"/>
                </a:solidFill>
                <a:latin typeface="Consolas" pitchFamily="49" charset="0"/>
                <a:cs typeface="Consolas" pitchFamily="49" charset="0"/>
              </a:endParaRPr>
            </a:p>
          </p:txBody>
        </p:sp>
        <p:cxnSp>
          <p:nvCxnSpPr>
            <p:cNvPr id="41" name="直接连接符 40">
              <a:extLst>
                <a:ext uri="{FF2B5EF4-FFF2-40B4-BE49-F238E27FC236}">
                  <a16:creationId xmlns:a16="http://schemas.microsoft.com/office/drawing/2014/main" id="{30DD90F8-F0D7-FF8B-4BCB-C32FF9814230}"/>
                </a:ext>
              </a:extLst>
            </p:cNvPr>
            <p:cNvCxnSpPr>
              <a:stCxn id="37" idx="3"/>
              <a:endCxn id="40" idx="7"/>
            </p:cNvCxnSpPr>
            <p:nvPr/>
          </p:nvCxnSpPr>
          <p:spPr>
            <a:xfrm rot="5400000">
              <a:off x="3941933" y="3002433"/>
              <a:ext cx="311582" cy="28163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2" name="组合 114">
            <a:extLst>
              <a:ext uri="{FF2B5EF4-FFF2-40B4-BE49-F238E27FC236}">
                <a16:creationId xmlns:a16="http://schemas.microsoft.com/office/drawing/2014/main" id="{EE1AEE77-1494-139E-902E-B7D68FAFF3E0}"/>
              </a:ext>
            </a:extLst>
          </p:cNvPr>
          <p:cNvGrpSpPr/>
          <p:nvPr/>
        </p:nvGrpSpPr>
        <p:grpSpPr>
          <a:xfrm>
            <a:off x="5457107" y="2201639"/>
            <a:ext cx="946881" cy="870171"/>
            <a:chOff x="5457107" y="2201639"/>
            <a:chExt cx="946881" cy="870171"/>
          </a:xfrm>
        </p:grpSpPr>
        <p:sp>
          <p:nvSpPr>
            <p:cNvPr id="43" name="椭圆 42">
              <a:extLst>
                <a:ext uri="{FF2B5EF4-FFF2-40B4-BE49-F238E27FC236}">
                  <a16:creationId xmlns:a16="http://schemas.microsoft.com/office/drawing/2014/main" id="{6F06D33F-A8B5-876E-40B0-11ADEA60A740}"/>
                </a:ext>
              </a:extLst>
            </p:cNvPr>
            <p:cNvSpPr/>
            <p:nvPr/>
          </p:nvSpPr>
          <p:spPr>
            <a:xfrm>
              <a:off x="5791988"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53</a:t>
              </a:r>
              <a:endParaRPr lang="zh-CN" altLang="en-US" sz="1800" dirty="0">
                <a:solidFill>
                  <a:srgbClr val="3333FF"/>
                </a:solidFill>
                <a:latin typeface="Consolas" pitchFamily="49" charset="0"/>
                <a:cs typeface="Consolas" pitchFamily="49" charset="0"/>
              </a:endParaRPr>
            </a:p>
          </p:txBody>
        </p:sp>
        <p:cxnSp>
          <p:nvCxnSpPr>
            <p:cNvPr id="44" name="直接连接符 43">
              <a:extLst>
                <a:ext uri="{FF2B5EF4-FFF2-40B4-BE49-F238E27FC236}">
                  <a16:creationId xmlns:a16="http://schemas.microsoft.com/office/drawing/2014/main" id="{B3085BCE-DD01-A641-C3A8-666BC7C38B01}"/>
                </a:ext>
              </a:extLst>
            </p:cNvPr>
            <p:cNvCxnSpPr>
              <a:stCxn id="34" idx="5"/>
              <a:endCxn id="43" idx="1"/>
            </p:cNvCxnSpPr>
            <p:nvPr/>
          </p:nvCxnSpPr>
          <p:spPr>
            <a:xfrm rot="16200000" flipH="1">
              <a:off x="5480098" y="2178648"/>
              <a:ext cx="378524" cy="424506"/>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5" name="组合 116">
            <a:extLst>
              <a:ext uri="{FF2B5EF4-FFF2-40B4-BE49-F238E27FC236}">
                <a16:creationId xmlns:a16="http://schemas.microsoft.com/office/drawing/2014/main" id="{999FE138-6FF6-6BD4-6EF7-1862A12AF742}"/>
              </a:ext>
            </a:extLst>
          </p:cNvPr>
          <p:cNvGrpSpPr/>
          <p:nvPr/>
        </p:nvGrpSpPr>
        <p:grpSpPr>
          <a:xfrm>
            <a:off x="6314363" y="2987457"/>
            <a:ext cx="788129" cy="803229"/>
            <a:chOff x="6314363" y="2987457"/>
            <a:chExt cx="788129" cy="803229"/>
          </a:xfrm>
        </p:grpSpPr>
        <p:sp>
          <p:nvSpPr>
            <p:cNvPr id="46" name="椭圆 45">
              <a:extLst>
                <a:ext uri="{FF2B5EF4-FFF2-40B4-BE49-F238E27FC236}">
                  <a16:creationId xmlns:a16="http://schemas.microsoft.com/office/drawing/2014/main" id="{48752AE8-D51B-08D5-1C23-22BB46A19517}"/>
                </a:ext>
              </a:extLst>
            </p:cNvPr>
            <p:cNvSpPr/>
            <p:nvPr/>
          </p:nvSpPr>
          <p:spPr>
            <a:xfrm>
              <a:off x="649049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74</a:t>
              </a:r>
              <a:endParaRPr lang="zh-CN" altLang="en-US" sz="1800" dirty="0">
                <a:solidFill>
                  <a:srgbClr val="3333FF"/>
                </a:solidFill>
                <a:latin typeface="Consolas" pitchFamily="49" charset="0"/>
                <a:cs typeface="Consolas" pitchFamily="49" charset="0"/>
              </a:endParaRPr>
            </a:p>
          </p:txBody>
        </p:sp>
        <p:cxnSp>
          <p:nvCxnSpPr>
            <p:cNvPr id="47" name="直接连接符 46">
              <a:extLst>
                <a:ext uri="{FF2B5EF4-FFF2-40B4-BE49-F238E27FC236}">
                  <a16:creationId xmlns:a16="http://schemas.microsoft.com/office/drawing/2014/main" id="{8E88F04D-10E8-828E-0E44-09C263653862}"/>
                </a:ext>
              </a:extLst>
            </p:cNvPr>
            <p:cNvCxnSpPr>
              <a:stCxn id="43" idx="5"/>
              <a:endCxn id="46" idx="1"/>
            </p:cNvCxnSpPr>
            <p:nvPr/>
          </p:nvCxnSpPr>
          <p:spPr>
            <a:xfrm rot="16200000" flipH="1">
              <a:off x="6291449" y="3010371"/>
              <a:ext cx="311582" cy="265754"/>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8" name="组合 117">
            <a:extLst>
              <a:ext uri="{FF2B5EF4-FFF2-40B4-BE49-F238E27FC236}">
                <a16:creationId xmlns:a16="http://schemas.microsoft.com/office/drawing/2014/main" id="{9C5BAA8F-9D71-061E-1323-F4D7D6BCF296}"/>
              </a:ext>
            </a:extLst>
          </p:cNvPr>
          <p:cNvGrpSpPr/>
          <p:nvPr/>
        </p:nvGrpSpPr>
        <p:grpSpPr>
          <a:xfrm>
            <a:off x="5754724" y="3706333"/>
            <a:ext cx="825393" cy="937113"/>
            <a:chOff x="5754724" y="3706333"/>
            <a:chExt cx="825393" cy="937113"/>
          </a:xfrm>
        </p:grpSpPr>
        <p:sp>
          <p:nvSpPr>
            <p:cNvPr id="49" name="椭圆 48">
              <a:extLst>
                <a:ext uri="{FF2B5EF4-FFF2-40B4-BE49-F238E27FC236}">
                  <a16:creationId xmlns:a16="http://schemas.microsoft.com/office/drawing/2014/main" id="{A6FCBEF9-D770-BDFD-6AC6-DFC235D2E116}"/>
                </a:ext>
              </a:extLst>
            </p:cNvPr>
            <p:cNvSpPr/>
            <p:nvPr/>
          </p:nvSpPr>
          <p:spPr>
            <a:xfrm>
              <a:off x="5754724"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67</a:t>
              </a:r>
              <a:endParaRPr lang="zh-CN" altLang="en-US" sz="1800" dirty="0">
                <a:solidFill>
                  <a:srgbClr val="3333FF"/>
                </a:solidFill>
                <a:latin typeface="Consolas" pitchFamily="49" charset="0"/>
                <a:cs typeface="Consolas" pitchFamily="49" charset="0"/>
              </a:endParaRPr>
            </a:p>
          </p:txBody>
        </p:sp>
        <p:cxnSp>
          <p:nvCxnSpPr>
            <p:cNvPr id="50" name="直接连接符 49">
              <a:extLst>
                <a:ext uri="{FF2B5EF4-FFF2-40B4-BE49-F238E27FC236}">
                  <a16:creationId xmlns:a16="http://schemas.microsoft.com/office/drawing/2014/main" id="{3462D8E3-9579-0431-99DC-B4F8A7A4C4F3}"/>
                </a:ext>
              </a:extLst>
            </p:cNvPr>
            <p:cNvCxnSpPr>
              <a:stCxn id="46" idx="3"/>
            </p:cNvCxnSpPr>
            <p:nvPr/>
          </p:nvCxnSpPr>
          <p:spPr>
            <a:xfrm rot="5400000">
              <a:off x="6199525" y="3720407"/>
              <a:ext cx="394666" cy="36651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51" name="组合 118">
            <a:extLst>
              <a:ext uri="{FF2B5EF4-FFF2-40B4-BE49-F238E27FC236}">
                <a16:creationId xmlns:a16="http://schemas.microsoft.com/office/drawing/2014/main" id="{E679ACB2-54C7-7EE8-FBB4-7C85658286CD}"/>
              </a:ext>
            </a:extLst>
          </p:cNvPr>
          <p:cNvGrpSpPr/>
          <p:nvPr/>
        </p:nvGrpSpPr>
        <p:grpSpPr>
          <a:xfrm>
            <a:off x="5173666" y="4571793"/>
            <a:ext cx="657984" cy="857471"/>
            <a:chOff x="5173666" y="4571793"/>
            <a:chExt cx="657984" cy="857471"/>
          </a:xfrm>
        </p:grpSpPr>
        <p:sp>
          <p:nvSpPr>
            <p:cNvPr id="52" name="椭圆 51">
              <a:extLst>
                <a:ext uri="{FF2B5EF4-FFF2-40B4-BE49-F238E27FC236}">
                  <a16:creationId xmlns:a16="http://schemas.microsoft.com/office/drawing/2014/main" id="{E60B28BB-BD49-0215-E113-BFC95AF5528A}"/>
                </a:ext>
              </a:extLst>
            </p:cNvPr>
            <p:cNvSpPr/>
            <p:nvPr/>
          </p:nvSpPr>
          <p:spPr>
            <a:xfrm>
              <a:off x="5173666" y="4853264"/>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60</a:t>
              </a:r>
              <a:endParaRPr lang="zh-CN" altLang="en-US" sz="1800" dirty="0">
                <a:solidFill>
                  <a:srgbClr val="3333FF"/>
                </a:solidFill>
                <a:latin typeface="Consolas" pitchFamily="49" charset="0"/>
                <a:cs typeface="Consolas" pitchFamily="49" charset="0"/>
              </a:endParaRPr>
            </a:p>
          </p:txBody>
        </p:sp>
        <p:cxnSp>
          <p:nvCxnSpPr>
            <p:cNvPr id="53" name="直接连接符 52">
              <a:extLst>
                <a:ext uri="{FF2B5EF4-FFF2-40B4-BE49-F238E27FC236}">
                  <a16:creationId xmlns:a16="http://schemas.microsoft.com/office/drawing/2014/main" id="{B1E6298C-A13F-90E8-5738-6585948A2992}"/>
                </a:ext>
              </a:extLst>
            </p:cNvPr>
            <p:cNvCxnSpPr/>
            <p:nvPr/>
          </p:nvCxnSpPr>
          <p:spPr>
            <a:xfrm rot="5400000">
              <a:off x="5569227" y="4608037"/>
              <a:ext cx="298667" cy="226179"/>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11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4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4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nodeType="after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nodeType="afterEffect">
                                  <p:stCondLst>
                                    <p:cond delay="0"/>
                                  </p:stCondLst>
                                  <p:childTnLst>
                                    <p:set>
                                      <p:cBhvr>
                                        <p:cTn id="79" dur="1" fill="hold">
                                          <p:stCondLst>
                                            <p:cond delay="0"/>
                                          </p:stCondLst>
                                        </p:cTn>
                                        <p:tgtEl>
                                          <p:spTgt spid="5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8"/>
                                        </p:tgtEl>
                                        <p:attrNameLst>
                                          <p:attrName>style.visibility</p:attrName>
                                        </p:attrNameLst>
                                      </p:cBhvr>
                                      <p:to>
                                        <p:strVal val="visible"/>
                                      </p:to>
                                    </p:set>
                                  </p:childTnLst>
                                </p:cTn>
                              </p:par>
                            </p:childTnLst>
                          </p:cTn>
                        </p:par>
                        <p:par>
                          <p:cTn id="84" fill="hold">
                            <p:stCondLst>
                              <p:cond delay="0"/>
                            </p:stCondLst>
                            <p:childTnLst>
                              <p:par>
                                <p:cTn id="85" presetID="1" presetClass="entr" presetSubtype="0"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4" grpId="0"/>
      <p:bldP spid="15" grpId="0"/>
      <p:bldP spid="16" grpId="0"/>
      <p:bldP spid="17" grpId="0"/>
      <p:bldP spid="18" grpId="0"/>
      <p:bldP spid="19" grpId="0"/>
      <p:bldP spid="2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3929B-78ED-630A-B6DD-869F599E7258}"/>
            </a:ext>
          </a:extLst>
        </p:cNvPr>
        <p:cNvGrpSpPr/>
        <p:nvPr/>
      </p:nvGrpSpPr>
      <p:grpSpPr>
        <a:xfrm>
          <a:off x="0" y="0"/>
          <a:ext cx="0" cy="0"/>
          <a:chOff x="0" y="0"/>
          <a:chExt cx="0" cy="0"/>
        </a:xfrm>
      </p:grpSpPr>
      <p:grpSp>
        <p:nvGrpSpPr>
          <p:cNvPr id="5" name="组合 49">
            <a:extLst>
              <a:ext uri="{FF2B5EF4-FFF2-40B4-BE49-F238E27FC236}">
                <a16:creationId xmlns:a16="http://schemas.microsoft.com/office/drawing/2014/main" id="{4CD423E9-58D7-50F7-D0AE-31A2C57789ED}"/>
              </a:ext>
            </a:extLst>
          </p:cNvPr>
          <p:cNvGrpSpPr/>
          <p:nvPr/>
        </p:nvGrpSpPr>
        <p:grpSpPr>
          <a:xfrm>
            <a:off x="214282" y="500042"/>
            <a:ext cx="6245268" cy="4429156"/>
            <a:chOff x="857224" y="1000108"/>
            <a:chExt cx="6245268" cy="4429156"/>
          </a:xfrm>
        </p:grpSpPr>
        <p:sp>
          <p:nvSpPr>
            <p:cNvPr id="6" name="椭圆 5">
              <a:extLst>
                <a:ext uri="{FF2B5EF4-FFF2-40B4-BE49-F238E27FC236}">
                  <a16:creationId xmlns:a16="http://schemas.microsoft.com/office/drawing/2014/main" id="{FD2A43B6-E6B6-9355-36AB-8351A0C24E74}"/>
                </a:ext>
              </a:extLst>
            </p:cNvPr>
            <p:cNvSpPr/>
            <p:nvPr/>
          </p:nvSpPr>
          <p:spPr>
            <a:xfrm>
              <a:off x="3245620" y="1000108"/>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25</a:t>
              </a:r>
              <a:endParaRPr lang="zh-CN" altLang="en-US" sz="1800" dirty="0">
                <a:solidFill>
                  <a:srgbClr val="3333FF"/>
                </a:solidFill>
                <a:latin typeface="Consolas" pitchFamily="49" charset="0"/>
                <a:cs typeface="Consolas" pitchFamily="49" charset="0"/>
              </a:endParaRPr>
            </a:p>
          </p:txBody>
        </p:sp>
        <p:grpSp>
          <p:nvGrpSpPr>
            <p:cNvPr id="8" name="组合 105">
              <a:extLst>
                <a:ext uri="{FF2B5EF4-FFF2-40B4-BE49-F238E27FC236}">
                  <a16:creationId xmlns:a16="http://schemas.microsoft.com/office/drawing/2014/main" id="{2CDAD2F7-BBB1-90CC-221F-C246745F04BF}"/>
                </a:ext>
              </a:extLst>
            </p:cNvPr>
            <p:cNvGrpSpPr/>
            <p:nvPr/>
          </p:nvGrpSpPr>
          <p:grpSpPr>
            <a:xfrm>
              <a:off x="1571604" y="1288107"/>
              <a:ext cx="1674017" cy="997885"/>
              <a:chOff x="1571604" y="1288107"/>
              <a:chExt cx="1674017" cy="997885"/>
            </a:xfrm>
          </p:grpSpPr>
          <p:sp>
            <p:nvSpPr>
              <p:cNvPr id="39" name="椭圆 38">
                <a:extLst>
                  <a:ext uri="{FF2B5EF4-FFF2-40B4-BE49-F238E27FC236}">
                    <a16:creationId xmlns:a16="http://schemas.microsoft.com/office/drawing/2014/main" id="{63CF2543-2FED-8EAA-CF97-62D1050B9A5D}"/>
                  </a:ext>
                </a:extLst>
              </p:cNvPr>
              <p:cNvSpPr/>
              <p:nvPr/>
            </p:nvSpPr>
            <p:spPr>
              <a:xfrm>
                <a:off x="1571604"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18</a:t>
                </a:r>
                <a:endParaRPr lang="zh-CN" altLang="en-US" sz="1800" dirty="0">
                  <a:solidFill>
                    <a:srgbClr val="3333FF"/>
                  </a:solidFill>
                  <a:latin typeface="Consolas" pitchFamily="49" charset="0"/>
                  <a:cs typeface="Consolas" pitchFamily="49" charset="0"/>
                </a:endParaRPr>
              </a:p>
            </p:txBody>
          </p:sp>
          <p:cxnSp>
            <p:nvCxnSpPr>
              <p:cNvPr id="40" name="直接连接符 39">
                <a:extLst>
                  <a:ext uri="{FF2B5EF4-FFF2-40B4-BE49-F238E27FC236}">
                    <a16:creationId xmlns:a16="http://schemas.microsoft.com/office/drawing/2014/main" id="{7DDDF784-8FB9-03E6-FFF8-DE77B3199238}"/>
                  </a:ext>
                </a:extLst>
              </p:cNvPr>
              <p:cNvCxnSpPr>
                <a:stCxn id="6" idx="2"/>
                <a:endCxn id="39" idx="7"/>
              </p:cNvCxnSpPr>
              <p:nvPr/>
            </p:nvCxnSpPr>
            <p:spPr>
              <a:xfrm rot="10800000" flipV="1">
                <a:off x="2093980" y="1288107"/>
                <a:ext cx="1151641"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9" name="组合 110">
              <a:extLst>
                <a:ext uri="{FF2B5EF4-FFF2-40B4-BE49-F238E27FC236}">
                  <a16:creationId xmlns:a16="http://schemas.microsoft.com/office/drawing/2014/main" id="{80F384D1-BB1E-1194-B93C-35B7A34D56C3}"/>
                </a:ext>
              </a:extLst>
            </p:cNvPr>
            <p:cNvGrpSpPr/>
            <p:nvPr/>
          </p:nvGrpSpPr>
          <p:grpSpPr>
            <a:xfrm>
              <a:off x="857224" y="2201639"/>
              <a:ext cx="804006" cy="870171"/>
              <a:chOff x="857224" y="2201639"/>
              <a:chExt cx="804006" cy="870171"/>
            </a:xfrm>
          </p:grpSpPr>
          <p:sp>
            <p:nvSpPr>
              <p:cNvPr id="37" name="椭圆 36">
                <a:extLst>
                  <a:ext uri="{FF2B5EF4-FFF2-40B4-BE49-F238E27FC236}">
                    <a16:creationId xmlns:a16="http://schemas.microsoft.com/office/drawing/2014/main" id="{AFBF217C-ED7B-7585-2432-89C2EC94D625}"/>
                  </a:ext>
                </a:extLst>
              </p:cNvPr>
              <p:cNvSpPr/>
              <p:nvPr/>
            </p:nvSpPr>
            <p:spPr>
              <a:xfrm>
                <a:off x="85722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a:t>
                </a:r>
                <a:endParaRPr lang="zh-CN" altLang="en-US" sz="1800" dirty="0">
                  <a:solidFill>
                    <a:srgbClr val="3333FF"/>
                  </a:solidFill>
                  <a:latin typeface="Consolas" pitchFamily="49" charset="0"/>
                  <a:cs typeface="Consolas" pitchFamily="49" charset="0"/>
                </a:endParaRPr>
              </a:p>
            </p:txBody>
          </p:sp>
          <p:cxnSp>
            <p:nvCxnSpPr>
              <p:cNvPr id="38" name="直接连接符 37">
                <a:extLst>
                  <a:ext uri="{FF2B5EF4-FFF2-40B4-BE49-F238E27FC236}">
                    <a16:creationId xmlns:a16="http://schemas.microsoft.com/office/drawing/2014/main" id="{E5DABC00-DD9D-2C67-F23E-739B714869E6}"/>
                  </a:ext>
                </a:extLst>
              </p:cNvPr>
              <p:cNvCxnSpPr>
                <a:stCxn id="39" idx="3"/>
              </p:cNvCxnSpPr>
              <p:nvPr/>
            </p:nvCxnSpPr>
            <p:spPr>
              <a:xfrm rot="5400000">
                <a:off x="1305160" y="2207736"/>
                <a:ext cx="362167" cy="349973"/>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0" name="组合 111">
              <a:extLst>
                <a:ext uri="{FF2B5EF4-FFF2-40B4-BE49-F238E27FC236}">
                  <a16:creationId xmlns:a16="http://schemas.microsoft.com/office/drawing/2014/main" id="{B5314C07-B795-AABF-090D-8992582F8B50}"/>
                </a:ext>
              </a:extLst>
            </p:cNvPr>
            <p:cNvGrpSpPr/>
            <p:nvPr/>
          </p:nvGrpSpPr>
          <p:grpSpPr>
            <a:xfrm>
              <a:off x="1379598" y="2987457"/>
              <a:ext cx="620634" cy="803229"/>
              <a:chOff x="1379598" y="2987457"/>
              <a:chExt cx="620634" cy="803229"/>
            </a:xfrm>
          </p:grpSpPr>
          <p:sp>
            <p:nvSpPr>
              <p:cNvPr id="35" name="椭圆 34">
                <a:extLst>
                  <a:ext uri="{FF2B5EF4-FFF2-40B4-BE49-F238E27FC236}">
                    <a16:creationId xmlns:a16="http://schemas.microsoft.com/office/drawing/2014/main" id="{AF2E0143-514D-7690-7C91-C6A9751BEE05}"/>
                  </a:ext>
                </a:extLst>
              </p:cNvPr>
              <p:cNvSpPr/>
              <p:nvPr/>
            </p:nvSpPr>
            <p:spPr>
              <a:xfrm>
                <a:off x="138823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a:t>
                </a:r>
                <a:endParaRPr lang="zh-CN" altLang="en-US" sz="1800" dirty="0">
                  <a:solidFill>
                    <a:srgbClr val="3333FF"/>
                  </a:solidFill>
                  <a:latin typeface="Consolas" pitchFamily="49" charset="0"/>
                  <a:cs typeface="Consolas" pitchFamily="49" charset="0"/>
                </a:endParaRPr>
              </a:p>
            </p:txBody>
          </p:sp>
          <p:cxnSp>
            <p:nvCxnSpPr>
              <p:cNvPr id="36" name="直接连接符 35">
                <a:extLst>
                  <a:ext uri="{FF2B5EF4-FFF2-40B4-BE49-F238E27FC236}">
                    <a16:creationId xmlns:a16="http://schemas.microsoft.com/office/drawing/2014/main" id="{EA4677E1-8CEA-51C2-A044-ED8EF2B39D44}"/>
                  </a:ext>
                </a:extLst>
              </p:cNvPr>
              <p:cNvCxnSpPr>
                <a:stCxn id="37" idx="5"/>
              </p:cNvCxnSpPr>
              <p:nvPr/>
            </p:nvCxnSpPr>
            <p:spPr>
              <a:xfrm rot="16200000" flipH="1">
                <a:off x="1332618" y="3034437"/>
                <a:ext cx="260566" cy="166605"/>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1" name="组合 112">
              <a:extLst>
                <a:ext uri="{FF2B5EF4-FFF2-40B4-BE49-F238E27FC236}">
                  <a16:creationId xmlns:a16="http://schemas.microsoft.com/office/drawing/2014/main" id="{E71E3311-B8B5-47DB-DCB7-5A4CAD42ED7F}"/>
                </a:ext>
              </a:extLst>
            </p:cNvPr>
            <p:cNvGrpSpPr/>
            <p:nvPr/>
          </p:nvGrpSpPr>
          <p:grpSpPr>
            <a:xfrm>
              <a:off x="1910607" y="3706333"/>
              <a:ext cx="701625" cy="937113"/>
              <a:chOff x="1910607" y="3706333"/>
              <a:chExt cx="701625" cy="937113"/>
            </a:xfrm>
          </p:grpSpPr>
          <p:sp>
            <p:nvSpPr>
              <p:cNvPr id="33" name="椭圆 32">
                <a:extLst>
                  <a:ext uri="{FF2B5EF4-FFF2-40B4-BE49-F238E27FC236}">
                    <a16:creationId xmlns:a16="http://schemas.microsoft.com/office/drawing/2014/main" id="{60D3A602-0824-3BA7-9368-CBB622ECAAB8}"/>
                  </a:ext>
                </a:extLst>
              </p:cNvPr>
              <p:cNvSpPr/>
              <p:nvPr/>
            </p:nvSpPr>
            <p:spPr>
              <a:xfrm>
                <a:off x="2000232"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11</a:t>
                </a:r>
                <a:endParaRPr lang="zh-CN" altLang="en-US" sz="1800" dirty="0">
                  <a:solidFill>
                    <a:srgbClr val="3333FF"/>
                  </a:solidFill>
                  <a:latin typeface="Consolas" pitchFamily="49" charset="0"/>
                  <a:cs typeface="Consolas" pitchFamily="49" charset="0"/>
                </a:endParaRPr>
              </a:p>
            </p:txBody>
          </p:sp>
          <p:cxnSp>
            <p:nvCxnSpPr>
              <p:cNvPr id="34" name="直接连接符 33">
                <a:extLst>
                  <a:ext uri="{FF2B5EF4-FFF2-40B4-BE49-F238E27FC236}">
                    <a16:creationId xmlns:a16="http://schemas.microsoft.com/office/drawing/2014/main" id="{CD7FD2A7-3221-BC3A-E620-3C8F0FC61F3F}"/>
                  </a:ext>
                </a:extLst>
              </p:cNvPr>
              <p:cNvCxnSpPr>
                <a:stCxn id="35" idx="5"/>
              </p:cNvCxnSpPr>
              <p:nvPr/>
            </p:nvCxnSpPr>
            <p:spPr>
              <a:xfrm rot="16200000" flipH="1">
                <a:off x="1821949" y="3794991"/>
                <a:ext cx="420066" cy="24275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2" name="组合 106">
              <a:extLst>
                <a:ext uri="{FF2B5EF4-FFF2-40B4-BE49-F238E27FC236}">
                  <a16:creationId xmlns:a16="http://schemas.microsoft.com/office/drawing/2014/main" id="{DF9E1D16-3CBC-510B-08B9-73DD023C4443}"/>
                </a:ext>
              </a:extLst>
            </p:cNvPr>
            <p:cNvGrpSpPr/>
            <p:nvPr/>
          </p:nvGrpSpPr>
          <p:grpSpPr>
            <a:xfrm>
              <a:off x="3857620" y="1288108"/>
              <a:ext cx="1689112" cy="997884"/>
              <a:chOff x="3857620" y="1288108"/>
              <a:chExt cx="1689112" cy="997884"/>
            </a:xfrm>
          </p:grpSpPr>
          <p:sp>
            <p:nvSpPr>
              <p:cNvPr id="31" name="椭圆 30">
                <a:extLst>
                  <a:ext uri="{FF2B5EF4-FFF2-40B4-BE49-F238E27FC236}">
                    <a16:creationId xmlns:a16="http://schemas.microsoft.com/office/drawing/2014/main" id="{230AFC3A-686A-3650-7E42-08234FECA655}"/>
                  </a:ext>
                </a:extLst>
              </p:cNvPr>
              <p:cNvSpPr/>
              <p:nvPr/>
            </p:nvSpPr>
            <p:spPr>
              <a:xfrm>
                <a:off x="4934732"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46</a:t>
                </a:r>
                <a:endParaRPr lang="zh-CN" altLang="en-US" sz="1800" dirty="0">
                  <a:solidFill>
                    <a:srgbClr val="3333FF"/>
                  </a:solidFill>
                  <a:latin typeface="Consolas" pitchFamily="49" charset="0"/>
                  <a:cs typeface="Consolas" pitchFamily="49" charset="0"/>
                </a:endParaRPr>
              </a:p>
            </p:txBody>
          </p:sp>
          <p:cxnSp>
            <p:nvCxnSpPr>
              <p:cNvPr id="32" name="直接连接符 31">
                <a:extLst>
                  <a:ext uri="{FF2B5EF4-FFF2-40B4-BE49-F238E27FC236}">
                    <a16:creationId xmlns:a16="http://schemas.microsoft.com/office/drawing/2014/main" id="{3A6AED3B-6D21-B3EC-7007-5618861D7D14}"/>
                  </a:ext>
                </a:extLst>
              </p:cNvPr>
              <p:cNvCxnSpPr>
                <a:stCxn id="6" idx="6"/>
                <a:endCxn id="31" idx="1"/>
              </p:cNvCxnSpPr>
              <p:nvPr/>
            </p:nvCxnSpPr>
            <p:spPr>
              <a:xfrm>
                <a:off x="3857620" y="1288108"/>
                <a:ext cx="1166737"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3" name="组合 113">
              <a:extLst>
                <a:ext uri="{FF2B5EF4-FFF2-40B4-BE49-F238E27FC236}">
                  <a16:creationId xmlns:a16="http://schemas.microsoft.com/office/drawing/2014/main" id="{147DAE2C-3C04-CB28-F9CB-433EAB4176F9}"/>
                </a:ext>
              </a:extLst>
            </p:cNvPr>
            <p:cNvGrpSpPr/>
            <p:nvPr/>
          </p:nvGrpSpPr>
          <p:grpSpPr>
            <a:xfrm>
              <a:off x="4148914" y="2201639"/>
              <a:ext cx="875443" cy="870171"/>
              <a:chOff x="4148914" y="2201639"/>
              <a:chExt cx="875443" cy="870171"/>
            </a:xfrm>
          </p:grpSpPr>
          <p:sp>
            <p:nvSpPr>
              <p:cNvPr id="29" name="椭圆 28">
                <a:extLst>
                  <a:ext uri="{FF2B5EF4-FFF2-40B4-BE49-F238E27FC236}">
                    <a16:creationId xmlns:a16="http://schemas.microsoft.com/office/drawing/2014/main" id="{1C12F11B-F332-407C-0568-B7D06D34ECA3}"/>
                  </a:ext>
                </a:extLst>
              </p:cNvPr>
              <p:cNvSpPr/>
              <p:nvPr/>
            </p:nvSpPr>
            <p:spPr>
              <a:xfrm>
                <a:off x="414891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39</a:t>
                </a:r>
                <a:endParaRPr lang="zh-CN" altLang="en-US" sz="1800" dirty="0">
                  <a:solidFill>
                    <a:srgbClr val="3333FF"/>
                  </a:solidFill>
                  <a:latin typeface="Consolas" pitchFamily="49" charset="0"/>
                  <a:cs typeface="Consolas" pitchFamily="49" charset="0"/>
                </a:endParaRPr>
              </a:p>
            </p:txBody>
          </p:sp>
          <p:cxnSp>
            <p:nvCxnSpPr>
              <p:cNvPr id="30" name="直接连接符 29">
                <a:extLst>
                  <a:ext uri="{FF2B5EF4-FFF2-40B4-BE49-F238E27FC236}">
                    <a16:creationId xmlns:a16="http://schemas.microsoft.com/office/drawing/2014/main" id="{4348B945-6BFD-6752-14F5-B82674A5D2BB}"/>
                  </a:ext>
                </a:extLst>
              </p:cNvPr>
              <p:cNvCxnSpPr>
                <a:stCxn id="31" idx="3"/>
                <a:endCxn id="29" idx="7"/>
              </p:cNvCxnSpPr>
              <p:nvPr/>
            </p:nvCxnSpPr>
            <p:spPr>
              <a:xfrm rot="5400000">
                <a:off x="4658561" y="2214367"/>
                <a:ext cx="378524" cy="35306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4" name="组合 115">
              <a:extLst>
                <a:ext uri="{FF2B5EF4-FFF2-40B4-BE49-F238E27FC236}">
                  <a16:creationId xmlns:a16="http://schemas.microsoft.com/office/drawing/2014/main" id="{57ADE639-64A9-EC31-D97C-51AE37030F72}"/>
                </a:ext>
              </a:extLst>
            </p:cNvPr>
            <p:cNvGrpSpPr/>
            <p:nvPr/>
          </p:nvGrpSpPr>
          <p:grpSpPr>
            <a:xfrm>
              <a:off x="3434534" y="2987457"/>
              <a:ext cx="804005" cy="803229"/>
              <a:chOff x="3434534" y="2987457"/>
              <a:chExt cx="804005" cy="803229"/>
            </a:xfrm>
          </p:grpSpPr>
          <p:sp>
            <p:nvSpPr>
              <p:cNvPr id="27" name="椭圆 26">
                <a:extLst>
                  <a:ext uri="{FF2B5EF4-FFF2-40B4-BE49-F238E27FC236}">
                    <a16:creationId xmlns:a16="http://schemas.microsoft.com/office/drawing/2014/main" id="{6C23D5AB-3492-E20B-0743-4D8CF72C1DBA}"/>
                  </a:ext>
                </a:extLst>
              </p:cNvPr>
              <p:cNvSpPr/>
              <p:nvPr/>
            </p:nvSpPr>
            <p:spPr>
              <a:xfrm>
                <a:off x="3434534"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32</a:t>
                </a:r>
                <a:endParaRPr lang="zh-CN" altLang="en-US" sz="1800" dirty="0">
                  <a:solidFill>
                    <a:srgbClr val="3333FF"/>
                  </a:solidFill>
                  <a:latin typeface="Consolas" pitchFamily="49" charset="0"/>
                  <a:cs typeface="Consolas" pitchFamily="49" charset="0"/>
                </a:endParaRPr>
              </a:p>
            </p:txBody>
          </p:sp>
          <p:cxnSp>
            <p:nvCxnSpPr>
              <p:cNvPr id="28" name="直接连接符 27">
                <a:extLst>
                  <a:ext uri="{FF2B5EF4-FFF2-40B4-BE49-F238E27FC236}">
                    <a16:creationId xmlns:a16="http://schemas.microsoft.com/office/drawing/2014/main" id="{1B991695-7A13-9A46-07F1-6996BDC06B71}"/>
                  </a:ext>
                </a:extLst>
              </p:cNvPr>
              <p:cNvCxnSpPr>
                <a:stCxn id="29" idx="3"/>
                <a:endCxn id="27" idx="7"/>
              </p:cNvCxnSpPr>
              <p:nvPr/>
            </p:nvCxnSpPr>
            <p:spPr>
              <a:xfrm rot="5400000">
                <a:off x="3941933" y="3002433"/>
                <a:ext cx="311582" cy="28163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5" name="组合 114">
              <a:extLst>
                <a:ext uri="{FF2B5EF4-FFF2-40B4-BE49-F238E27FC236}">
                  <a16:creationId xmlns:a16="http://schemas.microsoft.com/office/drawing/2014/main" id="{23B72320-4354-6075-E9FB-88CF33C4D2B5}"/>
                </a:ext>
              </a:extLst>
            </p:cNvPr>
            <p:cNvGrpSpPr/>
            <p:nvPr/>
          </p:nvGrpSpPr>
          <p:grpSpPr>
            <a:xfrm>
              <a:off x="5457107" y="2201639"/>
              <a:ext cx="946881" cy="870171"/>
              <a:chOff x="5457107" y="2201639"/>
              <a:chExt cx="946881" cy="870171"/>
            </a:xfrm>
          </p:grpSpPr>
          <p:sp>
            <p:nvSpPr>
              <p:cNvPr id="25" name="椭圆 24">
                <a:extLst>
                  <a:ext uri="{FF2B5EF4-FFF2-40B4-BE49-F238E27FC236}">
                    <a16:creationId xmlns:a16="http://schemas.microsoft.com/office/drawing/2014/main" id="{97BA5C5C-279B-31F1-009D-6A8BB40E3EAD}"/>
                  </a:ext>
                </a:extLst>
              </p:cNvPr>
              <p:cNvSpPr/>
              <p:nvPr/>
            </p:nvSpPr>
            <p:spPr>
              <a:xfrm>
                <a:off x="5791988"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53</a:t>
                </a:r>
                <a:endParaRPr lang="zh-CN" altLang="en-US" sz="1800" dirty="0">
                  <a:solidFill>
                    <a:srgbClr val="3333FF"/>
                  </a:solidFill>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9CF469A7-1F1C-4A8E-8D45-2F29EC82C499}"/>
                  </a:ext>
                </a:extLst>
              </p:cNvPr>
              <p:cNvCxnSpPr>
                <a:stCxn id="31" idx="5"/>
                <a:endCxn id="25" idx="1"/>
              </p:cNvCxnSpPr>
              <p:nvPr/>
            </p:nvCxnSpPr>
            <p:spPr>
              <a:xfrm rot="16200000" flipH="1">
                <a:off x="5480098" y="2178648"/>
                <a:ext cx="378524" cy="424506"/>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6" name="组合 116">
              <a:extLst>
                <a:ext uri="{FF2B5EF4-FFF2-40B4-BE49-F238E27FC236}">
                  <a16:creationId xmlns:a16="http://schemas.microsoft.com/office/drawing/2014/main" id="{245B87B8-1B46-4193-E83B-282AE272D4BF}"/>
                </a:ext>
              </a:extLst>
            </p:cNvPr>
            <p:cNvGrpSpPr/>
            <p:nvPr/>
          </p:nvGrpSpPr>
          <p:grpSpPr>
            <a:xfrm>
              <a:off x="6314363" y="2987457"/>
              <a:ext cx="788129" cy="803229"/>
              <a:chOff x="6314363" y="2987457"/>
              <a:chExt cx="788129" cy="803229"/>
            </a:xfrm>
          </p:grpSpPr>
          <p:sp>
            <p:nvSpPr>
              <p:cNvPr id="23" name="椭圆 22">
                <a:extLst>
                  <a:ext uri="{FF2B5EF4-FFF2-40B4-BE49-F238E27FC236}">
                    <a16:creationId xmlns:a16="http://schemas.microsoft.com/office/drawing/2014/main" id="{35544523-D409-047F-9ED9-D0349193B0EA}"/>
                  </a:ext>
                </a:extLst>
              </p:cNvPr>
              <p:cNvSpPr/>
              <p:nvPr/>
            </p:nvSpPr>
            <p:spPr>
              <a:xfrm>
                <a:off x="649049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74</a:t>
                </a:r>
                <a:endParaRPr lang="zh-CN" altLang="en-US" sz="1800" dirty="0">
                  <a:solidFill>
                    <a:srgbClr val="3333FF"/>
                  </a:solidFill>
                  <a:latin typeface="Consolas" pitchFamily="49" charset="0"/>
                  <a:cs typeface="Consolas" pitchFamily="49" charset="0"/>
                </a:endParaRPr>
              </a:p>
            </p:txBody>
          </p:sp>
          <p:cxnSp>
            <p:nvCxnSpPr>
              <p:cNvPr id="24" name="直接连接符 23">
                <a:extLst>
                  <a:ext uri="{FF2B5EF4-FFF2-40B4-BE49-F238E27FC236}">
                    <a16:creationId xmlns:a16="http://schemas.microsoft.com/office/drawing/2014/main" id="{69949B62-E3F2-507B-5AD9-E566E05C595C}"/>
                  </a:ext>
                </a:extLst>
              </p:cNvPr>
              <p:cNvCxnSpPr>
                <a:stCxn id="25" idx="5"/>
                <a:endCxn id="23" idx="1"/>
              </p:cNvCxnSpPr>
              <p:nvPr/>
            </p:nvCxnSpPr>
            <p:spPr>
              <a:xfrm rot="16200000" flipH="1">
                <a:off x="6291449" y="3010371"/>
                <a:ext cx="311582" cy="265754"/>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7" name="组合 117">
              <a:extLst>
                <a:ext uri="{FF2B5EF4-FFF2-40B4-BE49-F238E27FC236}">
                  <a16:creationId xmlns:a16="http://schemas.microsoft.com/office/drawing/2014/main" id="{CB4F2E57-C620-9823-5AF3-6EF1129F02A2}"/>
                </a:ext>
              </a:extLst>
            </p:cNvPr>
            <p:cNvGrpSpPr/>
            <p:nvPr/>
          </p:nvGrpSpPr>
          <p:grpSpPr>
            <a:xfrm>
              <a:off x="5754724" y="3706333"/>
              <a:ext cx="825393" cy="937113"/>
              <a:chOff x="5754724" y="3706333"/>
              <a:chExt cx="825393" cy="937113"/>
            </a:xfrm>
          </p:grpSpPr>
          <p:sp>
            <p:nvSpPr>
              <p:cNvPr id="21" name="椭圆 20">
                <a:extLst>
                  <a:ext uri="{FF2B5EF4-FFF2-40B4-BE49-F238E27FC236}">
                    <a16:creationId xmlns:a16="http://schemas.microsoft.com/office/drawing/2014/main" id="{1E5183FB-1D94-E8F6-541B-23EEDA66746B}"/>
                  </a:ext>
                </a:extLst>
              </p:cNvPr>
              <p:cNvSpPr/>
              <p:nvPr/>
            </p:nvSpPr>
            <p:spPr>
              <a:xfrm>
                <a:off x="5754724"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67</a:t>
                </a:r>
                <a:endParaRPr lang="zh-CN" altLang="en-US" sz="1800" dirty="0">
                  <a:solidFill>
                    <a:srgbClr val="3333FF"/>
                  </a:solidFill>
                  <a:latin typeface="Consolas" pitchFamily="49" charset="0"/>
                  <a:cs typeface="Consolas" pitchFamily="49" charset="0"/>
                </a:endParaRPr>
              </a:p>
            </p:txBody>
          </p:sp>
          <p:cxnSp>
            <p:nvCxnSpPr>
              <p:cNvPr id="22" name="直接连接符 21">
                <a:extLst>
                  <a:ext uri="{FF2B5EF4-FFF2-40B4-BE49-F238E27FC236}">
                    <a16:creationId xmlns:a16="http://schemas.microsoft.com/office/drawing/2014/main" id="{6A315420-183B-5148-439E-7DEC7071BDBE}"/>
                  </a:ext>
                </a:extLst>
              </p:cNvPr>
              <p:cNvCxnSpPr>
                <a:stCxn id="23" idx="3"/>
              </p:cNvCxnSpPr>
              <p:nvPr/>
            </p:nvCxnSpPr>
            <p:spPr>
              <a:xfrm rot="5400000">
                <a:off x="6199525" y="3720407"/>
                <a:ext cx="394666" cy="36651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18" name="组合 118">
              <a:extLst>
                <a:ext uri="{FF2B5EF4-FFF2-40B4-BE49-F238E27FC236}">
                  <a16:creationId xmlns:a16="http://schemas.microsoft.com/office/drawing/2014/main" id="{F4FFBD3F-A154-15BB-1911-43A0CFED707C}"/>
                </a:ext>
              </a:extLst>
            </p:cNvPr>
            <p:cNvGrpSpPr/>
            <p:nvPr/>
          </p:nvGrpSpPr>
          <p:grpSpPr>
            <a:xfrm>
              <a:off x="5173666" y="4571793"/>
              <a:ext cx="657984" cy="857471"/>
              <a:chOff x="5173666" y="4571793"/>
              <a:chExt cx="657984" cy="857471"/>
            </a:xfrm>
          </p:grpSpPr>
          <p:sp>
            <p:nvSpPr>
              <p:cNvPr id="19" name="椭圆 18">
                <a:extLst>
                  <a:ext uri="{FF2B5EF4-FFF2-40B4-BE49-F238E27FC236}">
                    <a16:creationId xmlns:a16="http://schemas.microsoft.com/office/drawing/2014/main" id="{415DDB1A-0371-637E-591C-6EEECE8CE19C}"/>
                  </a:ext>
                </a:extLst>
              </p:cNvPr>
              <p:cNvSpPr/>
              <p:nvPr/>
            </p:nvSpPr>
            <p:spPr>
              <a:xfrm>
                <a:off x="5173666" y="4853264"/>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60</a:t>
                </a:r>
                <a:endParaRPr lang="zh-CN" altLang="en-US" sz="1800" dirty="0">
                  <a:solidFill>
                    <a:srgbClr val="3333FF"/>
                  </a:solidFill>
                  <a:latin typeface="Consolas" pitchFamily="49" charset="0"/>
                  <a:cs typeface="Consolas" pitchFamily="49" charset="0"/>
                </a:endParaRPr>
              </a:p>
            </p:txBody>
          </p:sp>
          <p:cxnSp>
            <p:nvCxnSpPr>
              <p:cNvPr id="20" name="直接连接符 19">
                <a:extLst>
                  <a:ext uri="{FF2B5EF4-FFF2-40B4-BE49-F238E27FC236}">
                    <a16:creationId xmlns:a16="http://schemas.microsoft.com/office/drawing/2014/main" id="{44304A68-D1A4-A448-D9FC-01A3229CCD28}"/>
                  </a:ext>
                </a:extLst>
              </p:cNvPr>
              <p:cNvCxnSpPr/>
              <p:nvPr/>
            </p:nvCxnSpPr>
            <p:spPr>
              <a:xfrm rot="5400000">
                <a:off x="5569227" y="4608037"/>
                <a:ext cx="298667" cy="226179"/>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grpSp>
        <p:nvGrpSpPr>
          <p:cNvPr id="41" name="组合 61">
            <a:extLst>
              <a:ext uri="{FF2B5EF4-FFF2-40B4-BE49-F238E27FC236}">
                <a16:creationId xmlns:a16="http://schemas.microsoft.com/office/drawing/2014/main" id="{9BCBBC18-8CEA-EE6D-E4C3-E18232B20046}"/>
              </a:ext>
            </a:extLst>
          </p:cNvPr>
          <p:cNvGrpSpPr/>
          <p:nvPr/>
        </p:nvGrpSpPr>
        <p:grpSpPr>
          <a:xfrm>
            <a:off x="642910" y="5286388"/>
            <a:ext cx="6786610" cy="869398"/>
            <a:chOff x="357158" y="5345684"/>
            <a:chExt cx="6786610" cy="869398"/>
          </a:xfrm>
        </p:grpSpPr>
        <p:sp>
          <p:nvSpPr>
            <p:cNvPr id="42" name="Text Box 110">
              <a:extLst>
                <a:ext uri="{FF2B5EF4-FFF2-40B4-BE49-F238E27FC236}">
                  <a16:creationId xmlns:a16="http://schemas.microsoft.com/office/drawing/2014/main" id="{A4703B0F-38E0-16A5-3F93-FCD478157F05}"/>
                </a:ext>
              </a:extLst>
            </p:cNvPr>
            <p:cNvSpPr txBox="1">
              <a:spLocks noChangeArrowheads="1"/>
            </p:cNvSpPr>
            <p:nvPr/>
          </p:nvSpPr>
          <p:spPr bwMode="auto">
            <a:xfrm>
              <a:off x="357158" y="5557739"/>
              <a:ext cx="1346156" cy="430887"/>
            </a:xfrm>
            <a:prstGeom prst="rect">
              <a:avLst/>
            </a:prstGeom>
            <a:noFill/>
            <a:ln w="9525">
              <a:noFill/>
              <a:miter lim="800000"/>
              <a:headEnd/>
              <a:tailEnd/>
            </a:ln>
          </p:spPr>
          <p:txBody>
            <a:bodyPr wrap="square">
              <a:spAutoFit/>
            </a:bodyPr>
            <a:lstStyle/>
            <a:p>
              <a:pPr algn="l">
                <a:spcBef>
                  <a:spcPct val="50000"/>
                </a:spcBef>
              </a:pPr>
              <a:r>
                <a:rPr kumimoji="0" lang="en-US" altLang="zh-CN" sz="2200" b="1" dirty="0" err="1">
                  <a:solidFill>
                    <a:srgbClr val="3333FF"/>
                  </a:solidFill>
                  <a:latin typeface="Consolas" pitchFamily="49" charset="0"/>
                  <a:ea typeface="楷体_GB2312" pitchFamily="49" charset="-122"/>
                  <a:cs typeface="Consolas" pitchFamily="49" charset="0"/>
                </a:rPr>
                <a:t>ASL</a:t>
              </a:r>
              <a:r>
                <a:rPr kumimoji="0" lang="zh-CN" altLang="en-US" sz="2200" b="1" baseline="-25000" dirty="0">
                  <a:solidFill>
                    <a:srgbClr val="3333FF"/>
                  </a:solidFill>
                  <a:latin typeface="Consolas" pitchFamily="49" charset="0"/>
                  <a:ea typeface="楷体" pitchFamily="49" charset="-122"/>
                  <a:cs typeface="Consolas" pitchFamily="49" charset="0"/>
                </a:rPr>
                <a:t>成功</a:t>
              </a:r>
              <a:r>
                <a:rPr kumimoji="0" lang="en-US" altLang="zh-CN" sz="2200" b="1" dirty="0">
                  <a:solidFill>
                    <a:srgbClr val="3333FF"/>
                  </a:solidFill>
                  <a:latin typeface="Consolas" pitchFamily="49" charset="0"/>
                  <a:ea typeface="楷体_GB2312" pitchFamily="49" charset="-122"/>
                  <a:cs typeface="Consolas" pitchFamily="49" charset="0"/>
                </a:rPr>
                <a:t>=</a:t>
              </a:r>
            </a:p>
          </p:txBody>
        </p:sp>
        <p:sp>
          <p:nvSpPr>
            <p:cNvPr id="43" name="Text Box 111">
              <a:extLst>
                <a:ext uri="{FF2B5EF4-FFF2-40B4-BE49-F238E27FC236}">
                  <a16:creationId xmlns:a16="http://schemas.microsoft.com/office/drawing/2014/main" id="{081DEFA7-E7BE-A55C-8805-2A09E929F003}"/>
                </a:ext>
              </a:extLst>
            </p:cNvPr>
            <p:cNvSpPr txBox="1">
              <a:spLocks noChangeArrowheads="1"/>
            </p:cNvSpPr>
            <p:nvPr/>
          </p:nvSpPr>
          <p:spPr bwMode="auto">
            <a:xfrm>
              <a:off x="1800193" y="5345684"/>
              <a:ext cx="5184775" cy="369332"/>
            </a:xfrm>
            <a:prstGeom prst="rect">
              <a:avLst/>
            </a:prstGeom>
            <a:noFill/>
            <a:ln w="9525">
              <a:noFill/>
              <a:miter lim="800000"/>
              <a:headEnd/>
              <a:tailEnd/>
            </a:ln>
          </p:spPr>
          <p:txBody>
            <a:bodyPr>
              <a:spAutoFit/>
            </a:bodyPr>
            <a:lstStyle/>
            <a:p>
              <a:pPr algn="l">
                <a:spcBef>
                  <a:spcPct val="50000"/>
                </a:spcBef>
              </a:pPr>
              <a:r>
                <a:rPr kumimoji="0" lang="en-US" altLang="zh-CN" sz="1800" b="1">
                  <a:solidFill>
                    <a:srgbClr val="3333FF"/>
                  </a:solidFill>
                  <a:latin typeface="Consolas" pitchFamily="49" charset="0"/>
                  <a:ea typeface="楷体_GB2312" pitchFamily="49" charset="-122"/>
                  <a:cs typeface="Consolas" pitchFamily="49" charset="0"/>
                </a:rPr>
                <a:t>1×</a:t>
              </a:r>
              <a:r>
                <a:rPr kumimoji="0" lang="en-US" altLang="zh-CN" sz="1800" b="1">
                  <a:solidFill>
                    <a:srgbClr val="FF00FF"/>
                  </a:solidFill>
                  <a:latin typeface="Consolas" pitchFamily="49" charset="0"/>
                  <a:ea typeface="楷体_GB2312" pitchFamily="49" charset="-122"/>
                  <a:cs typeface="Consolas" pitchFamily="49" charset="0"/>
                </a:rPr>
                <a:t>1</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2×</a:t>
              </a:r>
              <a:r>
                <a:rPr kumimoji="0" lang="en-US" altLang="zh-CN" sz="1800" b="1">
                  <a:solidFill>
                    <a:srgbClr val="FF00FF"/>
                  </a:solidFill>
                  <a:latin typeface="Consolas" pitchFamily="49" charset="0"/>
                  <a:ea typeface="楷体_GB2312" pitchFamily="49" charset="-122"/>
                  <a:cs typeface="Consolas" pitchFamily="49" charset="0"/>
                </a:rPr>
                <a:t>2</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3×</a:t>
              </a:r>
              <a:r>
                <a:rPr kumimoji="0" lang="en-US" altLang="zh-CN" sz="1800" b="1">
                  <a:solidFill>
                    <a:srgbClr val="FF00FF"/>
                  </a:solidFill>
                  <a:latin typeface="Consolas" pitchFamily="49" charset="0"/>
                  <a:ea typeface="楷体_GB2312" pitchFamily="49" charset="-122"/>
                  <a:cs typeface="Consolas" pitchFamily="49" charset="0"/>
                </a:rPr>
                <a:t>3</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3×</a:t>
              </a:r>
              <a:r>
                <a:rPr kumimoji="0" lang="en-US" altLang="zh-CN" sz="1800" b="1">
                  <a:solidFill>
                    <a:srgbClr val="FF00FF"/>
                  </a:solidFill>
                  <a:latin typeface="Consolas" pitchFamily="49" charset="0"/>
                  <a:ea typeface="楷体_GB2312" pitchFamily="49" charset="-122"/>
                  <a:cs typeface="Consolas" pitchFamily="49" charset="0"/>
                </a:rPr>
                <a:t>4</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2×</a:t>
              </a:r>
              <a:r>
                <a:rPr kumimoji="0" lang="en-US" altLang="zh-CN" sz="1800" b="1">
                  <a:solidFill>
                    <a:srgbClr val="FF00FF"/>
                  </a:solidFill>
                  <a:latin typeface="Consolas" pitchFamily="49" charset="0"/>
                  <a:ea typeface="楷体_GB2312" pitchFamily="49" charset="-122"/>
                  <a:cs typeface="Consolas" pitchFamily="49" charset="0"/>
                </a:rPr>
                <a:t>5</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1×</a:t>
              </a:r>
              <a:r>
                <a:rPr kumimoji="0" lang="en-US" altLang="zh-CN" sz="1800" b="1">
                  <a:solidFill>
                    <a:srgbClr val="FF00FF"/>
                  </a:solidFill>
                  <a:latin typeface="Consolas" pitchFamily="49" charset="0"/>
                  <a:ea typeface="楷体_GB2312" pitchFamily="49" charset="-122"/>
                  <a:cs typeface="Consolas" pitchFamily="49" charset="0"/>
                </a:rPr>
                <a:t>6</a:t>
              </a:r>
            </a:p>
          </p:txBody>
        </p:sp>
        <p:sp>
          <p:nvSpPr>
            <p:cNvPr id="44" name="Text Box 113">
              <a:extLst>
                <a:ext uri="{FF2B5EF4-FFF2-40B4-BE49-F238E27FC236}">
                  <a16:creationId xmlns:a16="http://schemas.microsoft.com/office/drawing/2014/main" id="{38B4FA91-FD54-C31C-F06A-A12AF5AE9288}"/>
                </a:ext>
              </a:extLst>
            </p:cNvPr>
            <p:cNvSpPr txBox="1">
              <a:spLocks noChangeArrowheads="1"/>
            </p:cNvSpPr>
            <p:nvPr/>
          </p:nvSpPr>
          <p:spPr bwMode="auto">
            <a:xfrm>
              <a:off x="3489264" y="5845750"/>
              <a:ext cx="647700" cy="369332"/>
            </a:xfrm>
            <a:prstGeom prst="rect">
              <a:avLst/>
            </a:prstGeom>
            <a:noFill/>
            <a:ln w="9525">
              <a:noFill/>
              <a:miter lim="800000"/>
              <a:headEnd/>
              <a:tailEnd/>
            </a:ln>
          </p:spPr>
          <p:txBody>
            <a:bodyPr>
              <a:spAutoFit/>
            </a:bodyPr>
            <a:lstStyle/>
            <a:p>
              <a:pPr algn="l">
                <a:spcBef>
                  <a:spcPct val="50000"/>
                </a:spcBef>
              </a:pPr>
              <a:r>
                <a:rPr kumimoji="0" lang="en-US" altLang="zh-CN" sz="1800" b="1">
                  <a:solidFill>
                    <a:srgbClr val="3333FF"/>
                  </a:solidFill>
                  <a:latin typeface="Consolas" pitchFamily="49" charset="0"/>
                  <a:ea typeface="楷体_GB2312" pitchFamily="49" charset="-122"/>
                  <a:cs typeface="Consolas" pitchFamily="49" charset="0"/>
                </a:rPr>
                <a:t>12</a:t>
              </a:r>
            </a:p>
          </p:txBody>
        </p:sp>
        <p:sp>
          <p:nvSpPr>
            <p:cNvPr id="45" name="Text Box 114">
              <a:extLst>
                <a:ext uri="{FF2B5EF4-FFF2-40B4-BE49-F238E27FC236}">
                  <a16:creationId xmlns:a16="http://schemas.microsoft.com/office/drawing/2014/main" id="{A540C78F-401B-3417-7E76-C6687CF1B5E5}"/>
                </a:ext>
              </a:extLst>
            </p:cNvPr>
            <p:cNvSpPr txBox="1">
              <a:spLocks noChangeArrowheads="1"/>
            </p:cNvSpPr>
            <p:nvPr/>
          </p:nvSpPr>
          <p:spPr bwMode="auto">
            <a:xfrm>
              <a:off x="6207143" y="5572140"/>
              <a:ext cx="936625" cy="369332"/>
            </a:xfrm>
            <a:prstGeom prst="rect">
              <a:avLst/>
            </a:prstGeom>
            <a:noFill/>
            <a:ln w="9525">
              <a:noFill/>
              <a:miter lim="800000"/>
              <a:headEnd/>
              <a:tailEnd/>
            </a:ln>
          </p:spPr>
          <p:txBody>
            <a:bodyPr>
              <a:spAutoFit/>
            </a:bodyPr>
            <a:lstStyle/>
            <a:p>
              <a:pPr algn="l">
                <a:spcBef>
                  <a:spcPct val="50000"/>
                </a:spcBef>
              </a:pP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3.5</a:t>
              </a:r>
            </a:p>
          </p:txBody>
        </p:sp>
        <p:cxnSp>
          <p:nvCxnSpPr>
            <p:cNvPr id="46" name="直接连接符 45">
              <a:extLst>
                <a:ext uri="{FF2B5EF4-FFF2-40B4-BE49-F238E27FC236}">
                  <a16:creationId xmlns:a16="http://schemas.microsoft.com/office/drawing/2014/main" id="{DC176BE5-9E88-79AE-D1B2-0C19565A8B67}"/>
                </a:ext>
              </a:extLst>
            </p:cNvPr>
            <p:cNvCxnSpPr/>
            <p:nvPr/>
          </p:nvCxnSpPr>
          <p:spPr>
            <a:xfrm>
              <a:off x="1703314" y="5774312"/>
              <a:ext cx="4500594" cy="0"/>
            </a:xfrm>
            <a:prstGeom prst="line">
              <a:avLst/>
            </a:prstGeom>
            <a:ln w="28575">
              <a:solidFill>
                <a:srgbClr val="9900FF"/>
              </a:solidFill>
              <a:tailEnd type="none"/>
            </a:ln>
          </p:spPr>
          <p:style>
            <a:lnRef idx="1">
              <a:schemeClr val="accent1"/>
            </a:lnRef>
            <a:fillRef idx="0">
              <a:schemeClr val="accent1"/>
            </a:fillRef>
            <a:effectRef idx="0">
              <a:schemeClr val="accent1"/>
            </a:effectRef>
            <a:fontRef idx="minor">
              <a:schemeClr val="tx1"/>
            </a:fontRef>
          </p:style>
        </p:cxnSp>
      </p:grpSp>
      <p:sp>
        <p:nvSpPr>
          <p:cNvPr id="47" name="TextBox 47">
            <a:extLst>
              <a:ext uri="{FF2B5EF4-FFF2-40B4-BE49-F238E27FC236}">
                <a16:creationId xmlns:a16="http://schemas.microsoft.com/office/drawing/2014/main" id="{23E65177-3BD3-6CFC-2018-2BC3C44B3C76}"/>
              </a:ext>
            </a:extLst>
          </p:cNvPr>
          <p:cNvSpPr txBox="1"/>
          <p:nvPr/>
        </p:nvSpPr>
        <p:spPr>
          <a:xfrm>
            <a:off x="7143768" y="2214554"/>
            <a:ext cx="1785950" cy="1092607"/>
          </a:xfrm>
          <a:prstGeom prst="rect">
            <a:avLst/>
          </a:prstGeom>
          <a:noFill/>
        </p:spPr>
        <p:txBody>
          <a:bodyPr wrap="square" rtlCol="0">
            <a:spAutoFit/>
          </a:bodyPr>
          <a:lstStyle/>
          <a:p>
            <a:pPr algn="l">
              <a:lnSpc>
                <a:spcPts val="2600"/>
              </a:lnSpc>
              <a:spcBef>
                <a:spcPts val="0"/>
              </a:spcBef>
            </a:pPr>
            <a:r>
              <a:rPr lang="zh-CN" altLang="en-US" sz="2000" b="1">
                <a:solidFill>
                  <a:srgbClr val="3333FF"/>
                </a:solidFill>
                <a:latin typeface="Consolas" pitchFamily="49" charset="0"/>
                <a:ea typeface="仿宋" pitchFamily="49" charset="-122"/>
                <a:cs typeface="Consolas" pitchFamily="49" charset="0"/>
              </a:rPr>
              <a:t>成功找到第</a:t>
            </a:r>
            <a:r>
              <a:rPr lang="en-US" altLang="zh-CN" sz="2000" b="1" i="1">
                <a:solidFill>
                  <a:srgbClr val="3333FF"/>
                </a:solidFill>
                <a:latin typeface="Consolas" pitchFamily="49" charset="0"/>
                <a:ea typeface="仿宋" pitchFamily="49" charset="-122"/>
                <a:cs typeface="Consolas" pitchFamily="49" charset="0"/>
              </a:rPr>
              <a:t>i</a:t>
            </a:r>
            <a:r>
              <a:rPr lang="zh-CN" altLang="en-US" sz="2000" b="1">
                <a:solidFill>
                  <a:srgbClr val="3333FF"/>
                </a:solidFill>
                <a:latin typeface="Consolas" pitchFamily="49" charset="0"/>
                <a:ea typeface="仿宋" pitchFamily="49" charset="-122"/>
                <a:cs typeface="Consolas" pitchFamily="49" charset="0"/>
              </a:rPr>
              <a:t>层的结点，需要</a:t>
            </a:r>
            <a:r>
              <a:rPr lang="en-US" altLang="zh-CN" sz="2000" b="1" i="1">
                <a:solidFill>
                  <a:srgbClr val="3333FF"/>
                </a:solidFill>
                <a:latin typeface="Consolas" pitchFamily="49" charset="0"/>
                <a:ea typeface="仿宋" pitchFamily="49" charset="-122"/>
                <a:cs typeface="Consolas" pitchFamily="49" charset="0"/>
              </a:rPr>
              <a:t>i</a:t>
            </a:r>
            <a:r>
              <a:rPr lang="zh-CN" altLang="en-US" sz="2000" b="1">
                <a:solidFill>
                  <a:srgbClr val="3333FF"/>
                </a:solidFill>
                <a:latin typeface="Consolas" pitchFamily="49" charset="0"/>
                <a:ea typeface="仿宋" pitchFamily="49" charset="-122"/>
                <a:cs typeface="Consolas" pitchFamily="49" charset="0"/>
              </a:rPr>
              <a:t>次比较</a:t>
            </a:r>
            <a:endParaRPr lang="zh-CN" altLang="en-US" sz="2000" b="1" dirty="0">
              <a:solidFill>
                <a:srgbClr val="3333FF"/>
              </a:solidFill>
              <a:latin typeface="Consolas" pitchFamily="49" charset="0"/>
              <a:ea typeface="仿宋" pitchFamily="49" charset="-122"/>
              <a:cs typeface="Consolas" pitchFamily="49" charset="0"/>
            </a:endParaRPr>
          </a:p>
        </p:txBody>
      </p:sp>
      <p:sp>
        <p:nvSpPr>
          <p:cNvPr id="48" name="TextBox 59">
            <a:extLst>
              <a:ext uri="{FF2B5EF4-FFF2-40B4-BE49-F238E27FC236}">
                <a16:creationId xmlns:a16="http://schemas.microsoft.com/office/drawing/2014/main" id="{B4F69B3D-03F9-18F3-4F99-8374ADC8A65F}"/>
              </a:ext>
            </a:extLst>
          </p:cNvPr>
          <p:cNvSpPr txBox="1"/>
          <p:nvPr/>
        </p:nvSpPr>
        <p:spPr>
          <a:xfrm>
            <a:off x="6429388" y="71414"/>
            <a:ext cx="928694" cy="369332"/>
          </a:xfrm>
          <a:prstGeom prst="rect">
            <a:avLst/>
          </a:prstGeom>
          <a:noFill/>
        </p:spPr>
        <p:txBody>
          <a:bodyPr wrap="square" rtlCol="0">
            <a:spAutoFit/>
          </a:bodyPr>
          <a:lstStyle/>
          <a:p>
            <a:r>
              <a:rPr lang="zh-CN" altLang="en-US" sz="1800" b="1">
                <a:solidFill>
                  <a:srgbClr val="3333FF"/>
                </a:solidFill>
                <a:latin typeface="仿宋" pitchFamily="49" charset="-122"/>
                <a:ea typeface="仿宋" pitchFamily="49" charset="-122"/>
                <a:cs typeface="Times New Roman" pitchFamily="18" charset="0"/>
              </a:rPr>
              <a:t>层次</a:t>
            </a:r>
            <a:endParaRPr lang="zh-CN" altLang="en-US" sz="1800" b="1" dirty="0">
              <a:solidFill>
                <a:srgbClr val="3333FF"/>
              </a:solidFill>
              <a:latin typeface="仿宋" pitchFamily="49" charset="-122"/>
              <a:ea typeface="仿宋" pitchFamily="49" charset="-122"/>
              <a:cs typeface="Times New Roman" pitchFamily="18" charset="0"/>
            </a:endParaRPr>
          </a:p>
        </p:txBody>
      </p:sp>
      <p:grpSp>
        <p:nvGrpSpPr>
          <p:cNvPr id="49" name="组合 80">
            <a:extLst>
              <a:ext uri="{FF2B5EF4-FFF2-40B4-BE49-F238E27FC236}">
                <a16:creationId xmlns:a16="http://schemas.microsoft.com/office/drawing/2014/main" id="{8950B051-B4A7-999C-964A-F5C11F470B35}"/>
              </a:ext>
            </a:extLst>
          </p:cNvPr>
          <p:cNvGrpSpPr/>
          <p:nvPr/>
        </p:nvGrpSpPr>
        <p:grpSpPr>
          <a:xfrm>
            <a:off x="214282" y="520138"/>
            <a:ext cx="6950684" cy="4337622"/>
            <a:chOff x="214282" y="520138"/>
            <a:chExt cx="6950684" cy="4337622"/>
          </a:xfrm>
        </p:grpSpPr>
        <p:sp>
          <p:nvSpPr>
            <p:cNvPr id="50" name="TextBox 60">
              <a:extLst>
                <a:ext uri="{FF2B5EF4-FFF2-40B4-BE49-F238E27FC236}">
                  <a16:creationId xmlns:a16="http://schemas.microsoft.com/office/drawing/2014/main" id="{4488FA0A-FDAF-315A-C2E4-341B20751D25}"/>
                </a:ext>
              </a:extLst>
            </p:cNvPr>
            <p:cNvSpPr txBox="1"/>
            <p:nvPr/>
          </p:nvSpPr>
          <p:spPr>
            <a:xfrm>
              <a:off x="6736338" y="520138"/>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1</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51" name="直接连接符 50">
              <a:extLst>
                <a:ext uri="{FF2B5EF4-FFF2-40B4-BE49-F238E27FC236}">
                  <a16:creationId xmlns:a16="http://schemas.microsoft.com/office/drawing/2014/main" id="{E5060157-B9DB-A09F-70B1-A93C9D84E1D3}"/>
                </a:ext>
              </a:extLst>
            </p:cNvPr>
            <p:cNvCxnSpPr/>
            <p:nvPr/>
          </p:nvCxnSpPr>
          <p:spPr>
            <a:xfrm>
              <a:off x="3643306" y="714356"/>
              <a:ext cx="3071834"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52" name="TextBox 64">
              <a:extLst>
                <a:ext uri="{FF2B5EF4-FFF2-40B4-BE49-F238E27FC236}">
                  <a16:creationId xmlns:a16="http://schemas.microsoft.com/office/drawing/2014/main" id="{137F2CDB-2893-D9EB-AEF2-72C82F836FE2}"/>
                </a:ext>
              </a:extLst>
            </p:cNvPr>
            <p:cNvSpPr txBox="1"/>
            <p:nvPr/>
          </p:nvSpPr>
          <p:spPr>
            <a:xfrm>
              <a:off x="6736338" y="1293814"/>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2</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53" name="直接连接符 52">
              <a:extLst>
                <a:ext uri="{FF2B5EF4-FFF2-40B4-BE49-F238E27FC236}">
                  <a16:creationId xmlns:a16="http://schemas.microsoft.com/office/drawing/2014/main" id="{C0BE8649-1E86-DD69-A663-F9E5886485F3}"/>
                </a:ext>
              </a:extLst>
            </p:cNvPr>
            <p:cNvCxnSpPr/>
            <p:nvPr/>
          </p:nvCxnSpPr>
          <p:spPr>
            <a:xfrm flipV="1">
              <a:off x="500034" y="1488032"/>
              <a:ext cx="620616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54" name="TextBox 66">
              <a:extLst>
                <a:ext uri="{FF2B5EF4-FFF2-40B4-BE49-F238E27FC236}">
                  <a16:creationId xmlns:a16="http://schemas.microsoft.com/office/drawing/2014/main" id="{C0624BA0-F138-BD1D-E492-9F0FA077B10C}"/>
                </a:ext>
              </a:extLst>
            </p:cNvPr>
            <p:cNvSpPr txBox="1"/>
            <p:nvPr/>
          </p:nvSpPr>
          <p:spPr>
            <a:xfrm>
              <a:off x="6736338" y="2101822"/>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3</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55" name="直接连接符 54">
              <a:extLst>
                <a:ext uri="{FF2B5EF4-FFF2-40B4-BE49-F238E27FC236}">
                  <a16:creationId xmlns:a16="http://schemas.microsoft.com/office/drawing/2014/main" id="{E5040764-3E3D-439A-578A-AA0A5787D096}"/>
                </a:ext>
              </a:extLst>
            </p:cNvPr>
            <p:cNvCxnSpPr>
              <a:stCxn id="37" idx="2"/>
            </p:cNvCxnSpPr>
            <p:nvPr/>
          </p:nvCxnSpPr>
          <p:spPr>
            <a:xfrm rot="10800000" flipH="1" flipV="1">
              <a:off x="214282" y="2296040"/>
              <a:ext cx="6471816"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56" name="TextBox 68">
              <a:extLst>
                <a:ext uri="{FF2B5EF4-FFF2-40B4-BE49-F238E27FC236}">
                  <a16:creationId xmlns:a16="http://schemas.microsoft.com/office/drawing/2014/main" id="{7DC5B96D-1BBD-92FE-D354-7EF5668F9DE2}"/>
                </a:ext>
              </a:extLst>
            </p:cNvPr>
            <p:cNvSpPr txBox="1"/>
            <p:nvPr/>
          </p:nvSpPr>
          <p:spPr>
            <a:xfrm>
              <a:off x="6736338" y="2845354"/>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4</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57" name="直接连接符 56">
              <a:extLst>
                <a:ext uri="{FF2B5EF4-FFF2-40B4-BE49-F238E27FC236}">
                  <a16:creationId xmlns:a16="http://schemas.microsoft.com/office/drawing/2014/main" id="{607BAB6B-6C26-DE4B-4E22-7C498E442428}"/>
                </a:ext>
              </a:extLst>
            </p:cNvPr>
            <p:cNvCxnSpPr/>
            <p:nvPr/>
          </p:nvCxnSpPr>
          <p:spPr>
            <a:xfrm flipV="1">
              <a:off x="500034" y="3039572"/>
              <a:ext cx="6215106"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58" name="TextBox 70">
              <a:extLst>
                <a:ext uri="{FF2B5EF4-FFF2-40B4-BE49-F238E27FC236}">
                  <a16:creationId xmlns:a16="http://schemas.microsoft.com/office/drawing/2014/main" id="{08E5B87F-4CF1-96AC-CB28-8F45D7D8EADA}"/>
                </a:ext>
              </a:extLst>
            </p:cNvPr>
            <p:cNvSpPr txBox="1"/>
            <p:nvPr/>
          </p:nvSpPr>
          <p:spPr>
            <a:xfrm>
              <a:off x="6736338" y="3702610"/>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5</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59" name="直接连接符 58">
              <a:extLst>
                <a:ext uri="{FF2B5EF4-FFF2-40B4-BE49-F238E27FC236}">
                  <a16:creationId xmlns:a16="http://schemas.microsoft.com/office/drawing/2014/main" id="{A5885A5B-BF47-5EB1-CCB5-DB13C2907DA2}"/>
                </a:ext>
              </a:extLst>
            </p:cNvPr>
            <p:cNvCxnSpPr/>
            <p:nvPr/>
          </p:nvCxnSpPr>
          <p:spPr>
            <a:xfrm flipV="1">
              <a:off x="1071538" y="3896828"/>
              <a:ext cx="5643602"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60" name="TextBox 72">
              <a:extLst>
                <a:ext uri="{FF2B5EF4-FFF2-40B4-BE49-F238E27FC236}">
                  <a16:creationId xmlns:a16="http://schemas.microsoft.com/office/drawing/2014/main" id="{B3104D6A-A07C-33E0-BC65-F7EC91DD47B2}"/>
                </a:ext>
              </a:extLst>
            </p:cNvPr>
            <p:cNvSpPr txBox="1"/>
            <p:nvPr/>
          </p:nvSpPr>
          <p:spPr>
            <a:xfrm>
              <a:off x="6736338" y="4488428"/>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6</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61" name="直接连接符 60">
              <a:extLst>
                <a:ext uri="{FF2B5EF4-FFF2-40B4-BE49-F238E27FC236}">
                  <a16:creationId xmlns:a16="http://schemas.microsoft.com/office/drawing/2014/main" id="{2E358653-95DA-70B2-315D-3CA3BC66905A}"/>
                </a:ext>
              </a:extLst>
            </p:cNvPr>
            <p:cNvCxnSpPr/>
            <p:nvPr/>
          </p:nvCxnSpPr>
          <p:spPr>
            <a:xfrm flipV="1">
              <a:off x="5357818" y="4682646"/>
              <a:ext cx="1357322"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grpSp>
    </p:spTree>
    <p:extLst>
      <p:ext uri="{BB962C8B-B14F-4D97-AF65-F5344CB8AC3E}">
        <p14:creationId xmlns:p14="http://schemas.microsoft.com/office/powerpoint/2010/main" val="341922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614FE-F0DF-685C-C74F-9B4C6CFA7B85}"/>
            </a:ext>
          </a:extLst>
        </p:cNvPr>
        <p:cNvGrpSpPr/>
        <p:nvPr/>
      </p:nvGrpSpPr>
      <p:grpSpPr>
        <a:xfrm>
          <a:off x="0" y="0"/>
          <a:ext cx="0" cy="0"/>
          <a:chOff x="0" y="0"/>
          <a:chExt cx="0" cy="0"/>
        </a:xfrm>
      </p:grpSpPr>
      <p:grpSp>
        <p:nvGrpSpPr>
          <p:cNvPr id="5" name="组合 113">
            <a:extLst>
              <a:ext uri="{FF2B5EF4-FFF2-40B4-BE49-F238E27FC236}">
                <a16:creationId xmlns:a16="http://schemas.microsoft.com/office/drawing/2014/main" id="{178288B4-D840-1C5D-E643-532C40E615EC}"/>
              </a:ext>
            </a:extLst>
          </p:cNvPr>
          <p:cNvGrpSpPr/>
          <p:nvPr/>
        </p:nvGrpSpPr>
        <p:grpSpPr>
          <a:xfrm>
            <a:off x="1000100" y="1571612"/>
            <a:ext cx="7143800" cy="4071966"/>
            <a:chOff x="1000100" y="1571612"/>
            <a:chExt cx="7143800" cy="4071966"/>
          </a:xfrm>
        </p:grpSpPr>
        <p:sp>
          <p:nvSpPr>
            <p:cNvPr id="6" name="TextBox 99">
              <a:extLst>
                <a:ext uri="{FF2B5EF4-FFF2-40B4-BE49-F238E27FC236}">
                  <a16:creationId xmlns:a16="http://schemas.microsoft.com/office/drawing/2014/main" id="{74AB1E24-9D50-92CC-70A4-73689221D4E4}"/>
                </a:ext>
              </a:extLst>
            </p:cNvPr>
            <p:cNvSpPr txBox="1"/>
            <p:nvPr/>
          </p:nvSpPr>
          <p:spPr>
            <a:xfrm>
              <a:off x="7215206" y="1571612"/>
              <a:ext cx="928694" cy="369332"/>
            </a:xfrm>
            <a:prstGeom prst="rect">
              <a:avLst/>
            </a:prstGeom>
            <a:noFill/>
          </p:spPr>
          <p:txBody>
            <a:bodyPr wrap="square" rtlCol="0">
              <a:spAutoFit/>
            </a:bodyPr>
            <a:lstStyle/>
            <a:p>
              <a:r>
                <a:rPr lang="zh-CN" altLang="en-US" sz="1800" b="1">
                  <a:solidFill>
                    <a:srgbClr val="3333FF"/>
                  </a:solidFill>
                  <a:latin typeface="仿宋" pitchFamily="49" charset="-122"/>
                  <a:ea typeface="仿宋" pitchFamily="49" charset="-122"/>
                  <a:cs typeface="Times New Roman" pitchFamily="18" charset="0"/>
                </a:rPr>
                <a:t>层次</a:t>
              </a:r>
              <a:endParaRPr lang="zh-CN" altLang="en-US" sz="1800" b="1" dirty="0">
                <a:solidFill>
                  <a:srgbClr val="3333FF"/>
                </a:solidFill>
                <a:latin typeface="仿宋" pitchFamily="49" charset="-122"/>
                <a:ea typeface="仿宋" pitchFamily="49" charset="-122"/>
                <a:cs typeface="Times New Roman" pitchFamily="18" charset="0"/>
              </a:endParaRPr>
            </a:p>
          </p:txBody>
        </p:sp>
        <p:sp>
          <p:nvSpPr>
            <p:cNvPr id="8" name="TextBox 100">
              <a:extLst>
                <a:ext uri="{FF2B5EF4-FFF2-40B4-BE49-F238E27FC236}">
                  <a16:creationId xmlns:a16="http://schemas.microsoft.com/office/drawing/2014/main" id="{A9B9274B-A353-F2A9-6D17-DAE4D68287B4}"/>
                </a:ext>
              </a:extLst>
            </p:cNvPr>
            <p:cNvSpPr txBox="1"/>
            <p:nvPr/>
          </p:nvSpPr>
          <p:spPr>
            <a:xfrm>
              <a:off x="7572396" y="2130974"/>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3</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9" name="直接连接符 8">
              <a:extLst>
                <a:ext uri="{FF2B5EF4-FFF2-40B4-BE49-F238E27FC236}">
                  <a16:creationId xmlns:a16="http://schemas.microsoft.com/office/drawing/2014/main" id="{1A69CE09-5F52-9911-3A65-CA8B1F5D0FFC}"/>
                </a:ext>
              </a:extLst>
            </p:cNvPr>
            <p:cNvCxnSpPr/>
            <p:nvPr/>
          </p:nvCxnSpPr>
          <p:spPr>
            <a:xfrm flipV="1">
              <a:off x="1071538" y="2325192"/>
              <a:ext cx="648000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0" name="TextBox 104">
              <a:extLst>
                <a:ext uri="{FF2B5EF4-FFF2-40B4-BE49-F238E27FC236}">
                  <a16:creationId xmlns:a16="http://schemas.microsoft.com/office/drawing/2014/main" id="{D329C311-611A-7252-5A11-9835E66ACC9F}"/>
                </a:ext>
              </a:extLst>
            </p:cNvPr>
            <p:cNvSpPr txBox="1"/>
            <p:nvPr/>
          </p:nvSpPr>
          <p:spPr>
            <a:xfrm>
              <a:off x="7572396" y="2845354"/>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4</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11" name="直接连接符 10">
              <a:extLst>
                <a:ext uri="{FF2B5EF4-FFF2-40B4-BE49-F238E27FC236}">
                  <a16:creationId xmlns:a16="http://schemas.microsoft.com/office/drawing/2014/main" id="{73613303-40C2-1B6C-90AF-FE9BDF06D1E7}"/>
                </a:ext>
              </a:extLst>
            </p:cNvPr>
            <p:cNvCxnSpPr/>
            <p:nvPr/>
          </p:nvCxnSpPr>
          <p:spPr>
            <a:xfrm flipV="1">
              <a:off x="1071538" y="3039572"/>
              <a:ext cx="648000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2" name="TextBox 106">
              <a:extLst>
                <a:ext uri="{FF2B5EF4-FFF2-40B4-BE49-F238E27FC236}">
                  <a16:creationId xmlns:a16="http://schemas.microsoft.com/office/drawing/2014/main" id="{6F5DDBFB-CB33-E293-09F4-C19AA13162A3}"/>
                </a:ext>
              </a:extLst>
            </p:cNvPr>
            <p:cNvSpPr txBox="1"/>
            <p:nvPr/>
          </p:nvSpPr>
          <p:spPr>
            <a:xfrm>
              <a:off x="7572396" y="3643314"/>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5</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13" name="直接连接符 12">
              <a:extLst>
                <a:ext uri="{FF2B5EF4-FFF2-40B4-BE49-F238E27FC236}">
                  <a16:creationId xmlns:a16="http://schemas.microsoft.com/office/drawing/2014/main" id="{5E40FA21-CF35-BCF1-1224-44C86AA4ED58}"/>
                </a:ext>
              </a:extLst>
            </p:cNvPr>
            <p:cNvCxnSpPr/>
            <p:nvPr/>
          </p:nvCxnSpPr>
          <p:spPr>
            <a:xfrm flipV="1">
              <a:off x="1071538" y="3837532"/>
              <a:ext cx="648000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4" name="TextBox 108">
              <a:extLst>
                <a:ext uri="{FF2B5EF4-FFF2-40B4-BE49-F238E27FC236}">
                  <a16:creationId xmlns:a16="http://schemas.microsoft.com/office/drawing/2014/main" id="{0CF50A40-A8C2-02EB-93D2-7A246B2A5B4E}"/>
                </a:ext>
              </a:extLst>
            </p:cNvPr>
            <p:cNvSpPr txBox="1"/>
            <p:nvPr/>
          </p:nvSpPr>
          <p:spPr>
            <a:xfrm>
              <a:off x="7572396" y="4518572"/>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6</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15" name="直接连接符 14">
              <a:extLst>
                <a:ext uri="{FF2B5EF4-FFF2-40B4-BE49-F238E27FC236}">
                  <a16:creationId xmlns:a16="http://schemas.microsoft.com/office/drawing/2014/main" id="{0B4DC44A-ACE6-0A14-FA0B-E6F8389F3AE3}"/>
                </a:ext>
              </a:extLst>
            </p:cNvPr>
            <p:cNvCxnSpPr/>
            <p:nvPr/>
          </p:nvCxnSpPr>
          <p:spPr>
            <a:xfrm flipV="1">
              <a:off x="1071538" y="4712790"/>
              <a:ext cx="648000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sp>
          <p:nvSpPr>
            <p:cNvPr id="16" name="TextBox 110">
              <a:extLst>
                <a:ext uri="{FF2B5EF4-FFF2-40B4-BE49-F238E27FC236}">
                  <a16:creationId xmlns:a16="http://schemas.microsoft.com/office/drawing/2014/main" id="{B0FD81E1-99A4-A3E6-2647-7462DFC73CCF}"/>
                </a:ext>
              </a:extLst>
            </p:cNvPr>
            <p:cNvSpPr txBox="1"/>
            <p:nvPr/>
          </p:nvSpPr>
          <p:spPr>
            <a:xfrm>
              <a:off x="7572396" y="5274246"/>
              <a:ext cx="428628" cy="369332"/>
            </a:xfrm>
            <a:prstGeom prst="rect">
              <a:avLst/>
            </a:prstGeom>
            <a:noFill/>
          </p:spPr>
          <p:txBody>
            <a:bodyPr wrap="square" rtlCol="0">
              <a:spAutoFit/>
            </a:bodyPr>
            <a:lstStyle/>
            <a:p>
              <a:pPr algn="l"/>
              <a:r>
                <a:rPr lang="en-US" altLang="zh-CN" sz="1800" b="1">
                  <a:solidFill>
                    <a:srgbClr val="FF00FF"/>
                  </a:solidFill>
                  <a:latin typeface="Consolas" pitchFamily="49" charset="0"/>
                  <a:ea typeface="楷体" pitchFamily="49" charset="-122"/>
                  <a:cs typeface="Consolas" pitchFamily="49" charset="0"/>
                </a:rPr>
                <a:t>7</a:t>
              </a:r>
              <a:endParaRPr lang="zh-CN" altLang="en-US" sz="1800" b="1" dirty="0">
                <a:solidFill>
                  <a:srgbClr val="FF00FF"/>
                </a:solidFill>
                <a:latin typeface="Consolas" pitchFamily="49" charset="0"/>
                <a:ea typeface="楷体" pitchFamily="49" charset="-122"/>
                <a:cs typeface="Consolas" pitchFamily="49" charset="0"/>
              </a:endParaRPr>
            </a:p>
          </p:txBody>
        </p:sp>
        <p:cxnSp>
          <p:nvCxnSpPr>
            <p:cNvPr id="17" name="直接连接符 16">
              <a:extLst>
                <a:ext uri="{FF2B5EF4-FFF2-40B4-BE49-F238E27FC236}">
                  <a16:creationId xmlns:a16="http://schemas.microsoft.com/office/drawing/2014/main" id="{BCE79E78-1B92-0F4E-4BBB-F3CF8980D400}"/>
                </a:ext>
              </a:extLst>
            </p:cNvPr>
            <p:cNvCxnSpPr/>
            <p:nvPr/>
          </p:nvCxnSpPr>
          <p:spPr>
            <a:xfrm flipV="1">
              <a:off x="1000100" y="5468464"/>
              <a:ext cx="6480000" cy="0"/>
            </a:xfrm>
            <a:prstGeom prst="line">
              <a:avLst/>
            </a:prstGeom>
            <a:ln w="12700">
              <a:solidFill>
                <a:srgbClr val="FF00FF"/>
              </a:solidFill>
              <a:prstDash val="dash"/>
              <a:tailEnd type="none"/>
            </a:ln>
          </p:spPr>
          <p:style>
            <a:lnRef idx="2">
              <a:schemeClr val="accent5"/>
            </a:lnRef>
            <a:fillRef idx="0">
              <a:schemeClr val="accent5"/>
            </a:fillRef>
            <a:effectRef idx="1">
              <a:schemeClr val="accent5"/>
            </a:effectRef>
            <a:fontRef idx="minor">
              <a:schemeClr val="tx1"/>
            </a:fontRef>
          </p:style>
        </p:cxnSp>
      </p:grpSp>
      <p:sp>
        <p:nvSpPr>
          <p:cNvPr id="18" name="Text Box 76">
            <a:extLst>
              <a:ext uri="{FF2B5EF4-FFF2-40B4-BE49-F238E27FC236}">
                <a16:creationId xmlns:a16="http://schemas.microsoft.com/office/drawing/2014/main" id="{64216A6B-ED26-352E-CC44-E3009F973975}"/>
              </a:ext>
            </a:extLst>
          </p:cNvPr>
          <p:cNvSpPr txBox="1">
            <a:spLocks noChangeArrowheads="1"/>
          </p:cNvSpPr>
          <p:nvPr/>
        </p:nvSpPr>
        <p:spPr bwMode="auto">
          <a:xfrm>
            <a:off x="285720" y="285728"/>
            <a:ext cx="2357454" cy="400110"/>
          </a:xfrm>
          <a:prstGeom prst="rect">
            <a:avLst/>
          </a:prstGeom>
          <a:noFill/>
          <a:ln w="9525">
            <a:noFill/>
            <a:miter lim="800000"/>
            <a:headEnd/>
            <a:tailEnd/>
          </a:ln>
        </p:spPr>
        <p:txBody>
          <a:bodyPr wrap="square">
            <a:spAutoFit/>
          </a:bodyPr>
          <a:lstStyle/>
          <a:p>
            <a:pPr algn="l">
              <a:spcBef>
                <a:spcPct val="50000"/>
              </a:spcBef>
            </a:pPr>
            <a:r>
              <a:rPr kumimoji="0" lang="zh-CN" altLang="en-US" sz="2000" b="1" dirty="0">
                <a:solidFill>
                  <a:srgbClr val="3333FF"/>
                </a:solidFill>
                <a:latin typeface="Consolas" pitchFamily="49" charset="0"/>
                <a:ea typeface="楷体" pitchFamily="49" charset="-122"/>
                <a:cs typeface="Consolas" pitchFamily="49" charset="0"/>
              </a:rPr>
              <a:t>加上</a:t>
            </a:r>
            <a:r>
              <a:rPr kumimoji="0" lang="en-US" altLang="zh-CN" sz="2000" b="1" dirty="0">
                <a:solidFill>
                  <a:srgbClr val="3333FF"/>
                </a:solidFill>
                <a:latin typeface="Consolas" pitchFamily="49" charset="0"/>
                <a:ea typeface="楷体" pitchFamily="49" charset="-122"/>
                <a:cs typeface="Consolas" pitchFamily="49" charset="0"/>
              </a:rPr>
              <a:t>13</a:t>
            </a:r>
            <a:r>
              <a:rPr kumimoji="0" lang="zh-CN" altLang="en-US" sz="2000" b="1">
                <a:solidFill>
                  <a:srgbClr val="3333FF"/>
                </a:solidFill>
                <a:latin typeface="Consolas" pitchFamily="49" charset="0"/>
                <a:ea typeface="楷体" pitchFamily="49" charset="-122"/>
                <a:cs typeface="Consolas" pitchFamily="49" charset="0"/>
              </a:rPr>
              <a:t>个外部结点：</a:t>
            </a:r>
            <a:endParaRPr kumimoji="0" lang="zh-CN" altLang="en-US" sz="2000" b="1" dirty="0">
              <a:solidFill>
                <a:srgbClr val="3333FF"/>
              </a:solidFill>
              <a:latin typeface="Consolas" pitchFamily="49" charset="0"/>
              <a:ea typeface="楷体" pitchFamily="49" charset="-122"/>
              <a:cs typeface="Consolas" pitchFamily="49" charset="0"/>
            </a:endParaRPr>
          </a:p>
        </p:txBody>
      </p:sp>
      <p:grpSp>
        <p:nvGrpSpPr>
          <p:cNvPr id="19" name="组合 91">
            <a:extLst>
              <a:ext uri="{FF2B5EF4-FFF2-40B4-BE49-F238E27FC236}">
                <a16:creationId xmlns:a16="http://schemas.microsoft.com/office/drawing/2014/main" id="{45D6A30C-18F8-5924-F81F-8C808E759798}"/>
              </a:ext>
            </a:extLst>
          </p:cNvPr>
          <p:cNvGrpSpPr/>
          <p:nvPr/>
        </p:nvGrpSpPr>
        <p:grpSpPr>
          <a:xfrm>
            <a:off x="357158" y="500042"/>
            <a:ext cx="7072362" cy="5118136"/>
            <a:chOff x="428596" y="1000108"/>
            <a:chExt cx="7072362" cy="5118136"/>
          </a:xfrm>
        </p:grpSpPr>
        <p:sp>
          <p:nvSpPr>
            <p:cNvPr id="20" name="椭圆 19">
              <a:extLst>
                <a:ext uri="{FF2B5EF4-FFF2-40B4-BE49-F238E27FC236}">
                  <a16:creationId xmlns:a16="http://schemas.microsoft.com/office/drawing/2014/main" id="{B98BFFA5-69CB-5A39-2994-B2E48A89B50E}"/>
                </a:ext>
              </a:extLst>
            </p:cNvPr>
            <p:cNvSpPr/>
            <p:nvPr/>
          </p:nvSpPr>
          <p:spPr>
            <a:xfrm>
              <a:off x="3245620" y="1000108"/>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25</a:t>
              </a:r>
              <a:endParaRPr lang="zh-CN" altLang="en-US" sz="1800" dirty="0">
                <a:solidFill>
                  <a:srgbClr val="3333FF"/>
                </a:solidFill>
                <a:latin typeface="Consolas" pitchFamily="49" charset="0"/>
                <a:cs typeface="Consolas" pitchFamily="49" charset="0"/>
              </a:endParaRPr>
            </a:p>
          </p:txBody>
        </p:sp>
        <p:grpSp>
          <p:nvGrpSpPr>
            <p:cNvPr id="21" name="组合 105">
              <a:extLst>
                <a:ext uri="{FF2B5EF4-FFF2-40B4-BE49-F238E27FC236}">
                  <a16:creationId xmlns:a16="http://schemas.microsoft.com/office/drawing/2014/main" id="{91943054-A3C9-ADBC-44D4-C8A719F45154}"/>
                </a:ext>
              </a:extLst>
            </p:cNvPr>
            <p:cNvGrpSpPr/>
            <p:nvPr/>
          </p:nvGrpSpPr>
          <p:grpSpPr>
            <a:xfrm>
              <a:off x="1571604" y="1288107"/>
              <a:ext cx="1674017" cy="997885"/>
              <a:chOff x="1571604" y="1288107"/>
              <a:chExt cx="1674017" cy="997885"/>
            </a:xfrm>
          </p:grpSpPr>
          <p:sp>
            <p:nvSpPr>
              <p:cNvPr id="91" name="椭圆 90">
                <a:extLst>
                  <a:ext uri="{FF2B5EF4-FFF2-40B4-BE49-F238E27FC236}">
                    <a16:creationId xmlns:a16="http://schemas.microsoft.com/office/drawing/2014/main" id="{0D5D0912-97AD-5B1C-C130-0011C20BDC16}"/>
                  </a:ext>
                </a:extLst>
              </p:cNvPr>
              <p:cNvSpPr/>
              <p:nvPr/>
            </p:nvSpPr>
            <p:spPr>
              <a:xfrm>
                <a:off x="1571604"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18</a:t>
                </a:r>
                <a:endParaRPr lang="zh-CN" altLang="en-US" sz="1800" dirty="0">
                  <a:solidFill>
                    <a:srgbClr val="3333FF"/>
                  </a:solidFill>
                  <a:latin typeface="Consolas" pitchFamily="49" charset="0"/>
                  <a:cs typeface="Consolas" pitchFamily="49" charset="0"/>
                </a:endParaRPr>
              </a:p>
            </p:txBody>
          </p:sp>
          <p:cxnSp>
            <p:nvCxnSpPr>
              <p:cNvPr id="92" name="直接连接符 91">
                <a:extLst>
                  <a:ext uri="{FF2B5EF4-FFF2-40B4-BE49-F238E27FC236}">
                    <a16:creationId xmlns:a16="http://schemas.microsoft.com/office/drawing/2014/main" id="{33509724-2A0F-328F-B0E8-896B9B6773A9}"/>
                  </a:ext>
                </a:extLst>
              </p:cNvPr>
              <p:cNvCxnSpPr>
                <a:stCxn id="20" idx="2"/>
                <a:endCxn id="91" idx="7"/>
              </p:cNvCxnSpPr>
              <p:nvPr/>
            </p:nvCxnSpPr>
            <p:spPr>
              <a:xfrm rot="10800000" flipV="1">
                <a:off x="2093980" y="1288107"/>
                <a:ext cx="1151641"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2" name="组合 110">
              <a:extLst>
                <a:ext uri="{FF2B5EF4-FFF2-40B4-BE49-F238E27FC236}">
                  <a16:creationId xmlns:a16="http://schemas.microsoft.com/office/drawing/2014/main" id="{F4E247CE-90F9-03DD-DF05-7D56D60DADF8}"/>
                </a:ext>
              </a:extLst>
            </p:cNvPr>
            <p:cNvGrpSpPr/>
            <p:nvPr/>
          </p:nvGrpSpPr>
          <p:grpSpPr>
            <a:xfrm>
              <a:off x="857224" y="2201639"/>
              <a:ext cx="804006" cy="870171"/>
              <a:chOff x="857224" y="2201639"/>
              <a:chExt cx="804006" cy="870171"/>
            </a:xfrm>
          </p:grpSpPr>
          <p:sp>
            <p:nvSpPr>
              <p:cNvPr id="89" name="椭圆 88">
                <a:extLst>
                  <a:ext uri="{FF2B5EF4-FFF2-40B4-BE49-F238E27FC236}">
                    <a16:creationId xmlns:a16="http://schemas.microsoft.com/office/drawing/2014/main" id="{A1F9BC25-54F7-CFF1-A95A-EC2AD391E80E}"/>
                  </a:ext>
                </a:extLst>
              </p:cNvPr>
              <p:cNvSpPr/>
              <p:nvPr/>
            </p:nvSpPr>
            <p:spPr>
              <a:xfrm>
                <a:off x="85722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2</a:t>
                </a:r>
                <a:endParaRPr lang="zh-CN" altLang="en-US" sz="1800" dirty="0">
                  <a:solidFill>
                    <a:srgbClr val="3333FF"/>
                  </a:solidFill>
                  <a:latin typeface="Consolas" pitchFamily="49" charset="0"/>
                  <a:cs typeface="Consolas" pitchFamily="49" charset="0"/>
                </a:endParaRPr>
              </a:p>
            </p:txBody>
          </p:sp>
          <p:cxnSp>
            <p:nvCxnSpPr>
              <p:cNvPr id="90" name="直接连接符 89">
                <a:extLst>
                  <a:ext uri="{FF2B5EF4-FFF2-40B4-BE49-F238E27FC236}">
                    <a16:creationId xmlns:a16="http://schemas.microsoft.com/office/drawing/2014/main" id="{60B61FDC-F491-C626-F14A-C9421DEA7459}"/>
                  </a:ext>
                </a:extLst>
              </p:cNvPr>
              <p:cNvCxnSpPr>
                <a:stCxn id="91" idx="3"/>
              </p:cNvCxnSpPr>
              <p:nvPr/>
            </p:nvCxnSpPr>
            <p:spPr>
              <a:xfrm rot="5400000">
                <a:off x="1305160" y="2207736"/>
                <a:ext cx="362167" cy="349973"/>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3" name="组合 111">
              <a:extLst>
                <a:ext uri="{FF2B5EF4-FFF2-40B4-BE49-F238E27FC236}">
                  <a16:creationId xmlns:a16="http://schemas.microsoft.com/office/drawing/2014/main" id="{EDEB7A99-5448-6648-D219-1E34BC971B26}"/>
                </a:ext>
              </a:extLst>
            </p:cNvPr>
            <p:cNvGrpSpPr/>
            <p:nvPr/>
          </p:nvGrpSpPr>
          <p:grpSpPr>
            <a:xfrm>
              <a:off x="1379598" y="2987457"/>
              <a:ext cx="620634" cy="803229"/>
              <a:chOff x="1379598" y="2987457"/>
              <a:chExt cx="620634" cy="803229"/>
            </a:xfrm>
          </p:grpSpPr>
          <p:sp>
            <p:nvSpPr>
              <p:cNvPr id="87" name="椭圆 86">
                <a:extLst>
                  <a:ext uri="{FF2B5EF4-FFF2-40B4-BE49-F238E27FC236}">
                    <a16:creationId xmlns:a16="http://schemas.microsoft.com/office/drawing/2014/main" id="{4B1C261F-EBE1-AF98-1815-ADBF7ECE6836}"/>
                  </a:ext>
                </a:extLst>
              </p:cNvPr>
              <p:cNvSpPr/>
              <p:nvPr/>
            </p:nvSpPr>
            <p:spPr>
              <a:xfrm>
                <a:off x="138823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a:t>
                </a:r>
                <a:endParaRPr lang="zh-CN" altLang="en-US" sz="1800" dirty="0">
                  <a:solidFill>
                    <a:srgbClr val="3333FF"/>
                  </a:solidFill>
                  <a:latin typeface="Consolas" pitchFamily="49" charset="0"/>
                  <a:cs typeface="Consolas" pitchFamily="49" charset="0"/>
                </a:endParaRPr>
              </a:p>
            </p:txBody>
          </p:sp>
          <p:cxnSp>
            <p:nvCxnSpPr>
              <p:cNvPr id="88" name="直接连接符 87">
                <a:extLst>
                  <a:ext uri="{FF2B5EF4-FFF2-40B4-BE49-F238E27FC236}">
                    <a16:creationId xmlns:a16="http://schemas.microsoft.com/office/drawing/2014/main" id="{0BEDEA5F-079E-D528-D8EB-AF87C307298B}"/>
                  </a:ext>
                </a:extLst>
              </p:cNvPr>
              <p:cNvCxnSpPr>
                <a:stCxn id="89" idx="5"/>
              </p:cNvCxnSpPr>
              <p:nvPr/>
            </p:nvCxnSpPr>
            <p:spPr>
              <a:xfrm rot="16200000" flipH="1">
                <a:off x="1332618" y="3034437"/>
                <a:ext cx="260566" cy="166605"/>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4" name="组合 112">
              <a:extLst>
                <a:ext uri="{FF2B5EF4-FFF2-40B4-BE49-F238E27FC236}">
                  <a16:creationId xmlns:a16="http://schemas.microsoft.com/office/drawing/2014/main" id="{13C6183C-1375-AB28-3E3F-C5DDCE917B81}"/>
                </a:ext>
              </a:extLst>
            </p:cNvPr>
            <p:cNvGrpSpPr/>
            <p:nvPr/>
          </p:nvGrpSpPr>
          <p:grpSpPr>
            <a:xfrm>
              <a:off x="1910607" y="3706333"/>
              <a:ext cx="701625" cy="937113"/>
              <a:chOff x="1910607" y="3706333"/>
              <a:chExt cx="701625" cy="937113"/>
            </a:xfrm>
          </p:grpSpPr>
          <p:sp>
            <p:nvSpPr>
              <p:cNvPr id="85" name="椭圆 84">
                <a:extLst>
                  <a:ext uri="{FF2B5EF4-FFF2-40B4-BE49-F238E27FC236}">
                    <a16:creationId xmlns:a16="http://schemas.microsoft.com/office/drawing/2014/main" id="{7F4FDC07-46E9-D9C5-E6D0-909225B68876}"/>
                  </a:ext>
                </a:extLst>
              </p:cNvPr>
              <p:cNvSpPr/>
              <p:nvPr/>
            </p:nvSpPr>
            <p:spPr>
              <a:xfrm>
                <a:off x="2000232"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11</a:t>
                </a:r>
                <a:endParaRPr lang="zh-CN" altLang="en-US" sz="1800" dirty="0">
                  <a:solidFill>
                    <a:srgbClr val="3333FF"/>
                  </a:solidFill>
                  <a:latin typeface="Consolas" pitchFamily="49" charset="0"/>
                  <a:cs typeface="Consolas" pitchFamily="49" charset="0"/>
                </a:endParaRPr>
              </a:p>
            </p:txBody>
          </p:sp>
          <p:cxnSp>
            <p:nvCxnSpPr>
              <p:cNvPr id="86" name="直接连接符 85">
                <a:extLst>
                  <a:ext uri="{FF2B5EF4-FFF2-40B4-BE49-F238E27FC236}">
                    <a16:creationId xmlns:a16="http://schemas.microsoft.com/office/drawing/2014/main" id="{83A5CE82-D77F-CF85-DB21-22357EA42E7F}"/>
                  </a:ext>
                </a:extLst>
              </p:cNvPr>
              <p:cNvCxnSpPr>
                <a:stCxn id="87" idx="5"/>
              </p:cNvCxnSpPr>
              <p:nvPr/>
            </p:nvCxnSpPr>
            <p:spPr>
              <a:xfrm rot="16200000" flipH="1">
                <a:off x="1821949" y="3794991"/>
                <a:ext cx="420066" cy="24275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5" name="组合 106">
              <a:extLst>
                <a:ext uri="{FF2B5EF4-FFF2-40B4-BE49-F238E27FC236}">
                  <a16:creationId xmlns:a16="http://schemas.microsoft.com/office/drawing/2014/main" id="{9E363363-2614-2CF3-13DF-3A483BA06534}"/>
                </a:ext>
              </a:extLst>
            </p:cNvPr>
            <p:cNvGrpSpPr/>
            <p:nvPr/>
          </p:nvGrpSpPr>
          <p:grpSpPr>
            <a:xfrm>
              <a:off x="3857620" y="1288108"/>
              <a:ext cx="1689112" cy="997884"/>
              <a:chOff x="3857620" y="1288108"/>
              <a:chExt cx="1689112" cy="997884"/>
            </a:xfrm>
          </p:grpSpPr>
          <p:sp>
            <p:nvSpPr>
              <p:cNvPr id="83" name="椭圆 82">
                <a:extLst>
                  <a:ext uri="{FF2B5EF4-FFF2-40B4-BE49-F238E27FC236}">
                    <a16:creationId xmlns:a16="http://schemas.microsoft.com/office/drawing/2014/main" id="{C99DC42F-D390-4C4C-9280-E7FC0C5DDE94}"/>
                  </a:ext>
                </a:extLst>
              </p:cNvPr>
              <p:cNvSpPr/>
              <p:nvPr/>
            </p:nvSpPr>
            <p:spPr>
              <a:xfrm>
                <a:off x="4934732" y="1709992"/>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46</a:t>
                </a:r>
                <a:endParaRPr lang="zh-CN" altLang="en-US" sz="1800" dirty="0">
                  <a:solidFill>
                    <a:srgbClr val="3333FF"/>
                  </a:solidFill>
                  <a:latin typeface="Consolas" pitchFamily="49" charset="0"/>
                  <a:cs typeface="Consolas" pitchFamily="49" charset="0"/>
                </a:endParaRPr>
              </a:p>
            </p:txBody>
          </p:sp>
          <p:cxnSp>
            <p:nvCxnSpPr>
              <p:cNvPr id="84" name="直接连接符 83">
                <a:extLst>
                  <a:ext uri="{FF2B5EF4-FFF2-40B4-BE49-F238E27FC236}">
                    <a16:creationId xmlns:a16="http://schemas.microsoft.com/office/drawing/2014/main" id="{0FD556D7-BB3B-8B63-D479-A8792293DA95}"/>
                  </a:ext>
                </a:extLst>
              </p:cNvPr>
              <p:cNvCxnSpPr>
                <a:stCxn id="20" idx="6"/>
                <a:endCxn id="83" idx="1"/>
              </p:cNvCxnSpPr>
              <p:nvPr/>
            </p:nvCxnSpPr>
            <p:spPr>
              <a:xfrm>
                <a:off x="3857620" y="1288108"/>
                <a:ext cx="1166737" cy="506237"/>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6" name="组合 113">
              <a:extLst>
                <a:ext uri="{FF2B5EF4-FFF2-40B4-BE49-F238E27FC236}">
                  <a16:creationId xmlns:a16="http://schemas.microsoft.com/office/drawing/2014/main" id="{60CB9702-354C-9034-B70E-FB503C188211}"/>
                </a:ext>
              </a:extLst>
            </p:cNvPr>
            <p:cNvGrpSpPr/>
            <p:nvPr/>
          </p:nvGrpSpPr>
          <p:grpSpPr>
            <a:xfrm>
              <a:off x="4148914" y="2201639"/>
              <a:ext cx="875443" cy="870171"/>
              <a:chOff x="4148914" y="2201639"/>
              <a:chExt cx="875443" cy="870171"/>
            </a:xfrm>
          </p:grpSpPr>
          <p:sp>
            <p:nvSpPr>
              <p:cNvPr id="81" name="椭圆 80">
                <a:extLst>
                  <a:ext uri="{FF2B5EF4-FFF2-40B4-BE49-F238E27FC236}">
                    <a16:creationId xmlns:a16="http://schemas.microsoft.com/office/drawing/2014/main" id="{AF9A1AC1-A68C-0DD2-EA5E-83D96C1B7FC5}"/>
                  </a:ext>
                </a:extLst>
              </p:cNvPr>
              <p:cNvSpPr/>
              <p:nvPr/>
            </p:nvSpPr>
            <p:spPr>
              <a:xfrm>
                <a:off x="4148914"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39</a:t>
                </a:r>
                <a:endParaRPr lang="zh-CN" altLang="en-US" sz="1800" dirty="0">
                  <a:solidFill>
                    <a:srgbClr val="3333FF"/>
                  </a:solidFill>
                  <a:latin typeface="Consolas" pitchFamily="49" charset="0"/>
                  <a:cs typeface="Consolas" pitchFamily="49" charset="0"/>
                </a:endParaRPr>
              </a:p>
            </p:txBody>
          </p:sp>
          <p:cxnSp>
            <p:nvCxnSpPr>
              <p:cNvPr id="82" name="直接连接符 81">
                <a:extLst>
                  <a:ext uri="{FF2B5EF4-FFF2-40B4-BE49-F238E27FC236}">
                    <a16:creationId xmlns:a16="http://schemas.microsoft.com/office/drawing/2014/main" id="{9B80CDA5-8BAE-42C0-CBCC-2D24BC399E90}"/>
                  </a:ext>
                </a:extLst>
              </p:cNvPr>
              <p:cNvCxnSpPr>
                <a:stCxn id="83" idx="3"/>
                <a:endCxn id="81" idx="7"/>
              </p:cNvCxnSpPr>
              <p:nvPr/>
            </p:nvCxnSpPr>
            <p:spPr>
              <a:xfrm rot="5400000">
                <a:off x="4658561" y="2214367"/>
                <a:ext cx="378524" cy="35306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7" name="组合 115">
              <a:extLst>
                <a:ext uri="{FF2B5EF4-FFF2-40B4-BE49-F238E27FC236}">
                  <a16:creationId xmlns:a16="http://schemas.microsoft.com/office/drawing/2014/main" id="{A7DF547D-FE2A-07E1-43D5-9D5FCEC2B9C2}"/>
                </a:ext>
              </a:extLst>
            </p:cNvPr>
            <p:cNvGrpSpPr/>
            <p:nvPr/>
          </p:nvGrpSpPr>
          <p:grpSpPr>
            <a:xfrm>
              <a:off x="3434534" y="2987457"/>
              <a:ext cx="804005" cy="803229"/>
              <a:chOff x="3434534" y="2987457"/>
              <a:chExt cx="804005" cy="803229"/>
            </a:xfrm>
          </p:grpSpPr>
          <p:sp>
            <p:nvSpPr>
              <p:cNvPr id="79" name="椭圆 78">
                <a:extLst>
                  <a:ext uri="{FF2B5EF4-FFF2-40B4-BE49-F238E27FC236}">
                    <a16:creationId xmlns:a16="http://schemas.microsoft.com/office/drawing/2014/main" id="{6B93A4BD-2C25-BE99-4A0C-97D0AD987578}"/>
                  </a:ext>
                </a:extLst>
              </p:cNvPr>
              <p:cNvSpPr/>
              <p:nvPr/>
            </p:nvSpPr>
            <p:spPr>
              <a:xfrm>
                <a:off x="3434534"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32</a:t>
                </a:r>
                <a:endParaRPr lang="zh-CN" altLang="en-US" sz="1800" dirty="0">
                  <a:solidFill>
                    <a:srgbClr val="3333FF"/>
                  </a:solidFill>
                  <a:latin typeface="Consolas" pitchFamily="49" charset="0"/>
                  <a:cs typeface="Consolas" pitchFamily="49" charset="0"/>
                </a:endParaRPr>
              </a:p>
            </p:txBody>
          </p:sp>
          <p:cxnSp>
            <p:nvCxnSpPr>
              <p:cNvPr id="80" name="直接连接符 79">
                <a:extLst>
                  <a:ext uri="{FF2B5EF4-FFF2-40B4-BE49-F238E27FC236}">
                    <a16:creationId xmlns:a16="http://schemas.microsoft.com/office/drawing/2014/main" id="{2808AC0E-0146-6A7C-1771-DE65153CE10C}"/>
                  </a:ext>
                </a:extLst>
              </p:cNvPr>
              <p:cNvCxnSpPr>
                <a:stCxn id="81" idx="3"/>
                <a:endCxn id="79" idx="7"/>
              </p:cNvCxnSpPr>
              <p:nvPr/>
            </p:nvCxnSpPr>
            <p:spPr>
              <a:xfrm rot="5400000">
                <a:off x="3941933" y="3002433"/>
                <a:ext cx="311582" cy="28163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8" name="组合 114">
              <a:extLst>
                <a:ext uri="{FF2B5EF4-FFF2-40B4-BE49-F238E27FC236}">
                  <a16:creationId xmlns:a16="http://schemas.microsoft.com/office/drawing/2014/main" id="{3F3847A1-84A5-1A25-FBCA-2A486DA60249}"/>
                </a:ext>
              </a:extLst>
            </p:cNvPr>
            <p:cNvGrpSpPr/>
            <p:nvPr/>
          </p:nvGrpSpPr>
          <p:grpSpPr>
            <a:xfrm>
              <a:off x="5457107" y="2201639"/>
              <a:ext cx="946881" cy="870171"/>
              <a:chOff x="5457107" y="2201639"/>
              <a:chExt cx="946881" cy="870171"/>
            </a:xfrm>
          </p:grpSpPr>
          <p:sp>
            <p:nvSpPr>
              <p:cNvPr id="77" name="椭圆 76">
                <a:extLst>
                  <a:ext uri="{FF2B5EF4-FFF2-40B4-BE49-F238E27FC236}">
                    <a16:creationId xmlns:a16="http://schemas.microsoft.com/office/drawing/2014/main" id="{2628CFA1-61D8-AED7-DC9D-EFA1CECCD9C3}"/>
                  </a:ext>
                </a:extLst>
              </p:cNvPr>
              <p:cNvSpPr/>
              <p:nvPr/>
            </p:nvSpPr>
            <p:spPr>
              <a:xfrm>
                <a:off x="5791988" y="2495810"/>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53</a:t>
                </a:r>
                <a:endParaRPr lang="zh-CN" altLang="en-US" sz="1800" dirty="0">
                  <a:solidFill>
                    <a:srgbClr val="3333FF"/>
                  </a:solidFill>
                  <a:latin typeface="Consolas" pitchFamily="49" charset="0"/>
                  <a:cs typeface="Consolas" pitchFamily="49" charset="0"/>
                </a:endParaRPr>
              </a:p>
            </p:txBody>
          </p:sp>
          <p:cxnSp>
            <p:nvCxnSpPr>
              <p:cNvPr id="78" name="直接连接符 77">
                <a:extLst>
                  <a:ext uri="{FF2B5EF4-FFF2-40B4-BE49-F238E27FC236}">
                    <a16:creationId xmlns:a16="http://schemas.microsoft.com/office/drawing/2014/main" id="{EFC5C292-9F61-2607-FD1C-B98D4E451E30}"/>
                  </a:ext>
                </a:extLst>
              </p:cNvPr>
              <p:cNvCxnSpPr>
                <a:stCxn id="83" idx="5"/>
                <a:endCxn id="77" idx="1"/>
              </p:cNvCxnSpPr>
              <p:nvPr/>
            </p:nvCxnSpPr>
            <p:spPr>
              <a:xfrm rot="16200000" flipH="1">
                <a:off x="5480098" y="2178648"/>
                <a:ext cx="378524" cy="424506"/>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29" name="组合 116">
              <a:extLst>
                <a:ext uri="{FF2B5EF4-FFF2-40B4-BE49-F238E27FC236}">
                  <a16:creationId xmlns:a16="http://schemas.microsoft.com/office/drawing/2014/main" id="{C4D17795-7936-136C-9307-C30D771777FA}"/>
                </a:ext>
              </a:extLst>
            </p:cNvPr>
            <p:cNvGrpSpPr/>
            <p:nvPr/>
          </p:nvGrpSpPr>
          <p:grpSpPr>
            <a:xfrm>
              <a:off x="6314363" y="2987457"/>
              <a:ext cx="788129" cy="803229"/>
              <a:chOff x="6314363" y="2987457"/>
              <a:chExt cx="788129" cy="803229"/>
            </a:xfrm>
          </p:grpSpPr>
          <p:sp>
            <p:nvSpPr>
              <p:cNvPr id="75" name="椭圆 74">
                <a:extLst>
                  <a:ext uri="{FF2B5EF4-FFF2-40B4-BE49-F238E27FC236}">
                    <a16:creationId xmlns:a16="http://schemas.microsoft.com/office/drawing/2014/main" id="{674777EC-6717-6CEB-F428-DE169B44095C}"/>
                  </a:ext>
                </a:extLst>
              </p:cNvPr>
              <p:cNvSpPr/>
              <p:nvPr/>
            </p:nvSpPr>
            <p:spPr>
              <a:xfrm>
                <a:off x="6490492" y="321468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74</a:t>
                </a:r>
                <a:endParaRPr lang="zh-CN" altLang="en-US" sz="1800" dirty="0">
                  <a:solidFill>
                    <a:srgbClr val="3333FF"/>
                  </a:solidFill>
                  <a:latin typeface="Consolas" pitchFamily="49" charset="0"/>
                  <a:cs typeface="Consolas" pitchFamily="49" charset="0"/>
                </a:endParaRPr>
              </a:p>
            </p:txBody>
          </p:sp>
          <p:cxnSp>
            <p:nvCxnSpPr>
              <p:cNvPr id="76" name="直接连接符 75">
                <a:extLst>
                  <a:ext uri="{FF2B5EF4-FFF2-40B4-BE49-F238E27FC236}">
                    <a16:creationId xmlns:a16="http://schemas.microsoft.com/office/drawing/2014/main" id="{816047E7-2409-0043-997A-9DCDC8E29B9A}"/>
                  </a:ext>
                </a:extLst>
              </p:cNvPr>
              <p:cNvCxnSpPr>
                <a:stCxn id="77" idx="5"/>
                <a:endCxn id="75" idx="1"/>
              </p:cNvCxnSpPr>
              <p:nvPr/>
            </p:nvCxnSpPr>
            <p:spPr>
              <a:xfrm rot="16200000" flipH="1">
                <a:off x="6291449" y="3010371"/>
                <a:ext cx="311582" cy="265754"/>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0" name="组合 117">
              <a:extLst>
                <a:ext uri="{FF2B5EF4-FFF2-40B4-BE49-F238E27FC236}">
                  <a16:creationId xmlns:a16="http://schemas.microsoft.com/office/drawing/2014/main" id="{4F0E5186-09B8-F5C0-B27B-B093EC66EA5D}"/>
                </a:ext>
              </a:extLst>
            </p:cNvPr>
            <p:cNvGrpSpPr/>
            <p:nvPr/>
          </p:nvGrpSpPr>
          <p:grpSpPr>
            <a:xfrm>
              <a:off x="5754724" y="3706333"/>
              <a:ext cx="825393" cy="937113"/>
              <a:chOff x="5754724" y="3706333"/>
              <a:chExt cx="825393" cy="937113"/>
            </a:xfrm>
          </p:grpSpPr>
          <p:sp>
            <p:nvSpPr>
              <p:cNvPr id="73" name="椭圆 72">
                <a:extLst>
                  <a:ext uri="{FF2B5EF4-FFF2-40B4-BE49-F238E27FC236}">
                    <a16:creationId xmlns:a16="http://schemas.microsoft.com/office/drawing/2014/main" id="{B38E83FC-E14E-94C3-E870-A8254DE4C995}"/>
                  </a:ext>
                </a:extLst>
              </p:cNvPr>
              <p:cNvSpPr/>
              <p:nvPr/>
            </p:nvSpPr>
            <p:spPr>
              <a:xfrm>
                <a:off x="5754724" y="4067446"/>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67</a:t>
                </a:r>
                <a:endParaRPr lang="zh-CN" altLang="en-US" sz="1800" dirty="0">
                  <a:solidFill>
                    <a:srgbClr val="3333FF"/>
                  </a:solidFill>
                  <a:latin typeface="Consolas" pitchFamily="49" charset="0"/>
                  <a:cs typeface="Consolas" pitchFamily="49" charset="0"/>
                </a:endParaRPr>
              </a:p>
            </p:txBody>
          </p:sp>
          <p:cxnSp>
            <p:nvCxnSpPr>
              <p:cNvPr id="74" name="直接连接符 73">
                <a:extLst>
                  <a:ext uri="{FF2B5EF4-FFF2-40B4-BE49-F238E27FC236}">
                    <a16:creationId xmlns:a16="http://schemas.microsoft.com/office/drawing/2014/main" id="{15545951-FFEC-B50E-BBDE-E8EA6FC2758C}"/>
                  </a:ext>
                </a:extLst>
              </p:cNvPr>
              <p:cNvCxnSpPr>
                <a:stCxn id="75" idx="3"/>
              </p:cNvCxnSpPr>
              <p:nvPr/>
            </p:nvCxnSpPr>
            <p:spPr>
              <a:xfrm rot="5400000">
                <a:off x="6199525" y="3720407"/>
                <a:ext cx="394666" cy="36651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1" name="组合 118">
              <a:extLst>
                <a:ext uri="{FF2B5EF4-FFF2-40B4-BE49-F238E27FC236}">
                  <a16:creationId xmlns:a16="http://schemas.microsoft.com/office/drawing/2014/main" id="{76516B99-5708-8403-CF5F-20236A41CC5A}"/>
                </a:ext>
              </a:extLst>
            </p:cNvPr>
            <p:cNvGrpSpPr/>
            <p:nvPr/>
          </p:nvGrpSpPr>
          <p:grpSpPr>
            <a:xfrm>
              <a:off x="5173666" y="4571793"/>
              <a:ext cx="657984" cy="857471"/>
              <a:chOff x="5173666" y="4571793"/>
              <a:chExt cx="657984" cy="857471"/>
            </a:xfrm>
          </p:grpSpPr>
          <p:sp>
            <p:nvSpPr>
              <p:cNvPr id="71" name="椭圆 70">
                <a:extLst>
                  <a:ext uri="{FF2B5EF4-FFF2-40B4-BE49-F238E27FC236}">
                    <a16:creationId xmlns:a16="http://schemas.microsoft.com/office/drawing/2014/main" id="{7890F1D5-B338-3DCC-DD7E-30732EF2807F}"/>
                  </a:ext>
                </a:extLst>
              </p:cNvPr>
              <p:cNvSpPr/>
              <p:nvPr/>
            </p:nvSpPr>
            <p:spPr>
              <a:xfrm>
                <a:off x="5173666" y="4853264"/>
                <a:ext cx="612000" cy="576000"/>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800" dirty="0">
                    <a:solidFill>
                      <a:srgbClr val="3333FF"/>
                    </a:solidFill>
                    <a:latin typeface="Consolas" pitchFamily="49" charset="0"/>
                    <a:cs typeface="Consolas" pitchFamily="49" charset="0"/>
                  </a:rPr>
                  <a:t>60</a:t>
                </a:r>
                <a:endParaRPr lang="zh-CN" altLang="en-US" sz="1800" dirty="0">
                  <a:solidFill>
                    <a:srgbClr val="3333FF"/>
                  </a:solidFill>
                  <a:latin typeface="Consolas" pitchFamily="49" charset="0"/>
                  <a:cs typeface="Consolas" pitchFamily="49" charset="0"/>
                </a:endParaRPr>
              </a:p>
            </p:txBody>
          </p:sp>
          <p:cxnSp>
            <p:nvCxnSpPr>
              <p:cNvPr id="72" name="直接连接符 71">
                <a:extLst>
                  <a:ext uri="{FF2B5EF4-FFF2-40B4-BE49-F238E27FC236}">
                    <a16:creationId xmlns:a16="http://schemas.microsoft.com/office/drawing/2014/main" id="{DC97E245-25B2-0150-A626-FD32AA718735}"/>
                  </a:ext>
                </a:extLst>
              </p:cNvPr>
              <p:cNvCxnSpPr/>
              <p:nvPr/>
            </p:nvCxnSpPr>
            <p:spPr>
              <a:xfrm rot="5400000">
                <a:off x="5569227" y="4608037"/>
                <a:ext cx="298667" cy="226179"/>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2" name="组合 95">
              <a:extLst>
                <a:ext uri="{FF2B5EF4-FFF2-40B4-BE49-F238E27FC236}">
                  <a16:creationId xmlns:a16="http://schemas.microsoft.com/office/drawing/2014/main" id="{70CF6DEB-4AC0-2C4A-0ACE-14D5BD2936FE}"/>
                </a:ext>
              </a:extLst>
            </p:cNvPr>
            <p:cNvGrpSpPr/>
            <p:nvPr/>
          </p:nvGrpSpPr>
          <p:grpSpPr>
            <a:xfrm>
              <a:off x="1563666" y="4559092"/>
              <a:ext cx="526192" cy="797632"/>
              <a:chOff x="1563666" y="4559092"/>
              <a:chExt cx="526192" cy="797632"/>
            </a:xfrm>
          </p:grpSpPr>
          <p:sp>
            <p:nvSpPr>
              <p:cNvPr id="69" name="矩形 68">
                <a:extLst>
                  <a:ext uri="{FF2B5EF4-FFF2-40B4-BE49-F238E27FC236}">
                    <a16:creationId xmlns:a16="http://schemas.microsoft.com/office/drawing/2014/main" id="{3994DE2E-565D-8893-8F6E-740B3BC90E44}"/>
                  </a:ext>
                </a:extLst>
              </p:cNvPr>
              <p:cNvSpPr/>
              <p:nvPr/>
            </p:nvSpPr>
            <p:spPr>
              <a:xfrm>
                <a:off x="1563666" y="507097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70" name="直接连接符 69">
                <a:extLst>
                  <a:ext uri="{FF2B5EF4-FFF2-40B4-BE49-F238E27FC236}">
                    <a16:creationId xmlns:a16="http://schemas.microsoft.com/office/drawing/2014/main" id="{254AABC8-6D67-6E9E-FB60-A801B2185B5B}"/>
                  </a:ext>
                </a:extLst>
              </p:cNvPr>
              <p:cNvCxnSpPr>
                <a:stCxn id="85" idx="3"/>
                <a:endCxn id="69" idx="0"/>
              </p:cNvCxnSpPr>
              <p:nvPr/>
            </p:nvCxnSpPr>
            <p:spPr>
              <a:xfrm rot="5400000">
                <a:off x="1695839" y="4676953"/>
                <a:ext cx="511879" cy="27615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3" name="组合 96">
              <a:extLst>
                <a:ext uri="{FF2B5EF4-FFF2-40B4-BE49-F238E27FC236}">
                  <a16:creationId xmlns:a16="http://schemas.microsoft.com/office/drawing/2014/main" id="{71444C14-6245-F8CE-395E-EAA12F5CC473}"/>
                </a:ext>
              </a:extLst>
            </p:cNvPr>
            <p:cNvGrpSpPr/>
            <p:nvPr/>
          </p:nvGrpSpPr>
          <p:grpSpPr>
            <a:xfrm>
              <a:off x="2501884" y="4559092"/>
              <a:ext cx="500066" cy="797632"/>
              <a:chOff x="2501884" y="4559092"/>
              <a:chExt cx="500066" cy="797632"/>
            </a:xfrm>
          </p:grpSpPr>
          <p:sp>
            <p:nvSpPr>
              <p:cNvPr id="67" name="矩形 66">
                <a:extLst>
                  <a:ext uri="{FF2B5EF4-FFF2-40B4-BE49-F238E27FC236}">
                    <a16:creationId xmlns:a16="http://schemas.microsoft.com/office/drawing/2014/main" id="{C1A5D5CF-1174-E05B-0B04-ED3AD1FB2CC4}"/>
                  </a:ext>
                </a:extLst>
              </p:cNvPr>
              <p:cNvSpPr/>
              <p:nvPr/>
            </p:nvSpPr>
            <p:spPr>
              <a:xfrm>
                <a:off x="2501884" y="507097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68" name="直接连接符 67">
                <a:extLst>
                  <a:ext uri="{FF2B5EF4-FFF2-40B4-BE49-F238E27FC236}">
                    <a16:creationId xmlns:a16="http://schemas.microsoft.com/office/drawing/2014/main" id="{4E2BF8B0-29DD-4705-8D8F-08FB9B7195E1}"/>
                  </a:ext>
                </a:extLst>
              </p:cNvPr>
              <p:cNvCxnSpPr>
                <a:stCxn id="85" idx="5"/>
                <a:endCxn id="67" idx="0"/>
              </p:cNvCxnSpPr>
              <p:nvPr/>
            </p:nvCxnSpPr>
            <p:spPr>
              <a:xfrm rot="16200000" flipH="1">
                <a:off x="2381323" y="4700377"/>
                <a:ext cx="511879" cy="22931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4" name="组合 92">
              <a:extLst>
                <a:ext uri="{FF2B5EF4-FFF2-40B4-BE49-F238E27FC236}">
                  <a16:creationId xmlns:a16="http://schemas.microsoft.com/office/drawing/2014/main" id="{08196EF4-CB90-190F-968F-DF798250E406}"/>
                </a:ext>
              </a:extLst>
            </p:cNvPr>
            <p:cNvGrpSpPr/>
            <p:nvPr/>
          </p:nvGrpSpPr>
          <p:grpSpPr>
            <a:xfrm>
              <a:off x="428596" y="2987456"/>
              <a:ext cx="518254" cy="727296"/>
              <a:chOff x="428596" y="2987456"/>
              <a:chExt cx="518254" cy="727296"/>
            </a:xfrm>
          </p:grpSpPr>
          <p:sp>
            <p:nvSpPr>
              <p:cNvPr id="65" name="矩形 64">
                <a:extLst>
                  <a:ext uri="{FF2B5EF4-FFF2-40B4-BE49-F238E27FC236}">
                    <a16:creationId xmlns:a16="http://schemas.microsoft.com/office/drawing/2014/main" id="{F35722B7-3ACC-1878-9D9B-AAA87798A67E}"/>
                  </a:ext>
                </a:extLst>
              </p:cNvPr>
              <p:cNvSpPr/>
              <p:nvPr/>
            </p:nvSpPr>
            <p:spPr>
              <a:xfrm>
                <a:off x="428596" y="3429000"/>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66" name="直接连接符 65">
                <a:extLst>
                  <a:ext uri="{FF2B5EF4-FFF2-40B4-BE49-F238E27FC236}">
                    <a16:creationId xmlns:a16="http://schemas.microsoft.com/office/drawing/2014/main" id="{A8335FA1-E80E-716D-51C4-0B3CD98F70E2}"/>
                  </a:ext>
                </a:extLst>
              </p:cNvPr>
              <p:cNvCxnSpPr>
                <a:stCxn id="89" idx="3"/>
                <a:endCxn id="65" idx="0"/>
              </p:cNvCxnSpPr>
              <p:nvPr/>
            </p:nvCxnSpPr>
            <p:spPr>
              <a:xfrm rot="5400000">
                <a:off x="591968" y="3074118"/>
                <a:ext cx="441543" cy="26822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5" name="组合 94">
              <a:extLst>
                <a:ext uri="{FF2B5EF4-FFF2-40B4-BE49-F238E27FC236}">
                  <a16:creationId xmlns:a16="http://schemas.microsoft.com/office/drawing/2014/main" id="{C851C915-27E3-8AEA-895B-346F469D007B}"/>
                </a:ext>
              </a:extLst>
            </p:cNvPr>
            <p:cNvGrpSpPr/>
            <p:nvPr/>
          </p:nvGrpSpPr>
          <p:grpSpPr>
            <a:xfrm>
              <a:off x="928662" y="3706332"/>
              <a:ext cx="549196" cy="865676"/>
              <a:chOff x="928662" y="3706332"/>
              <a:chExt cx="549196" cy="865676"/>
            </a:xfrm>
          </p:grpSpPr>
          <p:sp>
            <p:nvSpPr>
              <p:cNvPr id="63" name="矩形 62">
                <a:extLst>
                  <a:ext uri="{FF2B5EF4-FFF2-40B4-BE49-F238E27FC236}">
                    <a16:creationId xmlns:a16="http://schemas.microsoft.com/office/drawing/2014/main" id="{8AA54EA1-B5DF-A6D4-9398-F3C8DA9EEDCE}"/>
                  </a:ext>
                </a:extLst>
              </p:cNvPr>
              <p:cNvSpPr/>
              <p:nvPr/>
            </p:nvSpPr>
            <p:spPr>
              <a:xfrm>
                <a:off x="928662" y="4286256"/>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64" name="直接连接符 63">
                <a:extLst>
                  <a:ext uri="{FF2B5EF4-FFF2-40B4-BE49-F238E27FC236}">
                    <a16:creationId xmlns:a16="http://schemas.microsoft.com/office/drawing/2014/main" id="{4398EA7C-30B6-8FB0-9212-16D9AF1DCB74}"/>
                  </a:ext>
                </a:extLst>
              </p:cNvPr>
              <p:cNvCxnSpPr>
                <a:stCxn id="87" idx="3"/>
                <a:endCxn id="63" idx="0"/>
              </p:cNvCxnSpPr>
              <p:nvPr/>
            </p:nvCxnSpPr>
            <p:spPr>
              <a:xfrm rot="5400000">
                <a:off x="1038315" y="3846713"/>
                <a:ext cx="579923" cy="299162"/>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6" name="组合 93">
              <a:extLst>
                <a:ext uri="{FF2B5EF4-FFF2-40B4-BE49-F238E27FC236}">
                  <a16:creationId xmlns:a16="http://schemas.microsoft.com/office/drawing/2014/main" id="{D261F125-D91F-0ABF-CA76-FC8E5F24408E}"/>
                </a:ext>
              </a:extLst>
            </p:cNvPr>
            <p:cNvGrpSpPr/>
            <p:nvPr/>
          </p:nvGrpSpPr>
          <p:grpSpPr>
            <a:xfrm>
              <a:off x="2071670" y="2201638"/>
              <a:ext cx="500066" cy="727296"/>
              <a:chOff x="2071670" y="2201638"/>
              <a:chExt cx="500066" cy="727296"/>
            </a:xfrm>
          </p:grpSpPr>
          <p:sp>
            <p:nvSpPr>
              <p:cNvPr id="61" name="矩形 60">
                <a:extLst>
                  <a:ext uri="{FF2B5EF4-FFF2-40B4-BE49-F238E27FC236}">
                    <a16:creationId xmlns:a16="http://schemas.microsoft.com/office/drawing/2014/main" id="{44CD4E3B-63A1-8837-FB84-B80C1F2B2693}"/>
                  </a:ext>
                </a:extLst>
              </p:cNvPr>
              <p:cNvSpPr/>
              <p:nvPr/>
            </p:nvSpPr>
            <p:spPr>
              <a:xfrm>
                <a:off x="2071670" y="264318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62" name="直接连接符 61">
                <a:extLst>
                  <a:ext uri="{FF2B5EF4-FFF2-40B4-BE49-F238E27FC236}">
                    <a16:creationId xmlns:a16="http://schemas.microsoft.com/office/drawing/2014/main" id="{714066A4-685A-08E5-D52B-C41862F32686}"/>
                  </a:ext>
                </a:extLst>
              </p:cNvPr>
              <p:cNvCxnSpPr>
                <a:stCxn id="91" idx="5"/>
                <a:endCxn id="61" idx="0"/>
              </p:cNvCxnSpPr>
              <p:nvPr/>
            </p:nvCxnSpPr>
            <p:spPr>
              <a:xfrm rot="16200000" flipH="1">
                <a:off x="1987070" y="2308548"/>
                <a:ext cx="441543" cy="227724"/>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7" name="组合 99">
              <a:extLst>
                <a:ext uri="{FF2B5EF4-FFF2-40B4-BE49-F238E27FC236}">
                  <a16:creationId xmlns:a16="http://schemas.microsoft.com/office/drawing/2014/main" id="{03E9D526-732A-AE1B-B475-D76ED1E3BAEE}"/>
                </a:ext>
              </a:extLst>
            </p:cNvPr>
            <p:cNvGrpSpPr/>
            <p:nvPr/>
          </p:nvGrpSpPr>
          <p:grpSpPr>
            <a:xfrm>
              <a:off x="4618038" y="2987456"/>
              <a:ext cx="500066" cy="727296"/>
              <a:chOff x="4618038" y="2987456"/>
              <a:chExt cx="500066" cy="727296"/>
            </a:xfrm>
          </p:grpSpPr>
          <p:sp>
            <p:nvSpPr>
              <p:cNvPr id="59" name="矩形 58">
                <a:extLst>
                  <a:ext uri="{FF2B5EF4-FFF2-40B4-BE49-F238E27FC236}">
                    <a16:creationId xmlns:a16="http://schemas.microsoft.com/office/drawing/2014/main" id="{02737A52-CBFB-566E-8B5A-DABE45BF74CF}"/>
                  </a:ext>
                </a:extLst>
              </p:cNvPr>
              <p:cNvSpPr/>
              <p:nvPr/>
            </p:nvSpPr>
            <p:spPr>
              <a:xfrm>
                <a:off x="4618038" y="3429000"/>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60" name="直接连接符 59">
                <a:extLst>
                  <a:ext uri="{FF2B5EF4-FFF2-40B4-BE49-F238E27FC236}">
                    <a16:creationId xmlns:a16="http://schemas.microsoft.com/office/drawing/2014/main" id="{86B2073F-A1FF-820B-F6FC-9E7679032B7B}"/>
                  </a:ext>
                </a:extLst>
              </p:cNvPr>
              <p:cNvCxnSpPr>
                <a:stCxn id="81" idx="5"/>
                <a:endCxn id="59" idx="0"/>
              </p:cNvCxnSpPr>
              <p:nvPr/>
            </p:nvCxnSpPr>
            <p:spPr>
              <a:xfrm rot="16200000" flipH="1">
                <a:off x="4548909" y="3109837"/>
                <a:ext cx="441543" cy="196782"/>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8" name="组合 100">
              <a:extLst>
                <a:ext uri="{FF2B5EF4-FFF2-40B4-BE49-F238E27FC236}">
                  <a16:creationId xmlns:a16="http://schemas.microsoft.com/office/drawing/2014/main" id="{FAA95C81-9CD8-CD7B-7A56-39A2BCFC6EB4}"/>
                </a:ext>
              </a:extLst>
            </p:cNvPr>
            <p:cNvGrpSpPr/>
            <p:nvPr/>
          </p:nvGrpSpPr>
          <p:grpSpPr>
            <a:xfrm>
              <a:off x="5332418" y="2987456"/>
              <a:ext cx="549196" cy="727296"/>
              <a:chOff x="5332418" y="2987456"/>
              <a:chExt cx="549196" cy="727296"/>
            </a:xfrm>
          </p:grpSpPr>
          <p:sp>
            <p:nvSpPr>
              <p:cNvPr id="57" name="矩形 56">
                <a:extLst>
                  <a:ext uri="{FF2B5EF4-FFF2-40B4-BE49-F238E27FC236}">
                    <a16:creationId xmlns:a16="http://schemas.microsoft.com/office/drawing/2014/main" id="{E0045DA4-1FD9-DD09-FC5D-E1439ED891F3}"/>
                  </a:ext>
                </a:extLst>
              </p:cNvPr>
              <p:cNvSpPr/>
              <p:nvPr/>
            </p:nvSpPr>
            <p:spPr>
              <a:xfrm>
                <a:off x="5332418" y="3429000"/>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58" name="直接连接符 57">
                <a:extLst>
                  <a:ext uri="{FF2B5EF4-FFF2-40B4-BE49-F238E27FC236}">
                    <a16:creationId xmlns:a16="http://schemas.microsoft.com/office/drawing/2014/main" id="{7A046E7F-93F9-1771-5D83-94122B0C67BC}"/>
                  </a:ext>
                </a:extLst>
              </p:cNvPr>
              <p:cNvCxnSpPr>
                <a:stCxn id="77" idx="3"/>
                <a:endCxn id="57" idx="0"/>
              </p:cNvCxnSpPr>
              <p:nvPr/>
            </p:nvCxnSpPr>
            <p:spPr>
              <a:xfrm rot="5400000">
                <a:off x="5511261" y="3058647"/>
                <a:ext cx="441543" cy="299162"/>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39" name="组合 104">
              <a:extLst>
                <a:ext uri="{FF2B5EF4-FFF2-40B4-BE49-F238E27FC236}">
                  <a16:creationId xmlns:a16="http://schemas.microsoft.com/office/drawing/2014/main" id="{2229F20A-C93D-3657-7103-04EABD4D99FF}"/>
                </a:ext>
              </a:extLst>
            </p:cNvPr>
            <p:cNvGrpSpPr/>
            <p:nvPr/>
          </p:nvGrpSpPr>
          <p:grpSpPr>
            <a:xfrm>
              <a:off x="4751390" y="5390948"/>
              <a:ext cx="526192" cy="727296"/>
              <a:chOff x="4751390" y="5390948"/>
              <a:chExt cx="526192" cy="727296"/>
            </a:xfrm>
          </p:grpSpPr>
          <p:sp>
            <p:nvSpPr>
              <p:cNvPr id="55" name="矩形 54">
                <a:extLst>
                  <a:ext uri="{FF2B5EF4-FFF2-40B4-BE49-F238E27FC236}">
                    <a16:creationId xmlns:a16="http://schemas.microsoft.com/office/drawing/2014/main" id="{117DFEBC-B020-DAC1-027B-DF37C8FF8F2D}"/>
                  </a:ext>
                </a:extLst>
              </p:cNvPr>
              <p:cNvSpPr/>
              <p:nvPr/>
            </p:nvSpPr>
            <p:spPr>
              <a:xfrm>
                <a:off x="4751390" y="583249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56" name="直接连接符 55">
                <a:extLst>
                  <a:ext uri="{FF2B5EF4-FFF2-40B4-BE49-F238E27FC236}">
                    <a16:creationId xmlns:a16="http://schemas.microsoft.com/office/drawing/2014/main" id="{E379FAAA-0A03-C5FC-7959-77581290C00F}"/>
                  </a:ext>
                </a:extLst>
              </p:cNvPr>
              <p:cNvCxnSpPr>
                <a:endCxn id="55" idx="0"/>
              </p:cNvCxnSpPr>
              <p:nvPr/>
            </p:nvCxnSpPr>
            <p:spPr>
              <a:xfrm rot="5400000">
                <a:off x="4918731" y="5473641"/>
                <a:ext cx="441543" cy="27615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0" name="组合 103">
              <a:extLst>
                <a:ext uri="{FF2B5EF4-FFF2-40B4-BE49-F238E27FC236}">
                  <a16:creationId xmlns:a16="http://schemas.microsoft.com/office/drawing/2014/main" id="{2A507214-7EC1-56E8-EA8B-0E637CD004CE}"/>
                </a:ext>
              </a:extLst>
            </p:cNvPr>
            <p:cNvGrpSpPr/>
            <p:nvPr/>
          </p:nvGrpSpPr>
          <p:grpSpPr>
            <a:xfrm>
              <a:off x="5689608" y="5344910"/>
              <a:ext cx="500066" cy="773334"/>
              <a:chOff x="5689608" y="5344910"/>
              <a:chExt cx="500066" cy="773334"/>
            </a:xfrm>
          </p:grpSpPr>
          <p:sp>
            <p:nvSpPr>
              <p:cNvPr id="53" name="矩形 52">
                <a:extLst>
                  <a:ext uri="{FF2B5EF4-FFF2-40B4-BE49-F238E27FC236}">
                    <a16:creationId xmlns:a16="http://schemas.microsoft.com/office/drawing/2014/main" id="{486C6F0A-E161-1AA0-7215-D7E7F35CA41A}"/>
                  </a:ext>
                </a:extLst>
              </p:cNvPr>
              <p:cNvSpPr/>
              <p:nvPr/>
            </p:nvSpPr>
            <p:spPr>
              <a:xfrm>
                <a:off x="5689608" y="583249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54" name="直接连接符 53">
                <a:extLst>
                  <a:ext uri="{FF2B5EF4-FFF2-40B4-BE49-F238E27FC236}">
                    <a16:creationId xmlns:a16="http://schemas.microsoft.com/office/drawing/2014/main" id="{CCC9B287-7D50-E140-0C32-7A1C74320050}"/>
                  </a:ext>
                </a:extLst>
              </p:cNvPr>
              <p:cNvCxnSpPr>
                <a:stCxn id="71" idx="5"/>
                <a:endCxn id="53" idx="0"/>
              </p:cNvCxnSpPr>
              <p:nvPr/>
            </p:nvCxnSpPr>
            <p:spPr>
              <a:xfrm rot="16200000" flipH="1">
                <a:off x="5574051" y="5466901"/>
                <a:ext cx="487581" cy="24360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1" name="组合 102">
              <a:extLst>
                <a:ext uri="{FF2B5EF4-FFF2-40B4-BE49-F238E27FC236}">
                  <a16:creationId xmlns:a16="http://schemas.microsoft.com/office/drawing/2014/main" id="{FF6938E7-B66F-F272-B4A7-707C91515E51}"/>
                </a:ext>
              </a:extLst>
            </p:cNvPr>
            <p:cNvGrpSpPr/>
            <p:nvPr/>
          </p:nvGrpSpPr>
          <p:grpSpPr>
            <a:xfrm>
              <a:off x="6210312" y="4630530"/>
              <a:ext cx="500066" cy="727296"/>
              <a:chOff x="6210312" y="4630530"/>
              <a:chExt cx="500066" cy="727296"/>
            </a:xfrm>
          </p:grpSpPr>
          <p:sp>
            <p:nvSpPr>
              <p:cNvPr id="51" name="矩形 50">
                <a:extLst>
                  <a:ext uri="{FF2B5EF4-FFF2-40B4-BE49-F238E27FC236}">
                    <a16:creationId xmlns:a16="http://schemas.microsoft.com/office/drawing/2014/main" id="{A737EC4D-84D0-512F-9FB1-8E08D173C455}"/>
                  </a:ext>
                </a:extLst>
              </p:cNvPr>
              <p:cNvSpPr/>
              <p:nvPr/>
            </p:nvSpPr>
            <p:spPr>
              <a:xfrm>
                <a:off x="6210312" y="5072074"/>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52" name="直接连接符 51">
                <a:extLst>
                  <a:ext uri="{FF2B5EF4-FFF2-40B4-BE49-F238E27FC236}">
                    <a16:creationId xmlns:a16="http://schemas.microsoft.com/office/drawing/2014/main" id="{F4108708-068B-58F0-7526-DF4E66F15C42}"/>
                  </a:ext>
                </a:extLst>
              </p:cNvPr>
              <p:cNvCxnSpPr>
                <a:endCxn id="51" idx="0"/>
              </p:cNvCxnSpPr>
              <p:nvPr/>
            </p:nvCxnSpPr>
            <p:spPr>
              <a:xfrm rot="16200000" flipH="1">
                <a:off x="6124919" y="4736647"/>
                <a:ext cx="441543" cy="22931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2" name="组合 101">
              <a:extLst>
                <a:ext uri="{FF2B5EF4-FFF2-40B4-BE49-F238E27FC236}">
                  <a16:creationId xmlns:a16="http://schemas.microsoft.com/office/drawing/2014/main" id="{B3568FDD-E604-61B0-5412-5FBA40F590F5}"/>
                </a:ext>
              </a:extLst>
            </p:cNvPr>
            <p:cNvGrpSpPr/>
            <p:nvPr/>
          </p:nvGrpSpPr>
          <p:grpSpPr>
            <a:xfrm>
              <a:off x="7000892" y="3706332"/>
              <a:ext cx="500066" cy="769054"/>
              <a:chOff x="7000892" y="3706332"/>
              <a:chExt cx="500066" cy="769054"/>
            </a:xfrm>
          </p:grpSpPr>
          <p:sp>
            <p:nvSpPr>
              <p:cNvPr id="49" name="矩形 48">
                <a:extLst>
                  <a:ext uri="{FF2B5EF4-FFF2-40B4-BE49-F238E27FC236}">
                    <a16:creationId xmlns:a16="http://schemas.microsoft.com/office/drawing/2014/main" id="{727D0DED-1DAA-438C-1091-CD89B8620D1A}"/>
                  </a:ext>
                </a:extLst>
              </p:cNvPr>
              <p:cNvSpPr/>
              <p:nvPr/>
            </p:nvSpPr>
            <p:spPr>
              <a:xfrm>
                <a:off x="7000892" y="4189634"/>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50" name="直接连接符 49">
                <a:extLst>
                  <a:ext uri="{FF2B5EF4-FFF2-40B4-BE49-F238E27FC236}">
                    <a16:creationId xmlns:a16="http://schemas.microsoft.com/office/drawing/2014/main" id="{F1162D79-2658-10E5-A67F-DCA40A2EB29D}"/>
                  </a:ext>
                </a:extLst>
              </p:cNvPr>
              <p:cNvCxnSpPr>
                <a:stCxn id="75" idx="5"/>
                <a:endCxn id="49" idx="0"/>
              </p:cNvCxnSpPr>
              <p:nvPr/>
            </p:nvCxnSpPr>
            <p:spPr>
              <a:xfrm rot="16200000" flipH="1">
                <a:off x="6890246" y="3828954"/>
                <a:ext cx="483301" cy="23805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3" name="组合 97">
              <a:extLst>
                <a:ext uri="{FF2B5EF4-FFF2-40B4-BE49-F238E27FC236}">
                  <a16:creationId xmlns:a16="http://schemas.microsoft.com/office/drawing/2014/main" id="{CE0303CD-DC87-7BCC-B078-14EB4FDC590B}"/>
                </a:ext>
              </a:extLst>
            </p:cNvPr>
            <p:cNvGrpSpPr/>
            <p:nvPr/>
          </p:nvGrpSpPr>
          <p:grpSpPr>
            <a:xfrm>
              <a:off x="3033702" y="3768728"/>
              <a:ext cx="526192" cy="727296"/>
              <a:chOff x="3033702" y="3768728"/>
              <a:chExt cx="526192" cy="727296"/>
            </a:xfrm>
          </p:grpSpPr>
          <p:sp>
            <p:nvSpPr>
              <p:cNvPr id="47" name="矩形 46">
                <a:extLst>
                  <a:ext uri="{FF2B5EF4-FFF2-40B4-BE49-F238E27FC236}">
                    <a16:creationId xmlns:a16="http://schemas.microsoft.com/office/drawing/2014/main" id="{FF1A1A86-9929-CA66-74FE-A7866BDBC6A2}"/>
                  </a:ext>
                </a:extLst>
              </p:cNvPr>
              <p:cNvSpPr/>
              <p:nvPr/>
            </p:nvSpPr>
            <p:spPr>
              <a:xfrm>
                <a:off x="3033702" y="421027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48" name="直接连接符 47">
                <a:extLst>
                  <a:ext uri="{FF2B5EF4-FFF2-40B4-BE49-F238E27FC236}">
                    <a16:creationId xmlns:a16="http://schemas.microsoft.com/office/drawing/2014/main" id="{28338B96-FB27-8104-C4F1-119F0DFA12C2}"/>
                  </a:ext>
                </a:extLst>
              </p:cNvPr>
              <p:cNvCxnSpPr>
                <a:endCxn id="47" idx="0"/>
              </p:cNvCxnSpPr>
              <p:nvPr/>
            </p:nvCxnSpPr>
            <p:spPr>
              <a:xfrm rot="5400000">
                <a:off x="3201043" y="3851421"/>
                <a:ext cx="441543" cy="276158"/>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nvGrpSpPr>
            <p:cNvPr id="44" name="组合 98">
              <a:extLst>
                <a:ext uri="{FF2B5EF4-FFF2-40B4-BE49-F238E27FC236}">
                  <a16:creationId xmlns:a16="http://schemas.microsoft.com/office/drawing/2014/main" id="{E308D908-D25C-8B96-9913-109D16A3E0C6}"/>
                </a:ext>
              </a:extLst>
            </p:cNvPr>
            <p:cNvGrpSpPr/>
            <p:nvPr/>
          </p:nvGrpSpPr>
          <p:grpSpPr>
            <a:xfrm>
              <a:off x="3956910" y="3706332"/>
              <a:ext cx="515076" cy="789692"/>
              <a:chOff x="3956910" y="3706332"/>
              <a:chExt cx="515076" cy="789692"/>
            </a:xfrm>
          </p:grpSpPr>
          <p:sp>
            <p:nvSpPr>
              <p:cNvPr id="45" name="矩形 44">
                <a:extLst>
                  <a:ext uri="{FF2B5EF4-FFF2-40B4-BE49-F238E27FC236}">
                    <a16:creationId xmlns:a16="http://schemas.microsoft.com/office/drawing/2014/main" id="{081181D7-FC65-91BC-13D5-0784EF73B9F8}"/>
                  </a:ext>
                </a:extLst>
              </p:cNvPr>
              <p:cNvSpPr/>
              <p:nvPr/>
            </p:nvSpPr>
            <p:spPr>
              <a:xfrm>
                <a:off x="3971920" y="4210272"/>
                <a:ext cx="500066"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endParaRPr lang="zh-CN" altLang="en-US" sz="1800">
                  <a:latin typeface="Consolas" pitchFamily="49" charset="0"/>
                  <a:cs typeface="Consolas" pitchFamily="49" charset="0"/>
                </a:endParaRPr>
              </a:p>
            </p:txBody>
          </p:sp>
          <p:cxnSp>
            <p:nvCxnSpPr>
              <p:cNvPr id="46" name="直接连接符 45">
                <a:extLst>
                  <a:ext uri="{FF2B5EF4-FFF2-40B4-BE49-F238E27FC236}">
                    <a16:creationId xmlns:a16="http://schemas.microsoft.com/office/drawing/2014/main" id="{E9993AEC-9D39-E4DC-F302-62E7722DBE12}"/>
                  </a:ext>
                </a:extLst>
              </p:cNvPr>
              <p:cNvCxnSpPr>
                <a:stCxn id="79" idx="5"/>
                <a:endCxn id="45" idx="0"/>
              </p:cNvCxnSpPr>
              <p:nvPr/>
            </p:nvCxnSpPr>
            <p:spPr>
              <a:xfrm rot="16200000" flipH="1">
                <a:off x="3837462" y="3825780"/>
                <a:ext cx="503939" cy="265044"/>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p:grpSp>
      <p:grpSp>
        <p:nvGrpSpPr>
          <p:cNvPr id="93" name="组合 98">
            <a:extLst>
              <a:ext uri="{FF2B5EF4-FFF2-40B4-BE49-F238E27FC236}">
                <a16:creationId xmlns:a16="http://schemas.microsoft.com/office/drawing/2014/main" id="{34C767CB-C5FB-026F-0DBD-5859429C3738}"/>
              </a:ext>
            </a:extLst>
          </p:cNvPr>
          <p:cNvGrpSpPr/>
          <p:nvPr/>
        </p:nvGrpSpPr>
        <p:grpSpPr>
          <a:xfrm>
            <a:off x="915974" y="5742011"/>
            <a:ext cx="6092849" cy="945594"/>
            <a:chOff x="915974" y="5742011"/>
            <a:chExt cx="6092849" cy="945594"/>
          </a:xfrm>
        </p:grpSpPr>
        <p:sp>
          <p:nvSpPr>
            <p:cNvPr id="94" name="Text Box 115">
              <a:extLst>
                <a:ext uri="{FF2B5EF4-FFF2-40B4-BE49-F238E27FC236}">
                  <a16:creationId xmlns:a16="http://schemas.microsoft.com/office/drawing/2014/main" id="{69C4CE32-24C3-D461-9201-0B4788A3523F}"/>
                </a:ext>
              </a:extLst>
            </p:cNvPr>
            <p:cNvSpPr txBox="1">
              <a:spLocks noChangeArrowheads="1"/>
            </p:cNvSpPr>
            <p:nvPr/>
          </p:nvSpPr>
          <p:spPr bwMode="auto">
            <a:xfrm>
              <a:off x="915974" y="5957911"/>
              <a:ext cx="1655762" cy="430887"/>
            </a:xfrm>
            <a:prstGeom prst="rect">
              <a:avLst/>
            </a:prstGeom>
            <a:noFill/>
            <a:ln w="9525">
              <a:noFill/>
              <a:miter lim="800000"/>
              <a:headEnd/>
              <a:tailEnd/>
            </a:ln>
          </p:spPr>
          <p:txBody>
            <a:bodyPr>
              <a:spAutoFit/>
            </a:bodyPr>
            <a:lstStyle/>
            <a:p>
              <a:pPr algn="l">
                <a:spcBef>
                  <a:spcPct val="50000"/>
                </a:spcBef>
              </a:pPr>
              <a:r>
                <a:rPr kumimoji="0" lang="en-US" altLang="zh-CN" sz="2200" b="1" dirty="0" err="1">
                  <a:solidFill>
                    <a:srgbClr val="3333FF"/>
                  </a:solidFill>
                  <a:latin typeface="Consolas" pitchFamily="49" charset="0"/>
                  <a:ea typeface="楷体" pitchFamily="49" charset="-122"/>
                  <a:cs typeface="Consolas" pitchFamily="49" charset="0"/>
                </a:rPr>
                <a:t>ASL</a:t>
              </a:r>
              <a:r>
                <a:rPr kumimoji="0" lang="zh-CN" altLang="en-US" sz="2200" b="1" baseline="-25000" dirty="0">
                  <a:solidFill>
                    <a:srgbClr val="3333FF"/>
                  </a:solidFill>
                  <a:latin typeface="Consolas" pitchFamily="49" charset="0"/>
                  <a:ea typeface="楷体" pitchFamily="49" charset="-122"/>
                  <a:cs typeface="Consolas" pitchFamily="49" charset="0"/>
                </a:rPr>
                <a:t>不成功</a:t>
              </a:r>
              <a:r>
                <a:rPr kumimoji="0" lang="en-US" altLang="zh-CN" sz="2200" b="1" dirty="0">
                  <a:solidFill>
                    <a:srgbClr val="3333FF"/>
                  </a:solidFill>
                  <a:latin typeface="Consolas" pitchFamily="49" charset="0"/>
                  <a:ea typeface="楷体" pitchFamily="49" charset="-122"/>
                  <a:cs typeface="Consolas" pitchFamily="49" charset="0"/>
                </a:rPr>
                <a:t>=</a:t>
              </a:r>
            </a:p>
          </p:txBody>
        </p:sp>
        <p:sp>
          <p:nvSpPr>
            <p:cNvPr id="95" name="Text Box 116">
              <a:extLst>
                <a:ext uri="{FF2B5EF4-FFF2-40B4-BE49-F238E27FC236}">
                  <a16:creationId xmlns:a16="http://schemas.microsoft.com/office/drawing/2014/main" id="{7F10514F-3689-728E-08A1-7D06982E0349}"/>
                </a:ext>
              </a:extLst>
            </p:cNvPr>
            <p:cNvSpPr txBox="1">
              <a:spLocks noChangeArrowheads="1"/>
            </p:cNvSpPr>
            <p:nvPr/>
          </p:nvSpPr>
          <p:spPr bwMode="auto">
            <a:xfrm>
              <a:off x="2285984" y="5742011"/>
              <a:ext cx="3617897" cy="369332"/>
            </a:xfrm>
            <a:prstGeom prst="rect">
              <a:avLst/>
            </a:prstGeom>
            <a:noFill/>
            <a:ln w="9525">
              <a:noFill/>
              <a:miter lim="800000"/>
              <a:headEnd/>
              <a:tailEnd/>
            </a:ln>
          </p:spPr>
          <p:txBody>
            <a:bodyPr wrap="square">
              <a:spAutoFit/>
            </a:bodyPr>
            <a:lstStyle/>
            <a:p>
              <a:pPr algn="l">
                <a:spcBef>
                  <a:spcPct val="50000"/>
                </a:spcBef>
              </a:pPr>
              <a:r>
                <a:rPr kumimoji="0" lang="en-US" altLang="zh-CN" sz="1800" b="1">
                  <a:solidFill>
                    <a:srgbClr val="3333FF"/>
                  </a:solidFill>
                  <a:latin typeface="Consolas" pitchFamily="49" charset="0"/>
                  <a:ea typeface="楷体_GB2312" pitchFamily="49" charset="-122"/>
                  <a:cs typeface="Consolas" pitchFamily="49" charset="0"/>
                </a:rPr>
                <a:t>1×</a:t>
              </a:r>
              <a:r>
                <a:rPr kumimoji="0" lang="en-US" altLang="zh-CN" sz="1800" b="1">
                  <a:solidFill>
                    <a:srgbClr val="FF00FF"/>
                  </a:solidFill>
                  <a:latin typeface="Consolas" pitchFamily="49" charset="0"/>
                  <a:ea typeface="楷体_GB2312" pitchFamily="49" charset="-122"/>
                  <a:cs typeface="Consolas" pitchFamily="49" charset="0"/>
                </a:rPr>
                <a:t>2</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3×</a:t>
              </a:r>
              <a:r>
                <a:rPr kumimoji="0" lang="en-US" altLang="zh-CN" sz="1800" b="1">
                  <a:solidFill>
                    <a:srgbClr val="FF00FF"/>
                  </a:solidFill>
                  <a:latin typeface="Consolas" pitchFamily="49" charset="0"/>
                  <a:ea typeface="楷体_GB2312" pitchFamily="49" charset="-122"/>
                  <a:cs typeface="Consolas" pitchFamily="49" charset="0"/>
                </a:rPr>
                <a:t>3</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4×</a:t>
              </a:r>
              <a:r>
                <a:rPr kumimoji="0" lang="en-US" altLang="zh-CN" sz="1800" b="1">
                  <a:solidFill>
                    <a:srgbClr val="FF00FF"/>
                  </a:solidFill>
                  <a:latin typeface="Consolas" pitchFamily="49" charset="0"/>
                  <a:ea typeface="楷体_GB2312" pitchFamily="49" charset="-122"/>
                  <a:cs typeface="Consolas" pitchFamily="49" charset="0"/>
                </a:rPr>
                <a:t>4</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3×</a:t>
              </a:r>
              <a:r>
                <a:rPr kumimoji="0" lang="en-US" altLang="zh-CN" sz="1800" b="1">
                  <a:solidFill>
                    <a:srgbClr val="FF00FF"/>
                  </a:solidFill>
                  <a:latin typeface="Consolas" pitchFamily="49" charset="0"/>
                  <a:ea typeface="楷体_GB2312" pitchFamily="49" charset="-122"/>
                  <a:cs typeface="Consolas" pitchFamily="49" charset="0"/>
                </a:rPr>
                <a:t>5</a:t>
              </a:r>
              <a:r>
                <a:rPr kumimoji="0" lang="zh-CN" altLang="en-US" sz="1800" b="1">
                  <a:solidFill>
                    <a:srgbClr val="3333FF"/>
                  </a:solidFill>
                  <a:latin typeface="Consolas" pitchFamily="49" charset="0"/>
                  <a:ea typeface="楷体_GB2312" pitchFamily="49" charset="-122"/>
                  <a:cs typeface="Consolas" pitchFamily="49" charset="0"/>
                </a:rPr>
                <a:t>＋</a:t>
              </a:r>
              <a:r>
                <a:rPr kumimoji="0" lang="en-US" altLang="zh-CN" sz="1800" b="1">
                  <a:solidFill>
                    <a:srgbClr val="3333FF"/>
                  </a:solidFill>
                  <a:latin typeface="Consolas" pitchFamily="49" charset="0"/>
                  <a:ea typeface="楷体_GB2312" pitchFamily="49" charset="-122"/>
                  <a:cs typeface="Consolas" pitchFamily="49" charset="0"/>
                </a:rPr>
                <a:t>2×</a:t>
              </a:r>
              <a:r>
                <a:rPr kumimoji="0" lang="en-US" altLang="zh-CN" sz="1800" b="1">
                  <a:solidFill>
                    <a:srgbClr val="FF00FF"/>
                  </a:solidFill>
                  <a:latin typeface="Consolas" pitchFamily="49" charset="0"/>
                  <a:ea typeface="楷体_GB2312" pitchFamily="49" charset="-122"/>
                  <a:cs typeface="Consolas" pitchFamily="49" charset="0"/>
                </a:rPr>
                <a:t>6</a:t>
              </a:r>
            </a:p>
          </p:txBody>
        </p:sp>
        <p:sp>
          <p:nvSpPr>
            <p:cNvPr id="96" name="Freeform 117">
              <a:extLst>
                <a:ext uri="{FF2B5EF4-FFF2-40B4-BE49-F238E27FC236}">
                  <a16:creationId xmlns:a16="http://schemas.microsoft.com/office/drawing/2014/main" id="{648FE0B9-9659-00F5-4DC1-0312F65D001F}"/>
                </a:ext>
              </a:extLst>
            </p:cNvPr>
            <p:cNvSpPr>
              <a:spLocks/>
            </p:cNvSpPr>
            <p:nvPr/>
          </p:nvSpPr>
          <p:spPr bwMode="auto">
            <a:xfrm>
              <a:off x="2389214" y="6215086"/>
              <a:ext cx="3600000" cy="0"/>
            </a:xfrm>
            <a:custGeom>
              <a:avLst/>
              <a:gdLst>
                <a:gd name="T0" fmla="*/ 0 w 3171"/>
                <a:gd name="T1" fmla="*/ 11 h 11"/>
                <a:gd name="T2" fmla="*/ 3171 w 3171"/>
                <a:gd name="T3" fmla="*/ 0 h 11"/>
                <a:gd name="T4" fmla="*/ 0 60000 65536"/>
                <a:gd name="T5" fmla="*/ 0 60000 65536"/>
                <a:gd name="T6" fmla="*/ 0 w 3171"/>
                <a:gd name="T7" fmla="*/ 0 h 11"/>
                <a:gd name="T8" fmla="*/ 3171 w 3171"/>
                <a:gd name="T9" fmla="*/ 11 h 11"/>
              </a:gdLst>
              <a:ahLst/>
              <a:cxnLst>
                <a:cxn ang="T4">
                  <a:pos x="T0" y="T1"/>
                </a:cxn>
                <a:cxn ang="T5">
                  <a:pos x="T2" y="T3"/>
                </a:cxn>
              </a:cxnLst>
              <a:rect l="T6" t="T7" r="T8" b="T9"/>
              <a:pathLst>
                <a:path w="3171" h="11">
                  <a:moveTo>
                    <a:pt x="0" y="11"/>
                  </a:moveTo>
                  <a:lnTo>
                    <a:pt x="3171" y="0"/>
                  </a:lnTo>
                </a:path>
              </a:pathLst>
            </a:custGeom>
            <a:noFill/>
            <a:ln w="38100">
              <a:solidFill>
                <a:srgbClr val="3333FF"/>
              </a:solidFill>
              <a:round/>
              <a:headEnd/>
              <a:tailEnd/>
            </a:ln>
          </p:spPr>
          <p:txBody>
            <a:bodyPr anchor="ctr">
              <a:spAutoFit/>
            </a:bodyPr>
            <a:lstStyle/>
            <a:p>
              <a:endParaRPr lang="zh-CN" altLang="en-US"/>
            </a:p>
          </p:txBody>
        </p:sp>
        <p:sp>
          <p:nvSpPr>
            <p:cNvPr id="97" name="Text Box 118">
              <a:extLst>
                <a:ext uri="{FF2B5EF4-FFF2-40B4-BE49-F238E27FC236}">
                  <a16:creationId xmlns:a16="http://schemas.microsoft.com/office/drawing/2014/main" id="{D00D2271-5BF4-9F68-CAE7-3A446A41DE62}"/>
                </a:ext>
              </a:extLst>
            </p:cNvPr>
            <p:cNvSpPr txBox="1">
              <a:spLocks noChangeArrowheads="1"/>
            </p:cNvSpPr>
            <p:nvPr/>
          </p:nvSpPr>
          <p:spPr bwMode="auto">
            <a:xfrm>
              <a:off x="4013184" y="6318273"/>
              <a:ext cx="647700" cy="369332"/>
            </a:xfrm>
            <a:prstGeom prst="rect">
              <a:avLst/>
            </a:prstGeom>
            <a:noFill/>
            <a:ln w="9525">
              <a:noFill/>
              <a:miter lim="800000"/>
              <a:headEnd/>
              <a:tailEnd/>
            </a:ln>
          </p:spPr>
          <p:txBody>
            <a:bodyPr>
              <a:spAutoFit/>
            </a:bodyPr>
            <a:lstStyle/>
            <a:p>
              <a:pPr algn="l">
                <a:spcBef>
                  <a:spcPct val="50000"/>
                </a:spcBef>
              </a:pPr>
              <a:r>
                <a:rPr kumimoji="0" lang="en-US" altLang="zh-CN" sz="1800" b="1">
                  <a:solidFill>
                    <a:srgbClr val="3333FF"/>
                  </a:solidFill>
                  <a:latin typeface="Consolas" pitchFamily="49" charset="0"/>
                  <a:ea typeface="楷体_GB2312" pitchFamily="49" charset="-122"/>
                  <a:cs typeface="Consolas" pitchFamily="49" charset="0"/>
                </a:rPr>
                <a:t>13</a:t>
              </a:r>
            </a:p>
          </p:txBody>
        </p:sp>
        <p:sp>
          <p:nvSpPr>
            <p:cNvPr id="98" name="Text Box 119">
              <a:extLst>
                <a:ext uri="{FF2B5EF4-FFF2-40B4-BE49-F238E27FC236}">
                  <a16:creationId xmlns:a16="http://schemas.microsoft.com/office/drawing/2014/main" id="{786EC8F0-E1F2-56AE-30DD-D870E783A5AE}"/>
                </a:ext>
              </a:extLst>
            </p:cNvPr>
            <p:cNvSpPr txBox="1">
              <a:spLocks noChangeArrowheads="1"/>
            </p:cNvSpPr>
            <p:nvPr/>
          </p:nvSpPr>
          <p:spPr bwMode="auto">
            <a:xfrm>
              <a:off x="6072198" y="6000768"/>
              <a:ext cx="936625" cy="369332"/>
            </a:xfrm>
            <a:prstGeom prst="rect">
              <a:avLst/>
            </a:prstGeom>
            <a:noFill/>
            <a:ln w="9525">
              <a:noFill/>
              <a:miter lim="800000"/>
              <a:headEnd/>
              <a:tailEnd/>
            </a:ln>
          </p:spPr>
          <p:txBody>
            <a:bodyPr>
              <a:spAutoFit/>
            </a:bodyPr>
            <a:lstStyle/>
            <a:p>
              <a:pPr algn="l">
                <a:spcBef>
                  <a:spcPct val="50000"/>
                </a:spcBef>
              </a:pPr>
              <a:r>
                <a:rPr kumimoji="0" lang="zh-CN" altLang="en-US" sz="1800" b="1" dirty="0">
                  <a:solidFill>
                    <a:srgbClr val="3333FF"/>
                  </a:solidFill>
                  <a:latin typeface="Consolas" pitchFamily="49" charset="0"/>
                  <a:ea typeface="楷体_GB2312" pitchFamily="49" charset="-122"/>
                  <a:cs typeface="Consolas" pitchFamily="49" charset="0"/>
                </a:rPr>
                <a:t>＝</a:t>
              </a:r>
              <a:r>
                <a:rPr kumimoji="0" lang="en-US" altLang="zh-CN" sz="1800" b="1" dirty="0">
                  <a:solidFill>
                    <a:srgbClr val="3333FF"/>
                  </a:solidFill>
                  <a:latin typeface="Consolas" pitchFamily="49" charset="0"/>
                  <a:ea typeface="楷体_GB2312" pitchFamily="49" charset="-122"/>
                  <a:cs typeface="Consolas" pitchFamily="49" charset="0"/>
                </a:rPr>
                <a:t>4.15</a:t>
              </a:r>
            </a:p>
          </p:txBody>
        </p:sp>
      </p:grpSp>
      <p:sp>
        <p:nvSpPr>
          <p:cNvPr id="99" name="TextBox 112">
            <a:extLst>
              <a:ext uri="{FF2B5EF4-FFF2-40B4-BE49-F238E27FC236}">
                <a16:creationId xmlns:a16="http://schemas.microsoft.com/office/drawing/2014/main" id="{3963C09F-D3EE-1191-A6EF-5EA2B9B991D2}"/>
              </a:ext>
            </a:extLst>
          </p:cNvPr>
          <p:cNvSpPr txBox="1"/>
          <p:nvPr/>
        </p:nvSpPr>
        <p:spPr>
          <a:xfrm>
            <a:off x="7858148" y="2571744"/>
            <a:ext cx="1143008" cy="1759456"/>
          </a:xfrm>
          <a:prstGeom prst="rect">
            <a:avLst/>
          </a:prstGeom>
          <a:noFill/>
        </p:spPr>
        <p:txBody>
          <a:bodyPr wrap="square" rtlCol="0">
            <a:spAutoFit/>
          </a:bodyPr>
          <a:lstStyle/>
          <a:p>
            <a:pPr algn="l">
              <a:lnSpc>
                <a:spcPts val="2600"/>
              </a:lnSpc>
              <a:spcBef>
                <a:spcPts val="0"/>
              </a:spcBef>
            </a:pPr>
            <a:r>
              <a:rPr lang="zh-CN" altLang="en-US" sz="2000" b="1">
                <a:solidFill>
                  <a:srgbClr val="3333FF"/>
                </a:solidFill>
                <a:latin typeface="Consolas" pitchFamily="49" charset="0"/>
                <a:ea typeface="仿宋" pitchFamily="49" charset="-122"/>
                <a:cs typeface="Consolas" pitchFamily="49" charset="0"/>
              </a:rPr>
              <a:t>落在第</a:t>
            </a:r>
            <a:r>
              <a:rPr lang="en-US" altLang="zh-CN" sz="2000" b="1" i="1">
                <a:solidFill>
                  <a:srgbClr val="3333FF"/>
                </a:solidFill>
                <a:latin typeface="Consolas" pitchFamily="49" charset="0"/>
                <a:ea typeface="仿宋" pitchFamily="49" charset="-122"/>
                <a:cs typeface="Consolas" pitchFamily="49" charset="0"/>
              </a:rPr>
              <a:t>i</a:t>
            </a:r>
            <a:r>
              <a:rPr lang="zh-CN" altLang="en-US" sz="2000" b="1">
                <a:solidFill>
                  <a:srgbClr val="3333FF"/>
                </a:solidFill>
                <a:latin typeface="Consolas" pitchFamily="49" charset="0"/>
                <a:ea typeface="仿宋" pitchFamily="49" charset="-122"/>
                <a:cs typeface="Consolas" pitchFamily="49" charset="0"/>
              </a:rPr>
              <a:t>层的外部结点，需要</a:t>
            </a:r>
            <a:r>
              <a:rPr lang="en-US" altLang="zh-CN" sz="2000" b="1" i="1">
                <a:solidFill>
                  <a:srgbClr val="3333FF"/>
                </a:solidFill>
                <a:latin typeface="Consolas" pitchFamily="49" charset="0"/>
                <a:ea typeface="仿宋" pitchFamily="49" charset="-122"/>
                <a:cs typeface="Consolas" pitchFamily="49" charset="0"/>
              </a:rPr>
              <a:t>i</a:t>
            </a:r>
            <a:r>
              <a:rPr lang="en-US" altLang="zh-CN" sz="2000" b="1">
                <a:solidFill>
                  <a:srgbClr val="3333FF"/>
                </a:solidFill>
                <a:latin typeface="Consolas" pitchFamily="49" charset="0"/>
                <a:ea typeface="仿宋" pitchFamily="49" charset="-122"/>
                <a:cs typeface="Consolas" pitchFamily="49" charset="0"/>
              </a:rPr>
              <a:t>-1</a:t>
            </a:r>
            <a:r>
              <a:rPr lang="zh-CN" altLang="en-US" sz="2000" b="1">
                <a:solidFill>
                  <a:srgbClr val="3333FF"/>
                </a:solidFill>
                <a:latin typeface="Consolas" pitchFamily="49" charset="0"/>
                <a:ea typeface="仿宋" pitchFamily="49" charset="-122"/>
                <a:cs typeface="Consolas" pitchFamily="49" charset="0"/>
              </a:rPr>
              <a:t>次比较</a:t>
            </a:r>
            <a:endParaRPr lang="zh-CN" altLang="en-US" sz="2000" b="1" dirty="0">
              <a:solidFill>
                <a:srgbClr val="3333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14659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44F7A-6DB4-7323-7869-E492B0A4E8B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2AE3749-DD5F-5C61-3B0C-B9F06B8AE28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C448E6C8-4456-CECC-5B82-E8F1F14B7B33}"/>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ACB0F6F7-23E4-64EA-C94F-82DB8E2465B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98FE5274-E298-4553-5E51-58160B50D53F}"/>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5" name="Text Box 2">
            <a:extLst>
              <a:ext uri="{FF2B5EF4-FFF2-40B4-BE49-F238E27FC236}">
                <a16:creationId xmlns:a16="http://schemas.microsoft.com/office/drawing/2014/main" id="{B10C89D7-A098-CFE0-E06A-B3D86AC8D54F}"/>
              </a:ext>
            </a:extLst>
          </p:cNvPr>
          <p:cNvSpPr txBox="1">
            <a:spLocks noChangeArrowheads="1"/>
          </p:cNvSpPr>
          <p:nvPr/>
        </p:nvSpPr>
        <p:spPr bwMode="auto">
          <a:xfrm>
            <a:off x="2135560" y="2754136"/>
            <a:ext cx="7748612" cy="1938992"/>
          </a:xfrm>
          <a:prstGeom prst="rect">
            <a:avLst/>
          </a:prstGeom>
          <a:solidFill>
            <a:schemeClr val="bg1"/>
          </a:solidFill>
          <a:ln>
            <a:solidFill>
              <a:schemeClr val="accent5">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ct val="150000"/>
              </a:lnSpc>
            </a:pPr>
            <a:r>
              <a:rPr lang="zh-CN" altLang="en-US" sz="2000" b="1" dirty="0">
                <a:solidFill>
                  <a:srgbClr val="0000FF"/>
                </a:solidFill>
                <a:latin typeface="Consolas" pitchFamily="49" charset="0"/>
                <a:ea typeface="楷体" pitchFamily="49" charset="-122"/>
                <a:cs typeface="Consolas" pitchFamily="49" charset="0"/>
              </a:rPr>
              <a:t>　</a:t>
            </a:r>
            <a:r>
              <a:rPr lang="zh-CN" altLang="en-US" sz="2000" b="1">
                <a:solidFill>
                  <a:srgbClr val="0000FF"/>
                </a:solidFill>
                <a:latin typeface="Consolas" pitchFamily="49" charset="0"/>
                <a:ea typeface="楷体" pitchFamily="49" charset="-122"/>
                <a:cs typeface="Consolas" pitchFamily="49" charset="0"/>
              </a:rPr>
              <a:t>　在</a:t>
            </a:r>
            <a:r>
              <a:rPr lang="zh-CN" altLang="en-US" sz="2000" b="1" dirty="0">
                <a:solidFill>
                  <a:srgbClr val="0000FF"/>
                </a:solidFill>
                <a:latin typeface="Consolas" pitchFamily="49" charset="0"/>
                <a:ea typeface="楷体" pitchFamily="49" charset="-122"/>
                <a:cs typeface="Consolas" pitchFamily="49" charset="0"/>
              </a:rPr>
              <a:t>含有</a:t>
            </a:r>
            <a:r>
              <a:rPr lang="en-US" altLang="zh-CN" sz="2000" b="1" dirty="0">
                <a:solidFill>
                  <a:srgbClr val="0000FF"/>
                </a:solidFill>
                <a:latin typeface="Consolas" pitchFamily="49" charset="0"/>
                <a:ea typeface="楷体" pitchFamily="49" charset="-122"/>
                <a:cs typeface="Consolas" pitchFamily="49" charset="0"/>
              </a:rPr>
              <a:t>27</a:t>
            </a:r>
            <a:r>
              <a:rPr lang="zh-CN" altLang="en-US" sz="2000" b="1" dirty="0">
                <a:solidFill>
                  <a:srgbClr val="0000FF"/>
                </a:solidFill>
                <a:latin typeface="Consolas" pitchFamily="49" charset="0"/>
                <a:ea typeface="楷体" pitchFamily="49" charset="-122"/>
                <a:cs typeface="Consolas" pitchFamily="49" charset="0"/>
              </a:rPr>
              <a:t>个结点的二叉排序树上，查找关键字为</a:t>
            </a:r>
            <a:r>
              <a:rPr lang="en-US" altLang="zh-CN" sz="2000" b="1" dirty="0">
                <a:solidFill>
                  <a:srgbClr val="0000FF"/>
                </a:solidFill>
                <a:latin typeface="Consolas" pitchFamily="49" charset="0"/>
                <a:ea typeface="楷体" pitchFamily="49" charset="-122"/>
                <a:cs typeface="Consolas" pitchFamily="49" charset="0"/>
              </a:rPr>
              <a:t>35</a:t>
            </a:r>
            <a:r>
              <a:rPr lang="zh-CN" altLang="en-US" sz="2000" b="1" dirty="0">
                <a:solidFill>
                  <a:srgbClr val="0000FF"/>
                </a:solidFill>
                <a:latin typeface="Consolas" pitchFamily="49" charset="0"/>
                <a:ea typeface="楷体" pitchFamily="49" charset="-122"/>
                <a:cs typeface="Consolas" pitchFamily="49" charset="0"/>
              </a:rPr>
              <a:t>的结点，</a:t>
            </a:r>
            <a:r>
              <a:rPr lang="zh-CN" altLang="en-US" sz="2000" b="1">
                <a:solidFill>
                  <a:srgbClr val="0000FF"/>
                </a:solidFill>
                <a:latin typeface="Consolas" pitchFamily="49" charset="0"/>
                <a:ea typeface="楷体" pitchFamily="49" charset="-122"/>
                <a:cs typeface="Consolas" pitchFamily="49" charset="0"/>
              </a:rPr>
              <a:t>以下（  ）是</a:t>
            </a:r>
            <a:r>
              <a:rPr lang="zh-CN" altLang="en-US" sz="2000" b="1" dirty="0">
                <a:solidFill>
                  <a:srgbClr val="0000FF"/>
                </a:solidFill>
                <a:latin typeface="Consolas" pitchFamily="49" charset="0"/>
                <a:ea typeface="楷体" pitchFamily="49" charset="-122"/>
                <a:cs typeface="Consolas" pitchFamily="49" charset="0"/>
              </a:rPr>
              <a:t>可能的关键字比较序列？</a:t>
            </a:r>
          </a:p>
          <a:p>
            <a:pPr algn="l">
              <a:lnSpc>
                <a:spcPct val="150000"/>
              </a:lnSpc>
            </a:pPr>
            <a:r>
              <a:rPr lang="zh-CN" altLang="en-US" sz="2000" b="1" dirty="0">
                <a:solidFill>
                  <a:srgbClr val="0000FF"/>
                </a:solidFill>
                <a:latin typeface="Consolas" pitchFamily="49" charset="0"/>
                <a:ea typeface="楷体" pitchFamily="49" charset="-122"/>
                <a:cs typeface="Consolas" pitchFamily="49" charset="0"/>
              </a:rPr>
              <a:t>　　</a:t>
            </a:r>
            <a:r>
              <a:rPr lang="en-US" altLang="zh-CN" sz="2000" b="1" dirty="0" err="1">
                <a:solidFill>
                  <a:srgbClr val="0000FF"/>
                </a:solidFill>
                <a:latin typeface="Consolas" pitchFamily="49" charset="0"/>
                <a:ea typeface="楷体" pitchFamily="49" charset="-122"/>
                <a:cs typeface="Consolas" pitchFamily="49" charset="0"/>
              </a:rPr>
              <a:t>A.28,36,18,46,35</a:t>
            </a:r>
            <a:r>
              <a:rPr lang="en-US" altLang="zh-CN" sz="2000" b="1">
                <a:solidFill>
                  <a:srgbClr val="0000FF"/>
                </a:solidFill>
                <a:latin typeface="Consolas" pitchFamily="49" charset="0"/>
                <a:ea typeface="楷体" pitchFamily="49" charset="-122"/>
                <a:cs typeface="Consolas" pitchFamily="49" charset="0"/>
              </a:rPr>
              <a:t>	</a:t>
            </a:r>
            <a:r>
              <a:rPr lang="zh-CN" altLang="en-US" sz="2000" b="1" dirty="0">
                <a:solidFill>
                  <a:srgbClr val="0000FF"/>
                </a:solidFill>
                <a:latin typeface="Consolas" pitchFamily="49" charset="0"/>
                <a:ea typeface="楷体" pitchFamily="49" charset="-122"/>
                <a:cs typeface="Consolas" pitchFamily="49" charset="0"/>
              </a:rPr>
              <a:t>　　</a:t>
            </a:r>
            <a:r>
              <a:rPr lang="en-US" altLang="zh-CN" sz="2000" b="1" dirty="0" err="1">
                <a:solidFill>
                  <a:srgbClr val="0000FF"/>
                </a:solidFill>
                <a:latin typeface="Consolas" pitchFamily="49" charset="0"/>
                <a:ea typeface="楷体" pitchFamily="49" charset="-122"/>
                <a:cs typeface="Consolas" pitchFamily="49" charset="0"/>
              </a:rPr>
              <a:t>B.18,36,28,46,35</a:t>
            </a:r>
            <a:endParaRPr lang="en-US" altLang="zh-CN" sz="2000" b="1" dirty="0">
              <a:solidFill>
                <a:srgbClr val="0000FF"/>
              </a:solidFill>
              <a:latin typeface="Consolas" pitchFamily="49" charset="0"/>
              <a:ea typeface="楷体" pitchFamily="49" charset="-122"/>
              <a:cs typeface="Consolas" pitchFamily="49" charset="0"/>
            </a:endParaRPr>
          </a:p>
          <a:p>
            <a:pPr algn="l">
              <a:lnSpc>
                <a:spcPct val="150000"/>
              </a:lnSpc>
            </a:pPr>
            <a:r>
              <a:rPr lang="zh-CN" altLang="en-US" sz="2000" b="1" dirty="0">
                <a:solidFill>
                  <a:srgbClr val="0000FF"/>
                </a:solidFill>
                <a:latin typeface="Consolas" pitchFamily="49" charset="0"/>
                <a:ea typeface="楷体" pitchFamily="49" charset="-122"/>
                <a:cs typeface="Consolas" pitchFamily="49" charset="0"/>
              </a:rPr>
              <a:t>　　</a:t>
            </a:r>
            <a:r>
              <a:rPr lang="en-US" altLang="zh-CN" sz="2000" b="1" dirty="0" err="1">
                <a:solidFill>
                  <a:srgbClr val="0000FF"/>
                </a:solidFill>
                <a:latin typeface="Consolas" pitchFamily="49" charset="0"/>
                <a:ea typeface="楷体" pitchFamily="49" charset="-122"/>
                <a:cs typeface="Consolas" pitchFamily="49" charset="0"/>
              </a:rPr>
              <a:t>C.46,28,18,36,35</a:t>
            </a:r>
            <a:r>
              <a:rPr lang="en-US" altLang="zh-CN" sz="2000" b="1">
                <a:solidFill>
                  <a:srgbClr val="0000FF"/>
                </a:solidFill>
                <a:latin typeface="Consolas" pitchFamily="49" charset="0"/>
                <a:ea typeface="楷体" pitchFamily="49" charset="-122"/>
                <a:cs typeface="Consolas" pitchFamily="49" charset="0"/>
              </a:rPr>
              <a:t>	</a:t>
            </a:r>
            <a:r>
              <a:rPr lang="zh-CN" altLang="en-US" sz="2000" b="1" dirty="0">
                <a:solidFill>
                  <a:srgbClr val="0000FF"/>
                </a:solidFill>
                <a:latin typeface="Consolas" pitchFamily="49" charset="0"/>
                <a:ea typeface="楷体" pitchFamily="49" charset="-122"/>
                <a:cs typeface="Consolas" pitchFamily="49" charset="0"/>
              </a:rPr>
              <a:t>　　</a:t>
            </a:r>
            <a:r>
              <a:rPr lang="en-US" altLang="zh-CN" sz="2000" b="1" dirty="0" err="1">
                <a:solidFill>
                  <a:srgbClr val="0000FF"/>
                </a:solidFill>
                <a:latin typeface="Consolas" pitchFamily="49" charset="0"/>
                <a:ea typeface="楷体" pitchFamily="49" charset="-122"/>
                <a:cs typeface="Consolas" pitchFamily="49" charset="0"/>
              </a:rPr>
              <a:t>D.46,36,18,28,35</a:t>
            </a:r>
            <a:endParaRPr lang="en-US" altLang="zh-CN" sz="2000" b="1" dirty="0">
              <a:solidFill>
                <a:srgbClr val="0000FF"/>
              </a:solidFill>
              <a:latin typeface="Consolas" pitchFamily="49" charset="0"/>
              <a:ea typeface="楷体" pitchFamily="49" charset="-122"/>
              <a:cs typeface="Consolas" pitchFamily="49" charset="0"/>
            </a:endParaRPr>
          </a:p>
        </p:txBody>
      </p:sp>
      <p:sp>
        <p:nvSpPr>
          <p:cNvPr id="6" name="TextBox 3">
            <a:extLst>
              <a:ext uri="{FF2B5EF4-FFF2-40B4-BE49-F238E27FC236}">
                <a16:creationId xmlns:a16="http://schemas.microsoft.com/office/drawing/2014/main" id="{835A37DE-6601-FFF6-C187-04C5ADF29486}"/>
              </a:ext>
            </a:extLst>
          </p:cNvPr>
          <p:cNvSpPr txBox="1"/>
          <p:nvPr/>
        </p:nvSpPr>
        <p:spPr>
          <a:xfrm>
            <a:off x="1811710" y="5121756"/>
            <a:ext cx="7929618" cy="861774"/>
          </a:xfrm>
          <a:prstGeom prst="rect">
            <a:avLst/>
          </a:prstGeom>
          <a:noFill/>
        </p:spPr>
        <p:txBody>
          <a:bodyPr wrap="square" rtlCol="0">
            <a:spAutoFit/>
          </a:bodyPr>
          <a:lstStyle/>
          <a:p>
            <a:pPr algn="l">
              <a:lnSpc>
                <a:spcPts val="3000"/>
              </a:lnSpc>
            </a:pPr>
            <a:r>
              <a:rPr lang="zh-CN" altLang="en-US" sz="2000" b="1">
                <a:solidFill>
                  <a:srgbClr val="FF0000"/>
                </a:solidFill>
                <a:latin typeface="微软雅黑" pitchFamily="34" charset="-122"/>
                <a:ea typeface="微软雅黑" pitchFamily="34" charset="-122"/>
                <a:cs typeface="Consolas" pitchFamily="49" charset="0"/>
              </a:rPr>
              <a:t>      判断标准：</a:t>
            </a:r>
            <a:r>
              <a:rPr lang="zh-CN" altLang="en-US" sz="2000" b="1">
                <a:solidFill>
                  <a:srgbClr val="0000FF"/>
                </a:solidFill>
                <a:latin typeface="Consolas" pitchFamily="49" charset="0"/>
                <a:ea typeface="仿宋" pitchFamily="49" charset="-122"/>
                <a:cs typeface="Consolas" pitchFamily="49" charset="0"/>
              </a:rPr>
              <a:t>在二叉排序树中的查找路径是原来二叉排序树的一部分，也一定构成一棵二叉排序树。</a:t>
            </a:r>
          </a:p>
        </p:txBody>
      </p:sp>
    </p:spTree>
    <p:extLst>
      <p:ext uri="{BB962C8B-B14F-4D97-AF65-F5344CB8AC3E}">
        <p14:creationId xmlns:p14="http://schemas.microsoft.com/office/powerpoint/2010/main" val="575955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240A-4305-DE46-7AA0-D68B8921B31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C79DBD7-5A3A-BED5-DD4D-013D0CA59F3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42E91C74-F250-7383-0F67-98515F12362D}"/>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A53D2C64-6CD5-73FB-3F2D-265A7306EAA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F148E2F6-3C35-D6CE-8044-DFDA2D68C4F2}"/>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、二叉排序树的查找</a:t>
            </a:r>
          </a:p>
        </p:txBody>
      </p:sp>
      <p:sp>
        <p:nvSpPr>
          <p:cNvPr id="5" name="TextBox 2">
            <a:extLst>
              <a:ext uri="{FF2B5EF4-FFF2-40B4-BE49-F238E27FC236}">
                <a16:creationId xmlns:a16="http://schemas.microsoft.com/office/drawing/2014/main" id="{3D513EE9-83AB-03B7-F9F9-AAD2B766E33A}"/>
              </a:ext>
            </a:extLst>
          </p:cNvPr>
          <p:cNvSpPr txBox="1"/>
          <p:nvPr/>
        </p:nvSpPr>
        <p:spPr>
          <a:xfrm>
            <a:off x="4677422" y="1418147"/>
            <a:ext cx="2571768" cy="1938992"/>
          </a:xfrm>
          <a:prstGeom prst="rect">
            <a:avLst/>
          </a:prstGeom>
          <a:noFill/>
        </p:spPr>
        <p:txBody>
          <a:bodyPr wrap="square" rtlCol="0">
            <a:spAutoFit/>
          </a:bodyPr>
          <a:lstStyle/>
          <a:p>
            <a:pPr algn="l">
              <a:lnSpc>
                <a:spcPct val="150000"/>
              </a:lnSpc>
            </a:pPr>
            <a:r>
              <a:rPr lang="en-US" altLang="zh-CN" sz="2000" b="1">
                <a:solidFill>
                  <a:srgbClr val="0000FF"/>
                </a:solidFill>
                <a:latin typeface="Consolas" pitchFamily="49" charset="0"/>
                <a:ea typeface="楷体" pitchFamily="49" charset="-122"/>
                <a:cs typeface="Consolas" pitchFamily="49" charset="0"/>
              </a:rPr>
              <a:t>A.28,36,18,46,35</a:t>
            </a:r>
          </a:p>
          <a:p>
            <a:pPr algn="l">
              <a:lnSpc>
                <a:spcPct val="150000"/>
              </a:lnSpc>
            </a:pPr>
            <a:r>
              <a:rPr lang="en-US" altLang="zh-CN" sz="2000" b="1">
                <a:solidFill>
                  <a:srgbClr val="0000FF"/>
                </a:solidFill>
                <a:latin typeface="Consolas" pitchFamily="49" charset="0"/>
                <a:ea typeface="楷体" pitchFamily="49" charset="-122"/>
                <a:cs typeface="Consolas" pitchFamily="49" charset="0"/>
              </a:rPr>
              <a:t>B.18,36,28,46,35</a:t>
            </a:r>
          </a:p>
          <a:p>
            <a:pPr algn="l">
              <a:lnSpc>
                <a:spcPct val="150000"/>
              </a:lnSpc>
            </a:pPr>
            <a:r>
              <a:rPr lang="en-US" altLang="zh-CN" sz="2000" b="1">
                <a:solidFill>
                  <a:srgbClr val="0000FF"/>
                </a:solidFill>
                <a:latin typeface="Consolas" pitchFamily="49" charset="0"/>
                <a:ea typeface="楷体" pitchFamily="49" charset="-122"/>
                <a:cs typeface="Consolas" pitchFamily="49" charset="0"/>
              </a:rPr>
              <a:t>C.46,28,18,36,35</a:t>
            </a:r>
          </a:p>
          <a:p>
            <a:pPr algn="l">
              <a:lnSpc>
                <a:spcPct val="150000"/>
              </a:lnSpc>
            </a:pPr>
            <a:r>
              <a:rPr lang="en-US" altLang="zh-CN" sz="2000" b="1">
                <a:solidFill>
                  <a:srgbClr val="0000FF"/>
                </a:solidFill>
                <a:latin typeface="Consolas" pitchFamily="49" charset="0"/>
                <a:ea typeface="楷体" pitchFamily="49" charset="-122"/>
                <a:cs typeface="Consolas" pitchFamily="49" charset="0"/>
              </a:rPr>
              <a:t>D.46,36,18,28,35</a:t>
            </a:r>
            <a:endParaRPr lang="zh-CN" altLang="en-US" sz="2000" b="1"/>
          </a:p>
        </p:txBody>
      </p:sp>
      <p:grpSp>
        <p:nvGrpSpPr>
          <p:cNvPr id="6" name="组合 3">
            <a:extLst>
              <a:ext uri="{FF2B5EF4-FFF2-40B4-BE49-F238E27FC236}">
                <a16:creationId xmlns:a16="http://schemas.microsoft.com/office/drawing/2014/main" id="{A9D0FEB9-8B6B-8CA4-7897-6D2D8C9E74EF}"/>
              </a:ext>
            </a:extLst>
          </p:cNvPr>
          <p:cNvGrpSpPr/>
          <p:nvPr/>
        </p:nvGrpSpPr>
        <p:grpSpPr>
          <a:xfrm>
            <a:off x="7892132" y="1346709"/>
            <a:ext cx="1143008" cy="1785950"/>
            <a:chOff x="4214810" y="500042"/>
            <a:chExt cx="1143008" cy="1785950"/>
          </a:xfrm>
        </p:grpSpPr>
        <p:sp>
          <p:nvSpPr>
            <p:cNvPr id="8" name="椭圆 7">
              <a:extLst>
                <a:ext uri="{FF2B5EF4-FFF2-40B4-BE49-F238E27FC236}">
                  <a16:creationId xmlns:a16="http://schemas.microsoft.com/office/drawing/2014/main" id="{5A033BFB-08EE-B2F1-483E-9B7F3EE41052}"/>
                </a:ext>
              </a:extLst>
            </p:cNvPr>
            <p:cNvSpPr/>
            <p:nvPr/>
          </p:nvSpPr>
          <p:spPr>
            <a:xfrm>
              <a:off x="4214810" y="500042"/>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28</a:t>
              </a:r>
              <a:endParaRPr lang="zh-CN" altLang="en-US" sz="1800">
                <a:solidFill>
                  <a:srgbClr val="0000FF"/>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F575CB8F-6EEC-92B1-7284-2FB0DA5B5167}"/>
                </a:ext>
              </a:extLst>
            </p:cNvPr>
            <p:cNvSpPr/>
            <p:nvPr/>
          </p:nvSpPr>
          <p:spPr>
            <a:xfrm>
              <a:off x="4786314" y="1071546"/>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36</a:t>
              </a:r>
              <a:endParaRPr lang="zh-CN" altLang="en-US" sz="1800">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id="{74ECC676-05D5-3E97-3528-D443E734D9A9}"/>
                </a:ext>
              </a:extLst>
            </p:cNvPr>
            <p:cNvSpPr/>
            <p:nvPr/>
          </p:nvSpPr>
          <p:spPr>
            <a:xfrm>
              <a:off x="4214810" y="1785926"/>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18</a:t>
              </a:r>
              <a:endParaRPr lang="zh-CN" altLang="en-US" sz="1800">
                <a:solidFill>
                  <a:srgbClr val="0000FF"/>
                </a:solidFill>
                <a:latin typeface="Consolas" pitchFamily="49" charset="0"/>
                <a:cs typeface="Consolas" pitchFamily="49" charset="0"/>
              </a:endParaRPr>
            </a:p>
          </p:txBody>
        </p:sp>
        <p:cxnSp>
          <p:nvCxnSpPr>
            <p:cNvPr id="11" name="直接连接符 10">
              <a:extLst>
                <a:ext uri="{FF2B5EF4-FFF2-40B4-BE49-F238E27FC236}">
                  <a16:creationId xmlns:a16="http://schemas.microsoft.com/office/drawing/2014/main" id="{CEB480B8-F69E-3512-4B58-53DCF5AA8000}"/>
                </a:ext>
              </a:extLst>
            </p:cNvPr>
            <p:cNvCxnSpPr>
              <a:stCxn id="8" idx="5"/>
              <a:endCxn id="9" idx="1"/>
            </p:cNvCxnSpPr>
            <p:nvPr/>
          </p:nvCxnSpPr>
          <p:spPr>
            <a:xfrm rot="16200000" flipH="1">
              <a:off x="4677362" y="952132"/>
              <a:ext cx="217904"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12" name="直接连接符 11">
              <a:extLst>
                <a:ext uri="{FF2B5EF4-FFF2-40B4-BE49-F238E27FC236}">
                  <a16:creationId xmlns:a16="http://schemas.microsoft.com/office/drawing/2014/main" id="{3FFC83E0-18D8-F3AD-45D6-8EBFF9AD4321}"/>
                </a:ext>
              </a:extLst>
            </p:cNvPr>
            <p:cNvCxnSpPr>
              <a:stCxn id="9" idx="3"/>
              <a:endCxn id="10" idx="7"/>
            </p:cNvCxnSpPr>
            <p:nvPr/>
          </p:nvCxnSpPr>
          <p:spPr>
            <a:xfrm rot="5400000">
              <a:off x="4605924" y="1595074"/>
              <a:ext cx="360780"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grpSp>
      <p:grpSp>
        <p:nvGrpSpPr>
          <p:cNvPr id="13" name="组合 9">
            <a:extLst>
              <a:ext uri="{FF2B5EF4-FFF2-40B4-BE49-F238E27FC236}">
                <a16:creationId xmlns:a16="http://schemas.microsoft.com/office/drawing/2014/main" id="{FDB1528A-F7B4-8608-E58E-66BA44980193}"/>
              </a:ext>
            </a:extLst>
          </p:cNvPr>
          <p:cNvGrpSpPr/>
          <p:nvPr/>
        </p:nvGrpSpPr>
        <p:grpSpPr>
          <a:xfrm>
            <a:off x="9963834" y="1132395"/>
            <a:ext cx="1214446" cy="2435015"/>
            <a:chOff x="6572264" y="500042"/>
            <a:chExt cx="1214446" cy="2435015"/>
          </a:xfrm>
        </p:grpSpPr>
        <p:sp>
          <p:nvSpPr>
            <p:cNvPr id="14" name="椭圆 13">
              <a:extLst>
                <a:ext uri="{FF2B5EF4-FFF2-40B4-BE49-F238E27FC236}">
                  <a16:creationId xmlns:a16="http://schemas.microsoft.com/office/drawing/2014/main" id="{1E541BFA-0F61-F04B-8871-BA4D80C14453}"/>
                </a:ext>
              </a:extLst>
            </p:cNvPr>
            <p:cNvSpPr/>
            <p:nvPr/>
          </p:nvSpPr>
          <p:spPr>
            <a:xfrm>
              <a:off x="6572264" y="500042"/>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18</a:t>
              </a:r>
              <a:endParaRPr lang="zh-CN" altLang="en-US" sz="1800">
                <a:solidFill>
                  <a:srgbClr val="0000FF"/>
                </a:solidFill>
                <a:latin typeface="Consolas" pitchFamily="49" charset="0"/>
                <a:cs typeface="Consolas" pitchFamily="49" charset="0"/>
              </a:endParaRPr>
            </a:p>
          </p:txBody>
        </p:sp>
        <p:sp>
          <p:nvSpPr>
            <p:cNvPr id="15" name="椭圆 14">
              <a:extLst>
                <a:ext uri="{FF2B5EF4-FFF2-40B4-BE49-F238E27FC236}">
                  <a16:creationId xmlns:a16="http://schemas.microsoft.com/office/drawing/2014/main" id="{B276A017-198A-7731-BD3F-B19174408AAC}"/>
                </a:ext>
              </a:extLst>
            </p:cNvPr>
            <p:cNvSpPr/>
            <p:nvPr/>
          </p:nvSpPr>
          <p:spPr>
            <a:xfrm>
              <a:off x="7143768" y="1071546"/>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36</a:t>
              </a:r>
              <a:endParaRPr lang="zh-CN" altLang="en-US" sz="1800">
                <a:solidFill>
                  <a:srgbClr val="0000FF"/>
                </a:solidFill>
                <a:latin typeface="Consolas" pitchFamily="49" charset="0"/>
                <a:cs typeface="Consolas" pitchFamily="49" charset="0"/>
              </a:endParaRPr>
            </a:p>
          </p:txBody>
        </p:sp>
        <p:sp>
          <p:nvSpPr>
            <p:cNvPr id="16" name="椭圆 15">
              <a:extLst>
                <a:ext uri="{FF2B5EF4-FFF2-40B4-BE49-F238E27FC236}">
                  <a16:creationId xmlns:a16="http://schemas.microsoft.com/office/drawing/2014/main" id="{3409D325-E96A-AA7B-4329-08E447EC2E68}"/>
                </a:ext>
              </a:extLst>
            </p:cNvPr>
            <p:cNvSpPr/>
            <p:nvPr/>
          </p:nvSpPr>
          <p:spPr>
            <a:xfrm>
              <a:off x="6572264" y="1785926"/>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28</a:t>
              </a:r>
              <a:endParaRPr lang="zh-CN" altLang="en-US" sz="1800">
                <a:solidFill>
                  <a:srgbClr val="0000FF"/>
                </a:solidFill>
                <a:latin typeface="Consolas" pitchFamily="49" charset="0"/>
                <a:cs typeface="Consolas" pitchFamily="49" charset="0"/>
              </a:endParaRPr>
            </a:p>
          </p:txBody>
        </p:sp>
        <p:cxnSp>
          <p:nvCxnSpPr>
            <p:cNvPr id="17" name="直接连接符 16">
              <a:extLst>
                <a:ext uri="{FF2B5EF4-FFF2-40B4-BE49-F238E27FC236}">
                  <a16:creationId xmlns:a16="http://schemas.microsoft.com/office/drawing/2014/main" id="{1EA87B0D-1D21-9B38-FDEC-838C2FAC81E0}"/>
                </a:ext>
              </a:extLst>
            </p:cNvPr>
            <p:cNvCxnSpPr>
              <a:stCxn id="14" idx="5"/>
              <a:endCxn id="15" idx="1"/>
            </p:cNvCxnSpPr>
            <p:nvPr/>
          </p:nvCxnSpPr>
          <p:spPr>
            <a:xfrm rot="16200000" flipH="1">
              <a:off x="7034816" y="952132"/>
              <a:ext cx="217904"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18" name="直接连接符 17">
              <a:extLst>
                <a:ext uri="{FF2B5EF4-FFF2-40B4-BE49-F238E27FC236}">
                  <a16:creationId xmlns:a16="http://schemas.microsoft.com/office/drawing/2014/main" id="{C7E4AFDE-4EB0-8C19-B09B-04E9D5454845}"/>
                </a:ext>
              </a:extLst>
            </p:cNvPr>
            <p:cNvCxnSpPr>
              <a:stCxn id="15" idx="3"/>
              <a:endCxn id="16" idx="7"/>
            </p:cNvCxnSpPr>
            <p:nvPr/>
          </p:nvCxnSpPr>
          <p:spPr>
            <a:xfrm rot="5400000">
              <a:off x="6963378" y="1595074"/>
              <a:ext cx="360780"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sp>
          <p:nvSpPr>
            <p:cNvPr id="19" name="椭圆 18">
              <a:extLst>
                <a:ext uri="{FF2B5EF4-FFF2-40B4-BE49-F238E27FC236}">
                  <a16:creationId xmlns:a16="http://schemas.microsoft.com/office/drawing/2014/main" id="{E9CB174B-A273-363A-BDA8-11D90E3136F7}"/>
                </a:ext>
              </a:extLst>
            </p:cNvPr>
            <p:cNvSpPr/>
            <p:nvPr/>
          </p:nvSpPr>
          <p:spPr>
            <a:xfrm>
              <a:off x="7215206" y="2434991"/>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46</a:t>
              </a:r>
              <a:endParaRPr lang="zh-CN" altLang="en-US" sz="1800">
                <a:solidFill>
                  <a:srgbClr val="0000FF"/>
                </a:solidFill>
                <a:latin typeface="Consolas" pitchFamily="49" charset="0"/>
                <a:cs typeface="Consolas" pitchFamily="49" charset="0"/>
              </a:endParaRPr>
            </a:p>
          </p:txBody>
        </p:sp>
        <p:cxnSp>
          <p:nvCxnSpPr>
            <p:cNvPr id="20" name="直接连接符 19">
              <a:extLst>
                <a:ext uri="{FF2B5EF4-FFF2-40B4-BE49-F238E27FC236}">
                  <a16:creationId xmlns:a16="http://schemas.microsoft.com/office/drawing/2014/main" id="{303406CB-8391-666A-A1F3-A90D1EDB32AA}"/>
                </a:ext>
              </a:extLst>
            </p:cNvPr>
            <p:cNvCxnSpPr>
              <a:stCxn id="16" idx="5"/>
              <a:endCxn id="19" idx="1"/>
            </p:cNvCxnSpPr>
            <p:nvPr/>
          </p:nvCxnSpPr>
          <p:spPr>
            <a:xfrm rot="16200000" flipH="1">
              <a:off x="7031755" y="2241077"/>
              <a:ext cx="295465" cy="238828"/>
            </a:xfrm>
            <a:prstGeom prst="line">
              <a:avLst/>
            </a:prstGeom>
            <a:ln>
              <a:tailEnd type="none"/>
            </a:ln>
          </p:spPr>
          <p:style>
            <a:lnRef idx="1">
              <a:schemeClr val="accent5"/>
            </a:lnRef>
            <a:fillRef idx="2">
              <a:schemeClr val="accent5"/>
            </a:fillRef>
            <a:effectRef idx="1">
              <a:schemeClr val="accent5"/>
            </a:effectRef>
            <a:fontRef idx="minor">
              <a:schemeClr val="dk1"/>
            </a:fontRef>
          </p:style>
        </p:cxnSp>
      </p:grpSp>
      <p:grpSp>
        <p:nvGrpSpPr>
          <p:cNvPr id="21" name="组合 17">
            <a:extLst>
              <a:ext uri="{FF2B5EF4-FFF2-40B4-BE49-F238E27FC236}">
                <a16:creationId xmlns:a16="http://schemas.microsoft.com/office/drawing/2014/main" id="{CF6A599F-894E-A4B2-794B-955354425D3E}"/>
              </a:ext>
            </a:extLst>
          </p:cNvPr>
          <p:cNvGrpSpPr/>
          <p:nvPr/>
        </p:nvGrpSpPr>
        <p:grpSpPr>
          <a:xfrm>
            <a:off x="4970389" y="3725596"/>
            <a:ext cx="1714512" cy="2500330"/>
            <a:chOff x="1214414" y="3286124"/>
            <a:chExt cx="1714512" cy="2500330"/>
          </a:xfrm>
        </p:grpSpPr>
        <p:sp>
          <p:nvSpPr>
            <p:cNvPr id="22" name="椭圆 21">
              <a:extLst>
                <a:ext uri="{FF2B5EF4-FFF2-40B4-BE49-F238E27FC236}">
                  <a16:creationId xmlns:a16="http://schemas.microsoft.com/office/drawing/2014/main" id="{47611F17-55FD-BC06-D7F9-8C1A4E7A5437}"/>
                </a:ext>
              </a:extLst>
            </p:cNvPr>
            <p:cNvSpPr/>
            <p:nvPr/>
          </p:nvSpPr>
          <p:spPr>
            <a:xfrm>
              <a:off x="2357422" y="3286124"/>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b="1">
                  <a:solidFill>
                    <a:srgbClr val="0000FF"/>
                  </a:solidFill>
                  <a:latin typeface="Consolas" pitchFamily="49" charset="0"/>
                  <a:cs typeface="Consolas" pitchFamily="49" charset="0"/>
                </a:rPr>
                <a:t>46</a:t>
              </a:r>
              <a:endParaRPr lang="zh-CN" altLang="en-US" sz="1800" b="1">
                <a:solidFill>
                  <a:srgbClr val="0000FF"/>
                </a:solidFill>
                <a:latin typeface="Consolas" pitchFamily="49" charset="0"/>
                <a:cs typeface="Consolas" pitchFamily="49" charset="0"/>
              </a:endParaRPr>
            </a:p>
          </p:txBody>
        </p:sp>
        <p:sp>
          <p:nvSpPr>
            <p:cNvPr id="23" name="椭圆 22">
              <a:extLst>
                <a:ext uri="{FF2B5EF4-FFF2-40B4-BE49-F238E27FC236}">
                  <a16:creationId xmlns:a16="http://schemas.microsoft.com/office/drawing/2014/main" id="{C8D4F368-71C9-59E5-23C3-6C0ED57C2EB7}"/>
                </a:ext>
              </a:extLst>
            </p:cNvPr>
            <p:cNvSpPr/>
            <p:nvPr/>
          </p:nvSpPr>
          <p:spPr>
            <a:xfrm>
              <a:off x="1785918" y="3922943"/>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b="1">
                  <a:solidFill>
                    <a:srgbClr val="0000FF"/>
                  </a:solidFill>
                  <a:latin typeface="Consolas" pitchFamily="49" charset="0"/>
                  <a:cs typeface="Consolas" pitchFamily="49" charset="0"/>
                </a:rPr>
                <a:t>28</a:t>
              </a:r>
              <a:endParaRPr lang="zh-CN" altLang="en-US" sz="1800" b="1">
                <a:solidFill>
                  <a:srgbClr val="0000FF"/>
                </a:solidFill>
                <a:latin typeface="Consolas" pitchFamily="49" charset="0"/>
                <a:cs typeface="Consolas" pitchFamily="49" charset="0"/>
              </a:endParaRPr>
            </a:p>
          </p:txBody>
        </p:sp>
        <p:sp>
          <p:nvSpPr>
            <p:cNvPr id="24" name="椭圆 23">
              <a:extLst>
                <a:ext uri="{FF2B5EF4-FFF2-40B4-BE49-F238E27FC236}">
                  <a16:creationId xmlns:a16="http://schemas.microsoft.com/office/drawing/2014/main" id="{3136C4AE-B9DF-175A-DB41-D90A8B253D62}"/>
                </a:ext>
              </a:extLst>
            </p:cNvPr>
            <p:cNvSpPr/>
            <p:nvPr/>
          </p:nvSpPr>
          <p:spPr>
            <a:xfrm>
              <a:off x="1214414" y="4637323"/>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b="1">
                  <a:solidFill>
                    <a:srgbClr val="0000FF"/>
                  </a:solidFill>
                  <a:latin typeface="Consolas" pitchFamily="49" charset="0"/>
                  <a:cs typeface="Consolas" pitchFamily="49" charset="0"/>
                </a:rPr>
                <a:t>18</a:t>
              </a:r>
              <a:endParaRPr lang="zh-CN" altLang="en-US" sz="1800" b="1">
                <a:solidFill>
                  <a:srgbClr val="0000FF"/>
                </a:solidFill>
                <a:latin typeface="Consolas" pitchFamily="49" charset="0"/>
                <a:cs typeface="Consolas" pitchFamily="49" charset="0"/>
              </a:endParaRPr>
            </a:p>
          </p:txBody>
        </p:sp>
        <p:sp>
          <p:nvSpPr>
            <p:cNvPr id="25" name="椭圆 24">
              <a:extLst>
                <a:ext uri="{FF2B5EF4-FFF2-40B4-BE49-F238E27FC236}">
                  <a16:creationId xmlns:a16="http://schemas.microsoft.com/office/drawing/2014/main" id="{01AD0492-1DEB-84DB-78D2-26FD8EA9E85D}"/>
                </a:ext>
              </a:extLst>
            </p:cNvPr>
            <p:cNvSpPr/>
            <p:nvPr/>
          </p:nvSpPr>
          <p:spPr>
            <a:xfrm>
              <a:off x="1785918" y="5286388"/>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b="1">
                  <a:solidFill>
                    <a:srgbClr val="0000FF"/>
                  </a:solidFill>
                  <a:latin typeface="Consolas" pitchFamily="49" charset="0"/>
                  <a:cs typeface="Consolas" pitchFamily="49" charset="0"/>
                </a:rPr>
                <a:t>36</a:t>
              </a:r>
              <a:endParaRPr lang="zh-CN" altLang="en-US" sz="1800" b="1">
                <a:solidFill>
                  <a:srgbClr val="0000FF"/>
                </a:solidFill>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8599B72A-2E9B-9F89-CE7F-34EEB82FC498}"/>
                </a:ext>
              </a:extLst>
            </p:cNvPr>
            <p:cNvCxnSpPr>
              <a:stCxn id="22" idx="3"/>
              <a:endCxn id="23" idx="7"/>
            </p:cNvCxnSpPr>
            <p:nvPr/>
          </p:nvCxnSpPr>
          <p:spPr>
            <a:xfrm rot="5400000">
              <a:off x="2215813" y="3770871"/>
              <a:ext cx="283219"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27" name="直接连接符 26">
              <a:extLst>
                <a:ext uri="{FF2B5EF4-FFF2-40B4-BE49-F238E27FC236}">
                  <a16:creationId xmlns:a16="http://schemas.microsoft.com/office/drawing/2014/main" id="{46EFE6E6-C470-D8BB-84EE-685FF436FDCF}"/>
                </a:ext>
              </a:extLst>
            </p:cNvPr>
            <p:cNvCxnSpPr>
              <a:stCxn id="23" idx="3"/>
            </p:cNvCxnSpPr>
            <p:nvPr/>
          </p:nvCxnSpPr>
          <p:spPr>
            <a:xfrm rot="5400000">
              <a:off x="1609493" y="4383326"/>
              <a:ext cx="293670" cy="226571"/>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28" name="直接连接符 27">
              <a:extLst>
                <a:ext uri="{FF2B5EF4-FFF2-40B4-BE49-F238E27FC236}">
                  <a16:creationId xmlns:a16="http://schemas.microsoft.com/office/drawing/2014/main" id="{4E2AA969-049A-F7C6-6C4B-2A3A320EB5D5}"/>
                </a:ext>
              </a:extLst>
            </p:cNvPr>
            <p:cNvCxnSpPr>
              <a:stCxn id="24" idx="5"/>
              <a:endCxn id="25" idx="1"/>
            </p:cNvCxnSpPr>
            <p:nvPr/>
          </p:nvCxnSpPr>
          <p:spPr>
            <a:xfrm rot="16200000" flipH="1">
              <a:off x="1638186" y="5128193"/>
              <a:ext cx="295465"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grpSp>
      <p:grpSp>
        <p:nvGrpSpPr>
          <p:cNvPr id="29" name="组合 25">
            <a:extLst>
              <a:ext uri="{FF2B5EF4-FFF2-40B4-BE49-F238E27FC236}">
                <a16:creationId xmlns:a16="http://schemas.microsoft.com/office/drawing/2014/main" id="{A59AFF6B-5F91-523D-BEF8-0A1CC6039110}"/>
              </a:ext>
            </a:extLst>
          </p:cNvPr>
          <p:cNvGrpSpPr/>
          <p:nvPr/>
        </p:nvGrpSpPr>
        <p:grpSpPr>
          <a:xfrm>
            <a:off x="7970785" y="3582720"/>
            <a:ext cx="1785950" cy="3143272"/>
            <a:chOff x="4572000" y="3357562"/>
            <a:chExt cx="1785950" cy="3143272"/>
          </a:xfrm>
        </p:grpSpPr>
        <p:sp>
          <p:nvSpPr>
            <p:cNvPr id="30" name="椭圆 29">
              <a:extLst>
                <a:ext uri="{FF2B5EF4-FFF2-40B4-BE49-F238E27FC236}">
                  <a16:creationId xmlns:a16="http://schemas.microsoft.com/office/drawing/2014/main" id="{0323F6F2-F347-24CA-3998-234969677221}"/>
                </a:ext>
              </a:extLst>
            </p:cNvPr>
            <p:cNvSpPr/>
            <p:nvPr/>
          </p:nvSpPr>
          <p:spPr>
            <a:xfrm>
              <a:off x="5643570" y="3357562"/>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46</a:t>
              </a:r>
              <a:endParaRPr lang="zh-CN" altLang="en-US" sz="1800">
                <a:solidFill>
                  <a:srgbClr val="0000FF"/>
                </a:solidFill>
                <a:latin typeface="Consolas" pitchFamily="49" charset="0"/>
                <a:cs typeface="Consolas" pitchFamily="49" charset="0"/>
              </a:endParaRPr>
            </a:p>
          </p:txBody>
        </p:sp>
        <p:sp>
          <p:nvSpPr>
            <p:cNvPr id="31" name="椭圆 30">
              <a:extLst>
                <a:ext uri="{FF2B5EF4-FFF2-40B4-BE49-F238E27FC236}">
                  <a16:creationId xmlns:a16="http://schemas.microsoft.com/office/drawing/2014/main" id="{F1B1017F-66CD-A606-B0B6-D2ED6E9AF6A7}"/>
                </a:ext>
              </a:extLst>
            </p:cNvPr>
            <p:cNvSpPr/>
            <p:nvPr/>
          </p:nvSpPr>
          <p:spPr>
            <a:xfrm>
              <a:off x="5000628" y="4071942"/>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36</a:t>
              </a:r>
              <a:endParaRPr lang="zh-CN" altLang="en-US" sz="1800">
                <a:solidFill>
                  <a:srgbClr val="0000FF"/>
                </a:solidFill>
                <a:latin typeface="Consolas" pitchFamily="49" charset="0"/>
                <a:cs typeface="Consolas" pitchFamily="49" charset="0"/>
              </a:endParaRPr>
            </a:p>
          </p:txBody>
        </p:sp>
        <p:sp>
          <p:nvSpPr>
            <p:cNvPr id="32" name="椭圆 31">
              <a:extLst>
                <a:ext uri="{FF2B5EF4-FFF2-40B4-BE49-F238E27FC236}">
                  <a16:creationId xmlns:a16="http://schemas.microsoft.com/office/drawing/2014/main" id="{674F1C53-1F2F-E776-5D13-35EE0F521227}"/>
                </a:ext>
              </a:extLst>
            </p:cNvPr>
            <p:cNvSpPr/>
            <p:nvPr/>
          </p:nvSpPr>
          <p:spPr>
            <a:xfrm>
              <a:off x="4572000" y="4857760"/>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18</a:t>
              </a:r>
              <a:endParaRPr lang="zh-CN" altLang="en-US" sz="1800">
                <a:solidFill>
                  <a:srgbClr val="0000FF"/>
                </a:solidFill>
                <a:latin typeface="Consolas" pitchFamily="49" charset="0"/>
                <a:cs typeface="Consolas" pitchFamily="49" charset="0"/>
              </a:endParaRPr>
            </a:p>
          </p:txBody>
        </p:sp>
        <p:sp>
          <p:nvSpPr>
            <p:cNvPr id="33" name="椭圆 32">
              <a:extLst>
                <a:ext uri="{FF2B5EF4-FFF2-40B4-BE49-F238E27FC236}">
                  <a16:creationId xmlns:a16="http://schemas.microsoft.com/office/drawing/2014/main" id="{B4E839D1-BF8D-702A-E44F-0CD3335D3E43}"/>
                </a:ext>
              </a:extLst>
            </p:cNvPr>
            <p:cNvSpPr/>
            <p:nvPr/>
          </p:nvSpPr>
          <p:spPr>
            <a:xfrm>
              <a:off x="5143504" y="5429264"/>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28</a:t>
              </a:r>
              <a:endParaRPr lang="zh-CN" altLang="en-US" sz="1800">
                <a:solidFill>
                  <a:srgbClr val="0000FF"/>
                </a:solidFill>
                <a:latin typeface="Consolas" pitchFamily="49" charset="0"/>
                <a:cs typeface="Consolas" pitchFamily="49" charset="0"/>
              </a:endParaRPr>
            </a:p>
          </p:txBody>
        </p:sp>
        <p:sp>
          <p:nvSpPr>
            <p:cNvPr id="34" name="椭圆 33">
              <a:extLst>
                <a:ext uri="{FF2B5EF4-FFF2-40B4-BE49-F238E27FC236}">
                  <a16:creationId xmlns:a16="http://schemas.microsoft.com/office/drawing/2014/main" id="{746DA67B-49DE-E6F1-3E82-5CFAFBF550D8}"/>
                </a:ext>
              </a:extLst>
            </p:cNvPr>
            <p:cNvSpPr/>
            <p:nvPr/>
          </p:nvSpPr>
          <p:spPr>
            <a:xfrm>
              <a:off x="5786446" y="6000768"/>
              <a:ext cx="571504"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cxnSp>
          <p:nvCxnSpPr>
            <p:cNvPr id="35" name="直接连接符 34">
              <a:extLst>
                <a:ext uri="{FF2B5EF4-FFF2-40B4-BE49-F238E27FC236}">
                  <a16:creationId xmlns:a16="http://schemas.microsoft.com/office/drawing/2014/main" id="{4C691ECF-C4C6-8317-1EC2-063917F2AF29}"/>
                </a:ext>
              </a:extLst>
            </p:cNvPr>
            <p:cNvCxnSpPr>
              <a:stCxn id="30" idx="3"/>
              <a:endCxn id="31" idx="7"/>
            </p:cNvCxnSpPr>
            <p:nvPr/>
          </p:nvCxnSpPr>
          <p:spPr>
            <a:xfrm rot="5400000">
              <a:off x="5427461" y="3845371"/>
              <a:ext cx="360780" cy="238828"/>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36" name="直接连接符 35">
              <a:extLst>
                <a:ext uri="{FF2B5EF4-FFF2-40B4-BE49-F238E27FC236}">
                  <a16:creationId xmlns:a16="http://schemas.microsoft.com/office/drawing/2014/main" id="{28EB430A-C1DE-BBAA-A623-3394FD200029}"/>
                </a:ext>
              </a:extLst>
            </p:cNvPr>
            <p:cNvCxnSpPr>
              <a:stCxn id="31" idx="3"/>
              <a:endCxn id="32" idx="0"/>
            </p:cNvCxnSpPr>
            <p:nvPr/>
          </p:nvCxnSpPr>
          <p:spPr>
            <a:xfrm rot="5400000">
              <a:off x="4791546" y="4564982"/>
              <a:ext cx="358985" cy="226571"/>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37" name="直接连接符 36">
              <a:extLst>
                <a:ext uri="{FF2B5EF4-FFF2-40B4-BE49-F238E27FC236}">
                  <a16:creationId xmlns:a16="http://schemas.microsoft.com/office/drawing/2014/main" id="{7C0772B4-0FFA-55C0-B8E7-A39C6091DAA3}"/>
                </a:ext>
              </a:extLst>
            </p:cNvPr>
            <p:cNvCxnSpPr>
              <a:stCxn id="32" idx="5"/>
              <a:endCxn id="33" idx="1"/>
            </p:cNvCxnSpPr>
            <p:nvPr/>
          </p:nvCxnSpPr>
          <p:spPr>
            <a:xfrm rot="16200000" flipH="1">
              <a:off x="5034552" y="5309850"/>
              <a:ext cx="217904" cy="167390"/>
            </a:xfrm>
            <a:prstGeom prst="line">
              <a:avLst/>
            </a:prstGeom>
            <a:ln>
              <a:tailEnd type="none"/>
            </a:ln>
          </p:spPr>
          <p:style>
            <a:lnRef idx="1">
              <a:schemeClr val="accent5"/>
            </a:lnRef>
            <a:fillRef idx="2">
              <a:schemeClr val="accent5"/>
            </a:fillRef>
            <a:effectRef idx="1">
              <a:schemeClr val="accent5"/>
            </a:effectRef>
            <a:fontRef idx="minor">
              <a:schemeClr val="dk1"/>
            </a:fontRef>
          </p:style>
        </p:cxnSp>
        <p:cxnSp>
          <p:nvCxnSpPr>
            <p:cNvPr id="38" name="直接连接符 37">
              <a:extLst>
                <a:ext uri="{FF2B5EF4-FFF2-40B4-BE49-F238E27FC236}">
                  <a16:creationId xmlns:a16="http://schemas.microsoft.com/office/drawing/2014/main" id="{DEBAE5ED-8C02-B84D-AA86-8D2718603170}"/>
                </a:ext>
              </a:extLst>
            </p:cNvPr>
            <p:cNvCxnSpPr>
              <a:stCxn id="33" idx="5"/>
              <a:endCxn id="34" idx="1"/>
            </p:cNvCxnSpPr>
            <p:nvPr/>
          </p:nvCxnSpPr>
          <p:spPr>
            <a:xfrm rot="16200000" flipH="1">
              <a:off x="5641775" y="5845635"/>
              <a:ext cx="217904" cy="238828"/>
            </a:xfrm>
            <a:prstGeom prst="line">
              <a:avLst/>
            </a:prstGeom>
            <a:ln>
              <a:tailEnd type="none"/>
            </a:ln>
          </p:spPr>
          <p:style>
            <a:lnRef idx="1">
              <a:schemeClr val="accent5"/>
            </a:lnRef>
            <a:fillRef idx="2">
              <a:schemeClr val="accent5"/>
            </a:fillRef>
            <a:effectRef idx="1">
              <a:schemeClr val="accent5"/>
            </a:effectRef>
            <a:fontRef idx="minor">
              <a:schemeClr val="dk1"/>
            </a:fontRef>
          </p:style>
        </p:cxnSp>
      </p:grpSp>
      <p:sp>
        <p:nvSpPr>
          <p:cNvPr id="39" name="Text Box 6">
            <a:extLst>
              <a:ext uri="{FF2B5EF4-FFF2-40B4-BE49-F238E27FC236}">
                <a16:creationId xmlns:a16="http://schemas.microsoft.com/office/drawing/2014/main" id="{3DEC5733-5F0D-07D4-F05B-60CB56FF36D5}"/>
              </a:ext>
            </a:extLst>
          </p:cNvPr>
          <p:cNvSpPr txBox="1">
            <a:spLocks noChangeArrowheads="1"/>
          </p:cNvSpPr>
          <p:nvPr/>
        </p:nvSpPr>
        <p:spPr bwMode="auto">
          <a:xfrm>
            <a:off x="9542421" y="5011480"/>
            <a:ext cx="2571768" cy="396875"/>
          </a:xfrm>
          <a:prstGeom prst="rect">
            <a:avLst/>
          </a:prstGeom>
          <a:noFill/>
          <a:ln w="9525">
            <a:noFill/>
            <a:miter lim="800000"/>
            <a:headEnd/>
            <a:tailEnd/>
          </a:ln>
        </p:spPr>
        <p:txBody>
          <a:bodyPr wrap="square">
            <a:spAutoFit/>
          </a:bodyPr>
          <a:lstStyle/>
          <a:p>
            <a:pPr algn="l">
              <a:spcBef>
                <a:spcPct val="50000"/>
              </a:spcBef>
            </a:pPr>
            <a:r>
              <a:rPr lang="zh-CN" altLang="en-US" sz="2000" b="1">
                <a:solidFill>
                  <a:srgbClr val="0000FF"/>
                </a:solidFill>
                <a:latin typeface="楷体" pitchFamily="49" charset="-122"/>
                <a:ea typeface="楷体" pitchFamily="49" charset="-122"/>
              </a:rPr>
              <a:t>是一</a:t>
            </a:r>
            <a:r>
              <a:rPr lang="zh-CN" altLang="en-US" sz="2000" b="1" dirty="0">
                <a:solidFill>
                  <a:srgbClr val="0000FF"/>
                </a:solidFill>
                <a:latin typeface="楷体" pitchFamily="49" charset="-122"/>
                <a:ea typeface="楷体" pitchFamily="49" charset="-122"/>
              </a:rPr>
              <a:t>棵二</a:t>
            </a:r>
            <a:r>
              <a:rPr lang="zh-CN" altLang="en-US" sz="2000" b="1">
                <a:solidFill>
                  <a:srgbClr val="0000FF"/>
                </a:solidFill>
                <a:latin typeface="楷体" pitchFamily="49" charset="-122"/>
                <a:ea typeface="楷体" pitchFamily="49" charset="-122"/>
              </a:rPr>
              <a:t>叉排序</a:t>
            </a:r>
            <a:r>
              <a:rPr lang="zh-CN" altLang="en-US" sz="2000" b="1">
                <a:solidFill>
                  <a:srgbClr val="FF0000"/>
                </a:solidFill>
                <a:latin typeface="宋体"/>
                <a:ea typeface="宋体"/>
              </a:rPr>
              <a:t>√</a:t>
            </a:r>
            <a:r>
              <a:rPr lang="zh-CN" altLang="en-US" sz="2000" b="1">
                <a:solidFill>
                  <a:srgbClr val="0000FF"/>
                </a:solidFill>
                <a:latin typeface="楷体" pitchFamily="49" charset="-122"/>
                <a:ea typeface="楷体" pitchFamily="49" charset="-122"/>
              </a:rPr>
              <a:t> </a:t>
            </a:r>
            <a:endParaRPr lang="zh-CN" altLang="en-US" sz="2000" b="1" dirty="0">
              <a:solidFill>
                <a:srgbClr val="0000FF"/>
              </a:solidFill>
              <a:latin typeface="楷体" pitchFamily="49" charset="-122"/>
              <a:ea typeface="楷体" pitchFamily="49" charset="-122"/>
            </a:endParaRPr>
          </a:p>
        </p:txBody>
      </p:sp>
      <p:sp>
        <p:nvSpPr>
          <p:cNvPr id="40" name="Text Box 6">
            <a:extLst>
              <a:ext uri="{FF2B5EF4-FFF2-40B4-BE49-F238E27FC236}">
                <a16:creationId xmlns:a16="http://schemas.microsoft.com/office/drawing/2014/main" id="{AEBCB9F1-545D-B28E-289B-9E0E355F0BCF}"/>
              </a:ext>
            </a:extLst>
          </p:cNvPr>
          <p:cNvSpPr txBox="1">
            <a:spLocks noChangeArrowheads="1"/>
          </p:cNvSpPr>
          <p:nvPr/>
        </p:nvSpPr>
        <p:spPr bwMode="auto">
          <a:xfrm>
            <a:off x="8749388" y="2632593"/>
            <a:ext cx="500066" cy="400110"/>
          </a:xfrm>
          <a:prstGeom prst="rect">
            <a:avLst/>
          </a:prstGeom>
          <a:noFill/>
          <a:ln w="9525">
            <a:noFill/>
            <a:miter lim="800000"/>
            <a:headEnd/>
            <a:tailEnd/>
          </a:ln>
        </p:spPr>
        <p:txBody>
          <a:bodyPr wrap="square">
            <a:spAutoFit/>
          </a:bodyPr>
          <a:lstStyle/>
          <a:p>
            <a:pPr algn="l">
              <a:spcBef>
                <a:spcPct val="50000"/>
              </a:spcBef>
            </a:pPr>
            <a:r>
              <a:rPr lang="en-US" altLang="zh-CN" sz="2000" b="1">
                <a:solidFill>
                  <a:srgbClr val="FF0000"/>
                </a:solidFill>
                <a:latin typeface="微软雅黑" pitchFamily="34" charset="-122"/>
                <a:ea typeface="微软雅黑" pitchFamily="34" charset="-122"/>
                <a:cs typeface="Times New Roman" pitchFamily="18" charset="0"/>
              </a:rPr>
              <a:t>Ⅹ</a:t>
            </a:r>
            <a:endParaRPr lang="zh-CN" altLang="en-US" sz="2000" b="1" dirty="0">
              <a:solidFill>
                <a:srgbClr val="FF0000"/>
              </a:solidFill>
              <a:latin typeface="微软雅黑" pitchFamily="34" charset="-122"/>
              <a:ea typeface="微软雅黑" pitchFamily="34" charset="-122"/>
              <a:cs typeface="Times New Roman" pitchFamily="18" charset="0"/>
            </a:endParaRPr>
          </a:p>
        </p:txBody>
      </p:sp>
      <p:cxnSp>
        <p:nvCxnSpPr>
          <p:cNvPr id="41" name="直接箭头连接符 40">
            <a:extLst>
              <a:ext uri="{FF2B5EF4-FFF2-40B4-BE49-F238E27FC236}">
                <a16:creationId xmlns:a16="http://schemas.microsoft.com/office/drawing/2014/main" id="{0DFDB05C-A96D-7A0D-E469-F505424186BF}"/>
              </a:ext>
            </a:extLst>
          </p:cNvPr>
          <p:cNvCxnSpPr/>
          <p:nvPr/>
        </p:nvCxnSpPr>
        <p:spPr>
          <a:xfrm>
            <a:off x="7177752" y="1703899"/>
            <a:ext cx="71438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2" name="任意多边形 38">
            <a:extLst>
              <a:ext uri="{FF2B5EF4-FFF2-40B4-BE49-F238E27FC236}">
                <a16:creationId xmlns:a16="http://schemas.microsoft.com/office/drawing/2014/main" id="{46EB9D1F-91D1-7084-1C06-9B69B761948E}"/>
              </a:ext>
            </a:extLst>
          </p:cNvPr>
          <p:cNvSpPr/>
          <p:nvPr/>
        </p:nvSpPr>
        <p:spPr>
          <a:xfrm>
            <a:off x="7023044" y="2166016"/>
            <a:ext cx="2847703" cy="1515291"/>
          </a:xfrm>
          <a:custGeom>
            <a:avLst/>
            <a:gdLst>
              <a:gd name="connsiteX0" fmla="*/ 0 w 2847703"/>
              <a:gd name="connsiteY0" fmla="*/ 0 h 1515291"/>
              <a:gd name="connsiteX1" fmla="*/ 457200 w 2847703"/>
              <a:gd name="connsiteY1" fmla="*/ 391885 h 1515291"/>
              <a:gd name="connsiteX2" fmla="*/ 992777 w 2847703"/>
              <a:gd name="connsiteY2" fmla="*/ 1358537 h 1515291"/>
              <a:gd name="connsiteX3" fmla="*/ 2286000 w 2847703"/>
              <a:gd name="connsiteY3" fmla="*/ 1332411 h 1515291"/>
              <a:gd name="connsiteX4" fmla="*/ 2847703 w 2847703"/>
              <a:gd name="connsiteY4" fmla="*/ 770708 h 1515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703" h="1515291">
                <a:moveTo>
                  <a:pt x="0" y="0"/>
                </a:moveTo>
                <a:cubicBezTo>
                  <a:pt x="145868" y="82731"/>
                  <a:pt x="291737" y="165462"/>
                  <a:pt x="457200" y="391885"/>
                </a:cubicBezTo>
                <a:cubicBezTo>
                  <a:pt x="622663" y="618308"/>
                  <a:pt x="687977" y="1201783"/>
                  <a:pt x="992777" y="1358537"/>
                </a:cubicBezTo>
                <a:cubicBezTo>
                  <a:pt x="1297577" y="1515291"/>
                  <a:pt x="1976846" y="1430382"/>
                  <a:pt x="2286000" y="1332411"/>
                </a:cubicBezTo>
                <a:cubicBezTo>
                  <a:pt x="2595154" y="1234440"/>
                  <a:pt x="2721428" y="1002574"/>
                  <a:pt x="2847703" y="770708"/>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l"/>
            <a:endParaRPr lang="zh-CN" altLang="en-US" b="1"/>
          </a:p>
        </p:txBody>
      </p:sp>
      <p:sp>
        <p:nvSpPr>
          <p:cNvPr id="43" name="任意多边形 39">
            <a:extLst>
              <a:ext uri="{FF2B5EF4-FFF2-40B4-BE49-F238E27FC236}">
                <a16:creationId xmlns:a16="http://schemas.microsoft.com/office/drawing/2014/main" id="{4A28E540-EF88-0F3D-05B5-386259C1D39C}"/>
              </a:ext>
            </a:extLst>
          </p:cNvPr>
          <p:cNvSpPr/>
          <p:nvPr/>
        </p:nvSpPr>
        <p:spPr>
          <a:xfrm>
            <a:off x="4510621" y="2662404"/>
            <a:ext cx="866503" cy="2364377"/>
          </a:xfrm>
          <a:custGeom>
            <a:avLst/>
            <a:gdLst>
              <a:gd name="connsiteX0" fmla="*/ 226423 w 866503"/>
              <a:gd name="connsiteY0" fmla="*/ 0 h 2364377"/>
              <a:gd name="connsiteX1" fmla="*/ 30480 w 866503"/>
              <a:gd name="connsiteY1" fmla="*/ 365760 h 2364377"/>
              <a:gd name="connsiteX2" fmla="*/ 409303 w 866503"/>
              <a:gd name="connsiteY2" fmla="*/ 1802674 h 2364377"/>
              <a:gd name="connsiteX3" fmla="*/ 866503 w 866503"/>
              <a:gd name="connsiteY3" fmla="*/ 2364377 h 2364377"/>
            </a:gdLst>
            <a:ahLst/>
            <a:cxnLst>
              <a:cxn ang="0">
                <a:pos x="connsiteX0" y="connsiteY0"/>
              </a:cxn>
              <a:cxn ang="0">
                <a:pos x="connsiteX1" y="connsiteY1"/>
              </a:cxn>
              <a:cxn ang="0">
                <a:pos x="connsiteX2" y="connsiteY2"/>
              </a:cxn>
              <a:cxn ang="0">
                <a:pos x="connsiteX3" y="connsiteY3"/>
              </a:cxn>
            </a:cxnLst>
            <a:rect l="l" t="t" r="r" b="b"/>
            <a:pathLst>
              <a:path w="866503" h="2364377">
                <a:moveTo>
                  <a:pt x="226423" y="0"/>
                </a:moveTo>
                <a:cubicBezTo>
                  <a:pt x="113211" y="32657"/>
                  <a:pt x="0" y="65314"/>
                  <a:pt x="30480" y="365760"/>
                </a:cubicBezTo>
                <a:cubicBezTo>
                  <a:pt x="60960" y="666206"/>
                  <a:pt x="269966" y="1469571"/>
                  <a:pt x="409303" y="1802674"/>
                </a:cubicBezTo>
                <a:cubicBezTo>
                  <a:pt x="548640" y="2135777"/>
                  <a:pt x="707571" y="2250077"/>
                  <a:pt x="866503" y="2364377"/>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l"/>
            <a:endParaRPr lang="zh-CN" altLang="en-US" b="1"/>
          </a:p>
        </p:txBody>
      </p:sp>
      <p:cxnSp>
        <p:nvCxnSpPr>
          <p:cNvPr id="44" name="直接箭头连接符 43">
            <a:extLst>
              <a:ext uri="{FF2B5EF4-FFF2-40B4-BE49-F238E27FC236}">
                <a16:creationId xmlns:a16="http://schemas.microsoft.com/office/drawing/2014/main" id="{FB2E0ED5-F3E1-E73A-8C61-523CB2FA4B98}"/>
              </a:ext>
            </a:extLst>
          </p:cNvPr>
          <p:cNvCxnSpPr/>
          <p:nvPr/>
        </p:nvCxnSpPr>
        <p:spPr>
          <a:xfrm>
            <a:off x="6320496" y="3275535"/>
            <a:ext cx="1928826" cy="18573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5" name="Text Box 6">
            <a:extLst>
              <a:ext uri="{FF2B5EF4-FFF2-40B4-BE49-F238E27FC236}">
                <a16:creationId xmlns:a16="http://schemas.microsoft.com/office/drawing/2014/main" id="{E05C9FAC-DE94-C211-9304-443021924E06}"/>
              </a:ext>
            </a:extLst>
          </p:cNvPr>
          <p:cNvSpPr txBox="1">
            <a:spLocks noChangeArrowheads="1"/>
          </p:cNvSpPr>
          <p:nvPr/>
        </p:nvSpPr>
        <p:spPr bwMode="auto">
          <a:xfrm>
            <a:off x="11178280" y="2632593"/>
            <a:ext cx="500066" cy="400110"/>
          </a:xfrm>
          <a:prstGeom prst="rect">
            <a:avLst/>
          </a:prstGeom>
          <a:noFill/>
          <a:ln w="9525">
            <a:noFill/>
            <a:miter lim="800000"/>
            <a:headEnd/>
            <a:tailEnd/>
          </a:ln>
        </p:spPr>
        <p:txBody>
          <a:bodyPr wrap="square">
            <a:spAutoFit/>
          </a:bodyPr>
          <a:lstStyle/>
          <a:p>
            <a:pPr algn="l">
              <a:spcBef>
                <a:spcPct val="50000"/>
              </a:spcBef>
            </a:pPr>
            <a:r>
              <a:rPr lang="en-US" altLang="zh-CN" sz="2000" b="1">
                <a:solidFill>
                  <a:srgbClr val="FF0000"/>
                </a:solidFill>
                <a:latin typeface="微软雅黑" pitchFamily="34" charset="-122"/>
                <a:ea typeface="微软雅黑" pitchFamily="34" charset="-122"/>
                <a:cs typeface="Times New Roman" pitchFamily="18" charset="0"/>
              </a:rPr>
              <a:t>Ⅹ</a:t>
            </a:r>
            <a:endParaRPr lang="zh-CN" altLang="en-US" sz="2000" b="1" dirty="0">
              <a:solidFill>
                <a:srgbClr val="FF0000"/>
              </a:solidFill>
              <a:latin typeface="微软雅黑" pitchFamily="34" charset="-122"/>
              <a:ea typeface="微软雅黑" pitchFamily="34" charset="-122"/>
              <a:cs typeface="Times New Roman" pitchFamily="18" charset="0"/>
            </a:endParaRPr>
          </a:p>
        </p:txBody>
      </p:sp>
      <p:sp>
        <p:nvSpPr>
          <p:cNvPr id="46" name="Text Box 6">
            <a:extLst>
              <a:ext uri="{FF2B5EF4-FFF2-40B4-BE49-F238E27FC236}">
                <a16:creationId xmlns:a16="http://schemas.microsoft.com/office/drawing/2014/main" id="{39AD0C79-7DCE-809D-8E89-97F95D718CD8}"/>
              </a:ext>
            </a:extLst>
          </p:cNvPr>
          <p:cNvSpPr txBox="1">
            <a:spLocks noChangeArrowheads="1"/>
          </p:cNvSpPr>
          <p:nvPr/>
        </p:nvSpPr>
        <p:spPr bwMode="auto">
          <a:xfrm>
            <a:off x="6184835" y="5039998"/>
            <a:ext cx="500066" cy="400110"/>
          </a:xfrm>
          <a:prstGeom prst="rect">
            <a:avLst/>
          </a:prstGeom>
          <a:noFill/>
          <a:ln w="9525">
            <a:noFill/>
            <a:miter lim="800000"/>
            <a:headEnd/>
            <a:tailEnd/>
          </a:ln>
        </p:spPr>
        <p:txBody>
          <a:bodyPr wrap="square">
            <a:spAutoFit/>
          </a:bodyPr>
          <a:lstStyle/>
          <a:p>
            <a:pPr algn="l">
              <a:spcBef>
                <a:spcPct val="50000"/>
              </a:spcBef>
            </a:pPr>
            <a:r>
              <a:rPr lang="en-US" altLang="zh-CN" sz="2000" b="1">
                <a:solidFill>
                  <a:srgbClr val="FF0000"/>
                </a:solidFill>
                <a:latin typeface="微软雅黑" pitchFamily="34" charset="-122"/>
                <a:ea typeface="微软雅黑" pitchFamily="34" charset="-122"/>
                <a:cs typeface="Times New Roman" pitchFamily="18" charset="0"/>
              </a:rPr>
              <a:t>Ⅹ</a:t>
            </a:r>
            <a:endParaRPr lang="zh-CN" altLang="en-US" sz="2000" b="1" dirty="0">
              <a:solidFill>
                <a:srgbClr val="FF0000"/>
              </a:solidFill>
              <a:latin typeface="微软雅黑" pitchFamily="34" charset="-122"/>
              <a:ea typeface="微软雅黑" pitchFamily="34" charset="-122"/>
              <a:cs typeface="Times New Roman" pitchFamily="18" charset="0"/>
            </a:endParaRPr>
          </a:p>
        </p:txBody>
      </p:sp>
      <p:sp>
        <p:nvSpPr>
          <p:cNvPr id="47" name="TextBox 43">
            <a:extLst>
              <a:ext uri="{FF2B5EF4-FFF2-40B4-BE49-F238E27FC236}">
                <a16:creationId xmlns:a16="http://schemas.microsoft.com/office/drawing/2014/main" id="{1AD7B104-5199-A38A-FF93-8B01FD9A5E90}"/>
              </a:ext>
            </a:extLst>
          </p:cNvPr>
          <p:cNvSpPr txBox="1"/>
          <p:nvPr/>
        </p:nvSpPr>
        <p:spPr>
          <a:xfrm>
            <a:off x="9756735" y="5654422"/>
            <a:ext cx="1428760" cy="400110"/>
          </a:xfrm>
          <a:prstGeom prst="rect">
            <a:avLst/>
          </a:prstGeom>
          <a:noFill/>
        </p:spPr>
        <p:txBody>
          <a:bodyPr wrap="square" rtlCol="0">
            <a:spAutoFit/>
          </a:bodyPr>
          <a:lstStyle/>
          <a:p>
            <a:r>
              <a:rPr lang="zh-CN" altLang="en-US" sz="2000" b="1">
                <a:solidFill>
                  <a:srgbClr val="3333FF"/>
                </a:solidFill>
                <a:latin typeface="Consolas" pitchFamily="49" charset="0"/>
                <a:ea typeface="楷体" pitchFamily="49" charset="-122"/>
                <a:cs typeface="Consolas" pitchFamily="49" charset="0"/>
              </a:rPr>
              <a:t>答案为</a:t>
            </a:r>
            <a:r>
              <a:rPr lang="en-US" altLang="zh-CN" sz="2000" b="1">
                <a:solidFill>
                  <a:srgbClr val="C00000"/>
                </a:solidFill>
                <a:latin typeface="Consolas" pitchFamily="49" charset="0"/>
                <a:ea typeface="楷体" pitchFamily="49" charset="-122"/>
                <a:cs typeface="Consolas" pitchFamily="49" charset="0"/>
              </a:rPr>
              <a:t>D</a:t>
            </a:r>
            <a:endParaRPr lang="zh-CN" altLang="en-US" sz="2000" b="1" dirty="0">
              <a:solidFill>
                <a:srgbClr val="C000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94867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2" grpId="0" animBg="1"/>
      <p:bldP spid="43" grpId="0" animBg="1"/>
      <p:bldP spid="45" grpId="0"/>
      <p:bldP spid="46" grpId="0"/>
      <p:bldP spid="4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697F7-0A64-4A05-30FA-7D3FAA96D30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86AFF33-5F68-1329-729F-10686B9FE76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F7B58B10-00A1-5E17-45F0-80606693C372}"/>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EA3FCFA4-6832-B70F-FC42-9DEEE3B6F46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9F078D73-E29A-7FA5-B01E-29F86CBF7EF5}"/>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、二叉排序树的删除</a:t>
            </a:r>
          </a:p>
        </p:txBody>
      </p:sp>
      <p:sp>
        <p:nvSpPr>
          <p:cNvPr id="5" name="Oval 3">
            <a:extLst>
              <a:ext uri="{FF2B5EF4-FFF2-40B4-BE49-F238E27FC236}">
                <a16:creationId xmlns:a16="http://schemas.microsoft.com/office/drawing/2014/main" id="{07E370F7-8C77-D299-00CA-82076323D564}"/>
              </a:ext>
            </a:extLst>
          </p:cNvPr>
          <p:cNvSpPr>
            <a:spLocks noChangeArrowheads="1"/>
          </p:cNvSpPr>
          <p:nvPr/>
        </p:nvSpPr>
        <p:spPr bwMode="auto">
          <a:xfrm>
            <a:off x="5231904" y="32221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dirty="0">
                <a:solidFill>
                  <a:srgbClr val="3333FF"/>
                </a:solidFill>
                <a:latin typeface="Consolas" pitchFamily="49" charset="0"/>
                <a:ea typeface="楷体_GB2312" pitchFamily="49" charset="-122"/>
                <a:cs typeface="Consolas" pitchFamily="49" charset="0"/>
              </a:rPr>
              <a:t>50</a:t>
            </a:r>
          </a:p>
        </p:txBody>
      </p:sp>
      <p:sp>
        <p:nvSpPr>
          <p:cNvPr id="6" name="Oval 5">
            <a:extLst>
              <a:ext uri="{FF2B5EF4-FFF2-40B4-BE49-F238E27FC236}">
                <a16:creationId xmlns:a16="http://schemas.microsoft.com/office/drawing/2014/main" id="{3D55136F-AF96-4FC7-93FF-79B142D62FDB}"/>
              </a:ext>
            </a:extLst>
          </p:cNvPr>
          <p:cNvSpPr>
            <a:spLocks noChangeArrowheads="1"/>
          </p:cNvSpPr>
          <p:nvPr/>
        </p:nvSpPr>
        <p:spPr bwMode="auto">
          <a:xfrm>
            <a:off x="6679704" y="37555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80</a:t>
            </a:r>
          </a:p>
        </p:txBody>
      </p:sp>
      <p:sp>
        <p:nvSpPr>
          <p:cNvPr id="8" name="Oval 6">
            <a:extLst>
              <a:ext uri="{FF2B5EF4-FFF2-40B4-BE49-F238E27FC236}">
                <a16:creationId xmlns:a16="http://schemas.microsoft.com/office/drawing/2014/main" id="{A6C22C14-E296-8E29-E1B0-1D6BBEE7EDE3}"/>
              </a:ext>
            </a:extLst>
          </p:cNvPr>
          <p:cNvSpPr>
            <a:spLocks noChangeArrowheads="1"/>
          </p:cNvSpPr>
          <p:nvPr/>
        </p:nvSpPr>
        <p:spPr bwMode="auto">
          <a:xfrm>
            <a:off x="2641104" y="44413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400" b="1">
                <a:solidFill>
                  <a:srgbClr val="3333FF"/>
                </a:solidFill>
                <a:latin typeface="Consolas" pitchFamily="49" charset="0"/>
                <a:ea typeface="楷体_GB2312" pitchFamily="49" charset="-122"/>
                <a:cs typeface="Consolas" pitchFamily="49" charset="0"/>
              </a:rPr>
              <a:t>20</a:t>
            </a:r>
          </a:p>
        </p:txBody>
      </p:sp>
      <p:sp>
        <p:nvSpPr>
          <p:cNvPr id="9" name="Oval 7">
            <a:extLst>
              <a:ext uri="{FF2B5EF4-FFF2-40B4-BE49-F238E27FC236}">
                <a16:creationId xmlns:a16="http://schemas.microsoft.com/office/drawing/2014/main" id="{9D036DA2-2BF0-F8F6-A6CB-14F3BCEEF7EF}"/>
              </a:ext>
            </a:extLst>
          </p:cNvPr>
          <p:cNvSpPr>
            <a:spLocks noChangeArrowheads="1"/>
          </p:cNvSpPr>
          <p:nvPr/>
        </p:nvSpPr>
        <p:spPr bwMode="auto">
          <a:xfrm>
            <a:off x="7822704" y="44413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90</a:t>
            </a:r>
          </a:p>
        </p:txBody>
      </p:sp>
      <p:sp>
        <p:nvSpPr>
          <p:cNvPr id="10" name="Oval 8">
            <a:extLst>
              <a:ext uri="{FF2B5EF4-FFF2-40B4-BE49-F238E27FC236}">
                <a16:creationId xmlns:a16="http://schemas.microsoft.com/office/drawing/2014/main" id="{BF21DAD8-EAAD-9560-4838-92193FBDAD07}"/>
              </a:ext>
            </a:extLst>
          </p:cNvPr>
          <p:cNvSpPr>
            <a:spLocks noChangeArrowheads="1"/>
          </p:cNvSpPr>
          <p:nvPr/>
        </p:nvSpPr>
        <p:spPr bwMode="auto">
          <a:xfrm>
            <a:off x="6984504" y="52795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85</a:t>
            </a:r>
          </a:p>
        </p:txBody>
      </p:sp>
      <p:sp>
        <p:nvSpPr>
          <p:cNvPr id="11" name="Oval 9">
            <a:extLst>
              <a:ext uri="{FF2B5EF4-FFF2-40B4-BE49-F238E27FC236}">
                <a16:creationId xmlns:a16="http://schemas.microsoft.com/office/drawing/2014/main" id="{D60AC32F-E174-485C-B2DC-B09C15D51FF3}"/>
              </a:ext>
            </a:extLst>
          </p:cNvPr>
          <p:cNvSpPr>
            <a:spLocks noChangeArrowheads="1"/>
          </p:cNvSpPr>
          <p:nvPr/>
        </p:nvSpPr>
        <p:spPr bwMode="auto">
          <a:xfrm>
            <a:off x="4927104" y="44413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40</a:t>
            </a:r>
          </a:p>
        </p:txBody>
      </p:sp>
      <p:sp>
        <p:nvSpPr>
          <p:cNvPr id="12" name="Oval 10">
            <a:extLst>
              <a:ext uri="{FF2B5EF4-FFF2-40B4-BE49-F238E27FC236}">
                <a16:creationId xmlns:a16="http://schemas.microsoft.com/office/drawing/2014/main" id="{442977E0-6BEE-686F-C3A3-A64A4BB50E3B}"/>
              </a:ext>
            </a:extLst>
          </p:cNvPr>
          <p:cNvSpPr>
            <a:spLocks noChangeArrowheads="1"/>
          </p:cNvSpPr>
          <p:nvPr/>
        </p:nvSpPr>
        <p:spPr bwMode="auto">
          <a:xfrm>
            <a:off x="4012704" y="52795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35</a:t>
            </a:r>
          </a:p>
        </p:txBody>
      </p:sp>
      <p:sp>
        <p:nvSpPr>
          <p:cNvPr id="13" name="Oval 11">
            <a:extLst>
              <a:ext uri="{FF2B5EF4-FFF2-40B4-BE49-F238E27FC236}">
                <a16:creationId xmlns:a16="http://schemas.microsoft.com/office/drawing/2014/main" id="{B933C59A-A901-5E00-B58A-452A9E25D4C2}"/>
              </a:ext>
            </a:extLst>
          </p:cNvPr>
          <p:cNvSpPr>
            <a:spLocks noChangeArrowheads="1"/>
          </p:cNvSpPr>
          <p:nvPr/>
        </p:nvSpPr>
        <p:spPr bwMode="auto">
          <a:xfrm>
            <a:off x="8279904" y="61177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400" dirty="0">
                <a:solidFill>
                  <a:srgbClr val="3333FF"/>
                </a:solidFill>
                <a:latin typeface="Consolas" pitchFamily="49" charset="0"/>
                <a:ea typeface="楷体_GB2312" pitchFamily="49" charset="-122"/>
                <a:cs typeface="Consolas" pitchFamily="49" charset="0"/>
              </a:rPr>
              <a:t>88</a:t>
            </a:r>
          </a:p>
        </p:txBody>
      </p:sp>
      <p:sp>
        <p:nvSpPr>
          <p:cNvPr id="14" name="Freeform 12">
            <a:extLst>
              <a:ext uri="{FF2B5EF4-FFF2-40B4-BE49-F238E27FC236}">
                <a16:creationId xmlns:a16="http://schemas.microsoft.com/office/drawing/2014/main" id="{884FB1B4-20B0-4AE2-E3A9-13334C456604}"/>
              </a:ext>
            </a:extLst>
          </p:cNvPr>
          <p:cNvSpPr>
            <a:spLocks/>
          </p:cNvSpPr>
          <p:nvPr/>
        </p:nvSpPr>
        <p:spPr bwMode="auto">
          <a:xfrm>
            <a:off x="4444504" y="3526954"/>
            <a:ext cx="787400" cy="384175"/>
          </a:xfrm>
          <a:custGeom>
            <a:avLst/>
            <a:gdLst>
              <a:gd name="T0" fmla="*/ 496 w 496"/>
              <a:gd name="T1" fmla="*/ 0 h 242"/>
              <a:gd name="T2" fmla="*/ 0 w 496"/>
              <a:gd name="T3" fmla="*/ 242 h 242"/>
              <a:gd name="T4" fmla="*/ 0 60000 65536"/>
              <a:gd name="T5" fmla="*/ 0 60000 65536"/>
              <a:gd name="T6" fmla="*/ 0 w 496"/>
              <a:gd name="T7" fmla="*/ 0 h 242"/>
              <a:gd name="T8" fmla="*/ 496 w 496"/>
              <a:gd name="T9" fmla="*/ 242 h 242"/>
            </a:gdLst>
            <a:ahLst/>
            <a:cxnLst>
              <a:cxn ang="T4">
                <a:pos x="T0" y="T1"/>
              </a:cxn>
              <a:cxn ang="T5">
                <a:pos x="T2" y="T3"/>
              </a:cxn>
            </a:cxnLst>
            <a:rect l="T6" t="T7" r="T8" b="T9"/>
            <a:pathLst>
              <a:path w="496" h="242">
                <a:moveTo>
                  <a:pt x="496" y="0"/>
                </a:moveTo>
                <a:lnTo>
                  <a:pt x="0" y="242"/>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5" name="Line 13">
            <a:extLst>
              <a:ext uri="{FF2B5EF4-FFF2-40B4-BE49-F238E27FC236}">
                <a16:creationId xmlns:a16="http://schemas.microsoft.com/office/drawing/2014/main" id="{8AD517FD-9BF4-EDC7-8C05-B347BBA5EC58}"/>
              </a:ext>
            </a:extLst>
          </p:cNvPr>
          <p:cNvSpPr>
            <a:spLocks noChangeShapeType="1"/>
          </p:cNvSpPr>
          <p:nvPr/>
        </p:nvSpPr>
        <p:spPr bwMode="auto">
          <a:xfrm flipH="1">
            <a:off x="3250704" y="4212754"/>
            <a:ext cx="533400" cy="304800"/>
          </a:xfrm>
          <a:prstGeom prst="line">
            <a:avLst/>
          </a:pr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6" name="Freeform 14">
            <a:extLst>
              <a:ext uri="{FF2B5EF4-FFF2-40B4-BE49-F238E27FC236}">
                <a16:creationId xmlns:a16="http://schemas.microsoft.com/office/drawing/2014/main" id="{C09364E8-5F04-45A6-A56F-B9EF4BD3BA2F}"/>
              </a:ext>
            </a:extLst>
          </p:cNvPr>
          <p:cNvSpPr>
            <a:spLocks/>
          </p:cNvSpPr>
          <p:nvPr/>
        </p:nvSpPr>
        <p:spPr bwMode="auto">
          <a:xfrm>
            <a:off x="5917704" y="3526954"/>
            <a:ext cx="787400" cy="371475"/>
          </a:xfrm>
          <a:custGeom>
            <a:avLst/>
            <a:gdLst>
              <a:gd name="T0" fmla="*/ 0 w 496"/>
              <a:gd name="T1" fmla="*/ 0 h 234"/>
              <a:gd name="T2" fmla="*/ 496 w 496"/>
              <a:gd name="T3" fmla="*/ 234 h 234"/>
              <a:gd name="T4" fmla="*/ 0 60000 65536"/>
              <a:gd name="T5" fmla="*/ 0 60000 65536"/>
              <a:gd name="T6" fmla="*/ 0 w 496"/>
              <a:gd name="T7" fmla="*/ 0 h 234"/>
              <a:gd name="T8" fmla="*/ 496 w 496"/>
              <a:gd name="T9" fmla="*/ 234 h 234"/>
            </a:gdLst>
            <a:ahLst/>
            <a:cxnLst>
              <a:cxn ang="T4">
                <a:pos x="T0" y="T1"/>
              </a:cxn>
              <a:cxn ang="T5">
                <a:pos x="T2" y="T3"/>
              </a:cxn>
            </a:cxnLst>
            <a:rect l="T6" t="T7" r="T8" b="T9"/>
            <a:pathLst>
              <a:path w="496" h="234">
                <a:moveTo>
                  <a:pt x="0" y="0"/>
                </a:moveTo>
                <a:lnTo>
                  <a:pt x="496" y="234"/>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7" name="Freeform 15">
            <a:extLst>
              <a:ext uri="{FF2B5EF4-FFF2-40B4-BE49-F238E27FC236}">
                <a16:creationId xmlns:a16="http://schemas.microsoft.com/office/drawing/2014/main" id="{ACEE6DAF-6EC3-E8BF-7A3E-521E0CD39734}"/>
              </a:ext>
            </a:extLst>
          </p:cNvPr>
          <p:cNvSpPr>
            <a:spLocks/>
          </p:cNvSpPr>
          <p:nvPr/>
        </p:nvSpPr>
        <p:spPr bwMode="auto">
          <a:xfrm>
            <a:off x="4431804" y="4114329"/>
            <a:ext cx="571500" cy="403225"/>
          </a:xfrm>
          <a:custGeom>
            <a:avLst/>
            <a:gdLst>
              <a:gd name="T0" fmla="*/ 0 w 360"/>
              <a:gd name="T1" fmla="*/ 0 h 254"/>
              <a:gd name="T2" fmla="*/ 360 w 360"/>
              <a:gd name="T3" fmla="*/ 254 h 254"/>
              <a:gd name="T4" fmla="*/ 0 60000 65536"/>
              <a:gd name="T5" fmla="*/ 0 60000 65536"/>
              <a:gd name="T6" fmla="*/ 0 w 360"/>
              <a:gd name="T7" fmla="*/ 0 h 254"/>
              <a:gd name="T8" fmla="*/ 360 w 360"/>
              <a:gd name="T9" fmla="*/ 254 h 254"/>
            </a:gdLst>
            <a:ahLst/>
            <a:cxnLst>
              <a:cxn ang="T4">
                <a:pos x="T0" y="T1"/>
              </a:cxn>
              <a:cxn ang="T5">
                <a:pos x="T2" y="T3"/>
              </a:cxn>
            </a:cxnLst>
            <a:rect l="T6" t="T7" r="T8" b="T9"/>
            <a:pathLst>
              <a:path w="360" h="254">
                <a:moveTo>
                  <a:pt x="0" y="0"/>
                </a:moveTo>
                <a:lnTo>
                  <a:pt x="360" y="254"/>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8" name="Freeform 16">
            <a:extLst>
              <a:ext uri="{FF2B5EF4-FFF2-40B4-BE49-F238E27FC236}">
                <a16:creationId xmlns:a16="http://schemas.microsoft.com/office/drawing/2014/main" id="{BAB5025E-43AA-EEEC-1B72-A6B4E23840D4}"/>
              </a:ext>
            </a:extLst>
          </p:cNvPr>
          <p:cNvSpPr>
            <a:spLocks/>
          </p:cNvSpPr>
          <p:nvPr/>
        </p:nvSpPr>
        <p:spPr bwMode="auto">
          <a:xfrm>
            <a:off x="4520704" y="4898554"/>
            <a:ext cx="482600" cy="409575"/>
          </a:xfrm>
          <a:custGeom>
            <a:avLst/>
            <a:gdLst>
              <a:gd name="T0" fmla="*/ 304 w 304"/>
              <a:gd name="T1" fmla="*/ 0 h 258"/>
              <a:gd name="T2" fmla="*/ 0 w 304"/>
              <a:gd name="T3" fmla="*/ 258 h 258"/>
              <a:gd name="T4" fmla="*/ 0 60000 65536"/>
              <a:gd name="T5" fmla="*/ 0 60000 65536"/>
              <a:gd name="T6" fmla="*/ 0 w 304"/>
              <a:gd name="T7" fmla="*/ 0 h 258"/>
              <a:gd name="T8" fmla="*/ 304 w 304"/>
              <a:gd name="T9" fmla="*/ 258 h 258"/>
            </a:gdLst>
            <a:ahLst/>
            <a:cxnLst>
              <a:cxn ang="T4">
                <a:pos x="T0" y="T1"/>
              </a:cxn>
              <a:cxn ang="T5">
                <a:pos x="T2" y="T3"/>
              </a:cxn>
            </a:cxnLst>
            <a:rect l="T6" t="T7" r="T8" b="T9"/>
            <a:pathLst>
              <a:path w="304" h="258">
                <a:moveTo>
                  <a:pt x="304" y="0"/>
                </a:moveTo>
                <a:lnTo>
                  <a:pt x="0" y="258"/>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9" name="Freeform 17">
            <a:extLst>
              <a:ext uri="{FF2B5EF4-FFF2-40B4-BE49-F238E27FC236}">
                <a16:creationId xmlns:a16="http://schemas.microsoft.com/office/drawing/2014/main" id="{1AC7E1E4-F981-AE5B-DBFB-5D969565D0B5}"/>
              </a:ext>
            </a:extLst>
          </p:cNvPr>
          <p:cNvSpPr>
            <a:spLocks/>
          </p:cNvSpPr>
          <p:nvPr/>
        </p:nvSpPr>
        <p:spPr bwMode="auto">
          <a:xfrm>
            <a:off x="7341684" y="4178349"/>
            <a:ext cx="587364" cy="349253"/>
          </a:xfrm>
          <a:custGeom>
            <a:avLst/>
            <a:gdLst>
              <a:gd name="T0" fmla="*/ 0 w 376"/>
              <a:gd name="T1" fmla="*/ 0 h 230"/>
              <a:gd name="T2" fmla="*/ 376 w 376"/>
              <a:gd name="T3" fmla="*/ 230 h 230"/>
              <a:gd name="T4" fmla="*/ 0 60000 65536"/>
              <a:gd name="T5" fmla="*/ 0 60000 65536"/>
              <a:gd name="T6" fmla="*/ 0 w 376"/>
              <a:gd name="T7" fmla="*/ 0 h 230"/>
              <a:gd name="T8" fmla="*/ 376 w 376"/>
              <a:gd name="T9" fmla="*/ 230 h 230"/>
            </a:gdLst>
            <a:ahLst/>
            <a:cxnLst>
              <a:cxn ang="T4">
                <a:pos x="T0" y="T1"/>
              </a:cxn>
              <a:cxn ang="T5">
                <a:pos x="T2" y="T3"/>
              </a:cxn>
            </a:cxnLst>
            <a:rect l="T6" t="T7" r="T8" b="T9"/>
            <a:pathLst>
              <a:path w="376" h="230">
                <a:moveTo>
                  <a:pt x="0" y="0"/>
                </a:moveTo>
                <a:lnTo>
                  <a:pt x="376" y="230"/>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0" name="Freeform 18">
            <a:extLst>
              <a:ext uri="{FF2B5EF4-FFF2-40B4-BE49-F238E27FC236}">
                <a16:creationId xmlns:a16="http://schemas.microsoft.com/office/drawing/2014/main" id="{8EDCA01D-7133-C18A-0578-0A6ACA593D45}"/>
              </a:ext>
            </a:extLst>
          </p:cNvPr>
          <p:cNvSpPr>
            <a:spLocks/>
          </p:cNvSpPr>
          <p:nvPr/>
        </p:nvSpPr>
        <p:spPr bwMode="auto">
          <a:xfrm>
            <a:off x="7517904" y="4914429"/>
            <a:ext cx="419100" cy="431800"/>
          </a:xfrm>
          <a:custGeom>
            <a:avLst/>
            <a:gdLst>
              <a:gd name="T0" fmla="*/ 264 w 264"/>
              <a:gd name="T1" fmla="*/ 0 h 272"/>
              <a:gd name="T2" fmla="*/ 0 w 264"/>
              <a:gd name="T3" fmla="*/ 272 h 272"/>
              <a:gd name="T4" fmla="*/ 0 60000 65536"/>
              <a:gd name="T5" fmla="*/ 0 60000 65536"/>
              <a:gd name="T6" fmla="*/ 0 w 264"/>
              <a:gd name="T7" fmla="*/ 0 h 272"/>
              <a:gd name="T8" fmla="*/ 264 w 264"/>
              <a:gd name="T9" fmla="*/ 272 h 272"/>
            </a:gdLst>
            <a:ahLst/>
            <a:cxnLst>
              <a:cxn ang="T4">
                <a:pos x="T0" y="T1"/>
              </a:cxn>
              <a:cxn ang="T5">
                <a:pos x="T2" y="T3"/>
              </a:cxn>
            </a:cxnLst>
            <a:rect l="T6" t="T7" r="T8" b="T9"/>
            <a:pathLst>
              <a:path w="264" h="272">
                <a:moveTo>
                  <a:pt x="264" y="0"/>
                </a:moveTo>
                <a:lnTo>
                  <a:pt x="0" y="272"/>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1" name="Line 19">
            <a:extLst>
              <a:ext uri="{FF2B5EF4-FFF2-40B4-BE49-F238E27FC236}">
                <a16:creationId xmlns:a16="http://schemas.microsoft.com/office/drawing/2014/main" id="{B2A3D3A0-3D9F-42CE-8A0A-ED359A5D1C8A}"/>
              </a:ext>
            </a:extLst>
          </p:cNvPr>
          <p:cNvSpPr>
            <a:spLocks noChangeShapeType="1"/>
          </p:cNvSpPr>
          <p:nvPr/>
        </p:nvSpPr>
        <p:spPr bwMode="auto">
          <a:xfrm>
            <a:off x="7594104" y="5736754"/>
            <a:ext cx="762000" cy="457200"/>
          </a:xfrm>
          <a:prstGeom prst="line">
            <a:avLst/>
          </a:pr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2" name="Oval 20">
            <a:extLst>
              <a:ext uri="{FF2B5EF4-FFF2-40B4-BE49-F238E27FC236}">
                <a16:creationId xmlns:a16="http://schemas.microsoft.com/office/drawing/2014/main" id="{CB760CF3-7000-3E18-C1F7-26776A557260}"/>
              </a:ext>
            </a:extLst>
          </p:cNvPr>
          <p:cNvSpPr>
            <a:spLocks noChangeArrowheads="1"/>
          </p:cNvSpPr>
          <p:nvPr/>
        </p:nvSpPr>
        <p:spPr bwMode="auto">
          <a:xfrm>
            <a:off x="3022104" y="61177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32</a:t>
            </a:r>
          </a:p>
        </p:txBody>
      </p:sp>
      <p:sp>
        <p:nvSpPr>
          <p:cNvPr id="23" name="Freeform 21">
            <a:extLst>
              <a:ext uri="{FF2B5EF4-FFF2-40B4-BE49-F238E27FC236}">
                <a16:creationId xmlns:a16="http://schemas.microsoft.com/office/drawing/2014/main" id="{FA03125E-7C0C-04ED-CBC4-4695FD4C6E13}"/>
              </a:ext>
            </a:extLst>
          </p:cNvPr>
          <p:cNvSpPr>
            <a:spLocks/>
          </p:cNvSpPr>
          <p:nvPr/>
        </p:nvSpPr>
        <p:spPr bwMode="auto">
          <a:xfrm>
            <a:off x="3479304" y="5676429"/>
            <a:ext cx="584200" cy="441325"/>
          </a:xfrm>
          <a:custGeom>
            <a:avLst/>
            <a:gdLst>
              <a:gd name="T0" fmla="*/ 368 w 368"/>
              <a:gd name="T1" fmla="*/ 0 h 278"/>
              <a:gd name="T2" fmla="*/ 0 w 368"/>
              <a:gd name="T3" fmla="*/ 278 h 278"/>
              <a:gd name="T4" fmla="*/ 0 60000 65536"/>
              <a:gd name="T5" fmla="*/ 0 60000 65536"/>
              <a:gd name="T6" fmla="*/ 0 w 368"/>
              <a:gd name="T7" fmla="*/ 0 h 278"/>
              <a:gd name="T8" fmla="*/ 368 w 368"/>
              <a:gd name="T9" fmla="*/ 278 h 278"/>
            </a:gdLst>
            <a:ahLst/>
            <a:cxnLst>
              <a:cxn ang="T4">
                <a:pos x="T0" y="T1"/>
              </a:cxn>
              <a:cxn ang="T5">
                <a:pos x="T2" y="T3"/>
              </a:cxn>
            </a:cxnLst>
            <a:rect l="T6" t="T7" r="T8" b="T9"/>
            <a:pathLst>
              <a:path w="368" h="278">
                <a:moveTo>
                  <a:pt x="368" y="0"/>
                </a:moveTo>
                <a:lnTo>
                  <a:pt x="0" y="278"/>
                </a:lnTo>
              </a:path>
            </a:pathLst>
          </a:custGeom>
          <a:noFill/>
          <a:ln w="38100">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4" name="Rectangle 22">
            <a:extLst>
              <a:ext uri="{FF2B5EF4-FFF2-40B4-BE49-F238E27FC236}">
                <a16:creationId xmlns:a16="http://schemas.microsoft.com/office/drawing/2014/main" id="{FFE0F008-BC45-299F-1760-7D454A715DD3}"/>
              </a:ext>
            </a:extLst>
          </p:cNvPr>
          <p:cNvSpPr>
            <a:spLocks noChangeArrowheads="1"/>
          </p:cNvSpPr>
          <p:nvPr/>
        </p:nvSpPr>
        <p:spPr bwMode="auto">
          <a:xfrm>
            <a:off x="1433720" y="2321114"/>
            <a:ext cx="5929354" cy="400110"/>
          </a:xfrm>
          <a:prstGeom prst="rect">
            <a:avLst/>
          </a:prstGeom>
          <a:noFill/>
          <a:ln w="9525">
            <a:noFill/>
            <a:miter lim="800000"/>
            <a:headEnd/>
            <a:tailEnd/>
          </a:ln>
        </p:spPr>
        <p:txBody>
          <a:bodyPr wrap="square">
            <a:spAutoFit/>
          </a:bodyPr>
          <a:lstStyle/>
          <a:p>
            <a:pPr algn="l"/>
            <a:r>
              <a:rPr lang="zh-CN" altLang="en-US" sz="2000" b="1" dirty="0">
                <a:latin typeface="Consolas" pitchFamily="49" charset="0"/>
                <a:ea typeface="华文中宋" pitchFamily="2" charset="-122"/>
                <a:cs typeface="Consolas" pitchFamily="49" charset="0"/>
              </a:rPr>
              <a:t>（</a:t>
            </a:r>
            <a:r>
              <a:rPr lang="en-US" altLang="zh-CN" sz="2000" b="1" dirty="0">
                <a:latin typeface="Consolas" pitchFamily="49" charset="0"/>
                <a:ea typeface="华文中宋" pitchFamily="2" charset="-122"/>
                <a:cs typeface="Consolas" pitchFamily="49" charset="0"/>
              </a:rPr>
              <a:t>1</a:t>
            </a:r>
            <a:r>
              <a:rPr lang="zh-CN" altLang="en-US" sz="2000" b="1" dirty="0">
                <a:latin typeface="Consolas" pitchFamily="49" charset="0"/>
                <a:ea typeface="华文中宋" pitchFamily="2" charset="-122"/>
                <a:cs typeface="Consolas" pitchFamily="49" charset="0"/>
              </a:rPr>
              <a:t>）被</a:t>
            </a:r>
            <a:r>
              <a:rPr lang="zh-CN" altLang="en-US" sz="2000" b="1">
                <a:latin typeface="Consolas" pitchFamily="49" charset="0"/>
                <a:ea typeface="华文中宋" pitchFamily="2" charset="-122"/>
                <a:cs typeface="Consolas" pitchFamily="49" charset="0"/>
              </a:rPr>
              <a:t>删除的结点是叶子结点：</a:t>
            </a:r>
            <a:r>
              <a:rPr lang="zh-CN" altLang="en-US" sz="2000" b="1" dirty="0">
                <a:latin typeface="Consolas" pitchFamily="49" charset="0"/>
                <a:ea typeface="华文中宋" pitchFamily="2" charset="-122"/>
                <a:cs typeface="Consolas" pitchFamily="49" charset="0"/>
              </a:rPr>
              <a:t>直接</a:t>
            </a:r>
            <a:r>
              <a:rPr lang="zh-CN" altLang="en-US" sz="2000" b="1">
                <a:latin typeface="Consolas" pitchFamily="49" charset="0"/>
                <a:ea typeface="华文中宋" pitchFamily="2" charset="-122"/>
                <a:cs typeface="Consolas" pitchFamily="49" charset="0"/>
              </a:rPr>
              <a:t>删去该结点。</a:t>
            </a:r>
            <a:endParaRPr lang="zh-CN" altLang="en-US" sz="2000" b="1" dirty="0">
              <a:latin typeface="Consolas" pitchFamily="49" charset="0"/>
              <a:ea typeface="华文中宋" pitchFamily="2" charset="-122"/>
              <a:cs typeface="Consolas" pitchFamily="49" charset="0"/>
            </a:endParaRPr>
          </a:p>
        </p:txBody>
      </p:sp>
      <p:sp useBgFill="1">
        <p:nvSpPr>
          <p:cNvPr id="25" name="Rectangle 23">
            <a:extLst>
              <a:ext uri="{FF2B5EF4-FFF2-40B4-BE49-F238E27FC236}">
                <a16:creationId xmlns:a16="http://schemas.microsoft.com/office/drawing/2014/main" id="{19EFFD22-3EFF-4F68-3D38-218ACBEBF2A3}"/>
              </a:ext>
            </a:extLst>
          </p:cNvPr>
          <p:cNvSpPr>
            <a:spLocks noChangeArrowheads="1"/>
          </p:cNvSpPr>
          <p:nvPr/>
        </p:nvSpPr>
        <p:spPr bwMode="auto">
          <a:xfrm>
            <a:off x="2515678" y="4092104"/>
            <a:ext cx="1295400" cy="1219200"/>
          </a:xfrm>
          <a:prstGeom prst="rect">
            <a:avLst/>
          </a:prstGeom>
          <a:ln w="9525">
            <a:solidFill>
              <a:schemeClr val="bg1"/>
            </a:solidFill>
            <a:miter lim="800000"/>
            <a:headEnd/>
            <a:tailEnd/>
          </a:ln>
        </p:spPr>
        <p:txBody>
          <a:bodyPr wrap="none" anchor="ctr"/>
          <a:lstStyle/>
          <a:p>
            <a:endParaRPr lang="zh-CN" altLang="en-US">
              <a:latin typeface="Consolas" pitchFamily="49" charset="0"/>
              <a:cs typeface="Consolas" pitchFamily="49" charset="0"/>
            </a:endParaRPr>
          </a:p>
        </p:txBody>
      </p:sp>
      <p:sp useBgFill="1">
        <p:nvSpPr>
          <p:cNvPr id="26" name="Rectangle 24">
            <a:extLst>
              <a:ext uri="{FF2B5EF4-FFF2-40B4-BE49-F238E27FC236}">
                <a16:creationId xmlns:a16="http://schemas.microsoft.com/office/drawing/2014/main" id="{C66FBAEF-5A57-F919-955D-8FCA48877CB0}"/>
              </a:ext>
            </a:extLst>
          </p:cNvPr>
          <p:cNvSpPr>
            <a:spLocks noChangeArrowheads="1"/>
          </p:cNvSpPr>
          <p:nvPr/>
        </p:nvSpPr>
        <p:spPr bwMode="auto">
          <a:xfrm>
            <a:off x="7578252" y="5736754"/>
            <a:ext cx="1447800" cy="990600"/>
          </a:xfrm>
          <a:prstGeom prst="rect">
            <a:avLst/>
          </a:prstGeom>
          <a:ln w="9525">
            <a:solidFill>
              <a:schemeClr val="bg1"/>
            </a:solidFill>
            <a:miter lim="800000"/>
            <a:headEnd/>
            <a:tailEnd/>
          </a:ln>
        </p:spPr>
        <p:txBody>
          <a:bodyPr wrap="none" anchor="ctr"/>
          <a:lstStyle/>
          <a:p>
            <a:endParaRPr kumimoji="0" lang="zh-CN" altLang="zh-CN" sz="1800">
              <a:latin typeface="Consolas" pitchFamily="49" charset="0"/>
              <a:cs typeface="Consolas" pitchFamily="49" charset="0"/>
            </a:endParaRPr>
          </a:p>
        </p:txBody>
      </p:sp>
      <p:sp>
        <p:nvSpPr>
          <p:cNvPr id="27" name="Text Box 25">
            <a:extLst>
              <a:ext uri="{FF2B5EF4-FFF2-40B4-BE49-F238E27FC236}">
                <a16:creationId xmlns:a16="http://schemas.microsoft.com/office/drawing/2014/main" id="{7B1B86D0-8CE0-4043-C320-1F44FA31BFBF}"/>
              </a:ext>
            </a:extLst>
          </p:cNvPr>
          <p:cNvSpPr txBox="1">
            <a:spLocks noChangeArrowheads="1"/>
          </p:cNvSpPr>
          <p:nvPr/>
        </p:nvSpPr>
        <p:spPr bwMode="auto">
          <a:xfrm>
            <a:off x="2096566" y="2777942"/>
            <a:ext cx="841897" cy="400110"/>
          </a:xfrm>
          <a:prstGeom prst="rect">
            <a:avLst/>
          </a:prstGeom>
          <a:noFill/>
          <a:ln w="9525">
            <a:no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例如</a:t>
            </a:r>
            <a:r>
              <a:rPr lang="en-US" altLang="zh-CN" sz="2000" b="1" dirty="0">
                <a:solidFill>
                  <a:srgbClr val="3333FF"/>
                </a:solidFill>
                <a:latin typeface="Consolas" pitchFamily="49" charset="0"/>
                <a:ea typeface="楷体" pitchFamily="49" charset="-122"/>
                <a:cs typeface="Consolas" pitchFamily="49" charset="0"/>
              </a:rPr>
              <a:t>:</a:t>
            </a:r>
            <a:endParaRPr lang="en-US" altLang="zh-CN" sz="2000" dirty="0">
              <a:solidFill>
                <a:srgbClr val="3333FF"/>
              </a:solidFill>
              <a:latin typeface="Consolas" pitchFamily="49" charset="0"/>
              <a:ea typeface="楷体" pitchFamily="49" charset="-122"/>
              <a:cs typeface="Consolas" pitchFamily="49" charset="0"/>
            </a:endParaRPr>
          </a:p>
        </p:txBody>
      </p:sp>
      <p:sp>
        <p:nvSpPr>
          <p:cNvPr id="28" name="Text Box 26">
            <a:extLst>
              <a:ext uri="{FF2B5EF4-FFF2-40B4-BE49-F238E27FC236}">
                <a16:creationId xmlns:a16="http://schemas.microsoft.com/office/drawing/2014/main" id="{E04FEFF1-9F34-94B8-A53B-ECC54980003F}"/>
              </a:ext>
            </a:extLst>
          </p:cNvPr>
          <p:cNvSpPr txBox="1">
            <a:spLocks noChangeArrowheads="1"/>
          </p:cNvSpPr>
          <p:nvPr/>
        </p:nvSpPr>
        <p:spPr bwMode="auto">
          <a:xfrm>
            <a:off x="6668598" y="2963366"/>
            <a:ext cx="2180405" cy="400110"/>
          </a:xfrm>
          <a:prstGeom prst="rect">
            <a:avLst/>
          </a:prstGeom>
          <a:noFill/>
          <a:ln w="9525">
            <a:solidFill>
              <a:schemeClr val="bg1"/>
            </a:solid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被删关键字 </a:t>
            </a:r>
            <a:r>
              <a:rPr lang="en-US" altLang="zh-CN" sz="2000" b="1" dirty="0">
                <a:solidFill>
                  <a:srgbClr val="3333FF"/>
                </a:solidFill>
                <a:latin typeface="Consolas" pitchFamily="49" charset="0"/>
                <a:ea typeface="楷体" pitchFamily="49" charset="-122"/>
                <a:cs typeface="Consolas" pitchFamily="49" charset="0"/>
              </a:rPr>
              <a:t>= 20</a:t>
            </a:r>
            <a:endParaRPr lang="en-US" altLang="zh-CN" sz="2000" dirty="0">
              <a:solidFill>
                <a:srgbClr val="3333FF"/>
              </a:solidFill>
              <a:latin typeface="Consolas" pitchFamily="49" charset="0"/>
              <a:ea typeface="楷体" pitchFamily="49" charset="-122"/>
              <a:cs typeface="Consolas" pitchFamily="49" charset="0"/>
            </a:endParaRPr>
          </a:p>
        </p:txBody>
      </p:sp>
      <p:sp useBgFill="1">
        <p:nvSpPr>
          <p:cNvPr id="29" name="Text Box 27">
            <a:extLst>
              <a:ext uri="{FF2B5EF4-FFF2-40B4-BE49-F238E27FC236}">
                <a16:creationId xmlns:a16="http://schemas.microsoft.com/office/drawing/2014/main" id="{7E5B5582-562F-8D13-966E-C95DE8925F57}"/>
              </a:ext>
            </a:extLst>
          </p:cNvPr>
          <p:cNvSpPr txBox="1">
            <a:spLocks noChangeArrowheads="1"/>
          </p:cNvSpPr>
          <p:nvPr/>
        </p:nvSpPr>
        <p:spPr bwMode="auto">
          <a:xfrm>
            <a:off x="8441261" y="2953855"/>
            <a:ext cx="466794" cy="400110"/>
          </a:xfrm>
          <a:prstGeom prst="rect">
            <a:avLst/>
          </a:prstGeom>
          <a:ln w="9525">
            <a:solidFill>
              <a:schemeClr val="bg1"/>
            </a:solidFill>
            <a:miter lim="800000"/>
            <a:headEnd/>
            <a:tailEnd/>
          </a:ln>
        </p:spPr>
        <p:txBody>
          <a:bodyPr wrap="none">
            <a:spAutoFit/>
          </a:bodyPr>
          <a:lstStyle/>
          <a:p>
            <a:pPr algn="l"/>
            <a:r>
              <a:rPr lang="en-US" altLang="zh-CN" sz="2000" b="1">
                <a:latin typeface="Consolas" pitchFamily="49" charset="0"/>
                <a:ea typeface="楷体_GB2312" pitchFamily="49" charset="-122"/>
                <a:cs typeface="Consolas" pitchFamily="49" charset="0"/>
              </a:rPr>
              <a:t>88</a:t>
            </a:r>
            <a:endParaRPr lang="en-US" altLang="zh-CN" sz="2000">
              <a:latin typeface="Consolas" pitchFamily="49" charset="0"/>
              <a:ea typeface="楷体_GB2312" pitchFamily="49" charset="-122"/>
              <a:cs typeface="Consolas" pitchFamily="49" charset="0"/>
            </a:endParaRPr>
          </a:p>
        </p:txBody>
      </p:sp>
      <p:sp>
        <p:nvSpPr>
          <p:cNvPr id="30" name="Text Box 28">
            <a:extLst>
              <a:ext uri="{FF2B5EF4-FFF2-40B4-BE49-F238E27FC236}">
                <a16:creationId xmlns:a16="http://schemas.microsoft.com/office/drawing/2014/main" id="{D68BF192-9867-F7AA-6298-0C6E69A70028}"/>
              </a:ext>
            </a:extLst>
          </p:cNvPr>
          <p:cNvSpPr txBox="1">
            <a:spLocks noChangeArrowheads="1"/>
          </p:cNvSpPr>
          <p:nvPr/>
        </p:nvSpPr>
        <p:spPr bwMode="auto">
          <a:xfrm>
            <a:off x="5220282" y="6298357"/>
            <a:ext cx="4830168" cy="400110"/>
          </a:xfrm>
          <a:prstGeom prst="rect">
            <a:avLst/>
          </a:prstGeom>
          <a:noFill/>
          <a:ln w="9525">
            <a:solidFill>
              <a:schemeClr val="bg1"/>
            </a:solidFill>
            <a:miter lim="800000"/>
            <a:headEnd/>
            <a:tailEnd/>
          </a:ln>
        </p:spPr>
        <p:txBody>
          <a:bodyPr wrap="none">
            <a:spAutoFit/>
          </a:bodyPr>
          <a:lstStyle/>
          <a:p>
            <a:pPr algn="l"/>
            <a:r>
              <a:rPr lang="zh-CN" altLang="en-US" sz="2000" b="1" dirty="0">
                <a:solidFill>
                  <a:srgbClr val="3333FF"/>
                </a:solidFill>
                <a:latin typeface="仿宋" pitchFamily="49" charset="-122"/>
                <a:ea typeface="仿宋" pitchFamily="49" charset="-122"/>
                <a:cs typeface="Consolas" pitchFamily="49" charset="0"/>
              </a:rPr>
              <a:t>其双亲结点中相应指针域的值改为“空”</a:t>
            </a:r>
            <a:endParaRPr lang="zh-CN" altLang="en-US" sz="2000" dirty="0">
              <a:solidFill>
                <a:srgbClr val="3333FF"/>
              </a:solidFill>
              <a:latin typeface="仿宋" pitchFamily="49" charset="-122"/>
              <a:ea typeface="仿宋" pitchFamily="49" charset="-122"/>
              <a:cs typeface="Consolas" pitchFamily="49" charset="0"/>
            </a:endParaRPr>
          </a:p>
        </p:txBody>
      </p:sp>
      <p:sp>
        <p:nvSpPr>
          <p:cNvPr id="31" name="Oval 4">
            <a:extLst>
              <a:ext uri="{FF2B5EF4-FFF2-40B4-BE49-F238E27FC236}">
                <a16:creationId xmlns:a16="http://schemas.microsoft.com/office/drawing/2014/main" id="{D0F23F0F-65DE-C683-56A3-A43C3754B7F2}"/>
              </a:ext>
            </a:extLst>
          </p:cNvPr>
          <p:cNvSpPr>
            <a:spLocks noChangeArrowheads="1"/>
          </p:cNvSpPr>
          <p:nvPr/>
        </p:nvSpPr>
        <p:spPr bwMode="auto">
          <a:xfrm>
            <a:off x="3784104" y="3755554"/>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2000">
                <a:solidFill>
                  <a:srgbClr val="3333FF"/>
                </a:solidFill>
                <a:latin typeface="Consolas" pitchFamily="49" charset="0"/>
                <a:ea typeface="楷体_GB2312" pitchFamily="49" charset="-122"/>
                <a:cs typeface="Consolas" pitchFamily="49" charset="0"/>
              </a:rPr>
              <a:t>30</a:t>
            </a:r>
          </a:p>
        </p:txBody>
      </p:sp>
    </p:spTree>
    <p:extLst>
      <p:ext uri="{BB962C8B-B14F-4D97-AF65-F5344CB8AC3E}">
        <p14:creationId xmlns:p14="http://schemas.microsoft.com/office/powerpoint/2010/main" val="273991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up)">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8" grpId="0" animBg="1" autoUpdateAnimBg="0"/>
      <p:bldP spid="29" grpId="0" animBg="1" autoUpdateAnimBg="0"/>
      <p:bldP spid="30"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21099-8695-3282-E368-2AA13344E81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522ED7C-A8E4-0F70-09F6-63B7F6B2D56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6BBA0C73-B32C-06CD-963A-F692C39DD1F0}"/>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9B3AE8BA-20B0-3470-CD70-B92B456AD1E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2C55D579-02DD-D77F-CC09-575E2F5480F2}"/>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、二叉排序树的删除</a:t>
            </a:r>
          </a:p>
        </p:txBody>
      </p:sp>
      <p:sp>
        <p:nvSpPr>
          <p:cNvPr id="48" name="Oval 3">
            <a:extLst>
              <a:ext uri="{FF2B5EF4-FFF2-40B4-BE49-F238E27FC236}">
                <a16:creationId xmlns:a16="http://schemas.microsoft.com/office/drawing/2014/main" id="{A1D0CF0A-6B78-48FA-EC28-A12E4A2297D0}"/>
              </a:ext>
            </a:extLst>
          </p:cNvPr>
          <p:cNvSpPr>
            <a:spLocks noChangeArrowheads="1"/>
          </p:cNvSpPr>
          <p:nvPr/>
        </p:nvSpPr>
        <p:spPr bwMode="auto">
          <a:xfrm>
            <a:off x="4449348" y="27601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3333FF"/>
                </a:solidFill>
                <a:latin typeface="Consolas" pitchFamily="49" charset="0"/>
                <a:ea typeface="楷体_GB2312" pitchFamily="49" charset="-122"/>
                <a:cs typeface="Consolas" pitchFamily="49" charset="0"/>
              </a:rPr>
              <a:t>50</a:t>
            </a:r>
          </a:p>
        </p:txBody>
      </p:sp>
      <p:sp>
        <p:nvSpPr>
          <p:cNvPr id="49" name="Oval 4">
            <a:extLst>
              <a:ext uri="{FF2B5EF4-FFF2-40B4-BE49-F238E27FC236}">
                <a16:creationId xmlns:a16="http://schemas.microsoft.com/office/drawing/2014/main" id="{CDF2ECFE-4B53-570C-D796-ACE59B5E299E}"/>
              </a:ext>
            </a:extLst>
          </p:cNvPr>
          <p:cNvSpPr>
            <a:spLocks noChangeArrowheads="1"/>
          </p:cNvSpPr>
          <p:nvPr/>
        </p:nvSpPr>
        <p:spPr bwMode="auto">
          <a:xfrm>
            <a:off x="3001548" y="32935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30</a:t>
            </a:r>
          </a:p>
        </p:txBody>
      </p:sp>
      <p:sp>
        <p:nvSpPr>
          <p:cNvPr id="50" name="Oval 5">
            <a:extLst>
              <a:ext uri="{FF2B5EF4-FFF2-40B4-BE49-F238E27FC236}">
                <a16:creationId xmlns:a16="http://schemas.microsoft.com/office/drawing/2014/main" id="{DC512059-01F0-9405-0547-6CF44AADBC2F}"/>
              </a:ext>
            </a:extLst>
          </p:cNvPr>
          <p:cNvSpPr>
            <a:spLocks noChangeArrowheads="1"/>
          </p:cNvSpPr>
          <p:nvPr/>
        </p:nvSpPr>
        <p:spPr bwMode="auto">
          <a:xfrm>
            <a:off x="5897148" y="32935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3333FF"/>
                </a:solidFill>
                <a:latin typeface="Consolas" pitchFamily="49" charset="0"/>
                <a:ea typeface="楷体_GB2312" pitchFamily="49" charset="-122"/>
                <a:cs typeface="Consolas" pitchFamily="49" charset="0"/>
              </a:rPr>
              <a:t>80</a:t>
            </a:r>
          </a:p>
        </p:txBody>
      </p:sp>
      <p:sp>
        <p:nvSpPr>
          <p:cNvPr id="51" name="Oval 6">
            <a:extLst>
              <a:ext uri="{FF2B5EF4-FFF2-40B4-BE49-F238E27FC236}">
                <a16:creationId xmlns:a16="http://schemas.microsoft.com/office/drawing/2014/main" id="{753EC6B1-C66D-16D1-7F4E-5E056A3A2A9D}"/>
              </a:ext>
            </a:extLst>
          </p:cNvPr>
          <p:cNvSpPr>
            <a:spLocks noChangeArrowheads="1"/>
          </p:cNvSpPr>
          <p:nvPr/>
        </p:nvSpPr>
        <p:spPr bwMode="auto">
          <a:xfrm>
            <a:off x="1858548" y="39793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20</a:t>
            </a:r>
          </a:p>
        </p:txBody>
      </p:sp>
      <p:sp>
        <p:nvSpPr>
          <p:cNvPr id="52" name="Oval 7">
            <a:extLst>
              <a:ext uri="{FF2B5EF4-FFF2-40B4-BE49-F238E27FC236}">
                <a16:creationId xmlns:a16="http://schemas.microsoft.com/office/drawing/2014/main" id="{B3E120CC-1EB7-534F-10BC-6727B8D34365}"/>
              </a:ext>
            </a:extLst>
          </p:cNvPr>
          <p:cNvSpPr>
            <a:spLocks noChangeArrowheads="1"/>
          </p:cNvSpPr>
          <p:nvPr/>
        </p:nvSpPr>
        <p:spPr bwMode="auto">
          <a:xfrm>
            <a:off x="7040148" y="39793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3333FF"/>
                </a:solidFill>
                <a:latin typeface="Consolas" pitchFamily="49" charset="0"/>
                <a:ea typeface="楷体_GB2312" pitchFamily="49" charset="-122"/>
                <a:cs typeface="Consolas" pitchFamily="49" charset="0"/>
              </a:rPr>
              <a:t>90</a:t>
            </a:r>
          </a:p>
        </p:txBody>
      </p:sp>
      <p:sp>
        <p:nvSpPr>
          <p:cNvPr id="53" name="Oval 8">
            <a:extLst>
              <a:ext uri="{FF2B5EF4-FFF2-40B4-BE49-F238E27FC236}">
                <a16:creationId xmlns:a16="http://schemas.microsoft.com/office/drawing/2014/main" id="{4A706EA0-E9D0-F3EB-A3F5-75D671C06502}"/>
              </a:ext>
            </a:extLst>
          </p:cNvPr>
          <p:cNvSpPr>
            <a:spLocks noChangeArrowheads="1"/>
          </p:cNvSpPr>
          <p:nvPr/>
        </p:nvSpPr>
        <p:spPr bwMode="auto">
          <a:xfrm>
            <a:off x="6201948" y="48175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85</a:t>
            </a:r>
          </a:p>
        </p:txBody>
      </p:sp>
      <p:sp>
        <p:nvSpPr>
          <p:cNvPr id="54" name="Oval 9">
            <a:extLst>
              <a:ext uri="{FF2B5EF4-FFF2-40B4-BE49-F238E27FC236}">
                <a16:creationId xmlns:a16="http://schemas.microsoft.com/office/drawing/2014/main" id="{F0BFEDDD-62D1-9011-6714-2181FA5D9FCE}"/>
              </a:ext>
            </a:extLst>
          </p:cNvPr>
          <p:cNvSpPr>
            <a:spLocks noChangeArrowheads="1"/>
          </p:cNvSpPr>
          <p:nvPr/>
        </p:nvSpPr>
        <p:spPr bwMode="auto">
          <a:xfrm>
            <a:off x="4144548" y="3979331"/>
            <a:ext cx="685800" cy="533400"/>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40</a:t>
            </a:r>
          </a:p>
        </p:txBody>
      </p:sp>
      <p:sp>
        <p:nvSpPr>
          <p:cNvPr id="55" name="Oval 10">
            <a:extLst>
              <a:ext uri="{FF2B5EF4-FFF2-40B4-BE49-F238E27FC236}">
                <a16:creationId xmlns:a16="http://schemas.microsoft.com/office/drawing/2014/main" id="{9819E078-0933-BF89-F753-CEC00882AD7E}"/>
              </a:ext>
            </a:extLst>
          </p:cNvPr>
          <p:cNvSpPr>
            <a:spLocks noChangeArrowheads="1"/>
          </p:cNvSpPr>
          <p:nvPr/>
        </p:nvSpPr>
        <p:spPr bwMode="auto">
          <a:xfrm>
            <a:off x="3230148" y="48175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35</a:t>
            </a:r>
          </a:p>
        </p:txBody>
      </p:sp>
      <p:sp>
        <p:nvSpPr>
          <p:cNvPr id="56" name="Oval 11">
            <a:extLst>
              <a:ext uri="{FF2B5EF4-FFF2-40B4-BE49-F238E27FC236}">
                <a16:creationId xmlns:a16="http://schemas.microsoft.com/office/drawing/2014/main" id="{CAF14A3B-949A-C734-C28C-C720D9DCC884}"/>
              </a:ext>
            </a:extLst>
          </p:cNvPr>
          <p:cNvSpPr>
            <a:spLocks noChangeArrowheads="1"/>
          </p:cNvSpPr>
          <p:nvPr/>
        </p:nvSpPr>
        <p:spPr bwMode="auto">
          <a:xfrm>
            <a:off x="7497348" y="56557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88</a:t>
            </a:r>
          </a:p>
        </p:txBody>
      </p:sp>
      <p:sp>
        <p:nvSpPr>
          <p:cNvPr id="57" name="Line 12">
            <a:extLst>
              <a:ext uri="{FF2B5EF4-FFF2-40B4-BE49-F238E27FC236}">
                <a16:creationId xmlns:a16="http://schemas.microsoft.com/office/drawing/2014/main" id="{40E7068A-9F21-DFA9-E1AB-634681E07681}"/>
              </a:ext>
            </a:extLst>
          </p:cNvPr>
          <p:cNvSpPr>
            <a:spLocks noChangeShapeType="1"/>
          </p:cNvSpPr>
          <p:nvPr/>
        </p:nvSpPr>
        <p:spPr bwMode="auto">
          <a:xfrm flipH="1">
            <a:off x="3673046" y="3064931"/>
            <a:ext cx="776302" cy="37623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58" name="Freeform 13">
            <a:extLst>
              <a:ext uri="{FF2B5EF4-FFF2-40B4-BE49-F238E27FC236}">
                <a16:creationId xmlns:a16="http://schemas.microsoft.com/office/drawing/2014/main" id="{8D094ED2-077B-EDB0-5604-B36AA2E46466}"/>
              </a:ext>
            </a:extLst>
          </p:cNvPr>
          <p:cNvSpPr>
            <a:spLocks/>
          </p:cNvSpPr>
          <p:nvPr/>
        </p:nvSpPr>
        <p:spPr bwMode="auto">
          <a:xfrm>
            <a:off x="2468148" y="3674531"/>
            <a:ext cx="558800" cy="381000"/>
          </a:xfrm>
          <a:custGeom>
            <a:avLst/>
            <a:gdLst>
              <a:gd name="T0" fmla="*/ 352 w 352"/>
              <a:gd name="T1" fmla="*/ 0 h 240"/>
              <a:gd name="T2" fmla="*/ 0 w 352"/>
              <a:gd name="T3" fmla="*/ 240 h 240"/>
              <a:gd name="T4" fmla="*/ 0 60000 65536"/>
              <a:gd name="T5" fmla="*/ 0 60000 65536"/>
              <a:gd name="T6" fmla="*/ 0 w 352"/>
              <a:gd name="T7" fmla="*/ 0 h 240"/>
              <a:gd name="T8" fmla="*/ 352 w 352"/>
              <a:gd name="T9" fmla="*/ 240 h 240"/>
            </a:gdLst>
            <a:ahLst/>
            <a:cxnLst>
              <a:cxn ang="T4">
                <a:pos x="T0" y="T1"/>
              </a:cxn>
              <a:cxn ang="T5">
                <a:pos x="T2" y="T3"/>
              </a:cxn>
            </a:cxnLst>
            <a:rect l="T6" t="T7" r="T8" b="T9"/>
            <a:pathLst>
              <a:path w="352" h="240">
                <a:moveTo>
                  <a:pt x="352" y="0"/>
                </a:moveTo>
                <a:lnTo>
                  <a:pt x="0" y="24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59" name="Line 14">
            <a:extLst>
              <a:ext uri="{FF2B5EF4-FFF2-40B4-BE49-F238E27FC236}">
                <a16:creationId xmlns:a16="http://schemas.microsoft.com/office/drawing/2014/main" id="{05E4A52A-0660-7A48-C79A-CD975221A1E1}"/>
              </a:ext>
            </a:extLst>
          </p:cNvPr>
          <p:cNvSpPr>
            <a:spLocks noChangeShapeType="1"/>
          </p:cNvSpPr>
          <p:nvPr/>
        </p:nvSpPr>
        <p:spPr bwMode="auto">
          <a:xfrm>
            <a:off x="5135148" y="3064931"/>
            <a:ext cx="7620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0" name="Line 15">
            <a:extLst>
              <a:ext uri="{FF2B5EF4-FFF2-40B4-BE49-F238E27FC236}">
                <a16:creationId xmlns:a16="http://schemas.microsoft.com/office/drawing/2014/main" id="{91A20289-1721-11C9-A1C0-9181C6CC5AD2}"/>
              </a:ext>
            </a:extLst>
          </p:cNvPr>
          <p:cNvSpPr>
            <a:spLocks noChangeShapeType="1"/>
          </p:cNvSpPr>
          <p:nvPr/>
        </p:nvSpPr>
        <p:spPr bwMode="auto">
          <a:xfrm>
            <a:off x="3673046" y="3726913"/>
            <a:ext cx="547702" cy="328618"/>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1" name="Line 16">
            <a:extLst>
              <a:ext uri="{FF2B5EF4-FFF2-40B4-BE49-F238E27FC236}">
                <a16:creationId xmlns:a16="http://schemas.microsoft.com/office/drawing/2014/main" id="{306694C4-A943-1E34-7320-E00D747742B4}"/>
              </a:ext>
            </a:extLst>
          </p:cNvPr>
          <p:cNvSpPr>
            <a:spLocks noChangeShapeType="1"/>
          </p:cNvSpPr>
          <p:nvPr/>
        </p:nvSpPr>
        <p:spPr bwMode="auto">
          <a:xfrm flipH="1">
            <a:off x="3687348" y="4436531"/>
            <a:ext cx="5334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2" name="Line 17">
            <a:extLst>
              <a:ext uri="{FF2B5EF4-FFF2-40B4-BE49-F238E27FC236}">
                <a16:creationId xmlns:a16="http://schemas.microsoft.com/office/drawing/2014/main" id="{16CFE942-ED24-5F1E-96BD-B7C5CB22E3A3}"/>
              </a:ext>
            </a:extLst>
          </p:cNvPr>
          <p:cNvSpPr>
            <a:spLocks noChangeShapeType="1"/>
          </p:cNvSpPr>
          <p:nvPr/>
        </p:nvSpPr>
        <p:spPr bwMode="auto">
          <a:xfrm>
            <a:off x="6506748" y="3750731"/>
            <a:ext cx="609600" cy="3048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3" name="Freeform 18">
            <a:extLst>
              <a:ext uri="{FF2B5EF4-FFF2-40B4-BE49-F238E27FC236}">
                <a16:creationId xmlns:a16="http://schemas.microsoft.com/office/drawing/2014/main" id="{D04F6D8F-91DE-0296-BD6D-884B61AAAEE1}"/>
              </a:ext>
            </a:extLst>
          </p:cNvPr>
          <p:cNvSpPr>
            <a:spLocks/>
          </p:cNvSpPr>
          <p:nvPr/>
        </p:nvSpPr>
        <p:spPr bwMode="auto">
          <a:xfrm>
            <a:off x="6748048" y="4385731"/>
            <a:ext cx="368300" cy="469900"/>
          </a:xfrm>
          <a:custGeom>
            <a:avLst/>
            <a:gdLst>
              <a:gd name="T0" fmla="*/ 232 w 232"/>
              <a:gd name="T1" fmla="*/ 0 h 296"/>
              <a:gd name="T2" fmla="*/ 0 w 232"/>
              <a:gd name="T3" fmla="*/ 296 h 296"/>
              <a:gd name="T4" fmla="*/ 0 60000 65536"/>
              <a:gd name="T5" fmla="*/ 0 60000 65536"/>
              <a:gd name="T6" fmla="*/ 0 w 232"/>
              <a:gd name="T7" fmla="*/ 0 h 296"/>
              <a:gd name="T8" fmla="*/ 232 w 232"/>
              <a:gd name="T9" fmla="*/ 296 h 296"/>
            </a:gdLst>
            <a:ahLst/>
            <a:cxnLst>
              <a:cxn ang="T4">
                <a:pos x="T0" y="T1"/>
              </a:cxn>
              <a:cxn ang="T5">
                <a:pos x="T2" y="T3"/>
              </a:cxn>
            </a:cxnLst>
            <a:rect l="T6" t="T7" r="T8" b="T9"/>
            <a:pathLst>
              <a:path w="232" h="296">
                <a:moveTo>
                  <a:pt x="232" y="0"/>
                </a:moveTo>
                <a:lnTo>
                  <a:pt x="0" y="296"/>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4" name="Freeform 19">
            <a:extLst>
              <a:ext uri="{FF2B5EF4-FFF2-40B4-BE49-F238E27FC236}">
                <a16:creationId xmlns:a16="http://schemas.microsoft.com/office/drawing/2014/main" id="{280E9813-3C52-7841-99E2-C48F8C03983A}"/>
              </a:ext>
            </a:extLst>
          </p:cNvPr>
          <p:cNvSpPr>
            <a:spLocks/>
          </p:cNvSpPr>
          <p:nvPr/>
        </p:nvSpPr>
        <p:spPr bwMode="auto">
          <a:xfrm>
            <a:off x="6862348" y="5198531"/>
            <a:ext cx="711200" cy="533400"/>
          </a:xfrm>
          <a:custGeom>
            <a:avLst/>
            <a:gdLst>
              <a:gd name="T0" fmla="*/ 0 w 448"/>
              <a:gd name="T1" fmla="*/ 0 h 336"/>
              <a:gd name="T2" fmla="*/ 448 w 448"/>
              <a:gd name="T3" fmla="*/ 336 h 336"/>
              <a:gd name="T4" fmla="*/ 0 60000 65536"/>
              <a:gd name="T5" fmla="*/ 0 60000 65536"/>
              <a:gd name="T6" fmla="*/ 0 w 448"/>
              <a:gd name="T7" fmla="*/ 0 h 336"/>
              <a:gd name="T8" fmla="*/ 448 w 448"/>
              <a:gd name="T9" fmla="*/ 336 h 336"/>
            </a:gdLst>
            <a:ahLst/>
            <a:cxnLst>
              <a:cxn ang="T4">
                <a:pos x="T0" y="T1"/>
              </a:cxn>
              <a:cxn ang="T5">
                <a:pos x="T2" y="T3"/>
              </a:cxn>
            </a:cxnLst>
            <a:rect l="T6" t="T7" r="T8" b="T9"/>
            <a:pathLst>
              <a:path w="448" h="336">
                <a:moveTo>
                  <a:pt x="0" y="0"/>
                </a:moveTo>
                <a:lnTo>
                  <a:pt x="448" y="336"/>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5" name="Oval 20">
            <a:extLst>
              <a:ext uri="{FF2B5EF4-FFF2-40B4-BE49-F238E27FC236}">
                <a16:creationId xmlns:a16="http://schemas.microsoft.com/office/drawing/2014/main" id="{18F8261A-AEE5-1E83-18F3-59BA388AAB08}"/>
              </a:ext>
            </a:extLst>
          </p:cNvPr>
          <p:cNvSpPr>
            <a:spLocks noChangeArrowheads="1"/>
          </p:cNvSpPr>
          <p:nvPr/>
        </p:nvSpPr>
        <p:spPr bwMode="auto">
          <a:xfrm>
            <a:off x="2239548" y="565573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32</a:t>
            </a:r>
          </a:p>
        </p:txBody>
      </p:sp>
      <p:sp>
        <p:nvSpPr>
          <p:cNvPr id="66" name="Freeform 21">
            <a:extLst>
              <a:ext uri="{FF2B5EF4-FFF2-40B4-BE49-F238E27FC236}">
                <a16:creationId xmlns:a16="http://schemas.microsoft.com/office/drawing/2014/main" id="{340D8E0D-F876-AA02-CF04-3F0882C5C6BF}"/>
              </a:ext>
            </a:extLst>
          </p:cNvPr>
          <p:cNvSpPr>
            <a:spLocks/>
          </p:cNvSpPr>
          <p:nvPr/>
        </p:nvSpPr>
        <p:spPr bwMode="auto">
          <a:xfrm>
            <a:off x="2747548" y="5173131"/>
            <a:ext cx="520700" cy="508000"/>
          </a:xfrm>
          <a:custGeom>
            <a:avLst/>
            <a:gdLst>
              <a:gd name="T0" fmla="*/ 328 w 328"/>
              <a:gd name="T1" fmla="*/ 0 h 320"/>
              <a:gd name="T2" fmla="*/ 0 w 328"/>
              <a:gd name="T3" fmla="*/ 320 h 320"/>
              <a:gd name="T4" fmla="*/ 0 60000 65536"/>
              <a:gd name="T5" fmla="*/ 0 60000 65536"/>
              <a:gd name="T6" fmla="*/ 0 w 328"/>
              <a:gd name="T7" fmla="*/ 0 h 320"/>
              <a:gd name="T8" fmla="*/ 328 w 328"/>
              <a:gd name="T9" fmla="*/ 320 h 320"/>
            </a:gdLst>
            <a:ahLst/>
            <a:cxnLst>
              <a:cxn ang="T4">
                <a:pos x="T0" y="T1"/>
              </a:cxn>
              <a:cxn ang="T5">
                <a:pos x="T2" y="T3"/>
              </a:cxn>
            </a:cxnLst>
            <a:rect l="T6" t="T7" r="T8" b="T9"/>
            <a:pathLst>
              <a:path w="328" h="320">
                <a:moveTo>
                  <a:pt x="328" y="0"/>
                </a:moveTo>
                <a:lnTo>
                  <a:pt x="0" y="32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67" name="Rectangle 23">
            <a:extLst>
              <a:ext uri="{FF2B5EF4-FFF2-40B4-BE49-F238E27FC236}">
                <a16:creationId xmlns:a16="http://schemas.microsoft.com/office/drawing/2014/main" id="{B2124641-C64B-2E29-3D75-327092FEA084}"/>
              </a:ext>
            </a:extLst>
          </p:cNvPr>
          <p:cNvSpPr>
            <a:spLocks noChangeArrowheads="1"/>
          </p:cNvSpPr>
          <p:nvPr/>
        </p:nvSpPr>
        <p:spPr bwMode="auto">
          <a:xfrm>
            <a:off x="1415480" y="2289539"/>
            <a:ext cx="8001024" cy="430246"/>
          </a:xfrm>
          <a:prstGeom prst="rect">
            <a:avLst/>
          </a:prstGeom>
          <a:noFill/>
          <a:ln w="9525">
            <a:noFill/>
            <a:miter lim="800000"/>
            <a:headEnd/>
            <a:tailEnd/>
          </a:ln>
        </p:spPr>
        <p:txBody>
          <a:bodyPr wrap="square">
            <a:spAutoFit/>
          </a:bodyPr>
          <a:lstStyle/>
          <a:p>
            <a:pPr algn="l">
              <a:lnSpc>
                <a:spcPct val="120000"/>
              </a:lnSpc>
            </a:pPr>
            <a:r>
              <a:rPr lang="zh-CN" altLang="en-US" sz="2000" b="1">
                <a:latin typeface="Consolas" pitchFamily="49" charset="0"/>
                <a:ea typeface="华文中宋" pitchFamily="2" charset="-122"/>
                <a:cs typeface="Consolas" pitchFamily="49" charset="0"/>
              </a:rPr>
              <a:t>（</a:t>
            </a:r>
            <a:r>
              <a:rPr lang="en-US" altLang="zh-CN" sz="2000" b="1" dirty="0">
                <a:latin typeface="Consolas" pitchFamily="49" charset="0"/>
                <a:ea typeface="华文中宋" pitchFamily="2" charset="-122"/>
                <a:cs typeface="Consolas" pitchFamily="49" charset="0"/>
              </a:rPr>
              <a:t>2</a:t>
            </a:r>
            <a:r>
              <a:rPr lang="zh-CN" altLang="en-US" sz="2000" b="1" dirty="0">
                <a:latin typeface="Consolas" pitchFamily="49" charset="0"/>
                <a:ea typeface="华文中宋" pitchFamily="2" charset="-122"/>
                <a:cs typeface="Consolas" pitchFamily="49" charset="0"/>
              </a:rPr>
              <a:t>）</a:t>
            </a:r>
            <a:r>
              <a:rPr lang="zh-CN" altLang="en-US" sz="2000" b="1" i="1" dirty="0">
                <a:latin typeface="Consolas" pitchFamily="49" charset="0"/>
                <a:ea typeface="华文中宋" pitchFamily="2" charset="-122"/>
                <a:cs typeface="Consolas" pitchFamily="49" charset="0"/>
              </a:rPr>
              <a:t> </a:t>
            </a:r>
            <a:r>
              <a:rPr lang="zh-CN" altLang="en-US" sz="2000" b="1" dirty="0">
                <a:latin typeface="Consolas" pitchFamily="49" charset="0"/>
                <a:ea typeface="华文中宋" pitchFamily="2" charset="-122"/>
                <a:cs typeface="Consolas" pitchFamily="49" charset="0"/>
              </a:rPr>
              <a:t>被</a:t>
            </a:r>
            <a:r>
              <a:rPr lang="zh-CN" altLang="en-US" sz="2000" b="1">
                <a:latin typeface="Consolas" pitchFamily="49" charset="0"/>
                <a:ea typeface="华文中宋" pitchFamily="2" charset="-122"/>
                <a:cs typeface="Consolas" pitchFamily="49" charset="0"/>
              </a:rPr>
              <a:t>删除的结点只有</a:t>
            </a:r>
            <a:r>
              <a:rPr lang="zh-CN" altLang="en-US" sz="2000" b="1" dirty="0">
                <a:latin typeface="Consolas" pitchFamily="49" charset="0"/>
                <a:ea typeface="华文中宋" pitchFamily="2" charset="-122"/>
                <a:cs typeface="Consolas" pitchFamily="49" charset="0"/>
              </a:rPr>
              <a:t>左</a:t>
            </a:r>
            <a:r>
              <a:rPr lang="zh-CN" altLang="en-US" sz="2000" b="1">
                <a:latin typeface="Consolas" pitchFamily="49" charset="0"/>
                <a:ea typeface="华文中宋" pitchFamily="2" charset="-122"/>
                <a:cs typeface="Consolas" pitchFamily="49" charset="0"/>
              </a:rPr>
              <a:t>子树，用其左孩子替换它（结点替换）。</a:t>
            </a:r>
            <a:endParaRPr lang="zh-CN" altLang="en-US" sz="2000" b="1" dirty="0">
              <a:latin typeface="Consolas" pitchFamily="49" charset="0"/>
              <a:ea typeface="华文中宋" pitchFamily="2" charset="-122"/>
              <a:cs typeface="Consolas" pitchFamily="49" charset="0"/>
            </a:endParaRPr>
          </a:p>
        </p:txBody>
      </p:sp>
      <p:sp>
        <p:nvSpPr>
          <p:cNvPr id="68" name="AutoShape 24">
            <a:extLst>
              <a:ext uri="{FF2B5EF4-FFF2-40B4-BE49-F238E27FC236}">
                <a16:creationId xmlns:a16="http://schemas.microsoft.com/office/drawing/2014/main" id="{5FDD17D8-B3F7-4262-DCF4-6D1A34454889}"/>
              </a:ext>
            </a:extLst>
          </p:cNvPr>
          <p:cNvSpPr>
            <a:spLocks noChangeArrowheads="1"/>
          </p:cNvSpPr>
          <p:nvPr/>
        </p:nvSpPr>
        <p:spPr bwMode="auto">
          <a:xfrm>
            <a:off x="3458732" y="3712631"/>
            <a:ext cx="152400" cy="1143000"/>
          </a:xfrm>
          <a:prstGeom prst="downArrow">
            <a:avLst>
              <a:gd name="adj1" fmla="val 50000"/>
              <a:gd name="adj2" fmla="val 187500"/>
            </a:avLst>
          </a:prstGeom>
          <a:solidFill>
            <a:srgbClr val="FF00FF"/>
          </a:solidFill>
          <a:ln w="9525">
            <a:solidFill>
              <a:srgbClr val="3333FF"/>
            </a:solidFill>
            <a:miter lim="800000"/>
            <a:headEnd/>
            <a:tailEnd/>
          </a:ln>
        </p:spPr>
        <p:txBody>
          <a:bodyPr vert="eaVert" wrap="none" anchor="ctr"/>
          <a:lstStyle/>
          <a:p>
            <a:endParaRPr lang="zh-CN" altLang="en-US" sz="1800">
              <a:latin typeface="Consolas" pitchFamily="49" charset="0"/>
              <a:cs typeface="Consolas" pitchFamily="49" charset="0"/>
            </a:endParaRPr>
          </a:p>
        </p:txBody>
      </p:sp>
      <p:sp useBgFill="1">
        <p:nvSpPr>
          <p:cNvPr id="69" name="Rectangle 25">
            <a:extLst>
              <a:ext uri="{FF2B5EF4-FFF2-40B4-BE49-F238E27FC236}">
                <a16:creationId xmlns:a16="http://schemas.microsoft.com/office/drawing/2014/main" id="{AD188E13-ECFB-FD5E-BDAD-F874C2929093}"/>
              </a:ext>
            </a:extLst>
          </p:cNvPr>
          <p:cNvSpPr>
            <a:spLocks noChangeArrowheads="1"/>
          </p:cNvSpPr>
          <p:nvPr/>
        </p:nvSpPr>
        <p:spPr bwMode="auto">
          <a:xfrm>
            <a:off x="3673046" y="3674531"/>
            <a:ext cx="1349375" cy="1143000"/>
          </a:xfrm>
          <a:prstGeom prst="rect">
            <a:avLst/>
          </a:prstGeom>
          <a:ln w="9525">
            <a:solidFill>
              <a:schemeClr val="bg1"/>
            </a:solidFill>
            <a:miter lim="800000"/>
            <a:headEnd/>
            <a:tailEnd/>
          </a:ln>
        </p:spPr>
        <p:txBody>
          <a:bodyPr wrap="none" anchor="ctr"/>
          <a:lstStyle/>
          <a:p>
            <a:endParaRPr kumimoji="0" lang="zh-CN" altLang="zh-CN" sz="1800">
              <a:latin typeface="Consolas" pitchFamily="49" charset="0"/>
              <a:cs typeface="Consolas" pitchFamily="49" charset="0"/>
            </a:endParaRPr>
          </a:p>
        </p:txBody>
      </p:sp>
      <p:sp>
        <p:nvSpPr>
          <p:cNvPr id="70" name="Text Box 29">
            <a:extLst>
              <a:ext uri="{FF2B5EF4-FFF2-40B4-BE49-F238E27FC236}">
                <a16:creationId xmlns:a16="http://schemas.microsoft.com/office/drawing/2014/main" id="{17FE0D8D-8D4B-78A6-2583-6F4E3AF0F2BA}"/>
              </a:ext>
            </a:extLst>
          </p:cNvPr>
          <p:cNvSpPr txBox="1">
            <a:spLocks noChangeArrowheads="1"/>
          </p:cNvSpPr>
          <p:nvPr/>
        </p:nvSpPr>
        <p:spPr bwMode="auto">
          <a:xfrm>
            <a:off x="1703512" y="6368974"/>
            <a:ext cx="8001056" cy="461665"/>
          </a:xfrm>
          <a:prstGeom prst="rect">
            <a:avLst/>
          </a:prstGeom>
          <a:noFill/>
          <a:ln w="9525">
            <a:solidFill>
              <a:schemeClr val="bg1"/>
            </a:solidFill>
            <a:miter lim="800000"/>
            <a:headEnd/>
            <a:tailEnd/>
          </a:ln>
        </p:spPr>
        <p:txBody>
          <a:bodyPr wrap="square">
            <a:spAutoFit/>
          </a:bodyPr>
          <a:lstStyle/>
          <a:p>
            <a:pPr algn="l">
              <a:lnSpc>
                <a:spcPct val="120000"/>
              </a:lnSpc>
              <a:spcBef>
                <a:spcPct val="50000"/>
              </a:spcBef>
            </a:pPr>
            <a:r>
              <a:rPr lang="zh-CN" altLang="en-US" sz="2000" b="1">
                <a:solidFill>
                  <a:srgbClr val="3333FF"/>
                </a:solidFill>
                <a:latin typeface="Consolas" pitchFamily="49" charset="0"/>
                <a:ea typeface="仿宋" pitchFamily="49" charset="-122"/>
                <a:cs typeface="Consolas" pitchFamily="49" charset="0"/>
              </a:rPr>
              <a:t>其双亲结点的</a:t>
            </a:r>
            <a:r>
              <a:rPr lang="zh-CN" altLang="en-US" sz="2000" b="1" dirty="0">
                <a:solidFill>
                  <a:srgbClr val="3333FF"/>
                </a:solidFill>
                <a:latin typeface="Consolas" pitchFamily="49" charset="0"/>
                <a:ea typeface="仿宋" pitchFamily="49" charset="-122"/>
                <a:cs typeface="Consolas" pitchFamily="49" charset="0"/>
              </a:rPr>
              <a:t>相应指针域的值</a:t>
            </a:r>
            <a:r>
              <a:rPr lang="zh-CN" altLang="en-US" sz="2000" b="1">
                <a:solidFill>
                  <a:srgbClr val="3333FF"/>
                </a:solidFill>
                <a:latin typeface="Consolas" pitchFamily="49" charset="0"/>
                <a:ea typeface="仿宋" pitchFamily="49" charset="-122"/>
                <a:cs typeface="Consolas" pitchFamily="49" charset="0"/>
              </a:rPr>
              <a:t>改为“</a:t>
            </a:r>
            <a:r>
              <a:rPr lang="zh-CN" altLang="en-US" sz="2000" b="1" dirty="0">
                <a:solidFill>
                  <a:srgbClr val="3333FF"/>
                </a:solidFill>
                <a:latin typeface="Consolas" pitchFamily="49" charset="0"/>
                <a:ea typeface="仿宋" pitchFamily="49" charset="-122"/>
                <a:cs typeface="Consolas" pitchFamily="49" charset="0"/>
              </a:rPr>
              <a:t>指向</a:t>
            </a:r>
            <a:r>
              <a:rPr lang="zh-CN" altLang="en-US" sz="2000" b="1">
                <a:solidFill>
                  <a:srgbClr val="3333FF"/>
                </a:solidFill>
                <a:latin typeface="Consolas" pitchFamily="49" charset="0"/>
                <a:ea typeface="仿宋" pitchFamily="49" charset="-122"/>
                <a:cs typeface="Consolas" pitchFamily="49" charset="0"/>
              </a:rPr>
              <a:t>被删除结点的左孩子”。</a:t>
            </a:r>
            <a:endParaRPr lang="zh-CN" altLang="en-US" sz="2000" dirty="0">
              <a:solidFill>
                <a:srgbClr val="3333FF"/>
              </a:solidFill>
              <a:latin typeface="Consolas" pitchFamily="49" charset="0"/>
              <a:ea typeface="仿宋" pitchFamily="49" charset="-122"/>
              <a:cs typeface="Consolas" pitchFamily="49" charset="0"/>
            </a:endParaRPr>
          </a:p>
        </p:txBody>
      </p:sp>
      <p:sp>
        <p:nvSpPr>
          <p:cNvPr id="71" name="Text Box 30">
            <a:extLst>
              <a:ext uri="{FF2B5EF4-FFF2-40B4-BE49-F238E27FC236}">
                <a16:creationId xmlns:a16="http://schemas.microsoft.com/office/drawing/2014/main" id="{799767C3-2136-BD2C-1E34-7F2D2186580A}"/>
              </a:ext>
            </a:extLst>
          </p:cNvPr>
          <p:cNvSpPr txBox="1">
            <a:spLocks noChangeArrowheads="1"/>
          </p:cNvSpPr>
          <p:nvPr/>
        </p:nvSpPr>
        <p:spPr bwMode="auto">
          <a:xfrm>
            <a:off x="6616128" y="2897572"/>
            <a:ext cx="1898277" cy="400110"/>
          </a:xfrm>
          <a:prstGeom prst="rect">
            <a:avLst/>
          </a:prstGeom>
          <a:noFill/>
          <a:ln w="9525">
            <a:solidFill>
              <a:schemeClr val="bg1"/>
            </a:solid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被删关</a:t>
            </a:r>
            <a:r>
              <a:rPr lang="zh-CN" altLang="en-US" sz="2000" b="1">
                <a:solidFill>
                  <a:srgbClr val="3333FF"/>
                </a:solidFill>
                <a:latin typeface="Consolas" pitchFamily="49" charset="0"/>
                <a:ea typeface="楷体" pitchFamily="49" charset="-122"/>
                <a:cs typeface="Consolas" pitchFamily="49" charset="0"/>
              </a:rPr>
              <a:t>键字</a:t>
            </a:r>
            <a:r>
              <a:rPr lang="en-US" altLang="zh-CN" sz="2000" b="1">
                <a:solidFill>
                  <a:srgbClr val="3333FF"/>
                </a:solidFill>
                <a:latin typeface="Consolas" pitchFamily="49" charset="0"/>
                <a:ea typeface="楷体" pitchFamily="49" charset="-122"/>
                <a:cs typeface="Consolas" pitchFamily="49" charset="0"/>
              </a:rPr>
              <a:t>=40</a:t>
            </a:r>
            <a:endParaRPr lang="en-US" altLang="zh-CN" sz="2000" dirty="0">
              <a:solidFill>
                <a:srgbClr val="3333FF"/>
              </a:solidFill>
              <a:latin typeface="Consolas" pitchFamily="49" charset="0"/>
              <a:ea typeface="楷体" pitchFamily="49" charset="-122"/>
              <a:cs typeface="Consolas" pitchFamily="49" charset="0"/>
            </a:endParaRPr>
          </a:p>
        </p:txBody>
      </p:sp>
      <p:sp>
        <p:nvSpPr>
          <p:cNvPr id="72" name="Text Box 25">
            <a:extLst>
              <a:ext uri="{FF2B5EF4-FFF2-40B4-BE49-F238E27FC236}">
                <a16:creationId xmlns:a16="http://schemas.microsoft.com/office/drawing/2014/main" id="{CEC879B4-D7F7-4E89-4446-FE990D2C9C49}"/>
              </a:ext>
            </a:extLst>
          </p:cNvPr>
          <p:cNvSpPr txBox="1">
            <a:spLocks noChangeArrowheads="1"/>
          </p:cNvSpPr>
          <p:nvPr/>
        </p:nvSpPr>
        <p:spPr bwMode="auto">
          <a:xfrm>
            <a:off x="2058390" y="2852936"/>
            <a:ext cx="841897" cy="400110"/>
          </a:xfrm>
          <a:prstGeom prst="rect">
            <a:avLst/>
          </a:prstGeom>
          <a:noFill/>
          <a:ln w="9525">
            <a:no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例如</a:t>
            </a:r>
            <a:r>
              <a:rPr lang="en-US" altLang="zh-CN" sz="2000" b="1" dirty="0">
                <a:solidFill>
                  <a:srgbClr val="3333FF"/>
                </a:solidFill>
                <a:latin typeface="Consolas" pitchFamily="49" charset="0"/>
                <a:ea typeface="楷体" pitchFamily="49" charset="-122"/>
                <a:cs typeface="Consolas" pitchFamily="49" charset="0"/>
              </a:rPr>
              <a:t>:</a:t>
            </a:r>
            <a:endParaRPr lang="en-US" altLang="zh-CN" sz="2000" dirty="0">
              <a:solidFill>
                <a:srgbClr val="3333FF"/>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87884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wipe(up)">
                                      <p:cBhvr>
                                        <p:cTn id="12" dur="500"/>
                                        <p:tgtEl>
                                          <p:spTgt spid="68"/>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up)">
                                      <p:cBhvr>
                                        <p:cTn id="16" dur="5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wipe(left)">
                                      <p:cBhvr>
                                        <p:cTn id="21"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autoUpdateAnimBg="0"/>
      <p:bldP spid="71"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9296E-59FD-B177-FA56-2E036D86B66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8C55A96-5B25-F6C3-535F-73592F80E5B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AEE8F698-8301-F238-5A3D-3941F7A61B80}"/>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5CD8F5F1-C554-C3F4-627D-A22B34F7961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4DF909CC-019D-8F19-BF3A-606B24FC1B24}"/>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、二叉排序树的删除</a:t>
            </a:r>
          </a:p>
        </p:txBody>
      </p:sp>
      <p:sp>
        <p:nvSpPr>
          <p:cNvPr id="5" name="Oval 3">
            <a:extLst>
              <a:ext uri="{FF2B5EF4-FFF2-40B4-BE49-F238E27FC236}">
                <a16:creationId xmlns:a16="http://schemas.microsoft.com/office/drawing/2014/main" id="{8A9D5DC3-AF2C-D72C-8AD6-C6C1ADA99CDE}"/>
              </a:ext>
            </a:extLst>
          </p:cNvPr>
          <p:cNvSpPr>
            <a:spLocks noChangeArrowheads="1"/>
          </p:cNvSpPr>
          <p:nvPr/>
        </p:nvSpPr>
        <p:spPr bwMode="auto">
          <a:xfrm>
            <a:off x="4568046" y="27479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3333FF"/>
                </a:solidFill>
                <a:latin typeface="Consolas" pitchFamily="49" charset="0"/>
                <a:ea typeface="楷体_GB2312" pitchFamily="49" charset="-122"/>
                <a:cs typeface="Consolas" pitchFamily="49" charset="0"/>
              </a:rPr>
              <a:t>50</a:t>
            </a:r>
          </a:p>
        </p:txBody>
      </p:sp>
      <p:sp>
        <p:nvSpPr>
          <p:cNvPr id="6" name="Oval 4">
            <a:extLst>
              <a:ext uri="{FF2B5EF4-FFF2-40B4-BE49-F238E27FC236}">
                <a16:creationId xmlns:a16="http://schemas.microsoft.com/office/drawing/2014/main" id="{65692C77-59B8-422D-AE96-25324AAAF3C1}"/>
              </a:ext>
            </a:extLst>
          </p:cNvPr>
          <p:cNvSpPr>
            <a:spLocks noChangeArrowheads="1"/>
          </p:cNvSpPr>
          <p:nvPr/>
        </p:nvSpPr>
        <p:spPr bwMode="auto">
          <a:xfrm>
            <a:off x="3120246" y="32813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30</a:t>
            </a:r>
          </a:p>
        </p:txBody>
      </p:sp>
      <p:sp>
        <p:nvSpPr>
          <p:cNvPr id="8" name="Oval 5">
            <a:extLst>
              <a:ext uri="{FF2B5EF4-FFF2-40B4-BE49-F238E27FC236}">
                <a16:creationId xmlns:a16="http://schemas.microsoft.com/office/drawing/2014/main" id="{B5D2BE12-5650-C499-A761-4DAA89FD0204}"/>
              </a:ext>
            </a:extLst>
          </p:cNvPr>
          <p:cNvSpPr>
            <a:spLocks noChangeArrowheads="1"/>
          </p:cNvSpPr>
          <p:nvPr/>
        </p:nvSpPr>
        <p:spPr bwMode="auto">
          <a:xfrm>
            <a:off x="5995750" y="3251226"/>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1" dirty="0">
                <a:solidFill>
                  <a:srgbClr val="3333FF"/>
                </a:solidFill>
                <a:latin typeface="Consolas" pitchFamily="49" charset="0"/>
                <a:ea typeface="楷体_GB2312" pitchFamily="49" charset="-122"/>
                <a:cs typeface="Consolas" pitchFamily="49" charset="0"/>
              </a:rPr>
              <a:t>80</a:t>
            </a:r>
          </a:p>
        </p:txBody>
      </p:sp>
      <p:sp>
        <p:nvSpPr>
          <p:cNvPr id="9" name="Oval 6">
            <a:extLst>
              <a:ext uri="{FF2B5EF4-FFF2-40B4-BE49-F238E27FC236}">
                <a16:creationId xmlns:a16="http://schemas.microsoft.com/office/drawing/2014/main" id="{7E7316E5-3C1C-2B80-4E0B-456AD7FB78D2}"/>
              </a:ext>
            </a:extLst>
          </p:cNvPr>
          <p:cNvSpPr>
            <a:spLocks noChangeArrowheads="1"/>
          </p:cNvSpPr>
          <p:nvPr/>
        </p:nvSpPr>
        <p:spPr bwMode="auto">
          <a:xfrm>
            <a:off x="1977246" y="39671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20</a:t>
            </a:r>
          </a:p>
        </p:txBody>
      </p:sp>
      <p:sp>
        <p:nvSpPr>
          <p:cNvPr id="10" name="Oval 7">
            <a:extLst>
              <a:ext uri="{FF2B5EF4-FFF2-40B4-BE49-F238E27FC236}">
                <a16:creationId xmlns:a16="http://schemas.microsoft.com/office/drawing/2014/main" id="{EFA5746F-59DC-BC3B-D790-A9C225F91566}"/>
              </a:ext>
            </a:extLst>
          </p:cNvPr>
          <p:cNvSpPr>
            <a:spLocks noChangeArrowheads="1"/>
          </p:cNvSpPr>
          <p:nvPr/>
        </p:nvSpPr>
        <p:spPr bwMode="auto">
          <a:xfrm>
            <a:off x="7158846" y="39671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solidFill>
                  <a:srgbClr val="3333FF"/>
                </a:solidFill>
                <a:latin typeface="Consolas" pitchFamily="49" charset="0"/>
                <a:ea typeface="楷体_GB2312" pitchFamily="49" charset="-122"/>
                <a:cs typeface="Consolas" pitchFamily="49" charset="0"/>
              </a:rPr>
              <a:t>90</a:t>
            </a:r>
          </a:p>
        </p:txBody>
      </p:sp>
      <p:sp>
        <p:nvSpPr>
          <p:cNvPr id="11" name="Oval 8">
            <a:extLst>
              <a:ext uri="{FF2B5EF4-FFF2-40B4-BE49-F238E27FC236}">
                <a16:creationId xmlns:a16="http://schemas.microsoft.com/office/drawing/2014/main" id="{5F2059DC-8DFC-9E6B-C1ED-0F215610EF55}"/>
              </a:ext>
            </a:extLst>
          </p:cNvPr>
          <p:cNvSpPr>
            <a:spLocks noChangeArrowheads="1"/>
          </p:cNvSpPr>
          <p:nvPr/>
        </p:nvSpPr>
        <p:spPr bwMode="auto">
          <a:xfrm>
            <a:off x="6320646" y="48053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85</a:t>
            </a:r>
          </a:p>
        </p:txBody>
      </p:sp>
      <p:sp>
        <p:nvSpPr>
          <p:cNvPr id="12" name="Oval 9">
            <a:extLst>
              <a:ext uri="{FF2B5EF4-FFF2-40B4-BE49-F238E27FC236}">
                <a16:creationId xmlns:a16="http://schemas.microsoft.com/office/drawing/2014/main" id="{4AE23F43-1D4A-E8A1-F8BC-70A152D5C46E}"/>
              </a:ext>
            </a:extLst>
          </p:cNvPr>
          <p:cNvSpPr>
            <a:spLocks noChangeArrowheads="1"/>
          </p:cNvSpPr>
          <p:nvPr/>
        </p:nvSpPr>
        <p:spPr bwMode="auto">
          <a:xfrm>
            <a:off x="4263246" y="39671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40</a:t>
            </a:r>
          </a:p>
        </p:txBody>
      </p:sp>
      <p:sp>
        <p:nvSpPr>
          <p:cNvPr id="13" name="Oval 10">
            <a:extLst>
              <a:ext uri="{FF2B5EF4-FFF2-40B4-BE49-F238E27FC236}">
                <a16:creationId xmlns:a16="http://schemas.microsoft.com/office/drawing/2014/main" id="{F33EEAA7-167F-A0FB-BC7D-69ACA939A4A7}"/>
              </a:ext>
            </a:extLst>
          </p:cNvPr>
          <p:cNvSpPr>
            <a:spLocks noChangeArrowheads="1"/>
          </p:cNvSpPr>
          <p:nvPr/>
        </p:nvSpPr>
        <p:spPr bwMode="auto">
          <a:xfrm>
            <a:off x="3348846" y="48053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35</a:t>
            </a:r>
          </a:p>
        </p:txBody>
      </p:sp>
      <p:sp>
        <p:nvSpPr>
          <p:cNvPr id="14" name="Oval 11">
            <a:extLst>
              <a:ext uri="{FF2B5EF4-FFF2-40B4-BE49-F238E27FC236}">
                <a16:creationId xmlns:a16="http://schemas.microsoft.com/office/drawing/2014/main" id="{1425E560-7D96-92D6-0F92-E25E35407A54}"/>
              </a:ext>
            </a:extLst>
          </p:cNvPr>
          <p:cNvSpPr>
            <a:spLocks noChangeArrowheads="1"/>
          </p:cNvSpPr>
          <p:nvPr/>
        </p:nvSpPr>
        <p:spPr bwMode="auto">
          <a:xfrm>
            <a:off x="7616046" y="56435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88</a:t>
            </a:r>
          </a:p>
        </p:txBody>
      </p:sp>
      <p:sp>
        <p:nvSpPr>
          <p:cNvPr id="15" name="Line 12">
            <a:extLst>
              <a:ext uri="{FF2B5EF4-FFF2-40B4-BE49-F238E27FC236}">
                <a16:creationId xmlns:a16="http://schemas.microsoft.com/office/drawing/2014/main" id="{49B415D0-858F-62A9-4305-B42F95540BD1}"/>
              </a:ext>
            </a:extLst>
          </p:cNvPr>
          <p:cNvSpPr>
            <a:spLocks noChangeShapeType="1"/>
          </p:cNvSpPr>
          <p:nvPr/>
        </p:nvSpPr>
        <p:spPr bwMode="auto">
          <a:xfrm flipH="1">
            <a:off x="3791744" y="3052770"/>
            <a:ext cx="776302" cy="37623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6" name="Freeform 13">
            <a:extLst>
              <a:ext uri="{FF2B5EF4-FFF2-40B4-BE49-F238E27FC236}">
                <a16:creationId xmlns:a16="http://schemas.microsoft.com/office/drawing/2014/main" id="{9A27E1EA-FDF5-145B-E22B-AD68C0F228CF}"/>
              </a:ext>
            </a:extLst>
          </p:cNvPr>
          <p:cNvSpPr>
            <a:spLocks/>
          </p:cNvSpPr>
          <p:nvPr/>
        </p:nvSpPr>
        <p:spPr bwMode="auto">
          <a:xfrm>
            <a:off x="2586846" y="3662370"/>
            <a:ext cx="558800" cy="381000"/>
          </a:xfrm>
          <a:custGeom>
            <a:avLst/>
            <a:gdLst>
              <a:gd name="T0" fmla="*/ 352 w 352"/>
              <a:gd name="T1" fmla="*/ 0 h 240"/>
              <a:gd name="T2" fmla="*/ 0 w 352"/>
              <a:gd name="T3" fmla="*/ 240 h 240"/>
              <a:gd name="T4" fmla="*/ 0 60000 65536"/>
              <a:gd name="T5" fmla="*/ 0 60000 65536"/>
              <a:gd name="T6" fmla="*/ 0 w 352"/>
              <a:gd name="T7" fmla="*/ 0 h 240"/>
              <a:gd name="T8" fmla="*/ 352 w 352"/>
              <a:gd name="T9" fmla="*/ 240 h 240"/>
            </a:gdLst>
            <a:ahLst/>
            <a:cxnLst>
              <a:cxn ang="T4">
                <a:pos x="T0" y="T1"/>
              </a:cxn>
              <a:cxn ang="T5">
                <a:pos x="T2" y="T3"/>
              </a:cxn>
            </a:cxnLst>
            <a:rect l="T6" t="T7" r="T8" b="T9"/>
            <a:pathLst>
              <a:path w="352" h="240">
                <a:moveTo>
                  <a:pt x="352" y="0"/>
                </a:moveTo>
                <a:lnTo>
                  <a:pt x="0" y="24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7" name="Line 14">
            <a:extLst>
              <a:ext uri="{FF2B5EF4-FFF2-40B4-BE49-F238E27FC236}">
                <a16:creationId xmlns:a16="http://schemas.microsoft.com/office/drawing/2014/main" id="{23B68A83-E991-C2D7-87D8-3DFF8FDFCDC5}"/>
              </a:ext>
            </a:extLst>
          </p:cNvPr>
          <p:cNvSpPr>
            <a:spLocks noChangeShapeType="1"/>
          </p:cNvSpPr>
          <p:nvPr/>
        </p:nvSpPr>
        <p:spPr bwMode="auto">
          <a:xfrm>
            <a:off x="5253846" y="3052770"/>
            <a:ext cx="7620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8" name="Line 15">
            <a:extLst>
              <a:ext uri="{FF2B5EF4-FFF2-40B4-BE49-F238E27FC236}">
                <a16:creationId xmlns:a16="http://schemas.microsoft.com/office/drawing/2014/main" id="{E35D10EA-4EA0-6907-E150-1867BC41A2E5}"/>
              </a:ext>
            </a:extLst>
          </p:cNvPr>
          <p:cNvSpPr>
            <a:spLocks noChangeShapeType="1"/>
          </p:cNvSpPr>
          <p:nvPr/>
        </p:nvSpPr>
        <p:spPr bwMode="auto">
          <a:xfrm>
            <a:off x="3791744" y="3714752"/>
            <a:ext cx="547702" cy="328618"/>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9" name="Line 16">
            <a:extLst>
              <a:ext uri="{FF2B5EF4-FFF2-40B4-BE49-F238E27FC236}">
                <a16:creationId xmlns:a16="http://schemas.microsoft.com/office/drawing/2014/main" id="{32CA68B3-476D-D337-2EDD-30CA3B8A6E7D}"/>
              </a:ext>
            </a:extLst>
          </p:cNvPr>
          <p:cNvSpPr>
            <a:spLocks noChangeShapeType="1"/>
          </p:cNvSpPr>
          <p:nvPr/>
        </p:nvSpPr>
        <p:spPr bwMode="auto">
          <a:xfrm flipH="1">
            <a:off x="3806046" y="4424370"/>
            <a:ext cx="5334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0" name="Line 17">
            <a:extLst>
              <a:ext uri="{FF2B5EF4-FFF2-40B4-BE49-F238E27FC236}">
                <a16:creationId xmlns:a16="http://schemas.microsoft.com/office/drawing/2014/main" id="{7378F462-408A-5191-B961-6C7B1C10765A}"/>
              </a:ext>
            </a:extLst>
          </p:cNvPr>
          <p:cNvSpPr>
            <a:spLocks noChangeShapeType="1"/>
          </p:cNvSpPr>
          <p:nvPr/>
        </p:nvSpPr>
        <p:spPr bwMode="auto">
          <a:xfrm>
            <a:off x="6625446" y="3738570"/>
            <a:ext cx="609600" cy="3048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1" name="Freeform 18">
            <a:extLst>
              <a:ext uri="{FF2B5EF4-FFF2-40B4-BE49-F238E27FC236}">
                <a16:creationId xmlns:a16="http://schemas.microsoft.com/office/drawing/2014/main" id="{776931E9-8E97-890A-2BA7-8AF96D738B3C}"/>
              </a:ext>
            </a:extLst>
          </p:cNvPr>
          <p:cNvSpPr>
            <a:spLocks/>
          </p:cNvSpPr>
          <p:nvPr/>
        </p:nvSpPr>
        <p:spPr bwMode="auto">
          <a:xfrm>
            <a:off x="6866746" y="4373570"/>
            <a:ext cx="368300" cy="469900"/>
          </a:xfrm>
          <a:custGeom>
            <a:avLst/>
            <a:gdLst>
              <a:gd name="T0" fmla="*/ 232 w 232"/>
              <a:gd name="T1" fmla="*/ 0 h 296"/>
              <a:gd name="T2" fmla="*/ 0 w 232"/>
              <a:gd name="T3" fmla="*/ 296 h 296"/>
              <a:gd name="T4" fmla="*/ 0 60000 65536"/>
              <a:gd name="T5" fmla="*/ 0 60000 65536"/>
              <a:gd name="T6" fmla="*/ 0 w 232"/>
              <a:gd name="T7" fmla="*/ 0 h 296"/>
              <a:gd name="T8" fmla="*/ 232 w 232"/>
              <a:gd name="T9" fmla="*/ 296 h 296"/>
            </a:gdLst>
            <a:ahLst/>
            <a:cxnLst>
              <a:cxn ang="T4">
                <a:pos x="T0" y="T1"/>
              </a:cxn>
              <a:cxn ang="T5">
                <a:pos x="T2" y="T3"/>
              </a:cxn>
            </a:cxnLst>
            <a:rect l="T6" t="T7" r="T8" b="T9"/>
            <a:pathLst>
              <a:path w="232" h="296">
                <a:moveTo>
                  <a:pt x="232" y="0"/>
                </a:moveTo>
                <a:lnTo>
                  <a:pt x="0" y="296"/>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2" name="Freeform 19">
            <a:extLst>
              <a:ext uri="{FF2B5EF4-FFF2-40B4-BE49-F238E27FC236}">
                <a16:creationId xmlns:a16="http://schemas.microsoft.com/office/drawing/2014/main" id="{342315FA-40ED-2145-F17C-2B7878A5DC78}"/>
              </a:ext>
            </a:extLst>
          </p:cNvPr>
          <p:cNvSpPr>
            <a:spLocks/>
          </p:cNvSpPr>
          <p:nvPr/>
        </p:nvSpPr>
        <p:spPr bwMode="auto">
          <a:xfrm>
            <a:off x="6981046" y="5186370"/>
            <a:ext cx="711200" cy="533400"/>
          </a:xfrm>
          <a:custGeom>
            <a:avLst/>
            <a:gdLst>
              <a:gd name="T0" fmla="*/ 0 w 448"/>
              <a:gd name="T1" fmla="*/ 0 h 336"/>
              <a:gd name="T2" fmla="*/ 448 w 448"/>
              <a:gd name="T3" fmla="*/ 336 h 336"/>
              <a:gd name="T4" fmla="*/ 0 60000 65536"/>
              <a:gd name="T5" fmla="*/ 0 60000 65536"/>
              <a:gd name="T6" fmla="*/ 0 w 448"/>
              <a:gd name="T7" fmla="*/ 0 h 336"/>
              <a:gd name="T8" fmla="*/ 448 w 448"/>
              <a:gd name="T9" fmla="*/ 336 h 336"/>
            </a:gdLst>
            <a:ahLst/>
            <a:cxnLst>
              <a:cxn ang="T4">
                <a:pos x="T0" y="T1"/>
              </a:cxn>
              <a:cxn ang="T5">
                <a:pos x="T2" y="T3"/>
              </a:cxn>
            </a:cxnLst>
            <a:rect l="T6" t="T7" r="T8" b="T9"/>
            <a:pathLst>
              <a:path w="448" h="336">
                <a:moveTo>
                  <a:pt x="0" y="0"/>
                </a:moveTo>
                <a:lnTo>
                  <a:pt x="448" y="336"/>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3" name="Oval 20">
            <a:extLst>
              <a:ext uri="{FF2B5EF4-FFF2-40B4-BE49-F238E27FC236}">
                <a16:creationId xmlns:a16="http://schemas.microsoft.com/office/drawing/2014/main" id="{1DBBF2C2-673D-C149-4C82-E50A45BAE1CF}"/>
              </a:ext>
            </a:extLst>
          </p:cNvPr>
          <p:cNvSpPr>
            <a:spLocks noChangeArrowheads="1"/>
          </p:cNvSpPr>
          <p:nvPr/>
        </p:nvSpPr>
        <p:spPr bwMode="auto">
          <a:xfrm>
            <a:off x="2358246" y="5643570"/>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solidFill>
                  <a:srgbClr val="3333FF"/>
                </a:solidFill>
                <a:latin typeface="Consolas" pitchFamily="49" charset="0"/>
                <a:ea typeface="楷体_GB2312" pitchFamily="49" charset="-122"/>
                <a:cs typeface="Consolas" pitchFamily="49" charset="0"/>
              </a:rPr>
              <a:t>32</a:t>
            </a:r>
          </a:p>
        </p:txBody>
      </p:sp>
      <p:sp>
        <p:nvSpPr>
          <p:cNvPr id="24" name="Freeform 21">
            <a:extLst>
              <a:ext uri="{FF2B5EF4-FFF2-40B4-BE49-F238E27FC236}">
                <a16:creationId xmlns:a16="http://schemas.microsoft.com/office/drawing/2014/main" id="{F426BDD9-16CD-35D1-E208-E27DCCF15E2B}"/>
              </a:ext>
            </a:extLst>
          </p:cNvPr>
          <p:cNvSpPr>
            <a:spLocks/>
          </p:cNvSpPr>
          <p:nvPr/>
        </p:nvSpPr>
        <p:spPr bwMode="auto">
          <a:xfrm>
            <a:off x="2866246" y="5160970"/>
            <a:ext cx="520700" cy="508000"/>
          </a:xfrm>
          <a:custGeom>
            <a:avLst/>
            <a:gdLst>
              <a:gd name="T0" fmla="*/ 328 w 328"/>
              <a:gd name="T1" fmla="*/ 0 h 320"/>
              <a:gd name="T2" fmla="*/ 0 w 328"/>
              <a:gd name="T3" fmla="*/ 320 h 320"/>
              <a:gd name="T4" fmla="*/ 0 60000 65536"/>
              <a:gd name="T5" fmla="*/ 0 60000 65536"/>
              <a:gd name="T6" fmla="*/ 0 w 328"/>
              <a:gd name="T7" fmla="*/ 0 h 320"/>
              <a:gd name="T8" fmla="*/ 328 w 328"/>
              <a:gd name="T9" fmla="*/ 320 h 320"/>
            </a:gdLst>
            <a:ahLst/>
            <a:cxnLst>
              <a:cxn ang="T4">
                <a:pos x="T0" y="T1"/>
              </a:cxn>
              <a:cxn ang="T5">
                <a:pos x="T2" y="T3"/>
              </a:cxn>
            </a:cxnLst>
            <a:rect l="T6" t="T7" r="T8" b="T9"/>
            <a:pathLst>
              <a:path w="328" h="320">
                <a:moveTo>
                  <a:pt x="328" y="0"/>
                </a:moveTo>
                <a:lnTo>
                  <a:pt x="0" y="32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5" name="Rectangle 23">
            <a:extLst>
              <a:ext uri="{FF2B5EF4-FFF2-40B4-BE49-F238E27FC236}">
                <a16:creationId xmlns:a16="http://schemas.microsoft.com/office/drawing/2014/main" id="{03864C9D-1C61-A813-1AE1-9B99F7BF5A19}"/>
              </a:ext>
            </a:extLst>
          </p:cNvPr>
          <p:cNvSpPr>
            <a:spLocks noChangeArrowheads="1"/>
          </p:cNvSpPr>
          <p:nvPr/>
        </p:nvSpPr>
        <p:spPr bwMode="auto">
          <a:xfrm>
            <a:off x="1415480" y="2285595"/>
            <a:ext cx="8001056" cy="430246"/>
          </a:xfrm>
          <a:prstGeom prst="rect">
            <a:avLst/>
          </a:prstGeom>
          <a:noFill/>
          <a:ln w="9525">
            <a:noFill/>
            <a:miter lim="800000"/>
            <a:headEnd/>
            <a:tailEnd/>
          </a:ln>
        </p:spPr>
        <p:txBody>
          <a:bodyPr wrap="square">
            <a:spAutoFit/>
          </a:bodyPr>
          <a:lstStyle/>
          <a:p>
            <a:pPr algn="l">
              <a:lnSpc>
                <a:spcPct val="120000"/>
              </a:lnSpc>
            </a:pPr>
            <a:r>
              <a:rPr lang="zh-CN" altLang="en-US" sz="2000" b="1">
                <a:latin typeface="Consolas" pitchFamily="49" charset="0"/>
                <a:ea typeface="华文中宋" pitchFamily="2" charset="-122"/>
                <a:cs typeface="Consolas" pitchFamily="49" charset="0"/>
              </a:rPr>
              <a:t>（</a:t>
            </a:r>
            <a:r>
              <a:rPr lang="en-US" altLang="zh-CN" sz="2000" b="1">
                <a:latin typeface="Consolas" pitchFamily="49" charset="0"/>
                <a:ea typeface="华文中宋" pitchFamily="2" charset="-122"/>
                <a:cs typeface="Consolas" pitchFamily="49" charset="0"/>
              </a:rPr>
              <a:t>3</a:t>
            </a:r>
            <a:r>
              <a:rPr lang="zh-CN" altLang="en-US" sz="2000" b="1">
                <a:latin typeface="Consolas" pitchFamily="49" charset="0"/>
                <a:ea typeface="华文中宋" pitchFamily="2" charset="-122"/>
                <a:cs typeface="Consolas" pitchFamily="49" charset="0"/>
              </a:rPr>
              <a:t>）</a:t>
            </a:r>
            <a:r>
              <a:rPr lang="zh-CN" altLang="en-US" sz="2000" b="1" i="1">
                <a:latin typeface="Consolas" pitchFamily="49" charset="0"/>
                <a:ea typeface="华文中宋" pitchFamily="2" charset="-122"/>
                <a:cs typeface="Consolas" pitchFamily="49" charset="0"/>
              </a:rPr>
              <a:t> </a:t>
            </a:r>
            <a:r>
              <a:rPr lang="zh-CN" altLang="en-US" sz="2000" b="1" dirty="0">
                <a:latin typeface="Consolas" pitchFamily="49" charset="0"/>
                <a:ea typeface="华文中宋" pitchFamily="2" charset="-122"/>
                <a:cs typeface="Consolas" pitchFamily="49" charset="0"/>
              </a:rPr>
              <a:t>被</a:t>
            </a:r>
            <a:r>
              <a:rPr lang="zh-CN" altLang="en-US" sz="2000" b="1">
                <a:latin typeface="Consolas" pitchFamily="49" charset="0"/>
                <a:ea typeface="华文中宋" pitchFamily="2" charset="-122"/>
                <a:cs typeface="Consolas" pitchFamily="49" charset="0"/>
              </a:rPr>
              <a:t>删除的结点只有右子树，用其右孩子替换它（结点替换）。</a:t>
            </a:r>
            <a:endParaRPr lang="zh-CN" altLang="en-US" sz="2000" b="1" dirty="0">
              <a:latin typeface="Consolas" pitchFamily="49" charset="0"/>
              <a:ea typeface="华文中宋" pitchFamily="2" charset="-122"/>
              <a:cs typeface="Consolas" pitchFamily="49" charset="0"/>
            </a:endParaRPr>
          </a:p>
        </p:txBody>
      </p:sp>
      <p:sp>
        <p:nvSpPr>
          <p:cNvPr id="26" name="Line 26">
            <a:extLst>
              <a:ext uri="{FF2B5EF4-FFF2-40B4-BE49-F238E27FC236}">
                <a16:creationId xmlns:a16="http://schemas.microsoft.com/office/drawing/2014/main" id="{8171D1EC-B0F6-BCC7-B10A-6DF4C41153F9}"/>
              </a:ext>
            </a:extLst>
          </p:cNvPr>
          <p:cNvSpPr>
            <a:spLocks noChangeShapeType="1"/>
          </p:cNvSpPr>
          <p:nvPr/>
        </p:nvSpPr>
        <p:spPr bwMode="auto">
          <a:xfrm>
            <a:off x="5253846" y="3052770"/>
            <a:ext cx="1981200" cy="990600"/>
          </a:xfrm>
          <a:prstGeom prst="line">
            <a:avLst/>
          </a:prstGeom>
          <a:noFill/>
          <a:ln w="63500">
            <a:solidFill>
              <a:srgbClr val="3333FF"/>
            </a:solidFill>
            <a:round/>
            <a:headEnd/>
            <a:tailEnd type="triangle" w="med" len="lg"/>
          </a:ln>
        </p:spPr>
        <p:txBody>
          <a:bodyPr wrap="none" anchor="ctr"/>
          <a:lstStyle/>
          <a:p>
            <a:endParaRPr lang="zh-CN" altLang="en-US" sz="1800">
              <a:latin typeface="Consolas" pitchFamily="49" charset="0"/>
              <a:cs typeface="Consolas" pitchFamily="49" charset="0"/>
            </a:endParaRPr>
          </a:p>
        </p:txBody>
      </p:sp>
      <p:sp useBgFill="1">
        <p:nvSpPr>
          <p:cNvPr id="27" name="Rectangle 27">
            <a:extLst>
              <a:ext uri="{FF2B5EF4-FFF2-40B4-BE49-F238E27FC236}">
                <a16:creationId xmlns:a16="http://schemas.microsoft.com/office/drawing/2014/main" id="{608A0C80-5AFF-D853-DA67-60DAA4D71E0E}"/>
              </a:ext>
            </a:extLst>
          </p:cNvPr>
          <p:cNvSpPr>
            <a:spLocks noChangeArrowheads="1"/>
          </p:cNvSpPr>
          <p:nvPr/>
        </p:nvSpPr>
        <p:spPr bwMode="auto">
          <a:xfrm>
            <a:off x="5882502" y="3205170"/>
            <a:ext cx="838200" cy="685800"/>
          </a:xfrm>
          <a:prstGeom prst="rect">
            <a:avLst/>
          </a:prstGeom>
          <a:ln w="9525">
            <a:solidFill>
              <a:schemeClr val="bg1"/>
            </a:solidFill>
            <a:miter lim="800000"/>
            <a:headEnd/>
            <a:tailEnd/>
          </a:ln>
        </p:spPr>
        <p:txBody>
          <a:bodyPr wrap="none" anchor="ctr"/>
          <a:lstStyle/>
          <a:p>
            <a:endParaRPr lang="zh-CN" altLang="en-US" sz="1800">
              <a:latin typeface="Consolas" pitchFamily="49" charset="0"/>
              <a:cs typeface="Consolas" pitchFamily="49" charset="0"/>
            </a:endParaRPr>
          </a:p>
        </p:txBody>
      </p:sp>
      <p:sp>
        <p:nvSpPr>
          <p:cNvPr id="28" name="Line 28">
            <a:extLst>
              <a:ext uri="{FF2B5EF4-FFF2-40B4-BE49-F238E27FC236}">
                <a16:creationId xmlns:a16="http://schemas.microsoft.com/office/drawing/2014/main" id="{C958BA4C-89DF-88A8-BD00-C4B73FD2CD04}"/>
              </a:ext>
            </a:extLst>
          </p:cNvPr>
          <p:cNvSpPr>
            <a:spLocks noChangeShapeType="1"/>
          </p:cNvSpPr>
          <p:nvPr/>
        </p:nvSpPr>
        <p:spPr bwMode="auto">
          <a:xfrm>
            <a:off x="5253846" y="3052770"/>
            <a:ext cx="1981200" cy="990600"/>
          </a:xfrm>
          <a:prstGeom prst="line">
            <a:avLst/>
          </a:prstGeom>
          <a:noFill/>
          <a:ln w="63500">
            <a:solidFill>
              <a:srgbClr val="FF0000"/>
            </a:solidFill>
            <a:round/>
            <a:headEnd/>
            <a:tailEnd type="triangle" w="med" len="lg"/>
          </a:ln>
        </p:spPr>
        <p:txBody>
          <a:bodyPr wrap="none" anchor="ctr"/>
          <a:lstStyle/>
          <a:p>
            <a:endParaRPr lang="zh-CN" altLang="en-US" sz="1800">
              <a:latin typeface="Consolas" pitchFamily="49" charset="0"/>
              <a:cs typeface="Consolas" pitchFamily="49" charset="0"/>
            </a:endParaRPr>
          </a:p>
        </p:txBody>
      </p:sp>
      <p:sp>
        <p:nvSpPr>
          <p:cNvPr id="29" name="Text Box 29">
            <a:extLst>
              <a:ext uri="{FF2B5EF4-FFF2-40B4-BE49-F238E27FC236}">
                <a16:creationId xmlns:a16="http://schemas.microsoft.com/office/drawing/2014/main" id="{CB5092EF-9BA4-4EE5-6B59-364D3FCD5CC6}"/>
              </a:ext>
            </a:extLst>
          </p:cNvPr>
          <p:cNvSpPr txBox="1">
            <a:spLocks noChangeArrowheads="1"/>
          </p:cNvSpPr>
          <p:nvPr/>
        </p:nvSpPr>
        <p:spPr bwMode="auto">
          <a:xfrm>
            <a:off x="1741713" y="6386727"/>
            <a:ext cx="7643866" cy="461665"/>
          </a:xfrm>
          <a:prstGeom prst="rect">
            <a:avLst/>
          </a:prstGeom>
          <a:noFill/>
          <a:ln w="9525">
            <a:solidFill>
              <a:schemeClr val="bg1"/>
            </a:solidFill>
            <a:miter lim="800000"/>
            <a:headEnd/>
            <a:tailEnd/>
          </a:ln>
        </p:spPr>
        <p:txBody>
          <a:bodyPr wrap="square">
            <a:spAutoFit/>
          </a:bodyPr>
          <a:lstStyle/>
          <a:p>
            <a:pPr algn="l">
              <a:lnSpc>
                <a:spcPct val="120000"/>
              </a:lnSpc>
              <a:spcBef>
                <a:spcPct val="50000"/>
              </a:spcBef>
            </a:pPr>
            <a:r>
              <a:rPr lang="zh-CN" altLang="en-US" sz="2000" b="1">
                <a:solidFill>
                  <a:srgbClr val="3333FF"/>
                </a:solidFill>
                <a:latin typeface="Consolas" pitchFamily="49" charset="0"/>
                <a:ea typeface="仿宋" pitchFamily="49" charset="-122"/>
                <a:cs typeface="Consolas" pitchFamily="49" charset="0"/>
              </a:rPr>
              <a:t>其双亲结点的</a:t>
            </a:r>
            <a:r>
              <a:rPr lang="zh-CN" altLang="en-US" sz="2000" b="1" dirty="0">
                <a:solidFill>
                  <a:srgbClr val="3333FF"/>
                </a:solidFill>
                <a:latin typeface="Consolas" pitchFamily="49" charset="0"/>
                <a:ea typeface="仿宋" pitchFamily="49" charset="-122"/>
                <a:cs typeface="Consolas" pitchFamily="49" charset="0"/>
              </a:rPr>
              <a:t>相应指针域的值</a:t>
            </a:r>
            <a:r>
              <a:rPr lang="zh-CN" altLang="en-US" sz="2000" b="1">
                <a:solidFill>
                  <a:srgbClr val="3333FF"/>
                </a:solidFill>
                <a:latin typeface="Consolas" pitchFamily="49" charset="0"/>
                <a:ea typeface="仿宋" pitchFamily="49" charset="-122"/>
                <a:cs typeface="Consolas" pitchFamily="49" charset="0"/>
              </a:rPr>
              <a:t>改为“</a:t>
            </a:r>
            <a:r>
              <a:rPr lang="zh-CN" altLang="en-US" sz="2000" b="1" dirty="0">
                <a:solidFill>
                  <a:srgbClr val="3333FF"/>
                </a:solidFill>
                <a:latin typeface="Consolas" pitchFamily="49" charset="0"/>
                <a:ea typeface="仿宋" pitchFamily="49" charset="-122"/>
                <a:cs typeface="Consolas" pitchFamily="49" charset="0"/>
              </a:rPr>
              <a:t>指向</a:t>
            </a:r>
            <a:r>
              <a:rPr lang="zh-CN" altLang="en-US" sz="2000" b="1">
                <a:solidFill>
                  <a:srgbClr val="3333FF"/>
                </a:solidFill>
                <a:latin typeface="Consolas" pitchFamily="49" charset="0"/>
                <a:ea typeface="仿宋" pitchFamily="49" charset="-122"/>
                <a:cs typeface="Consolas" pitchFamily="49" charset="0"/>
              </a:rPr>
              <a:t>被删除结点的右孩子”。</a:t>
            </a:r>
            <a:endParaRPr lang="zh-CN" altLang="en-US" sz="2000" dirty="0">
              <a:solidFill>
                <a:srgbClr val="3333FF"/>
              </a:solidFill>
              <a:latin typeface="Consolas" pitchFamily="49" charset="0"/>
              <a:ea typeface="仿宋" pitchFamily="49" charset="-122"/>
              <a:cs typeface="Consolas" pitchFamily="49" charset="0"/>
            </a:endParaRPr>
          </a:p>
        </p:txBody>
      </p:sp>
      <p:sp>
        <p:nvSpPr>
          <p:cNvPr id="30" name="Text Box 30">
            <a:extLst>
              <a:ext uri="{FF2B5EF4-FFF2-40B4-BE49-F238E27FC236}">
                <a16:creationId xmlns:a16="http://schemas.microsoft.com/office/drawing/2014/main" id="{47ACDD33-7DAF-0030-71BD-A40D362775B0}"/>
              </a:ext>
            </a:extLst>
          </p:cNvPr>
          <p:cNvSpPr txBox="1">
            <a:spLocks noChangeArrowheads="1"/>
          </p:cNvSpPr>
          <p:nvPr/>
        </p:nvSpPr>
        <p:spPr bwMode="auto">
          <a:xfrm>
            <a:off x="6544722" y="2998103"/>
            <a:ext cx="1898277" cy="400110"/>
          </a:xfrm>
          <a:prstGeom prst="rect">
            <a:avLst/>
          </a:prstGeom>
          <a:noFill/>
          <a:ln w="9525">
            <a:solidFill>
              <a:schemeClr val="bg1"/>
            </a:solid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被删关</a:t>
            </a:r>
            <a:r>
              <a:rPr lang="zh-CN" altLang="en-US" sz="2000" b="1">
                <a:solidFill>
                  <a:srgbClr val="3333FF"/>
                </a:solidFill>
                <a:latin typeface="Consolas" pitchFamily="49" charset="0"/>
                <a:ea typeface="楷体" pitchFamily="49" charset="-122"/>
                <a:cs typeface="Consolas" pitchFamily="49" charset="0"/>
              </a:rPr>
              <a:t>键字</a:t>
            </a:r>
            <a:r>
              <a:rPr lang="en-US" altLang="zh-CN" sz="2000" b="1">
                <a:solidFill>
                  <a:srgbClr val="3333FF"/>
                </a:solidFill>
                <a:latin typeface="Consolas" pitchFamily="49" charset="0"/>
                <a:ea typeface="楷体" pitchFamily="49" charset="-122"/>
                <a:cs typeface="Consolas" pitchFamily="49" charset="0"/>
              </a:rPr>
              <a:t>=80</a:t>
            </a:r>
            <a:endParaRPr lang="en-US" altLang="zh-CN" sz="2000" dirty="0">
              <a:solidFill>
                <a:srgbClr val="3333FF"/>
              </a:solidFill>
              <a:latin typeface="Consolas" pitchFamily="49" charset="0"/>
              <a:ea typeface="楷体" pitchFamily="49" charset="-122"/>
              <a:cs typeface="Consolas" pitchFamily="49" charset="0"/>
            </a:endParaRPr>
          </a:p>
        </p:txBody>
      </p:sp>
      <p:sp>
        <p:nvSpPr>
          <p:cNvPr id="31" name="Text Box 25">
            <a:extLst>
              <a:ext uri="{FF2B5EF4-FFF2-40B4-BE49-F238E27FC236}">
                <a16:creationId xmlns:a16="http://schemas.microsoft.com/office/drawing/2014/main" id="{C0407860-47D5-E916-E57C-7CFF8DF27AE4}"/>
              </a:ext>
            </a:extLst>
          </p:cNvPr>
          <p:cNvSpPr txBox="1">
            <a:spLocks noChangeArrowheads="1"/>
          </p:cNvSpPr>
          <p:nvPr/>
        </p:nvSpPr>
        <p:spPr bwMode="auto">
          <a:xfrm>
            <a:off x="1986984" y="3247326"/>
            <a:ext cx="841897" cy="400110"/>
          </a:xfrm>
          <a:prstGeom prst="rect">
            <a:avLst/>
          </a:prstGeom>
          <a:noFill/>
          <a:ln w="9525">
            <a:no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例如</a:t>
            </a:r>
            <a:r>
              <a:rPr lang="en-US" altLang="zh-CN" sz="2000" b="1" dirty="0">
                <a:solidFill>
                  <a:srgbClr val="3333FF"/>
                </a:solidFill>
                <a:latin typeface="Consolas" pitchFamily="49" charset="0"/>
                <a:ea typeface="楷体" pitchFamily="49" charset="-122"/>
                <a:cs typeface="Consolas" pitchFamily="49" charset="0"/>
              </a:rPr>
              <a:t>:</a:t>
            </a:r>
            <a:endParaRPr lang="en-US" altLang="zh-CN" sz="2000" dirty="0">
              <a:solidFill>
                <a:srgbClr val="3333FF"/>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24123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up)">
                                      <p:cBhvr>
                                        <p:cTn id="16" dur="500"/>
                                        <p:tgtEl>
                                          <p:spTgt spid="27"/>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autoUpdateAnimBg="0"/>
      <p:bldP spid="30"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B3C5A-65E5-6466-9107-35B51682037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998405C-A9F4-302C-D588-7EDA16D2820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D41EAA9A-0C9D-35D1-5B0F-0BFF38FB058B}"/>
              </a:ext>
            </a:extLst>
          </p:cNvPr>
          <p:cNvSpPr/>
          <p:nvPr/>
        </p:nvSpPr>
        <p:spPr>
          <a:xfrm>
            <a:off x="255372" y="1152249"/>
            <a:ext cx="3464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9.3.1 </a:t>
            </a:r>
            <a:r>
              <a:rPr lang="zh-CN" altLang="en-US" sz="2800" b="1" dirty="0">
                <a:solidFill>
                  <a:schemeClr val="bg1"/>
                </a:solidFill>
                <a:latin typeface="经典粗黑简" pitchFamily="49" charset="-122"/>
                <a:ea typeface="经典粗黑简" pitchFamily="49" charset="-122"/>
                <a:cs typeface="经典粗黑简" pitchFamily="49" charset="-122"/>
              </a:rPr>
              <a:t>二叉排序树</a:t>
            </a:r>
          </a:p>
        </p:txBody>
      </p:sp>
      <p:cxnSp>
        <p:nvCxnSpPr>
          <p:cNvPr id="4" name="直接连接符 3">
            <a:extLst>
              <a:ext uri="{FF2B5EF4-FFF2-40B4-BE49-F238E27FC236}">
                <a16:creationId xmlns:a16="http://schemas.microsoft.com/office/drawing/2014/main" id="{8326B2B7-05F7-14CC-718C-9B69D8EE25E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92D721C7-16CC-4E33-B6A3-1791A3AA5169}"/>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、二叉排序树的删除</a:t>
            </a:r>
          </a:p>
        </p:txBody>
      </p:sp>
      <p:sp>
        <p:nvSpPr>
          <p:cNvPr id="5" name="Oval 3">
            <a:extLst>
              <a:ext uri="{FF2B5EF4-FFF2-40B4-BE49-F238E27FC236}">
                <a16:creationId xmlns:a16="http://schemas.microsoft.com/office/drawing/2014/main" id="{B4E8FF38-5F12-74CB-5E6E-5DC36329E47C}"/>
              </a:ext>
            </a:extLst>
          </p:cNvPr>
          <p:cNvSpPr>
            <a:spLocks noChangeArrowheads="1"/>
          </p:cNvSpPr>
          <p:nvPr/>
        </p:nvSpPr>
        <p:spPr bwMode="auto">
          <a:xfrm>
            <a:off x="4121248" y="2783051"/>
            <a:ext cx="685800" cy="533400"/>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1" dirty="0">
                <a:solidFill>
                  <a:srgbClr val="3333FF"/>
                </a:solidFill>
                <a:latin typeface="Consolas" pitchFamily="49" charset="0"/>
                <a:ea typeface="楷体_GB2312" pitchFamily="49" charset="-122"/>
                <a:cs typeface="Consolas" pitchFamily="49" charset="0"/>
              </a:rPr>
              <a:t>50</a:t>
            </a:r>
          </a:p>
        </p:txBody>
      </p:sp>
      <p:sp>
        <p:nvSpPr>
          <p:cNvPr id="6" name="Oval 4">
            <a:extLst>
              <a:ext uri="{FF2B5EF4-FFF2-40B4-BE49-F238E27FC236}">
                <a16:creationId xmlns:a16="http://schemas.microsoft.com/office/drawing/2014/main" id="{5B156FBB-AE4E-304A-78A6-A93BC0B88B25}"/>
              </a:ext>
            </a:extLst>
          </p:cNvPr>
          <p:cNvSpPr>
            <a:spLocks noChangeArrowheads="1"/>
          </p:cNvSpPr>
          <p:nvPr/>
        </p:nvSpPr>
        <p:spPr bwMode="auto">
          <a:xfrm>
            <a:off x="2673448" y="33164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30</a:t>
            </a:r>
          </a:p>
        </p:txBody>
      </p:sp>
      <p:sp>
        <p:nvSpPr>
          <p:cNvPr id="8" name="Oval 5">
            <a:extLst>
              <a:ext uri="{FF2B5EF4-FFF2-40B4-BE49-F238E27FC236}">
                <a16:creationId xmlns:a16="http://schemas.microsoft.com/office/drawing/2014/main" id="{39248C01-3DA1-3463-9D2D-88B73C417104}"/>
              </a:ext>
            </a:extLst>
          </p:cNvPr>
          <p:cNvSpPr>
            <a:spLocks noChangeArrowheads="1"/>
          </p:cNvSpPr>
          <p:nvPr/>
        </p:nvSpPr>
        <p:spPr bwMode="auto">
          <a:xfrm>
            <a:off x="5569048" y="33164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80</a:t>
            </a:r>
          </a:p>
        </p:txBody>
      </p:sp>
      <p:sp>
        <p:nvSpPr>
          <p:cNvPr id="9" name="Oval 6">
            <a:extLst>
              <a:ext uri="{FF2B5EF4-FFF2-40B4-BE49-F238E27FC236}">
                <a16:creationId xmlns:a16="http://schemas.microsoft.com/office/drawing/2014/main" id="{CF3B7705-E2B9-4574-E1AE-996D3F2A02FE}"/>
              </a:ext>
            </a:extLst>
          </p:cNvPr>
          <p:cNvSpPr>
            <a:spLocks noChangeArrowheads="1"/>
          </p:cNvSpPr>
          <p:nvPr/>
        </p:nvSpPr>
        <p:spPr bwMode="auto">
          <a:xfrm>
            <a:off x="1530448" y="40022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20</a:t>
            </a:r>
          </a:p>
        </p:txBody>
      </p:sp>
      <p:sp>
        <p:nvSpPr>
          <p:cNvPr id="10" name="Oval 7">
            <a:extLst>
              <a:ext uri="{FF2B5EF4-FFF2-40B4-BE49-F238E27FC236}">
                <a16:creationId xmlns:a16="http://schemas.microsoft.com/office/drawing/2014/main" id="{94ABA590-C5FB-A4ED-9CEE-BFB9D505C4EC}"/>
              </a:ext>
            </a:extLst>
          </p:cNvPr>
          <p:cNvSpPr>
            <a:spLocks noChangeArrowheads="1"/>
          </p:cNvSpPr>
          <p:nvPr/>
        </p:nvSpPr>
        <p:spPr bwMode="auto">
          <a:xfrm>
            <a:off x="6712048" y="40022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90</a:t>
            </a:r>
          </a:p>
        </p:txBody>
      </p:sp>
      <p:sp>
        <p:nvSpPr>
          <p:cNvPr id="11" name="Oval 8">
            <a:extLst>
              <a:ext uri="{FF2B5EF4-FFF2-40B4-BE49-F238E27FC236}">
                <a16:creationId xmlns:a16="http://schemas.microsoft.com/office/drawing/2014/main" id="{49FFB054-31C1-33BF-0CCA-BA3B0043147D}"/>
              </a:ext>
            </a:extLst>
          </p:cNvPr>
          <p:cNvSpPr>
            <a:spLocks noChangeArrowheads="1"/>
          </p:cNvSpPr>
          <p:nvPr/>
        </p:nvSpPr>
        <p:spPr bwMode="auto">
          <a:xfrm>
            <a:off x="5873848" y="48404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85</a:t>
            </a:r>
          </a:p>
        </p:txBody>
      </p:sp>
      <p:sp>
        <p:nvSpPr>
          <p:cNvPr id="12" name="Oval 9">
            <a:extLst>
              <a:ext uri="{FF2B5EF4-FFF2-40B4-BE49-F238E27FC236}">
                <a16:creationId xmlns:a16="http://schemas.microsoft.com/office/drawing/2014/main" id="{6C01A8EA-C24D-02B4-2853-E085C3B7701C}"/>
              </a:ext>
            </a:extLst>
          </p:cNvPr>
          <p:cNvSpPr>
            <a:spLocks noChangeArrowheads="1"/>
          </p:cNvSpPr>
          <p:nvPr/>
        </p:nvSpPr>
        <p:spPr bwMode="auto">
          <a:xfrm>
            <a:off x="3816448" y="4002251"/>
            <a:ext cx="685800" cy="53340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1" dirty="0">
                <a:solidFill>
                  <a:srgbClr val="3333FF"/>
                </a:solidFill>
                <a:latin typeface="Consolas" pitchFamily="49" charset="0"/>
                <a:ea typeface="楷体_GB2312" pitchFamily="49" charset="-122"/>
                <a:cs typeface="Consolas" pitchFamily="49" charset="0"/>
              </a:rPr>
              <a:t>40</a:t>
            </a:r>
          </a:p>
        </p:txBody>
      </p:sp>
      <p:sp>
        <p:nvSpPr>
          <p:cNvPr id="13" name="Oval 10">
            <a:extLst>
              <a:ext uri="{FF2B5EF4-FFF2-40B4-BE49-F238E27FC236}">
                <a16:creationId xmlns:a16="http://schemas.microsoft.com/office/drawing/2014/main" id="{04AB479E-BE5E-0303-82CC-C1898699A5DD}"/>
              </a:ext>
            </a:extLst>
          </p:cNvPr>
          <p:cNvSpPr>
            <a:spLocks noChangeArrowheads="1"/>
          </p:cNvSpPr>
          <p:nvPr/>
        </p:nvSpPr>
        <p:spPr bwMode="auto">
          <a:xfrm>
            <a:off x="2902048" y="48404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35</a:t>
            </a:r>
          </a:p>
        </p:txBody>
      </p:sp>
      <p:sp>
        <p:nvSpPr>
          <p:cNvPr id="14" name="Oval 11">
            <a:extLst>
              <a:ext uri="{FF2B5EF4-FFF2-40B4-BE49-F238E27FC236}">
                <a16:creationId xmlns:a16="http://schemas.microsoft.com/office/drawing/2014/main" id="{1ABB9D92-CDA5-663F-57FF-94C33BB55BAB}"/>
              </a:ext>
            </a:extLst>
          </p:cNvPr>
          <p:cNvSpPr>
            <a:spLocks noChangeArrowheads="1"/>
          </p:cNvSpPr>
          <p:nvPr/>
        </p:nvSpPr>
        <p:spPr bwMode="auto">
          <a:xfrm>
            <a:off x="7169248" y="56786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88</a:t>
            </a:r>
          </a:p>
        </p:txBody>
      </p:sp>
      <p:sp>
        <p:nvSpPr>
          <p:cNvPr id="15" name="Line 12">
            <a:extLst>
              <a:ext uri="{FF2B5EF4-FFF2-40B4-BE49-F238E27FC236}">
                <a16:creationId xmlns:a16="http://schemas.microsoft.com/office/drawing/2014/main" id="{D82B4403-68C7-1E11-8FC4-63BF8B874443}"/>
              </a:ext>
            </a:extLst>
          </p:cNvPr>
          <p:cNvSpPr>
            <a:spLocks noChangeShapeType="1"/>
          </p:cNvSpPr>
          <p:nvPr/>
        </p:nvSpPr>
        <p:spPr bwMode="auto">
          <a:xfrm flipH="1">
            <a:off x="3335422" y="3087851"/>
            <a:ext cx="785826" cy="390516"/>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6" name="Line 13">
            <a:extLst>
              <a:ext uri="{FF2B5EF4-FFF2-40B4-BE49-F238E27FC236}">
                <a16:creationId xmlns:a16="http://schemas.microsoft.com/office/drawing/2014/main" id="{0F2D2B38-06CD-6318-1F4E-13024B567CFF}"/>
              </a:ext>
            </a:extLst>
          </p:cNvPr>
          <p:cNvSpPr>
            <a:spLocks noChangeShapeType="1"/>
          </p:cNvSpPr>
          <p:nvPr/>
        </p:nvSpPr>
        <p:spPr bwMode="auto">
          <a:xfrm flipH="1">
            <a:off x="2099856" y="3707499"/>
            <a:ext cx="6096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7" name="Line 14">
            <a:extLst>
              <a:ext uri="{FF2B5EF4-FFF2-40B4-BE49-F238E27FC236}">
                <a16:creationId xmlns:a16="http://schemas.microsoft.com/office/drawing/2014/main" id="{51AF0C45-A3E3-B0C7-D138-62EC3529E993}"/>
              </a:ext>
            </a:extLst>
          </p:cNvPr>
          <p:cNvSpPr>
            <a:spLocks noChangeShapeType="1"/>
          </p:cNvSpPr>
          <p:nvPr/>
        </p:nvSpPr>
        <p:spPr bwMode="auto">
          <a:xfrm>
            <a:off x="4807048" y="3087851"/>
            <a:ext cx="814390" cy="390516"/>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8" name="Line 15">
            <a:extLst>
              <a:ext uri="{FF2B5EF4-FFF2-40B4-BE49-F238E27FC236}">
                <a16:creationId xmlns:a16="http://schemas.microsoft.com/office/drawing/2014/main" id="{12EB5C74-CDD9-BAB3-0105-5399EB1EE746}"/>
              </a:ext>
            </a:extLst>
          </p:cNvPr>
          <p:cNvSpPr>
            <a:spLocks noChangeShapeType="1"/>
          </p:cNvSpPr>
          <p:nvPr/>
        </p:nvSpPr>
        <p:spPr bwMode="auto">
          <a:xfrm>
            <a:off x="3335422" y="3692681"/>
            <a:ext cx="557226" cy="38577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19" name="Line 16">
            <a:extLst>
              <a:ext uri="{FF2B5EF4-FFF2-40B4-BE49-F238E27FC236}">
                <a16:creationId xmlns:a16="http://schemas.microsoft.com/office/drawing/2014/main" id="{5D87F06C-9524-44A9-9A3E-5178C0320E3C}"/>
              </a:ext>
            </a:extLst>
          </p:cNvPr>
          <p:cNvSpPr>
            <a:spLocks noChangeShapeType="1"/>
          </p:cNvSpPr>
          <p:nvPr/>
        </p:nvSpPr>
        <p:spPr bwMode="auto">
          <a:xfrm flipH="1">
            <a:off x="3359248" y="4459451"/>
            <a:ext cx="533400" cy="3810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0" name="Line 17">
            <a:extLst>
              <a:ext uri="{FF2B5EF4-FFF2-40B4-BE49-F238E27FC236}">
                <a16:creationId xmlns:a16="http://schemas.microsoft.com/office/drawing/2014/main" id="{7C0D5385-D8D9-353D-1C19-16FD31BAB09A}"/>
              </a:ext>
            </a:extLst>
          </p:cNvPr>
          <p:cNvSpPr>
            <a:spLocks noChangeShapeType="1"/>
          </p:cNvSpPr>
          <p:nvPr/>
        </p:nvSpPr>
        <p:spPr bwMode="auto">
          <a:xfrm>
            <a:off x="6228888" y="3723411"/>
            <a:ext cx="657236" cy="347658"/>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1" name="Freeform 18">
            <a:extLst>
              <a:ext uri="{FF2B5EF4-FFF2-40B4-BE49-F238E27FC236}">
                <a16:creationId xmlns:a16="http://schemas.microsoft.com/office/drawing/2014/main" id="{921EB6E5-8D06-0ABD-2F3E-F89E5547DBD1}"/>
              </a:ext>
            </a:extLst>
          </p:cNvPr>
          <p:cNvSpPr>
            <a:spLocks/>
          </p:cNvSpPr>
          <p:nvPr/>
        </p:nvSpPr>
        <p:spPr bwMode="auto">
          <a:xfrm>
            <a:off x="6407248" y="4472151"/>
            <a:ext cx="381000" cy="444500"/>
          </a:xfrm>
          <a:custGeom>
            <a:avLst/>
            <a:gdLst>
              <a:gd name="T0" fmla="*/ 240 w 240"/>
              <a:gd name="T1" fmla="*/ 0 h 280"/>
              <a:gd name="T2" fmla="*/ 0 w 240"/>
              <a:gd name="T3" fmla="*/ 280 h 280"/>
              <a:gd name="T4" fmla="*/ 0 60000 65536"/>
              <a:gd name="T5" fmla="*/ 0 60000 65536"/>
              <a:gd name="T6" fmla="*/ 0 w 240"/>
              <a:gd name="T7" fmla="*/ 0 h 280"/>
              <a:gd name="T8" fmla="*/ 240 w 240"/>
              <a:gd name="T9" fmla="*/ 280 h 280"/>
            </a:gdLst>
            <a:ahLst/>
            <a:cxnLst>
              <a:cxn ang="T4">
                <a:pos x="T0" y="T1"/>
              </a:cxn>
              <a:cxn ang="T5">
                <a:pos x="T2" y="T3"/>
              </a:cxn>
            </a:cxnLst>
            <a:rect l="T6" t="T7" r="T8" b="T9"/>
            <a:pathLst>
              <a:path w="240" h="280">
                <a:moveTo>
                  <a:pt x="240" y="0"/>
                </a:moveTo>
                <a:lnTo>
                  <a:pt x="0" y="28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2" name="Line 19">
            <a:extLst>
              <a:ext uri="{FF2B5EF4-FFF2-40B4-BE49-F238E27FC236}">
                <a16:creationId xmlns:a16="http://schemas.microsoft.com/office/drawing/2014/main" id="{6AC158CC-856E-B1F7-472D-226EBF3CDD0C}"/>
              </a:ext>
            </a:extLst>
          </p:cNvPr>
          <p:cNvSpPr>
            <a:spLocks noChangeShapeType="1"/>
          </p:cNvSpPr>
          <p:nvPr/>
        </p:nvSpPr>
        <p:spPr bwMode="auto">
          <a:xfrm>
            <a:off x="6483448" y="5297651"/>
            <a:ext cx="762000" cy="457200"/>
          </a:xfrm>
          <a:prstGeom prst="line">
            <a:avLst/>
          </a:pr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3" name="Oval 20">
            <a:extLst>
              <a:ext uri="{FF2B5EF4-FFF2-40B4-BE49-F238E27FC236}">
                <a16:creationId xmlns:a16="http://schemas.microsoft.com/office/drawing/2014/main" id="{870B62E1-2388-76B6-75BD-E82B6268A204}"/>
              </a:ext>
            </a:extLst>
          </p:cNvPr>
          <p:cNvSpPr>
            <a:spLocks noChangeArrowheads="1"/>
          </p:cNvSpPr>
          <p:nvPr/>
        </p:nvSpPr>
        <p:spPr bwMode="auto">
          <a:xfrm>
            <a:off x="1911448" y="5678651"/>
            <a:ext cx="685800" cy="5334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1">
                <a:solidFill>
                  <a:srgbClr val="3333FF"/>
                </a:solidFill>
                <a:latin typeface="Consolas" pitchFamily="49" charset="0"/>
                <a:ea typeface="楷体_GB2312" pitchFamily="49" charset="-122"/>
                <a:cs typeface="Consolas" pitchFamily="49" charset="0"/>
              </a:rPr>
              <a:t>32</a:t>
            </a:r>
          </a:p>
        </p:txBody>
      </p:sp>
      <p:sp>
        <p:nvSpPr>
          <p:cNvPr id="24" name="Freeform 21">
            <a:extLst>
              <a:ext uri="{FF2B5EF4-FFF2-40B4-BE49-F238E27FC236}">
                <a16:creationId xmlns:a16="http://schemas.microsoft.com/office/drawing/2014/main" id="{4C0A6463-648B-6BBA-1847-8927FE374392}"/>
              </a:ext>
            </a:extLst>
          </p:cNvPr>
          <p:cNvSpPr>
            <a:spLocks/>
          </p:cNvSpPr>
          <p:nvPr/>
        </p:nvSpPr>
        <p:spPr bwMode="auto">
          <a:xfrm>
            <a:off x="2368648" y="5234151"/>
            <a:ext cx="558800" cy="444500"/>
          </a:xfrm>
          <a:custGeom>
            <a:avLst/>
            <a:gdLst>
              <a:gd name="T0" fmla="*/ 352 w 352"/>
              <a:gd name="T1" fmla="*/ 0 h 280"/>
              <a:gd name="T2" fmla="*/ 0 w 352"/>
              <a:gd name="T3" fmla="*/ 280 h 280"/>
              <a:gd name="T4" fmla="*/ 0 60000 65536"/>
              <a:gd name="T5" fmla="*/ 0 60000 65536"/>
              <a:gd name="T6" fmla="*/ 0 w 352"/>
              <a:gd name="T7" fmla="*/ 0 h 280"/>
              <a:gd name="T8" fmla="*/ 352 w 352"/>
              <a:gd name="T9" fmla="*/ 280 h 280"/>
            </a:gdLst>
            <a:ahLst/>
            <a:cxnLst>
              <a:cxn ang="T4">
                <a:pos x="T0" y="T1"/>
              </a:cxn>
              <a:cxn ang="T5">
                <a:pos x="T2" y="T3"/>
              </a:cxn>
            </a:cxnLst>
            <a:rect l="T6" t="T7" r="T8" b="T9"/>
            <a:pathLst>
              <a:path w="352" h="280">
                <a:moveTo>
                  <a:pt x="352" y="0"/>
                </a:moveTo>
                <a:lnTo>
                  <a:pt x="0" y="280"/>
                </a:lnTo>
              </a:path>
            </a:pathLst>
          </a:custGeom>
          <a:noFill/>
          <a:ln w="38100">
            <a:solidFill>
              <a:srgbClr val="3333FF"/>
            </a:solidFill>
            <a:round/>
            <a:headEnd/>
            <a:tailEnd/>
          </a:ln>
        </p:spPr>
        <p:txBody>
          <a:bodyPr wrap="none" anchor="ctr"/>
          <a:lstStyle/>
          <a:p>
            <a:endParaRPr lang="zh-CN" altLang="en-US" sz="1800">
              <a:latin typeface="Consolas" pitchFamily="49" charset="0"/>
              <a:cs typeface="Consolas" pitchFamily="49" charset="0"/>
            </a:endParaRPr>
          </a:p>
        </p:txBody>
      </p:sp>
      <p:sp>
        <p:nvSpPr>
          <p:cNvPr id="25" name="Rectangle 23">
            <a:extLst>
              <a:ext uri="{FF2B5EF4-FFF2-40B4-BE49-F238E27FC236}">
                <a16:creationId xmlns:a16="http://schemas.microsoft.com/office/drawing/2014/main" id="{4B1DF288-DE7B-1DBA-1FF7-D38755D76B80}"/>
              </a:ext>
            </a:extLst>
          </p:cNvPr>
          <p:cNvSpPr>
            <a:spLocks noChangeArrowheads="1"/>
          </p:cNvSpPr>
          <p:nvPr/>
        </p:nvSpPr>
        <p:spPr bwMode="auto">
          <a:xfrm>
            <a:off x="1415480" y="2380777"/>
            <a:ext cx="5500726" cy="400110"/>
          </a:xfrm>
          <a:prstGeom prst="rect">
            <a:avLst/>
          </a:prstGeom>
          <a:noFill/>
          <a:ln w="9525">
            <a:solidFill>
              <a:schemeClr val="bg1"/>
            </a:solidFill>
            <a:miter lim="800000"/>
            <a:headEnd/>
            <a:tailEnd/>
          </a:ln>
        </p:spPr>
        <p:txBody>
          <a:bodyPr wrap="square">
            <a:spAutoFit/>
          </a:bodyPr>
          <a:lstStyle/>
          <a:p>
            <a:pPr algn="l"/>
            <a:r>
              <a:rPr lang="zh-CN" altLang="en-US" sz="2000" b="1">
                <a:latin typeface="Consolas" pitchFamily="49" charset="0"/>
                <a:ea typeface="华文中宋" pitchFamily="2" charset="-122"/>
                <a:cs typeface="Consolas" pitchFamily="49" charset="0"/>
              </a:rPr>
              <a:t>（</a:t>
            </a:r>
            <a:r>
              <a:rPr lang="en-US" altLang="zh-CN" sz="2000" b="1">
                <a:latin typeface="Consolas" pitchFamily="49" charset="0"/>
                <a:ea typeface="华文中宋" pitchFamily="2" charset="-122"/>
                <a:cs typeface="Consolas" pitchFamily="49" charset="0"/>
              </a:rPr>
              <a:t>4</a:t>
            </a:r>
            <a:r>
              <a:rPr lang="zh-CN" altLang="en-US" sz="2000" b="1">
                <a:latin typeface="Consolas" pitchFamily="49" charset="0"/>
                <a:ea typeface="华文中宋" pitchFamily="2" charset="-122"/>
                <a:cs typeface="Consolas" pitchFamily="49" charset="0"/>
              </a:rPr>
              <a:t>）</a:t>
            </a:r>
            <a:r>
              <a:rPr lang="zh-CN" altLang="en-US" sz="2000" b="1" dirty="0">
                <a:latin typeface="Consolas" pitchFamily="49" charset="0"/>
                <a:ea typeface="华文中宋" pitchFamily="2" charset="-122"/>
                <a:cs typeface="Consolas" pitchFamily="49" charset="0"/>
              </a:rPr>
              <a:t>被</a:t>
            </a:r>
            <a:r>
              <a:rPr lang="zh-CN" altLang="en-US" sz="2000" b="1">
                <a:latin typeface="Consolas" pitchFamily="49" charset="0"/>
                <a:ea typeface="华文中宋" pitchFamily="2" charset="-122"/>
                <a:cs typeface="Consolas" pitchFamily="49" charset="0"/>
              </a:rPr>
              <a:t>删除的结点既有左子树，也</a:t>
            </a:r>
            <a:r>
              <a:rPr lang="zh-CN" altLang="en-US" sz="2000" b="1" dirty="0">
                <a:latin typeface="Consolas" pitchFamily="49" charset="0"/>
                <a:ea typeface="华文中宋" pitchFamily="2" charset="-122"/>
                <a:cs typeface="Consolas" pitchFamily="49" charset="0"/>
              </a:rPr>
              <a:t>有右子树</a:t>
            </a:r>
          </a:p>
        </p:txBody>
      </p:sp>
      <p:sp>
        <p:nvSpPr>
          <p:cNvPr id="26" name="Oval 24">
            <a:extLst>
              <a:ext uri="{FF2B5EF4-FFF2-40B4-BE49-F238E27FC236}">
                <a16:creationId xmlns:a16="http://schemas.microsoft.com/office/drawing/2014/main" id="{74C21164-7A39-C48C-3676-6C34950F4F8F}"/>
              </a:ext>
            </a:extLst>
          </p:cNvPr>
          <p:cNvSpPr>
            <a:spLocks noChangeArrowheads="1"/>
          </p:cNvSpPr>
          <p:nvPr/>
        </p:nvSpPr>
        <p:spPr bwMode="auto">
          <a:xfrm>
            <a:off x="3810616" y="4002251"/>
            <a:ext cx="685800" cy="533400"/>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1" dirty="0">
                <a:solidFill>
                  <a:srgbClr val="3333FF"/>
                </a:solidFill>
                <a:latin typeface="Consolas" pitchFamily="49" charset="0"/>
                <a:ea typeface="楷体_GB2312" pitchFamily="49" charset="-122"/>
                <a:cs typeface="Consolas" pitchFamily="49" charset="0"/>
              </a:rPr>
              <a:t>40</a:t>
            </a:r>
          </a:p>
        </p:txBody>
      </p:sp>
      <p:sp>
        <p:nvSpPr>
          <p:cNvPr id="27" name="Oval 25">
            <a:extLst>
              <a:ext uri="{FF2B5EF4-FFF2-40B4-BE49-F238E27FC236}">
                <a16:creationId xmlns:a16="http://schemas.microsoft.com/office/drawing/2014/main" id="{477128B5-F577-2A88-3483-1452909B4CE8}"/>
              </a:ext>
            </a:extLst>
          </p:cNvPr>
          <p:cNvSpPr>
            <a:spLocks noChangeArrowheads="1"/>
          </p:cNvSpPr>
          <p:nvPr/>
        </p:nvSpPr>
        <p:spPr bwMode="auto">
          <a:xfrm>
            <a:off x="4121248" y="2789391"/>
            <a:ext cx="685800" cy="533400"/>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1" dirty="0">
                <a:solidFill>
                  <a:srgbClr val="3333FF"/>
                </a:solidFill>
                <a:latin typeface="Consolas" pitchFamily="49" charset="0"/>
                <a:ea typeface="楷体_GB2312" pitchFamily="49" charset="-122"/>
                <a:cs typeface="Consolas" pitchFamily="49" charset="0"/>
              </a:rPr>
              <a:t>40</a:t>
            </a:r>
          </a:p>
        </p:txBody>
      </p:sp>
      <p:sp>
        <p:nvSpPr>
          <p:cNvPr id="28" name="Text Box 39">
            <a:extLst>
              <a:ext uri="{FF2B5EF4-FFF2-40B4-BE49-F238E27FC236}">
                <a16:creationId xmlns:a16="http://schemas.microsoft.com/office/drawing/2014/main" id="{961361BE-5712-CE5D-BBE7-022B75BC8F48}"/>
              </a:ext>
            </a:extLst>
          </p:cNvPr>
          <p:cNvSpPr txBox="1">
            <a:spLocks noChangeArrowheads="1"/>
          </p:cNvSpPr>
          <p:nvPr/>
        </p:nvSpPr>
        <p:spPr bwMode="auto">
          <a:xfrm>
            <a:off x="7831238" y="2343416"/>
            <a:ext cx="4036364" cy="1070678"/>
          </a:xfrm>
          <a:prstGeom prst="rect">
            <a:avLst/>
          </a:prstGeom>
          <a:noFill/>
          <a:ln w="9525">
            <a:solidFill>
              <a:schemeClr val="bg1"/>
            </a:solidFill>
            <a:miter lim="800000"/>
            <a:headEnd/>
            <a:tailEnd/>
          </a:ln>
        </p:spPr>
        <p:txBody>
          <a:bodyPr wrap="square">
            <a:spAutoFit/>
          </a:bodyPr>
          <a:lstStyle/>
          <a:p>
            <a:pPr algn="l">
              <a:lnSpc>
                <a:spcPts val="2600"/>
              </a:lnSpc>
            </a:pPr>
            <a:r>
              <a:rPr lang="zh-CN" altLang="en-US" sz="2000" b="1" dirty="0">
                <a:solidFill>
                  <a:srgbClr val="3333FF"/>
                </a:solidFill>
                <a:latin typeface="Consolas" pitchFamily="49" charset="0"/>
                <a:ea typeface="仿宋" pitchFamily="49" charset="-122"/>
                <a:cs typeface="Consolas" pitchFamily="49" charset="0"/>
              </a:rPr>
              <a:t>    以其</a:t>
            </a:r>
            <a:r>
              <a:rPr lang="zh-CN" altLang="en-US" sz="2000" b="1" dirty="0">
                <a:solidFill>
                  <a:srgbClr val="FF00FF"/>
                </a:solidFill>
                <a:latin typeface="Consolas" pitchFamily="49" charset="0"/>
                <a:ea typeface="仿宋" pitchFamily="49" charset="-122"/>
                <a:cs typeface="Consolas" pitchFamily="49" charset="0"/>
              </a:rPr>
              <a:t>中序前驱值替换</a:t>
            </a:r>
            <a:r>
              <a:rPr lang="zh-CN" altLang="en-US" sz="2000" b="1" dirty="0">
                <a:solidFill>
                  <a:srgbClr val="3333FF"/>
                </a:solidFill>
                <a:latin typeface="Consolas" pitchFamily="49" charset="0"/>
                <a:ea typeface="仿宋" pitchFamily="49" charset="-122"/>
                <a:cs typeface="Consolas" pitchFamily="49" charset="0"/>
              </a:rPr>
              <a:t>之（值替换） ，然后再</a:t>
            </a:r>
            <a:r>
              <a:rPr lang="zh-CN" altLang="en-US" sz="2000" b="1" dirty="0">
                <a:solidFill>
                  <a:srgbClr val="FF00FF"/>
                </a:solidFill>
                <a:latin typeface="Consolas" pitchFamily="49" charset="0"/>
                <a:ea typeface="仿宋" pitchFamily="49" charset="-122"/>
                <a:cs typeface="Consolas" pitchFamily="49" charset="0"/>
              </a:rPr>
              <a:t>删除该前驱结点</a:t>
            </a:r>
            <a:r>
              <a:rPr lang="zh-CN" altLang="en-US" sz="2000" b="1" dirty="0">
                <a:solidFill>
                  <a:srgbClr val="3333FF"/>
                </a:solidFill>
                <a:latin typeface="Consolas" pitchFamily="49" charset="0"/>
                <a:ea typeface="仿宋" pitchFamily="49" charset="-122"/>
                <a:cs typeface="Consolas" pitchFamily="49" charset="0"/>
              </a:rPr>
              <a:t>。前驱是左子树中最大的结点。</a:t>
            </a:r>
          </a:p>
        </p:txBody>
      </p:sp>
      <p:sp>
        <p:nvSpPr>
          <p:cNvPr id="29" name="AutoShape 40">
            <a:extLst>
              <a:ext uri="{FF2B5EF4-FFF2-40B4-BE49-F238E27FC236}">
                <a16:creationId xmlns:a16="http://schemas.microsoft.com/office/drawing/2014/main" id="{98060877-7527-1714-C11F-00D6368C3863}"/>
              </a:ext>
            </a:extLst>
          </p:cNvPr>
          <p:cNvSpPr>
            <a:spLocks noChangeArrowheads="1"/>
          </p:cNvSpPr>
          <p:nvPr/>
        </p:nvSpPr>
        <p:spPr bwMode="auto">
          <a:xfrm>
            <a:off x="3156608" y="3697451"/>
            <a:ext cx="152400" cy="1143000"/>
          </a:xfrm>
          <a:prstGeom prst="downArrow">
            <a:avLst>
              <a:gd name="adj1" fmla="val 50000"/>
              <a:gd name="adj2" fmla="val 187500"/>
            </a:avLst>
          </a:prstGeom>
          <a:solidFill>
            <a:srgbClr val="FF00FF"/>
          </a:solidFill>
          <a:ln w="9525">
            <a:solidFill>
              <a:srgbClr val="3333FF"/>
            </a:solidFill>
            <a:miter lim="800000"/>
            <a:headEnd/>
            <a:tailEnd/>
          </a:ln>
        </p:spPr>
        <p:txBody>
          <a:bodyPr vert="eaVert" wrap="none" anchor="ctr"/>
          <a:lstStyle/>
          <a:p>
            <a:endParaRPr lang="zh-CN" altLang="en-US" sz="1800">
              <a:latin typeface="Consolas" pitchFamily="49" charset="0"/>
              <a:cs typeface="Consolas" pitchFamily="49" charset="0"/>
            </a:endParaRPr>
          </a:p>
        </p:txBody>
      </p:sp>
      <p:sp useBgFill="1">
        <p:nvSpPr>
          <p:cNvPr id="30" name="Rectangle 41">
            <a:extLst>
              <a:ext uri="{FF2B5EF4-FFF2-40B4-BE49-F238E27FC236}">
                <a16:creationId xmlns:a16="http://schemas.microsoft.com/office/drawing/2014/main" id="{77BD1B12-0618-B53A-7782-C0E0465755C9}"/>
              </a:ext>
            </a:extLst>
          </p:cNvPr>
          <p:cNvSpPr>
            <a:spLocks noChangeArrowheads="1"/>
          </p:cNvSpPr>
          <p:nvPr/>
        </p:nvSpPr>
        <p:spPr bwMode="auto">
          <a:xfrm>
            <a:off x="3334320" y="3697451"/>
            <a:ext cx="1295400" cy="1143000"/>
          </a:xfrm>
          <a:prstGeom prst="rect">
            <a:avLst/>
          </a:prstGeom>
          <a:ln w="9525">
            <a:solidFill>
              <a:schemeClr val="bg1"/>
            </a:solidFill>
            <a:miter lim="800000"/>
            <a:headEnd/>
            <a:tailEnd/>
          </a:ln>
        </p:spPr>
        <p:txBody>
          <a:bodyPr wrap="none" anchor="ctr"/>
          <a:lstStyle/>
          <a:p>
            <a:endParaRPr lang="zh-CN" altLang="en-US" sz="1800">
              <a:latin typeface="Consolas" pitchFamily="49" charset="0"/>
              <a:cs typeface="Consolas" pitchFamily="49" charset="0"/>
            </a:endParaRPr>
          </a:p>
        </p:txBody>
      </p:sp>
      <p:sp>
        <p:nvSpPr>
          <p:cNvPr id="31" name="Text Box 46">
            <a:extLst>
              <a:ext uri="{FF2B5EF4-FFF2-40B4-BE49-F238E27FC236}">
                <a16:creationId xmlns:a16="http://schemas.microsoft.com/office/drawing/2014/main" id="{6EF18902-683A-FC1F-BC88-441A101788B8}"/>
              </a:ext>
            </a:extLst>
          </p:cNvPr>
          <p:cNvSpPr txBox="1">
            <a:spLocks noChangeArrowheads="1"/>
          </p:cNvSpPr>
          <p:nvPr/>
        </p:nvSpPr>
        <p:spPr bwMode="auto">
          <a:xfrm>
            <a:off x="5534649" y="2721762"/>
            <a:ext cx="2686050" cy="400110"/>
          </a:xfrm>
          <a:prstGeom prst="rect">
            <a:avLst/>
          </a:prstGeom>
          <a:noFill/>
          <a:ln w="9525">
            <a:solidFill>
              <a:schemeClr val="bg1"/>
            </a:solidFill>
            <a:miter lim="800000"/>
            <a:headEnd/>
            <a:tailEnd/>
          </a:ln>
        </p:spPr>
        <p:txBody>
          <a:bodyPr>
            <a:spAutoFit/>
          </a:bodyPr>
          <a:lstStyle/>
          <a:p>
            <a:pPr algn="l"/>
            <a:r>
              <a:rPr lang="zh-CN" altLang="en-US" sz="2000" b="1" dirty="0">
                <a:solidFill>
                  <a:srgbClr val="3333FF"/>
                </a:solidFill>
                <a:latin typeface="Consolas" pitchFamily="49" charset="0"/>
                <a:ea typeface="楷体" pitchFamily="49" charset="-122"/>
                <a:cs typeface="Consolas" pitchFamily="49" charset="0"/>
              </a:rPr>
              <a:t>被删关键字 </a:t>
            </a:r>
            <a:r>
              <a:rPr lang="en-US" altLang="zh-CN" sz="2000" b="1" dirty="0">
                <a:solidFill>
                  <a:srgbClr val="3333FF"/>
                </a:solidFill>
                <a:latin typeface="Consolas" pitchFamily="49" charset="0"/>
                <a:ea typeface="楷体" pitchFamily="49" charset="-122"/>
                <a:cs typeface="Consolas" pitchFamily="49" charset="0"/>
              </a:rPr>
              <a:t>= 50</a:t>
            </a:r>
          </a:p>
        </p:txBody>
      </p:sp>
      <p:sp>
        <p:nvSpPr>
          <p:cNvPr id="32" name="Text Box 25">
            <a:extLst>
              <a:ext uri="{FF2B5EF4-FFF2-40B4-BE49-F238E27FC236}">
                <a16:creationId xmlns:a16="http://schemas.microsoft.com/office/drawing/2014/main" id="{5F6E558B-52E6-5FD3-20F0-E785C88E3097}"/>
              </a:ext>
            </a:extLst>
          </p:cNvPr>
          <p:cNvSpPr txBox="1">
            <a:spLocks noChangeArrowheads="1"/>
          </p:cNvSpPr>
          <p:nvPr/>
        </p:nvSpPr>
        <p:spPr bwMode="auto">
          <a:xfrm>
            <a:off x="1986984" y="3022363"/>
            <a:ext cx="841897" cy="400110"/>
          </a:xfrm>
          <a:prstGeom prst="rect">
            <a:avLst/>
          </a:prstGeom>
          <a:noFill/>
          <a:ln w="9525">
            <a:noFill/>
            <a:miter lim="800000"/>
            <a:headEnd/>
            <a:tailEnd/>
          </a:ln>
        </p:spPr>
        <p:txBody>
          <a:bodyPr wrap="none">
            <a:spAutoFit/>
          </a:bodyPr>
          <a:lstStyle/>
          <a:p>
            <a:pPr algn="l"/>
            <a:r>
              <a:rPr lang="zh-CN" altLang="en-US" sz="2000" b="1" dirty="0">
                <a:solidFill>
                  <a:srgbClr val="3333FF"/>
                </a:solidFill>
                <a:latin typeface="Consolas" pitchFamily="49" charset="0"/>
                <a:ea typeface="楷体" pitchFamily="49" charset="-122"/>
                <a:cs typeface="Consolas" pitchFamily="49" charset="0"/>
              </a:rPr>
              <a:t>例如</a:t>
            </a:r>
            <a:r>
              <a:rPr lang="en-US" altLang="zh-CN" sz="2000" b="1" dirty="0">
                <a:solidFill>
                  <a:srgbClr val="3333FF"/>
                </a:solidFill>
                <a:latin typeface="Consolas" pitchFamily="49" charset="0"/>
                <a:ea typeface="楷体" pitchFamily="49" charset="-122"/>
                <a:cs typeface="Consolas" pitchFamily="49" charset="0"/>
              </a:rPr>
              <a:t>:</a:t>
            </a:r>
            <a:endParaRPr lang="en-US" altLang="zh-CN" sz="2000" dirty="0">
              <a:solidFill>
                <a:srgbClr val="3333FF"/>
              </a:solidFill>
              <a:latin typeface="Consolas" pitchFamily="49" charset="0"/>
              <a:ea typeface="楷体" pitchFamily="49" charset="-122"/>
              <a:cs typeface="Consolas" pitchFamily="49" charset="0"/>
            </a:endParaRPr>
          </a:p>
        </p:txBody>
      </p:sp>
      <p:sp>
        <p:nvSpPr>
          <p:cNvPr id="33" name="Text Box 4">
            <a:extLst>
              <a:ext uri="{FF2B5EF4-FFF2-40B4-BE49-F238E27FC236}">
                <a16:creationId xmlns:a16="http://schemas.microsoft.com/office/drawing/2014/main" id="{12F3CF4B-BB42-A04E-B607-F1943AE5E60A}"/>
              </a:ext>
            </a:extLst>
          </p:cNvPr>
          <p:cNvSpPr txBox="1">
            <a:spLocks noChangeArrowheads="1"/>
          </p:cNvSpPr>
          <p:nvPr/>
        </p:nvSpPr>
        <p:spPr bwMode="auto">
          <a:xfrm>
            <a:off x="7868064" y="3845973"/>
            <a:ext cx="4226875" cy="1070678"/>
          </a:xfrm>
          <a:prstGeom prst="rect">
            <a:avLst/>
          </a:prstGeom>
          <a:noFill/>
          <a:ln w="9525">
            <a:solidFill>
              <a:schemeClr val="bg1"/>
            </a:solidFill>
            <a:miter lim="800000"/>
            <a:headEnd/>
            <a:tailEnd/>
          </a:ln>
        </p:spPr>
        <p:txBody>
          <a:bodyPr wrap="square">
            <a:spAutoFit/>
          </a:bodyPr>
          <a:lstStyle/>
          <a:p>
            <a:pPr algn="l">
              <a:lnSpc>
                <a:spcPts val="2600"/>
              </a:lnSpc>
            </a:pPr>
            <a:r>
              <a:rPr lang="zh-CN" altLang="en-US" sz="2000" b="1" dirty="0">
                <a:solidFill>
                  <a:srgbClr val="3333FF"/>
                </a:solidFill>
                <a:latin typeface="Consolas" pitchFamily="49" charset="0"/>
                <a:ea typeface="仿宋" pitchFamily="49" charset="-122"/>
                <a:cs typeface="Consolas" pitchFamily="49" charset="0"/>
              </a:rPr>
              <a:t>　　也可以用其后继替换之，然后再删除该后继结点。后继是右子树中最小的结点。</a:t>
            </a:r>
          </a:p>
        </p:txBody>
      </p:sp>
    </p:spTree>
    <p:extLst>
      <p:ext uri="{BB962C8B-B14F-4D97-AF65-F5344CB8AC3E}">
        <p14:creationId xmlns:p14="http://schemas.microsoft.com/office/powerpoint/2010/main" val="355476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up)">
                                      <p:cBhvr>
                                        <p:cTn id="21" dur="500"/>
                                        <p:tgtEl>
                                          <p:spTgt spid="29"/>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up)">
                                      <p:cBhvr>
                                        <p:cTn id="2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autoUpdateAnimBg="0"/>
      <p:bldP spid="27" grpId="0" animBg="1" autoUpdateAnimBg="0"/>
      <p:bldP spid="29" grpId="0" animBg="1"/>
      <p:bldP spid="30" grpId="0" animBg="1"/>
      <p:bldP spid="3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881158" y="2071679"/>
            <a:ext cx="8501122" cy="1372271"/>
          </a:xfrm>
          <a:prstGeom prst="rect">
            <a:avLst/>
          </a:prstGeom>
          <a:solidFill>
            <a:schemeClr val="bg1"/>
          </a:solidFill>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rIns="180000" bIns="108000" rtlCol="0">
            <a:spAutoFit/>
          </a:bodyPr>
          <a:lstStyle/>
          <a:p>
            <a:pPr marL="342900" indent="-342900">
              <a:lnSpc>
                <a:spcPts val="2800"/>
              </a:lnSpc>
              <a:spcBef>
                <a:spcPts val="600"/>
              </a:spcBef>
              <a:buBlip>
                <a:blip r:embed="rId3"/>
              </a:buBlip>
            </a:pPr>
            <a:r>
              <a:rPr lang="zh-CN" altLang="zh-CN" sz="2000" b="1">
                <a:solidFill>
                  <a:srgbClr val="0000FF"/>
                </a:solidFill>
                <a:latin typeface="Consolas" pitchFamily="49" charset="0"/>
                <a:ea typeface="楷体" pitchFamily="49" charset="-122"/>
                <a:cs typeface="Consolas" pitchFamily="49" charset="0"/>
              </a:rPr>
              <a:t>首先找到</a:t>
            </a:r>
            <a:r>
              <a:rPr lang="zh-CN" altLang="en-US" sz="2000" b="1">
                <a:solidFill>
                  <a:srgbClr val="0000FF"/>
                </a:solidFill>
                <a:latin typeface="Consolas" pitchFamily="49" charset="0"/>
                <a:ea typeface="楷体" pitchFamily="49" charset="-122"/>
                <a:cs typeface="Consolas" pitchFamily="49" charset="0"/>
              </a:rPr>
              <a:t>关键字</a:t>
            </a:r>
            <a:r>
              <a:rPr lang="zh-CN" altLang="zh-CN" sz="2000" b="1">
                <a:solidFill>
                  <a:srgbClr val="0000FF"/>
                </a:solidFill>
                <a:latin typeface="Consolas" pitchFamily="49" charset="0"/>
                <a:ea typeface="楷体" pitchFamily="49" charset="-122"/>
                <a:cs typeface="Consolas" pitchFamily="49" charset="0"/>
              </a:rPr>
              <a:t>为</a:t>
            </a:r>
            <a:r>
              <a:rPr lang="en-US" altLang="zh-CN" sz="2000" b="1">
                <a:solidFill>
                  <a:srgbClr val="0000FF"/>
                </a:solidFill>
                <a:latin typeface="Consolas" pitchFamily="49" charset="0"/>
                <a:ea typeface="楷体" pitchFamily="49" charset="-122"/>
                <a:cs typeface="Consolas" pitchFamily="49" charset="0"/>
              </a:rPr>
              <a:t>k</a:t>
            </a:r>
            <a:r>
              <a:rPr lang="zh-CN" altLang="zh-CN" sz="2000" b="1">
                <a:solidFill>
                  <a:srgbClr val="0000FF"/>
                </a:solidFill>
                <a:latin typeface="Consolas" pitchFamily="49" charset="0"/>
                <a:ea typeface="楷体" pitchFamily="49" charset="-122"/>
                <a:cs typeface="Consolas" pitchFamily="49" charset="0"/>
              </a:rPr>
              <a:t>的结点</a:t>
            </a:r>
            <a:r>
              <a:rPr lang="en-US" altLang="zh-CN" sz="2000" b="1" i="1">
                <a:solidFill>
                  <a:srgbClr val="0000FF"/>
                </a:solidFill>
                <a:latin typeface="Consolas" pitchFamily="49" charset="0"/>
                <a:ea typeface="楷体" pitchFamily="49" charset="-122"/>
                <a:cs typeface="Consolas" pitchFamily="49" charset="0"/>
              </a:rPr>
              <a:t>p</a:t>
            </a:r>
            <a:r>
              <a:rPr lang="zh-CN" altLang="zh-CN" sz="2000" b="1">
                <a:solidFill>
                  <a:srgbClr val="0000FF"/>
                </a:solidFill>
                <a:latin typeface="Consolas" pitchFamily="49" charset="0"/>
                <a:ea typeface="楷体" pitchFamily="49" charset="-122"/>
                <a:cs typeface="Consolas" pitchFamily="49" charset="0"/>
              </a:rPr>
              <a:t>（用</a:t>
            </a:r>
            <a:r>
              <a:rPr lang="en-US" altLang="zh-CN" sz="2000" b="1" i="1">
                <a:solidFill>
                  <a:srgbClr val="0000FF"/>
                </a:solidFill>
                <a:latin typeface="Consolas" pitchFamily="49" charset="0"/>
                <a:ea typeface="楷体" pitchFamily="49" charset="-122"/>
                <a:cs typeface="Consolas" pitchFamily="49" charset="0"/>
              </a:rPr>
              <a:t>f</a:t>
            </a:r>
            <a:r>
              <a:rPr lang="zh-CN" altLang="zh-CN" sz="2000" b="1">
                <a:solidFill>
                  <a:srgbClr val="0000FF"/>
                </a:solidFill>
                <a:latin typeface="Consolas" pitchFamily="49" charset="0"/>
                <a:ea typeface="楷体" pitchFamily="49" charset="-122"/>
                <a:cs typeface="Consolas" pitchFamily="49" charset="0"/>
              </a:rPr>
              <a:t>指向被删除结点</a:t>
            </a:r>
            <a:r>
              <a:rPr lang="en-US" altLang="zh-CN" sz="2000" b="1" i="1">
                <a:solidFill>
                  <a:srgbClr val="0000FF"/>
                </a:solidFill>
                <a:latin typeface="Consolas" pitchFamily="49" charset="0"/>
                <a:ea typeface="楷体" pitchFamily="49" charset="-122"/>
                <a:cs typeface="Consolas" pitchFamily="49" charset="0"/>
              </a:rPr>
              <a:t>p</a:t>
            </a:r>
            <a:r>
              <a:rPr lang="zh-CN" altLang="zh-CN" sz="2000" b="1">
                <a:solidFill>
                  <a:srgbClr val="0000FF"/>
                </a:solidFill>
                <a:latin typeface="Consolas" pitchFamily="49" charset="0"/>
                <a:ea typeface="楷体" pitchFamily="49" charset="-122"/>
                <a:cs typeface="Consolas" pitchFamily="49" charset="0"/>
              </a:rPr>
              <a:t>的双亲结点）</a:t>
            </a:r>
            <a:r>
              <a:rPr lang="zh-CN" altLang="en-US" sz="2000" b="1">
                <a:solidFill>
                  <a:srgbClr val="0000FF"/>
                </a:solidFill>
                <a:latin typeface="Consolas" pitchFamily="49" charset="0"/>
                <a:ea typeface="楷体" pitchFamily="49" charset="-122"/>
                <a:cs typeface="Consolas" pitchFamily="49" charset="0"/>
              </a:rPr>
              <a:t>。</a:t>
            </a:r>
            <a:endParaRPr lang="en-US" altLang="zh-CN" sz="2000" b="1">
              <a:solidFill>
                <a:srgbClr val="0000FF"/>
              </a:solidFill>
              <a:latin typeface="Consolas" pitchFamily="49" charset="0"/>
              <a:ea typeface="楷体" pitchFamily="49" charset="-122"/>
              <a:cs typeface="Consolas" pitchFamily="49" charset="0"/>
            </a:endParaRPr>
          </a:p>
          <a:p>
            <a:pPr marL="342900" indent="-342900">
              <a:lnSpc>
                <a:spcPts val="2800"/>
              </a:lnSpc>
              <a:spcBef>
                <a:spcPts val="600"/>
              </a:spcBef>
              <a:buBlip>
                <a:blip r:embed="rId3"/>
              </a:buBlip>
            </a:pPr>
            <a:r>
              <a:rPr lang="zh-CN" altLang="zh-CN" sz="2000" b="1">
                <a:solidFill>
                  <a:srgbClr val="0000FF"/>
                </a:solidFill>
                <a:latin typeface="Consolas" pitchFamily="49" charset="0"/>
                <a:ea typeface="楷体" pitchFamily="49" charset="-122"/>
                <a:cs typeface="Consolas" pitchFamily="49" charset="0"/>
              </a:rPr>
              <a:t>结点</a:t>
            </a:r>
            <a:r>
              <a:rPr lang="en-US" altLang="zh-CN" sz="2000" b="1" i="1">
                <a:solidFill>
                  <a:srgbClr val="0000FF"/>
                </a:solidFill>
                <a:latin typeface="Consolas" pitchFamily="49" charset="0"/>
                <a:ea typeface="楷体" pitchFamily="49" charset="-122"/>
                <a:cs typeface="Consolas" pitchFamily="49" charset="0"/>
              </a:rPr>
              <a:t>p</a:t>
            </a:r>
            <a:r>
              <a:rPr lang="zh-CN" altLang="zh-CN" sz="2000" b="1">
                <a:solidFill>
                  <a:srgbClr val="0000FF"/>
                </a:solidFill>
                <a:latin typeface="Consolas" pitchFamily="49" charset="0"/>
                <a:ea typeface="楷体" pitchFamily="49" charset="-122"/>
                <a:cs typeface="Consolas" pitchFamily="49" charset="0"/>
              </a:rPr>
              <a:t>分为</a:t>
            </a:r>
            <a:r>
              <a:rPr lang="zh-CN" altLang="zh-CN" sz="2000" b="1">
                <a:solidFill>
                  <a:srgbClr val="FF0000"/>
                </a:solidFill>
                <a:latin typeface="Consolas" pitchFamily="49" charset="0"/>
                <a:ea typeface="楷体" pitchFamily="49" charset="-122"/>
                <a:cs typeface="Consolas" pitchFamily="49" charset="0"/>
              </a:rPr>
              <a:t>叶子结点</a:t>
            </a:r>
            <a:r>
              <a:rPr lang="zh-CN" altLang="zh-CN" sz="2000" b="1">
                <a:solidFill>
                  <a:srgbClr val="0000FF"/>
                </a:solidFill>
                <a:latin typeface="Consolas" pitchFamily="49" charset="0"/>
                <a:ea typeface="楷体" pitchFamily="49" charset="-122"/>
                <a:cs typeface="Consolas" pitchFamily="49" charset="0"/>
              </a:rPr>
              <a:t>、</a:t>
            </a:r>
            <a:r>
              <a:rPr lang="zh-CN" altLang="zh-CN" sz="2000" b="1">
                <a:solidFill>
                  <a:srgbClr val="FF0000"/>
                </a:solidFill>
                <a:latin typeface="Consolas" pitchFamily="49" charset="0"/>
                <a:ea typeface="楷体" pitchFamily="49" charset="-122"/>
                <a:cs typeface="Consolas" pitchFamily="49" charset="0"/>
              </a:rPr>
              <a:t>左子树为空</a:t>
            </a:r>
            <a:r>
              <a:rPr lang="zh-CN" altLang="zh-CN" sz="2000" b="1">
                <a:solidFill>
                  <a:srgbClr val="0000FF"/>
                </a:solidFill>
                <a:latin typeface="Consolas" pitchFamily="49" charset="0"/>
                <a:ea typeface="楷体" pitchFamily="49" charset="-122"/>
                <a:cs typeface="Consolas" pitchFamily="49" charset="0"/>
              </a:rPr>
              <a:t>、</a:t>
            </a:r>
            <a:r>
              <a:rPr lang="zh-CN" altLang="zh-CN" sz="2000" b="1">
                <a:solidFill>
                  <a:srgbClr val="FF0000"/>
                </a:solidFill>
                <a:latin typeface="Consolas" pitchFamily="49" charset="0"/>
                <a:ea typeface="楷体" pitchFamily="49" charset="-122"/>
                <a:cs typeface="Consolas" pitchFamily="49" charset="0"/>
              </a:rPr>
              <a:t>右子树为空</a:t>
            </a:r>
            <a:r>
              <a:rPr lang="zh-CN" altLang="zh-CN" sz="2000" b="1">
                <a:solidFill>
                  <a:srgbClr val="0000FF"/>
                </a:solidFill>
                <a:latin typeface="Consolas" pitchFamily="49" charset="0"/>
                <a:ea typeface="楷体" pitchFamily="49" charset="-122"/>
                <a:cs typeface="Consolas" pitchFamily="49" charset="0"/>
              </a:rPr>
              <a:t>和</a:t>
            </a:r>
            <a:r>
              <a:rPr lang="zh-CN" altLang="zh-CN" sz="2000" b="1">
                <a:solidFill>
                  <a:srgbClr val="FF0000"/>
                </a:solidFill>
                <a:latin typeface="Consolas" pitchFamily="49" charset="0"/>
                <a:ea typeface="楷体" pitchFamily="49" charset="-122"/>
                <a:cs typeface="Consolas" pitchFamily="49" charset="0"/>
              </a:rPr>
              <a:t>存在左右子树</a:t>
            </a:r>
            <a:r>
              <a:rPr lang="en-US" altLang="zh-CN" sz="2000" b="1">
                <a:solidFill>
                  <a:srgbClr val="0000FF"/>
                </a:solidFill>
                <a:latin typeface="Consolas" pitchFamily="49" charset="0"/>
                <a:ea typeface="楷体" pitchFamily="49" charset="-122"/>
                <a:cs typeface="Consolas" pitchFamily="49" charset="0"/>
              </a:rPr>
              <a:t>4</a:t>
            </a:r>
            <a:r>
              <a:rPr lang="zh-CN" altLang="zh-CN" sz="2000" b="1">
                <a:solidFill>
                  <a:srgbClr val="0000FF"/>
                </a:solidFill>
                <a:latin typeface="Consolas" pitchFamily="49" charset="0"/>
                <a:ea typeface="楷体" pitchFamily="49" charset="-122"/>
                <a:cs typeface="Consolas" pitchFamily="49" charset="0"/>
              </a:rPr>
              <a:t>种情况实现删除。</a:t>
            </a:r>
          </a:p>
        </p:txBody>
      </p:sp>
      <p:sp>
        <p:nvSpPr>
          <p:cNvPr id="3087" name="Rectangle 1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356" name="Rectangle 20"/>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259" name="Rectangle 43"/>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圆角矩形 11"/>
          <p:cNvSpPr/>
          <p:nvPr/>
        </p:nvSpPr>
        <p:spPr bwMode="auto">
          <a:xfrm>
            <a:off x="2238350" y="1071546"/>
            <a:ext cx="2428891" cy="544194"/>
          </a:xfrm>
          <a:prstGeom prst="roundRect">
            <a:avLst>
              <a:gd name="adj" fmla="val 7848"/>
            </a:avLst>
          </a:prstGeom>
          <a:solidFill>
            <a:schemeClr val="accent5">
              <a:lumMod val="20000"/>
              <a:lumOff val="80000"/>
            </a:schemeClr>
          </a:solidFill>
          <a:ln w="381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3">
            <a:schemeClr val="accent2"/>
          </a:fillRef>
          <a:effectRef idx="2">
            <a:schemeClr val="accent2"/>
          </a:effectRef>
          <a:fontRef idx="minor">
            <a:schemeClr val="lt1"/>
          </a:fontRef>
        </p:style>
        <p:txBody>
          <a:bodyPr anchor="ctr"/>
          <a:lstStyle/>
          <a:p>
            <a:pPr marL="0" lvl="2" algn="ctr" eaLnBrk="0" fontAlgn="ctr" hangingPunct="0">
              <a:buClr>
                <a:srgbClr val="FF0000"/>
              </a:buClr>
              <a:buSzPct val="70000"/>
              <a:tabLst>
                <a:tab pos="136525" algn="l"/>
              </a:tabLst>
              <a:defRPr/>
            </a:pPr>
            <a:r>
              <a:rPr lang="zh-CN" altLang="en-US" sz="2000" b="1">
                <a:solidFill>
                  <a:srgbClr val="FF0000"/>
                </a:solidFill>
                <a:latin typeface="微软雅黑" pitchFamily="34" charset="-122"/>
                <a:ea typeface="微软雅黑" pitchFamily="34" charset="-122"/>
              </a:rPr>
              <a:t>删除算法设计</a:t>
            </a:r>
            <a:endParaRPr lang="zh-CN" altLang="en-US" sz="2000" b="1" dirty="0">
              <a:solidFill>
                <a:srgbClr val="FF0000"/>
              </a:solidFill>
              <a:latin typeface="微软雅黑" pitchFamily="34" charset="-122"/>
              <a:ea typeface="微软雅黑" pitchFamily="34" charset="-122"/>
            </a:endParaRPr>
          </a:p>
        </p:txBody>
      </p:sp>
      <p:sp>
        <p:nvSpPr>
          <p:cNvPr id="13" name="TextBox 12"/>
          <p:cNvSpPr txBox="1"/>
          <p:nvPr/>
        </p:nvSpPr>
        <p:spPr>
          <a:xfrm>
            <a:off x="2309786" y="4000504"/>
            <a:ext cx="7286644" cy="759182"/>
          </a:xfrm>
          <a:prstGeom prst="rect">
            <a:avLst/>
          </a:prstGeom>
          <a:noFill/>
        </p:spPr>
        <p:txBody>
          <a:bodyPr wrap="square" rtlCol="0">
            <a:spAutoFit/>
          </a:bodyPr>
          <a:lstStyle/>
          <a:p>
            <a:pPr>
              <a:lnSpc>
                <a:spcPts val="2600"/>
              </a:lnSpc>
            </a:pPr>
            <a:r>
              <a:rPr lang="zh-CN" altLang="en-US" sz="2000" b="1">
                <a:solidFill>
                  <a:srgbClr val="0000FF"/>
                </a:solidFill>
                <a:latin typeface="Consolas" pitchFamily="49" charset="0"/>
                <a:ea typeface="仿宋" pitchFamily="49" charset="-122"/>
                <a:cs typeface="Consolas" pitchFamily="49" charset="0"/>
              </a:rPr>
              <a:t>删除算法</a:t>
            </a:r>
            <a:r>
              <a:rPr lang="en-US" altLang="zh-CN" sz="2000" b="1">
                <a:latin typeface="Consolas" pitchFamily="49" charset="0"/>
                <a:ea typeface="仿宋" pitchFamily="49" charset="-122"/>
                <a:cs typeface="Consolas" pitchFamily="49" charset="0"/>
              </a:rPr>
              <a:t>DeleteBST(bt,k)</a:t>
            </a:r>
            <a:r>
              <a:rPr lang="zh-CN" altLang="en-US" sz="2000" b="1">
                <a:solidFill>
                  <a:srgbClr val="0000FF"/>
                </a:solidFill>
                <a:latin typeface="Consolas" pitchFamily="49" charset="0"/>
                <a:ea typeface="仿宋" pitchFamily="49" charset="-122"/>
                <a:cs typeface="Consolas" pitchFamily="49" charset="0"/>
              </a:rPr>
              <a:t>：</a:t>
            </a:r>
            <a:r>
              <a:rPr lang="zh-CN" altLang="zh-CN" sz="2000" b="1">
                <a:solidFill>
                  <a:srgbClr val="0000FF"/>
                </a:solidFill>
                <a:latin typeface="Consolas" pitchFamily="49" charset="0"/>
                <a:ea typeface="仿宋" pitchFamily="49" charset="-122"/>
                <a:cs typeface="Consolas" pitchFamily="49" charset="0"/>
              </a:rPr>
              <a:t>在</a:t>
            </a:r>
            <a:r>
              <a:rPr lang="en-US" altLang="zh-CN" sz="2000" b="1">
                <a:solidFill>
                  <a:srgbClr val="0000FF"/>
                </a:solidFill>
                <a:latin typeface="Consolas" pitchFamily="49" charset="0"/>
                <a:ea typeface="仿宋" pitchFamily="49" charset="-122"/>
                <a:cs typeface="Consolas" pitchFamily="49" charset="0"/>
              </a:rPr>
              <a:t>bt</a:t>
            </a:r>
            <a:r>
              <a:rPr lang="zh-CN" altLang="zh-CN" sz="2000" b="1">
                <a:solidFill>
                  <a:srgbClr val="0000FF"/>
                </a:solidFill>
                <a:latin typeface="Consolas" pitchFamily="49" charset="0"/>
                <a:ea typeface="仿宋" pitchFamily="49" charset="-122"/>
                <a:cs typeface="Consolas" pitchFamily="49" charset="0"/>
              </a:rPr>
              <a:t>中删除关键字为</a:t>
            </a:r>
            <a:r>
              <a:rPr lang="en-US" altLang="zh-CN" sz="2000" b="1">
                <a:solidFill>
                  <a:srgbClr val="0000FF"/>
                </a:solidFill>
                <a:latin typeface="Consolas" pitchFamily="49" charset="0"/>
                <a:ea typeface="仿宋" pitchFamily="49" charset="-122"/>
                <a:cs typeface="Consolas" pitchFamily="49" charset="0"/>
              </a:rPr>
              <a:t>k</a:t>
            </a:r>
            <a:r>
              <a:rPr lang="zh-CN" altLang="zh-CN" sz="2000" b="1">
                <a:solidFill>
                  <a:srgbClr val="0000FF"/>
                </a:solidFill>
                <a:latin typeface="Consolas" pitchFamily="49" charset="0"/>
                <a:ea typeface="仿宋" pitchFamily="49" charset="-122"/>
                <a:cs typeface="Consolas" pitchFamily="49" charset="0"/>
              </a:rPr>
              <a:t>的结点</a:t>
            </a:r>
            <a:r>
              <a:rPr lang="zh-CN" altLang="en-US" sz="2000" b="1">
                <a:solidFill>
                  <a:srgbClr val="0000FF"/>
                </a:solidFill>
                <a:latin typeface="Consolas" pitchFamily="49" charset="0"/>
                <a:ea typeface="仿宋" pitchFamily="49" charset="-122"/>
                <a:cs typeface="Consolas" pitchFamily="49" charset="0"/>
              </a:rPr>
              <a:t>，返回删除后的二叉排序树的根结点地址。</a:t>
            </a:r>
            <a:endParaRPr lang="zh-CN" altLang="en-US" sz="2000" b="1" dirty="0">
              <a:solidFill>
                <a:srgbClr val="3333FF"/>
              </a:solidFill>
              <a:latin typeface="Consolas" pitchFamily="49" charset="0"/>
              <a:ea typeface="仿宋" pitchFamily="49" charset="-122"/>
              <a:cs typeface="Consolas" pitchFamily="49" charset="0"/>
            </a:endParaRPr>
          </a:p>
        </p:txBody>
      </p:sp>
      <p:sp>
        <p:nvSpPr>
          <p:cNvPr id="14" name="下箭头 13"/>
          <p:cNvSpPr/>
          <p:nvPr/>
        </p:nvSpPr>
        <p:spPr>
          <a:xfrm>
            <a:off x="5310182" y="3571876"/>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灯片编号占位符 9"/>
          <p:cNvSpPr>
            <a:spLocks noGrp="1"/>
          </p:cNvSpPr>
          <p:nvPr>
            <p:ph type="sldNum" sz="quarter" idx="12"/>
          </p:nvPr>
        </p:nvSpPr>
        <p:spPr/>
        <p:txBody>
          <a:bodyPr/>
          <a:lstStyle/>
          <a:p>
            <a:pPr>
              <a:defRPr/>
            </a:pPr>
            <a:fld id="{94984E60-CADE-4266-8DC7-A91C528B8A31}" type="slidenum">
              <a:rPr lang="en-US" altLang="zh-CN" smtClean="0"/>
              <a:pPr>
                <a:defRPr/>
              </a:pPr>
              <a:t>70</a:t>
            </a:fld>
            <a:r>
              <a:rPr lang="en-US" altLang="zh-CN"/>
              <a:t>/132</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09720" y="785794"/>
            <a:ext cx="8501122" cy="469369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nSpc>
                <a:spcPts val="2500"/>
              </a:lnSpc>
            </a:pPr>
            <a:r>
              <a:rPr lang="en-US" altLang="zh-CN" b="1">
                <a:solidFill>
                  <a:srgbClr val="0000FF"/>
                </a:solidFill>
                <a:latin typeface="Consolas" pitchFamily="49" charset="0"/>
                <a:ea typeface="仿宋" pitchFamily="49" charset="-122"/>
                <a:cs typeface="Consolas" pitchFamily="49" charset="0"/>
              </a:rPr>
              <a:t>BSTNode *</a:t>
            </a:r>
            <a:r>
              <a:rPr lang="en-US" altLang="zh-CN" b="1">
                <a:solidFill>
                  <a:srgbClr val="FF0000"/>
                </a:solidFill>
                <a:latin typeface="Consolas" pitchFamily="49" charset="0"/>
                <a:ea typeface="仿宋" pitchFamily="49" charset="-122"/>
                <a:cs typeface="Consolas" pitchFamily="49" charset="0"/>
              </a:rPr>
              <a:t>DeleteBST</a:t>
            </a:r>
            <a:r>
              <a:rPr lang="en-US" altLang="zh-CN" b="1">
                <a:solidFill>
                  <a:srgbClr val="0000FF"/>
                </a:solidFill>
                <a:latin typeface="Consolas" pitchFamily="49" charset="0"/>
                <a:ea typeface="仿宋" pitchFamily="49" charset="-122"/>
                <a:cs typeface="Consolas" pitchFamily="49" charset="0"/>
              </a:rPr>
              <a:t>(BSTNode *bt,KeyType k)		</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if(bt==NULL) return bt;</a:t>
            </a:r>
            <a:endParaRPr lang="zh-CN" altLang="zh-CN" b="1">
              <a:solidFill>
                <a:srgbClr val="0000FF"/>
              </a:solidFill>
              <a:latin typeface="Consolas" pitchFamily="49" charset="0"/>
              <a:ea typeface="仿宋" pitchFamily="49" charset="-122"/>
              <a:cs typeface="Consolas" pitchFamily="49" charset="0"/>
            </a:endParaRPr>
          </a:p>
          <a:p>
            <a:pPr>
              <a:lnSpc>
                <a:spcPts val="2500"/>
              </a:lnSpc>
              <a:spcBef>
                <a:spcPts val="1200"/>
              </a:spcBef>
            </a:pPr>
            <a:r>
              <a:rPr lang="en-US" altLang="zh-CN" b="1">
                <a:solidFill>
                  <a:srgbClr val="0000FF"/>
                </a:solidFill>
                <a:latin typeface="Consolas" pitchFamily="49" charset="0"/>
                <a:ea typeface="仿宋" pitchFamily="49" charset="-122"/>
                <a:cs typeface="Consolas" pitchFamily="49" charset="0"/>
              </a:rPr>
              <a:t>   BSTNode* p=bt,*f=NULL;      	</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指向被删结点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的双亲结点</a:t>
            </a:r>
          </a:p>
          <a:p>
            <a:pPr>
              <a:lnSpc>
                <a:spcPts val="2500"/>
              </a:lnSpc>
            </a:pPr>
            <a:r>
              <a:rPr lang="en-US" altLang="zh-CN" b="1">
                <a:solidFill>
                  <a:srgbClr val="0000FF"/>
                </a:solidFill>
                <a:latin typeface="Consolas" pitchFamily="49" charset="0"/>
                <a:ea typeface="仿宋" pitchFamily="49" charset="-122"/>
                <a:cs typeface="Consolas" pitchFamily="49" charset="0"/>
              </a:rPr>
              <a:t>   while(p!=NULL)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查找被删结点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，其双亲是</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结点 </a:t>
            </a:r>
          </a:p>
          <a:p>
            <a:pPr>
              <a:lnSpc>
                <a:spcPts val="2500"/>
              </a:lnSpc>
            </a:pPr>
            <a:r>
              <a:rPr lang="en-US" altLang="zh-CN" b="1">
                <a:solidFill>
                  <a:srgbClr val="0000FF"/>
                </a:solidFill>
                <a:latin typeface="Consolas" pitchFamily="49" charset="0"/>
                <a:ea typeface="仿宋" pitchFamily="49" charset="-122"/>
                <a:cs typeface="Consolas" pitchFamily="49" charset="0"/>
              </a:rPr>
              <a:t>   {  if(</a:t>
            </a:r>
            <a:r>
              <a:rPr lang="en-US" altLang="zh-CN" b="1">
                <a:solidFill>
                  <a:srgbClr val="FF00FF"/>
                </a:solidFill>
                <a:latin typeface="Consolas" pitchFamily="49" charset="0"/>
                <a:ea typeface="仿宋" pitchFamily="49" charset="-122"/>
                <a:cs typeface="Consolas" pitchFamily="49" charset="0"/>
              </a:rPr>
              <a:t>p-&gt;key==k</a:t>
            </a:r>
            <a:r>
              <a:rPr lang="en-US" altLang="zh-CN" b="1">
                <a:solidFill>
                  <a:srgbClr val="0000FF"/>
                </a:solidFill>
                <a:latin typeface="Consolas" pitchFamily="49" charset="0"/>
                <a:ea typeface="仿宋" pitchFamily="49" charset="-122"/>
                <a:cs typeface="Consolas" pitchFamily="49" charset="0"/>
              </a:rPr>
              <a:t>)</a:t>
            </a:r>
          </a:p>
          <a:p>
            <a:pPr>
              <a:lnSpc>
                <a:spcPts val="2500"/>
              </a:lnSpc>
            </a:pPr>
            <a:r>
              <a:rPr lang="en-US" altLang="zh-CN" b="1">
                <a:solidFill>
                  <a:srgbClr val="0000FF"/>
                </a:solidFill>
                <a:latin typeface="Consolas" pitchFamily="49" charset="0"/>
                <a:ea typeface="仿宋" pitchFamily="49" charset="-122"/>
                <a:cs typeface="Consolas" pitchFamily="49" charset="0"/>
              </a:rPr>
              <a:t>	  break;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找到被删结点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时退出循环</a:t>
            </a:r>
          </a:p>
          <a:p>
            <a:pPr>
              <a:lnSpc>
                <a:spcPts val="2500"/>
              </a:lnSpc>
            </a:pPr>
            <a:r>
              <a:rPr lang="en-US" altLang="zh-CN" b="1">
                <a:solidFill>
                  <a:srgbClr val="0000FF"/>
                </a:solidFill>
                <a:latin typeface="Consolas" pitchFamily="49" charset="0"/>
                <a:ea typeface="仿宋" pitchFamily="49" charset="-122"/>
                <a:cs typeface="Consolas" pitchFamily="49" charset="0"/>
              </a:rPr>
              <a:t>      f=p;</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r>
              <a:rPr lang="en-US" altLang="zh-CN" b="1">
                <a:solidFill>
                  <a:srgbClr val="FF00FF"/>
                </a:solidFill>
                <a:latin typeface="Consolas" pitchFamily="49" charset="0"/>
                <a:ea typeface="仿宋" pitchFamily="49" charset="-122"/>
                <a:cs typeface="Consolas" pitchFamily="49" charset="0"/>
              </a:rPr>
              <a:t>if(k&lt;p-&gt;key</a:t>
            </a: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p=p-&gt;lchild;</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p=p-&gt;rchild;</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p>
          <a:p>
            <a:pPr>
              <a:lnSpc>
                <a:spcPts val="2500"/>
              </a:lnSpc>
              <a:spcBef>
                <a:spcPts val="1200"/>
              </a:spcBef>
            </a:pPr>
            <a:r>
              <a:rPr lang="en-US" altLang="zh-CN" b="1">
                <a:solidFill>
                  <a:srgbClr val="0000FF"/>
                </a:solidFill>
                <a:latin typeface="Consolas" pitchFamily="49" charset="0"/>
                <a:ea typeface="仿宋" pitchFamily="49" charset="-122"/>
                <a:cs typeface="Consolas" pitchFamily="49" charset="0"/>
              </a:rPr>
              <a:t>   if(p==NULL) return bt;</a:t>
            </a:r>
          </a:p>
        </p:txBody>
      </p:sp>
      <p:grpSp>
        <p:nvGrpSpPr>
          <p:cNvPr id="2" name="组合 21"/>
          <p:cNvGrpSpPr/>
          <p:nvPr/>
        </p:nvGrpSpPr>
        <p:grpSpPr>
          <a:xfrm>
            <a:off x="6524628" y="3357562"/>
            <a:ext cx="2214578" cy="2357454"/>
            <a:chOff x="2143108" y="1571612"/>
            <a:chExt cx="2214578" cy="2357454"/>
          </a:xfrm>
        </p:grpSpPr>
        <p:sp>
          <p:nvSpPr>
            <p:cNvPr id="28" name="矩形 27"/>
            <p:cNvSpPr/>
            <p:nvPr/>
          </p:nvSpPr>
          <p:spPr>
            <a:xfrm>
              <a:off x="2143108" y="1571612"/>
              <a:ext cx="2214578" cy="2357454"/>
            </a:xfrm>
            <a:prstGeom prst="rect">
              <a:avLst/>
            </a:prstGeom>
            <a:solidFill>
              <a:schemeClr val="accent6">
                <a:lumMod val="40000"/>
                <a:lumOff val="6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9" name="Oval 33"/>
            <p:cNvSpPr>
              <a:spLocks noChangeArrowheads="1"/>
            </p:cNvSpPr>
            <p:nvPr/>
          </p:nvSpPr>
          <p:spPr bwMode="auto">
            <a:xfrm>
              <a:off x="3242105" y="2093230"/>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5</a:t>
              </a:r>
            </a:p>
          </p:txBody>
        </p:sp>
        <p:sp>
          <p:nvSpPr>
            <p:cNvPr id="30" name="Oval 32"/>
            <p:cNvSpPr>
              <a:spLocks noChangeArrowheads="1"/>
            </p:cNvSpPr>
            <p:nvPr/>
          </p:nvSpPr>
          <p:spPr bwMode="auto">
            <a:xfrm>
              <a:off x="2753502" y="2714959"/>
              <a:ext cx="309339" cy="340913"/>
            </a:xfrm>
            <a:prstGeom prst="ellipse">
              <a:avLst/>
            </a:prstGeom>
            <a:solidFill>
              <a:schemeClr val="bg1">
                <a:lumMod val="65000"/>
              </a:schemeClr>
            </a:solidFill>
            <a:ln>
              <a:solidFill>
                <a:schemeClr val="bg1">
                  <a:lumMod val="65000"/>
                </a:schemeClr>
              </a:solidFill>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3</a:t>
              </a:r>
            </a:p>
          </p:txBody>
        </p:sp>
        <p:sp>
          <p:nvSpPr>
            <p:cNvPr id="31" name="Oval 31"/>
            <p:cNvSpPr>
              <a:spLocks noChangeArrowheads="1"/>
            </p:cNvSpPr>
            <p:nvPr/>
          </p:nvSpPr>
          <p:spPr bwMode="auto">
            <a:xfrm>
              <a:off x="3685891" y="2714959"/>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6</a:t>
              </a:r>
            </a:p>
          </p:txBody>
        </p:sp>
        <p:sp>
          <p:nvSpPr>
            <p:cNvPr id="32" name="Oval 30"/>
            <p:cNvSpPr>
              <a:spLocks noChangeArrowheads="1"/>
            </p:cNvSpPr>
            <p:nvPr/>
          </p:nvSpPr>
          <p:spPr bwMode="auto">
            <a:xfrm>
              <a:off x="3055189" y="3373839"/>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4</a:t>
              </a:r>
            </a:p>
          </p:txBody>
        </p:sp>
        <p:sp>
          <p:nvSpPr>
            <p:cNvPr id="33" name="AutoShape 29"/>
            <p:cNvSpPr>
              <a:spLocks noChangeShapeType="1"/>
            </p:cNvSpPr>
            <p:nvPr/>
          </p:nvSpPr>
          <p:spPr bwMode="auto">
            <a:xfrm>
              <a:off x="3506628" y="2383881"/>
              <a:ext cx="224080" cy="381342"/>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4" name="AutoShape 28"/>
            <p:cNvSpPr>
              <a:spLocks noChangeShapeType="1"/>
            </p:cNvSpPr>
            <p:nvPr/>
          </p:nvSpPr>
          <p:spPr bwMode="auto">
            <a:xfrm>
              <a:off x="3018025" y="3005610"/>
              <a:ext cx="192381" cy="36823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5" name="Oval 27"/>
            <p:cNvSpPr>
              <a:spLocks noChangeArrowheads="1"/>
            </p:cNvSpPr>
            <p:nvPr/>
          </p:nvSpPr>
          <p:spPr bwMode="auto">
            <a:xfrm>
              <a:off x="2428860" y="3373839"/>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2</a:t>
              </a:r>
            </a:p>
          </p:txBody>
        </p:sp>
        <p:sp>
          <p:nvSpPr>
            <p:cNvPr id="36" name="AutoShape 26"/>
            <p:cNvSpPr>
              <a:spLocks noChangeShapeType="1"/>
            </p:cNvSpPr>
            <p:nvPr/>
          </p:nvSpPr>
          <p:spPr bwMode="auto">
            <a:xfrm flipH="1">
              <a:off x="2584076" y="3005610"/>
              <a:ext cx="214242" cy="36823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7" name="AutoShape 25"/>
            <p:cNvSpPr>
              <a:spLocks noChangeShapeType="1"/>
            </p:cNvSpPr>
            <p:nvPr/>
          </p:nvSpPr>
          <p:spPr bwMode="auto">
            <a:xfrm flipH="1">
              <a:off x="3018025" y="2383881"/>
              <a:ext cx="268896" cy="381342"/>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8" name="Oval 3"/>
            <p:cNvSpPr>
              <a:spLocks noChangeArrowheads="1"/>
            </p:cNvSpPr>
            <p:nvPr/>
          </p:nvSpPr>
          <p:spPr bwMode="auto">
            <a:xfrm>
              <a:off x="3913250" y="3373839"/>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r>
                <a:rPr lang="en-US" altLang="zh-CN" sz="1600">
                  <a:solidFill>
                    <a:srgbClr val="0000FF"/>
                  </a:solidFill>
                  <a:latin typeface="Consolas" pitchFamily="49" charset="0"/>
                  <a:ea typeface="仿宋" pitchFamily="49" charset="-122"/>
                  <a:cs typeface="Consolas" pitchFamily="49" charset="0"/>
                </a:rPr>
                <a:t>7</a:t>
              </a:r>
            </a:p>
          </p:txBody>
        </p:sp>
        <p:sp>
          <p:nvSpPr>
            <p:cNvPr id="39" name="AutoShape 2"/>
            <p:cNvSpPr>
              <a:spLocks noChangeShapeType="1"/>
            </p:cNvSpPr>
            <p:nvPr/>
          </p:nvSpPr>
          <p:spPr bwMode="auto">
            <a:xfrm>
              <a:off x="3950415" y="3005610"/>
              <a:ext cx="118052" cy="36823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cxnSp>
          <p:nvCxnSpPr>
            <p:cNvPr id="40" name="直接箭头连接符 39"/>
            <p:cNvCxnSpPr/>
            <p:nvPr/>
          </p:nvCxnSpPr>
          <p:spPr>
            <a:xfrm rot="16200000" flipH="1">
              <a:off x="2686524" y="2559985"/>
              <a:ext cx="214653" cy="11434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2436639" y="2285992"/>
              <a:ext cx="500066"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cxnSp>
          <p:nvCxnSpPr>
            <p:cNvPr id="42" name="直接箭头连接符 41"/>
            <p:cNvCxnSpPr/>
            <p:nvPr/>
          </p:nvCxnSpPr>
          <p:spPr>
            <a:xfrm rot="16200000" flipH="1">
              <a:off x="3186590" y="1917043"/>
              <a:ext cx="214653" cy="11434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2936705" y="1643050"/>
              <a:ext cx="500066"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grpSp>
      <p:sp>
        <p:nvSpPr>
          <p:cNvPr id="21" name="灯片编号占位符 20"/>
          <p:cNvSpPr>
            <a:spLocks noGrp="1"/>
          </p:cNvSpPr>
          <p:nvPr>
            <p:ph type="sldNum" sz="quarter" idx="12"/>
          </p:nvPr>
        </p:nvSpPr>
        <p:spPr/>
        <p:txBody>
          <a:bodyPr/>
          <a:lstStyle/>
          <a:p>
            <a:pPr>
              <a:defRPr/>
            </a:pPr>
            <a:fld id="{94984E60-CADE-4266-8DC7-A91C528B8A31}" type="slidenum">
              <a:rPr lang="en-US" altLang="zh-CN" smtClean="0"/>
              <a:pPr>
                <a:defRPr/>
              </a:pPr>
              <a:t>71</a:t>
            </a:fld>
            <a:r>
              <a:rPr lang="en-US" altLang="zh-CN"/>
              <a:t>/132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38282" y="357167"/>
            <a:ext cx="8786874" cy="36189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2500"/>
              </a:lnSpc>
            </a:pPr>
            <a:r>
              <a:rPr lang="en-US" altLang="zh-CN" b="1">
                <a:solidFill>
                  <a:srgbClr val="0000FF"/>
                </a:solidFill>
                <a:latin typeface="Consolas" pitchFamily="49" charset="0"/>
                <a:ea typeface="仿宋" pitchFamily="49" charset="-122"/>
                <a:cs typeface="Consolas" pitchFamily="49" charset="0"/>
              </a:rPr>
              <a:t>if(p-&gt;lchild==NULL &amp;&amp; p-&gt;rchild==NULL)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FF0000"/>
                </a:solidFill>
                <a:latin typeface="Consolas" pitchFamily="49" charset="0"/>
                <a:ea typeface="仿宋" pitchFamily="49" charset="-122"/>
                <a:cs typeface="Consolas" pitchFamily="49" charset="0"/>
              </a:rPr>
              <a:t>情况</a:t>
            </a:r>
            <a:r>
              <a:rPr lang="en-US" altLang="zh-CN" b="1">
                <a:solidFill>
                  <a:srgbClr val="FF0000"/>
                </a:solidFill>
                <a:latin typeface="Consolas" pitchFamily="49" charset="0"/>
                <a:ea typeface="仿宋" pitchFamily="49" charset="-122"/>
                <a:cs typeface="Consolas" pitchFamily="49" charset="0"/>
              </a:rPr>
              <a:t>(1)</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是叶子结点</a:t>
            </a:r>
          </a:p>
          <a:p>
            <a:pPr>
              <a:lnSpc>
                <a:spcPts val="2500"/>
              </a:lnSpc>
            </a:pPr>
            <a:r>
              <a:rPr lang="en-US" altLang="zh-CN" b="1">
                <a:solidFill>
                  <a:srgbClr val="0000FF"/>
                </a:solidFill>
                <a:latin typeface="Consolas" pitchFamily="49" charset="0"/>
                <a:ea typeface="仿宋" pitchFamily="49" charset="-122"/>
                <a:cs typeface="Consolas" pitchFamily="49" charset="0"/>
              </a:rPr>
              <a:t>{  </a:t>
            </a:r>
            <a:r>
              <a:rPr lang="en-US" altLang="zh-CN" b="1">
                <a:solidFill>
                  <a:srgbClr val="FF00FF"/>
                </a:solidFill>
                <a:latin typeface="Consolas" pitchFamily="49" charset="0"/>
                <a:ea typeface="仿宋" pitchFamily="49" charset="-122"/>
                <a:cs typeface="Consolas" pitchFamily="49" charset="0"/>
              </a:rPr>
              <a:t>if(p==bt</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是根结点</a:t>
            </a:r>
          </a:p>
          <a:p>
            <a:pPr>
              <a:lnSpc>
                <a:spcPts val="2500"/>
              </a:lnSpc>
            </a:pPr>
            <a:r>
              <a:rPr lang="en-US" altLang="zh-CN" b="1">
                <a:solidFill>
                  <a:srgbClr val="0000FF"/>
                </a:solidFill>
                <a:latin typeface="Consolas" pitchFamily="49" charset="0"/>
                <a:ea typeface="仿宋" pitchFamily="49" charset="-122"/>
                <a:cs typeface="Consolas" pitchFamily="49" charset="0"/>
              </a:rPr>
              <a:t>      bt=NULL;</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不是根结点</a:t>
            </a:r>
          </a:p>
          <a:p>
            <a:pPr>
              <a:lnSpc>
                <a:spcPts val="2500"/>
              </a:lnSpc>
            </a:pPr>
            <a:r>
              <a:rPr lang="en-US" altLang="zh-CN" b="1">
                <a:solidFill>
                  <a:srgbClr val="0000FF"/>
                </a:solidFill>
                <a:latin typeface="Consolas" pitchFamily="49" charset="0"/>
                <a:ea typeface="仿宋" pitchFamily="49" charset="-122"/>
                <a:cs typeface="Consolas" pitchFamily="49" charset="0"/>
              </a:rPr>
              <a:t>   {  if(</a:t>
            </a:r>
            <a:r>
              <a:rPr lang="en-US" altLang="zh-CN" b="1">
                <a:solidFill>
                  <a:srgbClr val="FF00FF"/>
                </a:solidFill>
                <a:latin typeface="Consolas" pitchFamily="49" charset="0"/>
                <a:ea typeface="仿宋" pitchFamily="49" charset="-122"/>
                <a:cs typeface="Consolas" pitchFamily="49" charset="0"/>
              </a:rPr>
              <a:t>f-&gt;lchild==p</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是结点</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的左孩子 </a:t>
            </a:r>
          </a:p>
          <a:p>
            <a:pPr>
              <a:lnSpc>
                <a:spcPts val="2500"/>
              </a:lnSpc>
            </a:pPr>
            <a:r>
              <a:rPr lang="en-US" altLang="zh-CN" b="1">
                <a:solidFill>
                  <a:srgbClr val="0000FF"/>
                </a:solidFill>
                <a:latin typeface="Consolas" pitchFamily="49" charset="0"/>
                <a:ea typeface="仿宋" pitchFamily="49" charset="-122"/>
                <a:cs typeface="Consolas" pitchFamily="49" charset="0"/>
              </a:rPr>
              <a:t>         f-&gt;lchild=NULL;</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是结点</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的右孩子</a:t>
            </a:r>
          </a:p>
          <a:p>
            <a:pPr>
              <a:lnSpc>
                <a:spcPts val="2500"/>
              </a:lnSpc>
            </a:pPr>
            <a:r>
              <a:rPr lang="en-US" altLang="zh-CN" b="1">
                <a:solidFill>
                  <a:srgbClr val="0000FF"/>
                </a:solidFill>
                <a:latin typeface="Consolas" pitchFamily="49" charset="0"/>
                <a:ea typeface="仿宋" pitchFamily="49" charset="-122"/>
                <a:cs typeface="Consolas" pitchFamily="49" charset="0"/>
              </a:rPr>
              <a:t>	  f-&gt;rchild=NULL;</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free(p);</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p:txBody>
      </p:sp>
      <p:grpSp>
        <p:nvGrpSpPr>
          <p:cNvPr id="2" name="组合 47"/>
          <p:cNvGrpSpPr/>
          <p:nvPr/>
        </p:nvGrpSpPr>
        <p:grpSpPr>
          <a:xfrm>
            <a:off x="3667108" y="1785926"/>
            <a:ext cx="3071834" cy="1785950"/>
            <a:chOff x="642910" y="4429132"/>
            <a:chExt cx="3071834" cy="1785950"/>
          </a:xfrm>
        </p:grpSpPr>
        <p:sp>
          <p:nvSpPr>
            <p:cNvPr id="47" name="矩形 46"/>
            <p:cNvSpPr/>
            <p:nvPr/>
          </p:nvSpPr>
          <p:spPr>
            <a:xfrm>
              <a:off x="642910" y="4429132"/>
              <a:ext cx="3000396" cy="1785950"/>
            </a:xfrm>
            <a:prstGeom prst="rect">
              <a:avLst/>
            </a:prstGeom>
            <a:solidFill>
              <a:schemeClr val="accent6">
                <a:lumMod val="20000"/>
                <a:lumOff val="8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grpSp>
          <p:nvGrpSpPr>
            <p:cNvPr id="3" name="组合 39"/>
            <p:cNvGrpSpPr/>
            <p:nvPr/>
          </p:nvGrpSpPr>
          <p:grpSpPr>
            <a:xfrm>
              <a:off x="857224" y="4789569"/>
              <a:ext cx="714380" cy="711133"/>
              <a:chOff x="857224" y="4789569"/>
              <a:chExt cx="714380" cy="711133"/>
            </a:xfrm>
          </p:grpSpPr>
          <p:sp>
            <p:nvSpPr>
              <p:cNvPr id="31" name="Oval 31"/>
              <p:cNvSpPr>
                <a:spLocks noChangeArrowheads="1"/>
              </p:cNvSpPr>
              <p:nvPr/>
            </p:nvSpPr>
            <p:spPr bwMode="auto">
              <a:xfrm>
                <a:off x="1262265" y="5159789"/>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37" name="直接箭头连接符 36"/>
              <p:cNvCxnSpPr/>
              <p:nvPr/>
            </p:nvCxnSpPr>
            <p:spPr>
              <a:xfrm rot="16200000" flipH="1">
                <a:off x="1117843" y="5046941"/>
                <a:ext cx="193141" cy="1428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857224" y="4789569"/>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grpSp>
        <p:sp>
          <p:nvSpPr>
            <p:cNvPr id="41" name="右箭头 40"/>
            <p:cNvSpPr/>
            <p:nvPr/>
          </p:nvSpPr>
          <p:spPr>
            <a:xfrm>
              <a:off x="1785918" y="5214950"/>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2" name="TextBox 41"/>
            <p:cNvSpPr txBox="1"/>
            <p:nvPr/>
          </p:nvSpPr>
          <p:spPr>
            <a:xfrm>
              <a:off x="2285984" y="5143512"/>
              <a:ext cx="1428760" cy="369332"/>
            </a:xfrm>
            <a:prstGeom prst="rect">
              <a:avLst/>
            </a:prstGeom>
            <a:noFill/>
          </p:spPr>
          <p:txBody>
            <a:bodyPr wrap="square" rtlCol="0">
              <a:spAutoFit/>
            </a:bodyPr>
            <a:lstStyle/>
            <a:p>
              <a:r>
                <a:rPr lang="en-US" altLang="zh-CN">
                  <a:solidFill>
                    <a:srgbClr val="0000FF"/>
                  </a:solidFill>
                  <a:latin typeface="Consolas" pitchFamily="49" charset="0"/>
                  <a:ea typeface="楷体" pitchFamily="49" charset="-122"/>
                  <a:cs typeface="Consolas" pitchFamily="49" charset="0"/>
                </a:rPr>
                <a:t>bt=NULL</a:t>
              </a:r>
              <a:endParaRPr lang="zh-CN" altLang="en-US">
                <a:solidFill>
                  <a:srgbClr val="0000FF"/>
                </a:solidFill>
                <a:latin typeface="Consolas" pitchFamily="49" charset="0"/>
                <a:ea typeface="楷体" pitchFamily="49" charset="-122"/>
                <a:cs typeface="Consolas" pitchFamily="49" charset="0"/>
              </a:endParaRPr>
            </a:p>
          </p:txBody>
        </p:sp>
        <p:cxnSp>
          <p:nvCxnSpPr>
            <p:cNvPr id="44" name="直接箭头连接符 43"/>
            <p:cNvCxnSpPr>
              <a:endCxn id="31" idx="0"/>
            </p:cNvCxnSpPr>
            <p:nvPr/>
          </p:nvCxnSpPr>
          <p:spPr>
            <a:xfrm rot="5400000">
              <a:off x="1307537" y="4967159"/>
              <a:ext cx="302029" cy="8323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85852" y="4572008"/>
              <a:ext cx="714380" cy="338554"/>
            </a:xfrm>
            <a:prstGeom prst="rect">
              <a:avLst/>
            </a:prstGeom>
            <a:noFill/>
          </p:spPr>
          <p:txBody>
            <a:bodyPr wrap="square" rtlCol="0">
              <a:spAutoFit/>
            </a:bodyPr>
            <a:lstStyle/>
            <a:p>
              <a:r>
                <a:rPr lang="en-US" altLang="zh-CN" sz="1600">
                  <a:solidFill>
                    <a:srgbClr val="0000FF"/>
                  </a:solidFill>
                  <a:latin typeface="Consolas" pitchFamily="49" charset="0"/>
                  <a:ea typeface="楷体" pitchFamily="49" charset="-122"/>
                  <a:cs typeface="Consolas" pitchFamily="49" charset="0"/>
                </a:rPr>
                <a:t>bt</a:t>
              </a:r>
              <a:endParaRPr lang="zh-CN" altLang="en-US" sz="1600">
                <a:solidFill>
                  <a:srgbClr val="0000FF"/>
                </a:solidFill>
                <a:latin typeface="Consolas" pitchFamily="49" charset="0"/>
                <a:ea typeface="楷体" pitchFamily="49" charset="-122"/>
                <a:cs typeface="Consolas" pitchFamily="49" charset="0"/>
              </a:endParaRPr>
            </a:p>
          </p:txBody>
        </p:sp>
      </p:grpSp>
      <p:grpSp>
        <p:nvGrpSpPr>
          <p:cNvPr id="4" name="组合 48"/>
          <p:cNvGrpSpPr/>
          <p:nvPr/>
        </p:nvGrpSpPr>
        <p:grpSpPr>
          <a:xfrm>
            <a:off x="3809984" y="2786058"/>
            <a:ext cx="3429024" cy="2000264"/>
            <a:chOff x="1142976" y="928694"/>
            <a:chExt cx="3429024" cy="2000264"/>
          </a:xfrm>
        </p:grpSpPr>
        <p:sp>
          <p:nvSpPr>
            <p:cNvPr id="50" name="矩形 49"/>
            <p:cNvSpPr/>
            <p:nvPr/>
          </p:nvSpPr>
          <p:spPr>
            <a:xfrm>
              <a:off x="1142976" y="928694"/>
              <a:ext cx="3429024" cy="2000264"/>
            </a:xfrm>
            <a:prstGeom prst="rect">
              <a:avLst/>
            </a:prstGeom>
            <a:solidFill>
              <a:schemeClr val="accent6">
                <a:lumMod val="20000"/>
                <a:lumOff val="8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1" name="Oval 31"/>
            <p:cNvSpPr>
              <a:spLocks noChangeArrowheads="1"/>
            </p:cNvSpPr>
            <p:nvPr/>
          </p:nvSpPr>
          <p:spPr bwMode="auto">
            <a:xfrm>
              <a:off x="1619455" y="2069319"/>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52" name="直接箭头连接符 51"/>
            <p:cNvCxnSpPr>
              <a:endCxn id="54" idx="1"/>
            </p:cNvCxnSpPr>
            <p:nvPr/>
          </p:nvCxnSpPr>
          <p:spPr>
            <a:xfrm rot="16200000" flipH="1">
              <a:off x="1906550" y="1286220"/>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3" name="TextBox 52"/>
            <p:cNvSpPr txBox="1"/>
            <p:nvPr/>
          </p:nvSpPr>
          <p:spPr>
            <a:xfrm>
              <a:off x="1643042" y="1124348"/>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54" name="Oval 31"/>
            <p:cNvSpPr>
              <a:spLocks noChangeArrowheads="1"/>
            </p:cNvSpPr>
            <p:nvPr/>
          </p:nvSpPr>
          <p:spPr bwMode="auto">
            <a:xfrm>
              <a:off x="2048083" y="1423130"/>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55" name="直接连接符 54"/>
            <p:cNvCxnSpPr>
              <a:stCxn id="54" idx="3"/>
              <a:endCxn id="51" idx="0"/>
            </p:cNvCxnSpPr>
            <p:nvPr/>
          </p:nvCxnSpPr>
          <p:spPr>
            <a:xfrm rot="5400000">
              <a:off x="1756154" y="1732088"/>
              <a:ext cx="355202" cy="319260"/>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6" name="直接箭头连接符 55"/>
            <p:cNvCxnSpPr/>
            <p:nvPr/>
          </p:nvCxnSpPr>
          <p:spPr>
            <a:xfrm rot="16200000" flipH="1">
              <a:off x="1475033" y="1956471"/>
              <a:ext cx="193141" cy="1428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7" name="TextBox 56"/>
            <p:cNvSpPr txBox="1"/>
            <p:nvPr/>
          </p:nvSpPr>
          <p:spPr>
            <a:xfrm>
              <a:off x="1214414" y="1699099"/>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58" name="TextBox 57"/>
            <p:cNvSpPr txBox="1"/>
            <p:nvPr/>
          </p:nvSpPr>
          <p:spPr>
            <a:xfrm>
              <a:off x="1928794" y="2571744"/>
              <a:ext cx="2428892"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是结点</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的左孩子</a:t>
              </a:r>
            </a:p>
          </p:txBody>
        </p:sp>
        <p:sp>
          <p:nvSpPr>
            <p:cNvPr id="59" name="右箭头 58"/>
            <p:cNvSpPr/>
            <p:nvPr/>
          </p:nvSpPr>
          <p:spPr>
            <a:xfrm>
              <a:off x="2857488" y="1857364"/>
              <a:ext cx="357190"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cxnSp>
          <p:nvCxnSpPr>
            <p:cNvPr id="60" name="直接箭头连接符 59"/>
            <p:cNvCxnSpPr>
              <a:endCxn id="62" idx="1"/>
            </p:cNvCxnSpPr>
            <p:nvPr/>
          </p:nvCxnSpPr>
          <p:spPr>
            <a:xfrm rot="16200000" flipH="1">
              <a:off x="3763938" y="1733484"/>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1" name="TextBox 60"/>
            <p:cNvSpPr txBox="1"/>
            <p:nvPr/>
          </p:nvSpPr>
          <p:spPr>
            <a:xfrm>
              <a:off x="3500430" y="1571612"/>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62" name="Oval 31"/>
            <p:cNvSpPr>
              <a:spLocks noChangeArrowheads="1"/>
            </p:cNvSpPr>
            <p:nvPr/>
          </p:nvSpPr>
          <p:spPr bwMode="auto">
            <a:xfrm>
              <a:off x="3905471" y="1870394"/>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grpSp>
      <p:grpSp>
        <p:nvGrpSpPr>
          <p:cNvPr id="5" name="组合 62"/>
          <p:cNvGrpSpPr/>
          <p:nvPr/>
        </p:nvGrpSpPr>
        <p:grpSpPr>
          <a:xfrm>
            <a:off x="3667108" y="3571876"/>
            <a:ext cx="3143272" cy="1928826"/>
            <a:chOff x="1857356" y="3929066"/>
            <a:chExt cx="3143272" cy="1928826"/>
          </a:xfrm>
        </p:grpSpPr>
        <p:sp>
          <p:nvSpPr>
            <p:cNvPr id="64" name="矩形 63"/>
            <p:cNvSpPr/>
            <p:nvPr/>
          </p:nvSpPr>
          <p:spPr>
            <a:xfrm>
              <a:off x="1857356" y="3929066"/>
              <a:ext cx="3143272" cy="1928826"/>
            </a:xfrm>
            <a:prstGeom prst="rect">
              <a:avLst/>
            </a:prstGeom>
            <a:solidFill>
              <a:schemeClr val="accent6">
                <a:lumMod val="20000"/>
                <a:lumOff val="8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5" name="Oval 31"/>
            <p:cNvSpPr>
              <a:spLocks noChangeArrowheads="1"/>
            </p:cNvSpPr>
            <p:nvPr/>
          </p:nvSpPr>
          <p:spPr bwMode="auto">
            <a:xfrm>
              <a:off x="2749418" y="4854852"/>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66" name="直接箭头连接符 65"/>
            <p:cNvCxnSpPr>
              <a:endCxn id="68" idx="1"/>
            </p:cNvCxnSpPr>
            <p:nvPr/>
          </p:nvCxnSpPr>
          <p:spPr>
            <a:xfrm rot="16200000" flipH="1">
              <a:off x="2263740" y="4162376"/>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2000232" y="4000504"/>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68" name="Oval 31"/>
            <p:cNvSpPr>
              <a:spLocks noChangeArrowheads="1"/>
            </p:cNvSpPr>
            <p:nvPr/>
          </p:nvSpPr>
          <p:spPr bwMode="auto">
            <a:xfrm>
              <a:off x="2405273" y="4299286"/>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69" name="直接连接符 68"/>
            <p:cNvCxnSpPr>
              <a:stCxn id="68" idx="5"/>
              <a:endCxn id="65" idx="0"/>
            </p:cNvCxnSpPr>
            <p:nvPr/>
          </p:nvCxnSpPr>
          <p:spPr>
            <a:xfrm rot="16200000" flipH="1">
              <a:off x="2654410" y="4605173"/>
              <a:ext cx="264579" cy="234778"/>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0" name="直接箭头连接符 69"/>
            <p:cNvCxnSpPr>
              <a:endCxn id="65" idx="7"/>
            </p:cNvCxnSpPr>
            <p:nvPr/>
          </p:nvCxnSpPr>
          <p:spPr>
            <a:xfrm rot="5400000">
              <a:off x="2946059" y="4707596"/>
              <a:ext cx="264579" cy="12978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71" name="TextBox 70"/>
            <p:cNvSpPr txBox="1"/>
            <p:nvPr/>
          </p:nvSpPr>
          <p:spPr>
            <a:xfrm>
              <a:off x="3143240" y="4429132"/>
              <a:ext cx="500066"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72" name="TextBox 71"/>
            <p:cNvSpPr txBox="1"/>
            <p:nvPr/>
          </p:nvSpPr>
          <p:spPr>
            <a:xfrm>
              <a:off x="2285984" y="5429264"/>
              <a:ext cx="2428892"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是结点</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的右孩子</a:t>
              </a:r>
            </a:p>
          </p:txBody>
        </p:sp>
        <p:sp>
          <p:nvSpPr>
            <p:cNvPr id="73" name="右箭头 72"/>
            <p:cNvSpPr/>
            <p:nvPr/>
          </p:nvSpPr>
          <p:spPr>
            <a:xfrm>
              <a:off x="3643306" y="4429132"/>
              <a:ext cx="357190"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cxnSp>
          <p:nvCxnSpPr>
            <p:cNvPr id="74" name="直接箭头连接符 73"/>
            <p:cNvCxnSpPr>
              <a:endCxn id="76" idx="1"/>
            </p:cNvCxnSpPr>
            <p:nvPr/>
          </p:nvCxnSpPr>
          <p:spPr>
            <a:xfrm rot="16200000" flipH="1">
              <a:off x="4406880" y="4305252"/>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75" name="TextBox 74"/>
            <p:cNvSpPr txBox="1"/>
            <p:nvPr/>
          </p:nvSpPr>
          <p:spPr>
            <a:xfrm>
              <a:off x="4143372" y="4143380"/>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76" name="Oval 31"/>
            <p:cNvSpPr>
              <a:spLocks noChangeArrowheads="1"/>
            </p:cNvSpPr>
            <p:nvPr/>
          </p:nvSpPr>
          <p:spPr bwMode="auto">
            <a:xfrm>
              <a:off x="4548413" y="4442162"/>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grpSp>
      <p:sp>
        <p:nvSpPr>
          <p:cNvPr id="43" name="灯片编号占位符 42"/>
          <p:cNvSpPr>
            <a:spLocks noGrp="1"/>
          </p:cNvSpPr>
          <p:nvPr>
            <p:ph type="sldNum" sz="quarter" idx="12"/>
          </p:nvPr>
        </p:nvSpPr>
        <p:spPr/>
        <p:txBody>
          <a:bodyPr/>
          <a:lstStyle/>
          <a:p>
            <a:pPr>
              <a:defRPr/>
            </a:pPr>
            <a:fld id="{94984E60-CADE-4266-8DC7-A91C528B8A31}" type="slidenum">
              <a:rPr lang="en-US" altLang="zh-CN" smtClean="0"/>
              <a:pPr>
                <a:defRPr/>
              </a:pPr>
              <a:t>72</a:t>
            </a:fld>
            <a:r>
              <a:rPr lang="en-US" altLang="zh-CN"/>
              <a:t>/132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nodeType="clickEffect">
                                  <p:stCondLst>
                                    <p:cond delay="0"/>
                                  </p:stCondLst>
                                  <p:childTnLst>
                                    <p:animEffect transition="out" filter="wipe(down)">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7" end="7"/>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
                                            <p:txEl>
                                              <p:pRg st="9" end="9"/>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09720" y="214291"/>
            <a:ext cx="8501122" cy="36189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2500"/>
              </a:lnSpc>
            </a:pPr>
            <a:r>
              <a:rPr lang="en-US" altLang="zh-CN" b="1">
                <a:solidFill>
                  <a:srgbClr val="0000FF"/>
                </a:solidFill>
                <a:latin typeface="Consolas" pitchFamily="49" charset="0"/>
                <a:ea typeface="仿宋" pitchFamily="49" charset="-122"/>
                <a:cs typeface="Consolas" pitchFamily="49" charset="0"/>
              </a:rPr>
              <a:t>else if(p-&gt;rchild==NULL)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FF0000"/>
                </a:solidFill>
                <a:latin typeface="Consolas" pitchFamily="49" charset="0"/>
                <a:ea typeface="仿宋" pitchFamily="49" charset="-122"/>
                <a:cs typeface="Consolas" pitchFamily="49" charset="0"/>
              </a:rPr>
              <a:t>情况</a:t>
            </a:r>
            <a:r>
              <a:rPr lang="en-US" altLang="zh-CN" b="1">
                <a:solidFill>
                  <a:srgbClr val="FF0000"/>
                </a:solidFill>
                <a:latin typeface="Consolas" pitchFamily="49" charset="0"/>
                <a:ea typeface="仿宋" pitchFamily="49" charset="-122"/>
                <a:cs typeface="Consolas" pitchFamily="49" charset="0"/>
              </a:rPr>
              <a:t>(2)</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en-US" b="1">
                <a:solidFill>
                  <a:srgbClr val="00B0F0"/>
                </a:solidFill>
                <a:latin typeface="Consolas" pitchFamily="49" charset="0"/>
                <a:ea typeface="仿宋" pitchFamily="49" charset="-122"/>
                <a:cs typeface="Consolas" pitchFamily="49" charset="0"/>
              </a:rPr>
              <a:t>只有左</a:t>
            </a:r>
            <a:r>
              <a:rPr lang="zh-CN" altLang="zh-CN" b="1">
                <a:solidFill>
                  <a:srgbClr val="00B0F0"/>
                </a:solidFill>
                <a:latin typeface="Consolas" pitchFamily="49" charset="0"/>
                <a:ea typeface="仿宋" pitchFamily="49" charset="-122"/>
                <a:cs typeface="Consolas" pitchFamily="49" charset="0"/>
              </a:rPr>
              <a:t>子树</a:t>
            </a:r>
            <a:endParaRPr lang="en-US"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if(</a:t>
            </a:r>
            <a:r>
              <a:rPr lang="en-US" altLang="zh-CN" b="1">
                <a:solidFill>
                  <a:srgbClr val="FF00FF"/>
                </a:solidFill>
                <a:latin typeface="Consolas" pitchFamily="49" charset="0"/>
                <a:ea typeface="仿宋" pitchFamily="49" charset="-122"/>
                <a:cs typeface="Consolas" pitchFamily="49" charset="0"/>
              </a:rPr>
              <a:t>f==NULL</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没有双亲，即</a:t>
            </a:r>
            <a:r>
              <a:rPr lang="en-US" altLang="zh-CN" b="1">
                <a:solidFill>
                  <a:srgbClr val="00B0F0"/>
                </a:solidFill>
                <a:latin typeface="Consolas" pitchFamily="49" charset="0"/>
                <a:ea typeface="仿宋" pitchFamily="49" charset="-122"/>
                <a:cs typeface="Consolas" pitchFamily="49" charset="0"/>
              </a:rPr>
              <a:t>p==bt</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bt=bt-&gt;lchild;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用</a:t>
            </a:r>
            <a:r>
              <a:rPr lang="en-US" altLang="zh-CN" b="1">
                <a:solidFill>
                  <a:srgbClr val="00B0F0"/>
                </a:solidFill>
                <a:latin typeface="Consolas" pitchFamily="49" charset="0"/>
                <a:ea typeface="仿宋" pitchFamily="49" charset="-122"/>
                <a:cs typeface="Consolas" pitchFamily="49" charset="0"/>
              </a:rPr>
              <a:t>bt</a:t>
            </a:r>
            <a:r>
              <a:rPr lang="zh-CN" altLang="zh-CN" b="1">
                <a:solidFill>
                  <a:srgbClr val="00B0F0"/>
                </a:solidFill>
                <a:latin typeface="Consolas" pitchFamily="49" charset="0"/>
                <a:ea typeface="仿宋" pitchFamily="49" charset="-122"/>
                <a:cs typeface="Consolas" pitchFamily="49" charset="0"/>
              </a:rPr>
              <a:t>的左孩子替代</a:t>
            </a:r>
            <a:r>
              <a:rPr lang="en-US" altLang="zh-CN" b="1">
                <a:solidFill>
                  <a:srgbClr val="00B0F0"/>
                </a:solidFill>
                <a:latin typeface="Consolas" pitchFamily="49" charset="0"/>
                <a:ea typeface="仿宋" pitchFamily="49" charset="-122"/>
                <a:cs typeface="Consolas" pitchFamily="49" charset="0"/>
              </a:rPr>
              <a:t>bt </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存在双亲</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不是根结点）</a:t>
            </a:r>
            <a:r>
              <a:rPr lang="zh-CN" altLang="zh-CN" b="1">
                <a:solidFill>
                  <a:srgbClr val="0000FF"/>
                </a:solidFill>
                <a:latin typeface="Consolas" pitchFamily="49" charset="0"/>
                <a:ea typeface="仿宋" pitchFamily="49" charset="-122"/>
                <a:cs typeface="Consolas" pitchFamily="49" charset="0"/>
              </a:rPr>
              <a:t> </a:t>
            </a:r>
          </a:p>
          <a:p>
            <a:pPr>
              <a:lnSpc>
                <a:spcPts val="2500"/>
              </a:lnSpc>
            </a:pPr>
            <a:r>
              <a:rPr lang="en-US" altLang="zh-CN" b="1">
                <a:solidFill>
                  <a:srgbClr val="0000FF"/>
                </a:solidFill>
                <a:latin typeface="Consolas" pitchFamily="49" charset="0"/>
                <a:ea typeface="仿宋" pitchFamily="49" charset="-122"/>
                <a:cs typeface="Consolas" pitchFamily="49" charset="0"/>
              </a:rPr>
              <a:t>   {  if(</a:t>
            </a:r>
            <a:r>
              <a:rPr lang="en-US" altLang="zh-CN" b="1">
                <a:solidFill>
                  <a:srgbClr val="FF00FF"/>
                </a:solidFill>
                <a:latin typeface="Consolas" pitchFamily="49" charset="0"/>
                <a:ea typeface="仿宋" pitchFamily="49" charset="-122"/>
                <a:cs typeface="Consolas" pitchFamily="49" charset="0"/>
              </a:rPr>
              <a:t>f-&gt;lchild==p</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是结点</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的左孩子 </a:t>
            </a:r>
          </a:p>
          <a:p>
            <a:pPr>
              <a:lnSpc>
                <a:spcPts val="2500"/>
              </a:lnSpc>
            </a:pPr>
            <a:r>
              <a:rPr lang="en-US" altLang="zh-CN" b="1">
                <a:solidFill>
                  <a:srgbClr val="0000FF"/>
                </a:solidFill>
                <a:latin typeface="Consolas" pitchFamily="49" charset="0"/>
                <a:ea typeface="仿宋" pitchFamily="49" charset="-122"/>
                <a:cs typeface="Consolas" pitchFamily="49" charset="0"/>
              </a:rPr>
              <a:t>	  f-&gt;lchild=p-&gt;lchild;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用结点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的左孩子替代结点</a:t>
            </a:r>
            <a:r>
              <a:rPr lang="en-US" altLang="zh-CN" b="1">
                <a:solidFill>
                  <a:srgbClr val="00B0F0"/>
                </a:solidFill>
                <a:latin typeface="Consolas" pitchFamily="49" charset="0"/>
                <a:ea typeface="仿宋" pitchFamily="49" charset="-122"/>
                <a:cs typeface="Consolas" pitchFamily="49" charset="0"/>
              </a:rPr>
              <a:t>p </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是结点</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的右孩子</a:t>
            </a:r>
          </a:p>
          <a:p>
            <a:pPr>
              <a:lnSpc>
                <a:spcPts val="2500"/>
              </a:lnSpc>
            </a:pPr>
            <a:r>
              <a:rPr lang="en-US" altLang="zh-CN" b="1">
                <a:solidFill>
                  <a:srgbClr val="0000FF"/>
                </a:solidFill>
                <a:latin typeface="Consolas" pitchFamily="49" charset="0"/>
                <a:ea typeface="仿宋" pitchFamily="49" charset="-122"/>
                <a:cs typeface="Consolas" pitchFamily="49" charset="0"/>
              </a:rPr>
              <a:t>	  f-&gt;rchild=p-&gt;lchild;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用结点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的左孩子替代结点</a:t>
            </a:r>
            <a:r>
              <a:rPr lang="en-US" altLang="zh-CN" b="1">
                <a:solidFill>
                  <a:srgbClr val="00B0F0"/>
                </a:solidFill>
                <a:latin typeface="Consolas" pitchFamily="49" charset="0"/>
                <a:ea typeface="仿宋" pitchFamily="49" charset="-122"/>
                <a:cs typeface="Consolas" pitchFamily="49" charset="0"/>
              </a:rPr>
              <a:t>p</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free(p);</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p:txBody>
      </p:sp>
      <p:sp>
        <p:nvSpPr>
          <p:cNvPr id="77" name="TextBox 76"/>
          <p:cNvSpPr txBox="1"/>
          <p:nvPr/>
        </p:nvSpPr>
        <p:spPr>
          <a:xfrm>
            <a:off x="5953124" y="4643446"/>
            <a:ext cx="3571900" cy="400110"/>
          </a:xfrm>
          <a:prstGeom prst="rect">
            <a:avLst/>
          </a:prstGeom>
          <a:noFill/>
        </p:spPr>
        <p:txBody>
          <a:bodyPr wrap="square" rtlCol="0">
            <a:spAutoFit/>
          </a:bodyPr>
          <a:lstStyle/>
          <a:p>
            <a:r>
              <a:rPr lang="zh-CN" altLang="en-US" sz="2000">
                <a:solidFill>
                  <a:srgbClr val="FF0000"/>
                </a:solidFill>
                <a:latin typeface="Consolas" pitchFamily="49" charset="0"/>
                <a:ea typeface="华文中宋" pitchFamily="2" charset="-122"/>
                <a:cs typeface="Consolas" pitchFamily="49" charset="0"/>
                <a:sym typeface="Wingdings"/>
              </a:rPr>
              <a:t></a:t>
            </a:r>
            <a:r>
              <a:rPr lang="zh-CN" altLang="en-US">
                <a:solidFill>
                  <a:srgbClr val="0000FF"/>
                </a:solidFill>
                <a:latin typeface="Consolas" pitchFamily="49" charset="0"/>
                <a:ea typeface="华文中宋" pitchFamily="2" charset="-122"/>
                <a:cs typeface="Consolas" pitchFamily="49" charset="0"/>
                <a:sym typeface="Wingdings"/>
              </a:rPr>
              <a:t> </a:t>
            </a:r>
            <a:r>
              <a:rPr lang="zh-CN" altLang="en-US">
                <a:solidFill>
                  <a:srgbClr val="0000FF"/>
                </a:solidFill>
                <a:latin typeface="Consolas" pitchFamily="49" charset="0"/>
                <a:ea typeface="华文中宋" pitchFamily="2" charset="-122"/>
                <a:cs typeface="Consolas" pitchFamily="49" charset="0"/>
              </a:rPr>
              <a:t>用结点</a:t>
            </a:r>
            <a:r>
              <a:rPr lang="en-US" altLang="zh-CN">
                <a:solidFill>
                  <a:srgbClr val="0000FF"/>
                </a:solidFill>
                <a:latin typeface="Consolas" pitchFamily="49" charset="0"/>
                <a:ea typeface="华文中宋" pitchFamily="2" charset="-122"/>
                <a:cs typeface="Consolas" pitchFamily="49" charset="0"/>
              </a:rPr>
              <a:t>p</a:t>
            </a:r>
            <a:r>
              <a:rPr lang="zh-CN" altLang="en-US">
                <a:solidFill>
                  <a:srgbClr val="0000FF"/>
                </a:solidFill>
                <a:latin typeface="Consolas" pitchFamily="49" charset="0"/>
                <a:ea typeface="华文中宋" pitchFamily="2" charset="-122"/>
                <a:cs typeface="Consolas" pitchFamily="49" charset="0"/>
              </a:rPr>
              <a:t>的左孩子替代结点</a:t>
            </a:r>
            <a:r>
              <a:rPr lang="en-US" altLang="zh-CN">
                <a:solidFill>
                  <a:srgbClr val="0000FF"/>
                </a:solidFill>
                <a:latin typeface="Consolas" pitchFamily="49" charset="0"/>
                <a:ea typeface="华文中宋" pitchFamily="2" charset="-122"/>
                <a:cs typeface="Consolas" pitchFamily="49" charset="0"/>
              </a:rPr>
              <a:t>p</a:t>
            </a:r>
            <a:endParaRPr lang="zh-CN" altLang="en-US">
              <a:solidFill>
                <a:srgbClr val="0000FF"/>
              </a:solidFill>
              <a:latin typeface="Consolas" pitchFamily="49" charset="0"/>
              <a:ea typeface="华文中宋" pitchFamily="2" charset="-122"/>
              <a:cs typeface="Consolas" pitchFamily="49" charset="0"/>
            </a:endParaRPr>
          </a:p>
        </p:txBody>
      </p:sp>
      <p:grpSp>
        <p:nvGrpSpPr>
          <p:cNvPr id="2" name="组合 94"/>
          <p:cNvGrpSpPr/>
          <p:nvPr/>
        </p:nvGrpSpPr>
        <p:grpSpPr>
          <a:xfrm>
            <a:off x="2166910" y="1500174"/>
            <a:ext cx="3429024" cy="1928826"/>
            <a:chOff x="285720" y="4071942"/>
            <a:chExt cx="3429024" cy="1928826"/>
          </a:xfrm>
        </p:grpSpPr>
        <p:sp>
          <p:nvSpPr>
            <p:cNvPr id="94" name="矩形 93"/>
            <p:cNvSpPr/>
            <p:nvPr/>
          </p:nvSpPr>
          <p:spPr>
            <a:xfrm>
              <a:off x="285720" y="4071942"/>
              <a:ext cx="3429024" cy="1928826"/>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9" name="Oval 31"/>
            <p:cNvSpPr>
              <a:spLocks noChangeArrowheads="1"/>
            </p:cNvSpPr>
            <p:nvPr/>
          </p:nvSpPr>
          <p:spPr bwMode="auto">
            <a:xfrm>
              <a:off x="976513" y="4926839"/>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63" name="直接箭头连接符 62"/>
            <p:cNvCxnSpPr/>
            <p:nvPr/>
          </p:nvCxnSpPr>
          <p:spPr>
            <a:xfrm rot="16200000" flipH="1">
              <a:off x="832091" y="4813991"/>
              <a:ext cx="193141" cy="1428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78" name="TextBox 77"/>
            <p:cNvSpPr txBox="1"/>
            <p:nvPr/>
          </p:nvSpPr>
          <p:spPr>
            <a:xfrm>
              <a:off x="571472" y="4556619"/>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79" name="等腰三角形 78"/>
            <p:cNvSpPr/>
            <p:nvPr/>
          </p:nvSpPr>
          <p:spPr>
            <a:xfrm>
              <a:off x="543479" y="5553504"/>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80" name="直接连接符 79"/>
            <p:cNvCxnSpPr>
              <a:stCxn id="49" idx="3"/>
              <a:endCxn id="81" idx="7"/>
            </p:cNvCxnSpPr>
            <p:nvPr/>
          </p:nvCxnSpPr>
          <p:spPr>
            <a:xfrm rot="5400000">
              <a:off x="814718" y="5240435"/>
              <a:ext cx="229707" cy="184489"/>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81" name="Oval 31"/>
            <p:cNvSpPr>
              <a:spLocks noChangeArrowheads="1"/>
            </p:cNvSpPr>
            <p:nvPr/>
          </p:nvSpPr>
          <p:spPr bwMode="auto">
            <a:xfrm>
              <a:off x="652958" y="5410628"/>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82" name="TextBox 81"/>
            <p:cNvSpPr txBox="1"/>
            <p:nvPr/>
          </p:nvSpPr>
          <p:spPr>
            <a:xfrm>
              <a:off x="1428728" y="4553372"/>
              <a:ext cx="171451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bt=bt-&gt;lchild</a:t>
              </a:r>
              <a:endParaRPr lang="zh-CN" altLang="en-US" sz="1600">
                <a:solidFill>
                  <a:srgbClr val="0000FF"/>
                </a:solidFill>
                <a:latin typeface="Consolas" pitchFamily="49" charset="0"/>
                <a:ea typeface="楷体" pitchFamily="49" charset="-122"/>
                <a:cs typeface="Consolas" pitchFamily="49" charset="0"/>
              </a:endParaRPr>
            </a:p>
          </p:txBody>
        </p:sp>
        <p:cxnSp>
          <p:nvCxnSpPr>
            <p:cNvPr id="83" name="直接箭头连接符 82"/>
            <p:cNvCxnSpPr>
              <a:endCxn id="49" idx="0"/>
            </p:cNvCxnSpPr>
            <p:nvPr/>
          </p:nvCxnSpPr>
          <p:spPr>
            <a:xfrm rot="5400000">
              <a:off x="950347" y="4662771"/>
              <a:ext cx="444905" cy="8323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4" name="TextBox 83"/>
            <p:cNvSpPr txBox="1"/>
            <p:nvPr/>
          </p:nvSpPr>
          <p:spPr>
            <a:xfrm>
              <a:off x="1071538" y="4143380"/>
              <a:ext cx="64294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a:t>
              </a:r>
              <a:endParaRPr lang="zh-CN" altLang="en-US" sz="1600">
                <a:solidFill>
                  <a:srgbClr val="0000FF"/>
                </a:solidFill>
                <a:latin typeface="Consolas" pitchFamily="49" charset="0"/>
                <a:ea typeface="楷体" pitchFamily="49" charset="-122"/>
                <a:cs typeface="Consolas" pitchFamily="49" charset="0"/>
              </a:endParaRPr>
            </a:p>
          </p:txBody>
        </p:sp>
        <p:sp>
          <p:nvSpPr>
            <p:cNvPr id="85" name="右箭头 84"/>
            <p:cNvSpPr/>
            <p:nvPr/>
          </p:nvSpPr>
          <p:spPr>
            <a:xfrm>
              <a:off x="1552942" y="4876422"/>
              <a:ext cx="1428760" cy="1956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6" name="等腰三角形 85"/>
            <p:cNvSpPr/>
            <p:nvPr/>
          </p:nvSpPr>
          <p:spPr>
            <a:xfrm>
              <a:off x="3071802" y="5357826"/>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87" name="Oval 31"/>
            <p:cNvSpPr>
              <a:spLocks noChangeArrowheads="1"/>
            </p:cNvSpPr>
            <p:nvPr/>
          </p:nvSpPr>
          <p:spPr bwMode="auto">
            <a:xfrm>
              <a:off x="3181281" y="5214950"/>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88" name="直接箭头连接符 87"/>
            <p:cNvCxnSpPr/>
            <p:nvPr/>
          </p:nvCxnSpPr>
          <p:spPr>
            <a:xfrm rot="5400000">
              <a:off x="3111432" y="4948523"/>
              <a:ext cx="444905" cy="8323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9" name="TextBox 88"/>
            <p:cNvSpPr txBox="1"/>
            <p:nvPr/>
          </p:nvSpPr>
          <p:spPr>
            <a:xfrm>
              <a:off x="3232623" y="4429132"/>
              <a:ext cx="428628"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a:t>
              </a:r>
              <a:endParaRPr lang="zh-CN" altLang="en-US" sz="1600">
                <a:solidFill>
                  <a:srgbClr val="0000FF"/>
                </a:solidFill>
                <a:latin typeface="Consolas" pitchFamily="49" charset="0"/>
                <a:ea typeface="楷体" pitchFamily="49" charset="-122"/>
                <a:cs typeface="Consolas" pitchFamily="49" charset="0"/>
              </a:endParaRPr>
            </a:p>
          </p:txBody>
        </p:sp>
      </p:grpSp>
      <p:grpSp>
        <p:nvGrpSpPr>
          <p:cNvPr id="3" name="组合 109"/>
          <p:cNvGrpSpPr/>
          <p:nvPr/>
        </p:nvGrpSpPr>
        <p:grpSpPr>
          <a:xfrm>
            <a:off x="2238348" y="2857496"/>
            <a:ext cx="3571900" cy="2714644"/>
            <a:chOff x="1714480" y="4000504"/>
            <a:chExt cx="3571900" cy="2714644"/>
          </a:xfrm>
        </p:grpSpPr>
        <p:sp>
          <p:nvSpPr>
            <p:cNvPr id="111" name="矩形 110"/>
            <p:cNvSpPr/>
            <p:nvPr/>
          </p:nvSpPr>
          <p:spPr>
            <a:xfrm>
              <a:off x="1714480" y="4000504"/>
              <a:ext cx="3571900" cy="2714644"/>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2" name="Oval 31"/>
            <p:cNvSpPr>
              <a:spLocks noChangeArrowheads="1"/>
            </p:cNvSpPr>
            <p:nvPr/>
          </p:nvSpPr>
          <p:spPr bwMode="auto">
            <a:xfrm>
              <a:off x="2476711" y="4964111"/>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13" name="直接箭头连接符 112"/>
            <p:cNvCxnSpPr>
              <a:endCxn id="115" idx="1"/>
            </p:cNvCxnSpPr>
            <p:nvPr/>
          </p:nvCxnSpPr>
          <p:spPr>
            <a:xfrm rot="16200000" flipH="1">
              <a:off x="2860027" y="4181012"/>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14" name="TextBox 113"/>
            <p:cNvSpPr txBox="1"/>
            <p:nvPr/>
          </p:nvSpPr>
          <p:spPr>
            <a:xfrm>
              <a:off x="2596519" y="4019140"/>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115" name="Oval 31"/>
            <p:cNvSpPr>
              <a:spLocks noChangeArrowheads="1"/>
            </p:cNvSpPr>
            <p:nvPr/>
          </p:nvSpPr>
          <p:spPr bwMode="auto">
            <a:xfrm>
              <a:off x="3001560" y="4317922"/>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16" name="直接箭头连接符 115"/>
            <p:cNvCxnSpPr>
              <a:endCxn id="112" idx="1"/>
            </p:cNvCxnSpPr>
            <p:nvPr/>
          </p:nvCxnSpPr>
          <p:spPr>
            <a:xfrm rot="16200000" flipH="1">
              <a:off x="2370897" y="4862920"/>
              <a:ext cx="209079" cy="9315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17" name="TextBox 116"/>
            <p:cNvSpPr txBox="1"/>
            <p:nvPr/>
          </p:nvSpPr>
          <p:spPr>
            <a:xfrm>
              <a:off x="2143108" y="4590644"/>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118" name="TextBox 117"/>
            <p:cNvSpPr txBox="1"/>
            <p:nvPr/>
          </p:nvSpPr>
          <p:spPr>
            <a:xfrm>
              <a:off x="2928926" y="6233718"/>
              <a:ext cx="1928826"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的左孩子</a:t>
              </a:r>
            </a:p>
          </p:txBody>
        </p:sp>
        <p:sp>
          <p:nvSpPr>
            <p:cNvPr id="119" name="等腰三角形 118"/>
            <p:cNvSpPr/>
            <p:nvPr/>
          </p:nvSpPr>
          <p:spPr>
            <a:xfrm>
              <a:off x="2031435" y="5665424"/>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0" name="直接连接符 119"/>
            <p:cNvCxnSpPr>
              <a:stCxn id="112" idx="3"/>
              <a:endCxn id="121" idx="7"/>
            </p:cNvCxnSpPr>
            <p:nvPr/>
          </p:nvCxnSpPr>
          <p:spPr>
            <a:xfrm rot="5400000">
              <a:off x="2266805" y="5304244"/>
              <a:ext cx="304355" cy="20606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21" name="Oval 31"/>
            <p:cNvSpPr>
              <a:spLocks noChangeArrowheads="1"/>
            </p:cNvSpPr>
            <p:nvPr/>
          </p:nvSpPr>
          <p:spPr bwMode="auto">
            <a:xfrm>
              <a:off x="2131583" y="5522548"/>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122" name="TextBox 121"/>
            <p:cNvSpPr txBox="1"/>
            <p:nvPr/>
          </p:nvSpPr>
          <p:spPr>
            <a:xfrm>
              <a:off x="2786050" y="5090710"/>
              <a:ext cx="242889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f-&gt;lchild=p-&gt;lchild</a:t>
              </a:r>
              <a:endParaRPr lang="zh-CN" altLang="en-US" sz="1600">
                <a:solidFill>
                  <a:srgbClr val="0000FF"/>
                </a:solidFill>
                <a:latin typeface="Consolas" pitchFamily="49" charset="0"/>
                <a:ea typeface="楷体" pitchFamily="49" charset="-122"/>
                <a:cs typeface="Consolas" pitchFamily="49" charset="0"/>
              </a:endParaRPr>
            </a:p>
          </p:txBody>
        </p:sp>
        <p:cxnSp>
          <p:nvCxnSpPr>
            <p:cNvPr id="123" name="直接连接符 122"/>
            <p:cNvCxnSpPr>
              <a:stCxn id="115" idx="3"/>
              <a:endCxn id="112" idx="7"/>
            </p:cNvCxnSpPr>
            <p:nvPr/>
          </p:nvCxnSpPr>
          <p:spPr>
            <a:xfrm rot="5400000">
              <a:off x="2691241" y="4658416"/>
              <a:ext cx="405128" cy="306114"/>
            </a:xfrm>
            <a:prstGeom prst="line">
              <a:avLst/>
            </a:prstGeom>
            <a:ln w="19050">
              <a:solidFill>
                <a:srgbClr val="FF0000"/>
              </a:solidFill>
              <a:tailEnd type="none"/>
            </a:ln>
          </p:spPr>
          <p:style>
            <a:lnRef idx="2">
              <a:schemeClr val="dk1"/>
            </a:lnRef>
            <a:fillRef idx="0">
              <a:schemeClr val="dk1"/>
            </a:fillRef>
            <a:effectRef idx="1">
              <a:schemeClr val="dk1"/>
            </a:effectRef>
            <a:fontRef idx="minor">
              <a:schemeClr val="tx1"/>
            </a:fontRef>
          </p:style>
        </p:cxnSp>
        <p:sp>
          <p:nvSpPr>
            <p:cNvPr id="124" name="任意多边形 123"/>
            <p:cNvSpPr/>
            <p:nvPr/>
          </p:nvSpPr>
          <p:spPr>
            <a:xfrm>
              <a:off x="2323322" y="4649536"/>
              <a:ext cx="718458" cy="933062"/>
            </a:xfrm>
            <a:custGeom>
              <a:avLst/>
              <a:gdLst>
                <a:gd name="connsiteX0" fmla="*/ 718458 w 718458"/>
                <a:gd name="connsiteY0" fmla="*/ 0 h 933062"/>
                <a:gd name="connsiteX1" fmla="*/ 662474 w 718458"/>
                <a:gd name="connsiteY1" fmla="*/ 242596 h 933062"/>
                <a:gd name="connsiteX2" fmla="*/ 569168 w 718458"/>
                <a:gd name="connsiteY2" fmla="*/ 475862 h 933062"/>
                <a:gd name="connsiteX3" fmla="*/ 354564 w 718458"/>
                <a:gd name="connsiteY3" fmla="*/ 802433 h 933062"/>
                <a:gd name="connsiteX4" fmla="*/ 0 w 718458"/>
                <a:gd name="connsiteY4" fmla="*/ 933062 h 93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458" h="933062">
                  <a:moveTo>
                    <a:pt x="718458" y="0"/>
                  </a:moveTo>
                  <a:cubicBezTo>
                    <a:pt x="702907" y="81643"/>
                    <a:pt x="687356" y="163286"/>
                    <a:pt x="662474" y="242596"/>
                  </a:cubicBezTo>
                  <a:cubicBezTo>
                    <a:pt x="637592" y="321906"/>
                    <a:pt x="620486" y="382556"/>
                    <a:pt x="569168" y="475862"/>
                  </a:cubicBezTo>
                  <a:cubicBezTo>
                    <a:pt x="517850" y="569168"/>
                    <a:pt x="449425" y="726233"/>
                    <a:pt x="354564" y="802433"/>
                  </a:cubicBezTo>
                  <a:cubicBezTo>
                    <a:pt x="259703" y="878633"/>
                    <a:pt x="129851" y="905847"/>
                    <a:pt x="0" y="933062"/>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4" name="组合 124"/>
          <p:cNvGrpSpPr/>
          <p:nvPr/>
        </p:nvGrpSpPr>
        <p:grpSpPr>
          <a:xfrm>
            <a:off x="2166910" y="3857628"/>
            <a:ext cx="3643338" cy="2714644"/>
            <a:chOff x="3428992" y="4000504"/>
            <a:chExt cx="3643338" cy="2714644"/>
          </a:xfrm>
        </p:grpSpPr>
        <p:sp>
          <p:nvSpPr>
            <p:cNvPr id="126" name="矩形 125"/>
            <p:cNvSpPr/>
            <p:nvPr/>
          </p:nvSpPr>
          <p:spPr>
            <a:xfrm>
              <a:off x="3500430" y="4000504"/>
              <a:ext cx="3571900" cy="2714644"/>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27" name="Oval 31"/>
            <p:cNvSpPr>
              <a:spLocks noChangeArrowheads="1"/>
            </p:cNvSpPr>
            <p:nvPr/>
          </p:nvSpPr>
          <p:spPr bwMode="auto">
            <a:xfrm>
              <a:off x="5762859" y="4964111"/>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28" name="直接箭头连接符 127"/>
            <p:cNvCxnSpPr>
              <a:endCxn id="130" idx="1"/>
            </p:cNvCxnSpPr>
            <p:nvPr/>
          </p:nvCxnSpPr>
          <p:spPr>
            <a:xfrm rot="16200000" flipH="1">
              <a:off x="5146043" y="4209005"/>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29" name="TextBox 128"/>
            <p:cNvSpPr txBox="1"/>
            <p:nvPr/>
          </p:nvSpPr>
          <p:spPr>
            <a:xfrm>
              <a:off x="4882535" y="4047133"/>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130" name="Oval 31"/>
            <p:cNvSpPr>
              <a:spLocks noChangeArrowheads="1"/>
            </p:cNvSpPr>
            <p:nvPr/>
          </p:nvSpPr>
          <p:spPr bwMode="auto">
            <a:xfrm>
              <a:off x="5287576" y="4345915"/>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31" name="直接箭头连接符 130"/>
            <p:cNvCxnSpPr>
              <a:endCxn id="127" idx="7"/>
            </p:cNvCxnSpPr>
            <p:nvPr/>
          </p:nvCxnSpPr>
          <p:spPr>
            <a:xfrm rot="5400000">
              <a:off x="5935691" y="4806091"/>
              <a:ext cx="299151" cy="11674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32" name="TextBox 131"/>
            <p:cNvSpPr txBox="1"/>
            <p:nvPr/>
          </p:nvSpPr>
          <p:spPr>
            <a:xfrm>
              <a:off x="5929322" y="4429132"/>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133" name="TextBox 132"/>
            <p:cNvSpPr txBox="1"/>
            <p:nvPr/>
          </p:nvSpPr>
          <p:spPr>
            <a:xfrm>
              <a:off x="4429124" y="6305156"/>
              <a:ext cx="2071702"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的右孩子</a:t>
              </a:r>
            </a:p>
          </p:txBody>
        </p:sp>
        <p:sp>
          <p:nvSpPr>
            <p:cNvPr id="134" name="等腰三角形 133"/>
            <p:cNvSpPr/>
            <p:nvPr/>
          </p:nvSpPr>
          <p:spPr>
            <a:xfrm>
              <a:off x="5246145" y="5736862"/>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35" name="直接连接符 134"/>
            <p:cNvCxnSpPr>
              <a:stCxn id="127" idx="3"/>
              <a:endCxn id="136" idx="7"/>
            </p:cNvCxnSpPr>
            <p:nvPr/>
          </p:nvCxnSpPr>
          <p:spPr>
            <a:xfrm rot="5400000">
              <a:off x="5481515" y="5304244"/>
              <a:ext cx="375793" cy="27750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36" name="Oval 31"/>
            <p:cNvSpPr>
              <a:spLocks noChangeArrowheads="1"/>
            </p:cNvSpPr>
            <p:nvPr/>
          </p:nvSpPr>
          <p:spPr bwMode="auto">
            <a:xfrm>
              <a:off x="5346293" y="5593986"/>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137" name="TextBox 136"/>
            <p:cNvSpPr txBox="1"/>
            <p:nvPr/>
          </p:nvSpPr>
          <p:spPr>
            <a:xfrm>
              <a:off x="3428992" y="4938529"/>
              <a:ext cx="242889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f-&gt;rchild=p-&gt;lchild</a:t>
              </a:r>
              <a:endParaRPr lang="zh-CN" altLang="en-US" sz="1600">
                <a:solidFill>
                  <a:srgbClr val="0000FF"/>
                </a:solidFill>
                <a:latin typeface="Consolas" pitchFamily="49" charset="0"/>
                <a:ea typeface="楷体" pitchFamily="49" charset="-122"/>
                <a:cs typeface="Consolas" pitchFamily="49" charset="0"/>
              </a:endParaRPr>
            </a:p>
          </p:txBody>
        </p:sp>
        <p:cxnSp>
          <p:nvCxnSpPr>
            <p:cNvPr id="138" name="直接连接符 137"/>
            <p:cNvCxnSpPr>
              <a:stCxn id="130" idx="5"/>
              <a:endCxn id="127" idx="1"/>
            </p:cNvCxnSpPr>
            <p:nvPr/>
          </p:nvCxnSpPr>
          <p:spPr>
            <a:xfrm rot="16200000" flipH="1">
              <a:off x="5491320" y="4697195"/>
              <a:ext cx="377135" cy="256548"/>
            </a:xfrm>
            <a:prstGeom prst="line">
              <a:avLst/>
            </a:prstGeom>
            <a:ln w="19050">
              <a:solidFill>
                <a:srgbClr val="FF0000"/>
              </a:solidFill>
              <a:tailEnd type="none"/>
            </a:ln>
          </p:spPr>
          <p:style>
            <a:lnRef idx="2">
              <a:schemeClr val="dk1"/>
            </a:lnRef>
            <a:fillRef idx="0">
              <a:schemeClr val="dk1"/>
            </a:fillRef>
            <a:effectRef idx="1">
              <a:schemeClr val="dk1"/>
            </a:effectRef>
            <a:fontRef idx="minor">
              <a:schemeClr val="tx1"/>
            </a:fontRef>
          </p:style>
        </p:cxnSp>
        <p:sp>
          <p:nvSpPr>
            <p:cNvPr id="139" name="任意多边形 138"/>
            <p:cNvSpPr/>
            <p:nvPr/>
          </p:nvSpPr>
          <p:spPr>
            <a:xfrm>
              <a:off x="5498357" y="4618653"/>
              <a:ext cx="239486" cy="989045"/>
            </a:xfrm>
            <a:custGeom>
              <a:avLst/>
              <a:gdLst>
                <a:gd name="connsiteX0" fmla="*/ 18662 w 239486"/>
                <a:gd name="connsiteY0" fmla="*/ 0 h 989045"/>
                <a:gd name="connsiteX1" fmla="*/ 205274 w 239486"/>
                <a:gd name="connsiteY1" fmla="*/ 391886 h 989045"/>
                <a:gd name="connsiteX2" fmla="*/ 205274 w 239486"/>
                <a:gd name="connsiteY2" fmla="*/ 569167 h 989045"/>
                <a:gd name="connsiteX3" fmla="*/ 0 w 239486"/>
                <a:gd name="connsiteY3" fmla="*/ 989045 h 989045"/>
              </a:gdLst>
              <a:ahLst/>
              <a:cxnLst>
                <a:cxn ang="0">
                  <a:pos x="connsiteX0" y="connsiteY0"/>
                </a:cxn>
                <a:cxn ang="0">
                  <a:pos x="connsiteX1" y="connsiteY1"/>
                </a:cxn>
                <a:cxn ang="0">
                  <a:pos x="connsiteX2" y="connsiteY2"/>
                </a:cxn>
                <a:cxn ang="0">
                  <a:pos x="connsiteX3" y="connsiteY3"/>
                </a:cxn>
              </a:cxnLst>
              <a:rect l="l" t="t" r="r" b="b"/>
              <a:pathLst>
                <a:path w="239486" h="989045">
                  <a:moveTo>
                    <a:pt x="18662" y="0"/>
                  </a:moveTo>
                  <a:cubicBezTo>
                    <a:pt x="96417" y="148512"/>
                    <a:pt x="174172" y="297025"/>
                    <a:pt x="205274" y="391886"/>
                  </a:cubicBezTo>
                  <a:cubicBezTo>
                    <a:pt x="236376" y="486747"/>
                    <a:pt x="239486" y="469641"/>
                    <a:pt x="205274" y="569167"/>
                  </a:cubicBezTo>
                  <a:cubicBezTo>
                    <a:pt x="171062" y="668693"/>
                    <a:pt x="85531" y="828869"/>
                    <a:pt x="0" y="989045"/>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51" name="灯片编号占位符 50"/>
          <p:cNvSpPr>
            <a:spLocks noGrp="1"/>
          </p:cNvSpPr>
          <p:nvPr>
            <p:ph type="sldNum" sz="quarter" idx="12"/>
          </p:nvPr>
        </p:nvSpPr>
        <p:spPr/>
        <p:txBody>
          <a:bodyPr/>
          <a:lstStyle/>
          <a:p>
            <a:pPr>
              <a:defRPr/>
            </a:pPr>
            <a:fld id="{94984E60-CADE-4266-8DC7-A91C528B8A31}" type="slidenum">
              <a:rPr lang="en-US" altLang="zh-CN" smtClean="0"/>
              <a:pPr>
                <a:defRPr/>
              </a:pPr>
              <a:t>73</a:t>
            </a:fld>
            <a:r>
              <a:rPr lang="en-US" altLang="zh-CN"/>
              <a:t>/132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par>
                          <p:cTn id="11" fill="hold">
                            <p:stCondLst>
                              <p:cond delay="0"/>
                            </p:stCondLst>
                            <p:childTnLst>
                              <p:par>
                                <p:cTn id="12" presetID="22" presetClass="exit" presetSubtype="4" fill="hold" nodeType="afterEffect">
                                  <p:stCondLst>
                                    <p:cond delay="0"/>
                                  </p:stCondLst>
                                  <p:childTnLst>
                                    <p:animEffect transition="out" filter="wipe(down)">
                                      <p:cBhvr>
                                        <p:cTn id="13" dur="500"/>
                                        <p:tgtEl>
                                          <p:spTgt spid="2"/>
                                        </p:tgtEl>
                                      </p:cBhvr>
                                    </p:animEffect>
                                    <p:set>
                                      <p:cBhvr>
                                        <p:cTn id="14" dur="1" fill="hold">
                                          <p:stCondLst>
                                            <p:cond delay="499"/>
                                          </p:stCondLst>
                                        </p:cTn>
                                        <p:tgtEl>
                                          <p:spTgt spid="2"/>
                                        </p:tgtEl>
                                        <p:attrNameLst>
                                          <p:attrName>style.visibility</p:attrName>
                                        </p:attrNameLst>
                                      </p:cBhvr>
                                      <p:to>
                                        <p:strVal val="hidden"/>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8" end="8"/>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6">
                                            <p:txEl>
                                              <p:pRg st="9" end="9"/>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
                                            <p:txEl>
                                              <p:pRg st="10" end="10"/>
                                            </p:txEl>
                                          </p:spTgt>
                                        </p:tgtEl>
                                        <p:attrNameLst>
                                          <p:attrName>style.visibility</p:attrName>
                                        </p:attrNameLst>
                                      </p:cBhvr>
                                      <p:to>
                                        <p:strVal val="visible"/>
                                      </p:to>
                                    </p:set>
                                  </p:childTnLst>
                                </p:cTn>
                              </p:par>
                            </p:childTnLst>
                          </p:cTn>
                        </p:par>
                        <p:par>
                          <p:cTn id="30" fill="hold">
                            <p:stCondLst>
                              <p:cond delay="0"/>
                            </p:stCondLst>
                            <p:childTnLst>
                              <p:par>
                                <p:cTn id="31" presetID="22" presetClass="exit" presetSubtype="4" fill="hold" nodeType="afterEffect">
                                  <p:stCondLst>
                                    <p:cond delay="0"/>
                                  </p:stCondLst>
                                  <p:childTnLst>
                                    <p:animEffect transition="out" filter="wipe(down)">
                                      <p:cBhvr>
                                        <p:cTn id="32" dur="500"/>
                                        <p:tgtEl>
                                          <p:spTgt spid="3"/>
                                        </p:tgtEl>
                                      </p:cBhvr>
                                    </p:animEffect>
                                    <p:set>
                                      <p:cBhvr>
                                        <p:cTn id="33" dur="1" fill="hold">
                                          <p:stCondLst>
                                            <p:cond delay="499"/>
                                          </p:stCondLst>
                                        </p:cTn>
                                        <p:tgtEl>
                                          <p:spTgt spid="3"/>
                                        </p:tgtEl>
                                        <p:attrNameLst>
                                          <p:attrName>style.visibility</p:attrName>
                                        </p:attrNameLst>
                                      </p:cBhvr>
                                      <p:to>
                                        <p:strVal val="hidden"/>
                                      </p:to>
                                    </p:se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6844" y="214291"/>
            <a:ext cx="8786874" cy="36189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2500"/>
              </a:lnSpc>
            </a:pPr>
            <a:r>
              <a:rPr lang="en-US" altLang="zh-CN" sz="2000" b="1">
                <a:solidFill>
                  <a:srgbClr val="0000FF"/>
                </a:solidFill>
                <a:latin typeface="Consolas" pitchFamily="49" charset="0"/>
                <a:ea typeface="仿宋" pitchFamily="49" charset="-122"/>
                <a:cs typeface="Consolas" pitchFamily="49" charset="0"/>
              </a:rPr>
              <a:t>else if (p-&gt;lchild==NULL)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FF0000"/>
                </a:solidFill>
                <a:latin typeface="Consolas" pitchFamily="49" charset="0"/>
                <a:ea typeface="仿宋" pitchFamily="49" charset="-122"/>
                <a:cs typeface="Consolas" pitchFamily="49" charset="0"/>
              </a:rPr>
              <a:t>情况</a:t>
            </a:r>
            <a:r>
              <a:rPr lang="en-US" altLang="zh-CN" sz="2000" b="1">
                <a:solidFill>
                  <a:srgbClr val="FF0000"/>
                </a:solidFill>
                <a:latin typeface="Consolas" pitchFamily="49" charset="0"/>
                <a:ea typeface="仿宋" pitchFamily="49" charset="-122"/>
                <a:cs typeface="Consolas" pitchFamily="49" charset="0"/>
              </a:rPr>
              <a:t>(3)</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只有右子树</a:t>
            </a:r>
          </a:p>
          <a:p>
            <a:pPr>
              <a:lnSpc>
                <a:spcPts val="2500"/>
              </a:lnSpc>
            </a:pPr>
            <a:r>
              <a:rPr lang="en-US" altLang="zh-CN" sz="2000" b="1">
                <a:solidFill>
                  <a:srgbClr val="0000FF"/>
                </a:solidFill>
                <a:latin typeface="Consolas" pitchFamily="49" charset="0"/>
                <a:ea typeface="仿宋" pitchFamily="49" charset="-122"/>
                <a:cs typeface="Consolas" pitchFamily="49" charset="0"/>
              </a:rPr>
              <a:t>{  if(</a:t>
            </a:r>
            <a:r>
              <a:rPr lang="en-US" altLang="zh-CN" sz="2000" b="1">
                <a:solidFill>
                  <a:srgbClr val="FF00FF"/>
                </a:solidFill>
                <a:latin typeface="Consolas" pitchFamily="49" charset="0"/>
                <a:ea typeface="仿宋" pitchFamily="49" charset="-122"/>
                <a:cs typeface="Consolas" pitchFamily="49" charset="0"/>
              </a:rPr>
              <a:t>f==NULL</a:t>
            </a:r>
            <a:r>
              <a:rPr lang="en-US" altLang="zh-CN" sz="2000" b="1">
                <a:solidFill>
                  <a:srgbClr val="0000FF"/>
                </a:solidFill>
                <a:latin typeface="Consolas" pitchFamily="49" charset="0"/>
                <a:ea typeface="仿宋" pitchFamily="49" charset="-122"/>
                <a:cs typeface="Consolas" pitchFamily="49" charset="0"/>
              </a:rPr>
              <a:t>)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没有双亲，即</a:t>
            </a:r>
            <a:r>
              <a:rPr lang="en-US" altLang="zh-CN" sz="2000" b="1">
                <a:solidFill>
                  <a:srgbClr val="00B0F0"/>
                </a:solidFill>
                <a:latin typeface="Consolas" pitchFamily="49" charset="0"/>
                <a:ea typeface="仿宋" pitchFamily="49" charset="-122"/>
                <a:cs typeface="Consolas" pitchFamily="49" charset="0"/>
              </a:rPr>
              <a:t>p==bt</a:t>
            </a:r>
            <a:endParaRPr lang="zh-CN" altLang="zh-CN" sz="2000" b="1">
              <a:solidFill>
                <a:srgbClr val="00B0F0"/>
              </a:solidFill>
              <a:latin typeface="Consolas" pitchFamily="49" charset="0"/>
              <a:ea typeface="仿宋" pitchFamily="49" charset="-122"/>
              <a:cs typeface="Consolas" pitchFamily="49" charset="0"/>
            </a:endParaRPr>
          </a:p>
          <a:p>
            <a:pPr>
              <a:lnSpc>
                <a:spcPts val="2500"/>
              </a:lnSpc>
            </a:pPr>
            <a:r>
              <a:rPr lang="en-US" altLang="zh-CN" sz="2000" b="1">
                <a:solidFill>
                  <a:srgbClr val="0000FF"/>
                </a:solidFill>
                <a:latin typeface="Consolas" pitchFamily="49" charset="0"/>
                <a:ea typeface="仿宋" pitchFamily="49" charset="-122"/>
                <a:cs typeface="Consolas" pitchFamily="49" charset="0"/>
              </a:rPr>
              <a:t>      bt=bt-&gt;rchild;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用</a:t>
            </a:r>
            <a:r>
              <a:rPr lang="en-US" altLang="zh-CN" sz="2000" b="1">
                <a:solidFill>
                  <a:srgbClr val="00B0F0"/>
                </a:solidFill>
                <a:latin typeface="Consolas" pitchFamily="49" charset="0"/>
                <a:ea typeface="仿宋" pitchFamily="49" charset="-122"/>
                <a:cs typeface="Consolas" pitchFamily="49" charset="0"/>
              </a:rPr>
              <a:t>bt</a:t>
            </a:r>
            <a:r>
              <a:rPr lang="zh-CN" altLang="zh-CN" sz="2000" b="1">
                <a:solidFill>
                  <a:srgbClr val="00B0F0"/>
                </a:solidFill>
                <a:latin typeface="Consolas" pitchFamily="49" charset="0"/>
                <a:ea typeface="仿宋" pitchFamily="49" charset="-122"/>
                <a:cs typeface="Consolas" pitchFamily="49" charset="0"/>
              </a:rPr>
              <a:t>的右孩子替代</a:t>
            </a:r>
            <a:r>
              <a:rPr lang="en-US" altLang="zh-CN" sz="2000" b="1">
                <a:solidFill>
                  <a:srgbClr val="00B0F0"/>
                </a:solidFill>
                <a:latin typeface="Consolas" pitchFamily="49" charset="0"/>
                <a:ea typeface="仿宋" pitchFamily="49" charset="-122"/>
                <a:cs typeface="Consolas" pitchFamily="49" charset="0"/>
              </a:rPr>
              <a:t>bt</a:t>
            </a:r>
          </a:p>
          <a:p>
            <a:pPr>
              <a:lnSpc>
                <a:spcPts val="2500"/>
              </a:lnSpc>
            </a:pPr>
            <a:r>
              <a:rPr lang="en-US" altLang="zh-CN" sz="2000" b="1">
                <a:solidFill>
                  <a:srgbClr val="0000FF"/>
                </a:solidFill>
                <a:latin typeface="Consolas" pitchFamily="49" charset="0"/>
                <a:ea typeface="仿宋" pitchFamily="49" charset="-122"/>
                <a:cs typeface="Consolas" pitchFamily="49" charset="0"/>
              </a:rPr>
              <a:t>   else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存在双亲</a:t>
            </a:r>
            <a:r>
              <a:rPr lang="en-US" altLang="zh-CN" sz="2000" b="1">
                <a:solidFill>
                  <a:srgbClr val="00B0F0"/>
                </a:solidFill>
                <a:latin typeface="Consolas" pitchFamily="49" charset="0"/>
                <a:ea typeface="仿宋" pitchFamily="49" charset="-122"/>
                <a:cs typeface="Consolas" pitchFamily="49" charset="0"/>
              </a:rPr>
              <a:t>f</a:t>
            </a:r>
            <a:r>
              <a:rPr lang="zh-CN" altLang="zh-CN" sz="2000" b="1">
                <a:solidFill>
                  <a:srgbClr val="00B0F0"/>
                </a:solidFill>
                <a:latin typeface="Consolas" pitchFamily="49" charset="0"/>
                <a:ea typeface="仿宋" pitchFamily="49" charset="-122"/>
                <a:cs typeface="Consolas" pitchFamily="49" charset="0"/>
              </a:rPr>
              <a:t>（</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不是根结点）</a:t>
            </a:r>
          </a:p>
          <a:p>
            <a:pPr>
              <a:lnSpc>
                <a:spcPts val="2500"/>
              </a:lnSpc>
            </a:pPr>
            <a:r>
              <a:rPr lang="en-US" altLang="zh-CN" sz="2000" b="1">
                <a:solidFill>
                  <a:srgbClr val="0000FF"/>
                </a:solidFill>
                <a:latin typeface="Consolas" pitchFamily="49" charset="0"/>
                <a:ea typeface="仿宋" pitchFamily="49" charset="-122"/>
                <a:cs typeface="Consolas" pitchFamily="49" charset="0"/>
              </a:rPr>
              <a:t>   {  if(</a:t>
            </a:r>
            <a:r>
              <a:rPr lang="en-US" altLang="zh-CN" sz="2000" b="1">
                <a:solidFill>
                  <a:srgbClr val="FF00FF"/>
                </a:solidFill>
                <a:latin typeface="Consolas" pitchFamily="49" charset="0"/>
                <a:ea typeface="仿宋" pitchFamily="49" charset="-122"/>
                <a:cs typeface="Consolas" pitchFamily="49" charset="0"/>
              </a:rPr>
              <a:t>f-&gt;lchild==p</a:t>
            </a:r>
            <a:r>
              <a:rPr lang="en-US" altLang="zh-CN" sz="2000" b="1">
                <a:solidFill>
                  <a:srgbClr val="0000FF"/>
                </a:solidFill>
                <a:latin typeface="Consolas" pitchFamily="49" charset="0"/>
                <a:ea typeface="仿宋" pitchFamily="49" charset="-122"/>
                <a:cs typeface="Consolas" pitchFamily="49" charset="0"/>
              </a:rPr>
              <a:t>)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是结点</a:t>
            </a:r>
            <a:r>
              <a:rPr lang="en-US" altLang="zh-CN" sz="2000" b="1">
                <a:solidFill>
                  <a:srgbClr val="00B0F0"/>
                </a:solidFill>
                <a:latin typeface="Consolas" pitchFamily="49" charset="0"/>
                <a:ea typeface="仿宋" pitchFamily="49" charset="-122"/>
                <a:cs typeface="Consolas" pitchFamily="49" charset="0"/>
              </a:rPr>
              <a:t>f</a:t>
            </a:r>
            <a:r>
              <a:rPr lang="zh-CN" altLang="zh-CN" sz="2000" b="1">
                <a:solidFill>
                  <a:srgbClr val="00B0F0"/>
                </a:solidFill>
                <a:latin typeface="Consolas" pitchFamily="49" charset="0"/>
                <a:ea typeface="仿宋" pitchFamily="49" charset="-122"/>
                <a:cs typeface="Consolas" pitchFamily="49" charset="0"/>
              </a:rPr>
              <a:t>的左孩子 </a:t>
            </a:r>
          </a:p>
          <a:p>
            <a:pPr>
              <a:lnSpc>
                <a:spcPts val="2500"/>
              </a:lnSpc>
            </a:pPr>
            <a:r>
              <a:rPr lang="en-US" altLang="zh-CN" sz="2000" b="1">
                <a:solidFill>
                  <a:srgbClr val="0000FF"/>
                </a:solidFill>
                <a:latin typeface="Consolas" pitchFamily="49" charset="0"/>
                <a:ea typeface="仿宋" pitchFamily="49" charset="-122"/>
                <a:cs typeface="Consolas" pitchFamily="49" charset="0"/>
              </a:rPr>
              <a:t>        f-&gt;lchild=p-&gt;rchild;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用结点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的右孩子替代结点</a:t>
            </a:r>
            <a:r>
              <a:rPr lang="en-US" altLang="zh-CN" sz="2000" b="1">
                <a:solidFill>
                  <a:srgbClr val="00B0F0"/>
                </a:solidFill>
                <a:latin typeface="Consolas" pitchFamily="49" charset="0"/>
                <a:ea typeface="仿宋" pitchFamily="49" charset="-122"/>
                <a:cs typeface="Consolas" pitchFamily="49" charset="0"/>
              </a:rPr>
              <a:t>p</a:t>
            </a:r>
            <a:endParaRPr lang="zh-CN" altLang="zh-CN" sz="2000" b="1">
              <a:solidFill>
                <a:srgbClr val="00B0F0"/>
              </a:solidFill>
              <a:latin typeface="Consolas" pitchFamily="49" charset="0"/>
              <a:ea typeface="仿宋" pitchFamily="49" charset="-122"/>
              <a:cs typeface="Consolas" pitchFamily="49" charset="0"/>
            </a:endParaRPr>
          </a:p>
          <a:p>
            <a:pPr>
              <a:lnSpc>
                <a:spcPts val="2500"/>
              </a:lnSpc>
            </a:pPr>
            <a:r>
              <a:rPr lang="en-US" altLang="zh-CN" sz="2000" b="1">
                <a:solidFill>
                  <a:srgbClr val="0000FF"/>
                </a:solidFill>
                <a:latin typeface="Consolas" pitchFamily="49" charset="0"/>
                <a:ea typeface="仿宋" pitchFamily="49" charset="-122"/>
                <a:cs typeface="Consolas" pitchFamily="49" charset="0"/>
              </a:rPr>
              <a:t>      else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是结点</a:t>
            </a:r>
            <a:r>
              <a:rPr lang="en-US" altLang="zh-CN" sz="2000" b="1">
                <a:solidFill>
                  <a:srgbClr val="00B0F0"/>
                </a:solidFill>
                <a:latin typeface="Consolas" pitchFamily="49" charset="0"/>
                <a:ea typeface="仿宋" pitchFamily="49" charset="-122"/>
                <a:cs typeface="Consolas" pitchFamily="49" charset="0"/>
              </a:rPr>
              <a:t>f</a:t>
            </a:r>
            <a:r>
              <a:rPr lang="zh-CN" altLang="zh-CN" sz="2000" b="1">
                <a:solidFill>
                  <a:srgbClr val="00B0F0"/>
                </a:solidFill>
                <a:latin typeface="Consolas" pitchFamily="49" charset="0"/>
                <a:ea typeface="仿宋" pitchFamily="49" charset="-122"/>
                <a:cs typeface="Consolas" pitchFamily="49" charset="0"/>
              </a:rPr>
              <a:t>的右孩子</a:t>
            </a:r>
          </a:p>
          <a:p>
            <a:pPr>
              <a:lnSpc>
                <a:spcPts val="2500"/>
              </a:lnSpc>
            </a:pPr>
            <a:r>
              <a:rPr lang="en-US" altLang="zh-CN" sz="2000" b="1">
                <a:solidFill>
                  <a:srgbClr val="0000FF"/>
                </a:solidFill>
                <a:latin typeface="Consolas" pitchFamily="49" charset="0"/>
                <a:ea typeface="仿宋" pitchFamily="49" charset="-122"/>
                <a:cs typeface="Consolas" pitchFamily="49" charset="0"/>
              </a:rPr>
              <a:t>        f-&gt;rchild=p-&gt;rchild;	</a:t>
            </a:r>
            <a:r>
              <a:rPr lang="en-US" altLang="zh-CN" sz="2000" b="1">
                <a:solidFill>
                  <a:srgbClr val="00B0F0"/>
                </a:solidFill>
                <a:latin typeface="Consolas" pitchFamily="49" charset="0"/>
                <a:ea typeface="仿宋" pitchFamily="49" charset="-122"/>
                <a:cs typeface="Consolas" pitchFamily="49" charset="0"/>
              </a:rPr>
              <a:t>//</a:t>
            </a:r>
            <a:r>
              <a:rPr lang="zh-CN" altLang="zh-CN" sz="2000" b="1">
                <a:solidFill>
                  <a:srgbClr val="00B0F0"/>
                </a:solidFill>
                <a:latin typeface="Consolas" pitchFamily="49" charset="0"/>
                <a:ea typeface="仿宋" pitchFamily="49" charset="-122"/>
                <a:cs typeface="Consolas" pitchFamily="49" charset="0"/>
              </a:rPr>
              <a:t>用结点</a:t>
            </a:r>
            <a:r>
              <a:rPr lang="en-US" altLang="zh-CN" sz="2000" b="1">
                <a:solidFill>
                  <a:srgbClr val="00B0F0"/>
                </a:solidFill>
                <a:latin typeface="Consolas" pitchFamily="49" charset="0"/>
                <a:ea typeface="仿宋" pitchFamily="49" charset="-122"/>
                <a:cs typeface="Consolas" pitchFamily="49" charset="0"/>
              </a:rPr>
              <a:t>p</a:t>
            </a:r>
            <a:r>
              <a:rPr lang="zh-CN" altLang="zh-CN" sz="2000" b="1">
                <a:solidFill>
                  <a:srgbClr val="00B0F0"/>
                </a:solidFill>
                <a:latin typeface="Consolas" pitchFamily="49" charset="0"/>
                <a:ea typeface="仿宋" pitchFamily="49" charset="-122"/>
                <a:cs typeface="Consolas" pitchFamily="49" charset="0"/>
              </a:rPr>
              <a:t>的右孩子替代结点</a:t>
            </a:r>
            <a:r>
              <a:rPr lang="en-US" altLang="zh-CN" sz="2000" b="1">
                <a:solidFill>
                  <a:srgbClr val="00B0F0"/>
                </a:solidFill>
                <a:latin typeface="Consolas" pitchFamily="49" charset="0"/>
                <a:ea typeface="仿宋" pitchFamily="49" charset="-122"/>
                <a:cs typeface="Consolas" pitchFamily="49" charset="0"/>
              </a:rPr>
              <a:t>p</a:t>
            </a:r>
            <a:endParaRPr lang="zh-CN" altLang="zh-CN" sz="2000" b="1">
              <a:solidFill>
                <a:srgbClr val="00B0F0"/>
              </a:solidFill>
              <a:latin typeface="Consolas" pitchFamily="49" charset="0"/>
              <a:ea typeface="仿宋" pitchFamily="49" charset="-122"/>
              <a:cs typeface="Consolas" pitchFamily="49" charset="0"/>
            </a:endParaRPr>
          </a:p>
          <a:p>
            <a:pPr>
              <a:lnSpc>
                <a:spcPts val="2500"/>
              </a:lnSpc>
            </a:pPr>
            <a:r>
              <a:rPr lang="en-US" altLang="zh-CN" sz="2000" b="1">
                <a:solidFill>
                  <a:srgbClr val="0000FF"/>
                </a:solidFill>
                <a:latin typeface="Consolas" pitchFamily="49" charset="0"/>
                <a:ea typeface="仿宋" pitchFamily="49" charset="-122"/>
                <a:cs typeface="Consolas" pitchFamily="49" charset="0"/>
              </a:rPr>
              <a:t>   }</a:t>
            </a:r>
            <a:endParaRPr lang="zh-CN" altLang="zh-CN" sz="2000" b="1">
              <a:solidFill>
                <a:srgbClr val="0000FF"/>
              </a:solidFill>
              <a:latin typeface="Consolas" pitchFamily="49" charset="0"/>
              <a:ea typeface="仿宋" pitchFamily="49" charset="-122"/>
              <a:cs typeface="Consolas" pitchFamily="49" charset="0"/>
            </a:endParaRPr>
          </a:p>
          <a:p>
            <a:pPr>
              <a:lnSpc>
                <a:spcPts val="2500"/>
              </a:lnSpc>
            </a:pPr>
            <a:r>
              <a:rPr lang="en-US" altLang="zh-CN" sz="2000" b="1">
                <a:solidFill>
                  <a:srgbClr val="0000FF"/>
                </a:solidFill>
                <a:latin typeface="Consolas" pitchFamily="49" charset="0"/>
                <a:ea typeface="仿宋" pitchFamily="49" charset="-122"/>
                <a:cs typeface="Consolas" pitchFamily="49" charset="0"/>
              </a:rPr>
              <a:t>   free(p);</a:t>
            </a:r>
            <a:endParaRPr lang="zh-CN" altLang="zh-CN" sz="2000" b="1">
              <a:solidFill>
                <a:srgbClr val="0000FF"/>
              </a:solidFill>
              <a:latin typeface="Consolas" pitchFamily="49" charset="0"/>
              <a:ea typeface="仿宋" pitchFamily="49" charset="-122"/>
              <a:cs typeface="Consolas" pitchFamily="49" charset="0"/>
            </a:endParaRPr>
          </a:p>
          <a:p>
            <a:pPr>
              <a:lnSpc>
                <a:spcPts val="2500"/>
              </a:lnSpc>
            </a:pPr>
            <a:r>
              <a:rPr lang="en-US" altLang="zh-CN" sz="2000" b="1">
                <a:solidFill>
                  <a:srgbClr val="0000FF"/>
                </a:solidFill>
                <a:latin typeface="Consolas" pitchFamily="49" charset="0"/>
                <a:ea typeface="仿宋" pitchFamily="49" charset="-122"/>
                <a:cs typeface="Consolas" pitchFamily="49" charset="0"/>
              </a:rPr>
              <a:t>}</a:t>
            </a:r>
            <a:endParaRPr lang="zh-CN" altLang="zh-CN" sz="2000" b="1">
              <a:solidFill>
                <a:srgbClr val="0000FF"/>
              </a:solidFill>
              <a:latin typeface="Consolas" pitchFamily="49" charset="0"/>
              <a:ea typeface="仿宋" pitchFamily="49" charset="-122"/>
              <a:cs typeface="Consolas" pitchFamily="49" charset="0"/>
            </a:endParaRPr>
          </a:p>
        </p:txBody>
      </p:sp>
      <p:sp>
        <p:nvSpPr>
          <p:cNvPr id="77" name="TextBox 76"/>
          <p:cNvSpPr txBox="1"/>
          <p:nvPr/>
        </p:nvSpPr>
        <p:spPr>
          <a:xfrm>
            <a:off x="5810248" y="4857760"/>
            <a:ext cx="3929090" cy="369332"/>
          </a:xfrm>
          <a:prstGeom prst="rect">
            <a:avLst/>
          </a:prstGeom>
          <a:noFill/>
        </p:spPr>
        <p:txBody>
          <a:bodyPr wrap="square" rtlCol="0">
            <a:spAutoFit/>
          </a:bodyPr>
          <a:lstStyle/>
          <a:p>
            <a:r>
              <a:rPr lang="zh-CN" altLang="en-US">
                <a:solidFill>
                  <a:srgbClr val="FF0000"/>
                </a:solidFill>
                <a:latin typeface="Consolas" pitchFamily="49" charset="0"/>
                <a:ea typeface="华文中宋" pitchFamily="2" charset="-122"/>
                <a:cs typeface="Consolas" pitchFamily="49" charset="0"/>
                <a:sym typeface="Wingdings"/>
              </a:rPr>
              <a:t></a:t>
            </a:r>
            <a:r>
              <a:rPr lang="zh-CN" altLang="en-US">
                <a:solidFill>
                  <a:srgbClr val="0000FF"/>
                </a:solidFill>
                <a:latin typeface="Consolas" pitchFamily="49" charset="0"/>
                <a:ea typeface="华文中宋" pitchFamily="2" charset="-122"/>
                <a:cs typeface="Consolas" pitchFamily="49" charset="0"/>
                <a:sym typeface="Wingdings"/>
              </a:rPr>
              <a:t> </a:t>
            </a:r>
            <a:r>
              <a:rPr lang="zh-CN" altLang="en-US">
                <a:solidFill>
                  <a:srgbClr val="0000FF"/>
                </a:solidFill>
                <a:latin typeface="Consolas" pitchFamily="49" charset="0"/>
                <a:ea typeface="华文中宋" pitchFamily="2" charset="-122"/>
                <a:cs typeface="Consolas" pitchFamily="49" charset="0"/>
              </a:rPr>
              <a:t>用结点</a:t>
            </a:r>
            <a:r>
              <a:rPr lang="en-US" altLang="zh-CN">
                <a:solidFill>
                  <a:srgbClr val="0000FF"/>
                </a:solidFill>
                <a:latin typeface="Consolas" pitchFamily="49" charset="0"/>
                <a:ea typeface="华文中宋" pitchFamily="2" charset="-122"/>
                <a:cs typeface="Consolas" pitchFamily="49" charset="0"/>
              </a:rPr>
              <a:t>p</a:t>
            </a:r>
            <a:r>
              <a:rPr lang="zh-CN" altLang="en-US">
                <a:solidFill>
                  <a:srgbClr val="0000FF"/>
                </a:solidFill>
                <a:latin typeface="Consolas" pitchFamily="49" charset="0"/>
                <a:ea typeface="华文中宋" pitchFamily="2" charset="-122"/>
                <a:cs typeface="Consolas" pitchFamily="49" charset="0"/>
              </a:rPr>
              <a:t>的右孩子替代结点</a:t>
            </a:r>
            <a:r>
              <a:rPr lang="en-US" altLang="zh-CN">
                <a:solidFill>
                  <a:srgbClr val="0000FF"/>
                </a:solidFill>
                <a:latin typeface="Consolas" pitchFamily="49" charset="0"/>
                <a:ea typeface="华文中宋" pitchFamily="2" charset="-122"/>
                <a:cs typeface="Consolas" pitchFamily="49" charset="0"/>
              </a:rPr>
              <a:t>p</a:t>
            </a:r>
            <a:endParaRPr lang="zh-CN" altLang="en-US">
              <a:solidFill>
                <a:srgbClr val="0000FF"/>
              </a:solidFill>
              <a:latin typeface="Consolas" pitchFamily="49" charset="0"/>
              <a:ea typeface="华文中宋" pitchFamily="2" charset="-122"/>
              <a:cs typeface="Consolas" pitchFamily="49" charset="0"/>
            </a:endParaRPr>
          </a:p>
        </p:txBody>
      </p:sp>
      <p:grpSp>
        <p:nvGrpSpPr>
          <p:cNvPr id="2" name="组合 90"/>
          <p:cNvGrpSpPr/>
          <p:nvPr/>
        </p:nvGrpSpPr>
        <p:grpSpPr>
          <a:xfrm>
            <a:off x="2024034" y="1643050"/>
            <a:ext cx="3500462" cy="2000264"/>
            <a:chOff x="500034" y="4143380"/>
            <a:chExt cx="3500462" cy="2000264"/>
          </a:xfrm>
        </p:grpSpPr>
        <p:sp>
          <p:nvSpPr>
            <p:cNvPr id="90" name="矩形 89"/>
            <p:cNvSpPr/>
            <p:nvPr/>
          </p:nvSpPr>
          <p:spPr>
            <a:xfrm>
              <a:off x="500034" y="4143380"/>
              <a:ext cx="3500462" cy="2000264"/>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9" name="Oval 31"/>
            <p:cNvSpPr>
              <a:spLocks noChangeArrowheads="1"/>
            </p:cNvSpPr>
            <p:nvPr/>
          </p:nvSpPr>
          <p:spPr bwMode="auto">
            <a:xfrm>
              <a:off x="976513" y="4998277"/>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63" name="直接箭头连接符 62"/>
            <p:cNvCxnSpPr/>
            <p:nvPr/>
          </p:nvCxnSpPr>
          <p:spPr>
            <a:xfrm rot="16200000" flipH="1">
              <a:off x="832091" y="4885429"/>
              <a:ext cx="193141" cy="1428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78" name="TextBox 77"/>
            <p:cNvSpPr txBox="1"/>
            <p:nvPr/>
          </p:nvSpPr>
          <p:spPr>
            <a:xfrm>
              <a:off x="571472" y="4628057"/>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79" name="等腰三角形 78"/>
            <p:cNvSpPr/>
            <p:nvPr/>
          </p:nvSpPr>
          <p:spPr>
            <a:xfrm>
              <a:off x="1327146" y="5624942"/>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80" name="直接连接符 79"/>
            <p:cNvCxnSpPr>
              <a:stCxn id="49" idx="5"/>
              <a:endCxn id="79" idx="0"/>
            </p:cNvCxnSpPr>
            <p:nvPr/>
          </p:nvCxnSpPr>
          <p:spPr>
            <a:xfrm rot="16200000" flipH="1">
              <a:off x="1223166" y="5306648"/>
              <a:ext cx="335678" cy="30091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81" name="Oval 31"/>
            <p:cNvSpPr>
              <a:spLocks noChangeArrowheads="1"/>
            </p:cNvSpPr>
            <p:nvPr/>
          </p:nvSpPr>
          <p:spPr bwMode="auto">
            <a:xfrm>
              <a:off x="1438776" y="5482066"/>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82" name="TextBox 81"/>
            <p:cNvSpPr txBox="1"/>
            <p:nvPr/>
          </p:nvSpPr>
          <p:spPr>
            <a:xfrm>
              <a:off x="1643042" y="4624810"/>
              <a:ext cx="1643074"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bt=bt-&gt;rchild</a:t>
              </a:r>
              <a:endParaRPr lang="zh-CN" altLang="en-US" sz="1600">
                <a:solidFill>
                  <a:srgbClr val="0000FF"/>
                </a:solidFill>
                <a:latin typeface="Consolas" pitchFamily="49" charset="0"/>
                <a:ea typeface="楷体" pitchFamily="49" charset="-122"/>
                <a:cs typeface="Consolas" pitchFamily="49" charset="0"/>
              </a:endParaRPr>
            </a:p>
          </p:txBody>
        </p:sp>
        <p:cxnSp>
          <p:nvCxnSpPr>
            <p:cNvPr id="83" name="直接箭头连接符 82"/>
            <p:cNvCxnSpPr>
              <a:endCxn id="49" idx="0"/>
            </p:cNvCxnSpPr>
            <p:nvPr/>
          </p:nvCxnSpPr>
          <p:spPr>
            <a:xfrm rot="5400000">
              <a:off x="950347" y="4734209"/>
              <a:ext cx="444905" cy="8323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4" name="TextBox 83"/>
            <p:cNvSpPr txBox="1"/>
            <p:nvPr/>
          </p:nvSpPr>
          <p:spPr>
            <a:xfrm>
              <a:off x="1071538" y="4214818"/>
              <a:ext cx="64294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a:t>
              </a:r>
              <a:endParaRPr lang="zh-CN" altLang="en-US" sz="1600">
                <a:solidFill>
                  <a:srgbClr val="0000FF"/>
                </a:solidFill>
                <a:latin typeface="Consolas" pitchFamily="49" charset="0"/>
                <a:ea typeface="楷体" pitchFamily="49" charset="-122"/>
                <a:cs typeface="Consolas" pitchFamily="49" charset="0"/>
              </a:endParaRPr>
            </a:p>
          </p:txBody>
        </p:sp>
        <p:sp>
          <p:nvSpPr>
            <p:cNvPr id="85" name="右箭头 84"/>
            <p:cNvSpPr/>
            <p:nvPr/>
          </p:nvSpPr>
          <p:spPr>
            <a:xfrm>
              <a:off x="1643042" y="4982000"/>
              <a:ext cx="1571636" cy="16151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6" name="等腰三角形 85"/>
            <p:cNvSpPr/>
            <p:nvPr/>
          </p:nvSpPr>
          <p:spPr>
            <a:xfrm>
              <a:off x="3204630" y="5500702"/>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87" name="Oval 31"/>
            <p:cNvSpPr>
              <a:spLocks noChangeArrowheads="1"/>
            </p:cNvSpPr>
            <p:nvPr/>
          </p:nvSpPr>
          <p:spPr bwMode="auto">
            <a:xfrm>
              <a:off x="3306212" y="5357826"/>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88" name="直接箭头连接符 87"/>
            <p:cNvCxnSpPr/>
            <p:nvPr/>
          </p:nvCxnSpPr>
          <p:spPr>
            <a:xfrm rot="5400000">
              <a:off x="3236363" y="5091399"/>
              <a:ext cx="444905" cy="8323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9" name="TextBox 88"/>
            <p:cNvSpPr txBox="1"/>
            <p:nvPr/>
          </p:nvSpPr>
          <p:spPr>
            <a:xfrm>
              <a:off x="3357554" y="4572008"/>
              <a:ext cx="642942"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bt</a:t>
              </a:r>
              <a:endParaRPr lang="zh-CN" altLang="en-US" sz="1600">
                <a:solidFill>
                  <a:srgbClr val="0000FF"/>
                </a:solidFill>
                <a:latin typeface="Consolas" pitchFamily="49" charset="0"/>
                <a:ea typeface="楷体" pitchFamily="49" charset="-122"/>
                <a:cs typeface="Consolas" pitchFamily="49" charset="0"/>
              </a:endParaRPr>
            </a:p>
          </p:txBody>
        </p:sp>
      </p:grpSp>
      <p:grpSp>
        <p:nvGrpSpPr>
          <p:cNvPr id="3" name="组合 91"/>
          <p:cNvGrpSpPr/>
          <p:nvPr/>
        </p:nvGrpSpPr>
        <p:grpSpPr>
          <a:xfrm>
            <a:off x="2095472" y="2571744"/>
            <a:ext cx="3214710" cy="2500330"/>
            <a:chOff x="857224" y="3714752"/>
            <a:chExt cx="3214710" cy="2500330"/>
          </a:xfrm>
        </p:grpSpPr>
        <p:sp>
          <p:nvSpPr>
            <p:cNvPr id="93" name="矩形 92"/>
            <p:cNvSpPr/>
            <p:nvPr/>
          </p:nvSpPr>
          <p:spPr>
            <a:xfrm>
              <a:off x="857224" y="3714752"/>
              <a:ext cx="3214710" cy="2500330"/>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grpSp>
          <p:nvGrpSpPr>
            <p:cNvPr id="4" name="组合 21"/>
            <p:cNvGrpSpPr/>
            <p:nvPr/>
          </p:nvGrpSpPr>
          <p:grpSpPr>
            <a:xfrm>
              <a:off x="1000100" y="3786190"/>
              <a:ext cx="3071834" cy="2338818"/>
              <a:chOff x="1428728" y="3500438"/>
              <a:chExt cx="3071834" cy="2338818"/>
            </a:xfrm>
          </p:grpSpPr>
          <p:sp>
            <p:nvSpPr>
              <p:cNvPr id="95" name="Oval 31"/>
              <p:cNvSpPr>
                <a:spLocks noChangeArrowheads="1"/>
              </p:cNvSpPr>
              <p:nvPr/>
            </p:nvSpPr>
            <p:spPr bwMode="auto">
              <a:xfrm>
                <a:off x="1833769" y="4445409"/>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96" name="直接箭头连接符 95"/>
              <p:cNvCxnSpPr>
                <a:endCxn id="98" idx="1"/>
              </p:cNvCxnSpPr>
              <p:nvPr/>
            </p:nvCxnSpPr>
            <p:spPr>
              <a:xfrm rot="16200000" flipH="1">
                <a:off x="2120864" y="3662310"/>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97" name="TextBox 96"/>
              <p:cNvSpPr txBox="1"/>
              <p:nvPr/>
            </p:nvSpPr>
            <p:spPr>
              <a:xfrm>
                <a:off x="1857356" y="3500438"/>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98" name="Oval 31"/>
              <p:cNvSpPr>
                <a:spLocks noChangeArrowheads="1"/>
              </p:cNvSpPr>
              <p:nvPr/>
            </p:nvSpPr>
            <p:spPr bwMode="auto">
              <a:xfrm>
                <a:off x="2262397" y="3799220"/>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99" name="直接连接符 98"/>
              <p:cNvCxnSpPr>
                <a:stCxn id="98" idx="3"/>
                <a:endCxn id="95" idx="0"/>
              </p:cNvCxnSpPr>
              <p:nvPr/>
            </p:nvCxnSpPr>
            <p:spPr>
              <a:xfrm rot="5400000">
                <a:off x="1970468" y="4108178"/>
                <a:ext cx="355202" cy="319260"/>
              </a:xfrm>
              <a:prstGeom prst="line">
                <a:avLst/>
              </a:prstGeom>
              <a:ln w="19050">
                <a:solidFill>
                  <a:srgbClr val="FF00FF"/>
                </a:solidFill>
                <a:prstDash val="solid"/>
                <a:tailEnd type="none"/>
              </a:ln>
            </p:spPr>
            <p:style>
              <a:lnRef idx="2">
                <a:schemeClr val="dk1"/>
              </a:lnRef>
              <a:fillRef idx="0">
                <a:schemeClr val="dk1"/>
              </a:fillRef>
              <a:effectRef idx="1">
                <a:schemeClr val="dk1"/>
              </a:effectRef>
              <a:fontRef idx="minor">
                <a:schemeClr val="tx1"/>
              </a:fontRef>
            </p:style>
          </p:cxnSp>
          <p:cxnSp>
            <p:nvCxnSpPr>
              <p:cNvPr id="100" name="直接箭头连接符 99"/>
              <p:cNvCxnSpPr/>
              <p:nvPr/>
            </p:nvCxnSpPr>
            <p:spPr>
              <a:xfrm rot="16200000" flipH="1">
                <a:off x="1689347" y="4332561"/>
                <a:ext cx="193141" cy="1428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01" name="TextBox 100"/>
              <p:cNvSpPr txBox="1"/>
              <p:nvPr/>
            </p:nvSpPr>
            <p:spPr>
              <a:xfrm>
                <a:off x="1428728" y="4075189"/>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102" name="TextBox 101"/>
              <p:cNvSpPr txBox="1"/>
              <p:nvPr/>
            </p:nvSpPr>
            <p:spPr>
              <a:xfrm>
                <a:off x="1857356" y="5500702"/>
                <a:ext cx="1857388"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的左孩子</a:t>
                </a:r>
              </a:p>
            </p:txBody>
          </p:sp>
          <p:sp>
            <p:nvSpPr>
              <p:cNvPr id="103" name="等腰三角形 102"/>
              <p:cNvSpPr/>
              <p:nvPr/>
            </p:nvSpPr>
            <p:spPr>
              <a:xfrm>
                <a:off x="2214546" y="5072074"/>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04" name="直接连接符 103"/>
              <p:cNvCxnSpPr>
                <a:stCxn id="95" idx="5"/>
                <a:endCxn id="103" idx="0"/>
              </p:cNvCxnSpPr>
              <p:nvPr/>
            </p:nvCxnSpPr>
            <p:spPr>
              <a:xfrm rot="16200000" flipH="1">
                <a:off x="2095494" y="4738708"/>
                <a:ext cx="335678" cy="33105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05" name="Oval 31"/>
              <p:cNvSpPr>
                <a:spLocks noChangeArrowheads="1"/>
              </p:cNvSpPr>
              <p:nvPr/>
            </p:nvSpPr>
            <p:spPr bwMode="auto">
              <a:xfrm>
                <a:off x="2296032" y="4929198"/>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106" name="任意多边形 105"/>
              <p:cNvSpPr/>
              <p:nvPr/>
            </p:nvSpPr>
            <p:spPr>
              <a:xfrm>
                <a:off x="2152022" y="4119823"/>
                <a:ext cx="219389" cy="813917"/>
              </a:xfrm>
              <a:custGeom>
                <a:avLst/>
                <a:gdLst>
                  <a:gd name="connsiteX0" fmla="*/ 169147 w 219389"/>
                  <a:gd name="connsiteY0" fmla="*/ 0 h 813917"/>
                  <a:gd name="connsiteX1" fmla="*/ 48567 w 219389"/>
                  <a:gd name="connsiteY1" fmla="*/ 221064 h 813917"/>
                  <a:gd name="connsiteX2" fmla="*/ 28470 w 219389"/>
                  <a:gd name="connsiteY2" fmla="*/ 391886 h 813917"/>
                  <a:gd name="connsiteX3" fmla="*/ 219389 w 219389"/>
                  <a:gd name="connsiteY3" fmla="*/ 813917 h 813917"/>
                </a:gdLst>
                <a:ahLst/>
                <a:cxnLst>
                  <a:cxn ang="0">
                    <a:pos x="connsiteX0" y="connsiteY0"/>
                  </a:cxn>
                  <a:cxn ang="0">
                    <a:pos x="connsiteX1" y="connsiteY1"/>
                  </a:cxn>
                  <a:cxn ang="0">
                    <a:pos x="connsiteX2" y="connsiteY2"/>
                  </a:cxn>
                  <a:cxn ang="0">
                    <a:pos x="connsiteX3" y="connsiteY3"/>
                  </a:cxn>
                </a:cxnLst>
                <a:rect l="l" t="t" r="r" b="b"/>
                <a:pathLst>
                  <a:path w="219389" h="813917">
                    <a:moveTo>
                      <a:pt x="169147" y="0"/>
                    </a:moveTo>
                    <a:cubicBezTo>
                      <a:pt x="120580" y="77875"/>
                      <a:pt x="72013" y="155750"/>
                      <a:pt x="48567" y="221064"/>
                    </a:cubicBezTo>
                    <a:cubicBezTo>
                      <a:pt x="25121" y="286378"/>
                      <a:pt x="0" y="293077"/>
                      <a:pt x="28470" y="391886"/>
                    </a:cubicBezTo>
                    <a:cubicBezTo>
                      <a:pt x="56940" y="490695"/>
                      <a:pt x="138164" y="652306"/>
                      <a:pt x="219389" y="813917"/>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7" name="TextBox 106"/>
              <p:cNvSpPr txBox="1"/>
              <p:nvPr/>
            </p:nvSpPr>
            <p:spPr>
              <a:xfrm>
                <a:off x="2143108" y="4286256"/>
                <a:ext cx="2357454"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f-&gt;lchild=p-&gt;rchild</a:t>
                </a:r>
                <a:endParaRPr lang="zh-CN" altLang="en-US" sz="1600">
                  <a:solidFill>
                    <a:srgbClr val="0000FF"/>
                  </a:solidFill>
                  <a:latin typeface="Consolas" pitchFamily="49" charset="0"/>
                  <a:ea typeface="楷体" pitchFamily="49" charset="-122"/>
                  <a:cs typeface="Consolas" pitchFamily="49" charset="0"/>
                </a:endParaRPr>
              </a:p>
            </p:txBody>
          </p:sp>
        </p:grpSp>
      </p:grpSp>
      <p:grpSp>
        <p:nvGrpSpPr>
          <p:cNvPr id="5" name="组合 107"/>
          <p:cNvGrpSpPr/>
          <p:nvPr/>
        </p:nvGrpSpPr>
        <p:grpSpPr>
          <a:xfrm>
            <a:off x="2095472" y="3643314"/>
            <a:ext cx="3500462" cy="2714644"/>
            <a:chOff x="1214414" y="3714752"/>
            <a:chExt cx="3500462" cy="2714644"/>
          </a:xfrm>
        </p:grpSpPr>
        <p:sp>
          <p:nvSpPr>
            <p:cNvPr id="109" name="矩形 108"/>
            <p:cNvSpPr/>
            <p:nvPr/>
          </p:nvSpPr>
          <p:spPr>
            <a:xfrm>
              <a:off x="1214414" y="3714752"/>
              <a:ext cx="3500462" cy="2714644"/>
            </a:xfrm>
            <a:prstGeom prst="rect">
              <a:avLst/>
            </a:prstGeom>
            <a:solidFill>
              <a:schemeClr val="accent6">
                <a:lumMod val="20000"/>
                <a:lumOff val="8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0" name="Oval 31"/>
            <p:cNvSpPr>
              <a:spLocks noChangeArrowheads="1"/>
            </p:cNvSpPr>
            <p:nvPr/>
          </p:nvSpPr>
          <p:spPr bwMode="auto">
            <a:xfrm>
              <a:off x="3691157" y="4731161"/>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11" name="直接箭头连接符 110"/>
            <p:cNvCxnSpPr>
              <a:endCxn id="113" idx="1"/>
            </p:cNvCxnSpPr>
            <p:nvPr/>
          </p:nvCxnSpPr>
          <p:spPr>
            <a:xfrm rot="16200000" flipH="1">
              <a:off x="3192434" y="3948062"/>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12" name="TextBox 111"/>
            <p:cNvSpPr txBox="1"/>
            <p:nvPr/>
          </p:nvSpPr>
          <p:spPr>
            <a:xfrm>
              <a:off x="2928926" y="3786190"/>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113" name="Oval 31"/>
            <p:cNvSpPr>
              <a:spLocks noChangeArrowheads="1"/>
            </p:cNvSpPr>
            <p:nvPr/>
          </p:nvSpPr>
          <p:spPr bwMode="auto">
            <a:xfrm>
              <a:off x="3333967" y="4084972"/>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114" name="直接连接符 113"/>
            <p:cNvCxnSpPr>
              <a:stCxn id="113" idx="5"/>
              <a:endCxn id="110" idx="0"/>
            </p:cNvCxnSpPr>
            <p:nvPr/>
          </p:nvCxnSpPr>
          <p:spPr>
            <a:xfrm rot="16200000" flipH="1">
              <a:off x="3544314" y="4429648"/>
              <a:ext cx="355202" cy="247823"/>
            </a:xfrm>
            <a:prstGeom prst="line">
              <a:avLst/>
            </a:prstGeom>
            <a:ln w="19050">
              <a:solidFill>
                <a:srgbClr val="FF0000"/>
              </a:solidFill>
              <a:prstDash val="solid"/>
              <a:tailEnd type="none"/>
            </a:ln>
          </p:spPr>
          <p:style>
            <a:lnRef idx="2">
              <a:schemeClr val="dk1"/>
            </a:lnRef>
            <a:fillRef idx="0">
              <a:schemeClr val="dk1"/>
            </a:fillRef>
            <a:effectRef idx="1">
              <a:schemeClr val="dk1"/>
            </a:effectRef>
            <a:fontRef idx="minor">
              <a:schemeClr val="tx1"/>
            </a:fontRef>
          </p:style>
        </p:cxnSp>
        <p:cxnSp>
          <p:nvCxnSpPr>
            <p:cNvPr id="115" name="直接箭头连接符 114"/>
            <p:cNvCxnSpPr/>
            <p:nvPr/>
          </p:nvCxnSpPr>
          <p:spPr>
            <a:xfrm rot="5400000">
              <a:off x="3821901" y="4570758"/>
              <a:ext cx="285752" cy="7143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16" name="TextBox 115"/>
            <p:cNvSpPr txBox="1"/>
            <p:nvPr/>
          </p:nvSpPr>
          <p:spPr>
            <a:xfrm>
              <a:off x="3929058" y="4228089"/>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117" name="TextBox 116"/>
            <p:cNvSpPr txBox="1"/>
            <p:nvPr/>
          </p:nvSpPr>
          <p:spPr>
            <a:xfrm>
              <a:off x="2000232" y="5715016"/>
              <a:ext cx="2071702" cy="338554"/>
            </a:xfrm>
            <a:prstGeom prst="rect">
              <a:avLst/>
            </a:prstGeom>
            <a:noFill/>
          </p:spPr>
          <p:txBody>
            <a:bodyPr wrap="square" rtlCol="0">
              <a:spAutoFit/>
            </a:bodyPr>
            <a:lstStyle/>
            <a:p>
              <a:r>
                <a:rPr lang="zh-CN" altLang="en-US" sz="1600">
                  <a:solidFill>
                    <a:srgbClr val="0000FF"/>
                  </a:solidFill>
                  <a:latin typeface="Consolas" pitchFamily="49" charset="0"/>
                  <a:ea typeface="仿宋" pitchFamily="49" charset="-122"/>
                  <a:cs typeface="Consolas" pitchFamily="49" charset="0"/>
                </a:rPr>
                <a:t>结点</a:t>
              </a:r>
              <a:r>
                <a:rPr lang="en-US" altLang="zh-CN" sz="1600">
                  <a:solidFill>
                    <a:srgbClr val="0000FF"/>
                  </a:solidFill>
                  <a:latin typeface="Consolas" pitchFamily="49" charset="0"/>
                  <a:ea typeface="仿宋" pitchFamily="49" charset="-122"/>
                  <a:cs typeface="Consolas" pitchFamily="49" charset="0"/>
                </a:rPr>
                <a:t>p</a:t>
              </a:r>
              <a:r>
                <a:rPr lang="zh-CN" altLang="en-US" sz="1600">
                  <a:solidFill>
                    <a:srgbClr val="0000FF"/>
                  </a:solidFill>
                  <a:latin typeface="Consolas" pitchFamily="49" charset="0"/>
                  <a:ea typeface="仿宋" pitchFamily="49" charset="-122"/>
                  <a:cs typeface="Consolas" pitchFamily="49" charset="0"/>
                </a:rPr>
                <a:t>是</a:t>
              </a:r>
              <a:r>
                <a:rPr lang="en-US" altLang="zh-CN" sz="1600">
                  <a:solidFill>
                    <a:srgbClr val="0000FF"/>
                  </a:solidFill>
                  <a:latin typeface="Consolas" pitchFamily="49" charset="0"/>
                  <a:ea typeface="仿宋" pitchFamily="49" charset="-122"/>
                  <a:cs typeface="Consolas" pitchFamily="49" charset="0"/>
                </a:rPr>
                <a:t>f</a:t>
              </a:r>
              <a:r>
                <a:rPr lang="zh-CN" altLang="en-US" sz="1600">
                  <a:solidFill>
                    <a:srgbClr val="0000FF"/>
                  </a:solidFill>
                  <a:latin typeface="Consolas" pitchFamily="49" charset="0"/>
                  <a:ea typeface="仿宋" pitchFamily="49" charset="-122"/>
                  <a:cs typeface="Consolas" pitchFamily="49" charset="0"/>
                </a:rPr>
                <a:t>的右孩子</a:t>
              </a:r>
            </a:p>
          </p:txBody>
        </p:sp>
        <p:sp>
          <p:nvSpPr>
            <p:cNvPr id="118" name="等腰三角形 117"/>
            <p:cNvSpPr/>
            <p:nvPr/>
          </p:nvSpPr>
          <p:spPr>
            <a:xfrm>
              <a:off x="4071934" y="5357826"/>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19" name="直接连接符 118"/>
            <p:cNvCxnSpPr>
              <a:stCxn id="110" idx="5"/>
              <a:endCxn id="118" idx="0"/>
            </p:cNvCxnSpPr>
            <p:nvPr/>
          </p:nvCxnSpPr>
          <p:spPr>
            <a:xfrm rot="16200000" flipH="1">
              <a:off x="3952882" y="5024460"/>
              <a:ext cx="335678" cy="33105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20" name="Oval 31"/>
            <p:cNvSpPr>
              <a:spLocks noChangeArrowheads="1"/>
            </p:cNvSpPr>
            <p:nvPr/>
          </p:nvSpPr>
          <p:spPr bwMode="auto">
            <a:xfrm>
              <a:off x="4153420" y="5214950"/>
              <a:ext cx="216000" cy="252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sp>
          <p:nvSpPr>
            <p:cNvPr id="121" name="TextBox 120"/>
            <p:cNvSpPr txBox="1"/>
            <p:nvPr/>
          </p:nvSpPr>
          <p:spPr>
            <a:xfrm>
              <a:off x="1357290" y="4786322"/>
              <a:ext cx="2357454" cy="338554"/>
            </a:xfrm>
            <a:prstGeom prst="rect">
              <a:avLst/>
            </a:prstGeom>
            <a:noFill/>
          </p:spPr>
          <p:txBody>
            <a:bodyPr wrap="square" rtlCol="0">
              <a:spAutoFit/>
            </a:bodyPr>
            <a:lstStyle/>
            <a:p>
              <a:r>
                <a:rPr lang="en-US" altLang="zh-CN" sz="1600">
                  <a:solidFill>
                    <a:srgbClr val="0000FF"/>
                  </a:solidFill>
                  <a:latin typeface="Consolas" pitchFamily="49" charset="0"/>
                  <a:ea typeface="仿宋" pitchFamily="49" charset="-122"/>
                  <a:cs typeface="Consolas" pitchFamily="49" charset="0"/>
                </a:rPr>
                <a:t>f-&gt;rchild=p-&gt;rchild</a:t>
              </a:r>
              <a:endParaRPr lang="zh-CN" altLang="en-US" sz="1600">
                <a:solidFill>
                  <a:srgbClr val="0000FF"/>
                </a:solidFill>
                <a:latin typeface="Consolas" pitchFamily="49" charset="0"/>
                <a:ea typeface="楷体" pitchFamily="49" charset="-122"/>
                <a:cs typeface="Consolas" pitchFamily="49" charset="0"/>
              </a:endParaRPr>
            </a:p>
          </p:txBody>
        </p:sp>
        <p:sp>
          <p:nvSpPr>
            <p:cNvPr id="122" name="任意多边形 121"/>
            <p:cNvSpPr/>
            <p:nvPr/>
          </p:nvSpPr>
          <p:spPr>
            <a:xfrm>
              <a:off x="3528291" y="4421275"/>
              <a:ext cx="614623" cy="914400"/>
            </a:xfrm>
            <a:custGeom>
              <a:avLst/>
              <a:gdLst>
                <a:gd name="connsiteX0" fmla="*/ 1674 w 614623"/>
                <a:gd name="connsiteY0" fmla="*/ 0 h 914400"/>
                <a:gd name="connsiteX1" fmla="*/ 102158 w 614623"/>
                <a:gd name="connsiteY1" fmla="*/ 572756 h 914400"/>
                <a:gd name="connsiteX2" fmla="*/ 614623 w 614623"/>
                <a:gd name="connsiteY2" fmla="*/ 914400 h 914400"/>
              </a:gdLst>
              <a:ahLst/>
              <a:cxnLst>
                <a:cxn ang="0">
                  <a:pos x="connsiteX0" y="connsiteY0"/>
                </a:cxn>
                <a:cxn ang="0">
                  <a:pos x="connsiteX1" y="connsiteY1"/>
                </a:cxn>
                <a:cxn ang="0">
                  <a:pos x="connsiteX2" y="connsiteY2"/>
                </a:cxn>
              </a:cxnLst>
              <a:rect l="l" t="t" r="r" b="b"/>
              <a:pathLst>
                <a:path w="614623" h="914400">
                  <a:moveTo>
                    <a:pt x="1674" y="0"/>
                  </a:moveTo>
                  <a:cubicBezTo>
                    <a:pt x="837" y="210178"/>
                    <a:pt x="0" y="420356"/>
                    <a:pt x="102158" y="572756"/>
                  </a:cubicBezTo>
                  <a:cubicBezTo>
                    <a:pt x="204316" y="725156"/>
                    <a:pt x="409469" y="819778"/>
                    <a:pt x="614623" y="914400"/>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52" name="灯片编号占位符 51"/>
          <p:cNvSpPr>
            <a:spLocks noGrp="1"/>
          </p:cNvSpPr>
          <p:nvPr>
            <p:ph type="sldNum" sz="quarter" idx="12"/>
          </p:nvPr>
        </p:nvSpPr>
        <p:spPr/>
        <p:txBody>
          <a:bodyPr/>
          <a:lstStyle/>
          <a:p>
            <a:pPr>
              <a:defRPr/>
            </a:pPr>
            <a:fld id="{94984E60-CADE-4266-8DC7-A91C528B8A31}" type="slidenum">
              <a:rPr lang="en-US" altLang="zh-CN" smtClean="0"/>
              <a:pPr>
                <a:defRPr/>
              </a:pPr>
              <a:t>74</a:t>
            </a:fld>
            <a:r>
              <a:rPr lang="en-US" altLang="zh-CN"/>
              <a:t>/132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6">
                                            <p:txEl>
                                              <p:pRg st="6" end="6"/>
                                            </p:txEl>
                                          </p:spTgt>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6">
                                            <p:txEl>
                                              <p:pRg st="10" end="10"/>
                                            </p:txEl>
                                          </p:spTgt>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24034" y="277020"/>
            <a:ext cx="8501122" cy="47346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2500"/>
              </a:lnSpc>
            </a:pPr>
            <a:r>
              <a:rPr lang="en-US" altLang="zh-CN" b="1">
                <a:solidFill>
                  <a:srgbClr val="0000FF"/>
                </a:solidFill>
                <a:latin typeface="Consolas" pitchFamily="49" charset="0"/>
                <a:ea typeface="仿宋" pitchFamily="49" charset="-122"/>
                <a:cs typeface="Consolas" pitchFamily="49" charset="0"/>
              </a:rPr>
              <a:t>else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FF0000"/>
                </a:solidFill>
                <a:latin typeface="Consolas" pitchFamily="49" charset="0"/>
                <a:ea typeface="仿宋" pitchFamily="49" charset="-122"/>
                <a:cs typeface="Consolas" pitchFamily="49" charset="0"/>
              </a:rPr>
              <a:t>情况</a:t>
            </a:r>
            <a:r>
              <a:rPr lang="en-US" altLang="zh-CN" b="1">
                <a:solidFill>
                  <a:srgbClr val="FF0000"/>
                </a:solidFill>
                <a:latin typeface="Consolas" pitchFamily="49" charset="0"/>
                <a:ea typeface="仿宋" pitchFamily="49" charset="-122"/>
                <a:cs typeface="Consolas" pitchFamily="49" charset="0"/>
              </a:rPr>
              <a:t>(4)</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有左右孩子的情况</a:t>
            </a:r>
            <a:endParaRPr lang="en-US"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BSTNode* q=p-&gt;lchild; 	</a:t>
            </a:r>
            <a:r>
              <a:rPr lang="en-US" altLang="zh-CN" b="1">
                <a:solidFill>
                  <a:srgbClr val="00B0F0"/>
                </a:solidFill>
                <a:latin typeface="Consolas" pitchFamily="49" charset="0"/>
                <a:ea typeface="仿宋" pitchFamily="49" charset="-122"/>
                <a:cs typeface="Consolas" pitchFamily="49" charset="0"/>
              </a:rPr>
              <a:t>//q</a:t>
            </a:r>
            <a:r>
              <a:rPr lang="zh-CN" altLang="zh-CN" b="1">
                <a:solidFill>
                  <a:srgbClr val="00B0F0"/>
                </a:solidFill>
                <a:latin typeface="Consolas" pitchFamily="49" charset="0"/>
                <a:ea typeface="仿宋" pitchFamily="49" charset="-122"/>
                <a:cs typeface="Consolas" pitchFamily="49" charset="0"/>
              </a:rPr>
              <a:t>指向结点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的左孩子结点</a:t>
            </a:r>
          </a:p>
          <a:p>
            <a:pPr>
              <a:lnSpc>
                <a:spcPts val="2500"/>
              </a:lnSpc>
            </a:pPr>
            <a:r>
              <a:rPr lang="en-US" altLang="zh-CN" b="1">
                <a:solidFill>
                  <a:srgbClr val="0000FF"/>
                </a:solidFill>
                <a:latin typeface="Consolas" pitchFamily="49" charset="0"/>
                <a:ea typeface="仿宋" pitchFamily="49" charset="-122"/>
                <a:cs typeface="Consolas" pitchFamily="49" charset="0"/>
              </a:rPr>
              <a:t>   f=p;      			</a:t>
            </a:r>
            <a:r>
              <a:rPr lang="en-US" altLang="zh-CN" b="1">
                <a:solidFill>
                  <a:srgbClr val="00B0F0"/>
                </a:solidFill>
                <a:latin typeface="Consolas" pitchFamily="49" charset="0"/>
                <a:ea typeface="仿宋" pitchFamily="49" charset="-122"/>
                <a:cs typeface="Consolas" pitchFamily="49" charset="0"/>
              </a:rPr>
              <a:t>//f</a:t>
            </a:r>
            <a:r>
              <a:rPr lang="zh-CN" altLang="zh-CN" b="1">
                <a:solidFill>
                  <a:srgbClr val="00B0F0"/>
                </a:solidFill>
                <a:latin typeface="Consolas" pitchFamily="49" charset="0"/>
                <a:ea typeface="仿宋" pitchFamily="49" charset="-122"/>
                <a:cs typeface="Consolas" pitchFamily="49" charset="0"/>
              </a:rPr>
              <a:t>指向结点</a:t>
            </a:r>
            <a:r>
              <a:rPr lang="en-US" altLang="zh-CN" b="1">
                <a:solidFill>
                  <a:srgbClr val="00B0F0"/>
                </a:solidFill>
                <a:latin typeface="Consolas" pitchFamily="49" charset="0"/>
                <a:ea typeface="仿宋" pitchFamily="49" charset="-122"/>
                <a:cs typeface="Consolas" pitchFamily="49" charset="0"/>
              </a:rPr>
              <a:t>q</a:t>
            </a:r>
            <a:r>
              <a:rPr lang="zh-CN" altLang="zh-CN" b="1">
                <a:solidFill>
                  <a:srgbClr val="00B0F0"/>
                </a:solidFill>
                <a:latin typeface="Consolas" pitchFamily="49" charset="0"/>
                <a:ea typeface="仿宋" pitchFamily="49" charset="-122"/>
                <a:cs typeface="Consolas" pitchFamily="49" charset="0"/>
              </a:rPr>
              <a:t>的双亲结点</a:t>
            </a:r>
          </a:p>
          <a:p>
            <a:pPr>
              <a:lnSpc>
                <a:spcPts val="2500"/>
              </a:lnSpc>
            </a:pPr>
            <a:r>
              <a:rPr lang="en-US" altLang="zh-CN" b="1">
                <a:solidFill>
                  <a:srgbClr val="0000FF"/>
                </a:solidFill>
                <a:latin typeface="Consolas" pitchFamily="49" charset="0"/>
                <a:ea typeface="仿宋" pitchFamily="49" charset="-122"/>
                <a:cs typeface="Consolas" pitchFamily="49" charset="0"/>
              </a:rPr>
              <a:t>   while(</a:t>
            </a:r>
            <a:r>
              <a:rPr lang="en-US" altLang="zh-CN" b="1">
                <a:solidFill>
                  <a:srgbClr val="FF00FF"/>
                </a:solidFill>
                <a:latin typeface="Consolas" pitchFamily="49" charset="0"/>
                <a:ea typeface="仿宋" pitchFamily="49" charset="-122"/>
                <a:cs typeface="Consolas" pitchFamily="49" charset="0"/>
              </a:rPr>
              <a:t>q-&gt;rchild!=NULL</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	//</a:t>
            </a:r>
            <a:r>
              <a:rPr lang="zh-CN" altLang="zh-CN" b="1">
                <a:solidFill>
                  <a:srgbClr val="00B0F0"/>
                </a:solidFill>
                <a:latin typeface="Consolas" pitchFamily="49" charset="0"/>
                <a:ea typeface="仿宋" pitchFamily="49" charset="-122"/>
                <a:cs typeface="Consolas" pitchFamily="49" charset="0"/>
              </a:rPr>
              <a:t>找到结点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的左孩子的最右下结点</a:t>
            </a:r>
            <a:r>
              <a:rPr lang="en-US" altLang="zh-CN" b="1">
                <a:solidFill>
                  <a:srgbClr val="00B0F0"/>
                </a:solidFill>
                <a:latin typeface="Consolas" pitchFamily="49" charset="0"/>
                <a:ea typeface="仿宋" pitchFamily="49" charset="-122"/>
                <a:cs typeface="Consolas" pitchFamily="49" charset="0"/>
              </a:rPr>
              <a:t>q</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  f=q;</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q=q-&gt;rchild;</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p-&gt;key=q-&gt;key;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将结点</a:t>
            </a:r>
            <a:r>
              <a:rPr lang="en-US" altLang="zh-CN" b="1">
                <a:solidFill>
                  <a:srgbClr val="00B0F0"/>
                </a:solidFill>
                <a:latin typeface="Consolas" pitchFamily="49" charset="0"/>
                <a:ea typeface="仿宋" pitchFamily="49" charset="-122"/>
                <a:cs typeface="Consolas" pitchFamily="49" charset="0"/>
              </a:rPr>
              <a:t>p</a:t>
            </a:r>
            <a:r>
              <a:rPr lang="zh-CN" altLang="zh-CN" b="1">
                <a:solidFill>
                  <a:srgbClr val="00B0F0"/>
                </a:solidFill>
                <a:latin typeface="Consolas" pitchFamily="49" charset="0"/>
                <a:ea typeface="仿宋" pitchFamily="49" charset="-122"/>
                <a:cs typeface="Consolas" pitchFamily="49" charset="0"/>
              </a:rPr>
              <a:t>的值用结点</a:t>
            </a:r>
            <a:r>
              <a:rPr lang="en-US" altLang="zh-CN" b="1">
                <a:solidFill>
                  <a:srgbClr val="00B0F0"/>
                </a:solidFill>
                <a:latin typeface="Consolas" pitchFamily="49" charset="0"/>
                <a:ea typeface="仿宋" pitchFamily="49" charset="-122"/>
                <a:cs typeface="Consolas" pitchFamily="49" charset="0"/>
              </a:rPr>
              <a:t>q</a:t>
            </a:r>
            <a:r>
              <a:rPr lang="zh-CN" altLang="zh-CN" b="1">
                <a:solidFill>
                  <a:srgbClr val="00B0F0"/>
                </a:solidFill>
                <a:latin typeface="Consolas" pitchFamily="49" charset="0"/>
                <a:ea typeface="仿宋" pitchFamily="49" charset="-122"/>
                <a:cs typeface="Consolas" pitchFamily="49" charset="0"/>
              </a:rPr>
              <a:t>的值替换</a:t>
            </a:r>
          </a:p>
          <a:p>
            <a:pPr>
              <a:lnSpc>
                <a:spcPts val="2500"/>
              </a:lnSpc>
              <a:spcBef>
                <a:spcPts val="1200"/>
              </a:spcBef>
            </a:pPr>
            <a:r>
              <a:rPr lang="en-US" altLang="zh-CN" b="1">
                <a:solidFill>
                  <a:srgbClr val="0000FF"/>
                </a:solidFill>
                <a:latin typeface="Consolas" pitchFamily="49" charset="0"/>
                <a:ea typeface="仿宋" pitchFamily="49" charset="-122"/>
                <a:cs typeface="Consolas" pitchFamily="49" charset="0"/>
              </a:rPr>
              <a:t>   if(</a:t>
            </a:r>
            <a:r>
              <a:rPr lang="en-US" altLang="zh-CN" b="1">
                <a:solidFill>
                  <a:srgbClr val="FF00FF"/>
                </a:solidFill>
                <a:latin typeface="Consolas" pitchFamily="49" charset="0"/>
                <a:ea typeface="仿宋" pitchFamily="49" charset="-122"/>
                <a:cs typeface="Consolas" pitchFamily="49" charset="0"/>
              </a:rPr>
              <a:t>q==f-&gt;lchild</a:t>
            </a: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B0F0"/>
                </a:solidFill>
                <a:latin typeface="Consolas" pitchFamily="49" charset="0"/>
                <a:ea typeface="仿宋" pitchFamily="49" charset="-122"/>
                <a:cs typeface="Consolas" pitchFamily="49" charset="0"/>
              </a:rPr>
              <a:t>//</a:t>
            </a:r>
            <a:r>
              <a:rPr lang="zh-CN" altLang="zh-CN" b="1">
                <a:solidFill>
                  <a:srgbClr val="00B0F0"/>
                </a:solidFill>
                <a:latin typeface="Consolas" pitchFamily="49" charset="0"/>
                <a:ea typeface="仿宋" pitchFamily="49" charset="-122"/>
                <a:cs typeface="Consolas" pitchFamily="49" charset="0"/>
              </a:rPr>
              <a:t>删除结点</a:t>
            </a:r>
            <a:r>
              <a:rPr lang="en-US" altLang="zh-CN" b="1">
                <a:solidFill>
                  <a:srgbClr val="00B0F0"/>
                </a:solidFill>
                <a:latin typeface="Consolas" pitchFamily="49" charset="0"/>
                <a:ea typeface="仿宋" pitchFamily="49" charset="-122"/>
                <a:cs typeface="Consolas" pitchFamily="49" charset="0"/>
              </a:rPr>
              <a:t>q(</a:t>
            </a:r>
            <a:r>
              <a:rPr lang="zh-CN" altLang="zh-CN" b="1">
                <a:solidFill>
                  <a:srgbClr val="00B0F0"/>
                </a:solidFill>
                <a:latin typeface="Consolas" pitchFamily="49" charset="0"/>
                <a:ea typeface="仿宋" pitchFamily="49" charset="-122"/>
                <a:cs typeface="Consolas" pitchFamily="49" charset="0"/>
              </a:rPr>
              <a:t>用结点</a:t>
            </a:r>
            <a:r>
              <a:rPr lang="en-US" altLang="zh-CN" b="1">
                <a:solidFill>
                  <a:srgbClr val="00B0F0"/>
                </a:solidFill>
                <a:latin typeface="Consolas" pitchFamily="49" charset="0"/>
                <a:ea typeface="仿宋" pitchFamily="49" charset="-122"/>
                <a:cs typeface="Consolas" pitchFamily="49" charset="0"/>
              </a:rPr>
              <a:t>q</a:t>
            </a:r>
            <a:r>
              <a:rPr lang="zh-CN" altLang="zh-CN" b="1">
                <a:solidFill>
                  <a:srgbClr val="00B0F0"/>
                </a:solidFill>
                <a:latin typeface="Consolas" pitchFamily="49" charset="0"/>
                <a:ea typeface="仿宋" pitchFamily="49" charset="-122"/>
                <a:cs typeface="Consolas" pitchFamily="49" charset="0"/>
              </a:rPr>
              <a:t>的左孩子替代结点</a:t>
            </a:r>
            <a:r>
              <a:rPr lang="en-US" altLang="zh-CN" b="1">
                <a:solidFill>
                  <a:srgbClr val="00B0F0"/>
                </a:solidFill>
                <a:latin typeface="Consolas" pitchFamily="49" charset="0"/>
                <a:ea typeface="仿宋" pitchFamily="49" charset="-122"/>
                <a:cs typeface="Consolas" pitchFamily="49" charset="0"/>
              </a:rPr>
              <a:t>q)</a:t>
            </a:r>
            <a:endParaRPr lang="zh-CN" altLang="zh-CN" b="1">
              <a:solidFill>
                <a:srgbClr val="00B0F0"/>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6600"/>
                </a:solidFill>
                <a:latin typeface="Consolas" pitchFamily="49" charset="0"/>
                <a:ea typeface="仿宋" pitchFamily="49" charset="-122"/>
                <a:cs typeface="Consolas" pitchFamily="49" charset="0"/>
              </a:rPr>
              <a:t>f-&gt;lchild=q-&gt;lchild</a:t>
            </a: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else</a:t>
            </a:r>
          </a:p>
          <a:p>
            <a:pPr>
              <a:lnSpc>
                <a:spcPts val="2500"/>
              </a:lnSpc>
            </a:pPr>
            <a:r>
              <a:rPr lang="en-US" altLang="zh-CN" b="1">
                <a:solidFill>
                  <a:srgbClr val="0000FF"/>
                </a:solidFill>
                <a:latin typeface="Consolas" pitchFamily="49" charset="0"/>
                <a:ea typeface="仿宋" pitchFamily="49" charset="-122"/>
                <a:cs typeface="Consolas" pitchFamily="49" charset="0"/>
              </a:rPr>
              <a:t>      </a:t>
            </a:r>
            <a:r>
              <a:rPr lang="en-US" altLang="zh-CN" b="1">
                <a:solidFill>
                  <a:srgbClr val="006600"/>
                </a:solidFill>
                <a:latin typeface="Consolas" pitchFamily="49" charset="0"/>
                <a:ea typeface="仿宋" pitchFamily="49" charset="-122"/>
                <a:cs typeface="Consolas" pitchFamily="49" charset="0"/>
              </a:rPr>
              <a:t>f-&gt;rchild=q-&gt;lchild</a:t>
            </a: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   free(q);</a:t>
            </a:r>
            <a:endParaRPr lang="zh-CN" altLang="zh-CN" b="1">
              <a:solidFill>
                <a:srgbClr val="0000FF"/>
              </a:solidFill>
              <a:latin typeface="Consolas" pitchFamily="49" charset="0"/>
              <a:ea typeface="仿宋" pitchFamily="49" charset="-122"/>
              <a:cs typeface="Consolas" pitchFamily="49" charset="0"/>
            </a:endParaRPr>
          </a:p>
          <a:p>
            <a:pPr>
              <a:lnSpc>
                <a:spcPts val="2500"/>
              </a:lnSpc>
            </a:pPr>
            <a:r>
              <a:rPr lang="en-US" altLang="zh-CN" b="1">
                <a:solidFill>
                  <a:srgbClr val="0000FF"/>
                </a:solidFill>
                <a:latin typeface="Consolas" pitchFamily="49" charset="0"/>
                <a:ea typeface="仿宋" pitchFamily="49" charset="-122"/>
                <a:cs typeface="Consolas" pitchFamily="49" charset="0"/>
              </a:rPr>
              <a:t>}</a:t>
            </a:r>
            <a:endParaRPr lang="zh-CN" altLang="zh-CN" b="1">
              <a:solidFill>
                <a:srgbClr val="0000FF"/>
              </a:solidFill>
              <a:latin typeface="Consolas" pitchFamily="49" charset="0"/>
              <a:ea typeface="仿宋" pitchFamily="49" charset="-122"/>
              <a:cs typeface="Consolas" pitchFamily="49" charset="0"/>
            </a:endParaRPr>
          </a:p>
        </p:txBody>
      </p:sp>
      <p:grpSp>
        <p:nvGrpSpPr>
          <p:cNvPr id="2" name="组合 82"/>
          <p:cNvGrpSpPr/>
          <p:nvPr/>
        </p:nvGrpSpPr>
        <p:grpSpPr>
          <a:xfrm>
            <a:off x="5810248" y="3714752"/>
            <a:ext cx="3214710" cy="2357454"/>
            <a:chOff x="2714612" y="3714752"/>
            <a:chExt cx="3214710" cy="2357454"/>
          </a:xfrm>
        </p:grpSpPr>
        <p:sp>
          <p:nvSpPr>
            <p:cNvPr id="38" name="矩形 37"/>
            <p:cNvSpPr/>
            <p:nvPr/>
          </p:nvSpPr>
          <p:spPr>
            <a:xfrm>
              <a:off x="2714612" y="3714752"/>
              <a:ext cx="3214710" cy="2357454"/>
            </a:xfrm>
            <a:prstGeom prst="rect">
              <a:avLst/>
            </a:prstGeom>
            <a:solidFill>
              <a:schemeClr val="accent6">
                <a:lumMod val="20000"/>
                <a:lumOff val="8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9" name="Oval 31"/>
            <p:cNvSpPr>
              <a:spLocks noChangeArrowheads="1"/>
            </p:cNvSpPr>
            <p:nvPr/>
          </p:nvSpPr>
          <p:spPr bwMode="auto">
            <a:xfrm>
              <a:off x="4977041" y="5003642"/>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40" name="直接箭头连接符 39"/>
            <p:cNvCxnSpPr>
              <a:endCxn id="73" idx="1"/>
            </p:cNvCxnSpPr>
            <p:nvPr/>
          </p:nvCxnSpPr>
          <p:spPr>
            <a:xfrm rot="16200000" flipH="1">
              <a:off x="5264136" y="4220543"/>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4" name="TextBox 53"/>
            <p:cNvSpPr txBox="1"/>
            <p:nvPr/>
          </p:nvSpPr>
          <p:spPr>
            <a:xfrm>
              <a:off x="5000628" y="3929066"/>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p>
          </p:txBody>
        </p:sp>
        <p:sp>
          <p:nvSpPr>
            <p:cNvPr id="73" name="Oval 31"/>
            <p:cNvSpPr>
              <a:spLocks noChangeArrowheads="1"/>
            </p:cNvSpPr>
            <p:nvPr/>
          </p:nvSpPr>
          <p:spPr bwMode="auto">
            <a:xfrm>
              <a:off x="5405669" y="4357453"/>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74" name="直接连接符 73"/>
            <p:cNvCxnSpPr>
              <a:stCxn id="73" idx="3"/>
              <a:endCxn id="39" idx="0"/>
            </p:cNvCxnSpPr>
            <p:nvPr/>
          </p:nvCxnSpPr>
          <p:spPr>
            <a:xfrm rot="5400000">
              <a:off x="5113740" y="4666411"/>
              <a:ext cx="355202" cy="319260"/>
            </a:xfrm>
            <a:prstGeom prst="line">
              <a:avLst/>
            </a:prstGeom>
            <a:ln w="19050">
              <a:solidFill>
                <a:srgbClr val="FF0000"/>
              </a:solidFill>
              <a:prstDash val="solid"/>
              <a:tailEnd type="none"/>
            </a:ln>
          </p:spPr>
          <p:style>
            <a:lnRef idx="2">
              <a:schemeClr val="dk1"/>
            </a:lnRef>
            <a:fillRef idx="0">
              <a:schemeClr val="dk1"/>
            </a:fillRef>
            <a:effectRef idx="1">
              <a:schemeClr val="dk1"/>
            </a:effectRef>
            <a:fontRef idx="minor">
              <a:schemeClr val="tx1"/>
            </a:fontRef>
          </p:style>
        </p:cxnSp>
        <p:sp>
          <p:nvSpPr>
            <p:cNvPr id="75" name="等腰三角形 74"/>
            <p:cNvSpPr/>
            <p:nvPr/>
          </p:nvSpPr>
          <p:spPr>
            <a:xfrm>
              <a:off x="4714876" y="5572140"/>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76" name="直接连接符 75"/>
            <p:cNvCxnSpPr>
              <a:stCxn id="39" idx="3"/>
              <a:endCxn id="75" idx="0"/>
            </p:cNvCxnSpPr>
            <p:nvPr/>
          </p:nvCxnSpPr>
          <p:spPr>
            <a:xfrm rot="5400000">
              <a:off x="4837012" y="5386808"/>
              <a:ext cx="277511" cy="9315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77" name="TextBox 76"/>
            <p:cNvSpPr txBox="1"/>
            <p:nvPr/>
          </p:nvSpPr>
          <p:spPr>
            <a:xfrm>
              <a:off x="5500694" y="4857760"/>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q</a:t>
              </a:r>
              <a:endParaRPr lang="zh-CN" altLang="en-US" sz="1700" i="1">
                <a:solidFill>
                  <a:srgbClr val="0000FF"/>
                </a:solidFill>
                <a:latin typeface="Consolas" pitchFamily="49" charset="0"/>
                <a:ea typeface="楷体" pitchFamily="49" charset="-122"/>
                <a:cs typeface="Consolas" pitchFamily="49" charset="0"/>
              </a:endParaRPr>
            </a:p>
          </p:txBody>
        </p:sp>
        <p:cxnSp>
          <p:nvCxnSpPr>
            <p:cNvPr id="78" name="直接箭头连接符 77"/>
            <p:cNvCxnSpPr/>
            <p:nvPr/>
          </p:nvCxnSpPr>
          <p:spPr>
            <a:xfrm rot="16200000" flipH="1">
              <a:off x="5416536" y="4165623"/>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79" name="TextBox 78"/>
            <p:cNvSpPr txBox="1"/>
            <p:nvPr/>
          </p:nvSpPr>
          <p:spPr>
            <a:xfrm>
              <a:off x="5286380" y="3806286"/>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cxnSp>
          <p:nvCxnSpPr>
            <p:cNvPr id="80" name="直接箭头连接符 79"/>
            <p:cNvCxnSpPr>
              <a:endCxn id="39" idx="6"/>
            </p:cNvCxnSpPr>
            <p:nvPr/>
          </p:nvCxnSpPr>
          <p:spPr>
            <a:xfrm rot="10800000" flipV="1">
              <a:off x="5286380" y="5000635"/>
              <a:ext cx="214314" cy="17346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1" name="任意多边形 80"/>
            <p:cNvSpPr/>
            <p:nvPr/>
          </p:nvSpPr>
          <p:spPr>
            <a:xfrm>
              <a:off x="4742319" y="4581591"/>
              <a:ext cx="666230" cy="1045028"/>
            </a:xfrm>
            <a:custGeom>
              <a:avLst/>
              <a:gdLst>
                <a:gd name="connsiteX0" fmla="*/ 679938 w 679938"/>
                <a:gd name="connsiteY0" fmla="*/ 0 h 1045028"/>
                <a:gd name="connsiteX1" fmla="*/ 458875 w 679938"/>
                <a:gd name="connsiteY1" fmla="*/ 80387 h 1045028"/>
                <a:gd name="connsiteX2" fmla="*/ 247859 w 679938"/>
                <a:gd name="connsiteY2" fmla="*/ 190919 h 1045028"/>
                <a:gd name="connsiteX3" fmla="*/ 16747 w 679938"/>
                <a:gd name="connsiteY3" fmla="*/ 713433 h 1045028"/>
                <a:gd name="connsiteX4" fmla="*/ 147376 w 679938"/>
                <a:gd name="connsiteY4" fmla="*/ 1045028 h 1045028"/>
                <a:gd name="connsiteX0" fmla="*/ 679938 w 679938"/>
                <a:gd name="connsiteY0" fmla="*/ 41403 h 1086431"/>
                <a:gd name="connsiteX1" fmla="*/ 486331 w 679938"/>
                <a:gd name="connsiteY1" fmla="*/ 31820 h 1086431"/>
                <a:gd name="connsiteX2" fmla="*/ 247859 w 679938"/>
                <a:gd name="connsiteY2" fmla="*/ 232322 h 1086431"/>
                <a:gd name="connsiteX3" fmla="*/ 16747 w 679938"/>
                <a:gd name="connsiteY3" fmla="*/ 754836 h 1086431"/>
                <a:gd name="connsiteX4" fmla="*/ 147376 w 679938"/>
                <a:gd name="connsiteY4" fmla="*/ 1086431 h 1086431"/>
                <a:gd name="connsiteX0" fmla="*/ 672058 w 672058"/>
                <a:gd name="connsiteY0" fmla="*/ 55611 h 1100639"/>
                <a:gd name="connsiteX1" fmla="*/ 478451 w 672058"/>
                <a:gd name="connsiteY1" fmla="*/ 46028 h 1100639"/>
                <a:gd name="connsiteX2" fmla="*/ 192699 w 672058"/>
                <a:gd name="connsiteY2" fmla="*/ 331781 h 1100639"/>
                <a:gd name="connsiteX3" fmla="*/ 8867 w 672058"/>
                <a:gd name="connsiteY3" fmla="*/ 769044 h 1100639"/>
                <a:gd name="connsiteX4" fmla="*/ 139496 w 672058"/>
                <a:gd name="connsiteY4" fmla="*/ 1100639 h 1100639"/>
                <a:gd name="connsiteX0" fmla="*/ 672058 w 672058"/>
                <a:gd name="connsiteY0" fmla="*/ 0 h 1045028"/>
                <a:gd name="connsiteX1" fmla="*/ 335575 w 672058"/>
                <a:gd name="connsiteY1" fmla="*/ 61856 h 1045028"/>
                <a:gd name="connsiteX2" fmla="*/ 192699 w 672058"/>
                <a:gd name="connsiteY2" fmla="*/ 276170 h 1045028"/>
                <a:gd name="connsiteX3" fmla="*/ 8867 w 672058"/>
                <a:gd name="connsiteY3" fmla="*/ 713433 h 1045028"/>
                <a:gd name="connsiteX4" fmla="*/ 139496 w 672058"/>
                <a:gd name="connsiteY4" fmla="*/ 1045028 h 1045028"/>
                <a:gd name="connsiteX0" fmla="*/ 666230 w 666230"/>
                <a:gd name="connsiteY0" fmla="*/ 0 h 1045028"/>
                <a:gd name="connsiteX1" fmla="*/ 329747 w 666230"/>
                <a:gd name="connsiteY1" fmla="*/ 61856 h 1045028"/>
                <a:gd name="connsiteX2" fmla="*/ 115433 w 666230"/>
                <a:gd name="connsiteY2" fmla="*/ 347607 h 1045028"/>
                <a:gd name="connsiteX3" fmla="*/ 3039 w 666230"/>
                <a:gd name="connsiteY3" fmla="*/ 713433 h 1045028"/>
                <a:gd name="connsiteX4" fmla="*/ 133668 w 666230"/>
                <a:gd name="connsiteY4" fmla="*/ 1045028 h 10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230" h="1045028">
                  <a:moveTo>
                    <a:pt x="666230" y="0"/>
                  </a:moveTo>
                  <a:cubicBezTo>
                    <a:pt x="591705" y="24283"/>
                    <a:pt x="421546" y="3922"/>
                    <a:pt x="329747" y="61856"/>
                  </a:cubicBezTo>
                  <a:cubicBezTo>
                    <a:pt x="237948" y="119790"/>
                    <a:pt x="169884" y="239011"/>
                    <a:pt x="115433" y="347607"/>
                  </a:cubicBezTo>
                  <a:cubicBezTo>
                    <a:pt x="60982" y="456203"/>
                    <a:pt x="0" y="597196"/>
                    <a:pt x="3039" y="713433"/>
                  </a:cubicBezTo>
                  <a:cubicBezTo>
                    <a:pt x="6078" y="829670"/>
                    <a:pt x="59980" y="950406"/>
                    <a:pt x="133668" y="1045028"/>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2" name="TextBox 81"/>
            <p:cNvSpPr txBox="1"/>
            <p:nvPr/>
          </p:nvSpPr>
          <p:spPr>
            <a:xfrm>
              <a:off x="2857488" y="4357694"/>
              <a:ext cx="2357454" cy="338554"/>
            </a:xfrm>
            <a:prstGeom prst="rect">
              <a:avLst/>
            </a:prstGeom>
            <a:noFill/>
          </p:spPr>
          <p:txBody>
            <a:bodyPr wrap="square" rtlCol="0">
              <a:spAutoFit/>
            </a:bodyPr>
            <a:lstStyle/>
            <a:p>
              <a:pPr algn="l"/>
              <a:r>
                <a:rPr lang="en-US" altLang="zh-CN" sz="1600" b="1">
                  <a:solidFill>
                    <a:srgbClr val="006600"/>
                  </a:solidFill>
                  <a:latin typeface="Consolas" pitchFamily="49" charset="0"/>
                  <a:ea typeface="仿宋" pitchFamily="49" charset="-122"/>
                  <a:cs typeface="Consolas" pitchFamily="49" charset="0"/>
                </a:rPr>
                <a:t>f-&gt;lchild=q-&gt;lchild</a:t>
              </a:r>
              <a:endParaRPr lang="zh-CN" altLang="en-US" sz="1600" b="1" dirty="0">
                <a:solidFill>
                  <a:srgbClr val="006600"/>
                </a:solidFill>
                <a:ea typeface="楷体" pitchFamily="49" charset="-122"/>
                <a:cs typeface="Times New Roman" pitchFamily="18" charset="0"/>
              </a:endParaRPr>
            </a:p>
          </p:txBody>
        </p:sp>
      </p:grpSp>
      <p:grpSp>
        <p:nvGrpSpPr>
          <p:cNvPr id="3" name="组合 53"/>
          <p:cNvGrpSpPr/>
          <p:nvPr/>
        </p:nvGrpSpPr>
        <p:grpSpPr>
          <a:xfrm>
            <a:off x="5810248" y="2915664"/>
            <a:ext cx="4286280" cy="2942229"/>
            <a:chOff x="4143372" y="1558341"/>
            <a:chExt cx="4286280" cy="2942229"/>
          </a:xfrm>
        </p:grpSpPr>
        <p:sp>
          <p:nvSpPr>
            <p:cNvPr id="85" name="矩形 84"/>
            <p:cNvSpPr/>
            <p:nvPr/>
          </p:nvSpPr>
          <p:spPr>
            <a:xfrm>
              <a:off x="4143372" y="1643050"/>
              <a:ext cx="4286280" cy="2857520"/>
            </a:xfrm>
            <a:prstGeom prst="rect">
              <a:avLst/>
            </a:prstGeom>
            <a:solidFill>
              <a:schemeClr val="accent6">
                <a:lumMod val="20000"/>
                <a:lumOff val="80000"/>
              </a:schemeClr>
            </a:solidFill>
            <a:ln>
              <a:noFill/>
              <a:tailEnd type="none"/>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6" name="Oval 31"/>
            <p:cNvSpPr>
              <a:spLocks noChangeArrowheads="1"/>
            </p:cNvSpPr>
            <p:nvPr/>
          </p:nvSpPr>
          <p:spPr bwMode="auto">
            <a:xfrm>
              <a:off x="4334099" y="2503312"/>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87" name="直接箭头连接符 86"/>
            <p:cNvCxnSpPr>
              <a:endCxn id="89" idx="1"/>
            </p:cNvCxnSpPr>
            <p:nvPr/>
          </p:nvCxnSpPr>
          <p:spPr>
            <a:xfrm rot="16200000" flipH="1">
              <a:off x="4621194" y="1720213"/>
              <a:ext cx="209079" cy="16459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8" name="TextBox 87"/>
            <p:cNvSpPr txBox="1"/>
            <p:nvPr/>
          </p:nvSpPr>
          <p:spPr>
            <a:xfrm>
              <a:off x="4357686" y="1558341"/>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p</a:t>
              </a:r>
              <a:endParaRPr lang="zh-CN" altLang="en-US" sz="1700" i="1">
                <a:solidFill>
                  <a:srgbClr val="0000FF"/>
                </a:solidFill>
                <a:latin typeface="Consolas" pitchFamily="49" charset="0"/>
                <a:ea typeface="楷体" pitchFamily="49" charset="-122"/>
                <a:cs typeface="Consolas" pitchFamily="49" charset="0"/>
              </a:endParaRPr>
            </a:p>
          </p:txBody>
        </p:sp>
        <p:sp>
          <p:nvSpPr>
            <p:cNvPr id="89" name="Oval 31"/>
            <p:cNvSpPr>
              <a:spLocks noChangeArrowheads="1"/>
            </p:cNvSpPr>
            <p:nvPr/>
          </p:nvSpPr>
          <p:spPr bwMode="auto">
            <a:xfrm>
              <a:off x="4762727" y="1857123"/>
              <a:ext cx="309339" cy="34091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90" name="直接连接符 89"/>
            <p:cNvCxnSpPr>
              <a:stCxn id="89" idx="3"/>
              <a:endCxn id="86" idx="0"/>
            </p:cNvCxnSpPr>
            <p:nvPr/>
          </p:nvCxnSpPr>
          <p:spPr>
            <a:xfrm rot="5400000">
              <a:off x="4470798" y="2166081"/>
              <a:ext cx="355202" cy="319260"/>
            </a:xfrm>
            <a:prstGeom prst="line">
              <a:avLst/>
            </a:prstGeom>
            <a:ln w="19050">
              <a:solidFill>
                <a:srgbClr val="FF00FF"/>
              </a:solidFill>
              <a:prstDash val="solid"/>
              <a:tailEnd type="none"/>
            </a:ln>
          </p:spPr>
          <p:style>
            <a:lnRef idx="2">
              <a:schemeClr val="dk1"/>
            </a:lnRef>
            <a:fillRef idx="0">
              <a:schemeClr val="dk1"/>
            </a:fillRef>
            <a:effectRef idx="1">
              <a:schemeClr val="dk1"/>
            </a:effectRef>
            <a:fontRef idx="minor">
              <a:schemeClr val="tx1"/>
            </a:fontRef>
          </p:style>
        </p:cxnSp>
        <p:sp>
          <p:nvSpPr>
            <p:cNvPr id="91" name="等腰三角形 90"/>
            <p:cNvSpPr/>
            <p:nvPr/>
          </p:nvSpPr>
          <p:spPr>
            <a:xfrm>
              <a:off x="4970484" y="3999402"/>
              <a:ext cx="428628" cy="357190"/>
            </a:xfrm>
            <a:prstGeom prst="triangle">
              <a:avLst/>
            </a:prstGeom>
            <a:ln>
              <a:tailEnd type="none"/>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92" name="直接连接符 91"/>
            <p:cNvCxnSpPr>
              <a:stCxn id="86" idx="5"/>
              <a:endCxn id="97" idx="1"/>
            </p:cNvCxnSpPr>
            <p:nvPr/>
          </p:nvCxnSpPr>
          <p:spPr>
            <a:xfrm rot="16200000" flipH="1">
              <a:off x="4588142" y="2804292"/>
              <a:ext cx="342612" cy="322625"/>
            </a:xfrm>
            <a:prstGeom prst="line">
              <a:avLst/>
            </a:prstGeom>
            <a:ln w="19050">
              <a:prstDash val="dash"/>
              <a:tailEnd type="none"/>
            </a:ln>
          </p:spPr>
          <p:style>
            <a:lnRef idx="2">
              <a:schemeClr val="dk1"/>
            </a:lnRef>
            <a:fillRef idx="0">
              <a:schemeClr val="dk1"/>
            </a:fillRef>
            <a:effectRef idx="1">
              <a:schemeClr val="dk1"/>
            </a:effectRef>
            <a:fontRef idx="minor">
              <a:schemeClr val="tx1"/>
            </a:fontRef>
          </p:style>
        </p:cxnSp>
        <p:sp>
          <p:nvSpPr>
            <p:cNvPr id="93" name="Oval 31"/>
            <p:cNvSpPr>
              <a:spLocks noChangeArrowheads="1"/>
            </p:cNvSpPr>
            <p:nvPr/>
          </p:nvSpPr>
          <p:spPr bwMode="auto">
            <a:xfrm>
              <a:off x="5256236" y="3499336"/>
              <a:ext cx="309339" cy="340913"/>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94" name="直接连接符 93"/>
            <p:cNvCxnSpPr>
              <a:stCxn id="93" idx="3"/>
              <a:endCxn id="91" idx="0"/>
            </p:cNvCxnSpPr>
            <p:nvPr/>
          </p:nvCxnSpPr>
          <p:spPr>
            <a:xfrm rot="5400000">
              <a:off x="5138629" y="3836492"/>
              <a:ext cx="209079" cy="116740"/>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5" name="直接箭头连接符 94"/>
            <p:cNvCxnSpPr/>
            <p:nvPr/>
          </p:nvCxnSpPr>
          <p:spPr>
            <a:xfrm rot="5400000">
              <a:off x="5532262" y="3409226"/>
              <a:ext cx="214314" cy="13108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96" name="TextBox 95"/>
            <p:cNvSpPr txBox="1"/>
            <p:nvPr/>
          </p:nvSpPr>
          <p:spPr>
            <a:xfrm>
              <a:off x="5643570" y="3289371"/>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q</a:t>
              </a:r>
              <a:endParaRPr lang="zh-CN" altLang="en-US" sz="1700" i="1">
                <a:solidFill>
                  <a:srgbClr val="0000FF"/>
                </a:solidFill>
                <a:latin typeface="Consolas" pitchFamily="49" charset="0"/>
                <a:ea typeface="楷体" pitchFamily="49" charset="-122"/>
                <a:cs typeface="Consolas" pitchFamily="49" charset="0"/>
              </a:endParaRPr>
            </a:p>
          </p:txBody>
        </p:sp>
        <p:sp>
          <p:nvSpPr>
            <p:cNvPr id="97" name="Oval 31"/>
            <p:cNvSpPr>
              <a:spLocks noChangeArrowheads="1"/>
            </p:cNvSpPr>
            <p:nvPr/>
          </p:nvSpPr>
          <p:spPr bwMode="auto">
            <a:xfrm>
              <a:off x="4875459" y="3086985"/>
              <a:ext cx="309339" cy="340913"/>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algn="ctr" fontAlgn="base">
                <a:spcBef>
                  <a:spcPct val="0"/>
                </a:spcBef>
                <a:spcAft>
                  <a:spcPct val="0"/>
                </a:spcAft>
              </a:pPr>
              <a:endParaRPr lang="en-US" altLang="zh-CN" sz="1600">
                <a:solidFill>
                  <a:srgbClr val="0000FF"/>
                </a:solidFill>
                <a:latin typeface="Consolas" pitchFamily="49" charset="0"/>
                <a:ea typeface="仿宋" pitchFamily="49" charset="-122"/>
                <a:cs typeface="Consolas" pitchFamily="49" charset="0"/>
              </a:endParaRPr>
            </a:p>
          </p:txBody>
        </p:sp>
        <p:cxnSp>
          <p:nvCxnSpPr>
            <p:cNvPr id="98" name="直接连接符 97"/>
            <p:cNvCxnSpPr>
              <a:stCxn id="97" idx="5"/>
              <a:endCxn id="93" idx="1"/>
            </p:cNvCxnSpPr>
            <p:nvPr/>
          </p:nvCxnSpPr>
          <p:spPr>
            <a:xfrm rot="16200000" flipH="1">
              <a:off x="5134872" y="3382596"/>
              <a:ext cx="171290" cy="1620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9" name="直接箭头连接符 98"/>
            <p:cNvCxnSpPr/>
            <p:nvPr/>
          </p:nvCxnSpPr>
          <p:spPr>
            <a:xfrm rot="5400000">
              <a:off x="5112580" y="2929256"/>
              <a:ext cx="214314" cy="13108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00" name="TextBox 99"/>
            <p:cNvSpPr txBox="1"/>
            <p:nvPr/>
          </p:nvSpPr>
          <p:spPr>
            <a:xfrm>
              <a:off x="5285278" y="2673326"/>
              <a:ext cx="285752" cy="353943"/>
            </a:xfrm>
            <a:prstGeom prst="rect">
              <a:avLst/>
            </a:prstGeom>
            <a:noFill/>
          </p:spPr>
          <p:txBody>
            <a:bodyPr wrap="square" rtlCol="0">
              <a:spAutoFit/>
            </a:bodyPr>
            <a:lstStyle/>
            <a:p>
              <a:r>
                <a:rPr lang="en-US" altLang="zh-CN" sz="1700" i="1">
                  <a:solidFill>
                    <a:srgbClr val="0000FF"/>
                  </a:solidFill>
                  <a:latin typeface="Consolas" pitchFamily="49" charset="0"/>
                  <a:ea typeface="楷体" pitchFamily="49" charset="-122"/>
                  <a:cs typeface="Consolas" pitchFamily="49" charset="0"/>
                </a:rPr>
                <a:t>f</a:t>
              </a:r>
              <a:endParaRPr lang="zh-CN" altLang="en-US" sz="1700" i="1">
                <a:solidFill>
                  <a:srgbClr val="0000FF"/>
                </a:solidFill>
                <a:latin typeface="Consolas" pitchFamily="49" charset="0"/>
                <a:ea typeface="楷体" pitchFamily="49" charset="-122"/>
                <a:cs typeface="Consolas" pitchFamily="49" charset="0"/>
              </a:endParaRPr>
            </a:p>
          </p:txBody>
        </p:sp>
        <p:sp>
          <p:nvSpPr>
            <p:cNvPr id="101" name="任意多边形 100"/>
            <p:cNvSpPr/>
            <p:nvPr/>
          </p:nvSpPr>
          <p:spPr>
            <a:xfrm>
              <a:off x="5194998" y="3133279"/>
              <a:ext cx="767024" cy="906157"/>
            </a:xfrm>
            <a:custGeom>
              <a:avLst/>
              <a:gdLst>
                <a:gd name="connsiteX0" fmla="*/ 0 w 767024"/>
                <a:gd name="connsiteY0" fmla="*/ 154075 h 887604"/>
                <a:gd name="connsiteX1" fmla="*/ 311499 w 767024"/>
                <a:gd name="connsiteY1" fmla="*/ 174171 h 887604"/>
                <a:gd name="connsiteX2" fmla="*/ 663191 w 767024"/>
                <a:gd name="connsiteY2" fmla="*/ 93785 h 887604"/>
                <a:gd name="connsiteX3" fmla="*/ 663191 w 767024"/>
                <a:gd name="connsiteY3" fmla="*/ 736879 h 887604"/>
                <a:gd name="connsiteX4" fmla="*/ 40194 w 767024"/>
                <a:gd name="connsiteY4" fmla="*/ 887604 h 887604"/>
                <a:gd name="connsiteX0" fmla="*/ 0 w 767024"/>
                <a:gd name="connsiteY0" fmla="*/ 172628 h 906157"/>
                <a:gd name="connsiteX1" fmla="*/ 367086 w 767024"/>
                <a:gd name="connsiteY1" fmla="*/ 81406 h 906157"/>
                <a:gd name="connsiteX2" fmla="*/ 663191 w 767024"/>
                <a:gd name="connsiteY2" fmla="*/ 112338 h 906157"/>
                <a:gd name="connsiteX3" fmla="*/ 663191 w 767024"/>
                <a:gd name="connsiteY3" fmla="*/ 755432 h 906157"/>
                <a:gd name="connsiteX4" fmla="*/ 40194 w 767024"/>
                <a:gd name="connsiteY4" fmla="*/ 906157 h 906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024" h="906157">
                  <a:moveTo>
                    <a:pt x="0" y="172628"/>
                  </a:moveTo>
                  <a:cubicBezTo>
                    <a:pt x="100483" y="187700"/>
                    <a:pt x="256554" y="91454"/>
                    <a:pt x="367086" y="81406"/>
                  </a:cubicBezTo>
                  <a:cubicBezTo>
                    <a:pt x="477618" y="71358"/>
                    <a:pt x="613840" y="0"/>
                    <a:pt x="663191" y="112338"/>
                  </a:cubicBezTo>
                  <a:cubicBezTo>
                    <a:pt x="712542" y="224676"/>
                    <a:pt x="767024" y="623129"/>
                    <a:pt x="663191" y="755432"/>
                  </a:cubicBezTo>
                  <a:cubicBezTo>
                    <a:pt x="559358" y="887735"/>
                    <a:pt x="40194" y="906157"/>
                    <a:pt x="40194" y="906157"/>
                  </a:cubicBezTo>
                </a:path>
              </a:pathLst>
            </a:cu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2" name="TextBox 101"/>
            <p:cNvSpPr txBox="1"/>
            <p:nvPr/>
          </p:nvSpPr>
          <p:spPr>
            <a:xfrm>
              <a:off x="5929322" y="3357562"/>
              <a:ext cx="2428892" cy="338554"/>
            </a:xfrm>
            <a:prstGeom prst="rect">
              <a:avLst/>
            </a:prstGeom>
            <a:noFill/>
          </p:spPr>
          <p:txBody>
            <a:bodyPr wrap="square" rtlCol="0">
              <a:spAutoFit/>
            </a:bodyPr>
            <a:lstStyle/>
            <a:p>
              <a:r>
                <a:rPr lang="en-US" altLang="zh-CN" sz="1600">
                  <a:solidFill>
                    <a:srgbClr val="006600"/>
                  </a:solidFill>
                  <a:latin typeface="Consolas" pitchFamily="49" charset="0"/>
                  <a:ea typeface="仿宋" pitchFamily="49" charset="-122"/>
                  <a:cs typeface="Consolas" pitchFamily="49" charset="0"/>
                </a:rPr>
                <a:t>f-&gt;rchild=q-&gt;lchild</a:t>
              </a:r>
              <a:endParaRPr lang="zh-CN" altLang="en-US" sz="1600">
                <a:solidFill>
                  <a:srgbClr val="006600"/>
                </a:solidFill>
                <a:latin typeface="Consolas" pitchFamily="49" charset="0"/>
                <a:ea typeface="楷体" pitchFamily="49" charset="-122"/>
                <a:cs typeface="Consolas" pitchFamily="49" charset="0"/>
              </a:endParaRPr>
            </a:p>
          </p:txBody>
        </p:sp>
      </p:grpSp>
      <p:sp>
        <p:nvSpPr>
          <p:cNvPr id="41" name="灯片编号占位符 40"/>
          <p:cNvSpPr>
            <a:spLocks noGrp="1"/>
          </p:cNvSpPr>
          <p:nvPr>
            <p:ph type="sldNum" sz="quarter" idx="12"/>
          </p:nvPr>
        </p:nvSpPr>
        <p:spPr/>
        <p:txBody>
          <a:bodyPr/>
          <a:lstStyle/>
          <a:p>
            <a:pPr>
              <a:defRPr/>
            </a:pPr>
            <a:fld id="{94984E60-CADE-4266-8DC7-A91C528B8A31}" type="slidenum">
              <a:rPr lang="en-US" altLang="zh-CN" smtClean="0"/>
              <a:pPr>
                <a:defRPr/>
              </a:pPr>
              <a:t>75</a:t>
            </a:fld>
            <a:r>
              <a:rPr lang="en-US" altLang="zh-CN"/>
              <a:t>/132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9" end="9"/>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2"/>
                                        </p:tgtEl>
                                      </p:cBhvr>
                                    </p:animEffect>
                                    <p:set>
                                      <p:cBhvr>
                                        <p:cTn id="16" dur="1" fill="hold">
                                          <p:stCondLst>
                                            <p:cond delay="499"/>
                                          </p:stCondLst>
                                        </p:cTn>
                                        <p:tgtEl>
                                          <p:spTgt spid="2"/>
                                        </p:tgtEl>
                                        <p:attrNameLst>
                                          <p:attrName>style.visibility</p:attrName>
                                        </p:attrNameLst>
                                      </p:cBhvr>
                                      <p:to>
                                        <p:strVal val="hidden"/>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6">
                                            <p:txEl>
                                              <p:pRg st="10" end="10"/>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6">
                                            <p:txEl>
                                              <p:pRg st="11" end="11"/>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xEl>
                                              <p:pRg st="12" end="1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13" end="13"/>
                                            </p:txEl>
                                          </p:spTgt>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81126" y="1071546"/>
            <a:ext cx="8786874" cy="8448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b="1">
                <a:solidFill>
                  <a:srgbClr val="0000FF"/>
                </a:solidFill>
                <a:latin typeface="Consolas" pitchFamily="49" charset="0"/>
                <a:cs typeface="Consolas" pitchFamily="49" charset="0"/>
              </a:rPr>
              <a:t>    return bt;</a:t>
            </a:r>
            <a:endParaRPr lang="zh-CN" altLang="zh-CN" b="1">
              <a:solidFill>
                <a:srgbClr val="0000FF"/>
              </a:solidFill>
              <a:latin typeface="Consolas" pitchFamily="49" charset="0"/>
              <a:cs typeface="Consolas" pitchFamily="49" charset="0"/>
            </a:endParaRPr>
          </a:p>
          <a:p>
            <a:pPr algn="l"/>
            <a:r>
              <a:rPr lang="en-US" altLang="zh-CN" b="1">
                <a:solidFill>
                  <a:srgbClr val="0000FF"/>
                </a:solidFill>
                <a:latin typeface="Consolas" pitchFamily="49" charset="0"/>
                <a:cs typeface="Consolas" pitchFamily="49" charset="0"/>
              </a:rPr>
              <a:t>}</a:t>
            </a:r>
            <a:endParaRPr lang="zh-CN" altLang="zh-CN" b="1">
              <a:solidFill>
                <a:srgbClr val="0000FF"/>
              </a:solidFill>
              <a:latin typeface="Consolas" pitchFamily="49" charset="0"/>
              <a:cs typeface="Consolas" pitchFamily="49" charset="0"/>
            </a:endParaRPr>
          </a:p>
        </p:txBody>
      </p:sp>
      <p:sp>
        <p:nvSpPr>
          <p:cNvPr id="37" name="TextBox 36"/>
          <p:cNvSpPr txBox="1"/>
          <p:nvPr/>
        </p:nvSpPr>
        <p:spPr>
          <a:xfrm>
            <a:off x="2024034" y="2357430"/>
            <a:ext cx="7786742" cy="400110"/>
          </a:xfrm>
          <a:prstGeom prst="rect">
            <a:avLst/>
          </a:prstGeom>
          <a:noFill/>
        </p:spPr>
        <p:txBody>
          <a:bodyPr wrap="square" rtlCol="0">
            <a:spAutoFit/>
          </a:bodyPr>
          <a:lstStyle/>
          <a:p>
            <a:pPr algn="l"/>
            <a:r>
              <a:rPr lang="zh-CN" altLang="zh-CN" sz="2000" b="1">
                <a:solidFill>
                  <a:srgbClr val="0000FF"/>
                </a:solidFill>
                <a:latin typeface="Consolas" pitchFamily="49" charset="0"/>
                <a:ea typeface="楷体" pitchFamily="49" charset="-122"/>
                <a:cs typeface="Consolas" pitchFamily="49" charset="0"/>
              </a:rPr>
              <a:t>上述算法的主要时间花费在查找上，与查找算法的时间复杂度相同。</a:t>
            </a:r>
            <a:endParaRPr lang="zh-CN" altLang="en-US" sz="2000" b="1" dirty="0">
              <a:solidFill>
                <a:srgbClr val="0000FF"/>
              </a:solidFill>
              <a:latin typeface="Consolas" pitchFamily="49" charset="0"/>
              <a:ea typeface="楷体" pitchFamily="49" charset="-122"/>
              <a:cs typeface="Consolas"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pPr>
                <a:defRPr/>
              </a:pPr>
              <a:t>76</a:t>
            </a:fld>
            <a:r>
              <a:rPr lang="en-US" altLang="zh-CN"/>
              <a:t>/132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9786" y="1028627"/>
            <a:ext cx="8072494" cy="3475411"/>
          </a:xfrm>
          <a:prstGeom prst="rect">
            <a:avLst/>
          </a:prstGeom>
          <a:ln>
            <a:solidFill>
              <a:schemeClr val="accent3">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nSpc>
                <a:spcPts val="2800"/>
              </a:lnSpc>
              <a:spcBef>
                <a:spcPts val="600"/>
              </a:spcBef>
            </a:pPr>
            <a:r>
              <a:rPr lang="en-US" altLang="zh-CN" sz="2000" b="1">
                <a:solidFill>
                  <a:srgbClr val="0000FF"/>
                </a:solidFill>
                <a:latin typeface="Consolas" pitchFamily="49" charset="0"/>
                <a:ea typeface="楷体" pitchFamily="49" charset="-122"/>
                <a:cs typeface="Consolas" pitchFamily="49" charset="0"/>
              </a:rPr>
              <a:t>   </a:t>
            </a:r>
            <a:r>
              <a:rPr lang="zh-CN" altLang="zh-CN" sz="2000" b="1">
                <a:solidFill>
                  <a:srgbClr val="0000FF"/>
                </a:solidFill>
                <a:latin typeface="Consolas" pitchFamily="49" charset="0"/>
                <a:ea typeface="楷体" pitchFamily="49" charset="-122"/>
                <a:cs typeface="Consolas" pitchFamily="49" charset="0"/>
              </a:rPr>
              <a:t>在任意一棵非空二叉排序树</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1</a:t>
            </a:r>
            <a:r>
              <a:rPr lang="zh-CN" altLang="zh-CN" sz="2000" b="1">
                <a:solidFill>
                  <a:srgbClr val="0000FF"/>
                </a:solidFill>
                <a:latin typeface="Consolas" pitchFamily="49" charset="0"/>
                <a:ea typeface="楷体" pitchFamily="49" charset="-122"/>
                <a:cs typeface="Consolas" pitchFamily="49" charset="0"/>
              </a:rPr>
              <a:t>中，删除某结点</a:t>
            </a:r>
            <a:r>
              <a:rPr lang="en-US" altLang="zh-CN" sz="2000" b="1">
                <a:solidFill>
                  <a:srgbClr val="0000FF"/>
                </a:solidFill>
                <a:latin typeface="Consolas" pitchFamily="49" charset="0"/>
                <a:ea typeface="楷体" pitchFamily="49" charset="-122"/>
                <a:cs typeface="Consolas" pitchFamily="49" charset="0"/>
              </a:rPr>
              <a:t>p</a:t>
            </a:r>
            <a:r>
              <a:rPr lang="zh-CN" altLang="zh-CN" sz="2000" b="1">
                <a:solidFill>
                  <a:srgbClr val="0000FF"/>
                </a:solidFill>
                <a:latin typeface="Consolas" pitchFamily="49" charset="0"/>
                <a:ea typeface="楷体" pitchFamily="49" charset="-122"/>
                <a:cs typeface="Consolas" pitchFamily="49" charset="0"/>
              </a:rPr>
              <a:t>之后形成二叉排序树</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2</a:t>
            </a:r>
            <a:r>
              <a:rPr lang="zh-CN" altLang="zh-CN" sz="2000" b="1">
                <a:solidFill>
                  <a:srgbClr val="0000FF"/>
                </a:solidFill>
                <a:latin typeface="Consolas" pitchFamily="49" charset="0"/>
                <a:ea typeface="楷体" pitchFamily="49" charset="-122"/>
                <a:cs typeface="Consolas" pitchFamily="49" charset="0"/>
              </a:rPr>
              <a:t>，再将</a:t>
            </a:r>
            <a:r>
              <a:rPr lang="en-US" altLang="zh-CN" sz="2000" b="1">
                <a:solidFill>
                  <a:srgbClr val="0000FF"/>
                </a:solidFill>
                <a:latin typeface="Consolas" pitchFamily="49" charset="0"/>
                <a:ea typeface="楷体" pitchFamily="49" charset="-122"/>
                <a:cs typeface="Consolas" pitchFamily="49" charset="0"/>
              </a:rPr>
              <a:t>p</a:t>
            </a:r>
            <a:r>
              <a:rPr lang="zh-CN" altLang="zh-CN" sz="2000" b="1">
                <a:solidFill>
                  <a:srgbClr val="0000FF"/>
                </a:solidFill>
                <a:latin typeface="Consolas" pitchFamily="49" charset="0"/>
                <a:ea typeface="楷体" pitchFamily="49" charset="-122"/>
                <a:cs typeface="Consolas" pitchFamily="49" charset="0"/>
              </a:rPr>
              <a:t>插入</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2</a:t>
            </a:r>
            <a:r>
              <a:rPr lang="zh-CN" altLang="zh-CN" sz="2000" b="1">
                <a:solidFill>
                  <a:srgbClr val="0000FF"/>
                </a:solidFill>
                <a:latin typeface="Consolas" pitchFamily="49" charset="0"/>
                <a:ea typeface="楷体" pitchFamily="49" charset="-122"/>
                <a:cs typeface="Consolas" pitchFamily="49" charset="0"/>
              </a:rPr>
              <a:t>形成二叉排序树</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3</a:t>
            </a:r>
            <a:r>
              <a:rPr lang="zh-CN" altLang="zh-CN" sz="2000" b="1">
                <a:solidFill>
                  <a:srgbClr val="0000FF"/>
                </a:solidFill>
                <a:latin typeface="Consolas" pitchFamily="49" charset="0"/>
                <a:ea typeface="楷体" pitchFamily="49" charset="-122"/>
                <a:cs typeface="Consolas" pitchFamily="49" charset="0"/>
              </a:rPr>
              <a:t>。下列关于</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1</a:t>
            </a:r>
            <a:r>
              <a:rPr lang="zh-CN" altLang="zh-CN" sz="2000" b="1">
                <a:solidFill>
                  <a:srgbClr val="0000FF"/>
                </a:solidFill>
                <a:latin typeface="Consolas" pitchFamily="49" charset="0"/>
                <a:ea typeface="楷体" pitchFamily="49" charset="-122"/>
                <a:cs typeface="Consolas" pitchFamily="49" charset="0"/>
              </a:rPr>
              <a:t>与</a:t>
            </a:r>
            <a:r>
              <a:rPr lang="en-US" altLang="zh-CN" sz="2000" b="1">
                <a:solidFill>
                  <a:srgbClr val="0000FF"/>
                </a:solidFill>
                <a:latin typeface="Consolas" pitchFamily="49" charset="0"/>
                <a:ea typeface="楷体" pitchFamily="49" charset="-122"/>
                <a:cs typeface="Consolas" pitchFamily="49" charset="0"/>
              </a:rPr>
              <a:t>T</a:t>
            </a:r>
            <a:r>
              <a:rPr lang="en-US" altLang="zh-CN" sz="2000" b="1" baseline="-25000">
                <a:solidFill>
                  <a:srgbClr val="0000FF"/>
                </a:solidFill>
                <a:latin typeface="Consolas" pitchFamily="49" charset="0"/>
                <a:ea typeface="楷体" pitchFamily="49" charset="-122"/>
                <a:cs typeface="Consolas" pitchFamily="49" charset="0"/>
              </a:rPr>
              <a:t>3</a:t>
            </a:r>
            <a:r>
              <a:rPr lang="zh-CN" altLang="zh-CN" sz="2000" b="1">
                <a:solidFill>
                  <a:srgbClr val="0000FF"/>
                </a:solidFill>
                <a:latin typeface="Consolas" pitchFamily="49" charset="0"/>
                <a:ea typeface="楷体" pitchFamily="49" charset="-122"/>
                <a:cs typeface="Consolas" pitchFamily="49" charset="0"/>
              </a:rPr>
              <a:t>的叙述中，正确的是</a:t>
            </a:r>
            <a:r>
              <a:rPr lang="zh-CN" altLang="en-US" sz="2000" b="1">
                <a:solidFill>
                  <a:srgbClr val="0000FF"/>
                </a:solidFill>
                <a:latin typeface="Consolas" pitchFamily="49" charset="0"/>
                <a:ea typeface="楷体" pitchFamily="49" charset="-122"/>
                <a:cs typeface="Consolas" pitchFamily="49" charset="0"/>
              </a:rPr>
              <a:t>（   ）</a:t>
            </a:r>
            <a:r>
              <a:rPr lang="zh-CN" altLang="zh-CN" sz="2000" b="1">
                <a:solidFill>
                  <a:srgbClr val="0000FF"/>
                </a:solidFill>
                <a:latin typeface="Consolas" pitchFamily="49" charset="0"/>
                <a:ea typeface="楷体" pitchFamily="49" charset="-122"/>
                <a:cs typeface="Consolas" pitchFamily="49" charset="0"/>
              </a:rPr>
              <a:t>。</a:t>
            </a:r>
          </a:p>
          <a:p>
            <a:pPr>
              <a:lnSpc>
                <a:spcPts val="2800"/>
              </a:lnSpc>
              <a:spcBef>
                <a:spcPts val="600"/>
              </a:spcBef>
            </a:pPr>
            <a:r>
              <a:rPr lang="en-US" altLang="zh-CN" sz="2000" b="1">
                <a:solidFill>
                  <a:srgbClr val="0000FF"/>
                </a:solidFill>
                <a:latin typeface="Consolas" pitchFamily="49" charset="0"/>
                <a:ea typeface="仿宋" pitchFamily="49" charset="-122"/>
                <a:cs typeface="Consolas" pitchFamily="49" charset="0"/>
              </a:rPr>
              <a:t>   I. </a:t>
            </a:r>
            <a:r>
              <a:rPr lang="zh-CN" altLang="zh-CN" sz="2000" b="1">
                <a:solidFill>
                  <a:srgbClr val="0000FF"/>
                </a:solidFill>
                <a:latin typeface="Consolas" pitchFamily="49" charset="0"/>
                <a:ea typeface="仿宋" pitchFamily="49" charset="-122"/>
                <a:cs typeface="Consolas" pitchFamily="49" charset="0"/>
              </a:rPr>
              <a:t>若</a:t>
            </a:r>
            <a:r>
              <a:rPr lang="en-US" altLang="zh-CN" sz="2000" b="1">
                <a:solidFill>
                  <a:srgbClr val="0000FF"/>
                </a:solidFill>
                <a:latin typeface="Consolas" pitchFamily="49" charset="0"/>
                <a:ea typeface="仿宋" pitchFamily="49" charset="-122"/>
                <a:cs typeface="Consolas" pitchFamily="49" charset="0"/>
              </a:rPr>
              <a:t>p</a:t>
            </a:r>
            <a:r>
              <a:rPr lang="zh-CN" altLang="zh-CN" sz="2000" b="1">
                <a:solidFill>
                  <a:srgbClr val="0000FF"/>
                </a:solidFill>
                <a:latin typeface="Consolas" pitchFamily="49" charset="0"/>
                <a:ea typeface="仿宋" pitchFamily="49" charset="-122"/>
                <a:cs typeface="Consolas" pitchFamily="49" charset="0"/>
              </a:rPr>
              <a:t>是</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的叶结点，则</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与</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不同</a:t>
            </a:r>
          </a:p>
          <a:p>
            <a:pPr>
              <a:lnSpc>
                <a:spcPts val="2800"/>
              </a:lnSpc>
              <a:spcBef>
                <a:spcPts val="600"/>
              </a:spcBef>
            </a:pPr>
            <a:r>
              <a:rPr lang="en-US" altLang="zh-CN" sz="2000" b="1">
                <a:solidFill>
                  <a:srgbClr val="0000FF"/>
                </a:solidFill>
                <a:latin typeface="Consolas" pitchFamily="49" charset="0"/>
                <a:ea typeface="仿宋" pitchFamily="49" charset="-122"/>
                <a:cs typeface="Consolas" pitchFamily="49" charset="0"/>
              </a:rPr>
              <a:t>   II. </a:t>
            </a:r>
            <a:r>
              <a:rPr lang="zh-CN" altLang="zh-CN" sz="2000" b="1">
                <a:solidFill>
                  <a:srgbClr val="0000FF"/>
                </a:solidFill>
                <a:latin typeface="Consolas" pitchFamily="49" charset="0"/>
                <a:ea typeface="仿宋" pitchFamily="49" charset="-122"/>
                <a:cs typeface="Consolas" pitchFamily="49" charset="0"/>
              </a:rPr>
              <a:t>若</a:t>
            </a:r>
            <a:r>
              <a:rPr lang="en-US" altLang="zh-CN" sz="2000" b="1">
                <a:solidFill>
                  <a:srgbClr val="0000FF"/>
                </a:solidFill>
                <a:latin typeface="Consolas" pitchFamily="49" charset="0"/>
                <a:ea typeface="仿宋" pitchFamily="49" charset="-122"/>
                <a:cs typeface="Consolas" pitchFamily="49" charset="0"/>
              </a:rPr>
              <a:t>p</a:t>
            </a:r>
            <a:r>
              <a:rPr lang="zh-CN" altLang="zh-CN" sz="2000" b="1">
                <a:solidFill>
                  <a:srgbClr val="0000FF"/>
                </a:solidFill>
                <a:latin typeface="Consolas" pitchFamily="49" charset="0"/>
                <a:ea typeface="仿宋" pitchFamily="49" charset="-122"/>
                <a:cs typeface="Consolas" pitchFamily="49" charset="0"/>
              </a:rPr>
              <a:t>是</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的叶结点，则</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与</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相同</a:t>
            </a:r>
          </a:p>
          <a:p>
            <a:pPr>
              <a:lnSpc>
                <a:spcPts val="2800"/>
              </a:lnSpc>
              <a:spcBef>
                <a:spcPts val="600"/>
              </a:spcBef>
            </a:pPr>
            <a:r>
              <a:rPr lang="en-US" altLang="zh-CN" sz="2000" b="1">
                <a:solidFill>
                  <a:srgbClr val="0000FF"/>
                </a:solidFill>
                <a:latin typeface="Consolas" pitchFamily="49" charset="0"/>
                <a:ea typeface="仿宋" pitchFamily="49" charset="-122"/>
                <a:cs typeface="Consolas" pitchFamily="49" charset="0"/>
              </a:rPr>
              <a:t>   III. </a:t>
            </a:r>
            <a:r>
              <a:rPr lang="zh-CN" altLang="zh-CN" sz="2000" b="1">
                <a:solidFill>
                  <a:srgbClr val="0000FF"/>
                </a:solidFill>
                <a:latin typeface="Consolas" pitchFamily="49" charset="0"/>
                <a:ea typeface="仿宋" pitchFamily="49" charset="-122"/>
                <a:cs typeface="Consolas" pitchFamily="49" charset="0"/>
              </a:rPr>
              <a:t>若</a:t>
            </a:r>
            <a:r>
              <a:rPr lang="en-US" altLang="zh-CN" sz="2000" b="1">
                <a:solidFill>
                  <a:srgbClr val="0000FF"/>
                </a:solidFill>
                <a:latin typeface="Consolas" pitchFamily="49" charset="0"/>
                <a:ea typeface="仿宋" pitchFamily="49" charset="-122"/>
                <a:cs typeface="Consolas" pitchFamily="49" charset="0"/>
              </a:rPr>
              <a:t>p</a:t>
            </a:r>
            <a:r>
              <a:rPr lang="zh-CN" altLang="zh-CN" sz="2000" b="1">
                <a:solidFill>
                  <a:srgbClr val="0000FF"/>
                </a:solidFill>
                <a:latin typeface="Consolas" pitchFamily="49" charset="0"/>
                <a:ea typeface="仿宋" pitchFamily="49" charset="-122"/>
                <a:cs typeface="Consolas" pitchFamily="49" charset="0"/>
              </a:rPr>
              <a:t>不是</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的叶结点，则</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与</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不同</a:t>
            </a:r>
          </a:p>
          <a:p>
            <a:pPr>
              <a:lnSpc>
                <a:spcPts val="2800"/>
              </a:lnSpc>
              <a:spcBef>
                <a:spcPts val="600"/>
              </a:spcBef>
            </a:pPr>
            <a:r>
              <a:rPr lang="en-US" altLang="zh-CN" sz="2000" b="1">
                <a:solidFill>
                  <a:srgbClr val="0000FF"/>
                </a:solidFill>
                <a:latin typeface="Consolas" pitchFamily="49" charset="0"/>
                <a:ea typeface="仿宋" pitchFamily="49" charset="-122"/>
                <a:cs typeface="Consolas" pitchFamily="49" charset="0"/>
              </a:rPr>
              <a:t>   IV. </a:t>
            </a:r>
            <a:r>
              <a:rPr lang="zh-CN" altLang="zh-CN" sz="2000" b="1">
                <a:solidFill>
                  <a:srgbClr val="0000FF"/>
                </a:solidFill>
                <a:latin typeface="Consolas" pitchFamily="49" charset="0"/>
                <a:ea typeface="仿宋" pitchFamily="49" charset="-122"/>
                <a:cs typeface="Consolas" pitchFamily="49" charset="0"/>
              </a:rPr>
              <a:t>若</a:t>
            </a:r>
            <a:r>
              <a:rPr lang="en-US" altLang="zh-CN" sz="2000" b="1">
                <a:solidFill>
                  <a:srgbClr val="0000FF"/>
                </a:solidFill>
                <a:latin typeface="Consolas" pitchFamily="49" charset="0"/>
                <a:ea typeface="仿宋" pitchFamily="49" charset="-122"/>
                <a:cs typeface="Consolas" pitchFamily="49" charset="0"/>
              </a:rPr>
              <a:t>p</a:t>
            </a:r>
            <a:r>
              <a:rPr lang="zh-CN" altLang="zh-CN" sz="2000" b="1">
                <a:solidFill>
                  <a:srgbClr val="0000FF"/>
                </a:solidFill>
                <a:latin typeface="Consolas" pitchFamily="49" charset="0"/>
                <a:ea typeface="仿宋" pitchFamily="49" charset="-122"/>
                <a:cs typeface="Consolas" pitchFamily="49" charset="0"/>
              </a:rPr>
              <a:t>不是</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的叶结点，则</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1</a:t>
            </a:r>
            <a:r>
              <a:rPr lang="zh-CN" altLang="zh-CN" sz="2000" b="1">
                <a:solidFill>
                  <a:srgbClr val="0000FF"/>
                </a:solidFill>
                <a:latin typeface="Consolas" pitchFamily="49" charset="0"/>
                <a:ea typeface="仿宋" pitchFamily="49" charset="-122"/>
                <a:cs typeface="Consolas" pitchFamily="49" charset="0"/>
              </a:rPr>
              <a:t>与</a:t>
            </a:r>
            <a:r>
              <a:rPr lang="en-US" altLang="zh-CN" sz="2000" b="1">
                <a:solidFill>
                  <a:srgbClr val="0000FF"/>
                </a:solidFill>
                <a:latin typeface="Consolas" pitchFamily="49" charset="0"/>
                <a:ea typeface="仿宋" pitchFamily="49" charset="-122"/>
                <a:cs typeface="Consolas" pitchFamily="49" charset="0"/>
              </a:rPr>
              <a:t>T</a:t>
            </a:r>
            <a:r>
              <a:rPr lang="en-US" altLang="zh-CN" sz="2000" b="1" baseline="-25000">
                <a:solidFill>
                  <a:srgbClr val="0000FF"/>
                </a:solidFill>
                <a:latin typeface="Consolas" pitchFamily="49" charset="0"/>
                <a:ea typeface="仿宋" pitchFamily="49" charset="-122"/>
                <a:cs typeface="Consolas" pitchFamily="49" charset="0"/>
              </a:rPr>
              <a:t>3</a:t>
            </a:r>
            <a:r>
              <a:rPr lang="zh-CN" altLang="zh-CN" sz="2000" b="1">
                <a:solidFill>
                  <a:srgbClr val="0000FF"/>
                </a:solidFill>
                <a:latin typeface="Consolas" pitchFamily="49" charset="0"/>
                <a:ea typeface="仿宋" pitchFamily="49" charset="-122"/>
                <a:cs typeface="Consolas" pitchFamily="49" charset="0"/>
              </a:rPr>
              <a:t>相同</a:t>
            </a:r>
          </a:p>
          <a:p>
            <a:pPr>
              <a:lnSpc>
                <a:spcPts val="2800"/>
              </a:lnSpc>
              <a:spcBef>
                <a:spcPts val="600"/>
              </a:spcBef>
            </a:pPr>
            <a:r>
              <a:rPr lang="en-US" altLang="zh-CN" sz="2000" b="1">
                <a:solidFill>
                  <a:srgbClr val="0000FF"/>
                </a:solidFill>
                <a:latin typeface="Consolas" pitchFamily="49" charset="0"/>
                <a:ea typeface="楷体" pitchFamily="49" charset="-122"/>
                <a:cs typeface="Consolas" pitchFamily="49" charset="0"/>
              </a:rPr>
              <a:t>   A.</a:t>
            </a:r>
            <a:r>
              <a:rPr lang="zh-CN" altLang="zh-CN" sz="2000" b="1">
                <a:solidFill>
                  <a:srgbClr val="0000FF"/>
                </a:solidFill>
                <a:latin typeface="Consolas" pitchFamily="49" charset="0"/>
                <a:ea typeface="楷体" pitchFamily="49" charset="-122"/>
                <a:cs typeface="Consolas" pitchFamily="49" charset="0"/>
              </a:rPr>
              <a:t>仅</a:t>
            </a:r>
            <a:r>
              <a:rPr lang="en-US" altLang="zh-CN" sz="2000" b="1">
                <a:solidFill>
                  <a:srgbClr val="0000FF"/>
                </a:solidFill>
                <a:latin typeface="Consolas" pitchFamily="49" charset="0"/>
                <a:ea typeface="楷体" pitchFamily="49" charset="-122"/>
                <a:cs typeface="Consolas" pitchFamily="49" charset="0"/>
              </a:rPr>
              <a:t>I</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III	   B.</a:t>
            </a:r>
            <a:r>
              <a:rPr lang="zh-CN" altLang="zh-CN" sz="2000" b="1">
                <a:solidFill>
                  <a:srgbClr val="0000FF"/>
                </a:solidFill>
                <a:latin typeface="Consolas" pitchFamily="49" charset="0"/>
                <a:ea typeface="楷体" pitchFamily="49" charset="-122"/>
                <a:cs typeface="Consolas" pitchFamily="49" charset="0"/>
              </a:rPr>
              <a:t>仅</a:t>
            </a:r>
            <a:r>
              <a:rPr lang="en-US" altLang="zh-CN" sz="2000" b="1">
                <a:solidFill>
                  <a:srgbClr val="0000FF"/>
                </a:solidFill>
                <a:latin typeface="Consolas" pitchFamily="49" charset="0"/>
                <a:ea typeface="楷体" pitchFamily="49" charset="-122"/>
                <a:cs typeface="Consolas" pitchFamily="49" charset="0"/>
              </a:rPr>
              <a:t>I</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IV	  C.</a:t>
            </a:r>
            <a:r>
              <a:rPr lang="zh-CN" altLang="zh-CN" sz="2000" b="1">
                <a:solidFill>
                  <a:srgbClr val="0000FF"/>
                </a:solidFill>
                <a:latin typeface="Consolas" pitchFamily="49" charset="0"/>
                <a:ea typeface="楷体" pitchFamily="49" charset="-122"/>
                <a:cs typeface="Consolas" pitchFamily="49" charset="0"/>
              </a:rPr>
              <a:t>仅</a:t>
            </a:r>
            <a:r>
              <a:rPr lang="en-US" altLang="zh-CN" sz="2000" b="1">
                <a:solidFill>
                  <a:srgbClr val="0000FF"/>
                </a:solidFill>
                <a:latin typeface="Consolas" pitchFamily="49" charset="0"/>
                <a:ea typeface="楷体" pitchFamily="49" charset="-122"/>
                <a:cs typeface="Consolas" pitchFamily="49" charset="0"/>
              </a:rPr>
              <a:t>II</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III	   D.</a:t>
            </a:r>
            <a:r>
              <a:rPr lang="zh-CN" altLang="zh-CN" sz="2000" b="1">
                <a:solidFill>
                  <a:srgbClr val="0000FF"/>
                </a:solidFill>
                <a:latin typeface="Consolas" pitchFamily="49" charset="0"/>
                <a:ea typeface="楷体" pitchFamily="49" charset="-122"/>
                <a:cs typeface="Consolas" pitchFamily="49" charset="0"/>
              </a:rPr>
              <a:t>仅</a:t>
            </a:r>
            <a:r>
              <a:rPr lang="en-US" altLang="zh-CN" sz="2000" b="1">
                <a:solidFill>
                  <a:srgbClr val="0000FF"/>
                </a:solidFill>
                <a:latin typeface="Consolas" pitchFamily="49" charset="0"/>
                <a:ea typeface="楷体" pitchFamily="49" charset="-122"/>
                <a:cs typeface="Consolas" pitchFamily="49" charset="0"/>
              </a:rPr>
              <a:t>II</a:t>
            </a:r>
            <a:r>
              <a:rPr lang="zh-CN" altLang="zh-CN" sz="2000" b="1">
                <a:solidFill>
                  <a:srgbClr val="0000FF"/>
                </a:solidFill>
                <a:latin typeface="Consolas" pitchFamily="49" charset="0"/>
                <a:ea typeface="楷体" pitchFamily="49" charset="-122"/>
                <a:cs typeface="Consolas" pitchFamily="49" charset="0"/>
              </a:rPr>
              <a:t>、</a:t>
            </a:r>
            <a:r>
              <a:rPr lang="en-US" altLang="zh-CN" sz="2000" b="1">
                <a:solidFill>
                  <a:srgbClr val="0000FF"/>
                </a:solidFill>
                <a:latin typeface="Consolas" pitchFamily="49" charset="0"/>
                <a:ea typeface="楷体" pitchFamily="49" charset="-122"/>
                <a:cs typeface="Consolas" pitchFamily="49" charset="0"/>
              </a:rPr>
              <a:t>IV</a:t>
            </a:r>
            <a:endParaRPr lang="zh-CN" altLang="en-US" sz="2000" b="1" dirty="0">
              <a:solidFill>
                <a:srgbClr val="0000FF"/>
              </a:solidFill>
              <a:latin typeface="Consolas" pitchFamily="49" charset="0"/>
              <a:ea typeface="楷体" pitchFamily="49" charset="-122"/>
              <a:cs typeface="Consolas" pitchFamily="49" charset="0"/>
            </a:endParaRPr>
          </a:p>
        </p:txBody>
      </p:sp>
      <p:grpSp>
        <p:nvGrpSpPr>
          <p:cNvPr id="2" name="组合 3"/>
          <p:cNvGrpSpPr/>
          <p:nvPr/>
        </p:nvGrpSpPr>
        <p:grpSpPr>
          <a:xfrm>
            <a:off x="1666844" y="285729"/>
            <a:ext cx="1000100" cy="785817"/>
            <a:chOff x="5703182" y="3835411"/>
            <a:chExt cx="1238250" cy="1236663"/>
          </a:xfrm>
        </p:grpSpPr>
        <p:grpSp>
          <p:nvGrpSpPr>
            <p:cNvPr id="4" name="Group 19"/>
            <p:cNvGrpSpPr>
              <a:grpSpLocks/>
            </p:cNvGrpSpPr>
            <p:nvPr/>
          </p:nvGrpSpPr>
          <p:grpSpPr bwMode="auto">
            <a:xfrm>
              <a:off x="5703182" y="3835411"/>
              <a:ext cx="1238250" cy="1236663"/>
              <a:chOff x="810" y="845"/>
              <a:chExt cx="827" cy="826"/>
            </a:xfrm>
          </p:grpSpPr>
          <p:sp>
            <p:nvSpPr>
              <p:cNvPr id="7" name="Oval 20"/>
              <p:cNvSpPr>
                <a:spLocks noChangeArrowheads="1"/>
              </p:cNvSpPr>
              <p:nvPr/>
            </p:nvSpPr>
            <p:spPr bwMode="gray">
              <a:xfrm>
                <a:off x="810"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8" name="Oval 21"/>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9" name="Oval 22"/>
              <p:cNvSpPr>
                <a:spLocks noChangeArrowheads="1"/>
              </p:cNvSpPr>
              <p:nvPr/>
            </p:nvSpPr>
            <p:spPr bwMode="gray">
              <a:xfrm>
                <a:off x="878"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6" name="Text Box 23"/>
            <p:cNvSpPr txBox="1">
              <a:spLocks noChangeArrowheads="1"/>
            </p:cNvSpPr>
            <p:nvPr/>
          </p:nvSpPr>
          <p:spPr bwMode="gray">
            <a:xfrm>
              <a:off x="5767676" y="4154859"/>
              <a:ext cx="1082674" cy="629665"/>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FF0000"/>
                  </a:solidFill>
                  <a:latin typeface="方正启体简体" pitchFamily="65" charset="-122"/>
                  <a:ea typeface="方正启体简体" pitchFamily="65" charset="-122"/>
                  <a:cs typeface="Consolas" pitchFamily="49" charset="0"/>
                </a:rPr>
                <a:t>示例</a:t>
              </a:r>
            </a:p>
          </p:txBody>
        </p:sp>
      </p:grpSp>
      <p:sp>
        <p:nvSpPr>
          <p:cNvPr id="10" name="TextBox 9"/>
          <p:cNvSpPr txBox="1"/>
          <p:nvPr/>
        </p:nvSpPr>
        <p:spPr>
          <a:xfrm>
            <a:off x="3667108" y="4743402"/>
            <a:ext cx="1857388" cy="400110"/>
          </a:xfrm>
          <a:prstGeom prst="rect">
            <a:avLst/>
          </a:prstGeom>
          <a:noFill/>
        </p:spPr>
        <p:txBody>
          <a:bodyPr wrap="square" rtlCol="0">
            <a:spAutoFit/>
          </a:bodyPr>
          <a:lstStyle/>
          <a:p>
            <a:r>
              <a:rPr lang="zh-CN" altLang="zh-CN" sz="2000" b="1">
                <a:solidFill>
                  <a:srgbClr val="0000FF"/>
                </a:solidFill>
                <a:latin typeface="Consolas" pitchFamily="49" charset="0"/>
                <a:ea typeface="楷体" pitchFamily="49" charset="-122"/>
                <a:cs typeface="Consolas" pitchFamily="49" charset="0"/>
              </a:rPr>
              <a:t>答案：</a:t>
            </a:r>
            <a:r>
              <a:rPr lang="en-US" altLang="zh-CN" sz="2000">
                <a:solidFill>
                  <a:srgbClr val="0000FF"/>
                </a:solidFill>
                <a:latin typeface="Consolas" pitchFamily="49" charset="0"/>
                <a:ea typeface="楷体" pitchFamily="49" charset="-122"/>
                <a:cs typeface="Consolas" pitchFamily="49" charset="0"/>
              </a:rPr>
              <a:t> </a:t>
            </a:r>
            <a:r>
              <a:rPr lang="en-US" altLang="zh-CN" sz="2000">
                <a:latin typeface="Consolas" pitchFamily="49" charset="0"/>
                <a:ea typeface="楷体" pitchFamily="49" charset="-122"/>
                <a:cs typeface="Consolas" pitchFamily="49" charset="0"/>
              </a:rPr>
              <a:t>C</a:t>
            </a:r>
            <a:r>
              <a:rPr lang="zh-CN" altLang="zh-CN" sz="2000">
                <a:solidFill>
                  <a:srgbClr val="0000FF"/>
                </a:solidFill>
                <a:latin typeface="Consolas" pitchFamily="49" charset="0"/>
                <a:ea typeface="楷体" pitchFamily="49" charset="-122"/>
                <a:cs typeface="Consolas" pitchFamily="49" charset="0"/>
              </a:rPr>
              <a:t>。</a:t>
            </a:r>
          </a:p>
        </p:txBody>
      </p:sp>
      <p:sp>
        <p:nvSpPr>
          <p:cNvPr id="11" name="TextBox 10"/>
          <p:cNvSpPr txBox="1"/>
          <p:nvPr/>
        </p:nvSpPr>
        <p:spPr>
          <a:xfrm>
            <a:off x="7310446" y="2171635"/>
            <a:ext cx="571504" cy="461665"/>
          </a:xfrm>
          <a:prstGeom prst="rect">
            <a:avLst/>
          </a:prstGeom>
          <a:noFill/>
        </p:spPr>
        <p:txBody>
          <a:bodyPr wrap="square" rtlCol="0">
            <a:spAutoFit/>
          </a:bodyPr>
          <a:lstStyle/>
          <a:p>
            <a:r>
              <a:rPr lang="en-US" altLang="zh-CN" sz="2400" b="1">
                <a:latin typeface="楷体" pitchFamily="49" charset="-122"/>
                <a:ea typeface="楷体" pitchFamily="49" charset="-122"/>
                <a:cs typeface="Times New Roman" pitchFamily="18" charset="0"/>
              </a:rPr>
              <a:t>× </a:t>
            </a:r>
            <a:endParaRPr lang="zh-CN" altLang="en-US" sz="2400" b="1" dirty="0">
              <a:latin typeface="楷体" pitchFamily="49" charset="-122"/>
              <a:ea typeface="楷体" pitchFamily="49" charset="-122"/>
              <a:cs typeface="Times New Roman" pitchFamily="18" charset="0"/>
            </a:endParaRPr>
          </a:p>
        </p:txBody>
      </p:sp>
      <p:sp>
        <p:nvSpPr>
          <p:cNvPr id="12" name="TextBox 11"/>
          <p:cNvSpPr txBox="1"/>
          <p:nvPr/>
        </p:nvSpPr>
        <p:spPr>
          <a:xfrm>
            <a:off x="7381884" y="2600263"/>
            <a:ext cx="500066" cy="461665"/>
          </a:xfrm>
          <a:prstGeom prst="rect">
            <a:avLst/>
          </a:prstGeom>
          <a:noFill/>
        </p:spPr>
        <p:txBody>
          <a:bodyPr wrap="square" rtlCol="0">
            <a:spAutoFit/>
          </a:bodyPr>
          <a:lstStyle/>
          <a:p>
            <a:r>
              <a:rPr lang="en-US" altLang="zh-CN" sz="2400" b="1">
                <a:latin typeface="楷体" pitchFamily="49" charset="-122"/>
                <a:ea typeface="楷体" pitchFamily="49" charset="-122"/>
                <a:cs typeface="Times New Roman" pitchFamily="18" charset="0"/>
              </a:rPr>
              <a:t>√</a:t>
            </a:r>
            <a:endParaRPr lang="zh-CN" altLang="en-US" sz="2400" b="1" dirty="0">
              <a:latin typeface="楷体" pitchFamily="49" charset="-122"/>
              <a:ea typeface="楷体" pitchFamily="49" charset="-122"/>
              <a:cs typeface="Times New Roman" pitchFamily="18" charset="0"/>
            </a:endParaRPr>
          </a:p>
        </p:txBody>
      </p:sp>
      <p:sp>
        <p:nvSpPr>
          <p:cNvPr id="13" name="TextBox 12"/>
          <p:cNvSpPr txBox="1"/>
          <p:nvPr/>
        </p:nvSpPr>
        <p:spPr>
          <a:xfrm>
            <a:off x="7524760" y="3028891"/>
            <a:ext cx="500066" cy="461665"/>
          </a:xfrm>
          <a:prstGeom prst="rect">
            <a:avLst/>
          </a:prstGeom>
          <a:noFill/>
        </p:spPr>
        <p:txBody>
          <a:bodyPr wrap="square" rtlCol="0">
            <a:spAutoFit/>
          </a:bodyPr>
          <a:lstStyle/>
          <a:p>
            <a:r>
              <a:rPr lang="en-US" altLang="zh-CN" sz="2400" b="1">
                <a:latin typeface="楷体" pitchFamily="49" charset="-122"/>
                <a:ea typeface="楷体" pitchFamily="49" charset="-122"/>
                <a:cs typeface="Times New Roman" pitchFamily="18" charset="0"/>
              </a:rPr>
              <a:t>√</a:t>
            </a:r>
            <a:endParaRPr lang="zh-CN" altLang="en-US" sz="2400" b="1" dirty="0">
              <a:latin typeface="楷体" pitchFamily="49" charset="-122"/>
              <a:ea typeface="楷体" pitchFamily="49" charset="-122"/>
              <a:cs typeface="Times New Roman" pitchFamily="18" charset="0"/>
            </a:endParaRPr>
          </a:p>
        </p:txBody>
      </p:sp>
      <p:sp>
        <p:nvSpPr>
          <p:cNvPr id="14" name="TextBox 13"/>
          <p:cNvSpPr txBox="1"/>
          <p:nvPr/>
        </p:nvSpPr>
        <p:spPr>
          <a:xfrm>
            <a:off x="7524760" y="3495920"/>
            <a:ext cx="571504" cy="461665"/>
          </a:xfrm>
          <a:prstGeom prst="rect">
            <a:avLst/>
          </a:prstGeom>
          <a:noFill/>
        </p:spPr>
        <p:txBody>
          <a:bodyPr wrap="square" rtlCol="0">
            <a:spAutoFit/>
          </a:bodyPr>
          <a:lstStyle/>
          <a:p>
            <a:r>
              <a:rPr lang="en-US" altLang="zh-CN" sz="2400" b="1">
                <a:latin typeface="楷体" pitchFamily="49" charset="-122"/>
                <a:ea typeface="楷体" pitchFamily="49" charset="-122"/>
                <a:cs typeface="Times New Roman" pitchFamily="18" charset="0"/>
              </a:rPr>
              <a:t>× </a:t>
            </a:r>
            <a:endParaRPr lang="zh-CN" altLang="en-US" sz="2400" b="1" dirty="0">
              <a:latin typeface="楷体" pitchFamily="49" charset="-122"/>
              <a:ea typeface="楷体" pitchFamily="49" charset="-122"/>
              <a:cs typeface="Times New Roman" pitchFamily="18" charset="0"/>
            </a:endParaRPr>
          </a:p>
        </p:txBody>
      </p:sp>
      <p:sp>
        <p:nvSpPr>
          <p:cNvPr id="15" name="灯片编号占位符 14"/>
          <p:cNvSpPr>
            <a:spLocks noGrp="1"/>
          </p:cNvSpPr>
          <p:nvPr>
            <p:ph type="sldNum" sz="quarter" idx="12"/>
          </p:nvPr>
        </p:nvSpPr>
        <p:spPr/>
        <p:txBody>
          <a:bodyPr/>
          <a:lstStyle/>
          <a:p>
            <a:pPr>
              <a:defRPr/>
            </a:pPr>
            <a:fld id="{94984E60-CADE-4266-8DC7-A91C528B8A31}" type="slidenum">
              <a:rPr lang="en-US" altLang="zh-CN" smtClean="0"/>
              <a:pPr>
                <a:defRPr/>
              </a:pPr>
              <a:t>77</a:t>
            </a:fld>
            <a:r>
              <a:rPr lang="en-US" altLang="zh-CN"/>
              <a:t>/132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B45BA-72DE-001E-BC30-CCB59C4052E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3CC9257-7486-D59D-03A4-64644C6201E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E7E24E90-6F80-2827-A880-D6C69485191A}"/>
              </a:ext>
            </a:extLst>
          </p:cNvPr>
          <p:cNvSpPr/>
          <p:nvPr/>
        </p:nvSpPr>
        <p:spPr>
          <a:xfrm>
            <a:off x="255372" y="1152249"/>
            <a:ext cx="48325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9.3.2 </a:t>
            </a:r>
            <a:r>
              <a:rPr lang="zh-CN" altLang="en-US" sz="2800" b="1" dirty="0">
                <a:solidFill>
                  <a:schemeClr val="bg1"/>
                </a:solidFill>
                <a:latin typeface="经典粗黑简" pitchFamily="49" charset="-122"/>
                <a:ea typeface="经典粗黑简" pitchFamily="49" charset="-122"/>
                <a:cs typeface="经典粗黑简" pitchFamily="49" charset="-122"/>
              </a:rPr>
              <a:t>二叉平衡树（</a:t>
            </a:r>
            <a:r>
              <a:rPr lang="en-US" altLang="zh-CN" sz="2800" b="1" dirty="0">
                <a:solidFill>
                  <a:schemeClr val="bg1"/>
                </a:solidFill>
                <a:latin typeface="经典粗黑简" pitchFamily="49" charset="-122"/>
                <a:ea typeface="经典粗黑简" pitchFamily="49" charset="-122"/>
                <a:cs typeface="经典粗黑简" pitchFamily="49" charset="-122"/>
              </a:rPr>
              <a:t>AVL</a:t>
            </a:r>
            <a:r>
              <a:rPr lang="zh-CN" altLang="en-US" sz="2800" b="1" dirty="0">
                <a:solidFill>
                  <a:schemeClr val="bg1"/>
                </a:solidFill>
                <a:latin typeface="经典粗黑简" pitchFamily="49" charset="-122"/>
                <a:ea typeface="经典粗黑简" pitchFamily="49" charset="-122"/>
                <a:cs typeface="经典粗黑简" pitchFamily="49" charset="-122"/>
              </a:rPr>
              <a:t>）</a:t>
            </a:r>
          </a:p>
        </p:txBody>
      </p:sp>
      <p:cxnSp>
        <p:nvCxnSpPr>
          <p:cNvPr id="4" name="直接连接符 3">
            <a:extLst>
              <a:ext uri="{FF2B5EF4-FFF2-40B4-BE49-F238E27FC236}">
                <a16:creationId xmlns:a16="http://schemas.microsoft.com/office/drawing/2014/main" id="{CCCB1157-49E8-6A1E-63BD-C788C1083B28}"/>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03DF2331-716A-02C0-DC99-12D89AFA6A56}"/>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、什么是平衡二叉树</a:t>
            </a:r>
          </a:p>
        </p:txBody>
      </p:sp>
      <p:sp>
        <p:nvSpPr>
          <p:cNvPr id="5" name="Text Box 2">
            <a:extLst>
              <a:ext uri="{FF2B5EF4-FFF2-40B4-BE49-F238E27FC236}">
                <a16:creationId xmlns:a16="http://schemas.microsoft.com/office/drawing/2014/main" id="{4A57EF11-DCDC-7900-D60A-1C3DC01D8A6E}"/>
              </a:ext>
            </a:extLst>
          </p:cNvPr>
          <p:cNvSpPr txBox="1">
            <a:spLocks noChangeArrowheads="1"/>
          </p:cNvSpPr>
          <p:nvPr/>
        </p:nvSpPr>
        <p:spPr bwMode="auto">
          <a:xfrm>
            <a:off x="622698" y="2602922"/>
            <a:ext cx="8382000" cy="810478"/>
          </a:xfrm>
          <a:prstGeom prst="rect">
            <a:avLst/>
          </a:prstGeom>
          <a:noFill/>
          <a:ln w="9525">
            <a:noFill/>
            <a:miter lim="800000"/>
            <a:headEnd/>
            <a:tailEnd/>
          </a:ln>
        </p:spPr>
        <p:txBody>
          <a:bodyPr>
            <a:spAutoFit/>
          </a:bodyPr>
          <a:lstStyle/>
          <a:p>
            <a:pPr algn="l">
              <a:lnSpc>
                <a:spcPts val="2800"/>
              </a:lnSpc>
              <a:spcBef>
                <a:spcPts val="0"/>
              </a:spcBef>
            </a:pPr>
            <a:r>
              <a:rPr lang="zh-CN" altLang="en-US" sz="2000" b="1" dirty="0">
                <a:solidFill>
                  <a:srgbClr val="3333FF"/>
                </a:solidFill>
                <a:latin typeface="Consolas" pitchFamily="49" charset="0"/>
                <a:ea typeface="楷体" pitchFamily="49" charset="-122"/>
                <a:cs typeface="Consolas" pitchFamily="49" charset="0"/>
              </a:rPr>
              <a:t>　　若一棵二叉树</a:t>
            </a:r>
            <a:r>
              <a:rPr lang="zh-CN" altLang="en-US" sz="2000" b="1">
                <a:solidFill>
                  <a:srgbClr val="3333FF"/>
                </a:solidFill>
                <a:latin typeface="Consolas" pitchFamily="49" charset="0"/>
                <a:ea typeface="楷体" pitchFamily="49" charset="-122"/>
                <a:cs typeface="Consolas" pitchFamily="49" charset="0"/>
              </a:rPr>
              <a:t>中每个结点的</a:t>
            </a:r>
            <a:r>
              <a:rPr lang="zh-CN" altLang="en-US" sz="2000" b="1" dirty="0">
                <a:solidFill>
                  <a:srgbClr val="3333FF"/>
                </a:solidFill>
                <a:latin typeface="Consolas" pitchFamily="49" charset="0"/>
                <a:ea typeface="楷体" pitchFamily="49" charset="-122"/>
                <a:cs typeface="Consolas" pitchFamily="49" charset="0"/>
              </a:rPr>
              <a:t>左、右子树的高度至多</a:t>
            </a:r>
            <a:r>
              <a:rPr lang="zh-CN" altLang="en-US" sz="2000" b="1">
                <a:solidFill>
                  <a:srgbClr val="3333FF"/>
                </a:solidFill>
                <a:latin typeface="Consolas" pitchFamily="49" charset="0"/>
                <a:ea typeface="楷体" pitchFamily="49" charset="-122"/>
                <a:cs typeface="Consolas" pitchFamily="49" charset="0"/>
              </a:rPr>
              <a:t>相差</a:t>
            </a:r>
            <a:r>
              <a:rPr lang="en-US" altLang="zh-CN" sz="2000" b="1">
                <a:solidFill>
                  <a:srgbClr val="3333FF"/>
                </a:solidFill>
                <a:latin typeface="Consolas" pitchFamily="49" charset="0"/>
                <a:ea typeface="楷体" pitchFamily="49" charset="-122"/>
                <a:cs typeface="Consolas" pitchFamily="49" charset="0"/>
              </a:rPr>
              <a:t>1</a:t>
            </a:r>
            <a:r>
              <a:rPr lang="zh-CN" altLang="en-US" sz="2000" b="1">
                <a:solidFill>
                  <a:srgbClr val="3333FF"/>
                </a:solidFill>
                <a:latin typeface="Consolas" pitchFamily="49" charset="0"/>
                <a:ea typeface="楷体" pitchFamily="49" charset="-122"/>
                <a:cs typeface="Consolas" pitchFamily="49" charset="0"/>
              </a:rPr>
              <a:t>，则</a:t>
            </a:r>
            <a:r>
              <a:rPr lang="zh-CN" altLang="en-US" sz="2000" b="1" dirty="0">
                <a:solidFill>
                  <a:srgbClr val="3333FF"/>
                </a:solidFill>
                <a:latin typeface="Consolas" pitchFamily="49" charset="0"/>
                <a:ea typeface="楷体" pitchFamily="49" charset="-122"/>
                <a:cs typeface="Consolas" pitchFamily="49" charset="0"/>
              </a:rPr>
              <a:t>称此二叉树为</a:t>
            </a:r>
            <a:r>
              <a:rPr lang="zh-CN" altLang="en-US" sz="2000" b="1" dirty="0">
                <a:latin typeface="微软雅黑" pitchFamily="34" charset="-122"/>
                <a:ea typeface="微软雅黑" pitchFamily="34" charset="-122"/>
                <a:cs typeface="Consolas" pitchFamily="49" charset="0"/>
              </a:rPr>
              <a:t>平衡二叉树</a:t>
            </a:r>
            <a:r>
              <a:rPr lang="zh-CN" altLang="en-US" sz="2000" b="1" dirty="0">
                <a:latin typeface="Consolas" pitchFamily="49" charset="0"/>
                <a:ea typeface="楷体" pitchFamily="49" charset="-122"/>
                <a:cs typeface="Consolas" pitchFamily="49" charset="0"/>
              </a:rPr>
              <a:t>（</a:t>
            </a:r>
            <a:r>
              <a:rPr lang="en-US" altLang="zh-CN" sz="2000" b="1" dirty="0" err="1">
                <a:latin typeface="Consolas" pitchFamily="49" charset="0"/>
                <a:ea typeface="楷体" pitchFamily="49" charset="-122"/>
                <a:cs typeface="Consolas" pitchFamily="49" charset="0"/>
              </a:rPr>
              <a:t>AVL</a:t>
            </a:r>
            <a:r>
              <a:rPr lang="zh-CN" altLang="en-US" sz="2000" b="1" dirty="0">
                <a:latin typeface="Consolas" pitchFamily="49" charset="0"/>
                <a:ea typeface="楷体" pitchFamily="49" charset="-122"/>
                <a:cs typeface="Consolas" pitchFamily="49" charset="0"/>
              </a:rPr>
              <a:t>）</a:t>
            </a:r>
            <a:r>
              <a:rPr lang="zh-CN" altLang="en-US" sz="2000" b="1" dirty="0">
                <a:solidFill>
                  <a:srgbClr val="3333FF"/>
                </a:solidFill>
                <a:latin typeface="Consolas" pitchFamily="49" charset="0"/>
                <a:ea typeface="楷体" pitchFamily="49" charset="-122"/>
                <a:cs typeface="Consolas" pitchFamily="49" charset="0"/>
              </a:rPr>
              <a:t>。　</a:t>
            </a:r>
          </a:p>
        </p:txBody>
      </p:sp>
      <p:sp>
        <p:nvSpPr>
          <p:cNvPr id="8" name="TextBox 4">
            <a:extLst>
              <a:ext uri="{FF2B5EF4-FFF2-40B4-BE49-F238E27FC236}">
                <a16:creationId xmlns:a16="http://schemas.microsoft.com/office/drawing/2014/main" id="{CCC3D82F-75D2-6692-679D-A377C2F043F6}"/>
              </a:ext>
            </a:extLst>
          </p:cNvPr>
          <p:cNvSpPr txBox="1"/>
          <p:nvPr/>
        </p:nvSpPr>
        <p:spPr>
          <a:xfrm>
            <a:off x="1014783" y="3582706"/>
            <a:ext cx="7858180" cy="400110"/>
          </a:xfrm>
          <a:prstGeom prst="rect">
            <a:avLst/>
          </a:prstGeom>
          <a:noFill/>
        </p:spPr>
        <p:txBody>
          <a:bodyPr wrap="square" rtlCol="0">
            <a:spAutoFit/>
          </a:bodyPr>
          <a:lstStyle/>
          <a:p>
            <a:pPr algn="l"/>
            <a:r>
              <a:rPr lang="zh-CN" altLang="en-US" sz="2000" b="1" dirty="0">
                <a:latin typeface="Consolas" pitchFamily="49" charset="0"/>
                <a:ea typeface="仿宋" pitchFamily="49" charset="-122"/>
                <a:cs typeface="Consolas" pitchFamily="49" charset="0"/>
              </a:rPr>
              <a:t> 平衡因子：</a:t>
            </a:r>
            <a:r>
              <a:rPr lang="zh-CN" altLang="en-US" sz="2000" b="1" dirty="0">
                <a:solidFill>
                  <a:srgbClr val="3333FF"/>
                </a:solidFill>
                <a:latin typeface="Consolas" pitchFamily="49" charset="0"/>
                <a:ea typeface="仿宋" pitchFamily="49" charset="-122"/>
                <a:cs typeface="Consolas" pitchFamily="49" charset="0"/>
              </a:rPr>
              <a:t>该结点左子树的高度减去右子树的高度。</a:t>
            </a:r>
          </a:p>
        </p:txBody>
      </p:sp>
      <p:sp>
        <p:nvSpPr>
          <p:cNvPr id="9" name="TextBox 5">
            <a:extLst>
              <a:ext uri="{FF2B5EF4-FFF2-40B4-BE49-F238E27FC236}">
                <a16:creationId xmlns:a16="http://schemas.microsoft.com/office/drawing/2014/main" id="{04B290C4-264A-A24A-7E22-556D0F1CAEEA}"/>
              </a:ext>
            </a:extLst>
          </p:cNvPr>
          <p:cNvSpPr txBox="1"/>
          <p:nvPr/>
        </p:nvSpPr>
        <p:spPr>
          <a:xfrm>
            <a:off x="653110" y="4367668"/>
            <a:ext cx="8001056" cy="400110"/>
          </a:xfrm>
          <a:prstGeom prst="rect">
            <a:avLst/>
          </a:prstGeom>
          <a:noFill/>
        </p:spPr>
        <p:txBody>
          <a:bodyPr wrap="square" rtlCol="0">
            <a:spAutoFit/>
          </a:bodyPr>
          <a:lstStyle/>
          <a:p>
            <a:pPr algn="l"/>
            <a:r>
              <a:rPr lang="zh-CN" altLang="en-US" sz="2000" b="1" dirty="0">
                <a:solidFill>
                  <a:srgbClr val="3333FF"/>
                </a:solidFill>
                <a:latin typeface="Consolas" pitchFamily="49" charset="0"/>
                <a:ea typeface="仿宋" pitchFamily="49" charset="-122"/>
                <a:cs typeface="Consolas" pitchFamily="49" charset="0"/>
              </a:rPr>
              <a:t>所有结点的平衡因子的绝对值小于或等于</a:t>
            </a:r>
            <a:r>
              <a:rPr lang="en-US" altLang="zh-CN" sz="2000" b="1" dirty="0">
                <a:solidFill>
                  <a:srgbClr val="3333FF"/>
                </a:solidFill>
                <a:latin typeface="Consolas" pitchFamily="49" charset="0"/>
                <a:ea typeface="仿宋" pitchFamily="49" charset="-122"/>
                <a:cs typeface="Consolas" pitchFamily="49" charset="0"/>
              </a:rPr>
              <a:t>1</a:t>
            </a:r>
            <a:r>
              <a:rPr lang="zh-CN" altLang="en-US" sz="2000" b="1" dirty="0">
                <a:solidFill>
                  <a:srgbClr val="3333FF"/>
                </a:solidFill>
                <a:latin typeface="Consolas" pitchFamily="49" charset="0"/>
                <a:ea typeface="仿宋" pitchFamily="49" charset="-122"/>
                <a:cs typeface="Consolas" pitchFamily="49" charset="0"/>
              </a:rPr>
              <a:t>，该二叉树称为</a:t>
            </a:r>
            <a:r>
              <a:rPr lang="zh-CN" altLang="en-US" sz="2000" b="1" dirty="0">
                <a:latin typeface="微软雅黑" pitchFamily="34" charset="-122"/>
                <a:ea typeface="微软雅黑" pitchFamily="34" charset="-122"/>
                <a:cs typeface="Consolas" pitchFamily="49" charset="0"/>
              </a:rPr>
              <a:t>平衡二叉树</a:t>
            </a:r>
            <a:r>
              <a:rPr lang="zh-CN" altLang="en-US" sz="2000" b="1" dirty="0">
                <a:solidFill>
                  <a:srgbClr val="3333FF"/>
                </a:solidFill>
                <a:latin typeface="Consolas" pitchFamily="49" charset="0"/>
                <a:ea typeface="仿宋" pitchFamily="49" charset="-122"/>
                <a:cs typeface="Consolas" pitchFamily="49" charset="0"/>
              </a:rPr>
              <a:t>。</a:t>
            </a:r>
          </a:p>
        </p:txBody>
      </p:sp>
      <p:sp>
        <p:nvSpPr>
          <p:cNvPr id="10" name="下箭头 6">
            <a:extLst>
              <a:ext uri="{FF2B5EF4-FFF2-40B4-BE49-F238E27FC236}">
                <a16:creationId xmlns:a16="http://schemas.microsoft.com/office/drawing/2014/main" id="{340106F8-CFEE-E867-5A8A-A090A698BF1E}"/>
              </a:ext>
            </a:extLst>
          </p:cNvPr>
          <p:cNvSpPr/>
          <p:nvPr/>
        </p:nvSpPr>
        <p:spPr>
          <a:xfrm>
            <a:off x="4296448" y="3969503"/>
            <a:ext cx="357190" cy="500066"/>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1" name="圆角矩形 2">
            <a:extLst>
              <a:ext uri="{FF2B5EF4-FFF2-40B4-BE49-F238E27FC236}">
                <a16:creationId xmlns:a16="http://schemas.microsoft.com/office/drawing/2014/main" id="{982033F0-C9D3-D3F6-CF64-A17C5435B2CA}"/>
              </a:ext>
            </a:extLst>
          </p:cNvPr>
          <p:cNvSpPr/>
          <p:nvPr/>
        </p:nvSpPr>
        <p:spPr>
          <a:xfrm>
            <a:off x="9080094" y="3669770"/>
            <a:ext cx="1857388" cy="46800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0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楷体" pitchFamily="49" charset="-122"/>
                <a:cs typeface="Times New Roman" pitchFamily="18" charset="0"/>
              </a:rPr>
              <a:t>二叉排序树</a:t>
            </a:r>
            <a:endParaRPr lang="zh-CN" altLang="en-US" sz="20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2" name="圆角矩形 3">
            <a:extLst>
              <a:ext uri="{FF2B5EF4-FFF2-40B4-BE49-F238E27FC236}">
                <a16:creationId xmlns:a16="http://schemas.microsoft.com/office/drawing/2014/main" id="{9439A1AE-1260-B5D6-32A5-E7FEC993C1EB}"/>
              </a:ext>
            </a:extLst>
          </p:cNvPr>
          <p:cNvSpPr/>
          <p:nvPr/>
        </p:nvSpPr>
        <p:spPr>
          <a:xfrm>
            <a:off x="9008656" y="5145864"/>
            <a:ext cx="2214578" cy="46800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20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楷体" pitchFamily="49" charset="-122"/>
                <a:cs typeface="Times New Roman" pitchFamily="18" charset="0"/>
              </a:rPr>
              <a:t>平衡二叉树</a:t>
            </a:r>
            <a:endParaRPr lang="zh-CN" altLang="en-US" sz="20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3" name="下箭头 4">
            <a:extLst>
              <a:ext uri="{FF2B5EF4-FFF2-40B4-BE49-F238E27FC236}">
                <a16:creationId xmlns:a16="http://schemas.microsoft.com/office/drawing/2014/main" id="{2DD52D58-2C68-A9C7-3287-80969DA036C8}"/>
              </a:ext>
            </a:extLst>
          </p:cNvPr>
          <p:cNvSpPr/>
          <p:nvPr/>
        </p:nvSpPr>
        <p:spPr>
          <a:xfrm>
            <a:off x="9901631" y="4240287"/>
            <a:ext cx="214314" cy="792000"/>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4" name="TextBox 5">
            <a:extLst>
              <a:ext uri="{FF2B5EF4-FFF2-40B4-BE49-F238E27FC236}">
                <a16:creationId xmlns:a16="http://schemas.microsoft.com/office/drawing/2014/main" id="{46C0BF38-7F0C-B40F-4AFD-D4219D9C0F16}"/>
              </a:ext>
            </a:extLst>
          </p:cNvPr>
          <p:cNvSpPr txBox="1"/>
          <p:nvPr/>
        </p:nvSpPr>
        <p:spPr>
          <a:xfrm>
            <a:off x="7536160" y="5949280"/>
            <a:ext cx="4786346" cy="369332"/>
          </a:xfrm>
          <a:prstGeom prst="rect">
            <a:avLst/>
          </a:prstGeom>
          <a:noFill/>
        </p:spPr>
        <p:txBody>
          <a:bodyPr wrap="square" rtlCol="0">
            <a:spAutoFit/>
          </a:bodyPr>
          <a:lstStyle/>
          <a:p>
            <a:pPr algn="l"/>
            <a:r>
              <a:rPr lang="zh-CN" altLang="en-US" sz="1800" b="1" dirty="0">
                <a:solidFill>
                  <a:srgbClr val="3333FF"/>
                </a:solidFill>
                <a:latin typeface="Consolas" pitchFamily="49" charset="0"/>
                <a:ea typeface="仿宋" pitchFamily="49" charset="-122"/>
                <a:cs typeface="Consolas" pitchFamily="49" charset="0"/>
              </a:rPr>
              <a:t>所有结点的平衡因子的绝对值≤</a:t>
            </a:r>
            <a:r>
              <a:rPr lang="en-US" altLang="zh-CN" sz="1800" b="1" dirty="0">
                <a:solidFill>
                  <a:srgbClr val="3333FF"/>
                </a:solidFill>
                <a:latin typeface="Consolas" pitchFamily="49" charset="0"/>
                <a:ea typeface="仿宋" pitchFamily="49" charset="-122"/>
                <a:cs typeface="Consolas" pitchFamily="49" charset="0"/>
              </a:rPr>
              <a:t>1</a:t>
            </a:r>
            <a:r>
              <a:rPr lang="zh-CN" altLang="en-US" sz="1800" b="1" dirty="0">
                <a:solidFill>
                  <a:srgbClr val="3333FF"/>
                </a:solidFill>
                <a:latin typeface="Consolas" pitchFamily="49" charset="0"/>
                <a:ea typeface="仿宋" pitchFamily="49" charset="-122"/>
                <a:cs typeface="Consolas" pitchFamily="49" charset="0"/>
              </a:rPr>
              <a:t>：结构约束</a:t>
            </a:r>
          </a:p>
        </p:txBody>
      </p:sp>
    </p:spTree>
    <p:extLst>
      <p:ext uri="{BB962C8B-B14F-4D97-AF65-F5344CB8AC3E}">
        <p14:creationId xmlns:p14="http://schemas.microsoft.com/office/powerpoint/2010/main" val="142738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96B2-C712-1D23-8A73-4642F224F07B}"/>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F9C5E601-9169-BD39-696A-4E677DF6AF3E}"/>
              </a:ext>
            </a:extLst>
          </p:cNvPr>
          <p:cNvGrpSpPr>
            <a:grpSpLocks/>
          </p:cNvGrpSpPr>
          <p:nvPr/>
        </p:nvGrpSpPr>
        <p:grpSpPr bwMode="auto">
          <a:xfrm>
            <a:off x="2170338" y="2759211"/>
            <a:ext cx="2743200" cy="1981200"/>
            <a:chOff x="432" y="2400"/>
            <a:chExt cx="1728" cy="1248"/>
          </a:xfrm>
        </p:grpSpPr>
        <p:sp>
          <p:nvSpPr>
            <p:cNvPr id="6" name="Oval 3">
              <a:extLst>
                <a:ext uri="{FF2B5EF4-FFF2-40B4-BE49-F238E27FC236}">
                  <a16:creationId xmlns:a16="http://schemas.microsoft.com/office/drawing/2014/main" id="{1B568C7C-1EB3-3D37-6B29-A63BA79D72B5}"/>
                </a:ext>
              </a:extLst>
            </p:cNvPr>
            <p:cNvSpPr>
              <a:spLocks noChangeArrowheads="1"/>
            </p:cNvSpPr>
            <p:nvPr/>
          </p:nvSpPr>
          <p:spPr bwMode="auto">
            <a:xfrm>
              <a:off x="1392" y="2400"/>
              <a:ext cx="288" cy="28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1">
                  <a:solidFill>
                    <a:srgbClr val="3333FF"/>
                  </a:solidFill>
                  <a:latin typeface="Consolas" pitchFamily="49" charset="0"/>
                  <a:cs typeface="Consolas" pitchFamily="49" charset="0"/>
                </a:rPr>
                <a:t>5</a:t>
              </a:r>
              <a:endParaRPr lang="en-US" altLang="zh-CN" sz="1800">
                <a:solidFill>
                  <a:srgbClr val="3333FF"/>
                </a:solidFill>
                <a:latin typeface="Consolas" pitchFamily="49" charset="0"/>
                <a:cs typeface="Consolas" pitchFamily="49" charset="0"/>
              </a:endParaRPr>
            </a:p>
          </p:txBody>
        </p:sp>
        <p:sp>
          <p:nvSpPr>
            <p:cNvPr id="8" name="Oval 4">
              <a:extLst>
                <a:ext uri="{FF2B5EF4-FFF2-40B4-BE49-F238E27FC236}">
                  <a16:creationId xmlns:a16="http://schemas.microsoft.com/office/drawing/2014/main" id="{165F4C44-9E47-C653-A3B8-BE90A7D8A1E9}"/>
                </a:ext>
              </a:extLst>
            </p:cNvPr>
            <p:cNvSpPr>
              <a:spLocks noChangeArrowheads="1"/>
            </p:cNvSpPr>
            <p:nvPr/>
          </p:nvSpPr>
          <p:spPr bwMode="auto">
            <a:xfrm>
              <a:off x="912" y="2880"/>
              <a:ext cx="288" cy="28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1">
                  <a:solidFill>
                    <a:srgbClr val="3333FF"/>
                  </a:solidFill>
                  <a:latin typeface="Consolas" pitchFamily="49" charset="0"/>
                  <a:cs typeface="Consolas" pitchFamily="49" charset="0"/>
                </a:rPr>
                <a:t>4</a:t>
              </a:r>
              <a:endParaRPr lang="en-US" altLang="zh-CN" sz="1800">
                <a:solidFill>
                  <a:srgbClr val="3333FF"/>
                </a:solidFill>
                <a:latin typeface="Consolas" pitchFamily="49" charset="0"/>
                <a:cs typeface="Consolas" pitchFamily="49" charset="0"/>
              </a:endParaRPr>
            </a:p>
          </p:txBody>
        </p:sp>
        <p:sp>
          <p:nvSpPr>
            <p:cNvPr id="9" name="Oval 5">
              <a:extLst>
                <a:ext uri="{FF2B5EF4-FFF2-40B4-BE49-F238E27FC236}">
                  <a16:creationId xmlns:a16="http://schemas.microsoft.com/office/drawing/2014/main" id="{C374459F-199F-3688-5490-2899E3021A7A}"/>
                </a:ext>
              </a:extLst>
            </p:cNvPr>
            <p:cNvSpPr>
              <a:spLocks noChangeArrowheads="1"/>
            </p:cNvSpPr>
            <p:nvPr/>
          </p:nvSpPr>
          <p:spPr bwMode="auto">
            <a:xfrm>
              <a:off x="1872" y="2880"/>
              <a:ext cx="288" cy="28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1">
                  <a:solidFill>
                    <a:srgbClr val="3333FF"/>
                  </a:solidFill>
                  <a:latin typeface="Consolas" pitchFamily="49" charset="0"/>
                  <a:cs typeface="Consolas" pitchFamily="49" charset="0"/>
                </a:rPr>
                <a:t>8</a:t>
              </a:r>
              <a:endParaRPr lang="en-US" altLang="zh-CN" sz="1800">
                <a:solidFill>
                  <a:srgbClr val="3333FF"/>
                </a:solidFill>
                <a:latin typeface="Consolas" pitchFamily="49" charset="0"/>
                <a:cs typeface="Consolas" pitchFamily="49" charset="0"/>
              </a:endParaRPr>
            </a:p>
          </p:txBody>
        </p:sp>
        <p:sp>
          <p:nvSpPr>
            <p:cNvPr id="10" name="Oval 6">
              <a:extLst>
                <a:ext uri="{FF2B5EF4-FFF2-40B4-BE49-F238E27FC236}">
                  <a16:creationId xmlns:a16="http://schemas.microsoft.com/office/drawing/2014/main" id="{DB562483-21B7-AF29-93EC-C82123B6920B}"/>
                </a:ext>
              </a:extLst>
            </p:cNvPr>
            <p:cNvSpPr>
              <a:spLocks noChangeArrowheads="1"/>
            </p:cNvSpPr>
            <p:nvPr/>
          </p:nvSpPr>
          <p:spPr bwMode="auto">
            <a:xfrm>
              <a:off x="432" y="3360"/>
              <a:ext cx="288" cy="28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1" dirty="0">
                  <a:solidFill>
                    <a:srgbClr val="3333FF"/>
                  </a:solidFill>
                  <a:latin typeface="Consolas" pitchFamily="49" charset="0"/>
                  <a:cs typeface="Consolas" pitchFamily="49" charset="0"/>
                </a:rPr>
                <a:t>2</a:t>
              </a:r>
              <a:endParaRPr lang="en-US" altLang="zh-CN" sz="1800" dirty="0">
                <a:solidFill>
                  <a:srgbClr val="3333FF"/>
                </a:solidFill>
                <a:latin typeface="Consolas" pitchFamily="49" charset="0"/>
                <a:cs typeface="Consolas" pitchFamily="49" charset="0"/>
              </a:endParaRPr>
            </a:p>
          </p:txBody>
        </p:sp>
        <p:sp>
          <p:nvSpPr>
            <p:cNvPr id="11" name="Line 7">
              <a:extLst>
                <a:ext uri="{FF2B5EF4-FFF2-40B4-BE49-F238E27FC236}">
                  <a16:creationId xmlns:a16="http://schemas.microsoft.com/office/drawing/2014/main" id="{77E8EDCE-0AA8-EF4A-829A-FC0CC3795B51}"/>
                </a:ext>
              </a:extLst>
            </p:cNvPr>
            <p:cNvSpPr>
              <a:spLocks noChangeShapeType="1"/>
            </p:cNvSpPr>
            <p:nvPr/>
          </p:nvSpPr>
          <p:spPr bwMode="auto">
            <a:xfrm flipH="1">
              <a:off x="1152" y="2640"/>
              <a:ext cx="288" cy="288"/>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2" name="Line 8">
              <a:extLst>
                <a:ext uri="{FF2B5EF4-FFF2-40B4-BE49-F238E27FC236}">
                  <a16:creationId xmlns:a16="http://schemas.microsoft.com/office/drawing/2014/main" id="{864E804E-204E-94B3-CF09-41E44662E440}"/>
                </a:ext>
              </a:extLst>
            </p:cNvPr>
            <p:cNvSpPr>
              <a:spLocks noChangeShapeType="1"/>
            </p:cNvSpPr>
            <p:nvPr/>
          </p:nvSpPr>
          <p:spPr bwMode="auto">
            <a:xfrm flipH="1">
              <a:off x="672" y="3120"/>
              <a:ext cx="288" cy="288"/>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13" name="Line 9">
              <a:extLst>
                <a:ext uri="{FF2B5EF4-FFF2-40B4-BE49-F238E27FC236}">
                  <a16:creationId xmlns:a16="http://schemas.microsoft.com/office/drawing/2014/main" id="{4B012C28-C9BA-6733-8536-E66EBD48522C}"/>
                </a:ext>
              </a:extLst>
            </p:cNvPr>
            <p:cNvSpPr>
              <a:spLocks noChangeShapeType="1"/>
            </p:cNvSpPr>
            <p:nvPr/>
          </p:nvSpPr>
          <p:spPr bwMode="auto">
            <a:xfrm>
              <a:off x="1632" y="2640"/>
              <a:ext cx="288" cy="288"/>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grpSp>
      <p:sp>
        <p:nvSpPr>
          <p:cNvPr id="14" name="Text Box 20">
            <a:extLst>
              <a:ext uri="{FF2B5EF4-FFF2-40B4-BE49-F238E27FC236}">
                <a16:creationId xmlns:a16="http://schemas.microsoft.com/office/drawing/2014/main" id="{A5F2E3E7-3F54-72AD-683A-74625446E106}"/>
              </a:ext>
            </a:extLst>
          </p:cNvPr>
          <p:cNvSpPr txBox="1">
            <a:spLocks noChangeArrowheads="1"/>
          </p:cNvSpPr>
          <p:nvPr/>
        </p:nvSpPr>
        <p:spPr bwMode="auto">
          <a:xfrm>
            <a:off x="3026002" y="4756286"/>
            <a:ext cx="1530338" cy="400110"/>
          </a:xfrm>
          <a:prstGeom prst="rect">
            <a:avLst/>
          </a:prstGeom>
          <a:noFill/>
          <a:ln w="9525">
            <a:solidFill>
              <a:schemeClr val="bg1"/>
            </a:solidFill>
            <a:miter lim="800000"/>
            <a:headEnd/>
            <a:tailEnd/>
          </a:ln>
        </p:spPr>
        <p:txBody>
          <a:bodyPr wrap="square">
            <a:spAutoFit/>
          </a:bodyPr>
          <a:lstStyle/>
          <a:p>
            <a:pPr algn="l"/>
            <a:r>
              <a:rPr lang="zh-CN" altLang="en-US" sz="2000" b="1" dirty="0">
                <a:solidFill>
                  <a:srgbClr val="3333FF"/>
                </a:solidFill>
                <a:latin typeface="Consolas" pitchFamily="49" charset="0"/>
                <a:ea typeface="仿宋" pitchFamily="49" charset="-122"/>
                <a:cs typeface="Consolas" pitchFamily="49" charset="0"/>
              </a:rPr>
              <a:t>是平衡树</a:t>
            </a:r>
            <a:endParaRPr lang="zh-CN" altLang="en-US" sz="2000" dirty="0">
              <a:solidFill>
                <a:srgbClr val="3333FF"/>
              </a:solidFill>
              <a:latin typeface="Consolas" pitchFamily="49" charset="0"/>
              <a:ea typeface="仿宋" pitchFamily="49" charset="-122"/>
              <a:cs typeface="Consolas" pitchFamily="49" charset="0"/>
            </a:endParaRPr>
          </a:p>
        </p:txBody>
      </p:sp>
      <p:grpSp>
        <p:nvGrpSpPr>
          <p:cNvPr id="15" name="组合 30">
            <a:extLst>
              <a:ext uri="{FF2B5EF4-FFF2-40B4-BE49-F238E27FC236}">
                <a16:creationId xmlns:a16="http://schemas.microsoft.com/office/drawing/2014/main" id="{B1E0905A-4D97-47B2-8AB1-6D6A77650806}"/>
              </a:ext>
            </a:extLst>
          </p:cNvPr>
          <p:cNvGrpSpPr/>
          <p:nvPr/>
        </p:nvGrpSpPr>
        <p:grpSpPr>
          <a:xfrm>
            <a:off x="2311627" y="2538548"/>
            <a:ext cx="2816217" cy="1663698"/>
            <a:chOff x="827089" y="1479550"/>
            <a:chExt cx="2816217" cy="1663698"/>
          </a:xfrm>
        </p:grpSpPr>
        <p:sp>
          <p:nvSpPr>
            <p:cNvPr id="16" name="Text Box 22">
              <a:extLst>
                <a:ext uri="{FF2B5EF4-FFF2-40B4-BE49-F238E27FC236}">
                  <a16:creationId xmlns:a16="http://schemas.microsoft.com/office/drawing/2014/main" id="{F64EA7FE-C208-BC72-7555-6BDD14F14E72}"/>
                </a:ext>
              </a:extLst>
            </p:cNvPr>
            <p:cNvSpPr txBox="1">
              <a:spLocks noChangeArrowheads="1"/>
            </p:cNvSpPr>
            <p:nvPr/>
          </p:nvSpPr>
          <p:spPr bwMode="auto">
            <a:xfrm>
              <a:off x="827089" y="2897027"/>
              <a:ext cx="173011"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00B050"/>
                  </a:solidFill>
                  <a:latin typeface="Consolas" pitchFamily="49" charset="0"/>
                  <a:ea typeface="楷体_GB2312" pitchFamily="49" charset="-122"/>
                  <a:cs typeface="Consolas" pitchFamily="49" charset="0"/>
                </a:rPr>
                <a:t>0</a:t>
              </a:r>
            </a:p>
          </p:txBody>
        </p:sp>
        <p:sp>
          <p:nvSpPr>
            <p:cNvPr id="17" name="Text Box 23">
              <a:extLst>
                <a:ext uri="{FF2B5EF4-FFF2-40B4-BE49-F238E27FC236}">
                  <a16:creationId xmlns:a16="http://schemas.microsoft.com/office/drawing/2014/main" id="{4F4C4CBC-48BD-8BBC-0076-3474A28D3A33}"/>
                </a:ext>
              </a:extLst>
            </p:cNvPr>
            <p:cNvSpPr txBox="1">
              <a:spLocks noChangeArrowheads="1"/>
            </p:cNvSpPr>
            <p:nvPr/>
          </p:nvSpPr>
          <p:spPr bwMode="auto">
            <a:xfrm>
              <a:off x="1401764" y="2320765"/>
              <a:ext cx="169840"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00B050"/>
                  </a:solidFill>
                  <a:latin typeface="Consolas" pitchFamily="49" charset="0"/>
                  <a:ea typeface="楷体_GB2312" pitchFamily="49" charset="-122"/>
                  <a:cs typeface="Consolas" pitchFamily="49" charset="0"/>
                </a:rPr>
                <a:t>1</a:t>
              </a:r>
            </a:p>
          </p:txBody>
        </p:sp>
        <p:sp>
          <p:nvSpPr>
            <p:cNvPr id="18" name="Text Box 24">
              <a:extLst>
                <a:ext uri="{FF2B5EF4-FFF2-40B4-BE49-F238E27FC236}">
                  <a16:creationId xmlns:a16="http://schemas.microsoft.com/office/drawing/2014/main" id="{40B26D91-4A8E-600E-45C0-27FE02D1737C}"/>
                </a:ext>
              </a:extLst>
            </p:cNvPr>
            <p:cNvSpPr txBox="1">
              <a:spLocks noChangeArrowheads="1"/>
            </p:cNvSpPr>
            <p:nvPr/>
          </p:nvSpPr>
          <p:spPr bwMode="auto">
            <a:xfrm>
              <a:off x="3492500" y="2276475"/>
              <a:ext cx="150806"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00B050"/>
                  </a:solidFill>
                  <a:latin typeface="Consolas" pitchFamily="49" charset="0"/>
                  <a:ea typeface="楷体_GB2312" pitchFamily="49" charset="-122"/>
                  <a:cs typeface="Consolas" pitchFamily="49" charset="0"/>
                </a:rPr>
                <a:t>0</a:t>
              </a:r>
            </a:p>
          </p:txBody>
        </p:sp>
        <p:sp>
          <p:nvSpPr>
            <p:cNvPr id="19" name="Text Box 25">
              <a:extLst>
                <a:ext uri="{FF2B5EF4-FFF2-40B4-BE49-F238E27FC236}">
                  <a16:creationId xmlns:a16="http://schemas.microsoft.com/office/drawing/2014/main" id="{5029F592-E90A-E43D-F059-8B915C7798B9}"/>
                </a:ext>
              </a:extLst>
            </p:cNvPr>
            <p:cNvSpPr txBox="1">
              <a:spLocks noChangeArrowheads="1"/>
            </p:cNvSpPr>
            <p:nvPr/>
          </p:nvSpPr>
          <p:spPr bwMode="auto">
            <a:xfrm>
              <a:off x="2700338" y="1479550"/>
              <a:ext cx="157150"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00B050"/>
                  </a:solidFill>
                  <a:latin typeface="Consolas" pitchFamily="49" charset="0"/>
                  <a:ea typeface="楷体_GB2312" pitchFamily="49" charset="-122"/>
                  <a:cs typeface="Consolas" pitchFamily="49" charset="0"/>
                </a:rPr>
                <a:t>1</a:t>
              </a:r>
            </a:p>
          </p:txBody>
        </p:sp>
      </p:grpSp>
      <p:grpSp>
        <p:nvGrpSpPr>
          <p:cNvPr id="20" name="组合 31">
            <a:extLst>
              <a:ext uri="{FF2B5EF4-FFF2-40B4-BE49-F238E27FC236}">
                <a16:creationId xmlns:a16="http://schemas.microsoft.com/office/drawing/2014/main" id="{646972E2-CD04-455B-F1BC-F29770A98C3F}"/>
              </a:ext>
            </a:extLst>
          </p:cNvPr>
          <p:cNvGrpSpPr/>
          <p:nvPr/>
        </p:nvGrpSpPr>
        <p:grpSpPr>
          <a:xfrm>
            <a:off x="5599338" y="2759211"/>
            <a:ext cx="3505200" cy="2743200"/>
            <a:chOff x="4114800" y="1700213"/>
            <a:chExt cx="3505200" cy="2743200"/>
          </a:xfrm>
        </p:grpSpPr>
        <p:sp>
          <p:nvSpPr>
            <p:cNvPr id="21" name="Oval 11">
              <a:extLst>
                <a:ext uri="{FF2B5EF4-FFF2-40B4-BE49-F238E27FC236}">
                  <a16:creationId xmlns:a16="http://schemas.microsoft.com/office/drawing/2014/main" id="{2F5977B9-3141-F614-59DC-9C702F3D9D60}"/>
                </a:ext>
              </a:extLst>
            </p:cNvPr>
            <p:cNvSpPr>
              <a:spLocks noChangeArrowheads="1"/>
            </p:cNvSpPr>
            <p:nvPr/>
          </p:nvSpPr>
          <p:spPr bwMode="auto">
            <a:xfrm>
              <a:off x="6400800" y="1700213"/>
              <a:ext cx="457200" cy="4572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r>
                <a:rPr lang="en-US" altLang="zh-CN" sz="1800" b="1">
                  <a:solidFill>
                    <a:srgbClr val="3333FF"/>
                  </a:solidFill>
                  <a:latin typeface="Consolas" pitchFamily="49" charset="0"/>
                  <a:cs typeface="Consolas" pitchFamily="49" charset="0"/>
                </a:rPr>
                <a:t>5</a:t>
              </a:r>
              <a:endParaRPr lang="en-US" altLang="zh-CN" sz="1800">
                <a:solidFill>
                  <a:srgbClr val="3333FF"/>
                </a:solidFill>
                <a:latin typeface="Consolas" pitchFamily="49" charset="0"/>
                <a:cs typeface="Consolas" pitchFamily="49" charset="0"/>
              </a:endParaRPr>
            </a:p>
          </p:txBody>
        </p:sp>
        <p:sp>
          <p:nvSpPr>
            <p:cNvPr id="22" name="Oval 12">
              <a:extLst>
                <a:ext uri="{FF2B5EF4-FFF2-40B4-BE49-F238E27FC236}">
                  <a16:creationId xmlns:a16="http://schemas.microsoft.com/office/drawing/2014/main" id="{B13A51B4-F6DD-6E0D-881B-C7FEBDC39A61}"/>
                </a:ext>
              </a:extLst>
            </p:cNvPr>
            <p:cNvSpPr>
              <a:spLocks noChangeArrowheads="1"/>
            </p:cNvSpPr>
            <p:nvPr/>
          </p:nvSpPr>
          <p:spPr bwMode="auto">
            <a:xfrm>
              <a:off x="5638800" y="2462213"/>
              <a:ext cx="457200" cy="4572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r>
                <a:rPr lang="en-US" altLang="zh-CN" sz="1800" b="1">
                  <a:solidFill>
                    <a:srgbClr val="3333FF"/>
                  </a:solidFill>
                  <a:latin typeface="Consolas" pitchFamily="49" charset="0"/>
                  <a:cs typeface="Consolas" pitchFamily="49" charset="0"/>
                </a:rPr>
                <a:t>4</a:t>
              </a:r>
              <a:endParaRPr lang="en-US" altLang="zh-CN" sz="1800">
                <a:solidFill>
                  <a:srgbClr val="3333FF"/>
                </a:solidFill>
                <a:latin typeface="Consolas" pitchFamily="49" charset="0"/>
                <a:cs typeface="Consolas" pitchFamily="49" charset="0"/>
              </a:endParaRPr>
            </a:p>
          </p:txBody>
        </p:sp>
        <p:sp>
          <p:nvSpPr>
            <p:cNvPr id="23" name="Oval 13">
              <a:extLst>
                <a:ext uri="{FF2B5EF4-FFF2-40B4-BE49-F238E27FC236}">
                  <a16:creationId xmlns:a16="http://schemas.microsoft.com/office/drawing/2014/main" id="{9D3F0ECB-79E2-A9DF-B985-1764D6262828}"/>
                </a:ext>
              </a:extLst>
            </p:cNvPr>
            <p:cNvSpPr>
              <a:spLocks noChangeArrowheads="1"/>
            </p:cNvSpPr>
            <p:nvPr/>
          </p:nvSpPr>
          <p:spPr bwMode="auto">
            <a:xfrm>
              <a:off x="7162800" y="2462213"/>
              <a:ext cx="457200" cy="4572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b="1" dirty="0">
                  <a:solidFill>
                    <a:srgbClr val="3333FF"/>
                  </a:solidFill>
                  <a:latin typeface="Consolas" pitchFamily="49" charset="0"/>
                  <a:cs typeface="Consolas" pitchFamily="49" charset="0"/>
                </a:rPr>
                <a:t>8</a:t>
              </a:r>
              <a:endParaRPr lang="en-US" altLang="zh-CN" sz="1800" dirty="0">
                <a:solidFill>
                  <a:srgbClr val="3333FF"/>
                </a:solidFill>
                <a:latin typeface="Consolas" pitchFamily="49" charset="0"/>
                <a:cs typeface="Consolas" pitchFamily="49" charset="0"/>
              </a:endParaRPr>
            </a:p>
          </p:txBody>
        </p:sp>
        <p:sp>
          <p:nvSpPr>
            <p:cNvPr id="24" name="Oval 14">
              <a:extLst>
                <a:ext uri="{FF2B5EF4-FFF2-40B4-BE49-F238E27FC236}">
                  <a16:creationId xmlns:a16="http://schemas.microsoft.com/office/drawing/2014/main" id="{543655C9-B457-2AB1-4310-58EDD80C1AC1}"/>
                </a:ext>
              </a:extLst>
            </p:cNvPr>
            <p:cNvSpPr>
              <a:spLocks noChangeArrowheads="1"/>
            </p:cNvSpPr>
            <p:nvPr/>
          </p:nvSpPr>
          <p:spPr bwMode="auto">
            <a:xfrm>
              <a:off x="4876800" y="3224213"/>
              <a:ext cx="457200" cy="4572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b="1">
                  <a:solidFill>
                    <a:srgbClr val="3333FF"/>
                  </a:solidFill>
                  <a:latin typeface="Consolas" pitchFamily="49" charset="0"/>
                  <a:cs typeface="Consolas" pitchFamily="49" charset="0"/>
                </a:rPr>
                <a:t>2</a:t>
              </a:r>
              <a:endParaRPr lang="en-US" altLang="zh-CN" sz="1800">
                <a:solidFill>
                  <a:srgbClr val="3333FF"/>
                </a:solidFill>
                <a:latin typeface="Consolas" pitchFamily="49" charset="0"/>
                <a:cs typeface="Consolas" pitchFamily="49" charset="0"/>
              </a:endParaRPr>
            </a:p>
          </p:txBody>
        </p:sp>
        <p:sp>
          <p:nvSpPr>
            <p:cNvPr id="25" name="Oval 15">
              <a:extLst>
                <a:ext uri="{FF2B5EF4-FFF2-40B4-BE49-F238E27FC236}">
                  <a16:creationId xmlns:a16="http://schemas.microsoft.com/office/drawing/2014/main" id="{2BC3BFC0-9C22-BD32-7F78-D78737AC11B5}"/>
                </a:ext>
              </a:extLst>
            </p:cNvPr>
            <p:cNvSpPr>
              <a:spLocks noChangeArrowheads="1"/>
            </p:cNvSpPr>
            <p:nvPr/>
          </p:nvSpPr>
          <p:spPr bwMode="auto">
            <a:xfrm>
              <a:off x="4114800" y="3986213"/>
              <a:ext cx="457200" cy="4572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1800" b="1">
                  <a:solidFill>
                    <a:srgbClr val="3333FF"/>
                  </a:solidFill>
                  <a:latin typeface="Consolas" pitchFamily="49" charset="0"/>
                  <a:cs typeface="Consolas" pitchFamily="49" charset="0"/>
                </a:rPr>
                <a:t>1</a:t>
              </a:r>
              <a:endParaRPr lang="en-US" altLang="zh-CN" sz="1800">
                <a:solidFill>
                  <a:srgbClr val="3333FF"/>
                </a:solidFill>
                <a:latin typeface="Consolas" pitchFamily="49" charset="0"/>
                <a:cs typeface="Consolas" pitchFamily="49" charset="0"/>
              </a:endParaRPr>
            </a:p>
          </p:txBody>
        </p:sp>
        <p:sp>
          <p:nvSpPr>
            <p:cNvPr id="26" name="Line 16">
              <a:extLst>
                <a:ext uri="{FF2B5EF4-FFF2-40B4-BE49-F238E27FC236}">
                  <a16:creationId xmlns:a16="http://schemas.microsoft.com/office/drawing/2014/main" id="{E98AA5BB-8C30-2739-1CC9-6341F604CE86}"/>
                </a:ext>
              </a:extLst>
            </p:cNvPr>
            <p:cNvSpPr>
              <a:spLocks noChangeShapeType="1"/>
            </p:cNvSpPr>
            <p:nvPr/>
          </p:nvSpPr>
          <p:spPr bwMode="auto">
            <a:xfrm flipH="1">
              <a:off x="6019800" y="2081213"/>
              <a:ext cx="457200" cy="457200"/>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7" name="Line 17">
              <a:extLst>
                <a:ext uri="{FF2B5EF4-FFF2-40B4-BE49-F238E27FC236}">
                  <a16:creationId xmlns:a16="http://schemas.microsoft.com/office/drawing/2014/main" id="{846679B1-5F58-071E-6E8C-1ED2489B7C8F}"/>
                </a:ext>
              </a:extLst>
            </p:cNvPr>
            <p:cNvSpPr>
              <a:spLocks noChangeShapeType="1"/>
            </p:cNvSpPr>
            <p:nvPr/>
          </p:nvSpPr>
          <p:spPr bwMode="auto">
            <a:xfrm flipH="1">
              <a:off x="5257800" y="2843213"/>
              <a:ext cx="457200" cy="457200"/>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8" name="Line 18">
              <a:extLst>
                <a:ext uri="{FF2B5EF4-FFF2-40B4-BE49-F238E27FC236}">
                  <a16:creationId xmlns:a16="http://schemas.microsoft.com/office/drawing/2014/main" id="{1F8D2408-FC3C-38DE-040D-C36CA833F44C}"/>
                </a:ext>
              </a:extLst>
            </p:cNvPr>
            <p:cNvSpPr>
              <a:spLocks noChangeShapeType="1"/>
            </p:cNvSpPr>
            <p:nvPr/>
          </p:nvSpPr>
          <p:spPr bwMode="auto">
            <a:xfrm flipH="1">
              <a:off x="4495800" y="3605213"/>
              <a:ext cx="457200" cy="457200"/>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sp>
          <p:nvSpPr>
            <p:cNvPr id="29" name="Line 19">
              <a:extLst>
                <a:ext uri="{FF2B5EF4-FFF2-40B4-BE49-F238E27FC236}">
                  <a16:creationId xmlns:a16="http://schemas.microsoft.com/office/drawing/2014/main" id="{E151C37F-B5D5-352E-4758-05C63EE9BEB4}"/>
                </a:ext>
              </a:extLst>
            </p:cNvPr>
            <p:cNvSpPr>
              <a:spLocks noChangeShapeType="1"/>
            </p:cNvSpPr>
            <p:nvPr/>
          </p:nvSpPr>
          <p:spPr bwMode="auto">
            <a:xfrm>
              <a:off x="6781800" y="2081213"/>
              <a:ext cx="457200" cy="457200"/>
            </a:xfrm>
            <a:prstGeom prst="line">
              <a:avLst/>
            </a:prstGeom>
            <a:noFill/>
            <a:ln w="28575">
              <a:solidFill>
                <a:srgbClr val="3333FF"/>
              </a:solidFill>
              <a:round/>
              <a:headEnd/>
              <a:tailEnd/>
            </a:ln>
          </p:spPr>
          <p:txBody>
            <a:bodyPr wrap="none" anchor="ctr"/>
            <a:lstStyle/>
            <a:p>
              <a:endParaRPr lang="zh-CN" altLang="en-US">
                <a:latin typeface="Consolas" pitchFamily="49" charset="0"/>
                <a:cs typeface="Consolas" pitchFamily="49" charset="0"/>
              </a:endParaRPr>
            </a:p>
          </p:txBody>
        </p:sp>
      </p:grpSp>
      <p:sp>
        <p:nvSpPr>
          <p:cNvPr id="30" name="Text Box 21">
            <a:extLst>
              <a:ext uri="{FF2B5EF4-FFF2-40B4-BE49-F238E27FC236}">
                <a16:creationId xmlns:a16="http://schemas.microsoft.com/office/drawing/2014/main" id="{63234776-C657-5BBE-4BD8-358B6164FEBF}"/>
              </a:ext>
            </a:extLst>
          </p:cNvPr>
          <p:cNvSpPr txBox="1">
            <a:spLocks noChangeArrowheads="1"/>
          </p:cNvSpPr>
          <p:nvPr/>
        </p:nvSpPr>
        <p:spPr bwMode="auto">
          <a:xfrm>
            <a:off x="7128108" y="5273816"/>
            <a:ext cx="2667000" cy="400110"/>
          </a:xfrm>
          <a:prstGeom prst="rect">
            <a:avLst/>
          </a:prstGeom>
          <a:noFill/>
          <a:ln w="9525">
            <a:solidFill>
              <a:schemeClr val="bg1"/>
            </a:solidFill>
            <a:miter lim="800000"/>
            <a:headEnd/>
            <a:tailEnd/>
          </a:ln>
        </p:spPr>
        <p:txBody>
          <a:bodyPr>
            <a:spAutoFit/>
          </a:bodyPr>
          <a:lstStyle/>
          <a:p>
            <a:pPr algn="l"/>
            <a:r>
              <a:rPr lang="zh-CN" altLang="en-US" sz="2000" b="1" dirty="0">
                <a:solidFill>
                  <a:srgbClr val="3333FF"/>
                </a:solidFill>
                <a:latin typeface="Consolas" pitchFamily="49" charset="0"/>
                <a:ea typeface="仿宋" pitchFamily="49" charset="-122"/>
                <a:cs typeface="Consolas" pitchFamily="49" charset="0"/>
              </a:rPr>
              <a:t>不是平衡树</a:t>
            </a:r>
            <a:endParaRPr lang="zh-CN" altLang="en-US" sz="2000" dirty="0">
              <a:solidFill>
                <a:srgbClr val="3333FF"/>
              </a:solidFill>
              <a:latin typeface="Consolas" pitchFamily="49" charset="0"/>
              <a:ea typeface="仿宋" pitchFamily="49" charset="-122"/>
              <a:cs typeface="Consolas" pitchFamily="49" charset="0"/>
            </a:endParaRPr>
          </a:p>
        </p:txBody>
      </p:sp>
      <p:grpSp>
        <p:nvGrpSpPr>
          <p:cNvPr id="31" name="组合 32">
            <a:extLst>
              <a:ext uri="{FF2B5EF4-FFF2-40B4-BE49-F238E27FC236}">
                <a16:creationId xmlns:a16="http://schemas.microsoft.com/office/drawing/2014/main" id="{1477B30A-E41C-D7F7-3EE3-2AE80659FC61}"/>
              </a:ext>
            </a:extLst>
          </p:cNvPr>
          <p:cNvGrpSpPr/>
          <p:nvPr/>
        </p:nvGrpSpPr>
        <p:grpSpPr>
          <a:xfrm>
            <a:off x="5699348" y="2416296"/>
            <a:ext cx="3546522" cy="2571768"/>
            <a:chOff x="4214810" y="1357298"/>
            <a:chExt cx="3546522" cy="2571768"/>
          </a:xfrm>
        </p:grpSpPr>
        <p:sp>
          <p:nvSpPr>
            <p:cNvPr id="32" name="Text Box 26">
              <a:extLst>
                <a:ext uri="{FF2B5EF4-FFF2-40B4-BE49-F238E27FC236}">
                  <a16:creationId xmlns:a16="http://schemas.microsoft.com/office/drawing/2014/main" id="{8F9AD9B9-C1A1-2DE8-7A85-502699733264}"/>
                </a:ext>
              </a:extLst>
            </p:cNvPr>
            <p:cNvSpPr txBox="1">
              <a:spLocks noChangeArrowheads="1"/>
            </p:cNvSpPr>
            <p:nvPr/>
          </p:nvSpPr>
          <p:spPr bwMode="auto">
            <a:xfrm>
              <a:off x="4214810" y="3682845"/>
              <a:ext cx="147634"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3333FF"/>
                  </a:solidFill>
                  <a:latin typeface="Consolas" pitchFamily="49" charset="0"/>
                  <a:ea typeface="楷体_GB2312" pitchFamily="49" charset="-122"/>
                  <a:cs typeface="Consolas" pitchFamily="49" charset="0"/>
                </a:rPr>
                <a:t>0</a:t>
              </a:r>
            </a:p>
          </p:txBody>
        </p:sp>
        <p:sp>
          <p:nvSpPr>
            <p:cNvPr id="33" name="Text Box 27">
              <a:extLst>
                <a:ext uri="{FF2B5EF4-FFF2-40B4-BE49-F238E27FC236}">
                  <a16:creationId xmlns:a16="http://schemas.microsoft.com/office/drawing/2014/main" id="{FF97F856-D572-46FE-CD55-4193ECF06424}"/>
                </a:ext>
              </a:extLst>
            </p:cNvPr>
            <p:cNvSpPr txBox="1">
              <a:spLocks noChangeArrowheads="1"/>
            </p:cNvSpPr>
            <p:nvPr/>
          </p:nvSpPr>
          <p:spPr bwMode="auto">
            <a:xfrm>
              <a:off x="4787901" y="2968465"/>
              <a:ext cx="212727"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3333FF"/>
                  </a:solidFill>
                  <a:latin typeface="Consolas" pitchFamily="49" charset="0"/>
                  <a:ea typeface="楷体_GB2312" pitchFamily="49" charset="-122"/>
                  <a:cs typeface="Consolas" pitchFamily="49" charset="0"/>
                </a:rPr>
                <a:t>1</a:t>
              </a:r>
            </a:p>
          </p:txBody>
        </p:sp>
        <p:sp>
          <p:nvSpPr>
            <p:cNvPr id="34" name="Text Box 28">
              <a:extLst>
                <a:ext uri="{FF2B5EF4-FFF2-40B4-BE49-F238E27FC236}">
                  <a16:creationId xmlns:a16="http://schemas.microsoft.com/office/drawing/2014/main" id="{3D8AFA9B-8C32-7D8B-6B55-F2F028F21322}"/>
                </a:ext>
              </a:extLst>
            </p:cNvPr>
            <p:cNvSpPr txBox="1">
              <a:spLocks noChangeArrowheads="1"/>
            </p:cNvSpPr>
            <p:nvPr/>
          </p:nvSpPr>
          <p:spPr bwMode="auto">
            <a:xfrm>
              <a:off x="5649914" y="2214554"/>
              <a:ext cx="207970"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FF00FF"/>
                  </a:solidFill>
                  <a:latin typeface="Consolas" pitchFamily="49" charset="0"/>
                  <a:ea typeface="楷体_GB2312" pitchFamily="49" charset="-122"/>
                  <a:cs typeface="Consolas" pitchFamily="49" charset="0"/>
                </a:rPr>
                <a:t>2</a:t>
              </a:r>
            </a:p>
          </p:txBody>
        </p:sp>
        <p:sp>
          <p:nvSpPr>
            <p:cNvPr id="35" name="Text Box 29">
              <a:extLst>
                <a:ext uri="{FF2B5EF4-FFF2-40B4-BE49-F238E27FC236}">
                  <a16:creationId xmlns:a16="http://schemas.microsoft.com/office/drawing/2014/main" id="{15405645-BFD8-09BB-9902-F5A46A9EBC70}"/>
                </a:ext>
              </a:extLst>
            </p:cNvPr>
            <p:cNvSpPr txBox="1">
              <a:spLocks noChangeArrowheads="1"/>
            </p:cNvSpPr>
            <p:nvPr/>
          </p:nvSpPr>
          <p:spPr bwMode="auto">
            <a:xfrm>
              <a:off x="7572396" y="2357430"/>
              <a:ext cx="188936"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3333FF"/>
                  </a:solidFill>
                  <a:latin typeface="Consolas" pitchFamily="49" charset="0"/>
                  <a:ea typeface="楷体_GB2312" pitchFamily="49" charset="-122"/>
                  <a:cs typeface="Consolas" pitchFamily="49" charset="0"/>
                </a:rPr>
                <a:t>0</a:t>
              </a:r>
            </a:p>
          </p:txBody>
        </p:sp>
        <p:sp>
          <p:nvSpPr>
            <p:cNvPr id="36" name="Text Box 30">
              <a:extLst>
                <a:ext uri="{FF2B5EF4-FFF2-40B4-BE49-F238E27FC236}">
                  <a16:creationId xmlns:a16="http://schemas.microsoft.com/office/drawing/2014/main" id="{FA6658FE-7F54-D219-BB45-AF700E49F577}"/>
                </a:ext>
              </a:extLst>
            </p:cNvPr>
            <p:cNvSpPr txBox="1">
              <a:spLocks noChangeArrowheads="1"/>
            </p:cNvSpPr>
            <p:nvPr/>
          </p:nvSpPr>
          <p:spPr bwMode="auto">
            <a:xfrm>
              <a:off x="6516688" y="1357298"/>
              <a:ext cx="198452" cy="246221"/>
            </a:xfrm>
            <a:prstGeom prst="rect">
              <a:avLst/>
            </a:prstGeom>
            <a:noFill/>
            <a:ln w="9525">
              <a:noFill/>
              <a:miter lim="800000"/>
              <a:headEnd/>
              <a:tailEnd/>
            </a:ln>
          </p:spPr>
          <p:txBody>
            <a:bodyPr wrap="square" lIns="0" tIns="0" rIns="0" bIns="0">
              <a:spAutoFit/>
            </a:bodyPr>
            <a:lstStyle/>
            <a:p>
              <a:pPr algn="l">
                <a:spcBef>
                  <a:spcPct val="50000"/>
                </a:spcBef>
              </a:pPr>
              <a:r>
                <a:rPr kumimoji="0" lang="en-US" altLang="zh-CN" sz="1600" b="1">
                  <a:solidFill>
                    <a:srgbClr val="FF00FF"/>
                  </a:solidFill>
                  <a:latin typeface="Consolas" pitchFamily="49" charset="0"/>
                  <a:ea typeface="楷体_GB2312" pitchFamily="49" charset="-122"/>
                  <a:cs typeface="Consolas" pitchFamily="49" charset="0"/>
                </a:rPr>
                <a:t>2</a:t>
              </a:r>
            </a:p>
          </p:txBody>
        </p:sp>
      </p:grpSp>
      <p:sp>
        <p:nvSpPr>
          <p:cNvPr id="37" name="矩形 36">
            <a:extLst>
              <a:ext uri="{FF2B5EF4-FFF2-40B4-BE49-F238E27FC236}">
                <a16:creationId xmlns:a16="http://schemas.microsoft.com/office/drawing/2014/main" id="{E6CCB30B-BA2C-5209-FFC2-8F1736368438}"/>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8" name="矩形 37">
            <a:extLst>
              <a:ext uri="{FF2B5EF4-FFF2-40B4-BE49-F238E27FC236}">
                <a16:creationId xmlns:a16="http://schemas.microsoft.com/office/drawing/2014/main" id="{4566733B-9E23-6049-1775-C35BB37A71C5}"/>
              </a:ext>
            </a:extLst>
          </p:cNvPr>
          <p:cNvSpPr/>
          <p:nvPr/>
        </p:nvSpPr>
        <p:spPr>
          <a:xfrm>
            <a:off x="255372" y="1152249"/>
            <a:ext cx="48325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9.3.2 </a:t>
            </a:r>
            <a:r>
              <a:rPr lang="zh-CN" altLang="en-US" sz="2800" b="1" dirty="0">
                <a:solidFill>
                  <a:schemeClr val="bg1"/>
                </a:solidFill>
                <a:latin typeface="经典粗黑简" pitchFamily="49" charset="-122"/>
                <a:ea typeface="经典粗黑简" pitchFamily="49" charset="-122"/>
                <a:cs typeface="经典粗黑简" pitchFamily="49" charset="-122"/>
              </a:rPr>
              <a:t>二叉平衡树（</a:t>
            </a:r>
            <a:r>
              <a:rPr lang="en-US" altLang="zh-CN" sz="2800" b="1" dirty="0">
                <a:solidFill>
                  <a:schemeClr val="bg1"/>
                </a:solidFill>
                <a:latin typeface="经典粗黑简" pitchFamily="49" charset="-122"/>
                <a:ea typeface="经典粗黑简" pitchFamily="49" charset="-122"/>
                <a:cs typeface="经典粗黑简" pitchFamily="49" charset="-122"/>
              </a:rPr>
              <a:t>AVL</a:t>
            </a:r>
            <a:r>
              <a:rPr lang="zh-CN" altLang="en-US" sz="2800" b="1" dirty="0">
                <a:solidFill>
                  <a:schemeClr val="bg1"/>
                </a:solidFill>
                <a:latin typeface="经典粗黑简" pitchFamily="49" charset="-122"/>
                <a:ea typeface="经典粗黑简" pitchFamily="49" charset="-122"/>
                <a:cs typeface="经典粗黑简" pitchFamily="49" charset="-122"/>
              </a:rPr>
              <a:t>）</a:t>
            </a:r>
          </a:p>
        </p:txBody>
      </p:sp>
      <p:cxnSp>
        <p:nvCxnSpPr>
          <p:cNvPr id="39" name="直接连接符 38">
            <a:extLst>
              <a:ext uri="{FF2B5EF4-FFF2-40B4-BE49-F238E27FC236}">
                <a16:creationId xmlns:a16="http://schemas.microsoft.com/office/drawing/2014/main" id="{95272EDD-707F-3C91-E521-F24B256E238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0" name="Text Box 2">
            <a:extLst>
              <a:ext uri="{FF2B5EF4-FFF2-40B4-BE49-F238E27FC236}">
                <a16:creationId xmlns:a16="http://schemas.microsoft.com/office/drawing/2014/main" id="{6E9F042B-5AE9-E0C2-3BE5-B9AF302FBED5}"/>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、什么是平衡二叉树</a:t>
            </a:r>
          </a:p>
        </p:txBody>
      </p:sp>
    </p:spTree>
    <p:extLst>
      <p:ext uri="{BB962C8B-B14F-4D97-AF65-F5344CB8AC3E}">
        <p14:creationId xmlns:p14="http://schemas.microsoft.com/office/powerpoint/2010/main" val="25573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713202" y="2472016"/>
            <a:ext cx="8382000" cy="707886"/>
          </a:xfrm>
          <a:prstGeom prst="rect">
            <a:avLst/>
          </a:prstGeom>
          <a:noFill/>
          <a:ln w="9525">
            <a:noFill/>
            <a:miter lim="800000"/>
            <a:headEnd/>
            <a:tailEnd/>
          </a:ln>
        </p:spPr>
        <p:txBody>
          <a:bodyPr>
            <a:spAutoFit/>
          </a:bodyPr>
          <a:lstStyle/>
          <a:p>
            <a:pPr algn="l"/>
            <a:r>
              <a:rPr lang="en-US" altLang="zh-CN" sz="2000" b="1">
                <a:solidFill>
                  <a:srgbClr val="0000FF"/>
                </a:solidFill>
                <a:ea typeface="楷体" pitchFamily="49" charset="-122"/>
                <a:cs typeface="Times New Roman" pitchFamily="18" charset="0"/>
              </a:rPr>
              <a:t>    </a:t>
            </a:r>
            <a:r>
              <a:rPr lang="zh-CN" altLang="zh-CN" sz="2000" b="1">
                <a:solidFill>
                  <a:srgbClr val="0000FF"/>
                </a:solidFill>
                <a:ea typeface="楷体" pitchFamily="49" charset="-122"/>
                <a:cs typeface="Times New Roman" pitchFamily="18" charset="0"/>
              </a:rPr>
              <a:t>红黑树是一棵二叉排序树，每个结点有一个表示颜色的标志，增加外部结点（通常用</a:t>
            </a:r>
            <a:r>
              <a:rPr lang="en-US" altLang="zh-CN" sz="2000" b="1">
                <a:solidFill>
                  <a:srgbClr val="0000FF"/>
                </a:solidFill>
                <a:ea typeface="楷体" pitchFamily="49" charset="-122"/>
                <a:cs typeface="Times New Roman" pitchFamily="18" charset="0"/>
              </a:rPr>
              <a:t>nil</a:t>
            </a:r>
            <a:r>
              <a:rPr lang="zh-CN" altLang="zh-CN" sz="2000" b="1">
                <a:solidFill>
                  <a:srgbClr val="0000FF"/>
                </a:solidFill>
                <a:ea typeface="楷体" pitchFamily="49" charset="-122"/>
                <a:cs typeface="Times New Roman" pitchFamily="18" charset="0"/>
              </a:rPr>
              <a:t>表示），同时满足以下性质：</a:t>
            </a:r>
          </a:p>
        </p:txBody>
      </p:sp>
      <p:sp>
        <p:nvSpPr>
          <p:cNvPr id="9" name="TextBox 8"/>
          <p:cNvSpPr txBox="1"/>
          <p:nvPr/>
        </p:nvSpPr>
        <p:spPr>
          <a:xfrm>
            <a:off x="2356144" y="3451800"/>
            <a:ext cx="8564392" cy="2294191"/>
          </a:xfrm>
          <a:prstGeom prst="rect">
            <a:avLst/>
          </a:prstGeom>
          <a:ln>
            <a:solidFill>
              <a:schemeClr val="accent6">
                <a:lumMod val="20000"/>
                <a:lumOff val="80000"/>
              </a:schemeClr>
            </a:solidFill>
          </a:ln>
          <a:effectLst>
            <a:outerShdw blurRad="50800" dist="38100" algn="l"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nSpc>
                <a:spcPts val="2800"/>
              </a:lnSpc>
              <a:spcBef>
                <a:spcPts val="600"/>
              </a:spcBef>
              <a:buFont typeface="+mj-ea"/>
              <a:buAutoNum type="circleNumDbPlain"/>
            </a:pPr>
            <a:r>
              <a:rPr lang="zh-CN" altLang="zh-CN" sz="2000" b="1">
                <a:solidFill>
                  <a:srgbClr val="0000FF"/>
                </a:solidFill>
                <a:ea typeface="仿宋" pitchFamily="49" charset="-122"/>
                <a:cs typeface="Times New Roman" pitchFamily="18" charset="0"/>
              </a:rPr>
              <a:t>每个结点的颜色为</a:t>
            </a:r>
            <a:r>
              <a:rPr lang="zh-CN" altLang="zh-CN" sz="2000" b="1">
                <a:solidFill>
                  <a:srgbClr val="FF0000"/>
                </a:solidFill>
                <a:ea typeface="仿宋" pitchFamily="49" charset="-122"/>
                <a:cs typeface="Times New Roman" pitchFamily="18" charset="0"/>
              </a:rPr>
              <a:t>红色</a:t>
            </a:r>
            <a:r>
              <a:rPr lang="zh-CN" altLang="zh-CN" sz="2000" b="1">
                <a:solidFill>
                  <a:srgbClr val="0000FF"/>
                </a:solidFill>
                <a:ea typeface="仿宋" pitchFamily="49" charset="-122"/>
                <a:cs typeface="Times New Roman" pitchFamily="18" charset="0"/>
              </a:rPr>
              <a:t>或者</a:t>
            </a:r>
            <a:r>
              <a:rPr lang="zh-CN" altLang="zh-CN" sz="2000" b="1">
                <a:solidFill>
                  <a:schemeClr val="tx1"/>
                </a:solidFill>
                <a:ea typeface="仿宋" pitchFamily="49" charset="-122"/>
                <a:cs typeface="Times New Roman" pitchFamily="18" charset="0"/>
              </a:rPr>
              <a:t>黑色</a:t>
            </a:r>
            <a:r>
              <a:rPr lang="zh-CN" altLang="zh-CN" sz="2000" b="1">
                <a:solidFill>
                  <a:srgbClr val="0000FF"/>
                </a:solidFill>
                <a:ea typeface="仿宋" pitchFamily="49" charset="-122"/>
                <a:cs typeface="Times New Roman" pitchFamily="18" charset="0"/>
              </a:rPr>
              <a:t>。</a:t>
            </a:r>
          </a:p>
          <a:p>
            <a:pPr marL="457200" indent="-457200">
              <a:lnSpc>
                <a:spcPts val="2800"/>
              </a:lnSpc>
              <a:spcBef>
                <a:spcPts val="600"/>
              </a:spcBef>
              <a:buFont typeface="+mj-ea"/>
              <a:buAutoNum type="circleNumDbPlain"/>
            </a:pPr>
            <a:r>
              <a:rPr lang="zh-CN" altLang="zh-CN" sz="2000" b="1">
                <a:solidFill>
                  <a:srgbClr val="0000FF"/>
                </a:solidFill>
                <a:ea typeface="仿宋" pitchFamily="49" charset="-122"/>
                <a:cs typeface="Times New Roman" pitchFamily="18" charset="0"/>
              </a:rPr>
              <a:t>根结点的颜色为</a:t>
            </a:r>
            <a:r>
              <a:rPr lang="zh-CN" altLang="zh-CN" sz="2000" b="1">
                <a:solidFill>
                  <a:schemeClr val="tx1"/>
                </a:solidFill>
                <a:ea typeface="仿宋" pitchFamily="49" charset="-122"/>
                <a:cs typeface="Times New Roman" pitchFamily="18" charset="0"/>
              </a:rPr>
              <a:t>黑色</a:t>
            </a:r>
            <a:r>
              <a:rPr lang="zh-CN" altLang="zh-CN" sz="2000" b="1">
                <a:solidFill>
                  <a:srgbClr val="0000FF"/>
                </a:solidFill>
                <a:ea typeface="仿宋" pitchFamily="49" charset="-122"/>
                <a:cs typeface="Times New Roman" pitchFamily="18" charset="0"/>
              </a:rPr>
              <a:t>。</a:t>
            </a:r>
          </a:p>
          <a:p>
            <a:pPr marL="457200" indent="-457200">
              <a:lnSpc>
                <a:spcPts val="2800"/>
              </a:lnSpc>
              <a:spcBef>
                <a:spcPts val="600"/>
              </a:spcBef>
              <a:buFont typeface="+mj-ea"/>
              <a:buAutoNum type="circleNumDbPlain"/>
            </a:pPr>
            <a:r>
              <a:rPr lang="zh-CN" altLang="zh-CN" sz="2000" b="1">
                <a:solidFill>
                  <a:srgbClr val="0000FF"/>
                </a:solidFill>
                <a:ea typeface="仿宋" pitchFamily="49" charset="-122"/>
                <a:cs typeface="Times New Roman" pitchFamily="18" charset="0"/>
              </a:rPr>
              <a:t>所有外部结点的颜色为</a:t>
            </a:r>
            <a:r>
              <a:rPr lang="zh-CN" altLang="zh-CN" sz="2000" b="1">
                <a:solidFill>
                  <a:schemeClr val="tx1"/>
                </a:solidFill>
                <a:ea typeface="仿宋" pitchFamily="49" charset="-122"/>
                <a:cs typeface="Times New Roman" pitchFamily="18" charset="0"/>
              </a:rPr>
              <a:t>黑色</a:t>
            </a:r>
            <a:r>
              <a:rPr lang="zh-CN" altLang="zh-CN" sz="2000" b="1">
                <a:solidFill>
                  <a:srgbClr val="0000FF"/>
                </a:solidFill>
                <a:ea typeface="仿宋" pitchFamily="49" charset="-122"/>
                <a:cs typeface="Times New Roman" pitchFamily="18" charset="0"/>
              </a:rPr>
              <a:t>。</a:t>
            </a:r>
          </a:p>
          <a:p>
            <a:pPr marL="457200" indent="-457200">
              <a:lnSpc>
                <a:spcPts val="2800"/>
              </a:lnSpc>
              <a:spcBef>
                <a:spcPts val="600"/>
              </a:spcBef>
              <a:buFont typeface="+mj-ea"/>
              <a:buAutoNum type="circleNumDbPlain"/>
            </a:pPr>
            <a:r>
              <a:rPr lang="zh-CN" altLang="zh-CN" sz="2000" b="1">
                <a:solidFill>
                  <a:srgbClr val="0000FF"/>
                </a:solidFill>
                <a:ea typeface="仿宋" pitchFamily="49" charset="-122"/>
                <a:cs typeface="Times New Roman" pitchFamily="18" charset="0"/>
              </a:rPr>
              <a:t>如果一个结点是</a:t>
            </a:r>
            <a:r>
              <a:rPr lang="zh-CN" altLang="zh-CN" sz="2000" b="1">
                <a:solidFill>
                  <a:srgbClr val="FF0000"/>
                </a:solidFill>
                <a:ea typeface="仿宋" pitchFamily="49" charset="-122"/>
                <a:cs typeface="Times New Roman" pitchFamily="18" charset="0"/>
              </a:rPr>
              <a:t>红色</a:t>
            </a:r>
            <a:r>
              <a:rPr lang="zh-CN" altLang="zh-CN" sz="2000" b="1">
                <a:solidFill>
                  <a:srgbClr val="0000FF"/>
                </a:solidFill>
                <a:ea typeface="仿宋" pitchFamily="49" charset="-122"/>
                <a:cs typeface="Times New Roman" pitchFamily="18" charset="0"/>
              </a:rPr>
              <a:t>，则它的所有孩子结点为</a:t>
            </a:r>
            <a:r>
              <a:rPr lang="zh-CN" altLang="zh-CN" sz="2000" b="1">
                <a:solidFill>
                  <a:schemeClr val="tx1"/>
                </a:solidFill>
                <a:ea typeface="仿宋" pitchFamily="49" charset="-122"/>
                <a:cs typeface="Times New Roman" pitchFamily="18" charset="0"/>
              </a:rPr>
              <a:t>黑色</a:t>
            </a:r>
            <a:r>
              <a:rPr lang="zh-CN" altLang="zh-CN" sz="2000" b="1">
                <a:solidFill>
                  <a:srgbClr val="0000FF"/>
                </a:solidFill>
                <a:ea typeface="仿宋" pitchFamily="49" charset="-122"/>
                <a:cs typeface="Times New Roman" pitchFamily="18" charset="0"/>
              </a:rPr>
              <a:t>。</a:t>
            </a:r>
          </a:p>
          <a:p>
            <a:pPr marL="457200" indent="-457200">
              <a:lnSpc>
                <a:spcPts val="2800"/>
              </a:lnSpc>
              <a:spcBef>
                <a:spcPts val="600"/>
              </a:spcBef>
              <a:buFont typeface="+mj-ea"/>
              <a:buAutoNum type="circleNumDbPlain"/>
            </a:pPr>
            <a:r>
              <a:rPr lang="zh-CN" altLang="zh-CN" sz="2000" b="1">
                <a:solidFill>
                  <a:srgbClr val="0000FF"/>
                </a:solidFill>
                <a:ea typeface="仿宋" pitchFamily="49" charset="-122"/>
                <a:cs typeface="Times New Roman" pitchFamily="18" charset="0"/>
              </a:rPr>
              <a:t>对于每个结点，从该结点出发的所有</a:t>
            </a:r>
            <a:r>
              <a:rPr lang="zh-CN" altLang="zh-CN" sz="2000" b="1">
                <a:solidFill>
                  <a:srgbClr val="FF00FF"/>
                </a:solidFill>
                <a:ea typeface="仿宋" pitchFamily="49" charset="-122"/>
                <a:cs typeface="Times New Roman" pitchFamily="18" charset="0"/>
              </a:rPr>
              <a:t>路径</a:t>
            </a:r>
            <a:r>
              <a:rPr lang="zh-CN" altLang="zh-CN" sz="2000" b="1">
                <a:solidFill>
                  <a:srgbClr val="0000FF"/>
                </a:solidFill>
                <a:ea typeface="仿宋" pitchFamily="49" charset="-122"/>
                <a:cs typeface="Times New Roman" pitchFamily="18" charset="0"/>
              </a:rPr>
              <a:t>上包含相同个数的</a:t>
            </a:r>
            <a:r>
              <a:rPr lang="zh-CN" altLang="zh-CN" sz="2000" b="1">
                <a:solidFill>
                  <a:schemeClr val="tx1"/>
                </a:solidFill>
                <a:ea typeface="仿宋" pitchFamily="49" charset="-122"/>
                <a:cs typeface="Times New Roman" pitchFamily="18" charset="0"/>
              </a:rPr>
              <a:t>黑色</a:t>
            </a:r>
            <a:r>
              <a:rPr lang="zh-CN" altLang="zh-CN" sz="2000" b="1">
                <a:solidFill>
                  <a:srgbClr val="0000FF"/>
                </a:solidFill>
                <a:ea typeface="仿宋" pitchFamily="49" charset="-122"/>
                <a:cs typeface="Times New Roman" pitchFamily="18" charset="0"/>
              </a:rPr>
              <a:t>结点。</a:t>
            </a:r>
          </a:p>
        </p:txBody>
      </p:sp>
      <p:sp>
        <p:nvSpPr>
          <p:cNvPr id="10" name="TextBox 9"/>
          <p:cNvSpPr txBox="1"/>
          <p:nvPr/>
        </p:nvSpPr>
        <p:spPr>
          <a:xfrm>
            <a:off x="3215680" y="6159858"/>
            <a:ext cx="7000924" cy="400110"/>
          </a:xfrm>
          <a:prstGeom prst="rect">
            <a:avLst/>
          </a:prstGeom>
          <a:noFill/>
        </p:spPr>
        <p:txBody>
          <a:bodyPr wrap="square" rtlCol="0">
            <a:spAutoFit/>
          </a:bodyPr>
          <a:lstStyle/>
          <a:p>
            <a:pPr algn="l"/>
            <a:r>
              <a:rPr lang="zh-CN" altLang="zh-CN" sz="2000" b="1" dirty="0">
                <a:solidFill>
                  <a:srgbClr val="FF00FF"/>
                </a:solidFill>
                <a:ea typeface="仿宋" pitchFamily="49" charset="-122"/>
                <a:cs typeface="Times New Roman" pitchFamily="18" charset="0"/>
              </a:rPr>
              <a:t>路径</a:t>
            </a:r>
            <a:r>
              <a:rPr lang="zh-CN" altLang="zh-CN" sz="2000" b="1" dirty="0">
                <a:solidFill>
                  <a:srgbClr val="0000FF"/>
                </a:solidFill>
                <a:ea typeface="仿宋" pitchFamily="49" charset="-122"/>
                <a:cs typeface="Times New Roman" pitchFamily="18" charset="0"/>
              </a:rPr>
              <a:t>特指从一个结点到其子孙结点中某个外部结点的路径。</a:t>
            </a:r>
            <a:endParaRPr lang="zh-CN" altLang="en-US" sz="2000" b="1" dirty="0">
              <a:solidFill>
                <a:srgbClr val="3333FF"/>
              </a:solidFill>
              <a:ea typeface="楷体" pitchFamily="49" charset="-122"/>
              <a:cs typeface="Times New Roman" pitchFamily="18" charset="0"/>
            </a:endParaRPr>
          </a:p>
        </p:txBody>
      </p:sp>
      <p:cxnSp>
        <p:nvCxnSpPr>
          <p:cNvPr id="13" name="直接箭头连接符 12"/>
          <p:cNvCxnSpPr/>
          <p:nvPr/>
        </p:nvCxnSpPr>
        <p:spPr>
          <a:xfrm rot="5400000" flipH="1" flipV="1">
            <a:off x="6531122" y="5884893"/>
            <a:ext cx="571504"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2" name="矩形 1">
            <a:extLst>
              <a:ext uri="{FF2B5EF4-FFF2-40B4-BE49-F238E27FC236}">
                <a16:creationId xmlns:a16="http://schemas.microsoft.com/office/drawing/2014/main" id="{1DD60C4B-2646-E312-1699-4A75C305FE1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D68E00CF-DDB8-A465-090F-656559661854}"/>
              </a:ext>
            </a:extLst>
          </p:cNvPr>
          <p:cNvSpPr/>
          <p:nvPr/>
        </p:nvSpPr>
        <p:spPr>
          <a:xfrm>
            <a:off x="255372" y="1152249"/>
            <a:ext cx="26002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9.3.3 </a:t>
            </a:r>
            <a:r>
              <a:rPr lang="zh-CN" altLang="en-US" sz="2800" b="1" dirty="0">
                <a:solidFill>
                  <a:schemeClr val="bg1"/>
                </a:solidFill>
                <a:latin typeface="经典粗黑简" pitchFamily="49" charset="-122"/>
                <a:ea typeface="经典粗黑简" pitchFamily="49" charset="-122"/>
                <a:cs typeface="经典粗黑简" pitchFamily="49" charset="-122"/>
              </a:rPr>
              <a:t>红黑树</a:t>
            </a:r>
          </a:p>
        </p:txBody>
      </p:sp>
      <p:cxnSp>
        <p:nvCxnSpPr>
          <p:cNvPr id="4" name="直接连接符 3">
            <a:extLst>
              <a:ext uri="{FF2B5EF4-FFF2-40B4-BE49-F238E27FC236}">
                <a16:creationId xmlns:a16="http://schemas.microsoft.com/office/drawing/2014/main" id="{08A7FC94-CDA1-71F5-F754-6C10EFC83BD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34026255-E6DF-131F-1D4F-CACA03F0CA66}"/>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、什么是红黑树</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406963" y="2540235"/>
            <a:ext cx="2928958" cy="400110"/>
          </a:xfrm>
          <a:prstGeom prst="rect">
            <a:avLst/>
          </a:prstGeom>
          <a:noFill/>
        </p:spPr>
        <p:txBody>
          <a:bodyPr wrap="square" rtlCol="0">
            <a:spAutoFit/>
          </a:bodyPr>
          <a:lstStyle/>
          <a:p>
            <a:pPr algn="l"/>
            <a:r>
              <a:rPr lang="zh-CN" altLang="zh-CN" sz="2000" b="1">
                <a:solidFill>
                  <a:srgbClr val="0000FF"/>
                </a:solidFill>
                <a:latin typeface="楷体" pitchFamily="49" charset="-122"/>
                <a:ea typeface="楷体" pitchFamily="49" charset="-122"/>
              </a:rPr>
              <a:t>一棵红黑树</a:t>
            </a:r>
            <a:endParaRPr lang="zh-CN" altLang="en-US" sz="2000" b="1" dirty="0">
              <a:solidFill>
                <a:srgbClr val="0000FF"/>
              </a:solidFill>
              <a:latin typeface="楷体" pitchFamily="49" charset="-122"/>
              <a:ea typeface="楷体" pitchFamily="49" charset="-122"/>
              <a:cs typeface="Times New Roman" pitchFamily="18" charset="0"/>
            </a:endParaRPr>
          </a:p>
        </p:txBody>
      </p:sp>
      <p:sp>
        <p:nvSpPr>
          <p:cNvPr id="3128" name="Rectangle 5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6" name="组合 65"/>
          <p:cNvGrpSpPr/>
          <p:nvPr/>
        </p:nvGrpSpPr>
        <p:grpSpPr>
          <a:xfrm>
            <a:off x="2999656" y="2780928"/>
            <a:ext cx="5627350" cy="3712280"/>
            <a:chOff x="1079664" y="1722616"/>
            <a:chExt cx="5627350" cy="3712280"/>
          </a:xfrm>
        </p:grpSpPr>
        <p:sp>
          <p:nvSpPr>
            <p:cNvPr id="3126" name="Oval 54"/>
            <p:cNvSpPr>
              <a:spLocks noChangeArrowheads="1"/>
            </p:cNvSpPr>
            <p:nvPr/>
          </p:nvSpPr>
          <p:spPr bwMode="auto">
            <a:xfrm>
              <a:off x="3918733" y="1722616"/>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12</a:t>
              </a:r>
            </a:p>
          </p:txBody>
        </p:sp>
        <p:sp>
          <p:nvSpPr>
            <p:cNvPr id="3125" name="Oval 53"/>
            <p:cNvSpPr>
              <a:spLocks noChangeArrowheads="1"/>
            </p:cNvSpPr>
            <p:nvPr/>
          </p:nvSpPr>
          <p:spPr bwMode="auto">
            <a:xfrm>
              <a:off x="2273190" y="2657289"/>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5</a:t>
              </a:r>
            </a:p>
          </p:txBody>
        </p:sp>
        <p:sp>
          <p:nvSpPr>
            <p:cNvPr id="3124" name="Oval 52"/>
            <p:cNvSpPr>
              <a:spLocks noChangeArrowheads="1"/>
            </p:cNvSpPr>
            <p:nvPr/>
          </p:nvSpPr>
          <p:spPr bwMode="auto">
            <a:xfrm>
              <a:off x="1338685" y="3270923"/>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3</a:t>
              </a:r>
            </a:p>
          </p:txBody>
        </p:sp>
        <p:sp>
          <p:nvSpPr>
            <p:cNvPr id="3123" name="Oval 51"/>
            <p:cNvSpPr>
              <a:spLocks noChangeArrowheads="1"/>
            </p:cNvSpPr>
            <p:nvPr/>
          </p:nvSpPr>
          <p:spPr bwMode="auto">
            <a:xfrm>
              <a:off x="1744992" y="3850015"/>
              <a:ext cx="345361" cy="345423"/>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4</a:t>
              </a:r>
            </a:p>
          </p:txBody>
        </p:sp>
        <p:sp>
          <p:nvSpPr>
            <p:cNvPr id="3122" name="Oval 50"/>
            <p:cNvSpPr>
              <a:spLocks noChangeArrowheads="1"/>
            </p:cNvSpPr>
            <p:nvPr/>
          </p:nvSpPr>
          <p:spPr bwMode="auto">
            <a:xfrm>
              <a:off x="3370219" y="3271939"/>
              <a:ext cx="345361" cy="345423"/>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10</a:t>
              </a:r>
            </a:p>
          </p:txBody>
        </p:sp>
        <p:sp>
          <p:nvSpPr>
            <p:cNvPr id="3121" name="Oval 49"/>
            <p:cNvSpPr>
              <a:spLocks noChangeArrowheads="1"/>
            </p:cNvSpPr>
            <p:nvPr/>
          </p:nvSpPr>
          <p:spPr bwMode="auto">
            <a:xfrm>
              <a:off x="2728254" y="3850015"/>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7</a:t>
              </a:r>
            </a:p>
          </p:txBody>
        </p:sp>
        <p:sp>
          <p:nvSpPr>
            <p:cNvPr id="3120" name="Oval 48"/>
            <p:cNvSpPr>
              <a:spLocks noChangeArrowheads="1"/>
            </p:cNvSpPr>
            <p:nvPr/>
          </p:nvSpPr>
          <p:spPr bwMode="auto">
            <a:xfrm>
              <a:off x="2425556" y="4530701"/>
              <a:ext cx="345361" cy="345423"/>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6</a:t>
              </a:r>
            </a:p>
          </p:txBody>
        </p:sp>
        <p:sp>
          <p:nvSpPr>
            <p:cNvPr id="3119" name="Oval 47"/>
            <p:cNvSpPr>
              <a:spLocks noChangeArrowheads="1"/>
            </p:cNvSpPr>
            <p:nvPr/>
          </p:nvSpPr>
          <p:spPr bwMode="auto">
            <a:xfrm>
              <a:off x="3085804" y="4530701"/>
              <a:ext cx="345361" cy="345423"/>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8</a:t>
              </a:r>
            </a:p>
          </p:txBody>
        </p:sp>
        <p:sp>
          <p:nvSpPr>
            <p:cNvPr id="3118" name="Oval 46"/>
            <p:cNvSpPr>
              <a:spLocks noChangeArrowheads="1"/>
            </p:cNvSpPr>
            <p:nvPr/>
          </p:nvSpPr>
          <p:spPr bwMode="auto">
            <a:xfrm>
              <a:off x="4081256" y="3850015"/>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11</a:t>
              </a:r>
            </a:p>
          </p:txBody>
        </p:sp>
        <p:sp>
          <p:nvSpPr>
            <p:cNvPr id="3117" name="Oval 45"/>
            <p:cNvSpPr>
              <a:spLocks noChangeArrowheads="1"/>
            </p:cNvSpPr>
            <p:nvPr/>
          </p:nvSpPr>
          <p:spPr bwMode="auto">
            <a:xfrm>
              <a:off x="5584591" y="2576013"/>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15</a:t>
              </a:r>
            </a:p>
          </p:txBody>
        </p:sp>
        <p:sp>
          <p:nvSpPr>
            <p:cNvPr id="3116" name="Oval 44"/>
            <p:cNvSpPr>
              <a:spLocks noChangeArrowheads="1"/>
            </p:cNvSpPr>
            <p:nvPr/>
          </p:nvSpPr>
          <p:spPr bwMode="auto">
            <a:xfrm>
              <a:off x="4995446" y="3271939"/>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13</a:t>
              </a:r>
            </a:p>
          </p:txBody>
        </p:sp>
        <p:sp>
          <p:nvSpPr>
            <p:cNvPr id="3115" name="Oval 43"/>
            <p:cNvSpPr>
              <a:spLocks noChangeArrowheads="1"/>
            </p:cNvSpPr>
            <p:nvPr/>
          </p:nvSpPr>
          <p:spPr bwMode="auto">
            <a:xfrm>
              <a:off x="5432226" y="3850015"/>
              <a:ext cx="345361" cy="345423"/>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14</a:t>
              </a:r>
            </a:p>
          </p:txBody>
        </p:sp>
        <p:sp>
          <p:nvSpPr>
            <p:cNvPr id="3114" name="Oval 42"/>
            <p:cNvSpPr>
              <a:spLocks noChangeArrowheads="1"/>
            </p:cNvSpPr>
            <p:nvPr/>
          </p:nvSpPr>
          <p:spPr bwMode="auto">
            <a:xfrm>
              <a:off x="6254998" y="3271939"/>
              <a:ext cx="345361" cy="345423"/>
            </a:xfrm>
            <a:prstGeom prst="ellipse">
              <a:avLst/>
            </a:prstGeom>
            <a:solidFill>
              <a:schemeClr val="tx1"/>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algn="ctr" fontAlgn="base">
                <a:lnSpc>
                  <a:spcPts val="2000"/>
                </a:lnSpc>
                <a:spcBef>
                  <a:spcPct val="0"/>
                </a:spcBef>
                <a:spcAft>
                  <a:spcPct val="0"/>
                </a:spcAft>
              </a:pPr>
              <a:r>
                <a:rPr lang="en-US" altLang="zh-CN" b="1">
                  <a:solidFill>
                    <a:schemeClr val="bg1"/>
                  </a:solidFill>
                  <a:cs typeface="Times New Roman" pitchFamily="18" charset="0"/>
                </a:rPr>
                <a:t>17</a:t>
              </a:r>
            </a:p>
          </p:txBody>
        </p:sp>
        <p:sp>
          <p:nvSpPr>
            <p:cNvPr id="3113" name="AutoShape 41"/>
            <p:cNvSpPr>
              <a:spLocks noChangeShapeType="1"/>
            </p:cNvSpPr>
            <p:nvPr/>
          </p:nvSpPr>
          <p:spPr bwMode="auto">
            <a:xfrm flipH="1">
              <a:off x="2567763" y="2017241"/>
              <a:ext cx="1401759" cy="69084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12" name="AutoShape 40"/>
            <p:cNvSpPr>
              <a:spLocks noChangeShapeType="1"/>
            </p:cNvSpPr>
            <p:nvPr/>
          </p:nvSpPr>
          <p:spPr bwMode="auto">
            <a:xfrm>
              <a:off x="4213306" y="2017241"/>
              <a:ext cx="1422074" cy="60957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11" name="AutoShape 39"/>
            <p:cNvSpPr>
              <a:spLocks noChangeShapeType="1"/>
            </p:cNvSpPr>
            <p:nvPr/>
          </p:nvSpPr>
          <p:spPr bwMode="auto">
            <a:xfrm flipH="1">
              <a:off x="1633257" y="2951915"/>
              <a:ext cx="690722" cy="36980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10" name="AutoShape 38"/>
            <p:cNvSpPr>
              <a:spLocks noChangeShapeType="1"/>
            </p:cNvSpPr>
            <p:nvPr/>
          </p:nvSpPr>
          <p:spPr bwMode="auto">
            <a:xfrm>
              <a:off x="1633257" y="3565549"/>
              <a:ext cx="162523" cy="33526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9" name="AutoShape 37"/>
            <p:cNvSpPr>
              <a:spLocks noChangeShapeType="1"/>
            </p:cNvSpPr>
            <p:nvPr/>
          </p:nvSpPr>
          <p:spPr bwMode="auto">
            <a:xfrm flipH="1">
              <a:off x="3022827" y="3566565"/>
              <a:ext cx="398181" cy="33424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8" name="AutoShape 36"/>
            <p:cNvSpPr>
              <a:spLocks noChangeShapeType="1"/>
            </p:cNvSpPr>
            <p:nvPr/>
          </p:nvSpPr>
          <p:spPr bwMode="auto">
            <a:xfrm>
              <a:off x="3664791" y="3566565"/>
              <a:ext cx="467253" cy="33424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7" name="AutoShape 35"/>
            <p:cNvSpPr>
              <a:spLocks noChangeShapeType="1"/>
            </p:cNvSpPr>
            <p:nvPr/>
          </p:nvSpPr>
          <p:spPr bwMode="auto">
            <a:xfrm flipH="1">
              <a:off x="2598236" y="4144640"/>
              <a:ext cx="180807"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6" name="AutoShape 34"/>
            <p:cNvSpPr>
              <a:spLocks noChangeShapeType="1"/>
            </p:cNvSpPr>
            <p:nvPr/>
          </p:nvSpPr>
          <p:spPr bwMode="auto">
            <a:xfrm>
              <a:off x="3022827" y="4144640"/>
              <a:ext cx="235658"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5" name="AutoShape 33"/>
            <p:cNvSpPr>
              <a:spLocks noChangeShapeType="1"/>
            </p:cNvSpPr>
            <p:nvPr/>
          </p:nvSpPr>
          <p:spPr bwMode="auto">
            <a:xfrm flipH="1">
              <a:off x="5290019" y="2870639"/>
              <a:ext cx="345361" cy="4520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4" name="AutoShape 32"/>
            <p:cNvSpPr>
              <a:spLocks noChangeShapeType="1"/>
            </p:cNvSpPr>
            <p:nvPr/>
          </p:nvSpPr>
          <p:spPr bwMode="auto">
            <a:xfrm>
              <a:off x="5879164" y="2870639"/>
              <a:ext cx="426622" cy="4520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3" name="AutoShape 31"/>
            <p:cNvSpPr>
              <a:spLocks noChangeShapeType="1"/>
            </p:cNvSpPr>
            <p:nvPr/>
          </p:nvSpPr>
          <p:spPr bwMode="auto">
            <a:xfrm>
              <a:off x="5290019" y="3566565"/>
              <a:ext cx="192996" cy="33424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2" name="AutoShape 30"/>
            <p:cNvSpPr>
              <a:spLocks noChangeShapeType="1"/>
            </p:cNvSpPr>
            <p:nvPr/>
          </p:nvSpPr>
          <p:spPr bwMode="auto">
            <a:xfrm>
              <a:off x="2567763" y="2951915"/>
              <a:ext cx="853244" cy="37082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101" name="Rectangle 29"/>
            <p:cNvSpPr>
              <a:spLocks noChangeArrowheads="1"/>
            </p:cNvSpPr>
            <p:nvPr/>
          </p:nvSpPr>
          <p:spPr bwMode="auto">
            <a:xfrm>
              <a:off x="1079664" y="3850015"/>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100" name="Rectangle 28"/>
            <p:cNvSpPr>
              <a:spLocks noChangeArrowheads="1"/>
            </p:cNvSpPr>
            <p:nvPr/>
          </p:nvSpPr>
          <p:spPr bwMode="auto">
            <a:xfrm>
              <a:off x="1648494"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9" name="Rectangle 27"/>
            <p:cNvSpPr>
              <a:spLocks noChangeArrowheads="1"/>
            </p:cNvSpPr>
            <p:nvPr/>
          </p:nvSpPr>
          <p:spPr bwMode="auto">
            <a:xfrm>
              <a:off x="2044643"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8" name="Rectangle 26"/>
            <p:cNvSpPr>
              <a:spLocks noChangeArrowheads="1"/>
            </p:cNvSpPr>
            <p:nvPr/>
          </p:nvSpPr>
          <p:spPr bwMode="auto">
            <a:xfrm>
              <a:off x="2339215" y="5180909"/>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7" name="Rectangle 25"/>
            <p:cNvSpPr>
              <a:spLocks noChangeArrowheads="1"/>
            </p:cNvSpPr>
            <p:nvPr/>
          </p:nvSpPr>
          <p:spPr bwMode="auto">
            <a:xfrm>
              <a:off x="2715049" y="5180909"/>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6" name="Rectangle 24"/>
            <p:cNvSpPr>
              <a:spLocks noChangeArrowheads="1"/>
            </p:cNvSpPr>
            <p:nvPr/>
          </p:nvSpPr>
          <p:spPr bwMode="auto">
            <a:xfrm>
              <a:off x="3009622" y="5180909"/>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5" name="Rectangle 23"/>
            <p:cNvSpPr>
              <a:spLocks noChangeArrowheads="1"/>
            </p:cNvSpPr>
            <p:nvPr/>
          </p:nvSpPr>
          <p:spPr bwMode="auto">
            <a:xfrm>
              <a:off x="3375298" y="5180909"/>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4" name="Rectangle 22"/>
            <p:cNvSpPr>
              <a:spLocks noChangeArrowheads="1"/>
            </p:cNvSpPr>
            <p:nvPr/>
          </p:nvSpPr>
          <p:spPr bwMode="auto">
            <a:xfrm>
              <a:off x="4005073"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3" name="Rectangle 21"/>
            <p:cNvSpPr>
              <a:spLocks noChangeArrowheads="1"/>
            </p:cNvSpPr>
            <p:nvPr/>
          </p:nvSpPr>
          <p:spPr bwMode="auto">
            <a:xfrm>
              <a:off x="4370750"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2" name="Rectangle 20"/>
            <p:cNvSpPr>
              <a:spLocks noChangeArrowheads="1"/>
            </p:cNvSpPr>
            <p:nvPr/>
          </p:nvSpPr>
          <p:spPr bwMode="auto">
            <a:xfrm>
              <a:off x="5335728"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1" name="Rectangle 19"/>
            <p:cNvSpPr>
              <a:spLocks noChangeArrowheads="1"/>
            </p:cNvSpPr>
            <p:nvPr/>
          </p:nvSpPr>
          <p:spPr bwMode="auto">
            <a:xfrm>
              <a:off x="5721720" y="4530701"/>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90" name="Rectangle 18"/>
            <p:cNvSpPr>
              <a:spLocks noChangeArrowheads="1"/>
            </p:cNvSpPr>
            <p:nvPr/>
          </p:nvSpPr>
          <p:spPr bwMode="auto">
            <a:xfrm>
              <a:off x="6188973" y="3850015"/>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89" name="Rectangle 17"/>
            <p:cNvSpPr>
              <a:spLocks noChangeArrowheads="1"/>
            </p:cNvSpPr>
            <p:nvPr/>
          </p:nvSpPr>
          <p:spPr bwMode="auto">
            <a:xfrm>
              <a:off x="6554649" y="3850015"/>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88" name="Rectangle 16"/>
            <p:cNvSpPr>
              <a:spLocks noChangeArrowheads="1"/>
            </p:cNvSpPr>
            <p:nvPr/>
          </p:nvSpPr>
          <p:spPr bwMode="auto">
            <a:xfrm>
              <a:off x="4756741" y="3850015"/>
              <a:ext cx="152365" cy="253987"/>
            </a:xfrm>
            <a:prstGeom prst="rect">
              <a:avLst/>
            </a:prstGeom>
            <a:solidFill>
              <a:schemeClr val="tx1"/>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chemeClr val="bg1"/>
                </a:solidFill>
                <a:cs typeface="Times New Roman" pitchFamily="18" charset="0"/>
              </a:endParaRPr>
            </a:p>
          </p:txBody>
        </p:sp>
        <p:sp>
          <p:nvSpPr>
            <p:cNvPr id="3087" name="AutoShape 15"/>
            <p:cNvSpPr>
              <a:spLocks noChangeShapeType="1"/>
            </p:cNvSpPr>
            <p:nvPr/>
          </p:nvSpPr>
          <p:spPr bwMode="auto">
            <a:xfrm flipH="1">
              <a:off x="1155847" y="3565549"/>
              <a:ext cx="233626" cy="28446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6" name="AutoShape 14"/>
            <p:cNvSpPr>
              <a:spLocks noChangeShapeType="1"/>
            </p:cNvSpPr>
            <p:nvPr/>
          </p:nvSpPr>
          <p:spPr bwMode="auto">
            <a:xfrm flipH="1">
              <a:off x="1724676" y="4144640"/>
              <a:ext cx="71104"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5" name="AutoShape 13"/>
            <p:cNvSpPr>
              <a:spLocks noChangeShapeType="1"/>
            </p:cNvSpPr>
            <p:nvPr/>
          </p:nvSpPr>
          <p:spPr bwMode="auto">
            <a:xfrm>
              <a:off x="2039564" y="4144640"/>
              <a:ext cx="81261"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4" name="AutoShape 12"/>
            <p:cNvSpPr>
              <a:spLocks noChangeShapeType="1"/>
            </p:cNvSpPr>
            <p:nvPr/>
          </p:nvSpPr>
          <p:spPr bwMode="auto">
            <a:xfrm flipH="1">
              <a:off x="2415398" y="4825326"/>
              <a:ext cx="60946" cy="3555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3" name="AutoShape 11"/>
            <p:cNvSpPr>
              <a:spLocks noChangeShapeType="1"/>
            </p:cNvSpPr>
            <p:nvPr/>
          </p:nvSpPr>
          <p:spPr bwMode="auto">
            <a:xfrm>
              <a:off x="2720128" y="4825326"/>
              <a:ext cx="71104" cy="3555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2" name="AutoShape 10"/>
            <p:cNvSpPr>
              <a:spLocks noChangeShapeType="1"/>
            </p:cNvSpPr>
            <p:nvPr/>
          </p:nvSpPr>
          <p:spPr bwMode="auto">
            <a:xfrm flipH="1">
              <a:off x="3085804" y="4825326"/>
              <a:ext cx="50788" cy="3555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1" name="AutoShape 9"/>
            <p:cNvSpPr>
              <a:spLocks noChangeShapeType="1"/>
            </p:cNvSpPr>
            <p:nvPr/>
          </p:nvSpPr>
          <p:spPr bwMode="auto">
            <a:xfrm>
              <a:off x="3380377" y="4825326"/>
              <a:ext cx="71104" cy="3555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80" name="AutoShape 8"/>
            <p:cNvSpPr>
              <a:spLocks noChangeShapeType="1"/>
            </p:cNvSpPr>
            <p:nvPr/>
          </p:nvSpPr>
          <p:spPr bwMode="auto">
            <a:xfrm flipH="1">
              <a:off x="4081256" y="4144640"/>
              <a:ext cx="50788"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9" name="AutoShape 7"/>
            <p:cNvSpPr>
              <a:spLocks noChangeShapeType="1"/>
            </p:cNvSpPr>
            <p:nvPr/>
          </p:nvSpPr>
          <p:spPr bwMode="auto">
            <a:xfrm>
              <a:off x="4375828" y="4144640"/>
              <a:ext cx="71104"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8" name="AutoShape 6"/>
            <p:cNvSpPr>
              <a:spLocks noChangeShapeType="1"/>
            </p:cNvSpPr>
            <p:nvPr/>
          </p:nvSpPr>
          <p:spPr bwMode="auto">
            <a:xfrm flipH="1">
              <a:off x="4832924" y="3566565"/>
              <a:ext cx="213311" cy="28345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7" name="AutoShape 5"/>
            <p:cNvSpPr>
              <a:spLocks noChangeShapeType="1"/>
            </p:cNvSpPr>
            <p:nvPr/>
          </p:nvSpPr>
          <p:spPr bwMode="auto">
            <a:xfrm flipH="1">
              <a:off x="5411911" y="4144640"/>
              <a:ext cx="71104"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6" name="AutoShape 4"/>
            <p:cNvSpPr>
              <a:spLocks noChangeShapeType="1"/>
            </p:cNvSpPr>
            <p:nvPr/>
          </p:nvSpPr>
          <p:spPr bwMode="auto">
            <a:xfrm>
              <a:off x="5726799" y="4144640"/>
              <a:ext cx="71104" cy="38606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5" name="AutoShape 3"/>
            <p:cNvSpPr>
              <a:spLocks noChangeShapeType="1"/>
            </p:cNvSpPr>
            <p:nvPr/>
          </p:nvSpPr>
          <p:spPr bwMode="auto">
            <a:xfrm flipH="1">
              <a:off x="6265155" y="3566565"/>
              <a:ext cx="40631" cy="28345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sp>
          <p:nvSpPr>
            <p:cNvPr id="3074" name="AutoShape 2"/>
            <p:cNvSpPr>
              <a:spLocks noChangeShapeType="1"/>
            </p:cNvSpPr>
            <p:nvPr/>
          </p:nvSpPr>
          <p:spPr bwMode="auto">
            <a:xfrm>
              <a:off x="6549570" y="3566565"/>
              <a:ext cx="81261" cy="28345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b="1">
                <a:solidFill>
                  <a:srgbClr val="0000FF"/>
                </a:solidFill>
                <a:cs typeface="Times New Roman" pitchFamily="18" charset="0"/>
              </a:endParaRPr>
            </a:p>
          </p:txBody>
        </p:sp>
      </p:grpSp>
      <p:sp>
        <p:nvSpPr>
          <p:cNvPr id="2" name="矩形 1">
            <a:extLst>
              <a:ext uri="{FF2B5EF4-FFF2-40B4-BE49-F238E27FC236}">
                <a16:creationId xmlns:a16="http://schemas.microsoft.com/office/drawing/2014/main" id="{D5B5F5D7-191C-7182-EE1F-2B5A72E141A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9.3 </a:t>
            </a:r>
            <a:r>
              <a:rPr lang="zh-CN" altLang="en-US" sz="3000" b="1" dirty="0">
                <a:latin typeface="黑体" pitchFamily="49" charset="-122"/>
                <a:ea typeface="黑体" pitchFamily="49" charset="-122"/>
                <a:cs typeface="经典粗黑简" pitchFamily="49" charset="-122"/>
              </a:rPr>
              <a:t>树表的查找</a:t>
            </a:r>
          </a:p>
        </p:txBody>
      </p:sp>
      <p:sp>
        <p:nvSpPr>
          <p:cNvPr id="3" name="矩形 2">
            <a:extLst>
              <a:ext uri="{FF2B5EF4-FFF2-40B4-BE49-F238E27FC236}">
                <a16:creationId xmlns:a16="http://schemas.microsoft.com/office/drawing/2014/main" id="{7E0D9C9B-4CB2-A815-2374-91CA11EA9AFE}"/>
              </a:ext>
            </a:extLst>
          </p:cNvPr>
          <p:cNvSpPr/>
          <p:nvPr/>
        </p:nvSpPr>
        <p:spPr>
          <a:xfrm>
            <a:off x="255372" y="1152249"/>
            <a:ext cx="26002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9.3.3 </a:t>
            </a:r>
            <a:r>
              <a:rPr lang="zh-CN" altLang="en-US" sz="2800" b="1" dirty="0">
                <a:solidFill>
                  <a:schemeClr val="bg1"/>
                </a:solidFill>
                <a:latin typeface="经典粗黑简" pitchFamily="49" charset="-122"/>
                <a:ea typeface="经典粗黑简" pitchFamily="49" charset="-122"/>
                <a:cs typeface="经典粗黑简" pitchFamily="49" charset="-122"/>
              </a:rPr>
              <a:t>红黑树</a:t>
            </a:r>
          </a:p>
        </p:txBody>
      </p:sp>
      <p:cxnSp>
        <p:nvCxnSpPr>
          <p:cNvPr id="4" name="直接连接符 3">
            <a:extLst>
              <a:ext uri="{FF2B5EF4-FFF2-40B4-BE49-F238E27FC236}">
                <a16:creationId xmlns:a16="http://schemas.microsoft.com/office/drawing/2014/main" id="{F3AB52E9-7AB6-F156-D020-A18D2FACACE8}"/>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A9D4F9FC-EF9E-0070-984C-295CB85AE831}"/>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、什么是红黑树</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2E5D0-A6DF-AC32-3A8C-4B3E5FF08B9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8CD3D56-56F8-B578-9F45-2DA8007B6DD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CC3F7D74-5166-E7D4-95AC-26DC289FEE3D}"/>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06157732-C202-7ABD-A5C2-2BE8A73BE56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26B76918-DA21-3156-4882-BBD9D5B8EB1A}"/>
              </a:ext>
            </a:extLst>
          </p:cNvPr>
          <p:cNvSpPr txBox="1">
            <a:spLocks noChangeArrowheads="1"/>
          </p:cNvSpPr>
          <p:nvPr/>
        </p:nvSpPr>
        <p:spPr bwMode="auto">
          <a:xfrm>
            <a:off x="1135497" y="1785427"/>
            <a:ext cx="3808376" cy="497957"/>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、哈希表适合情况</a:t>
            </a:r>
          </a:p>
        </p:txBody>
      </p:sp>
      <p:sp>
        <p:nvSpPr>
          <p:cNvPr id="5" name="Oval 4">
            <a:extLst>
              <a:ext uri="{FF2B5EF4-FFF2-40B4-BE49-F238E27FC236}">
                <a16:creationId xmlns:a16="http://schemas.microsoft.com/office/drawing/2014/main" id="{A99ADC63-B6C6-968E-E140-E826D233C6B0}"/>
              </a:ext>
            </a:extLst>
          </p:cNvPr>
          <p:cNvSpPr>
            <a:spLocks noChangeArrowheads="1"/>
          </p:cNvSpPr>
          <p:nvPr/>
        </p:nvSpPr>
        <p:spPr bwMode="auto">
          <a:xfrm>
            <a:off x="2640162" y="2794568"/>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6" name="Oval 5">
            <a:extLst>
              <a:ext uri="{FF2B5EF4-FFF2-40B4-BE49-F238E27FC236}">
                <a16:creationId xmlns:a16="http://schemas.microsoft.com/office/drawing/2014/main" id="{1E2FD45A-0F28-BEB1-A9A3-E060C5E938B7}"/>
              </a:ext>
            </a:extLst>
          </p:cNvPr>
          <p:cNvSpPr>
            <a:spLocks noChangeArrowheads="1"/>
          </p:cNvSpPr>
          <p:nvPr/>
        </p:nvSpPr>
        <p:spPr bwMode="auto">
          <a:xfrm>
            <a:off x="2856062" y="3010468"/>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8" name="Oval 6">
            <a:extLst>
              <a:ext uri="{FF2B5EF4-FFF2-40B4-BE49-F238E27FC236}">
                <a16:creationId xmlns:a16="http://schemas.microsoft.com/office/drawing/2014/main" id="{30C0ECBE-6285-3729-27C0-421E1EB00EA5}"/>
              </a:ext>
            </a:extLst>
          </p:cNvPr>
          <p:cNvSpPr>
            <a:spLocks noChangeArrowheads="1"/>
          </p:cNvSpPr>
          <p:nvPr/>
        </p:nvSpPr>
        <p:spPr bwMode="auto">
          <a:xfrm>
            <a:off x="3071962" y="3226368"/>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9" name="Oval 7">
            <a:extLst>
              <a:ext uri="{FF2B5EF4-FFF2-40B4-BE49-F238E27FC236}">
                <a16:creationId xmlns:a16="http://schemas.microsoft.com/office/drawing/2014/main" id="{DC0A17C4-14E6-7E0A-924E-CB44F1945856}"/>
              </a:ext>
            </a:extLst>
          </p:cNvPr>
          <p:cNvSpPr>
            <a:spLocks noChangeArrowheads="1"/>
          </p:cNvSpPr>
          <p:nvPr/>
        </p:nvSpPr>
        <p:spPr bwMode="auto">
          <a:xfrm>
            <a:off x="3359299" y="2721543"/>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0" name="Oval 8">
            <a:extLst>
              <a:ext uri="{FF2B5EF4-FFF2-40B4-BE49-F238E27FC236}">
                <a16:creationId xmlns:a16="http://schemas.microsoft.com/office/drawing/2014/main" id="{B85C43F2-74A0-743F-DF3D-4EF95D3C0F4E}"/>
              </a:ext>
            </a:extLst>
          </p:cNvPr>
          <p:cNvSpPr>
            <a:spLocks noChangeArrowheads="1"/>
          </p:cNvSpPr>
          <p:nvPr/>
        </p:nvSpPr>
        <p:spPr bwMode="auto">
          <a:xfrm>
            <a:off x="2640162" y="3586731"/>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1" name="Oval 9">
            <a:extLst>
              <a:ext uri="{FF2B5EF4-FFF2-40B4-BE49-F238E27FC236}">
                <a16:creationId xmlns:a16="http://schemas.microsoft.com/office/drawing/2014/main" id="{9239AB9A-6A92-6874-8529-4D85C088580D}"/>
              </a:ext>
            </a:extLst>
          </p:cNvPr>
          <p:cNvSpPr>
            <a:spLocks noChangeArrowheads="1"/>
          </p:cNvSpPr>
          <p:nvPr/>
        </p:nvSpPr>
        <p:spPr bwMode="auto">
          <a:xfrm>
            <a:off x="3432324" y="3513706"/>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2" name="Oval 10">
            <a:extLst>
              <a:ext uri="{FF2B5EF4-FFF2-40B4-BE49-F238E27FC236}">
                <a16:creationId xmlns:a16="http://schemas.microsoft.com/office/drawing/2014/main" id="{7DD28F37-7F4E-5ACC-AED3-67A485167C38}"/>
              </a:ext>
            </a:extLst>
          </p:cNvPr>
          <p:cNvSpPr>
            <a:spLocks noChangeArrowheads="1"/>
          </p:cNvSpPr>
          <p:nvPr/>
        </p:nvSpPr>
        <p:spPr bwMode="auto">
          <a:xfrm>
            <a:off x="3792687" y="3154931"/>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3" name="Oval 11">
            <a:extLst>
              <a:ext uri="{FF2B5EF4-FFF2-40B4-BE49-F238E27FC236}">
                <a16:creationId xmlns:a16="http://schemas.microsoft.com/office/drawing/2014/main" id="{E1B70AD1-120D-B6BC-FF55-028B8E5B0F44}"/>
              </a:ext>
            </a:extLst>
          </p:cNvPr>
          <p:cNvSpPr>
            <a:spLocks noChangeArrowheads="1"/>
          </p:cNvSpPr>
          <p:nvPr/>
        </p:nvSpPr>
        <p:spPr bwMode="auto">
          <a:xfrm>
            <a:off x="3287862" y="3947093"/>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4" name="Oval 12">
            <a:extLst>
              <a:ext uri="{FF2B5EF4-FFF2-40B4-BE49-F238E27FC236}">
                <a16:creationId xmlns:a16="http://schemas.microsoft.com/office/drawing/2014/main" id="{1ED9DBE5-413A-3EA2-0C25-B1FF060DF505}"/>
              </a:ext>
            </a:extLst>
          </p:cNvPr>
          <p:cNvSpPr>
            <a:spLocks noChangeArrowheads="1"/>
          </p:cNvSpPr>
          <p:nvPr/>
        </p:nvSpPr>
        <p:spPr bwMode="auto">
          <a:xfrm>
            <a:off x="3864124" y="2794568"/>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spAutoFit/>
          </a:bodyPr>
          <a:lstStyle/>
          <a:p>
            <a:endParaRPr lang="zh-CN" altLang="en-US"/>
          </a:p>
        </p:txBody>
      </p:sp>
      <p:sp>
        <p:nvSpPr>
          <p:cNvPr id="15" name="AutoShape 13">
            <a:extLst>
              <a:ext uri="{FF2B5EF4-FFF2-40B4-BE49-F238E27FC236}">
                <a16:creationId xmlns:a16="http://schemas.microsoft.com/office/drawing/2014/main" id="{4F42D8EE-9ACE-E58C-820C-A8D5D90DA3AD}"/>
              </a:ext>
            </a:extLst>
          </p:cNvPr>
          <p:cNvSpPr>
            <a:spLocks noChangeArrowheads="1"/>
          </p:cNvSpPr>
          <p:nvPr/>
        </p:nvSpPr>
        <p:spPr bwMode="auto">
          <a:xfrm>
            <a:off x="4511824" y="3513706"/>
            <a:ext cx="2160588" cy="360362"/>
          </a:xfrm>
          <a:prstGeom prst="rightArrow">
            <a:avLst>
              <a:gd name="adj1" fmla="val 50000"/>
              <a:gd name="adj2" fmla="val 149890"/>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spAutoFit/>
          </a:bodyPr>
          <a:lstStyle/>
          <a:p>
            <a:endParaRPr lang="zh-CN" altLang="en-US"/>
          </a:p>
        </p:txBody>
      </p:sp>
      <p:sp>
        <p:nvSpPr>
          <p:cNvPr id="16" name="Text Box 14">
            <a:extLst>
              <a:ext uri="{FF2B5EF4-FFF2-40B4-BE49-F238E27FC236}">
                <a16:creationId xmlns:a16="http://schemas.microsoft.com/office/drawing/2014/main" id="{B0939488-35B1-A75F-EE4B-8A6128526B40}"/>
              </a:ext>
            </a:extLst>
          </p:cNvPr>
          <p:cNvSpPr txBox="1">
            <a:spLocks noChangeArrowheads="1"/>
          </p:cNvSpPr>
          <p:nvPr/>
        </p:nvSpPr>
        <p:spPr bwMode="auto">
          <a:xfrm>
            <a:off x="4511824" y="3059668"/>
            <a:ext cx="2016125" cy="369332"/>
          </a:xfrm>
          <a:prstGeom prst="rect">
            <a:avLst/>
          </a:prstGeom>
          <a:noFill/>
          <a:ln w="9525">
            <a:noFill/>
            <a:miter lim="800000"/>
            <a:headEnd/>
            <a:tailEnd/>
          </a:ln>
          <a:effectLst/>
        </p:spPr>
        <p:txBody>
          <a:bodyPr>
            <a:spAutoFit/>
          </a:bodyPr>
          <a:lstStyle/>
          <a:p>
            <a:pPr algn="l">
              <a:spcBef>
                <a:spcPct val="50000"/>
              </a:spcBef>
            </a:pPr>
            <a:r>
              <a:rPr lang="zh-CN" altLang="en-US" sz="1800" dirty="0">
                <a:latin typeface="Consolas" pitchFamily="49" charset="0"/>
                <a:ea typeface="楷体" pitchFamily="49" charset="-122"/>
                <a:cs typeface="Consolas" pitchFamily="49" charset="0"/>
              </a:rPr>
              <a:t>某种函数关系</a:t>
            </a:r>
          </a:p>
        </p:txBody>
      </p:sp>
      <p:sp>
        <p:nvSpPr>
          <p:cNvPr id="17" name="AutoShape 15">
            <a:extLst>
              <a:ext uri="{FF2B5EF4-FFF2-40B4-BE49-F238E27FC236}">
                <a16:creationId xmlns:a16="http://schemas.microsoft.com/office/drawing/2014/main" id="{BF24FA6F-FFA7-F990-D6CB-FE946D4F300B}"/>
              </a:ext>
            </a:extLst>
          </p:cNvPr>
          <p:cNvSpPr>
            <a:spLocks noChangeAspect="1" noChangeArrowheads="1"/>
          </p:cNvSpPr>
          <p:nvPr/>
        </p:nvSpPr>
        <p:spPr bwMode="auto">
          <a:xfrm>
            <a:off x="6997848" y="3010468"/>
            <a:ext cx="1653415" cy="1220788"/>
          </a:xfrm>
          <a:prstGeom prst="cube">
            <a:avLst>
              <a:gd name="adj" fmla="val 25000"/>
            </a:avLst>
          </a:prstGeom>
          <a:ln>
            <a:headEnd/>
            <a:tailEnd/>
          </a:ln>
        </p:spPr>
        <p:style>
          <a:lnRef idx="1">
            <a:schemeClr val="accent1"/>
          </a:lnRef>
          <a:fillRef idx="3">
            <a:schemeClr val="accent1"/>
          </a:fillRef>
          <a:effectRef idx="2">
            <a:schemeClr val="accent1"/>
          </a:effectRef>
          <a:fontRef idx="minor">
            <a:schemeClr val="lt1"/>
          </a:fontRef>
        </p:style>
        <p:txBody>
          <a:bodyPr anchor="ctr"/>
          <a:lstStyle/>
          <a:p>
            <a:r>
              <a:rPr lang="zh-CN" altLang="en-US" sz="2000" dirty="0">
                <a:latin typeface="楷体" pitchFamily="49" charset="-122"/>
                <a:ea typeface="楷体" pitchFamily="49" charset="-122"/>
              </a:rPr>
              <a:t>存储地址</a:t>
            </a:r>
          </a:p>
        </p:txBody>
      </p:sp>
      <p:sp>
        <p:nvSpPr>
          <p:cNvPr id="18" name="Text Box 16">
            <a:extLst>
              <a:ext uri="{FF2B5EF4-FFF2-40B4-BE49-F238E27FC236}">
                <a16:creationId xmlns:a16="http://schemas.microsoft.com/office/drawing/2014/main" id="{4D1018AE-AEBC-AE59-9961-E9F668A0B458}"/>
              </a:ext>
            </a:extLst>
          </p:cNvPr>
          <p:cNvSpPr txBox="1">
            <a:spLocks noChangeArrowheads="1"/>
          </p:cNvSpPr>
          <p:nvPr/>
        </p:nvSpPr>
        <p:spPr bwMode="auto">
          <a:xfrm>
            <a:off x="4308613" y="3956609"/>
            <a:ext cx="2214578" cy="369332"/>
          </a:xfrm>
          <a:prstGeom prst="rect">
            <a:avLst/>
          </a:prstGeom>
          <a:noFill/>
          <a:ln w="9525">
            <a:noFill/>
            <a:miter lim="800000"/>
            <a:headEnd/>
            <a:tailEnd/>
          </a:ln>
          <a:effectLst/>
        </p:spPr>
        <p:txBody>
          <a:bodyPr wrap="square">
            <a:spAutoFit/>
          </a:bodyPr>
          <a:lstStyle/>
          <a:p>
            <a:pPr algn="l">
              <a:spcBef>
                <a:spcPct val="50000"/>
              </a:spcBef>
            </a:pPr>
            <a:r>
              <a:rPr lang="zh-CN" altLang="en-US" sz="1800" dirty="0">
                <a:latin typeface="Consolas" pitchFamily="49" charset="0"/>
                <a:ea typeface="楷体" pitchFamily="49" charset="-122"/>
                <a:cs typeface="Consolas" pitchFamily="49" charset="0"/>
              </a:rPr>
              <a:t>存储地址</a:t>
            </a:r>
            <a:r>
              <a:rPr lang="en-US" altLang="zh-CN" sz="1800" dirty="0">
                <a:latin typeface="Consolas" pitchFamily="49" charset="0"/>
                <a:ea typeface="楷体" pitchFamily="49" charset="-122"/>
                <a:cs typeface="Consolas" pitchFamily="49" charset="0"/>
              </a:rPr>
              <a:t>=</a:t>
            </a:r>
            <a:r>
              <a:rPr lang="en-US" altLang="zh-CN" sz="1800" i="1" dirty="0">
                <a:latin typeface="Consolas" pitchFamily="49" charset="0"/>
                <a:ea typeface="楷体" pitchFamily="49" charset="-122"/>
                <a:cs typeface="Consolas" pitchFamily="49" charset="0"/>
              </a:rPr>
              <a:t>h</a:t>
            </a:r>
            <a:r>
              <a:rPr lang="en-US" altLang="zh-CN" sz="1800" dirty="0">
                <a:latin typeface="Consolas" pitchFamily="49" charset="0"/>
                <a:ea typeface="楷体" pitchFamily="49" charset="-122"/>
                <a:cs typeface="Consolas" pitchFamily="49" charset="0"/>
              </a:rPr>
              <a:t>(key)</a:t>
            </a:r>
          </a:p>
        </p:txBody>
      </p:sp>
      <p:sp>
        <p:nvSpPr>
          <p:cNvPr id="20" name="TextBox 19">
            <a:extLst>
              <a:ext uri="{FF2B5EF4-FFF2-40B4-BE49-F238E27FC236}">
                <a16:creationId xmlns:a16="http://schemas.microsoft.com/office/drawing/2014/main" id="{26D30529-8CF0-C297-4B8D-2457004E3F81}"/>
              </a:ext>
            </a:extLst>
          </p:cNvPr>
          <p:cNvSpPr txBox="1"/>
          <p:nvPr/>
        </p:nvSpPr>
        <p:spPr>
          <a:xfrm>
            <a:off x="1568592" y="5007559"/>
            <a:ext cx="8286808" cy="105601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80000" tIns="180000" rIns="216000" bIns="180000" rtlCol="0">
            <a:spAutoFit/>
          </a:bodyPr>
          <a:lstStyle/>
          <a:p>
            <a:pPr algn="l">
              <a:lnSpc>
                <a:spcPts val="2700"/>
              </a:lnSpc>
            </a:pPr>
            <a:r>
              <a:rPr lang="zh-CN" altLang="en-US" sz="2000">
                <a:solidFill>
                  <a:srgbClr val="FF0000"/>
                </a:solidFill>
                <a:latin typeface="Consolas" pitchFamily="49" charset="0"/>
                <a:ea typeface="方正启体简体" pitchFamily="65" charset="-122"/>
                <a:cs typeface="Consolas" pitchFamily="49" charset="0"/>
              </a:rPr>
              <a:t>   </a:t>
            </a:r>
            <a:r>
              <a:rPr lang="zh-CN" altLang="en-US" sz="2000">
                <a:solidFill>
                  <a:srgbClr val="FF0000"/>
                </a:solidFill>
                <a:latin typeface="Consolas" pitchFamily="49" charset="0"/>
                <a:ea typeface="华文中宋" pitchFamily="2" charset="-122"/>
                <a:cs typeface="Consolas" pitchFamily="49" charset="0"/>
              </a:rPr>
              <a:t>注意：</a:t>
            </a:r>
            <a:r>
              <a:rPr kumimoji="1" lang="zh-CN" altLang="en-US" sz="2000">
                <a:solidFill>
                  <a:srgbClr val="3333FF"/>
                </a:solidFill>
                <a:latin typeface="Consolas" pitchFamily="49" charset="0"/>
                <a:ea typeface="华文中宋" pitchFamily="2" charset="-122"/>
                <a:cs typeface="Consolas" pitchFamily="49" charset="0"/>
              </a:rPr>
              <a:t>哈希表是一种存储结构，它并非适合任何情况，主要适合记录的关键字与存储地址存在</a:t>
            </a:r>
            <a:r>
              <a:rPr lang="zh-CN" altLang="en-US" sz="2000">
                <a:solidFill>
                  <a:srgbClr val="3333FF"/>
                </a:solidFill>
                <a:latin typeface="Consolas" pitchFamily="49" charset="0"/>
                <a:ea typeface="华文中宋" pitchFamily="2" charset="-122"/>
                <a:cs typeface="Consolas" pitchFamily="49" charset="0"/>
              </a:rPr>
              <a:t>某种函数关系的数据</a:t>
            </a:r>
            <a:r>
              <a:rPr kumimoji="1" lang="zh-CN" altLang="en-US" sz="2000">
                <a:solidFill>
                  <a:srgbClr val="3333FF"/>
                </a:solidFill>
                <a:latin typeface="Consolas" pitchFamily="49" charset="0"/>
                <a:ea typeface="华文中宋" pitchFamily="2" charset="-122"/>
                <a:cs typeface="Consolas" pitchFamily="49" charset="0"/>
              </a:rPr>
              <a:t>。</a:t>
            </a:r>
            <a:endParaRPr lang="zh-CN" altLang="en-US" sz="2000">
              <a:solidFill>
                <a:srgbClr val="3333FF"/>
              </a:solidFill>
              <a:latin typeface="Consolas" pitchFamily="49" charset="0"/>
              <a:ea typeface="华文中宋" pitchFamily="2" charset="-122"/>
              <a:cs typeface="Consolas" pitchFamily="49" charset="0"/>
            </a:endParaRPr>
          </a:p>
        </p:txBody>
      </p:sp>
    </p:spTree>
    <p:extLst>
      <p:ext uri="{BB962C8B-B14F-4D97-AF65-F5344CB8AC3E}">
        <p14:creationId xmlns:p14="http://schemas.microsoft.com/office/powerpoint/2010/main" val="37007776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0AB8-324C-DFE9-8499-0A0FC67CF54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0C9F60C-9668-EABD-74FD-EE294EAAA5A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8432527E-B988-8E77-5299-A99DECEF7ECB}"/>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8BF47216-9F7A-AA11-4EDA-631F1AA33D14}"/>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9" name="Text Box 4">
            <a:extLst>
              <a:ext uri="{FF2B5EF4-FFF2-40B4-BE49-F238E27FC236}">
                <a16:creationId xmlns:a16="http://schemas.microsoft.com/office/drawing/2014/main" id="{B40C9CDD-5302-D624-9529-68A5D919CE14}"/>
              </a:ext>
            </a:extLst>
          </p:cNvPr>
          <p:cNvSpPr txBox="1">
            <a:spLocks noChangeArrowheads="1"/>
          </p:cNvSpPr>
          <p:nvPr/>
        </p:nvSpPr>
        <p:spPr bwMode="auto">
          <a:xfrm>
            <a:off x="5000614" y="1165930"/>
            <a:ext cx="1943101" cy="369332"/>
          </a:xfrm>
          <a:prstGeom prst="rect">
            <a:avLst/>
          </a:prstGeom>
          <a:noFill/>
          <a:ln w="9525">
            <a:noFill/>
            <a:miter lim="800000"/>
            <a:headEnd/>
            <a:tailEnd/>
          </a:ln>
          <a:effectLst/>
        </p:spPr>
        <p:txBody>
          <a:bodyPr wrap="square">
            <a:spAutoFit/>
          </a:bodyPr>
          <a:lstStyle/>
          <a:p>
            <a:pPr algn="l">
              <a:spcBef>
                <a:spcPct val="50000"/>
              </a:spcBef>
            </a:pPr>
            <a:r>
              <a:rPr lang="zh-CN" altLang="en-US" sz="1800" dirty="0">
                <a:latin typeface="Consolas" pitchFamily="49" charset="0"/>
                <a:ea typeface="楷体" pitchFamily="49" charset="-122"/>
                <a:cs typeface="Consolas" pitchFamily="49" charset="0"/>
              </a:rPr>
              <a:t>学号　 姓名</a:t>
            </a:r>
          </a:p>
        </p:txBody>
      </p:sp>
      <p:sp>
        <p:nvSpPr>
          <p:cNvPr id="21" name="Text Box 5">
            <a:extLst>
              <a:ext uri="{FF2B5EF4-FFF2-40B4-BE49-F238E27FC236}">
                <a16:creationId xmlns:a16="http://schemas.microsoft.com/office/drawing/2014/main" id="{760F314E-85F7-2FCA-859A-FE9A45F7ECDE}"/>
              </a:ext>
            </a:extLst>
          </p:cNvPr>
          <p:cNvSpPr txBox="1">
            <a:spLocks noChangeArrowheads="1"/>
          </p:cNvSpPr>
          <p:nvPr/>
        </p:nvSpPr>
        <p:spPr bwMode="auto">
          <a:xfrm>
            <a:off x="4760909" y="1525997"/>
            <a:ext cx="2374900" cy="14465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lgn="l">
              <a:spcBef>
                <a:spcPct val="50000"/>
              </a:spcBef>
            </a:pPr>
            <a:r>
              <a:rPr lang="en-US" altLang="zh-CN" sz="1600" dirty="0">
                <a:solidFill>
                  <a:srgbClr val="3333FF"/>
                </a:solidFill>
                <a:latin typeface="Consolas" pitchFamily="49" charset="0"/>
                <a:ea typeface="楷体" pitchFamily="49" charset="-122"/>
                <a:cs typeface="Consolas" pitchFamily="49" charset="0"/>
              </a:rPr>
              <a:t>201001001</a:t>
            </a:r>
            <a:r>
              <a:rPr lang="zh-CN" altLang="en-US" sz="1600" dirty="0">
                <a:solidFill>
                  <a:srgbClr val="3333FF"/>
                </a:solidFill>
                <a:latin typeface="Consolas" pitchFamily="49" charset="0"/>
                <a:ea typeface="楷体" pitchFamily="49" charset="-122"/>
                <a:cs typeface="Consolas" pitchFamily="49" charset="0"/>
              </a:rPr>
              <a:t>　张三</a:t>
            </a:r>
          </a:p>
          <a:p>
            <a:pPr algn="l">
              <a:spcBef>
                <a:spcPct val="50000"/>
              </a:spcBef>
            </a:pPr>
            <a:r>
              <a:rPr lang="en-US" altLang="zh-CN" sz="1600" dirty="0">
                <a:solidFill>
                  <a:srgbClr val="3333FF"/>
                </a:solidFill>
                <a:latin typeface="Consolas" pitchFamily="49" charset="0"/>
                <a:ea typeface="楷体" pitchFamily="49" charset="-122"/>
                <a:cs typeface="Consolas" pitchFamily="49" charset="0"/>
              </a:rPr>
              <a:t>201001003</a:t>
            </a:r>
            <a:r>
              <a:rPr lang="zh-CN" altLang="en-US" sz="1600" dirty="0">
                <a:solidFill>
                  <a:srgbClr val="3333FF"/>
                </a:solidFill>
                <a:latin typeface="Consolas" pitchFamily="49" charset="0"/>
                <a:ea typeface="楷体" pitchFamily="49" charset="-122"/>
                <a:cs typeface="Consolas" pitchFamily="49" charset="0"/>
              </a:rPr>
              <a:t>　李四</a:t>
            </a:r>
          </a:p>
          <a:p>
            <a:pPr algn="l">
              <a:spcBef>
                <a:spcPct val="50000"/>
              </a:spcBef>
            </a:pPr>
            <a:r>
              <a:rPr lang="en-US" altLang="zh-CN" sz="1600" dirty="0">
                <a:solidFill>
                  <a:srgbClr val="3333FF"/>
                </a:solidFill>
                <a:latin typeface="宋体" pitchFamily="2" charset="-122"/>
                <a:ea typeface="宋体" pitchFamily="2" charset="-122"/>
                <a:cs typeface="Consolas" pitchFamily="49" charset="0"/>
              </a:rPr>
              <a:t>…</a:t>
            </a:r>
          </a:p>
          <a:p>
            <a:pPr algn="l">
              <a:spcBef>
                <a:spcPct val="50000"/>
              </a:spcBef>
            </a:pPr>
            <a:r>
              <a:rPr lang="en-US" altLang="zh-CN" sz="1600" dirty="0">
                <a:solidFill>
                  <a:srgbClr val="3333FF"/>
                </a:solidFill>
                <a:latin typeface="Consolas" pitchFamily="49" charset="0"/>
                <a:ea typeface="楷体" pitchFamily="49" charset="-122"/>
                <a:cs typeface="Consolas" pitchFamily="49" charset="0"/>
              </a:rPr>
              <a:t>201001025</a:t>
            </a:r>
            <a:r>
              <a:rPr lang="zh-CN" altLang="en-US" sz="1600" dirty="0">
                <a:solidFill>
                  <a:srgbClr val="3333FF"/>
                </a:solidFill>
                <a:latin typeface="Consolas" pitchFamily="49" charset="0"/>
                <a:ea typeface="楷体" pitchFamily="49" charset="-122"/>
                <a:cs typeface="Consolas" pitchFamily="49" charset="0"/>
              </a:rPr>
              <a:t>　王五</a:t>
            </a:r>
          </a:p>
        </p:txBody>
      </p:sp>
      <p:sp>
        <p:nvSpPr>
          <p:cNvPr id="22" name="Text Box 50">
            <a:extLst>
              <a:ext uri="{FF2B5EF4-FFF2-40B4-BE49-F238E27FC236}">
                <a16:creationId xmlns:a16="http://schemas.microsoft.com/office/drawing/2014/main" id="{861A2FE8-9D54-AC92-F9C0-A76359F19CBD}"/>
              </a:ext>
            </a:extLst>
          </p:cNvPr>
          <p:cNvSpPr txBox="1">
            <a:spLocks noChangeArrowheads="1"/>
          </p:cNvSpPr>
          <p:nvPr/>
        </p:nvSpPr>
        <p:spPr bwMode="auto">
          <a:xfrm>
            <a:off x="7431092" y="2107336"/>
            <a:ext cx="2519363"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楷体" pitchFamily="49" charset="-122"/>
                <a:cs typeface="Consolas" pitchFamily="49" charset="0"/>
              </a:rPr>
              <a:t>记录数</a:t>
            </a:r>
            <a:r>
              <a:rPr lang="en-US" altLang="zh-CN" sz="1800" i="1">
                <a:latin typeface="Consolas" pitchFamily="49" charset="0"/>
                <a:cs typeface="Consolas" pitchFamily="49" charset="0"/>
              </a:rPr>
              <a:t>n</a:t>
            </a:r>
            <a:r>
              <a:rPr lang="en-US" altLang="zh-CN" sz="1800">
                <a:latin typeface="Consolas" pitchFamily="49" charset="0"/>
                <a:cs typeface="Consolas" pitchFamily="49" charset="0"/>
              </a:rPr>
              <a:t>=20</a:t>
            </a:r>
            <a:r>
              <a:rPr lang="zh-CN" altLang="en-US" sz="1800">
                <a:latin typeface="Consolas" pitchFamily="49" charset="0"/>
                <a:cs typeface="Consolas" pitchFamily="49" charset="0"/>
              </a:rPr>
              <a:t>，</a:t>
            </a:r>
            <a:r>
              <a:rPr lang="zh-CN" altLang="en-US" sz="1800">
                <a:latin typeface="Consolas" pitchFamily="49" charset="0"/>
                <a:ea typeface="楷体" pitchFamily="49" charset="-122"/>
                <a:cs typeface="Consolas" pitchFamily="49" charset="0"/>
              </a:rPr>
              <a:t>无序</a:t>
            </a:r>
            <a:endParaRPr lang="en-US" altLang="zh-CN" sz="1800">
              <a:latin typeface="Consolas" pitchFamily="49" charset="0"/>
              <a:ea typeface="楷体" pitchFamily="49" charset="-122"/>
              <a:cs typeface="Consolas" pitchFamily="49" charset="0"/>
            </a:endParaRPr>
          </a:p>
        </p:txBody>
      </p:sp>
      <p:sp>
        <p:nvSpPr>
          <p:cNvPr id="23" name="TextBox 7">
            <a:extLst>
              <a:ext uri="{FF2B5EF4-FFF2-40B4-BE49-F238E27FC236}">
                <a16:creationId xmlns:a16="http://schemas.microsoft.com/office/drawing/2014/main" id="{591A0128-9E5E-6B2C-4A29-EE04A01A6E22}"/>
              </a:ext>
            </a:extLst>
          </p:cNvPr>
          <p:cNvSpPr txBox="1"/>
          <p:nvPr/>
        </p:nvSpPr>
        <p:spPr>
          <a:xfrm>
            <a:off x="1169975" y="1850459"/>
            <a:ext cx="1071570"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示例</a:t>
            </a:r>
          </a:p>
        </p:txBody>
      </p:sp>
      <p:sp>
        <p:nvSpPr>
          <p:cNvPr id="24" name="TextBox 29">
            <a:extLst>
              <a:ext uri="{FF2B5EF4-FFF2-40B4-BE49-F238E27FC236}">
                <a16:creationId xmlns:a16="http://schemas.microsoft.com/office/drawing/2014/main" id="{9D315CCF-4119-B75D-AA59-7689E594BD70}"/>
              </a:ext>
            </a:extLst>
          </p:cNvPr>
          <p:cNvSpPr txBox="1"/>
          <p:nvPr/>
        </p:nvSpPr>
        <p:spPr>
          <a:xfrm>
            <a:off x="3272752" y="5319831"/>
            <a:ext cx="4429156" cy="400110"/>
          </a:xfrm>
          <a:prstGeom prst="rect">
            <a:avLst/>
          </a:prstGeom>
          <a:noFill/>
        </p:spPr>
        <p:txBody>
          <a:bodyPr wrap="square" rtlCol="0">
            <a:spAutoFit/>
          </a:bodyPr>
          <a:lstStyle/>
          <a:p>
            <a:pPr algn="l"/>
            <a:r>
              <a:rPr lang="zh-CN" altLang="en-US" sz="2000" dirty="0">
                <a:latin typeface="Consolas" pitchFamily="49" charset="0"/>
                <a:ea typeface="楷体" pitchFamily="49" charset="-122"/>
                <a:cs typeface="Consolas" pitchFamily="49" charset="0"/>
              </a:rPr>
              <a:t>查找学号为</a:t>
            </a:r>
            <a:r>
              <a:rPr lang="en-US" altLang="zh-CN" sz="2000" dirty="0">
                <a:solidFill>
                  <a:srgbClr val="C00000"/>
                </a:solidFill>
                <a:latin typeface="Consolas" pitchFamily="49" charset="0"/>
                <a:ea typeface="楷体" pitchFamily="49" charset="-122"/>
                <a:cs typeface="Consolas" pitchFamily="49" charset="0"/>
              </a:rPr>
              <a:t>201001025</a:t>
            </a:r>
            <a:r>
              <a:rPr lang="zh-CN" altLang="en-US" sz="2000" dirty="0">
                <a:latin typeface="Consolas" pitchFamily="49" charset="0"/>
                <a:ea typeface="楷体" pitchFamily="49" charset="-122"/>
                <a:cs typeface="Consolas" pitchFamily="49" charset="0"/>
              </a:rPr>
              <a:t>的学生姓名：</a:t>
            </a:r>
            <a:endParaRPr lang="en-US" altLang="zh-CN" sz="2000" dirty="0">
              <a:latin typeface="Consolas" pitchFamily="49" charset="0"/>
              <a:ea typeface="楷体" pitchFamily="49" charset="-122"/>
              <a:cs typeface="Consolas" pitchFamily="49" charset="0"/>
            </a:endParaRPr>
          </a:p>
        </p:txBody>
      </p:sp>
      <p:sp>
        <p:nvSpPr>
          <p:cNvPr id="25" name="TextBox 30">
            <a:extLst>
              <a:ext uri="{FF2B5EF4-FFF2-40B4-BE49-F238E27FC236}">
                <a16:creationId xmlns:a16="http://schemas.microsoft.com/office/drawing/2014/main" id="{580501B4-3CED-0C1C-BDA4-81199DD3ECF1}"/>
              </a:ext>
            </a:extLst>
          </p:cNvPr>
          <p:cNvSpPr txBox="1"/>
          <p:nvPr/>
        </p:nvSpPr>
        <p:spPr>
          <a:xfrm>
            <a:off x="3272752" y="5744969"/>
            <a:ext cx="6715172"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buBlip>
                <a:blip r:embed="rId2"/>
              </a:buBlip>
            </a:pPr>
            <a:r>
              <a:rPr lang="zh-CN" altLang="en-US" sz="2000" dirty="0">
                <a:latin typeface="Consolas" pitchFamily="49" charset="0"/>
                <a:ea typeface="仿宋" pitchFamily="49" charset="-122"/>
                <a:cs typeface="Consolas" pitchFamily="49" charset="0"/>
              </a:rPr>
              <a:t>从头到尾</a:t>
            </a:r>
            <a:r>
              <a:rPr lang="zh-CN" altLang="en-US" sz="2000">
                <a:latin typeface="Consolas" pitchFamily="49" charset="0"/>
                <a:ea typeface="仿宋" pitchFamily="49" charset="-122"/>
                <a:cs typeface="Consolas" pitchFamily="49" charset="0"/>
              </a:rPr>
              <a:t>顺序查找，时间</a:t>
            </a:r>
            <a:r>
              <a:rPr lang="zh-CN" altLang="en-US" sz="2000" dirty="0">
                <a:latin typeface="Consolas" pitchFamily="49" charset="0"/>
                <a:ea typeface="仿宋" pitchFamily="49" charset="-122"/>
                <a:cs typeface="Consolas" pitchFamily="49" charset="0"/>
              </a:rPr>
              <a:t>复杂度为</a:t>
            </a:r>
            <a:r>
              <a:rPr lang="en-US" altLang="zh-CN" sz="2000" dirty="0">
                <a:latin typeface="Consolas" pitchFamily="49" charset="0"/>
                <a:ea typeface="仿宋" pitchFamily="49" charset="-122"/>
                <a:cs typeface="Consolas" pitchFamily="49" charset="0"/>
              </a:rPr>
              <a:t>O(</a:t>
            </a:r>
            <a:r>
              <a:rPr lang="en-US" altLang="zh-CN" sz="2000" i="1" dirty="0">
                <a:latin typeface="Consolas" pitchFamily="49" charset="0"/>
                <a:ea typeface="仿宋" pitchFamily="49" charset="-122"/>
                <a:cs typeface="Consolas" pitchFamily="49" charset="0"/>
              </a:rPr>
              <a:t>n</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a:t>
            </a:r>
            <a:endParaRPr lang="en-US" altLang="zh-CN" sz="2000" dirty="0">
              <a:latin typeface="Consolas" pitchFamily="49" charset="0"/>
              <a:ea typeface="仿宋" pitchFamily="49" charset="-122"/>
              <a:cs typeface="Consolas" pitchFamily="49" charset="0"/>
            </a:endParaRPr>
          </a:p>
          <a:p>
            <a:pPr marL="457200" indent="-457200" algn="l">
              <a:lnSpc>
                <a:spcPts val="2800"/>
              </a:lnSpc>
              <a:buBlip>
                <a:blip r:embed="rId2"/>
              </a:buBlip>
            </a:pPr>
            <a:r>
              <a:rPr lang="zh-CN" altLang="en-US" sz="2000" dirty="0">
                <a:latin typeface="Consolas" pitchFamily="49" charset="0"/>
                <a:ea typeface="仿宋" pitchFamily="49" charset="-122"/>
                <a:cs typeface="Consolas" pitchFamily="49" charset="0"/>
              </a:rPr>
              <a:t>若学</a:t>
            </a:r>
            <a:r>
              <a:rPr lang="zh-CN" altLang="en-US" sz="2000">
                <a:latin typeface="Consolas" pitchFamily="49" charset="0"/>
                <a:ea typeface="仿宋" pitchFamily="49" charset="-122"/>
                <a:cs typeface="Consolas" pitchFamily="49" charset="0"/>
              </a:rPr>
              <a:t>号有序，二分查找，时间</a:t>
            </a:r>
            <a:r>
              <a:rPr lang="zh-CN" altLang="en-US" sz="2000" dirty="0">
                <a:latin typeface="Consolas" pitchFamily="49" charset="0"/>
                <a:ea typeface="仿宋" pitchFamily="49" charset="-122"/>
                <a:cs typeface="Consolas" pitchFamily="49" charset="0"/>
              </a:rPr>
              <a:t>复杂度为</a:t>
            </a:r>
            <a:r>
              <a:rPr lang="en-US" altLang="zh-CN" sz="2000" dirty="0">
                <a:latin typeface="Consolas" pitchFamily="49" charset="0"/>
                <a:ea typeface="仿宋" pitchFamily="49" charset="-122"/>
                <a:cs typeface="Consolas" pitchFamily="49" charset="0"/>
              </a:rPr>
              <a:t>O(</a:t>
            </a:r>
            <a:r>
              <a:rPr lang="en-US" altLang="zh-CN" sz="2000" dirty="0" err="1">
                <a:latin typeface="Consolas" pitchFamily="49" charset="0"/>
                <a:ea typeface="仿宋" pitchFamily="49" charset="-122"/>
                <a:cs typeface="Consolas" pitchFamily="49" charset="0"/>
              </a:rPr>
              <a:t>log</a:t>
            </a:r>
            <a:r>
              <a:rPr lang="en-US" altLang="zh-CN" sz="2000" baseline="-25000" dirty="0" err="1">
                <a:latin typeface="Consolas" pitchFamily="49" charset="0"/>
                <a:ea typeface="仿宋" pitchFamily="49" charset="-122"/>
                <a:cs typeface="Consolas" pitchFamily="49" charset="0"/>
              </a:rPr>
              <a:t>2</a:t>
            </a:r>
            <a:r>
              <a:rPr lang="en-US" altLang="zh-CN" sz="2000" i="1" dirty="0" err="1">
                <a:latin typeface="Consolas" pitchFamily="49" charset="0"/>
                <a:ea typeface="仿宋" pitchFamily="49" charset="-122"/>
                <a:cs typeface="Consolas" pitchFamily="49" charset="0"/>
              </a:rPr>
              <a:t>n</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a:t>
            </a:r>
          </a:p>
        </p:txBody>
      </p:sp>
      <p:grpSp>
        <p:nvGrpSpPr>
          <p:cNvPr id="26" name="组合 25">
            <a:extLst>
              <a:ext uri="{FF2B5EF4-FFF2-40B4-BE49-F238E27FC236}">
                <a16:creationId xmlns:a16="http://schemas.microsoft.com/office/drawing/2014/main" id="{89D3C772-04DF-1AD1-836D-87245ABB712B}"/>
              </a:ext>
            </a:extLst>
          </p:cNvPr>
          <p:cNvGrpSpPr/>
          <p:nvPr/>
        </p:nvGrpSpPr>
        <p:grpSpPr>
          <a:xfrm>
            <a:off x="3300377" y="3013723"/>
            <a:ext cx="7286676" cy="2207434"/>
            <a:chOff x="1643042" y="2826342"/>
            <a:chExt cx="7286676" cy="2207434"/>
          </a:xfrm>
        </p:grpSpPr>
        <p:sp>
          <p:nvSpPr>
            <p:cNvPr id="27" name="Text Box 41">
              <a:extLst>
                <a:ext uri="{FF2B5EF4-FFF2-40B4-BE49-F238E27FC236}">
                  <a16:creationId xmlns:a16="http://schemas.microsoft.com/office/drawing/2014/main" id="{19D529E0-BF2A-475F-32C5-73DD15F17918}"/>
                </a:ext>
              </a:extLst>
            </p:cNvPr>
            <p:cNvSpPr txBox="1">
              <a:spLocks noChangeArrowheads="1"/>
            </p:cNvSpPr>
            <p:nvPr/>
          </p:nvSpPr>
          <p:spPr bwMode="auto">
            <a:xfrm>
              <a:off x="4459870" y="2969218"/>
              <a:ext cx="4041220" cy="369332"/>
            </a:xfrm>
            <a:prstGeom prst="rect">
              <a:avLst/>
            </a:prstGeom>
            <a:noFill/>
            <a:ln w="9525">
              <a:noFill/>
              <a:miter lim="800000"/>
              <a:headEnd/>
              <a:tailEnd/>
            </a:ln>
            <a:effectLst/>
          </p:spPr>
          <p:txBody>
            <a:bodyPr wrap="square">
              <a:spAutoFit/>
            </a:bodyPr>
            <a:lstStyle/>
            <a:p>
              <a:pPr algn="l">
                <a:spcBef>
                  <a:spcPct val="50000"/>
                </a:spcBef>
              </a:pPr>
              <a:r>
                <a:rPr lang="zh-CN" altLang="en-US" sz="1800" dirty="0">
                  <a:latin typeface="Consolas" pitchFamily="49" charset="0"/>
                  <a:ea typeface="仿宋" pitchFamily="49" charset="-122"/>
                  <a:cs typeface="Consolas" pitchFamily="49" charset="0"/>
                </a:rPr>
                <a:t>传统存储方法</a:t>
              </a:r>
              <a:r>
                <a:rPr lang="en-US" altLang="zh-CN" sz="1800" dirty="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存放在一个数组中</a:t>
              </a:r>
              <a:endParaRPr lang="en-US" altLang="zh-CN" sz="1800" dirty="0">
                <a:latin typeface="Consolas" pitchFamily="49" charset="0"/>
                <a:ea typeface="仿宋" pitchFamily="49" charset="-122"/>
                <a:cs typeface="Consolas" pitchFamily="49" charset="0"/>
              </a:endParaRPr>
            </a:p>
          </p:txBody>
        </p:sp>
        <p:sp>
          <p:nvSpPr>
            <p:cNvPr id="28" name="AutoShape 49">
              <a:extLst>
                <a:ext uri="{FF2B5EF4-FFF2-40B4-BE49-F238E27FC236}">
                  <a16:creationId xmlns:a16="http://schemas.microsoft.com/office/drawing/2014/main" id="{F1B80822-6902-C52C-3689-D75318649080}"/>
                </a:ext>
              </a:extLst>
            </p:cNvPr>
            <p:cNvSpPr>
              <a:spLocks noChangeArrowheads="1"/>
            </p:cNvSpPr>
            <p:nvPr/>
          </p:nvSpPr>
          <p:spPr bwMode="auto">
            <a:xfrm>
              <a:off x="4079218" y="2826342"/>
              <a:ext cx="278468" cy="784969"/>
            </a:xfrm>
            <a:prstGeom prst="downArrow">
              <a:avLst>
                <a:gd name="adj1" fmla="val 50000"/>
                <a:gd name="adj2" fmla="val 87707"/>
              </a:avLst>
            </a:prstGeom>
            <a:ln>
              <a:headEnd/>
              <a:tailEnd/>
            </a:ln>
          </p:spPr>
          <p:style>
            <a:lnRef idx="1">
              <a:schemeClr val="accent6"/>
            </a:lnRef>
            <a:fillRef idx="3">
              <a:schemeClr val="accent6"/>
            </a:fillRef>
            <a:effectRef idx="2">
              <a:schemeClr val="accent6"/>
            </a:effectRef>
            <a:fontRef idx="minor">
              <a:schemeClr val="lt1"/>
            </a:fontRef>
          </p:style>
          <p:txBody>
            <a:bodyPr wrap="square" anchor="ctr">
              <a:noAutofit/>
            </a:bodyPr>
            <a:lstStyle/>
            <a:p>
              <a:endParaRPr lang="zh-CN" altLang="en-US" sz="1600">
                <a:latin typeface="Consolas" pitchFamily="49" charset="0"/>
                <a:cs typeface="Consolas" pitchFamily="49" charset="0"/>
              </a:endParaRPr>
            </a:p>
          </p:txBody>
        </p:sp>
        <p:sp>
          <p:nvSpPr>
            <p:cNvPr id="29" name="矩形 28">
              <a:extLst>
                <a:ext uri="{FF2B5EF4-FFF2-40B4-BE49-F238E27FC236}">
                  <a16:creationId xmlns:a16="http://schemas.microsoft.com/office/drawing/2014/main" id="{0F771242-FD42-9223-68F9-4C01554591EF}"/>
                </a:ext>
              </a:extLst>
            </p:cNvPr>
            <p:cNvSpPr/>
            <p:nvPr/>
          </p:nvSpPr>
          <p:spPr>
            <a:xfrm>
              <a:off x="1643042" y="413365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rPr>
                <a:t>201001001</a:t>
              </a:r>
              <a:endParaRPr lang="zh-CN" altLang="en-US" sz="1600" dirty="0">
                <a:solidFill>
                  <a:srgbClr val="3333FF"/>
                </a:solidFill>
                <a:latin typeface="Consolas" pitchFamily="49" charset="0"/>
                <a:cs typeface="Consolas" pitchFamily="49" charset="0"/>
              </a:endParaRPr>
            </a:p>
          </p:txBody>
        </p:sp>
        <p:sp>
          <p:nvSpPr>
            <p:cNvPr id="30" name="矩形 29">
              <a:extLst>
                <a:ext uri="{FF2B5EF4-FFF2-40B4-BE49-F238E27FC236}">
                  <a16:creationId xmlns:a16="http://schemas.microsoft.com/office/drawing/2014/main" id="{5F2FF16C-5F06-8ABB-C4CE-658E860DCA50}"/>
                </a:ext>
              </a:extLst>
            </p:cNvPr>
            <p:cNvSpPr/>
            <p:nvPr/>
          </p:nvSpPr>
          <p:spPr>
            <a:xfrm>
              <a:off x="1643042" y="458371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张三</a:t>
              </a:r>
              <a:endParaRPr lang="zh-CN" altLang="en-US" sz="1600" dirty="0">
                <a:solidFill>
                  <a:srgbClr val="3333FF"/>
                </a:solidFill>
                <a:latin typeface="Consolas" pitchFamily="49" charset="0"/>
                <a:cs typeface="Consolas" pitchFamily="49" charset="0"/>
              </a:endParaRPr>
            </a:p>
          </p:txBody>
        </p:sp>
        <p:sp>
          <p:nvSpPr>
            <p:cNvPr id="31" name="TextBox 10">
              <a:extLst>
                <a:ext uri="{FF2B5EF4-FFF2-40B4-BE49-F238E27FC236}">
                  <a16:creationId xmlns:a16="http://schemas.microsoft.com/office/drawing/2014/main" id="{CA0E0836-7B83-EF55-BFC0-B6BE765B434F}"/>
                </a:ext>
              </a:extLst>
            </p:cNvPr>
            <p:cNvSpPr txBox="1"/>
            <p:nvPr/>
          </p:nvSpPr>
          <p:spPr>
            <a:xfrm>
              <a:off x="2191182" y="3683598"/>
              <a:ext cx="411104"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rPr>
                <a:t>0</a:t>
              </a:r>
              <a:endParaRPr lang="zh-CN" altLang="en-US" sz="1600" dirty="0">
                <a:solidFill>
                  <a:srgbClr val="00B0F0"/>
                </a:solidFill>
                <a:latin typeface="Consolas" pitchFamily="49" charset="0"/>
                <a:cs typeface="Consolas" pitchFamily="49" charset="0"/>
              </a:endParaRPr>
            </a:p>
          </p:txBody>
        </p:sp>
        <p:sp>
          <p:nvSpPr>
            <p:cNvPr id="32" name="矩形 31">
              <a:extLst>
                <a:ext uri="{FF2B5EF4-FFF2-40B4-BE49-F238E27FC236}">
                  <a16:creationId xmlns:a16="http://schemas.microsoft.com/office/drawing/2014/main" id="{60C6434A-53A5-404E-A4FA-80644FE1D879}"/>
                </a:ext>
              </a:extLst>
            </p:cNvPr>
            <p:cNvSpPr/>
            <p:nvPr/>
          </p:nvSpPr>
          <p:spPr>
            <a:xfrm>
              <a:off x="3150425" y="413365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altLang="zh-CN" sz="1600" dirty="0">
                  <a:solidFill>
                    <a:srgbClr val="3333FF"/>
                  </a:solidFill>
                  <a:latin typeface="Consolas" pitchFamily="49" charset="0"/>
                  <a:cs typeface="Consolas" pitchFamily="49" charset="0"/>
                </a:rPr>
                <a:t>201001003</a:t>
              </a:r>
              <a:endParaRPr lang="zh-CN" altLang="en-US" sz="1600" dirty="0">
                <a:solidFill>
                  <a:srgbClr val="3333FF"/>
                </a:solidFill>
                <a:latin typeface="Consolas" pitchFamily="49" charset="0"/>
                <a:cs typeface="Consolas" pitchFamily="49" charset="0"/>
              </a:endParaRPr>
            </a:p>
          </p:txBody>
        </p:sp>
        <p:sp>
          <p:nvSpPr>
            <p:cNvPr id="33" name="矩形 32">
              <a:extLst>
                <a:ext uri="{FF2B5EF4-FFF2-40B4-BE49-F238E27FC236}">
                  <a16:creationId xmlns:a16="http://schemas.microsoft.com/office/drawing/2014/main" id="{6FC28BA8-B387-5F62-FBA6-A5F12222A6F6}"/>
                </a:ext>
              </a:extLst>
            </p:cNvPr>
            <p:cNvSpPr/>
            <p:nvPr/>
          </p:nvSpPr>
          <p:spPr>
            <a:xfrm>
              <a:off x="3150425" y="458371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李四</a:t>
              </a:r>
              <a:endParaRPr lang="zh-CN" altLang="en-US" sz="1600" dirty="0">
                <a:solidFill>
                  <a:srgbClr val="3333FF"/>
                </a:solidFill>
                <a:latin typeface="Consolas" pitchFamily="49" charset="0"/>
                <a:cs typeface="Consolas" pitchFamily="49" charset="0"/>
              </a:endParaRPr>
            </a:p>
          </p:txBody>
        </p:sp>
        <p:sp>
          <p:nvSpPr>
            <p:cNvPr id="34" name="TextBox 13">
              <a:extLst>
                <a:ext uri="{FF2B5EF4-FFF2-40B4-BE49-F238E27FC236}">
                  <a16:creationId xmlns:a16="http://schemas.microsoft.com/office/drawing/2014/main" id="{6FD5F433-9B2A-8839-0507-F411BD92151F}"/>
                </a:ext>
              </a:extLst>
            </p:cNvPr>
            <p:cNvSpPr txBox="1"/>
            <p:nvPr/>
          </p:nvSpPr>
          <p:spPr>
            <a:xfrm>
              <a:off x="3698565" y="3683598"/>
              <a:ext cx="411104"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rPr>
                <a:t>1</a:t>
              </a:r>
              <a:endParaRPr lang="zh-CN" altLang="en-US" sz="1600" dirty="0">
                <a:solidFill>
                  <a:srgbClr val="00B0F0"/>
                </a:solidFill>
                <a:latin typeface="Consolas" pitchFamily="49" charset="0"/>
                <a:cs typeface="Consolas" pitchFamily="49" charset="0"/>
              </a:endParaRPr>
            </a:p>
          </p:txBody>
        </p:sp>
        <p:sp>
          <p:nvSpPr>
            <p:cNvPr id="35" name="矩形 34">
              <a:extLst>
                <a:ext uri="{FF2B5EF4-FFF2-40B4-BE49-F238E27FC236}">
                  <a16:creationId xmlns:a16="http://schemas.microsoft.com/office/drawing/2014/main" id="{D534E526-437F-37DE-511D-377555D162B0}"/>
                </a:ext>
              </a:extLst>
            </p:cNvPr>
            <p:cNvSpPr/>
            <p:nvPr/>
          </p:nvSpPr>
          <p:spPr>
            <a:xfrm>
              <a:off x="4661193" y="413365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36" name="矩形 35">
              <a:extLst>
                <a:ext uri="{FF2B5EF4-FFF2-40B4-BE49-F238E27FC236}">
                  <a16:creationId xmlns:a16="http://schemas.microsoft.com/office/drawing/2014/main" id="{9D670838-9D7B-2D57-8BCF-1D119A0A3A2E}"/>
                </a:ext>
              </a:extLst>
            </p:cNvPr>
            <p:cNvSpPr/>
            <p:nvPr/>
          </p:nvSpPr>
          <p:spPr>
            <a:xfrm>
              <a:off x="4661193" y="458371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37" name="TextBox 19">
              <a:extLst>
                <a:ext uri="{FF2B5EF4-FFF2-40B4-BE49-F238E27FC236}">
                  <a16:creationId xmlns:a16="http://schemas.microsoft.com/office/drawing/2014/main" id="{982A9DDD-D20B-9826-E6E9-2B5E3AA64004}"/>
                </a:ext>
              </a:extLst>
            </p:cNvPr>
            <p:cNvSpPr txBox="1"/>
            <p:nvPr/>
          </p:nvSpPr>
          <p:spPr>
            <a:xfrm>
              <a:off x="6507780" y="3683598"/>
              <a:ext cx="890727" cy="338554"/>
            </a:xfrm>
            <a:prstGeom prst="rect">
              <a:avLst/>
            </a:prstGeom>
            <a:noFill/>
          </p:spPr>
          <p:txBody>
            <a:bodyPr wrap="square" rtlCol="0">
              <a:spAutoFit/>
            </a:bodyPr>
            <a:lstStyle/>
            <a:p>
              <a:r>
                <a:rPr lang="en-US" altLang="zh-CN" sz="1600">
                  <a:solidFill>
                    <a:srgbClr val="00B0F0"/>
                  </a:solidFill>
                  <a:latin typeface="Consolas" pitchFamily="49" charset="0"/>
                  <a:cs typeface="Consolas" pitchFamily="49" charset="0"/>
                  <a:sym typeface="Symbol"/>
                </a:rPr>
                <a:t>19</a:t>
              </a:r>
              <a:endParaRPr lang="zh-CN" altLang="en-US" sz="1600" dirty="0">
                <a:solidFill>
                  <a:srgbClr val="00B0F0"/>
                </a:solidFill>
                <a:latin typeface="Consolas" pitchFamily="49" charset="0"/>
                <a:cs typeface="Consolas" pitchFamily="49" charset="0"/>
              </a:endParaRPr>
            </a:p>
          </p:txBody>
        </p:sp>
        <p:sp>
          <p:nvSpPr>
            <p:cNvPr id="38" name="矩形 37">
              <a:extLst>
                <a:ext uri="{FF2B5EF4-FFF2-40B4-BE49-F238E27FC236}">
                  <a16:creationId xmlns:a16="http://schemas.microsoft.com/office/drawing/2014/main" id="{E7CB6AE0-D6DA-531E-0C22-410032769A7F}"/>
                </a:ext>
              </a:extLst>
            </p:cNvPr>
            <p:cNvSpPr/>
            <p:nvPr/>
          </p:nvSpPr>
          <p:spPr>
            <a:xfrm>
              <a:off x="6168576" y="413365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C00000"/>
                  </a:solidFill>
                  <a:latin typeface="Consolas" pitchFamily="49" charset="0"/>
                  <a:cs typeface="Consolas" pitchFamily="49" charset="0"/>
                </a:rPr>
                <a:t>201001025</a:t>
              </a:r>
              <a:endParaRPr lang="zh-CN" altLang="en-US" sz="1600" dirty="0">
                <a:solidFill>
                  <a:srgbClr val="C00000"/>
                </a:solidFill>
                <a:latin typeface="Consolas" pitchFamily="49" charset="0"/>
                <a:cs typeface="Consolas" pitchFamily="49" charset="0"/>
              </a:endParaRPr>
            </a:p>
          </p:txBody>
        </p:sp>
        <p:sp>
          <p:nvSpPr>
            <p:cNvPr id="39" name="矩形 38">
              <a:extLst>
                <a:ext uri="{FF2B5EF4-FFF2-40B4-BE49-F238E27FC236}">
                  <a16:creationId xmlns:a16="http://schemas.microsoft.com/office/drawing/2014/main" id="{FDD4D537-47E0-85E5-8519-3DC937925D0B}"/>
                </a:ext>
              </a:extLst>
            </p:cNvPr>
            <p:cNvSpPr/>
            <p:nvPr/>
          </p:nvSpPr>
          <p:spPr>
            <a:xfrm>
              <a:off x="6168576" y="4583717"/>
              <a:ext cx="1507383" cy="45005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王五</a:t>
              </a:r>
              <a:endParaRPr lang="zh-CN" altLang="en-US" sz="1600" dirty="0">
                <a:solidFill>
                  <a:srgbClr val="3333FF"/>
                </a:solidFill>
                <a:latin typeface="Consolas" pitchFamily="49" charset="0"/>
                <a:cs typeface="Consolas" pitchFamily="49" charset="0"/>
              </a:endParaRPr>
            </a:p>
          </p:txBody>
        </p:sp>
        <p:sp>
          <p:nvSpPr>
            <p:cNvPr id="40" name="TextBox 23">
              <a:extLst>
                <a:ext uri="{FF2B5EF4-FFF2-40B4-BE49-F238E27FC236}">
                  <a16:creationId xmlns:a16="http://schemas.microsoft.com/office/drawing/2014/main" id="{6A8EA0B1-D6C1-745C-ABCE-FB61E9F482A4}"/>
                </a:ext>
              </a:extLst>
            </p:cNvPr>
            <p:cNvSpPr txBox="1"/>
            <p:nvPr/>
          </p:nvSpPr>
          <p:spPr>
            <a:xfrm>
              <a:off x="7955840" y="4143380"/>
              <a:ext cx="973878" cy="584775"/>
            </a:xfrm>
            <a:prstGeom prst="rect">
              <a:avLst/>
            </a:prstGeom>
            <a:noFill/>
          </p:spPr>
          <p:txBody>
            <a:bodyPr wrap="square" rtlCol="0">
              <a:spAutoFit/>
            </a:bodyPr>
            <a:lstStyle/>
            <a:p>
              <a:r>
                <a:rPr lang="en-US" altLang="zh-CN" sz="1600">
                  <a:latin typeface="Consolas" pitchFamily="49" charset="0"/>
                  <a:ea typeface="楷体" pitchFamily="49" charset="-122"/>
                  <a:cs typeface="Consolas" pitchFamily="49" charset="0"/>
                  <a:sym typeface="Symbol"/>
                </a:rPr>
                <a:t>20</a:t>
              </a:r>
              <a:r>
                <a:rPr lang="zh-CN" altLang="en-US" sz="1600">
                  <a:latin typeface="Consolas" pitchFamily="49" charset="0"/>
                  <a:ea typeface="楷体" pitchFamily="49" charset="-122"/>
                  <a:cs typeface="Consolas" pitchFamily="49" charset="0"/>
                  <a:sym typeface="Symbol"/>
                </a:rPr>
                <a:t>个元素空间</a:t>
              </a:r>
              <a:r>
                <a:rPr lang="en-US" altLang="zh-CN" sz="1600">
                  <a:latin typeface="Consolas" pitchFamily="49" charset="0"/>
                  <a:ea typeface="楷体" pitchFamily="49" charset="-122"/>
                  <a:cs typeface="Consolas" pitchFamily="49" charset="0"/>
                  <a:sym typeface="Symbol"/>
                </a:rPr>
                <a:t> </a:t>
              </a:r>
              <a:endParaRPr lang="zh-CN" altLang="en-US" sz="1600" dirty="0">
                <a:latin typeface="Consolas" pitchFamily="49" charset="0"/>
                <a:ea typeface="楷体" pitchFamily="49" charset="-122"/>
                <a:cs typeface="Consolas" pitchFamily="49" charset="0"/>
              </a:endParaRPr>
            </a:p>
          </p:txBody>
        </p:sp>
        <p:sp>
          <p:nvSpPr>
            <p:cNvPr id="41" name="TextBox 22">
              <a:extLst>
                <a:ext uri="{FF2B5EF4-FFF2-40B4-BE49-F238E27FC236}">
                  <a16:creationId xmlns:a16="http://schemas.microsoft.com/office/drawing/2014/main" id="{A9B2F7A9-60F3-76C2-D9AF-5E32651B910E}"/>
                </a:ext>
              </a:extLst>
            </p:cNvPr>
            <p:cNvSpPr txBox="1"/>
            <p:nvPr/>
          </p:nvSpPr>
          <p:spPr>
            <a:xfrm>
              <a:off x="4967157" y="3643314"/>
              <a:ext cx="890727"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sym typeface="Symbol"/>
                </a:rPr>
                <a:t> </a:t>
              </a:r>
              <a:endParaRPr lang="zh-CN" altLang="en-US" sz="1600" dirty="0">
                <a:solidFill>
                  <a:srgbClr val="00B0F0"/>
                </a:solidFill>
                <a:latin typeface="Consolas" pitchFamily="49" charset="0"/>
                <a:cs typeface="Consolas" pitchFamily="49" charset="0"/>
              </a:endParaRPr>
            </a:p>
          </p:txBody>
        </p:sp>
        <p:sp>
          <p:nvSpPr>
            <p:cNvPr id="42" name="右大括号 41">
              <a:extLst>
                <a:ext uri="{FF2B5EF4-FFF2-40B4-BE49-F238E27FC236}">
                  <a16:creationId xmlns:a16="http://schemas.microsoft.com/office/drawing/2014/main" id="{B2248AB4-1A82-3BF8-8A1A-F7CAAF9D858C}"/>
                </a:ext>
              </a:extLst>
            </p:cNvPr>
            <p:cNvSpPr/>
            <p:nvPr/>
          </p:nvSpPr>
          <p:spPr>
            <a:xfrm>
              <a:off x="7786710" y="4143380"/>
              <a:ext cx="142876" cy="857256"/>
            </a:xfrm>
            <a:prstGeom prst="rightBrace">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Tree>
    <p:extLst>
      <p:ext uri="{BB962C8B-B14F-4D97-AF65-F5344CB8AC3E}">
        <p14:creationId xmlns:p14="http://schemas.microsoft.com/office/powerpoint/2010/main" val="167785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F72D-B4C6-0679-7FBF-F9A2A394BD7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703E2EA-AFC5-5163-8BAC-14B74C6277C9}"/>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85D9B9A7-799D-652E-5C7C-9B9E73FEFA50}"/>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BA251AF4-1E02-00BB-0BC1-F5051CCBD84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4">
            <a:extLst>
              <a:ext uri="{FF2B5EF4-FFF2-40B4-BE49-F238E27FC236}">
                <a16:creationId xmlns:a16="http://schemas.microsoft.com/office/drawing/2014/main" id="{61898E03-4428-B992-1368-E861621D02DC}"/>
              </a:ext>
            </a:extLst>
          </p:cNvPr>
          <p:cNvSpPr txBox="1">
            <a:spLocks noChangeArrowheads="1"/>
          </p:cNvSpPr>
          <p:nvPr/>
        </p:nvSpPr>
        <p:spPr bwMode="auto">
          <a:xfrm>
            <a:off x="5703088" y="1024374"/>
            <a:ext cx="1943101" cy="369332"/>
          </a:xfrm>
          <a:prstGeom prst="rect">
            <a:avLst/>
          </a:prstGeom>
          <a:noFill/>
          <a:ln w="9525">
            <a:noFill/>
            <a:miter lim="800000"/>
            <a:headEnd/>
            <a:tailEnd/>
          </a:ln>
          <a:effectLst/>
        </p:spPr>
        <p:txBody>
          <a:bodyPr wrap="square">
            <a:spAutoFit/>
          </a:bodyPr>
          <a:lstStyle/>
          <a:p>
            <a:pPr algn="l">
              <a:spcBef>
                <a:spcPct val="50000"/>
              </a:spcBef>
            </a:pPr>
            <a:r>
              <a:rPr lang="zh-CN" altLang="en-US" sz="1800" dirty="0">
                <a:latin typeface="Consolas" pitchFamily="49" charset="0"/>
                <a:ea typeface="楷体" pitchFamily="49" charset="-122"/>
                <a:cs typeface="Consolas" pitchFamily="49" charset="0"/>
              </a:rPr>
              <a:t>学号　 姓名</a:t>
            </a:r>
          </a:p>
        </p:txBody>
      </p:sp>
      <p:sp>
        <p:nvSpPr>
          <p:cNvPr id="6" name="Text Box 5">
            <a:extLst>
              <a:ext uri="{FF2B5EF4-FFF2-40B4-BE49-F238E27FC236}">
                <a16:creationId xmlns:a16="http://schemas.microsoft.com/office/drawing/2014/main" id="{28FBF611-083F-2258-5CD2-384EF24F1E9B}"/>
              </a:ext>
            </a:extLst>
          </p:cNvPr>
          <p:cNvSpPr txBox="1">
            <a:spLocks noChangeArrowheads="1"/>
          </p:cNvSpPr>
          <p:nvPr/>
        </p:nvSpPr>
        <p:spPr bwMode="auto">
          <a:xfrm>
            <a:off x="5418922" y="1532392"/>
            <a:ext cx="2374900" cy="14465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lgn="l">
              <a:spcBef>
                <a:spcPct val="50000"/>
              </a:spcBef>
            </a:pPr>
            <a:r>
              <a:rPr lang="en-US" altLang="zh-CN" sz="1600" dirty="0">
                <a:solidFill>
                  <a:srgbClr val="3333FF"/>
                </a:solidFill>
                <a:latin typeface="Consolas" pitchFamily="49" charset="0"/>
                <a:ea typeface="楷体" pitchFamily="49" charset="-122"/>
                <a:cs typeface="Consolas" pitchFamily="49" charset="0"/>
              </a:rPr>
              <a:t>201001001</a:t>
            </a:r>
            <a:r>
              <a:rPr lang="zh-CN" altLang="en-US" sz="1600" dirty="0">
                <a:solidFill>
                  <a:srgbClr val="3333FF"/>
                </a:solidFill>
                <a:latin typeface="Consolas" pitchFamily="49" charset="0"/>
                <a:ea typeface="楷体" pitchFamily="49" charset="-122"/>
                <a:cs typeface="Consolas" pitchFamily="49" charset="0"/>
              </a:rPr>
              <a:t>　张三</a:t>
            </a:r>
          </a:p>
          <a:p>
            <a:pPr algn="l">
              <a:spcBef>
                <a:spcPct val="50000"/>
              </a:spcBef>
            </a:pPr>
            <a:r>
              <a:rPr lang="en-US" altLang="zh-CN" sz="1600" dirty="0">
                <a:solidFill>
                  <a:srgbClr val="3333FF"/>
                </a:solidFill>
                <a:latin typeface="Consolas" pitchFamily="49" charset="0"/>
                <a:ea typeface="楷体" pitchFamily="49" charset="-122"/>
                <a:cs typeface="Consolas" pitchFamily="49" charset="0"/>
              </a:rPr>
              <a:t>201001003</a:t>
            </a:r>
            <a:r>
              <a:rPr lang="zh-CN" altLang="en-US" sz="1600" dirty="0">
                <a:solidFill>
                  <a:srgbClr val="3333FF"/>
                </a:solidFill>
                <a:latin typeface="Consolas" pitchFamily="49" charset="0"/>
                <a:ea typeface="楷体" pitchFamily="49" charset="-122"/>
                <a:cs typeface="Consolas" pitchFamily="49" charset="0"/>
              </a:rPr>
              <a:t>　李四</a:t>
            </a:r>
          </a:p>
          <a:p>
            <a:pPr algn="l">
              <a:spcBef>
                <a:spcPct val="50000"/>
              </a:spcBef>
            </a:pPr>
            <a:r>
              <a:rPr lang="en-US" altLang="zh-CN" sz="1600" dirty="0">
                <a:solidFill>
                  <a:srgbClr val="3333FF"/>
                </a:solidFill>
                <a:latin typeface="宋体" pitchFamily="2" charset="-122"/>
                <a:ea typeface="宋体" pitchFamily="2" charset="-122"/>
                <a:cs typeface="Consolas" pitchFamily="49" charset="0"/>
              </a:rPr>
              <a:t>…</a:t>
            </a:r>
          </a:p>
          <a:p>
            <a:pPr algn="l">
              <a:spcBef>
                <a:spcPct val="50000"/>
              </a:spcBef>
            </a:pPr>
            <a:r>
              <a:rPr lang="en-US" altLang="zh-CN" sz="1600" dirty="0">
                <a:solidFill>
                  <a:srgbClr val="C00000"/>
                </a:solidFill>
                <a:latin typeface="Consolas" pitchFamily="49" charset="0"/>
                <a:ea typeface="楷体" pitchFamily="49" charset="-122"/>
                <a:cs typeface="Consolas" pitchFamily="49" charset="0"/>
              </a:rPr>
              <a:t>201001025</a:t>
            </a:r>
            <a:r>
              <a:rPr lang="zh-CN" altLang="en-US" sz="1600" dirty="0">
                <a:solidFill>
                  <a:srgbClr val="3333FF"/>
                </a:solidFill>
                <a:latin typeface="Consolas" pitchFamily="49" charset="0"/>
                <a:ea typeface="楷体" pitchFamily="49" charset="-122"/>
                <a:cs typeface="Consolas" pitchFamily="49" charset="0"/>
              </a:rPr>
              <a:t>　王五</a:t>
            </a:r>
          </a:p>
        </p:txBody>
      </p:sp>
      <p:sp>
        <p:nvSpPr>
          <p:cNvPr id="7" name="Text Box 50">
            <a:extLst>
              <a:ext uri="{FF2B5EF4-FFF2-40B4-BE49-F238E27FC236}">
                <a16:creationId xmlns:a16="http://schemas.microsoft.com/office/drawing/2014/main" id="{5C636D26-2A8F-407D-CD39-D29E9D108080}"/>
              </a:ext>
            </a:extLst>
          </p:cNvPr>
          <p:cNvSpPr txBox="1">
            <a:spLocks noChangeArrowheads="1"/>
          </p:cNvSpPr>
          <p:nvPr/>
        </p:nvSpPr>
        <p:spPr bwMode="auto">
          <a:xfrm>
            <a:off x="8084334" y="1965780"/>
            <a:ext cx="2519363" cy="369332"/>
          </a:xfrm>
          <a:prstGeom prst="rect">
            <a:avLst/>
          </a:prstGeom>
          <a:noFill/>
          <a:ln w="9525">
            <a:noFill/>
            <a:miter lim="800000"/>
            <a:headEnd/>
            <a:tailEnd/>
          </a:ln>
          <a:effectLst/>
        </p:spPr>
        <p:txBody>
          <a:bodyPr>
            <a:spAutoFit/>
          </a:bodyPr>
          <a:lstStyle/>
          <a:p>
            <a:pPr algn="l">
              <a:spcBef>
                <a:spcPct val="50000"/>
              </a:spcBef>
            </a:pPr>
            <a:r>
              <a:rPr lang="en-US" altLang="zh-CN" sz="1800" i="1">
                <a:latin typeface="Consolas" pitchFamily="49" charset="0"/>
                <a:cs typeface="Consolas" pitchFamily="49" charset="0"/>
              </a:rPr>
              <a:t>n</a:t>
            </a:r>
            <a:r>
              <a:rPr lang="en-US" altLang="zh-CN" sz="1800">
                <a:latin typeface="Consolas" pitchFamily="49" charset="0"/>
                <a:cs typeface="Consolas" pitchFamily="49" charset="0"/>
              </a:rPr>
              <a:t>=20</a:t>
            </a:r>
            <a:r>
              <a:rPr lang="zh-CN" altLang="en-US" sz="1800">
                <a:latin typeface="Consolas" pitchFamily="49" charset="0"/>
                <a:cs typeface="Consolas" pitchFamily="49" charset="0"/>
              </a:rPr>
              <a:t>，</a:t>
            </a:r>
            <a:r>
              <a:rPr lang="en-US" altLang="zh-CN" sz="1800" i="1">
                <a:latin typeface="Consolas" pitchFamily="49" charset="0"/>
                <a:cs typeface="Consolas" pitchFamily="49" charset="0"/>
              </a:rPr>
              <a:t>m</a:t>
            </a:r>
            <a:r>
              <a:rPr lang="en-US" altLang="zh-CN" sz="1800">
                <a:latin typeface="Consolas" pitchFamily="49" charset="0"/>
                <a:cs typeface="Consolas" pitchFamily="49" charset="0"/>
              </a:rPr>
              <a:t>=30</a:t>
            </a:r>
          </a:p>
        </p:txBody>
      </p:sp>
      <p:sp>
        <p:nvSpPr>
          <p:cNvPr id="8" name="TextBox 7">
            <a:extLst>
              <a:ext uri="{FF2B5EF4-FFF2-40B4-BE49-F238E27FC236}">
                <a16:creationId xmlns:a16="http://schemas.microsoft.com/office/drawing/2014/main" id="{45F4FEA8-CD66-562F-472A-8395C02175A0}"/>
              </a:ext>
            </a:extLst>
          </p:cNvPr>
          <p:cNvSpPr txBox="1"/>
          <p:nvPr/>
        </p:nvSpPr>
        <p:spPr>
          <a:xfrm>
            <a:off x="1173427" y="1877554"/>
            <a:ext cx="2500330" cy="461665"/>
          </a:xfrm>
          <a:prstGeom prst="rect">
            <a:avLst/>
          </a:prstGeom>
          <a:noFill/>
        </p:spPr>
        <p:txBody>
          <a:bodyPr wrap="square" rtlCol="0">
            <a:spAutoFit/>
          </a:bodyPr>
          <a:lstStyle/>
          <a:p>
            <a:r>
              <a:rPr kumimoji="1" lang="zh-CN" altLang="en-US" sz="2400" dirty="0">
                <a:latin typeface="微软雅黑" pitchFamily="34" charset="-122"/>
                <a:ea typeface="微软雅黑" pitchFamily="34" charset="-122"/>
                <a:cs typeface="经典粗黑简" pitchFamily="49" charset="-122"/>
              </a:rPr>
              <a:t>另一种存储结构：</a:t>
            </a:r>
          </a:p>
        </p:txBody>
      </p:sp>
      <p:grpSp>
        <p:nvGrpSpPr>
          <p:cNvPr id="9" name="组合 28">
            <a:extLst>
              <a:ext uri="{FF2B5EF4-FFF2-40B4-BE49-F238E27FC236}">
                <a16:creationId xmlns:a16="http://schemas.microsoft.com/office/drawing/2014/main" id="{FCF4A428-7EC1-AF7B-15DB-790A438416B5}"/>
              </a:ext>
            </a:extLst>
          </p:cNvPr>
          <p:cNvGrpSpPr/>
          <p:nvPr/>
        </p:nvGrpSpPr>
        <p:grpSpPr>
          <a:xfrm>
            <a:off x="10638962" y="3810456"/>
            <a:ext cx="706760" cy="1714512"/>
            <a:chOff x="7929586" y="3429000"/>
            <a:chExt cx="706760" cy="1714512"/>
          </a:xfrm>
        </p:grpSpPr>
        <p:sp>
          <p:nvSpPr>
            <p:cNvPr id="10" name="右大括号 9">
              <a:extLst>
                <a:ext uri="{FF2B5EF4-FFF2-40B4-BE49-F238E27FC236}">
                  <a16:creationId xmlns:a16="http://schemas.microsoft.com/office/drawing/2014/main" id="{AA643B6E-1C84-AAE0-1D29-0C106DEFBD18}"/>
                </a:ext>
              </a:extLst>
            </p:cNvPr>
            <p:cNvSpPr/>
            <p:nvPr/>
          </p:nvSpPr>
          <p:spPr>
            <a:xfrm>
              <a:off x="7929586" y="3429000"/>
              <a:ext cx="180000" cy="1714512"/>
            </a:xfrm>
            <a:prstGeom prst="righ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1" name="TextBox 26">
              <a:extLst>
                <a:ext uri="{FF2B5EF4-FFF2-40B4-BE49-F238E27FC236}">
                  <a16:creationId xmlns:a16="http://schemas.microsoft.com/office/drawing/2014/main" id="{DEBBE3DC-1D2E-E120-FE9B-758EEB2B4F69}"/>
                </a:ext>
              </a:extLst>
            </p:cNvPr>
            <p:cNvSpPr txBox="1"/>
            <p:nvPr/>
          </p:nvSpPr>
          <p:spPr>
            <a:xfrm>
              <a:off x="8143903" y="3643314"/>
              <a:ext cx="492443" cy="1285884"/>
            </a:xfrm>
            <a:prstGeom prst="rect">
              <a:avLst/>
            </a:prstGeom>
            <a:noFill/>
          </p:spPr>
          <p:txBody>
            <a:bodyPr vert="eaVert" wrap="square" rtlCol="0">
              <a:spAutoFit/>
            </a:bodyPr>
            <a:lstStyle/>
            <a:p>
              <a:r>
                <a:rPr kumimoji="1" lang="zh-CN" altLang="en-US" sz="2000" dirty="0">
                  <a:solidFill>
                    <a:srgbClr val="FF0000"/>
                  </a:solidFill>
                  <a:latin typeface="华文中宋" pitchFamily="2" charset="-122"/>
                  <a:ea typeface="华文中宋" pitchFamily="2" charset="-122"/>
                  <a:cs typeface="Consolas" pitchFamily="49" charset="0"/>
                </a:rPr>
                <a:t>哈希表</a:t>
              </a:r>
              <a:endParaRPr lang="zh-CN" altLang="en-US" sz="2000" dirty="0">
                <a:solidFill>
                  <a:srgbClr val="FF0000"/>
                </a:solidFill>
                <a:latin typeface="华文中宋" pitchFamily="2" charset="-122"/>
                <a:ea typeface="华文中宋" pitchFamily="2" charset="-122"/>
                <a:cs typeface="Consolas" pitchFamily="49" charset="0"/>
              </a:endParaRPr>
            </a:p>
          </p:txBody>
        </p:sp>
      </p:grpSp>
      <p:grpSp>
        <p:nvGrpSpPr>
          <p:cNvPr id="12" name="组合 11">
            <a:extLst>
              <a:ext uri="{FF2B5EF4-FFF2-40B4-BE49-F238E27FC236}">
                <a16:creationId xmlns:a16="http://schemas.microsoft.com/office/drawing/2014/main" id="{04C308C4-CF1E-0DAC-8367-C5829C571D18}"/>
              </a:ext>
            </a:extLst>
          </p:cNvPr>
          <p:cNvGrpSpPr/>
          <p:nvPr/>
        </p:nvGrpSpPr>
        <p:grpSpPr>
          <a:xfrm>
            <a:off x="2853655" y="5491204"/>
            <a:ext cx="5857916" cy="1282026"/>
            <a:chOff x="500034" y="5361684"/>
            <a:chExt cx="5857916" cy="1282026"/>
          </a:xfrm>
        </p:grpSpPr>
        <p:sp>
          <p:nvSpPr>
            <p:cNvPr id="13" name="TextBox 28">
              <a:extLst>
                <a:ext uri="{FF2B5EF4-FFF2-40B4-BE49-F238E27FC236}">
                  <a16:creationId xmlns:a16="http://schemas.microsoft.com/office/drawing/2014/main" id="{86EAF60A-F834-0FB8-6AE0-676B9212B634}"/>
                </a:ext>
              </a:extLst>
            </p:cNvPr>
            <p:cNvSpPr txBox="1"/>
            <p:nvPr/>
          </p:nvSpPr>
          <p:spPr>
            <a:xfrm>
              <a:off x="500034" y="5361684"/>
              <a:ext cx="4572032" cy="400110"/>
            </a:xfrm>
            <a:prstGeom prst="rect">
              <a:avLst/>
            </a:prstGeom>
            <a:noFill/>
          </p:spPr>
          <p:txBody>
            <a:bodyPr wrap="square" rtlCol="0">
              <a:spAutoFit/>
            </a:bodyPr>
            <a:lstStyle/>
            <a:p>
              <a:pPr algn="l"/>
              <a:r>
                <a:rPr lang="zh-CN" altLang="en-US" sz="2000" dirty="0">
                  <a:latin typeface="Consolas" pitchFamily="49" charset="0"/>
                  <a:ea typeface="楷体" pitchFamily="49" charset="-122"/>
                  <a:cs typeface="Consolas" pitchFamily="49" charset="0"/>
                </a:rPr>
                <a:t>查找学号为</a:t>
              </a:r>
              <a:r>
                <a:rPr lang="en-US" altLang="zh-CN" sz="2000" dirty="0">
                  <a:solidFill>
                    <a:srgbClr val="C00000"/>
                  </a:solidFill>
                  <a:latin typeface="Consolas" pitchFamily="49" charset="0"/>
                  <a:ea typeface="楷体" pitchFamily="49" charset="-122"/>
                  <a:cs typeface="Consolas" pitchFamily="49" charset="0"/>
                </a:rPr>
                <a:t>201001025</a:t>
              </a:r>
              <a:r>
                <a:rPr lang="zh-CN" altLang="en-US" sz="2000" dirty="0">
                  <a:latin typeface="Consolas" pitchFamily="49" charset="0"/>
                  <a:ea typeface="楷体" pitchFamily="49" charset="-122"/>
                  <a:cs typeface="Consolas" pitchFamily="49" charset="0"/>
                </a:rPr>
                <a:t>的学生姓名：</a:t>
              </a:r>
              <a:endParaRPr lang="en-US" altLang="zh-CN" sz="2000" dirty="0">
                <a:latin typeface="Consolas" pitchFamily="49" charset="0"/>
                <a:ea typeface="楷体" pitchFamily="49" charset="-122"/>
                <a:cs typeface="Consolas" pitchFamily="49" charset="0"/>
              </a:endParaRPr>
            </a:p>
          </p:txBody>
        </p:sp>
        <p:sp>
          <p:nvSpPr>
            <p:cNvPr id="14" name="TextBox 29">
              <a:extLst>
                <a:ext uri="{FF2B5EF4-FFF2-40B4-BE49-F238E27FC236}">
                  <a16:creationId xmlns:a16="http://schemas.microsoft.com/office/drawing/2014/main" id="{29F3888E-5FFC-9B1C-75A9-A02E6EE3A457}"/>
                </a:ext>
              </a:extLst>
            </p:cNvPr>
            <p:cNvSpPr txBox="1"/>
            <p:nvPr/>
          </p:nvSpPr>
          <p:spPr>
            <a:xfrm>
              <a:off x="571472" y="5833232"/>
              <a:ext cx="5786478" cy="8104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buFont typeface="+mj-ea"/>
                <a:buAutoNum type="circleNumDbPlain"/>
              </a:pPr>
              <a:r>
                <a:rPr lang="zh-CN" altLang="en-US" sz="2000" dirty="0">
                  <a:latin typeface="Consolas" pitchFamily="49" charset="0"/>
                  <a:ea typeface="仿宋" pitchFamily="49" charset="-122"/>
                  <a:cs typeface="Consolas" pitchFamily="49" charset="0"/>
                  <a:sym typeface="Wingdings"/>
                </a:rPr>
                <a:t>计算</a:t>
              </a:r>
              <a:r>
                <a:rPr lang="en-US" altLang="zh-CN" sz="2000" dirty="0">
                  <a:latin typeface="Consolas" pitchFamily="49" charset="0"/>
                  <a:ea typeface="仿宋" pitchFamily="49" charset="-122"/>
                  <a:cs typeface="Consolas" pitchFamily="49" charset="0"/>
                  <a:sym typeface="Wingdings"/>
                </a:rPr>
                <a:t>:</a:t>
              </a:r>
              <a:r>
                <a:rPr lang="zh-CN" altLang="en-US" sz="2000" dirty="0">
                  <a:latin typeface="Consolas" pitchFamily="49" charset="0"/>
                  <a:ea typeface="仿宋" pitchFamily="49" charset="-122"/>
                  <a:cs typeface="Consolas" pitchFamily="49" charset="0"/>
                  <a:sym typeface="Wingdings"/>
                </a:rPr>
                <a:t>地址</a:t>
              </a:r>
              <a:r>
                <a:rPr lang="en-US" altLang="zh-CN" sz="2000" i="1" dirty="0">
                  <a:latin typeface="Consolas" pitchFamily="49" charset="0"/>
                  <a:ea typeface="仿宋" pitchFamily="49" charset="-122"/>
                  <a:cs typeface="Consolas" pitchFamily="49" charset="0"/>
                  <a:sym typeface="Wingdings"/>
                </a:rPr>
                <a:t>d</a:t>
              </a:r>
              <a:r>
                <a:rPr lang="en-US" altLang="zh-CN" sz="2000">
                  <a:latin typeface="Consolas" pitchFamily="49" charset="0"/>
                  <a:ea typeface="仿宋" pitchFamily="49" charset="-122"/>
                  <a:cs typeface="Consolas" pitchFamily="49" charset="0"/>
                  <a:sym typeface="Wingdings"/>
                </a:rPr>
                <a:t>=</a:t>
              </a:r>
              <a:r>
                <a:rPr lang="en-US" altLang="zh-CN" sz="2000">
                  <a:latin typeface="Consolas" pitchFamily="49" charset="0"/>
                  <a:ea typeface="仿宋" pitchFamily="49" charset="-122"/>
                  <a:cs typeface="Consolas" pitchFamily="49" charset="0"/>
                </a:rPr>
                <a:t> 201001025-201001001=</a:t>
              </a:r>
              <a:r>
                <a:rPr lang="en-US" altLang="zh-CN" sz="2000">
                  <a:solidFill>
                    <a:srgbClr val="FF0000"/>
                  </a:solidFill>
                  <a:latin typeface="Consolas" pitchFamily="49" charset="0"/>
                  <a:ea typeface="仿宋" pitchFamily="49" charset="-122"/>
                  <a:cs typeface="Consolas" pitchFamily="49" charset="0"/>
                </a:rPr>
                <a:t>24</a:t>
              </a:r>
              <a:endParaRPr lang="en-US" altLang="zh-CN" sz="2000" dirty="0">
                <a:solidFill>
                  <a:srgbClr val="FF0000"/>
                </a:solidFill>
                <a:latin typeface="Consolas" pitchFamily="49" charset="0"/>
                <a:ea typeface="仿宋" pitchFamily="49" charset="-122"/>
                <a:cs typeface="Consolas" pitchFamily="49" charset="0"/>
              </a:endParaRPr>
            </a:p>
            <a:p>
              <a:pPr marL="457200" indent="-457200" algn="l">
                <a:lnSpc>
                  <a:spcPts val="2800"/>
                </a:lnSpc>
                <a:buFont typeface="+mj-ea"/>
                <a:buAutoNum type="circleNumDbPlain"/>
              </a:pPr>
              <a:r>
                <a:rPr lang="zh-CN" altLang="en-US" sz="2000" dirty="0">
                  <a:latin typeface="Consolas" pitchFamily="49" charset="0"/>
                  <a:ea typeface="仿宋" pitchFamily="49" charset="-122"/>
                  <a:cs typeface="Consolas" pitchFamily="49" charset="0"/>
                </a:rPr>
                <a:t>和</a:t>
              </a:r>
              <a:r>
                <a:rPr lang="en-US" altLang="zh-CN" sz="2000" dirty="0">
                  <a:latin typeface="Consolas" pitchFamily="49" charset="0"/>
                  <a:ea typeface="仿宋" pitchFamily="49" charset="-122"/>
                  <a:cs typeface="Consolas" pitchFamily="49" charset="0"/>
                </a:rPr>
                <a:t>24</a:t>
              </a:r>
              <a:r>
                <a:rPr lang="zh-CN" altLang="en-US" sz="2000" dirty="0">
                  <a:latin typeface="Consolas" pitchFamily="49" charset="0"/>
                  <a:ea typeface="仿宋" pitchFamily="49" charset="-122"/>
                  <a:cs typeface="Consolas" pitchFamily="49" charset="0"/>
                </a:rPr>
                <a:t>处的学</a:t>
              </a:r>
              <a:r>
                <a:rPr lang="zh-CN" altLang="en-US" sz="2000">
                  <a:latin typeface="Consolas" pitchFamily="49" charset="0"/>
                  <a:ea typeface="仿宋" pitchFamily="49" charset="-122"/>
                  <a:cs typeface="Consolas" pitchFamily="49" charset="0"/>
                </a:rPr>
                <a:t>号比较，相等，返回</a:t>
              </a:r>
              <a:r>
                <a:rPr lang="zh-CN" altLang="en-US" sz="2000" dirty="0">
                  <a:latin typeface="Consolas" pitchFamily="49" charset="0"/>
                  <a:ea typeface="仿宋" pitchFamily="49" charset="-122"/>
                  <a:cs typeface="Consolas" pitchFamily="49" charset="0"/>
                </a:rPr>
                <a:t>姓名“王五”</a:t>
              </a:r>
            </a:p>
          </p:txBody>
        </p:sp>
      </p:grpSp>
      <p:grpSp>
        <p:nvGrpSpPr>
          <p:cNvPr id="15" name="组合 14">
            <a:extLst>
              <a:ext uri="{FF2B5EF4-FFF2-40B4-BE49-F238E27FC236}">
                <a16:creationId xmlns:a16="http://schemas.microsoft.com/office/drawing/2014/main" id="{35E42912-B7FC-167C-D35F-AAF901C9C035}"/>
              </a:ext>
            </a:extLst>
          </p:cNvPr>
          <p:cNvGrpSpPr/>
          <p:nvPr/>
        </p:nvGrpSpPr>
        <p:grpSpPr>
          <a:xfrm>
            <a:off x="8854447" y="6034190"/>
            <a:ext cx="2214578" cy="642942"/>
            <a:chOff x="6500826" y="5786454"/>
            <a:chExt cx="2214578" cy="642942"/>
          </a:xfrm>
        </p:grpSpPr>
        <p:sp>
          <p:nvSpPr>
            <p:cNvPr id="16" name="TextBox 30">
              <a:extLst>
                <a:ext uri="{FF2B5EF4-FFF2-40B4-BE49-F238E27FC236}">
                  <a16:creationId xmlns:a16="http://schemas.microsoft.com/office/drawing/2014/main" id="{F3FBA3B1-3518-155C-A693-24EBEAFD3C93}"/>
                </a:ext>
              </a:extLst>
            </p:cNvPr>
            <p:cNvSpPr txBox="1"/>
            <p:nvPr/>
          </p:nvSpPr>
          <p:spPr>
            <a:xfrm>
              <a:off x="6715140" y="5857892"/>
              <a:ext cx="2000264" cy="369332"/>
            </a:xfrm>
            <a:prstGeom prst="rect">
              <a:avLst/>
            </a:prstGeom>
            <a:noFill/>
          </p:spPr>
          <p:txBody>
            <a:bodyPr wrap="square" rtlCol="0">
              <a:spAutoFit/>
            </a:bodyPr>
            <a:lstStyle/>
            <a:p>
              <a:r>
                <a:rPr lang="zh-CN" altLang="en-US" sz="1800" dirty="0">
                  <a:latin typeface="Consolas" pitchFamily="49" charset="0"/>
                  <a:ea typeface="楷体" pitchFamily="49" charset="-122"/>
                  <a:cs typeface="Consolas" pitchFamily="49" charset="0"/>
                </a:rPr>
                <a:t>时间复杂度</a:t>
              </a:r>
              <a:r>
                <a:rPr lang="en-US" altLang="zh-CN" sz="1800" dirty="0">
                  <a:latin typeface="Consolas" pitchFamily="49" charset="0"/>
                  <a:ea typeface="楷体" pitchFamily="49" charset="-122"/>
                  <a:cs typeface="Consolas" pitchFamily="49" charset="0"/>
                </a:rPr>
                <a:t>O(1)</a:t>
              </a:r>
              <a:endParaRPr lang="zh-CN" altLang="en-US" sz="1800" dirty="0">
                <a:latin typeface="Consolas" pitchFamily="49" charset="0"/>
                <a:ea typeface="楷体" pitchFamily="49" charset="-122"/>
                <a:cs typeface="Consolas" pitchFamily="49" charset="0"/>
              </a:endParaRPr>
            </a:p>
          </p:txBody>
        </p:sp>
        <p:sp>
          <p:nvSpPr>
            <p:cNvPr id="17" name="右大括号 16">
              <a:extLst>
                <a:ext uri="{FF2B5EF4-FFF2-40B4-BE49-F238E27FC236}">
                  <a16:creationId xmlns:a16="http://schemas.microsoft.com/office/drawing/2014/main" id="{141DBE00-EC14-387A-BBBE-A2680C233020}"/>
                </a:ext>
              </a:extLst>
            </p:cNvPr>
            <p:cNvSpPr/>
            <p:nvPr/>
          </p:nvSpPr>
          <p:spPr>
            <a:xfrm>
              <a:off x="6500826" y="5786454"/>
              <a:ext cx="142876" cy="642942"/>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grpSp>
        <p:nvGrpSpPr>
          <p:cNvPr id="18" name="组合 17">
            <a:extLst>
              <a:ext uri="{FF2B5EF4-FFF2-40B4-BE49-F238E27FC236}">
                <a16:creationId xmlns:a16="http://schemas.microsoft.com/office/drawing/2014/main" id="{3EB8F284-D4DA-34F9-F9AC-5612C0C48E13}"/>
              </a:ext>
            </a:extLst>
          </p:cNvPr>
          <p:cNvGrpSpPr/>
          <p:nvPr/>
        </p:nvGrpSpPr>
        <p:grpSpPr>
          <a:xfrm>
            <a:off x="2496465" y="2989852"/>
            <a:ext cx="8152362" cy="2561966"/>
            <a:chOff x="142844" y="2600316"/>
            <a:chExt cx="8152362" cy="2561966"/>
          </a:xfrm>
        </p:grpSpPr>
        <p:sp>
          <p:nvSpPr>
            <p:cNvPr id="20" name="Text Box 41">
              <a:extLst>
                <a:ext uri="{FF2B5EF4-FFF2-40B4-BE49-F238E27FC236}">
                  <a16:creationId xmlns:a16="http://schemas.microsoft.com/office/drawing/2014/main" id="{51270F32-AEE6-C49A-D5B7-E02FB9F48633}"/>
                </a:ext>
              </a:extLst>
            </p:cNvPr>
            <p:cNvSpPr txBox="1">
              <a:spLocks noChangeArrowheads="1"/>
            </p:cNvSpPr>
            <p:nvPr/>
          </p:nvSpPr>
          <p:spPr bwMode="auto">
            <a:xfrm>
              <a:off x="4365309" y="2765669"/>
              <a:ext cx="3313112" cy="369332"/>
            </a:xfrm>
            <a:prstGeom prst="rect">
              <a:avLst/>
            </a:prstGeom>
            <a:noFill/>
            <a:ln w="9525">
              <a:noFill/>
              <a:miter lim="800000"/>
              <a:headEnd/>
              <a:tailEnd/>
            </a:ln>
            <a:effectLst/>
          </p:spPr>
          <p:txBody>
            <a:bodyPr>
              <a:spAutoFit/>
            </a:bodyPr>
            <a:lstStyle/>
            <a:p>
              <a:pPr algn="l">
                <a:spcBef>
                  <a:spcPct val="50000"/>
                </a:spcBef>
              </a:pPr>
              <a:r>
                <a:rPr lang="zh-CN" altLang="en-US" sz="1800" dirty="0">
                  <a:solidFill>
                    <a:srgbClr val="CC00CC"/>
                  </a:solidFill>
                  <a:latin typeface="Consolas" pitchFamily="49" charset="0"/>
                  <a:ea typeface="仿宋" pitchFamily="49" charset="-122"/>
                  <a:cs typeface="Consolas" pitchFamily="49" charset="0"/>
                </a:rPr>
                <a:t>存放地址</a:t>
              </a:r>
              <a:r>
                <a:rPr lang="en-US" altLang="zh-CN" sz="1800" dirty="0">
                  <a:solidFill>
                    <a:srgbClr val="CC00CC"/>
                  </a:solidFill>
                  <a:latin typeface="Consolas" pitchFamily="49" charset="0"/>
                  <a:ea typeface="仿宋" pitchFamily="49" charset="-122"/>
                  <a:cs typeface="Consolas" pitchFamily="49" charset="0"/>
                </a:rPr>
                <a:t>=</a:t>
              </a:r>
              <a:r>
                <a:rPr lang="zh-CN" altLang="en-US" sz="1800" dirty="0">
                  <a:solidFill>
                    <a:srgbClr val="CC00CC"/>
                  </a:solidFill>
                  <a:latin typeface="Consolas" pitchFamily="49" charset="0"/>
                  <a:ea typeface="仿宋" pitchFamily="49" charset="-122"/>
                  <a:cs typeface="Consolas" pitchFamily="49" charset="0"/>
                </a:rPr>
                <a:t>学号</a:t>
              </a:r>
              <a:r>
                <a:rPr lang="en-US" altLang="zh-CN" sz="1800" dirty="0">
                  <a:solidFill>
                    <a:srgbClr val="CC00CC"/>
                  </a:solidFill>
                  <a:latin typeface="Consolas" pitchFamily="49" charset="0"/>
                  <a:ea typeface="仿宋" pitchFamily="49" charset="-122"/>
                  <a:cs typeface="Consolas" pitchFamily="49" charset="0"/>
                </a:rPr>
                <a:t>-201001001</a:t>
              </a:r>
            </a:p>
          </p:txBody>
        </p:sp>
        <p:sp>
          <p:nvSpPr>
            <p:cNvPr id="43" name="AutoShape 49">
              <a:extLst>
                <a:ext uri="{FF2B5EF4-FFF2-40B4-BE49-F238E27FC236}">
                  <a16:creationId xmlns:a16="http://schemas.microsoft.com/office/drawing/2014/main" id="{0B4AB79B-0F6E-5EBB-7CDE-62E1EE2C58D7}"/>
                </a:ext>
              </a:extLst>
            </p:cNvPr>
            <p:cNvSpPr>
              <a:spLocks noChangeArrowheads="1"/>
            </p:cNvSpPr>
            <p:nvPr/>
          </p:nvSpPr>
          <p:spPr bwMode="auto">
            <a:xfrm>
              <a:off x="4008119" y="2600316"/>
              <a:ext cx="206691" cy="617934"/>
            </a:xfrm>
            <a:prstGeom prst="downArrow">
              <a:avLst>
                <a:gd name="adj1" fmla="val 50000"/>
                <a:gd name="adj2" fmla="val 87707"/>
              </a:avLst>
            </a:prstGeom>
            <a:ln>
              <a:headEnd/>
              <a:tailEnd/>
            </a:ln>
          </p:spPr>
          <p:style>
            <a:lnRef idx="1">
              <a:schemeClr val="accent6"/>
            </a:lnRef>
            <a:fillRef idx="3">
              <a:schemeClr val="accent6"/>
            </a:fillRef>
            <a:effectRef idx="2">
              <a:schemeClr val="accent6"/>
            </a:effectRef>
            <a:fontRef idx="minor">
              <a:schemeClr val="lt1"/>
            </a:fontRef>
          </p:style>
          <p:txBody>
            <a:bodyPr wrap="none" anchor="ctr">
              <a:noAutofit/>
            </a:bodyPr>
            <a:lstStyle/>
            <a:p>
              <a:endParaRPr lang="zh-CN" altLang="en-US" sz="1600">
                <a:latin typeface="Consolas" pitchFamily="49" charset="0"/>
                <a:cs typeface="Consolas" pitchFamily="49" charset="0"/>
              </a:endParaRPr>
            </a:p>
          </p:txBody>
        </p:sp>
        <p:sp>
          <p:nvSpPr>
            <p:cNvPr id="44" name="矩形 43">
              <a:extLst>
                <a:ext uri="{FF2B5EF4-FFF2-40B4-BE49-F238E27FC236}">
                  <a16:creationId xmlns:a16="http://schemas.microsoft.com/office/drawing/2014/main" id="{6D3DD21C-E0A7-F2FC-4185-DA7A8FCE8B83}"/>
                </a:ext>
              </a:extLst>
            </p:cNvPr>
            <p:cNvSpPr/>
            <p:nvPr/>
          </p:nvSpPr>
          <p:spPr>
            <a:xfrm>
              <a:off x="142844" y="3668781"/>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rPr>
                <a:t>201001001</a:t>
              </a:r>
              <a:endParaRPr lang="zh-CN" altLang="en-US" sz="1600" dirty="0">
                <a:solidFill>
                  <a:srgbClr val="3333FF"/>
                </a:solidFill>
                <a:latin typeface="Consolas" pitchFamily="49" charset="0"/>
                <a:cs typeface="Consolas" pitchFamily="49" charset="0"/>
              </a:endParaRPr>
            </a:p>
          </p:txBody>
        </p:sp>
        <p:sp>
          <p:nvSpPr>
            <p:cNvPr id="45" name="矩形 44">
              <a:extLst>
                <a:ext uri="{FF2B5EF4-FFF2-40B4-BE49-F238E27FC236}">
                  <a16:creationId xmlns:a16="http://schemas.microsoft.com/office/drawing/2014/main" id="{1FE8A0CE-A7B1-A777-58A3-31157666904E}"/>
                </a:ext>
              </a:extLst>
            </p:cNvPr>
            <p:cNvSpPr/>
            <p:nvPr/>
          </p:nvSpPr>
          <p:spPr>
            <a:xfrm>
              <a:off x="142844" y="4096958"/>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张三</a:t>
              </a:r>
              <a:endParaRPr lang="zh-CN" altLang="en-US" sz="1600" dirty="0">
                <a:solidFill>
                  <a:srgbClr val="3333FF"/>
                </a:solidFill>
                <a:latin typeface="Consolas" pitchFamily="49" charset="0"/>
                <a:cs typeface="Consolas" pitchFamily="49" charset="0"/>
              </a:endParaRPr>
            </a:p>
          </p:txBody>
        </p:sp>
        <p:sp>
          <p:nvSpPr>
            <p:cNvPr id="46" name="TextBox 10">
              <a:extLst>
                <a:ext uri="{FF2B5EF4-FFF2-40B4-BE49-F238E27FC236}">
                  <a16:creationId xmlns:a16="http://schemas.microsoft.com/office/drawing/2014/main" id="{DCE47431-E972-0A4D-7CE3-D8B12A8BC1C8}"/>
                </a:ext>
              </a:extLst>
            </p:cNvPr>
            <p:cNvSpPr txBox="1"/>
            <p:nvPr/>
          </p:nvSpPr>
          <p:spPr>
            <a:xfrm>
              <a:off x="657198" y="3214686"/>
              <a:ext cx="385765"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rPr>
                <a:t>0</a:t>
              </a:r>
              <a:endParaRPr lang="zh-CN" altLang="en-US" sz="1600" dirty="0">
                <a:solidFill>
                  <a:srgbClr val="00B0F0"/>
                </a:solidFill>
                <a:latin typeface="Consolas" pitchFamily="49" charset="0"/>
                <a:cs typeface="Consolas" pitchFamily="49" charset="0"/>
              </a:endParaRPr>
            </a:p>
          </p:txBody>
        </p:sp>
        <p:sp>
          <p:nvSpPr>
            <p:cNvPr id="47" name="矩形 46">
              <a:extLst>
                <a:ext uri="{FF2B5EF4-FFF2-40B4-BE49-F238E27FC236}">
                  <a16:creationId xmlns:a16="http://schemas.microsoft.com/office/drawing/2014/main" id="{1E22E106-ED39-F45B-7377-524585549EB3}"/>
                </a:ext>
              </a:extLst>
            </p:cNvPr>
            <p:cNvSpPr/>
            <p:nvPr/>
          </p:nvSpPr>
          <p:spPr>
            <a:xfrm>
              <a:off x="1557316" y="3668781"/>
              <a:ext cx="108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a:solidFill>
                    <a:srgbClr val="3333FF"/>
                  </a:solidFill>
                  <a:latin typeface="Consolas" pitchFamily="49" charset="0"/>
                  <a:ea typeface="楷体" pitchFamily="49" charset="-122"/>
                  <a:cs typeface="Consolas" pitchFamily="49" charset="0"/>
                </a:rPr>
                <a:t>空闲</a:t>
              </a:r>
              <a:endParaRPr lang="en-US" altLang="zh-CN" sz="1600">
                <a:solidFill>
                  <a:srgbClr val="3333FF"/>
                </a:solidFill>
                <a:latin typeface="Consolas" pitchFamily="49" charset="0"/>
                <a:ea typeface="楷体" pitchFamily="49" charset="-122"/>
                <a:cs typeface="Consolas" pitchFamily="49" charset="0"/>
              </a:endParaRPr>
            </a:p>
          </p:txBody>
        </p:sp>
        <p:sp>
          <p:nvSpPr>
            <p:cNvPr id="48" name="矩形 47">
              <a:extLst>
                <a:ext uri="{FF2B5EF4-FFF2-40B4-BE49-F238E27FC236}">
                  <a16:creationId xmlns:a16="http://schemas.microsoft.com/office/drawing/2014/main" id="{B9F1C960-07FE-A872-42F5-0D25C29A29A3}"/>
                </a:ext>
              </a:extLst>
            </p:cNvPr>
            <p:cNvSpPr/>
            <p:nvPr/>
          </p:nvSpPr>
          <p:spPr>
            <a:xfrm>
              <a:off x="1557316" y="4096958"/>
              <a:ext cx="108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a:solidFill>
                    <a:srgbClr val="3333FF"/>
                  </a:solidFill>
                  <a:latin typeface="Consolas" pitchFamily="49" charset="0"/>
                  <a:ea typeface="楷体" pitchFamily="49" charset="-122"/>
                  <a:cs typeface="Consolas" pitchFamily="49" charset="0"/>
                </a:rPr>
                <a:t>空闲</a:t>
              </a:r>
              <a:endParaRPr lang="zh-CN" altLang="en-US" sz="1600" dirty="0">
                <a:solidFill>
                  <a:srgbClr val="3333FF"/>
                </a:solidFill>
                <a:latin typeface="Consolas" pitchFamily="49" charset="0"/>
                <a:ea typeface="楷体" pitchFamily="49" charset="-122"/>
                <a:cs typeface="Consolas" pitchFamily="49" charset="0"/>
              </a:endParaRPr>
            </a:p>
          </p:txBody>
        </p:sp>
        <p:sp>
          <p:nvSpPr>
            <p:cNvPr id="49" name="TextBox 13">
              <a:extLst>
                <a:ext uri="{FF2B5EF4-FFF2-40B4-BE49-F238E27FC236}">
                  <a16:creationId xmlns:a16="http://schemas.microsoft.com/office/drawing/2014/main" id="{4964CE38-2ACB-8220-8E02-8DCD7F87AF1D}"/>
                </a:ext>
              </a:extLst>
            </p:cNvPr>
            <p:cNvSpPr txBox="1"/>
            <p:nvPr/>
          </p:nvSpPr>
          <p:spPr>
            <a:xfrm>
              <a:off x="1921171" y="3214686"/>
              <a:ext cx="385765"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rPr>
                <a:t>1</a:t>
              </a:r>
              <a:endParaRPr lang="zh-CN" altLang="en-US" sz="1600" dirty="0">
                <a:solidFill>
                  <a:srgbClr val="00B0F0"/>
                </a:solidFill>
                <a:latin typeface="Consolas" pitchFamily="49" charset="0"/>
                <a:cs typeface="Consolas" pitchFamily="49" charset="0"/>
              </a:endParaRPr>
            </a:p>
          </p:txBody>
        </p:sp>
        <p:sp>
          <p:nvSpPr>
            <p:cNvPr id="50" name="矩形 49">
              <a:extLst>
                <a:ext uri="{FF2B5EF4-FFF2-40B4-BE49-F238E27FC236}">
                  <a16:creationId xmlns:a16="http://schemas.microsoft.com/office/drawing/2014/main" id="{4FB3A164-91D0-D3E8-8208-9E6CDF887329}"/>
                </a:ext>
              </a:extLst>
            </p:cNvPr>
            <p:cNvSpPr/>
            <p:nvPr/>
          </p:nvSpPr>
          <p:spPr>
            <a:xfrm>
              <a:off x="2635551" y="3668781"/>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rPr>
                <a:t>201001003</a:t>
              </a:r>
              <a:endParaRPr lang="zh-CN" altLang="en-US" sz="1600" dirty="0">
                <a:solidFill>
                  <a:srgbClr val="3333FF"/>
                </a:solidFill>
                <a:latin typeface="Consolas" pitchFamily="49" charset="0"/>
                <a:cs typeface="Consolas" pitchFamily="49" charset="0"/>
              </a:endParaRPr>
            </a:p>
          </p:txBody>
        </p:sp>
        <p:sp>
          <p:nvSpPr>
            <p:cNvPr id="51" name="矩形 50">
              <a:extLst>
                <a:ext uri="{FF2B5EF4-FFF2-40B4-BE49-F238E27FC236}">
                  <a16:creationId xmlns:a16="http://schemas.microsoft.com/office/drawing/2014/main" id="{05259771-08E0-81C6-7990-DB072DFE052E}"/>
                </a:ext>
              </a:extLst>
            </p:cNvPr>
            <p:cNvSpPr/>
            <p:nvPr/>
          </p:nvSpPr>
          <p:spPr>
            <a:xfrm>
              <a:off x="2635551" y="4096958"/>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李四</a:t>
              </a:r>
              <a:endParaRPr lang="zh-CN" altLang="en-US" sz="1600" dirty="0">
                <a:solidFill>
                  <a:srgbClr val="3333FF"/>
                </a:solidFill>
                <a:latin typeface="Consolas" pitchFamily="49" charset="0"/>
                <a:cs typeface="Consolas" pitchFamily="49" charset="0"/>
              </a:endParaRPr>
            </a:p>
          </p:txBody>
        </p:sp>
        <p:sp>
          <p:nvSpPr>
            <p:cNvPr id="52" name="TextBox 16">
              <a:extLst>
                <a:ext uri="{FF2B5EF4-FFF2-40B4-BE49-F238E27FC236}">
                  <a16:creationId xmlns:a16="http://schemas.microsoft.com/office/drawing/2014/main" id="{4DA3B14D-0860-C713-A4EB-16D0AA15B018}"/>
                </a:ext>
              </a:extLst>
            </p:cNvPr>
            <p:cNvSpPr txBox="1"/>
            <p:nvPr/>
          </p:nvSpPr>
          <p:spPr>
            <a:xfrm>
              <a:off x="3149904" y="3214686"/>
              <a:ext cx="385765" cy="338554"/>
            </a:xfrm>
            <a:prstGeom prst="rect">
              <a:avLst/>
            </a:prstGeom>
            <a:noFill/>
          </p:spPr>
          <p:txBody>
            <a:bodyPr wrap="square" rtlCol="0">
              <a:spAutoFit/>
            </a:bodyPr>
            <a:lstStyle/>
            <a:p>
              <a:r>
                <a:rPr lang="en-US" altLang="zh-CN" sz="1600" dirty="0">
                  <a:solidFill>
                    <a:srgbClr val="00B0F0"/>
                  </a:solidFill>
                  <a:latin typeface="Consolas" pitchFamily="49" charset="0"/>
                  <a:cs typeface="Consolas" pitchFamily="49" charset="0"/>
                </a:rPr>
                <a:t>2</a:t>
              </a:r>
              <a:endParaRPr lang="zh-CN" altLang="en-US" sz="1600" dirty="0">
                <a:solidFill>
                  <a:srgbClr val="00B0F0"/>
                </a:solidFill>
                <a:latin typeface="Consolas" pitchFamily="49" charset="0"/>
                <a:cs typeface="Consolas" pitchFamily="49" charset="0"/>
              </a:endParaRPr>
            </a:p>
          </p:txBody>
        </p:sp>
        <p:sp>
          <p:nvSpPr>
            <p:cNvPr id="53" name="矩形 52">
              <a:extLst>
                <a:ext uri="{FF2B5EF4-FFF2-40B4-BE49-F238E27FC236}">
                  <a16:creationId xmlns:a16="http://schemas.microsoft.com/office/drawing/2014/main" id="{6BF4FDB0-4339-75A9-4327-2BB7A5EC6941}"/>
                </a:ext>
              </a:extLst>
            </p:cNvPr>
            <p:cNvSpPr/>
            <p:nvPr/>
          </p:nvSpPr>
          <p:spPr>
            <a:xfrm>
              <a:off x="4050023" y="3668781"/>
              <a:ext cx="90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54" name="矩形 53">
              <a:extLst>
                <a:ext uri="{FF2B5EF4-FFF2-40B4-BE49-F238E27FC236}">
                  <a16:creationId xmlns:a16="http://schemas.microsoft.com/office/drawing/2014/main" id="{45E18A44-AC86-026C-DE67-9DA40FAB4757}"/>
                </a:ext>
              </a:extLst>
            </p:cNvPr>
            <p:cNvSpPr/>
            <p:nvPr/>
          </p:nvSpPr>
          <p:spPr>
            <a:xfrm>
              <a:off x="4050023" y="4096958"/>
              <a:ext cx="90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55" name="TextBox 19">
              <a:extLst>
                <a:ext uri="{FF2B5EF4-FFF2-40B4-BE49-F238E27FC236}">
                  <a16:creationId xmlns:a16="http://schemas.microsoft.com/office/drawing/2014/main" id="{F06DEC9F-3742-4679-4265-1F2D7C3D25D3}"/>
                </a:ext>
              </a:extLst>
            </p:cNvPr>
            <p:cNvSpPr txBox="1"/>
            <p:nvPr/>
          </p:nvSpPr>
          <p:spPr>
            <a:xfrm>
              <a:off x="4135749" y="3214686"/>
              <a:ext cx="835825" cy="338554"/>
            </a:xfrm>
            <a:prstGeom prst="rect">
              <a:avLst/>
            </a:prstGeom>
            <a:noFill/>
          </p:spPr>
          <p:txBody>
            <a:bodyPr wrap="square" rtlCol="0">
              <a:spAutoFit/>
            </a:bodyPr>
            <a:lstStyle/>
            <a:p>
              <a:r>
                <a:rPr lang="en-US" altLang="zh-CN" sz="1600" dirty="0">
                  <a:latin typeface="Consolas" pitchFamily="49" charset="0"/>
                  <a:cs typeface="Consolas" pitchFamily="49" charset="0"/>
                  <a:sym typeface="Symbol"/>
                </a:rPr>
                <a:t> </a:t>
              </a:r>
              <a:endParaRPr lang="zh-CN" altLang="en-US" sz="1600" dirty="0">
                <a:latin typeface="Consolas" pitchFamily="49" charset="0"/>
                <a:cs typeface="Consolas" pitchFamily="49" charset="0"/>
              </a:endParaRPr>
            </a:p>
          </p:txBody>
        </p:sp>
        <p:sp>
          <p:nvSpPr>
            <p:cNvPr id="56" name="矩形 55">
              <a:extLst>
                <a:ext uri="{FF2B5EF4-FFF2-40B4-BE49-F238E27FC236}">
                  <a16:creationId xmlns:a16="http://schemas.microsoft.com/office/drawing/2014/main" id="{99AC90C4-EB2B-9C59-CD1C-EDC0E94097F3}"/>
                </a:ext>
              </a:extLst>
            </p:cNvPr>
            <p:cNvSpPr/>
            <p:nvPr/>
          </p:nvSpPr>
          <p:spPr>
            <a:xfrm>
              <a:off x="4913137" y="3668781"/>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C00000"/>
                  </a:solidFill>
                  <a:latin typeface="Consolas" pitchFamily="49" charset="0"/>
                  <a:cs typeface="Consolas" pitchFamily="49" charset="0"/>
                </a:rPr>
                <a:t>201001025</a:t>
              </a:r>
              <a:endParaRPr lang="zh-CN" altLang="en-US" sz="1600" dirty="0">
                <a:solidFill>
                  <a:srgbClr val="C00000"/>
                </a:solidFill>
                <a:latin typeface="Consolas" pitchFamily="49" charset="0"/>
                <a:cs typeface="Consolas" pitchFamily="49" charset="0"/>
              </a:endParaRPr>
            </a:p>
          </p:txBody>
        </p:sp>
        <p:sp>
          <p:nvSpPr>
            <p:cNvPr id="57" name="矩形 56">
              <a:extLst>
                <a:ext uri="{FF2B5EF4-FFF2-40B4-BE49-F238E27FC236}">
                  <a16:creationId xmlns:a16="http://schemas.microsoft.com/office/drawing/2014/main" id="{17C818F8-7C59-5023-AEB1-F5DB312BFB6B}"/>
                </a:ext>
              </a:extLst>
            </p:cNvPr>
            <p:cNvSpPr/>
            <p:nvPr/>
          </p:nvSpPr>
          <p:spPr>
            <a:xfrm>
              <a:off x="4913137" y="4096958"/>
              <a:ext cx="1414472"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dirty="0">
                  <a:solidFill>
                    <a:srgbClr val="3333FF"/>
                  </a:solidFill>
                  <a:latin typeface="Consolas" pitchFamily="49" charset="0"/>
                  <a:ea typeface="楷体" pitchFamily="49" charset="-122"/>
                  <a:cs typeface="Consolas" pitchFamily="49" charset="0"/>
                </a:rPr>
                <a:t>王五</a:t>
              </a:r>
              <a:endParaRPr lang="zh-CN" altLang="en-US" sz="1600" dirty="0">
                <a:solidFill>
                  <a:srgbClr val="3333FF"/>
                </a:solidFill>
                <a:latin typeface="Consolas" pitchFamily="49" charset="0"/>
                <a:cs typeface="Consolas" pitchFamily="49" charset="0"/>
              </a:endParaRPr>
            </a:p>
          </p:txBody>
        </p:sp>
        <p:sp>
          <p:nvSpPr>
            <p:cNvPr id="58" name="TextBox 22">
              <a:extLst>
                <a:ext uri="{FF2B5EF4-FFF2-40B4-BE49-F238E27FC236}">
                  <a16:creationId xmlns:a16="http://schemas.microsoft.com/office/drawing/2014/main" id="{8E46ACE6-1EBD-01F9-0572-E44EF0C128C2}"/>
                </a:ext>
              </a:extLst>
            </p:cNvPr>
            <p:cNvSpPr txBox="1"/>
            <p:nvPr/>
          </p:nvSpPr>
          <p:spPr>
            <a:xfrm>
              <a:off x="5363197" y="3240604"/>
              <a:ext cx="514354" cy="338554"/>
            </a:xfrm>
            <a:prstGeom prst="rect">
              <a:avLst/>
            </a:prstGeom>
            <a:noFill/>
          </p:spPr>
          <p:txBody>
            <a:bodyPr wrap="square" rtlCol="0">
              <a:spAutoFit/>
            </a:bodyPr>
            <a:lstStyle/>
            <a:p>
              <a:r>
                <a:rPr lang="en-US" altLang="zh-CN" sz="1600" dirty="0">
                  <a:solidFill>
                    <a:srgbClr val="FF0000"/>
                  </a:solidFill>
                  <a:latin typeface="Consolas" pitchFamily="49" charset="0"/>
                  <a:cs typeface="Consolas" pitchFamily="49" charset="0"/>
                </a:rPr>
                <a:t>24</a:t>
              </a:r>
              <a:endParaRPr lang="zh-CN" altLang="en-US" sz="1600" dirty="0">
                <a:solidFill>
                  <a:srgbClr val="FF0000"/>
                </a:solidFill>
                <a:latin typeface="Consolas" pitchFamily="49" charset="0"/>
                <a:cs typeface="Consolas" pitchFamily="49" charset="0"/>
              </a:endParaRPr>
            </a:p>
          </p:txBody>
        </p:sp>
        <p:sp>
          <p:nvSpPr>
            <p:cNvPr id="59" name="矩形 58">
              <a:extLst>
                <a:ext uri="{FF2B5EF4-FFF2-40B4-BE49-F238E27FC236}">
                  <a16:creationId xmlns:a16="http://schemas.microsoft.com/office/drawing/2014/main" id="{187351D9-AE2A-410D-1B10-E4AB7065A8AB}"/>
                </a:ext>
              </a:extLst>
            </p:cNvPr>
            <p:cNvSpPr/>
            <p:nvPr/>
          </p:nvSpPr>
          <p:spPr>
            <a:xfrm>
              <a:off x="7215206" y="3668781"/>
              <a:ext cx="108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a:solidFill>
                    <a:srgbClr val="3333FF"/>
                  </a:solidFill>
                  <a:latin typeface="Consolas" pitchFamily="49" charset="0"/>
                  <a:ea typeface="楷体" pitchFamily="49" charset="-122"/>
                  <a:cs typeface="Consolas" pitchFamily="49" charset="0"/>
                </a:rPr>
                <a:t>空闲</a:t>
              </a:r>
              <a:endParaRPr lang="zh-CN" altLang="en-US" sz="1600" dirty="0">
                <a:solidFill>
                  <a:srgbClr val="3333FF"/>
                </a:solidFill>
                <a:latin typeface="Consolas" pitchFamily="49" charset="0"/>
                <a:ea typeface="楷体" pitchFamily="49" charset="-122"/>
                <a:cs typeface="Consolas" pitchFamily="49" charset="0"/>
              </a:endParaRPr>
            </a:p>
          </p:txBody>
        </p:sp>
        <p:sp>
          <p:nvSpPr>
            <p:cNvPr id="60" name="矩形 59">
              <a:extLst>
                <a:ext uri="{FF2B5EF4-FFF2-40B4-BE49-F238E27FC236}">
                  <a16:creationId xmlns:a16="http://schemas.microsoft.com/office/drawing/2014/main" id="{FCD9C55A-E0B9-9A91-359A-E9E393269637}"/>
                </a:ext>
              </a:extLst>
            </p:cNvPr>
            <p:cNvSpPr/>
            <p:nvPr/>
          </p:nvSpPr>
          <p:spPr>
            <a:xfrm>
              <a:off x="7215206" y="4096958"/>
              <a:ext cx="108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a:solidFill>
                    <a:srgbClr val="3333FF"/>
                  </a:solidFill>
                  <a:latin typeface="Consolas" pitchFamily="49" charset="0"/>
                  <a:ea typeface="楷体" pitchFamily="49" charset="-122"/>
                  <a:cs typeface="Consolas" pitchFamily="49" charset="0"/>
                </a:rPr>
                <a:t>空闲</a:t>
              </a:r>
              <a:endParaRPr lang="zh-CN" altLang="en-US" sz="1600" dirty="0">
                <a:solidFill>
                  <a:srgbClr val="3333FF"/>
                </a:solidFill>
                <a:latin typeface="Consolas" pitchFamily="49" charset="0"/>
                <a:ea typeface="楷体" pitchFamily="49" charset="-122"/>
                <a:cs typeface="Consolas" pitchFamily="49" charset="0"/>
              </a:endParaRPr>
            </a:p>
          </p:txBody>
        </p:sp>
        <p:sp>
          <p:nvSpPr>
            <p:cNvPr id="61" name="TextBox 35">
              <a:extLst>
                <a:ext uri="{FF2B5EF4-FFF2-40B4-BE49-F238E27FC236}">
                  <a16:creationId xmlns:a16="http://schemas.microsoft.com/office/drawing/2014/main" id="{D30C1620-1421-129D-5F13-D3574D1F0E5B}"/>
                </a:ext>
              </a:extLst>
            </p:cNvPr>
            <p:cNvSpPr txBox="1"/>
            <p:nvPr/>
          </p:nvSpPr>
          <p:spPr>
            <a:xfrm>
              <a:off x="7579061" y="3214686"/>
              <a:ext cx="501831" cy="338554"/>
            </a:xfrm>
            <a:prstGeom prst="rect">
              <a:avLst/>
            </a:prstGeom>
            <a:noFill/>
          </p:spPr>
          <p:txBody>
            <a:bodyPr wrap="square" rtlCol="0">
              <a:spAutoFit/>
            </a:bodyPr>
            <a:lstStyle/>
            <a:p>
              <a:r>
                <a:rPr lang="en-US" altLang="zh-CN" sz="1600">
                  <a:solidFill>
                    <a:srgbClr val="00B0F0"/>
                  </a:solidFill>
                  <a:latin typeface="Consolas" pitchFamily="49" charset="0"/>
                  <a:cs typeface="Consolas" pitchFamily="49" charset="0"/>
                </a:rPr>
                <a:t>29</a:t>
              </a:r>
              <a:endParaRPr lang="zh-CN" altLang="en-US" sz="1600" dirty="0">
                <a:solidFill>
                  <a:srgbClr val="00B0F0"/>
                </a:solidFill>
                <a:latin typeface="Consolas" pitchFamily="49" charset="0"/>
                <a:cs typeface="Consolas" pitchFamily="49" charset="0"/>
              </a:endParaRPr>
            </a:p>
          </p:txBody>
        </p:sp>
        <p:sp>
          <p:nvSpPr>
            <p:cNvPr id="62" name="矩形 61">
              <a:extLst>
                <a:ext uri="{FF2B5EF4-FFF2-40B4-BE49-F238E27FC236}">
                  <a16:creationId xmlns:a16="http://schemas.microsoft.com/office/drawing/2014/main" id="{A8A57402-D540-A43A-2253-F7D68FF96D8A}"/>
                </a:ext>
              </a:extLst>
            </p:cNvPr>
            <p:cNvSpPr/>
            <p:nvPr/>
          </p:nvSpPr>
          <p:spPr>
            <a:xfrm>
              <a:off x="6341090" y="3668781"/>
              <a:ext cx="90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63" name="矩形 62">
              <a:extLst>
                <a:ext uri="{FF2B5EF4-FFF2-40B4-BE49-F238E27FC236}">
                  <a16:creationId xmlns:a16="http://schemas.microsoft.com/office/drawing/2014/main" id="{8F144187-0A26-F3B5-C484-C442364E5888}"/>
                </a:ext>
              </a:extLst>
            </p:cNvPr>
            <p:cNvSpPr/>
            <p:nvPr/>
          </p:nvSpPr>
          <p:spPr>
            <a:xfrm>
              <a:off x="6341090" y="4096958"/>
              <a:ext cx="900000" cy="4281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altLang="zh-CN" sz="1600" dirty="0">
                  <a:solidFill>
                    <a:srgbClr val="3333FF"/>
                  </a:solidFill>
                  <a:latin typeface="Consolas" pitchFamily="49" charset="0"/>
                  <a:cs typeface="Consolas" pitchFamily="49" charset="0"/>
                  <a:sym typeface="Symbol"/>
                </a:rPr>
                <a:t></a:t>
              </a:r>
              <a:endParaRPr lang="zh-CN" altLang="en-US" sz="1600" dirty="0">
                <a:solidFill>
                  <a:srgbClr val="3333FF"/>
                </a:solidFill>
                <a:latin typeface="Consolas" pitchFamily="49" charset="0"/>
                <a:cs typeface="Consolas" pitchFamily="49" charset="0"/>
              </a:endParaRPr>
            </a:p>
          </p:txBody>
        </p:sp>
        <p:sp>
          <p:nvSpPr>
            <p:cNvPr id="64" name="TextBox 38">
              <a:extLst>
                <a:ext uri="{FF2B5EF4-FFF2-40B4-BE49-F238E27FC236}">
                  <a16:creationId xmlns:a16="http://schemas.microsoft.com/office/drawing/2014/main" id="{A6064463-9565-D764-ABC6-6031734909C8}"/>
                </a:ext>
              </a:extLst>
            </p:cNvPr>
            <p:cNvSpPr txBox="1"/>
            <p:nvPr/>
          </p:nvSpPr>
          <p:spPr>
            <a:xfrm>
              <a:off x="6426816" y="3214686"/>
              <a:ext cx="835825" cy="338554"/>
            </a:xfrm>
            <a:prstGeom prst="rect">
              <a:avLst/>
            </a:prstGeom>
            <a:noFill/>
          </p:spPr>
          <p:txBody>
            <a:bodyPr wrap="square" rtlCol="0">
              <a:spAutoFit/>
            </a:bodyPr>
            <a:lstStyle/>
            <a:p>
              <a:r>
                <a:rPr lang="en-US" altLang="zh-CN" sz="1600" dirty="0">
                  <a:latin typeface="Consolas" pitchFamily="49" charset="0"/>
                  <a:cs typeface="Consolas" pitchFamily="49" charset="0"/>
                  <a:sym typeface="Symbol"/>
                </a:rPr>
                <a:t> </a:t>
              </a:r>
              <a:endParaRPr lang="zh-CN" altLang="en-US" sz="1600" dirty="0">
                <a:latin typeface="Consolas" pitchFamily="49" charset="0"/>
                <a:cs typeface="Consolas" pitchFamily="49" charset="0"/>
              </a:endParaRPr>
            </a:p>
          </p:txBody>
        </p:sp>
        <p:sp>
          <p:nvSpPr>
            <p:cNvPr id="65" name="左大括号 64">
              <a:extLst>
                <a:ext uri="{FF2B5EF4-FFF2-40B4-BE49-F238E27FC236}">
                  <a16:creationId xmlns:a16="http://schemas.microsoft.com/office/drawing/2014/main" id="{0CD5EF56-C21F-D257-7CE5-F1449EF8795E}"/>
                </a:ext>
              </a:extLst>
            </p:cNvPr>
            <p:cNvSpPr/>
            <p:nvPr/>
          </p:nvSpPr>
          <p:spPr>
            <a:xfrm rot="16200000">
              <a:off x="4106810" y="750919"/>
              <a:ext cx="216000" cy="8001056"/>
            </a:xfrm>
            <a:prstGeom prst="leftBrace">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sp>
          <p:nvSpPr>
            <p:cNvPr id="66" name="TextBox 40">
              <a:extLst>
                <a:ext uri="{FF2B5EF4-FFF2-40B4-BE49-F238E27FC236}">
                  <a16:creationId xmlns:a16="http://schemas.microsoft.com/office/drawing/2014/main" id="{E0CF4A3F-5D5A-0ACD-0D4F-C59BE4008B8B}"/>
                </a:ext>
              </a:extLst>
            </p:cNvPr>
            <p:cNvSpPr txBox="1"/>
            <p:nvPr/>
          </p:nvSpPr>
          <p:spPr>
            <a:xfrm>
              <a:off x="3428992" y="4823728"/>
              <a:ext cx="1928826" cy="338554"/>
            </a:xfrm>
            <a:prstGeom prst="rect">
              <a:avLst/>
            </a:prstGeom>
            <a:noFill/>
          </p:spPr>
          <p:txBody>
            <a:bodyPr wrap="square" rtlCol="0">
              <a:spAutoFit/>
            </a:bodyPr>
            <a:lstStyle/>
            <a:p>
              <a:r>
                <a:rPr lang="en-US" altLang="zh-CN" sz="1600">
                  <a:latin typeface="Consolas" pitchFamily="49" charset="0"/>
                  <a:ea typeface="楷体" pitchFamily="49" charset="-122"/>
                  <a:cs typeface="Consolas" pitchFamily="49" charset="0"/>
                  <a:sym typeface="Symbol"/>
                </a:rPr>
                <a:t>30</a:t>
              </a:r>
              <a:r>
                <a:rPr lang="zh-CN" altLang="en-US" sz="1600">
                  <a:latin typeface="Consolas" pitchFamily="49" charset="0"/>
                  <a:ea typeface="楷体" pitchFamily="49" charset="-122"/>
                  <a:cs typeface="Consolas" pitchFamily="49" charset="0"/>
                  <a:sym typeface="Symbol"/>
                </a:rPr>
                <a:t>个元素空间</a:t>
              </a:r>
              <a:r>
                <a:rPr lang="en-US" altLang="zh-CN" sz="1600">
                  <a:latin typeface="Consolas" pitchFamily="49" charset="0"/>
                  <a:ea typeface="楷体" pitchFamily="49" charset="-122"/>
                  <a:cs typeface="Consolas" pitchFamily="49" charset="0"/>
                  <a:sym typeface="Symbol"/>
                </a:rPr>
                <a:t> </a:t>
              </a:r>
              <a:endParaRPr lang="zh-CN" altLang="en-US" sz="1600" dirty="0">
                <a:latin typeface="Consolas" pitchFamily="49" charset="0"/>
                <a:ea typeface="楷体" pitchFamily="49" charset="-122"/>
                <a:cs typeface="Consolas" pitchFamily="49" charset="0"/>
              </a:endParaRPr>
            </a:p>
          </p:txBody>
        </p:sp>
      </p:grpSp>
    </p:spTree>
    <p:extLst>
      <p:ext uri="{BB962C8B-B14F-4D97-AF65-F5344CB8AC3E}">
        <p14:creationId xmlns:p14="http://schemas.microsoft.com/office/powerpoint/2010/main" val="39279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71464" y="1916832"/>
            <a:ext cx="10081120" cy="1323439"/>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哈希（</a:t>
            </a:r>
            <a:r>
              <a:rPr kumimoji="1" lang="en-US" altLang="zh-CN" sz="2000" dirty="0">
                <a:latin typeface="微软雅黑" pitchFamily="34" charset="-122"/>
                <a:ea typeface="微软雅黑" pitchFamily="34" charset="-122"/>
                <a:cs typeface="经典粗黑简" pitchFamily="49" charset="-122"/>
              </a:rPr>
              <a:t>Hash</a:t>
            </a:r>
            <a:r>
              <a:rPr kumimoji="1" lang="zh-CN" altLang="en-US" sz="2000" dirty="0">
                <a:latin typeface="微软雅黑" pitchFamily="34" charset="-122"/>
                <a:ea typeface="微软雅黑" pitchFamily="34" charset="-122"/>
                <a:cs typeface="经典粗黑简" pitchFamily="49" charset="-122"/>
              </a:rPr>
              <a:t>）又称散列，它既是一种查找方法，又是一种存贮方法，称为散列存贮。散列存贮的内存存放形式也称为哈希表或散列表。它的基本思想是：以结点的关键字</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为自变量，通过一个确定的函数</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，计算出对应的函数值</a:t>
            </a:r>
            <a:r>
              <a:rPr kumimoji="1" lang="en-US" altLang="zh-CN" sz="2000" dirty="0">
                <a:latin typeface="微软雅黑" pitchFamily="34" charset="-122"/>
                <a:ea typeface="微软雅黑" pitchFamily="34" charset="-122"/>
                <a:cs typeface="经典粗黑简" pitchFamily="49" charset="-122"/>
              </a:rPr>
              <a:t>H(k)</a:t>
            </a:r>
            <a:r>
              <a:rPr kumimoji="1" lang="zh-CN" altLang="en-US" sz="2000" dirty="0">
                <a:latin typeface="微软雅黑" pitchFamily="34" charset="-122"/>
                <a:ea typeface="微软雅黑" pitchFamily="34" charset="-122"/>
                <a:cs typeface="经典粗黑简" pitchFamily="49" charset="-122"/>
              </a:rPr>
              <a:t>，作为结点的存储位置，将结点存入</a:t>
            </a:r>
            <a:r>
              <a:rPr kumimoji="1" lang="en-US" altLang="zh-CN" sz="2000" dirty="0">
                <a:latin typeface="微软雅黑" pitchFamily="34" charset="-122"/>
                <a:ea typeface="微软雅黑" pitchFamily="34" charset="-122"/>
                <a:cs typeface="经典粗黑简" pitchFamily="49" charset="-122"/>
              </a:rPr>
              <a:t>H(k)</a:t>
            </a:r>
            <a:r>
              <a:rPr kumimoji="1" lang="zh-CN" altLang="en-US" sz="2000" dirty="0">
                <a:latin typeface="微软雅黑" pitchFamily="34" charset="-122"/>
                <a:ea typeface="微软雅黑" pitchFamily="34" charset="-122"/>
                <a:cs typeface="经典粗黑简" pitchFamily="49" charset="-122"/>
              </a:rPr>
              <a:t>所指的存储位置上。</a:t>
            </a:r>
            <a:endParaRPr lang="zh-CN" altLang="en-US" sz="2000" dirty="0"/>
          </a:p>
        </p:txBody>
      </p:sp>
      <p:sp>
        <p:nvSpPr>
          <p:cNvPr id="7" name="矩形 6"/>
          <p:cNvSpPr/>
          <p:nvPr/>
        </p:nvSpPr>
        <p:spPr>
          <a:xfrm>
            <a:off x="1271464" y="3548049"/>
            <a:ext cx="10081120"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散列查找，与前面介绍的查找方法完全不同，前面介绍的所有查找都是基于待查关键字与表中元素进行比较而实现的查找方法，而散列查找是通过计算哈希函数来得到待查关键字的地址，理论上讲，在哈希表中查找元素无须进行关键字间的比较。</a:t>
            </a:r>
            <a:endParaRPr lang="zh-CN" altLang="en-US" sz="2000" dirty="0"/>
          </a:p>
        </p:txBody>
      </p:sp>
      <p:sp>
        <p:nvSpPr>
          <p:cNvPr id="8" name="矩形 7"/>
          <p:cNvSpPr/>
          <p:nvPr/>
        </p:nvSpPr>
        <p:spPr>
          <a:xfrm>
            <a:off x="1343472" y="4871490"/>
            <a:ext cx="6912768" cy="707886"/>
          </a:xfrm>
          <a:prstGeom prst="rect">
            <a:avLst/>
          </a:prstGeom>
        </p:spPr>
        <p:txBody>
          <a:bodyPr wrap="square">
            <a:spAutoFit/>
          </a:bodyPr>
          <a:lstStyle/>
          <a:p>
            <a:pPr>
              <a:lnSpc>
                <a:spcPct val="90000"/>
              </a:lnSpc>
              <a:spcBef>
                <a:spcPct val="20000"/>
              </a:spcBef>
              <a:buClr>
                <a:schemeClr val="accent1"/>
              </a:buClr>
              <a:buSzPct val="75000"/>
            </a:pPr>
            <a:r>
              <a:rPr kumimoji="1" lang="zh-CN" altLang="en-US" sz="2000" dirty="0">
                <a:latin typeface="微软雅黑" pitchFamily="34" charset="-122"/>
                <a:ea typeface="微软雅黑" pitchFamily="34" charset="-122"/>
                <a:cs typeface="经典粗黑简" pitchFamily="49" charset="-122"/>
              </a:rPr>
              <a:t>例如，要找关键字为</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的元素，则只需求出函数值</a:t>
            </a:r>
            <a:r>
              <a:rPr kumimoji="1" lang="en-US" altLang="zh-CN" sz="2000" dirty="0">
                <a:latin typeface="微软雅黑" pitchFamily="34" charset="-122"/>
                <a:ea typeface="微软雅黑" pitchFamily="34" charset="-122"/>
                <a:cs typeface="经典粗黑简" pitchFamily="49" charset="-122"/>
              </a:rPr>
              <a:t>H(k)</a:t>
            </a:r>
            <a:r>
              <a:rPr kumimoji="1" lang="zh-CN" altLang="en-US" sz="2000" dirty="0">
                <a:latin typeface="微软雅黑" pitchFamily="34" charset="-122"/>
                <a:ea typeface="微软雅黑" pitchFamily="34" charset="-122"/>
                <a:cs typeface="经典粗黑简" pitchFamily="49" charset="-122"/>
              </a:rPr>
              <a:t>，</a:t>
            </a:r>
          </a:p>
          <a:p>
            <a:pPr>
              <a:lnSpc>
                <a:spcPct val="90000"/>
              </a:lnSpc>
              <a:spcBef>
                <a:spcPct val="20000"/>
              </a:spcBef>
              <a:buClr>
                <a:schemeClr val="accent1"/>
              </a:buClr>
              <a:buSzPct val="75000"/>
            </a:pP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为给定的哈希函数， </a:t>
            </a:r>
            <a:r>
              <a:rPr kumimoji="1" lang="en-US" altLang="zh-CN" sz="2000" dirty="0">
                <a:latin typeface="微软雅黑" pitchFamily="34" charset="-122"/>
                <a:ea typeface="微软雅黑" pitchFamily="34" charset="-122"/>
                <a:cs typeface="经典粗黑简" pitchFamily="49" charset="-122"/>
              </a:rPr>
              <a:t>H(k)</a:t>
            </a:r>
            <a:r>
              <a:rPr kumimoji="1" lang="zh-CN" altLang="en-US" sz="2000" dirty="0">
                <a:latin typeface="微软雅黑" pitchFamily="34" charset="-122"/>
                <a:ea typeface="微软雅黑" pitchFamily="34" charset="-122"/>
                <a:cs typeface="经典粗黑简" pitchFamily="49" charset="-122"/>
              </a:rPr>
              <a:t>代表关键字</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在存贮区中的地址。</a:t>
            </a:r>
            <a:endParaRPr lang="zh-CN" altLang="en-US" sz="2000" dirty="0"/>
          </a:p>
        </p:txBody>
      </p:sp>
      <p:sp>
        <p:nvSpPr>
          <p:cNvPr id="9" name="矩形 8">
            <a:extLst>
              <a:ext uri="{FF2B5EF4-FFF2-40B4-BE49-F238E27FC236}">
                <a16:creationId xmlns:a16="http://schemas.microsoft.com/office/drawing/2014/main" id="{8B5C3DFD-614E-B938-4AB1-F7452BEA8E5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10" name="矩形 9">
            <a:extLst>
              <a:ext uri="{FF2B5EF4-FFF2-40B4-BE49-F238E27FC236}">
                <a16:creationId xmlns:a16="http://schemas.microsoft.com/office/drawing/2014/main" id="{96BAA309-3616-13E2-11CB-E2B102B5F5A0}"/>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13" name="直接连接符 12">
            <a:extLst>
              <a:ext uri="{FF2B5EF4-FFF2-40B4-BE49-F238E27FC236}">
                <a16:creationId xmlns:a16="http://schemas.microsoft.com/office/drawing/2014/main" id="{4F809B16-D785-D2A8-65C5-D71233C1FD7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8915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2057400" y="1772817"/>
            <a:ext cx="8382000"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dirty="0">
                <a:latin typeface="Times New Roman" pitchFamily="18" charset="0"/>
                <a:ea typeface="宋体" pitchFamily="2" charset="-122"/>
              </a:rPr>
              <a:t>        </a:t>
            </a:r>
            <a:r>
              <a:rPr kumimoji="1" lang="zh-CN" altLang="en-US" dirty="0">
                <a:latin typeface="微软雅黑" pitchFamily="34" charset="-122"/>
                <a:ea typeface="微软雅黑" pitchFamily="34" charset="-122"/>
                <a:cs typeface="经典粗黑简" pitchFamily="49" charset="-122"/>
              </a:rPr>
              <a:t>假设有一批关键字序列</a:t>
            </a:r>
            <a:r>
              <a:rPr kumimoji="1" lang="en-US" altLang="zh-CN" dirty="0">
                <a:latin typeface="微软雅黑" pitchFamily="34" charset="-122"/>
                <a:ea typeface="微软雅黑" pitchFamily="34" charset="-122"/>
                <a:cs typeface="经典粗黑简" pitchFamily="49" charset="-122"/>
              </a:rPr>
              <a:t>18,75,60,43,54,90,46</a:t>
            </a:r>
            <a:r>
              <a:rPr kumimoji="1" lang="zh-CN" altLang="en-US" dirty="0">
                <a:latin typeface="微软雅黑" pitchFamily="34" charset="-122"/>
                <a:ea typeface="微软雅黑" pitchFamily="34" charset="-122"/>
                <a:cs typeface="经典粗黑简" pitchFamily="49" charset="-122"/>
              </a:rPr>
              <a:t>，给定哈希函数</a:t>
            </a:r>
            <a:r>
              <a:rPr kumimoji="1" lang="en-US" altLang="zh-CN" dirty="0">
                <a:latin typeface="微软雅黑" pitchFamily="34" charset="-122"/>
                <a:ea typeface="微软雅黑" pitchFamily="34" charset="-122"/>
                <a:cs typeface="经典粗黑简" pitchFamily="49" charset="-122"/>
              </a:rPr>
              <a:t>H(k)=k % 13</a:t>
            </a:r>
            <a:r>
              <a:rPr kumimoji="1" lang="zh-CN" altLang="en-US" dirty="0">
                <a:latin typeface="微软雅黑" pitchFamily="34" charset="-122"/>
                <a:ea typeface="微软雅黑" pitchFamily="34" charset="-122"/>
                <a:cs typeface="经典粗黑简" pitchFamily="49" charset="-122"/>
              </a:rPr>
              <a:t>，存贮区的内存地址从</a:t>
            </a:r>
            <a:r>
              <a:rPr kumimoji="1" lang="en-US" altLang="zh-CN" dirty="0">
                <a:latin typeface="微软雅黑" pitchFamily="34" charset="-122"/>
                <a:ea typeface="微软雅黑" pitchFamily="34" charset="-122"/>
                <a:cs typeface="经典粗黑简" pitchFamily="49" charset="-122"/>
              </a:rPr>
              <a:t>0</a:t>
            </a:r>
            <a:r>
              <a:rPr kumimoji="1" lang="zh-CN" altLang="en-US" dirty="0">
                <a:latin typeface="微软雅黑" pitchFamily="34" charset="-122"/>
                <a:ea typeface="微软雅黑" pitchFamily="34" charset="-122"/>
                <a:cs typeface="经典粗黑简" pitchFamily="49" charset="-122"/>
              </a:rPr>
              <a:t>到</a:t>
            </a:r>
            <a:r>
              <a:rPr kumimoji="1" lang="en-US" altLang="zh-CN" dirty="0">
                <a:latin typeface="微软雅黑" pitchFamily="34" charset="-122"/>
                <a:ea typeface="微软雅黑" pitchFamily="34" charset="-122"/>
                <a:cs typeface="经典粗黑简" pitchFamily="49" charset="-122"/>
              </a:rPr>
              <a:t>15</a:t>
            </a:r>
            <a:r>
              <a:rPr kumimoji="1" lang="zh-CN" altLang="en-US" dirty="0">
                <a:latin typeface="微软雅黑" pitchFamily="34" charset="-122"/>
                <a:ea typeface="微软雅黑" pitchFamily="34" charset="-122"/>
                <a:cs typeface="经典粗黑简" pitchFamily="49" charset="-122"/>
              </a:rPr>
              <a:t>，则可以得到每个关键字的散列地址为：</a:t>
            </a:r>
          </a:p>
          <a:p>
            <a:pPr algn="just" eaLnBrk="1" hangingPunct="1">
              <a:spcBef>
                <a:spcPct val="50000"/>
              </a:spcBef>
            </a:pPr>
            <a:r>
              <a:rPr kumimoji="1" lang="zh-CN" altLang="en-US" dirty="0">
                <a:latin typeface="Times New Roman" pitchFamily="18" charset="0"/>
                <a:ea typeface="宋体" pitchFamily="2" charset="-122"/>
              </a:rPr>
              <a:t>  </a:t>
            </a:r>
            <a:r>
              <a:rPr kumimoji="1" lang="en-US" altLang="zh-CN" dirty="0">
                <a:latin typeface="微软雅黑" pitchFamily="34" charset="-122"/>
                <a:ea typeface="微软雅黑" pitchFamily="34" charset="-122"/>
                <a:cs typeface="经典粗黑简" pitchFamily="49" charset="-122"/>
              </a:rPr>
              <a:t>H(18) = 18%13 = 5               H(75) = 75%13 = 10</a:t>
            </a:r>
          </a:p>
          <a:p>
            <a:pPr algn="just" eaLnBrk="1" hangingPunct="1">
              <a:spcBef>
                <a:spcPct val="50000"/>
              </a:spcBef>
            </a:pPr>
            <a:r>
              <a:rPr kumimoji="1" lang="en-US" altLang="zh-CN" dirty="0">
                <a:latin typeface="微软雅黑" pitchFamily="34" charset="-122"/>
                <a:ea typeface="微软雅黑" pitchFamily="34" charset="-122"/>
                <a:cs typeface="经典粗黑简" pitchFamily="49" charset="-122"/>
              </a:rPr>
              <a:t>  H(60) = 60%13 = 8               H(43) = 43%13 = 4</a:t>
            </a:r>
          </a:p>
          <a:p>
            <a:pPr algn="just" eaLnBrk="1" hangingPunct="1">
              <a:spcBef>
                <a:spcPct val="50000"/>
              </a:spcBef>
            </a:pPr>
            <a:r>
              <a:rPr kumimoji="1" lang="en-US" altLang="zh-CN" dirty="0">
                <a:latin typeface="微软雅黑" pitchFamily="34" charset="-122"/>
                <a:ea typeface="微软雅黑" pitchFamily="34" charset="-122"/>
                <a:cs typeface="经典粗黑简" pitchFamily="49" charset="-122"/>
              </a:rPr>
              <a:t>  H(54) = 54%13 = 2                H(90) = 90%13 = 12</a:t>
            </a:r>
          </a:p>
          <a:p>
            <a:pPr algn="just" eaLnBrk="1" hangingPunct="1">
              <a:spcBef>
                <a:spcPct val="50000"/>
              </a:spcBef>
            </a:pPr>
            <a:r>
              <a:rPr kumimoji="1" lang="en-US" altLang="zh-CN" dirty="0">
                <a:latin typeface="微软雅黑" pitchFamily="34" charset="-122"/>
                <a:ea typeface="微软雅黑" pitchFamily="34" charset="-122"/>
                <a:cs typeface="经典粗黑简" pitchFamily="49" charset="-122"/>
              </a:rPr>
              <a:t>  H(46) = 46%13 = 7        </a:t>
            </a:r>
          </a:p>
          <a:p>
            <a:pPr algn="just" eaLnBrk="1" hangingPunct="1">
              <a:spcBef>
                <a:spcPct val="50000"/>
              </a:spcBef>
            </a:pPr>
            <a:r>
              <a:rPr kumimoji="1" lang="en-US" altLang="zh-CN" dirty="0">
                <a:latin typeface="Times New Roman" pitchFamily="18" charset="0"/>
                <a:ea typeface="宋体" pitchFamily="2" charset="-122"/>
              </a:rPr>
              <a:t> </a:t>
            </a:r>
            <a:r>
              <a:rPr kumimoji="1" lang="zh-CN" altLang="en-US" dirty="0">
                <a:latin typeface="微软雅黑" pitchFamily="34" charset="-122"/>
                <a:ea typeface="微软雅黑" pitchFamily="34" charset="-122"/>
                <a:cs typeface="经典粗黑简" pitchFamily="49" charset="-122"/>
              </a:rPr>
              <a:t>于是，根据散列地址，可以将上述</a:t>
            </a:r>
            <a:r>
              <a:rPr kumimoji="1" lang="en-US" altLang="zh-CN" dirty="0">
                <a:latin typeface="微软雅黑" pitchFamily="34" charset="-122"/>
                <a:ea typeface="微软雅黑" pitchFamily="34" charset="-122"/>
                <a:cs typeface="经典粗黑简" pitchFamily="49" charset="-122"/>
              </a:rPr>
              <a:t>7</a:t>
            </a:r>
            <a:r>
              <a:rPr kumimoji="1" lang="zh-CN" altLang="en-US" dirty="0">
                <a:latin typeface="微软雅黑" pitchFamily="34" charset="-122"/>
                <a:ea typeface="微软雅黑" pitchFamily="34" charset="-122"/>
                <a:cs typeface="经典粗黑简" pitchFamily="49" charset="-122"/>
              </a:rPr>
              <a:t>个关键字序列存贮到一个一维数组</a:t>
            </a:r>
            <a:r>
              <a:rPr kumimoji="1" lang="en-US" altLang="zh-CN" dirty="0">
                <a:latin typeface="微软雅黑" pitchFamily="34" charset="-122"/>
                <a:ea typeface="微软雅黑" pitchFamily="34" charset="-122"/>
                <a:cs typeface="经典粗黑简" pitchFamily="49" charset="-122"/>
              </a:rPr>
              <a:t>HT</a:t>
            </a:r>
            <a:r>
              <a:rPr kumimoji="1" lang="zh-CN" altLang="en-US" dirty="0">
                <a:latin typeface="微软雅黑" pitchFamily="34" charset="-122"/>
                <a:ea typeface="微软雅黑" pitchFamily="34" charset="-122"/>
                <a:cs typeface="经典粗黑简" pitchFamily="49" charset="-122"/>
              </a:rPr>
              <a:t>（哈希表或散列表）中，具体表示为：</a:t>
            </a:r>
          </a:p>
        </p:txBody>
      </p:sp>
      <p:grpSp>
        <p:nvGrpSpPr>
          <p:cNvPr id="111619" name="Group 3"/>
          <p:cNvGrpSpPr>
            <a:grpSpLocks/>
          </p:cNvGrpSpPr>
          <p:nvPr/>
        </p:nvGrpSpPr>
        <p:grpSpPr bwMode="auto">
          <a:xfrm>
            <a:off x="2268539" y="4941168"/>
            <a:ext cx="7815263" cy="914400"/>
            <a:chOff x="469" y="3072"/>
            <a:chExt cx="4923" cy="576"/>
          </a:xfrm>
        </p:grpSpPr>
        <p:sp>
          <p:nvSpPr>
            <p:cNvPr id="111621" name="Rectangle 4"/>
            <p:cNvSpPr>
              <a:spLocks noChangeArrowheads="1"/>
            </p:cNvSpPr>
            <p:nvPr/>
          </p:nvSpPr>
          <p:spPr bwMode="auto">
            <a:xfrm>
              <a:off x="670" y="3251"/>
              <a:ext cx="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4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1622" name="Rectangle 5"/>
            <p:cNvSpPr>
              <a:spLocks noChangeArrowheads="1"/>
            </p:cNvSpPr>
            <p:nvPr/>
          </p:nvSpPr>
          <p:spPr bwMode="auto">
            <a:xfrm>
              <a:off x="469" y="3360"/>
              <a:ext cx="2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400" b="1">
                  <a:solidFill>
                    <a:srgbClr val="000000"/>
                  </a:solidFill>
                  <a:latin typeface="Times New Roman" pitchFamily="18" charset="0"/>
                  <a:ea typeface="宋体" pitchFamily="2" charset="-122"/>
                </a:rPr>
                <a:t>HT</a:t>
              </a:r>
              <a:endParaRPr kumimoji="1" lang="en-US" altLang="zh-CN" sz="2400" b="1">
                <a:latin typeface="Tahoma" pitchFamily="34" charset="0"/>
                <a:ea typeface="宋体" pitchFamily="2" charset="-122"/>
              </a:endParaRPr>
            </a:p>
          </p:txBody>
        </p:sp>
        <p:sp>
          <p:nvSpPr>
            <p:cNvPr id="111623" name="Rectangle 6"/>
            <p:cNvSpPr>
              <a:spLocks noChangeArrowheads="1"/>
            </p:cNvSpPr>
            <p:nvPr/>
          </p:nvSpPr>
          <p:spPr bwMode="auto">
            <a:xfrm>
              <a:off x="784"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0</a:t>
              </a:r>
            </a:p>
          </p:txBody>
        </p:sp>
        <p:sp>
          <p:nvSpPr>
            <p:cNvPr id="111624" name="Rectangle 7"/>
            <p:cNvSpPr>
              <a:spLocks noChangeArrowheads="1"/>
            </p:cNvSpPr>
            <p:nvPr/>
          </p:nvSpPr>
          <p:spPr bwMode="auto">
            <a:xfrm>
              <a:off x="1072"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a:t>
              </a:r>
            </a:p>
          </p:txBody>
        </p:sp>
        <p:sp>
          <p:nvSpPr>
            <p:cNvPr id="111625" name="Rectangle 8"/>
            <p:cNvSpPr>
              <a:spLocks noChangeArrowheads="1"/>
            </p:cNvSpPr>
            <p:nvPr/>
          </p:nvSpPr>
          <p:spPr bwMode="auto">
            <a:xfrm>
              <a:off x="1360"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2</a:t>
              </a:r>
            </a:p>
          </p:txBody>
        </p:sp>
        <p:sp>
          <p:nvSpPr>
            <p:cNvPr id="111626" name="Rectangle 9"/>
            <p:cNvSpPr>
              <a:spLocks noChangeArrowheads="1"/>
            </p:cNvSpPr>
            <p:nvPr/>
          </p:nvSpPr>
          <p:spPr bwMode="auto">
            <a:xfrm>
              <a:off x="1648"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3</a:t>
              </a:r>
            </a:p>
          </p:txBody>
        </p:sp>
        <p:sp>
          <p:nvSpPr>
            <p:cNvPr id="111627" name="Rectangle 10"/>
            <p:cNvSpPr>
              <a:spLocks noChangeArrowheads="1"/>
            </p:cNvSpPr>
            <p:nvPr/>
          </p:nvSpPr>
          <p:spPr bwMode="auto">
            <a:xfrm>
              <a:off x="1936"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4</a:t>
              </a:r>
            </a:p>
          </p:txBody>
        </p:sp>
        <p:sp>
          <p:nvSpPr>
            <p:cNvPr id="111628" name="Rectangle 11"/>
            <p:cNvSpPr>
              <a:spLocks noChangeArrowheads="1"/>
            </p:cNvSpPr>
            <p:nvPr/>
          </p:nvSpPr>
          <p:spPr bwMode="auto">
            <a:xfrm>
              <a:off x="2224"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5</a:t>
              </a:r>
            </a:p>
          </p:txBody>
        </p:sp>
        <p:sp>
          <p:nvSpPr>
            <p:cNvPr id="111629" name="Rectangle 12"/>
            <p:cNvSpPr>
              <a:spLocks noChangeArrowheads="1"/>
            </p:cNvSpPr>
            <p:nvPr/>
          </p:nvSpPr>
          <p:spPr bwMode="auto">
            <a:xfrm>
              <a:off x="2512"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6</a:t>
              </a:r>
            </a:p>
          </p:txBody>
        </p:sp>
        <p:sp>
          <p:nvSpPr>
            <p:cNvPr id="111630" name="Rectangle 13"/>
            <p:cNvSpPr>
              <a:spLocks noChangeArrowheads="1"/>
            </p:cNvSpPr>
            <p:nvPr/>
          </p:nvSpPr>
          <p:spPr bwMode="auto">
            <a:xfrm>
              <a:off x="2800"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7</a:t>
              </a:r>
            </a:p>
          </p:txBody>
        </p:sp>
        <p:sp>
          <p:nvSpPr>
            <p:cNvPr id="111631" name="Rectangle 14"/>
            <p:cNvSpPr>
              <a:spLocks noChangeArrowheads="1"/>
            </p:cNvSpPr>
            <p:nvPr/>
          </p:nvSpPr>
          <p:spPr bwMode="auto">
            <a:xfrm>
              <a:off x="3088"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8</a:t>
              </a:r>
            </a:p>
          </p:txBody>
        </p:sp>
        <p:sp>
          <p:nvSpPr>
            <p:cNvPr id="111632" name="Rectangle 15"/>
            <p:cNvSpPr>
              <a:spLocks noChangeArrowheads="1"/>
            </p:cNvSpPr>
            <p:nvPr/>
          </p:nvSpPr>
          <p:spPr bwMode="auto">
            <a:xfrm>
              <a:off x="3376"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9</a:t>
              </a:r>
            </a:p>
          </p:txBody>
        </p:sp>
        <p:sp>
          <p:nvSpPr>
            <p:cNvPr id="111633" name="Rectangle 16"/>
            <p:cNvSpPr>
              <a:spLocks noChangeArrowheads="1"/>
            </p:cNvSpPr>
            <p:nvPr/>
          </p:nvSpPr>
          <p:spPr bwMode="auto">
            <a:xfrm>
              <a:off x="3664"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10</a:t>
              </a:r>
            </a:p>
          </p:txBody>
        </p:sp>
        <p:sp>
          <p:nvSpPr>
            <p:cNvPr id="111634" name="Rectangle 17"/>
            <p:cNvSpPr>
              <a:spLocks noChangeArrowheads="1"/>
            </p:cNvSpPr>
            <p:nvPr/>
          </p:nvSpPr>
          <p:spPr bwMode="auto">
            <a:xfrm>
              <a:off x="3952"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11</a:t>
              </a:r>
            </a:p>
          </p:txBody>
        </p:sp>
        <p:sp>
          <p:nvSpPr>
            <p:cNvPr id="111635" name="Rectangle 18"/>
            <p:cNvSpPr>
              <a:spLocks noChangeArrowheads="1"/>
            </p:cNvSpPr>
            <p:nvPr/>
          </p:nvSpPr>
          <p:spPr bwMode="auto">
            <a:xfrm>
              <a:off x="4240"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12</a:t>
              </a:r>
            </a:p>
          </p:txBody>
        </p:sp>
        <p:sp>
          <p:nvSpPr>
            <p:cNvPr id="111636" name="Rectangle 19"/>
            <p:cNvSpPr>
              <a:spLocks noChangeArrowheads="1"/>
            </p:cNvSpPr>
            <p:nvPr/>
          </p:nvSpPr>
          <p:spPr bwMode="auto">
            <a:xfrm>
              <a:off x="784"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b="1">
                <a:latin typeface="Times New Roman" pitchFamily="18" charset="0"/>
                <a:ea typeface="宋体" pitchFamily="2" charset="-122"/>
              </a:endParaRPr>
            </a:p>
          </p:txBody>
        </p:sp>
        <p:sp>
          <p:nvSpPr>
            <p:cNvPr id="111637" name="Rectangle 20"/>
            <p:cNvSpPr>
              <a:spLocks noChangeArrowheads="1"/>
            </p:cNvSpPr>
            <p:nvPr/>
          </p:nvSpPr>
          <p:spPr bwMode="auto">
            <a:xfrm>
              <a:off x="1072"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38" name="Rectangle 21"/>
            <p:cNvSpPr>
              <a:spLocks noChangeArrowheads="1"/>
            </p:cNvSpPr>
            <p:nvPr/>
          </p:nvSpPr>
          <p:spPr bwMode="auto">
            <a:xfrm>
              <a:off x="1360"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r>
                <a:rPr kumimoji="1" lang="en-US" altLang="zh-CN" sz="2400" b="1">
                  <a:latin typeface="Times New Roman" pitchFamily="18" charset="0"/>
                  <a:ea typeface="宋体" pitchFamily="2" charset="-122"/>
                </a:rPr>
                <a:t>54</a:t>
              </a:r>
            </a:p>
          </p:txBody>
        </p:sp>
        <p:sp>
          <p:nvSpPr>
            <p:cNvPr id="111639" name="Rectangle 22"/>
            <p:cNvSpPr>
              <a:spLocks noChangeArrowheads="1"/>
            </p:cNvSpPr>
            <p:nvPr/>
          </p:nvSpPr>
          <p:spPr bwMode="auto">
            <a:xfrm>
              <a:off x="1648"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40" name="Rectangle 23"/>
            <p:cNvSpPr>
              <a:spLocks noChangeArrowheads="1"/>
            </p:cNvSpPr>
            <p:nvPr/>
          </p:nvSpPr>
          <p:spPr bwMode="auto">
            <a:xfrm>
              <a:off x="1936"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400" b="1">
                  <a:latin typeface="Times New Roman" pitchFamily="18" charset="0"/>
                  <a:ea typeface="宋体" pitchFamily="2" charset="-122"/>
                </a:rPr>
                <a:t>43 </a:t>
              </a:r>
            </a:p>
          </p:txBody>
        </p:sp>
        <p:sp>
          <p:nvSpPr>
            <p:cNvPr id="111641" name="Rectangle 24"/>
            <p:cNvSpPr>
              <a:spLocks noChangeArrowheads="1"/>
            </p:cNvSpPr>
            <p:nvPr/>
          </p:nvSpPr>
          <p:spPr bwMode="auto">
            <a:xfrm>
              <a:off x="2224"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r>
                <a:rPr kumimoji="1" lang="en-US" altLang="zh-CN" sz="2400" b="1">
                  <a:latin typeface="Times New Roman" pitchFamily="18" charset="0"/>
                  <a:ea typeface="宋体" pitchFamily="2" charset="-122"/>
                </a:rPr>
                <a:t>18</a:t>
              </a:r>
            </a:p>
          </p:txBody>
        </p:sp>
        <p:sp>
          <p:nvSpPr>
            <p:cNvPr id="111642" name="Rectangle 25"/>
            <p:cNvSpPr>
              <a:spLocks noChangeArrowheads="1"/>
            </p:cNvSpPr>
            <p:nvPr/>
          </p:nvSpPr>
          <p:spPr bwMode="auto">
            <a:xfrm>
              <a:off x="2512"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latin typeface="Times New Roman" pitchFamily="18" charset="0"/>
                <a:ea typeface="宋体" pitchFamily="2" charset="-122"/>
              </a:endParaRPr>
            </a:p>
          </p:txBody>
        </p:sp>
        <p:sp>
          <p:nvSpPr>
            <p:cNvPr id="111643" name="Rectangle 26"/>
            <p:cNvSpPr>
              <a:spLocks noChangeArrowheads="1"/>
            </p:cNvSpPr>
            <p:nvPr/>
          </p:nvSpPr>
          <p:spPr bwMode="auto">
            <a:xfrm>
              <a:off x="2800"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b="1">
                  <a:latin typeface="Times New Roman" pitchFamily="18" charset="0"/>
                  <a:ea typeface="宋体" pitchFamily="2" charset="-122"/>
                </a:rPr>
                <a:t>46 </a:t>
              </a:r>
            </a:p>
          </p:txBody>
        </p:sp>
        <p:sp>
          <p:nvSpPr>
            <p:cNvPr id="111644" name="Rectangle 27"/>
            <p:cNvSpPr>
              <a:spLocks noChangeArrowheads="1"/>
            </p:cNvSpPr>
            <p:nvPr/>
          </p:nvSpPr>
          <p:spPr bwMode="auto">
            <a:xfrm>
              <a:off x="3088"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b="1">
                  <a:latin typeface="Times New Roman" pitchFamily="18" charset="0"/>
                  <a:ea typeface="宋体" pitchFamily="2" charset="-122"/>
                </a:rPr>
                <a:t>60 </a:t>
              </a:r>
            </a:p>
          </p:txBody>
        </p:sp>
        <p:sp>
          <p:nvSpPr>
            <p:cNvPr id="111645" name="Rectangle 28"/>
            <p:cNvSpPr>
              <a:spLocks noChangeArrowheads="1"/>
            </p:cNvSpPr>
            <p:nvPr/>
          </p:nvSpPr>
          <p:spPr bwMode="auto">
            <a:xfrm>
              <a:off x="3376"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46" name="Rectangle 29"/>
            <p:cNvSpPr>
              <a:spLocks noChangeArrowheads="1"/>
            </p:cNvSpPr>
            <p:nvPr/>
          </p:nvSpPr>
          <p:spPr bwMode="auto">
            <a:xfrm>
              <a:off x="3664"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r>
                <a:rPr kumimoji="1" lang="en-US" altLang="zh-CN" sz="2400" b="1">
                  <a:latin typeface="Times New Roman" pitchFamily="18" charset="0"/>
                  <a:ea typeface="宋体" pitchFamily="2" charset="-122"/>
                </a:rPr>
                <a:t>75</a:t>
              </a:r>
            </a:p>
          </p:txBody>
        </p:sp>
        <p:sp>
          <p:nvSpPr>
            <p:cNvPr id="111647" name="Rectangle 30"/>
            <p:cNvSpPr>
              <a:spLocks noChangeArrowheads="1"/>
            </p:cNvSpPr>
            <p:nvPr/>
          </p:nvSpPr>
          <p:spPr bwMode="auto">
            <a:xfrm>
              <a:off x="3952"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48" name="Rectangle 31"/>
            <p:cNvSpPr>
              <a:spLocks noChangeArrowheads="1"/>
            </p:cNvSpPr>
            <p:nvPr/>
          </p:nvSpPr>
          <p:spPr bwMode="auto">
            <a:xfrm>
              <a:off x="4240"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b="1">
                  <a:latin typeface="Times New Roman" pitchFamily="18" charset="0"/>
                  <a:ea typeface="宋体" pitchFamily="2" charset="-122"/>
                </a:rPr>
                <a:t>90 </a:t>
              </a:r>
            </a:p>
          </p:txBody>
        </p:sp>
        <p:sp>
          <p:nvSpPr>
            <p:cNvPr id="111649" name="Rectangle 32"/>
            <p:cNvSpPr>
              <a:spLocks noChangeArrowheads="1"/>
            </p:cNvSpPr>
            <p:nvPr/>
          </p:nvSpPr>
          <p:spPr bwMode="auto">
            <a:xfrm>
              <a:off x="4528"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13</a:t>
              </a:r>
            </a:p>
          </p:txBody>
        </p:sp>
        <p:sp>
          <p:nvSpPr>
            <p:cNvPr id="111650" name="Rectangle 33"/>
            <p:cNvSpPr>
              <a:spLocks noChangeArrowheads="1"/>
            </p:cNvSpPr>
            <p:nvPr/>
          </p:nvSpPr>
          <p:spPr bwMode="auto">
            <a:xfrm>
              <a:off x="4816"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14</a:t>
              </a:r>
            </a:p>
          </p:txBody>
        </p:sp>
        <p:sp>
          <p:nvSpPr>
            <p:cNvPr id="111651" name="Rectangle 34"/>
            <p:cNvSpPr>
              <a:spLocks noChangeArrowheads="1"/>
            </p:cNvSpPr>
            <p:nvPr/>
          </p:nvSpPr>
          <p:spPr bwMode="auto">
            <a:xfrm>
              <a:off x="5104"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kumimoji="1" lang="en-US" altLang="zh-CN" b="1">
                  <a:solidFill>
                    <a:schemeClr val="tx2"/>
                  </a:solidFill>
                  <a:latin typeface="Tahoma" pitchFamily="34" charset="0"/>
                  <a:ea typeface="宋体" pitchFamily="2" charset="-122"/>
                </a:rPr>
                <a:t>15</a:t>
              </a:r>
            </a:p>
          </p:txBody>
        </p:sp>
        <p:sp>
          <p:nvSpPr>
            <p:cNvPr id="111652" name="Rectangle 35"/>
            <p:cNvSpPr>
              <a:spLocks noChangeArrowheads="1"/>
            </p:cNvSpPr>
            <p:nvPr/>
          </p:nvSpPr>
          <p:spPr bwMode="auto">
            <a:xfrm>
              <a:off x="4528"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53" name="Rectangle 36"/>
            <p:cNvSpPr>
              <a:spLocks noChangeArrowheads="1"/>
            </p:cNvSpPr>
            <p:nvPr/>
          </p:nvSpPr>
          <p:spPr bwMode="auto">
            <a:xfrm>
              <a:off x="4816"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latin typeface="Times New Roman" pitchFamily="18" charset="0"/>
                  <a:ea typeface="宋体" pitchFamily="2" charset="-122"/>
                </a:rPr>
                <a:t> </a:t>
              </a:r>
            </a:p>
          </p:txBody>
        </p:sp>
        <p:sp>
          <p:nvSpPr>
            <p:cNvPr id="111654" name="Rectangle 37"/>
            <p:cNvSpPr>
              <a:spLocks noChangeArrowheads="1"/>
            </p:cNvSpPr>
            <p:nvPr/>
          </p:nvSpPr>
          <p:spPr bwMode="auto">
            <a:xfrm>
              <a:off x="5104" y="3360"/>
              <a:ext cx="28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b="1">
                <a:latin typeface="Times New Roman" pitchFamily="18" charset="0"/>
                <a:ea typeface="宋体" pitchFamily="2" charset="-122"/>
              </a:endParaRPr>
            </a:p>
          </p:txBody>
        </p:sp>
      </p:grpSp>
      <p:sp>
        <p:nvSpPr>
          <p:cNvPr id="2" name="矩形 1">
            <a:extLst>
              <a:ext uri="{FF2B5EF4-FFF2-40B4-BE49-F238E27FC236}">
                <a16:creationId xmlns:a16="http://schemas.microsoft.com/office/drawing/2014/main" id="{FC6936EF-9A35-4C42-099E-605C6DE9B8C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8AC61DF1-AF1F-8E5E-B877-0F815D110F8D}"/>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DB04C290-7FB3-F679-795D-C97C48B0CF1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592768"/>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45DD078-4685-EAAF-020E-9DDEDE0093D4}"/>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32427406-A384-DAC9-475E-D1103A621B35}"/>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76ED5458-F44F-EA0E-4EC1-A5E5D324D86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3">
            <a:extLst>
              <a:ext uri="{FF2B5EF4-FFF2-40B4-BE49-F238E27FC236}">
                <a16:creationId xmlns:a16="http://schemas.microsoft.com/office/drawing/2014/main" id="{966CE5A8-20FB-67A4-5585-A6B69F4D2FE1}"/>
              </a:ext>
            </a:extLst>
          </p:cNvPr>
          <p:cNvSpPr txBox="1"/>
          <p:nvPr/>
        </p:nvSpPr>
        <p:spPr>
          <a:xfrm>
            <a:off x="1289704" y="1774981"/>
            <a:ext cx="2286016" cy="461665"/>
          </a:xfrm>
          <a:prstGeom prst="rect">
            <a:avLst/>
          </a:prstGeom>
          <a:noFill/>
        </p:spPr>
        <p:txBody>
          <a:bodyPr wrap="square" rtlCol="0">
            <a:spAutoFit/>
          </a:bodyPr>
          <a:lstStyle/>
          <a:p>
            <a:pPr algn="l"/>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、几个概念</a:t>
            </a:r>
          </a:p>
        </p:txBody>
      </p:sp>
      <p:sp>
        <p:nvSpPr>
          <p:cNvPr id="6" name="Text Box 2">
            <a:extLst>
              <a:ext uri="{FF2B5EF4-FFF2-40B4-BE49-F238E27FC236}">
                <a16:creationId xmlns:a16="http://schemas.microsoft.com/office/drawing/2014/main" id="{8461528F-10D4-8413-7647-2F5D3D0E8EC5}"/>
              </a:ext>
            </a:extLst>
          </p:cNvPr>
          <p:cNvSpPr txBox="1">
            <a:spLocks noChangeArrowheads="1"/>
          </p:cNvSpPr>
          <p:nvPr/>
        </p:nvSpPr>
        <p:spPr bwMode="auto">
          <a:xfrm>
            <a:off x="1289704" y="2301347"/>
            <a:ext cx="3571900" cy="400110"/>
          </a:xfrm>
          <a:prstGeom prst="rect">
            <a:avLst/>
          </a:prstGeom>
          <a:noFill/>
          <a:ln w="9525">
            <a:noFill/>
            <a:miter lim="800000"/>
            <a:headEnd/>
            <a:tailEnd/>
          </a:ln>
          <a:effectLst/>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spcBef>
                <a:spcPct val="50000"/>
              </a:spcBef>
            </a:pP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sym typeface="Wingdings"/>
              </a:rPr>
              <a:t> </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哈希函数和哈希地址</a:t>
            </a:r>
            <a:r>
              <a:rPr kumimoji="1" lang="en-US" altLang="zh-CN"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  </a:t>
            </a:r>
            <a:endParaRPr kumimoji="1"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7" name="TextBox 11">
            <a:extLst>
              <a:ext uri="{FF2B5EF4-FFF2-40B4-BE49-F238E27FC236}">
                <a16:creationId xmlns:a16="http://schemas.microsoft.com/office/drawing/2014/main" id="{2124DE33-F322-EF89-5631-CC7C2CC1B3AF}"/>
              </a:ext>
            </a:extLst>
          </p:cNvPr>
          <p:cNvSpPr txBox="1"/>
          <p:nvPr/>
        </p:nvSpPr>
        <p:spPr>
          <a:xfrm>
            <a:off x="2095472" y="5705597"/>
            <a:ext cx="7000924" cy="400110"/>
          </a:xfrm>
          <a:prstGeom prst="rect">
            <a:avLst/>
          </a:prstGeom>
          <a:noFill/>
        </p:spPr>
        <p:txBody>
          <a:bodyPr wrap="square" rtlCol="0">
            <a:spAutoFit/>
          </a:bodyPr>
          <a:lstStyle/>
          <a:p>
            <a:pPr algn="l"/>
            <a:r>
              <a:rPr kumimoji="1" lang="zh-CN" altLang="en-US" sz="2000">
                <a:solidFill>
                  <a:srgbClr val="FF0000"/>
                </a:solidFill>
                <a:latin typeface="Consolas" pitchFamily="49" charset="0"/>
                <a:ea typeface="华文中宋" pitchFamily="2" charset="-122"/>
                <a:cs typeface="Consolas" pitchFamily="49" charset="0"/>
              </a:rPr>
              <a:t>哈希</a:t>
            </a:r>
            <a:r>
              <a:rPr lang="zh-CN" altLang="en-US" sz="2000">
                <a:solidFill>
                  <a:srgbClr val="FF0000"/>
                </a:solidFill>
                <a:latin typeface="Consolas" pitchFamily="49" charset="0"/>
                <a:ea typeface="华文中宋" pitchFamily="2" charset="-122"/>
                <a:cs typeface="Consolas" pitchFamily="49" charset="0"/>
              </a:rPr>
              <a:t>函数：</a:t>
            </a:r>
            <a:r>
              <a:rPr lang="zh-CN" altLang="en-US" sz="2000">
                <a:solidFill>
                  <a:srgbClr val="00B050"/>
                </a:solidFill>
                <a:latin typeface="Consolas" pitchFamily="49" charset="0"/>
                <a:ea typeface="华文中宋" pitchFamily="2" charset="-122"/>
                <a:cs typeface="Consolas" pitchFamily="49" charset="0"/>
              </a:rPr>
              <a:t>把</a:t>
            </a:r>
            <a:r>
              <a:rPr kumimoji="1" lang="zh-CN" altLang="en-US" sz="2000" dirty="0">
                <a:solidFill>
                  <a:srgbClr val="00B050"/>
                </a:solidFill>
                <a:latin typeface="Consolas" pitchFamily="49" charset="0"/>
                <a:ea typeface="华文中宋" pitchFamily="2" charset="-122"/>
                <a:cs typeface="Consolas" pitchFamily="49" charset="0"/>
              </a:rPr>
              <a:t>关键字为</a:t>
            </a:r>
            <a:r>
              <a:rPr kumimoji="1" lang="en-US" altLang="zh-CN" sz="2000" i="1" dirty="0" err="1">
                <a:solidFill>
                  <a:srgbClr val="00B050"/>
                </a:solidFill>
                <a:latin typeface="Consolas" pitchFamily="49" charset="0"/>
                <a:ea typeface="华文中宋" pitchFamily="2" charset="-122"/>
                <a:cs typeface="Consolas" pitchFamily="49" charset="0"/>
              </a:rPr>
              <a:t>k</a:t>
            </a:r>
            <a:r>
              <a:rPr kumimoji="1" lang="en-US" altLang="zh-CN" sz="2000" i="1" baseline="-30000" dirty="0" err="1">
                <a:solidFill>
                  <a:srgbClr val="00B050"/>
                </a:solidFill>
                <a:latin typeface="Consolas" pitchFamily="49" charset="0"/>
                <a:ea typeface="华文中宋" pitchFamily="2" charset="-122"/>
                <a:cs typeface="Consolas" pitchFamily="49" charset="0"/>
              </a:rPr>
              <a:t>i</a:t>
            </a:r>
            <a:r>
              <a:rPr kumimoji="1" lang="zh-CN" altLang="en-US" sz="2000">
                <a:solidFill>
                  <a:srgbClr val="00B050"/>
                </a:solidFill>
                <a:latin typeface="Consolas" pitchFamily="49" charset="0"/>
                <a:ea typeface="华文中宋" pitchFamily="2" charset="-122"/>
                <a:cs typeface="Consolas" pitchFamily="49" charset="0"/>
              </a:rPr>
              <a:t>的对象存放在相应的哈希</a:t>
            </a:r>
            <a:r>
              <a:rPr kumimoji="1" lang="zh-CN" altLang="en-US" sz="2000" dirty="0">
                <a:solidFill>
                  <a:srgbClr val="00B050"/>
                </a:solidFill>
                <a:latin typeface="Consolas" pitchFamily="49" charset="0"/>
                <a:ea typeface="华文中宋" pitchFamily="2" charset="-122"/>
                <a:cs typeface="Consolas" pitchFamily="49" charset="0"/>
              </a:rPr>
              <a:t>地址</a:t>
            </a:r>
            <a:r>
              <a:rPr lang="zh-CN" altLang="en-US" sz="2000" dirty="0">
                <a:solidFill>
                  <a:srgbClr val="00B050"/>
                </a:solidFill>
                <a:latin typeface="Consolas" pitchFamily="49" charset="0"/>
                <a:ea typeface="华文中宋" pitchFamily="2" charset="-122"/>
                <a:cs typeface="Consolas" pitchFamily="49" charset="0"/>
              </a:rPr>
              <a:t>中</a:t>
            </a:r>
          </a:p>
        </p:txBody>
      </p:sp>
      <p:sp>
        <p:nvSpPr>
          <p:cNvPr id="8" name="AutoShape 13">
            <a:extLst>
              <a:ext uri="{FF2B5EF4-FFF2-40B4-BE49-F238E27FC236}">
                <a16:creationId xmlns:a16="http://schemas.microsoft.com/office/drawing/2014/main" id="{AC9233CC-8A9F-AEB5-E481-C7A9E2CC3575}"/>
              </a:ext>
            </a:extLst>
          </p:cNvPr>
          <p:cNvSpPr>
            <a:spLocks noChangeArrowheads="1"/>
          </p:cNvSpPr>
          <p:nvPr/>
        </p:nvSpPr>
        <p:spPr bwMode="auto">
          <a:xfrm>
            <a:off x="4024298" y="4636286"/>
            <a:ext cx="1800000" cy="252000"/>
          </a:xfrm>
          <a:prstGeom prst="rightArrow">
            <a:avLst>
              <a:gd name="adj1" fmla="val 50000"/>
              <a:gd name="adj2" fmla="val 149890"/>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noAutofit/>
          </a:bodyPr>
          <a:lstStyle/>
          <a:p>
            <a:endParaRPr lang="zh-CN" altLang="en-US">
              <a:latin typeface="Consolas" pitchFamily="49" charset="0"/>
              <a:cs typeface="Consolas" pitchFamily="49" charset="0"/>
            </a:endParaRPr>
          </a:p>
        </p:txBody>
      </p:sp>
      <p:sp>
        <p:nvSpPr>
          <p:cNvPr id="9" name="Text Box 14">
            <a:extLst>
              <a:ext uri="{FF2B5EF4-FFF2-40B4-BE49-F238E27FC236}">
                <a16:creationId xmlns:a16="http://schemas.microsoft.com/office/drawing/2014/main" id="{EA1A3671-82F4-7D9D-014B-54530D2FB208}"/>
              </a:ext>
            </a:extLst>
          </p:cNvPr>
          <p:cNvSpPr txBox="1">
            <a:spLocks noChangeArrowheads="1"/>
          </p:cNvSpPr>
          <p:nvPr/>
        </p:nvSpPr>
        <p:spPr bwMode="auto">
          <a:xfrm rot="21112265">
            <a:off x="3965667" y="3698319"/>
            <a:ext cx="1700462"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latin typeface="Consolas" pitchFamily="49" charset="0"/>
                <a:ea typeface="楷体" pitchFamily="49" charset="-122"/>
                <a:cs typeface="Consolas" pitchFamily="49" charset="0"/>
              </a:rPr>
              <a:t>哈希</a:t>
            </a:r>
            <a:r>
              <a:rPr lang="zh-CN" altLang="en-US" sz="1800">
                <a:latin typeface="Consolas" pitchFamily="49" charset="0"/>
                <a:ea typeface="楷体" pitchFamily="49" charset="-122"/>
                <a:cs typeface="Consolas" pitchFamily="49" charset="0"/>
              </a:rPr>
              <a:t>函数</a:t>
            </a:r>
            <a:r>
              <a:rPr lang="en-US" altLang="zh-CN" sz="1800" i="1">
                <a:latin typeface="Consolas" pitchFamily="49" charset="0"/>
                <a:ea typeface="楷体" pitchFamily="49" charset="-122"/>
                <a:cs typeface="Consolas" pitchFamily="49" charset="0"/>
              </a:rPr>
              <a:t>h</a:t>
            </a:r>
            <a:r>
              <a:rPr lang="en-US" altLang="zh-CN" sz="1800">
                <a:latin typeface="Consolas" pitchFamily="49" charset="0"/>
                <a:ea typeface="楷体" pitchFamily="49" charset="-122"/>
                <a:cs typeface="Consolas" pitchFamily="49" charset="0"/>
              </a:rPr>
              <a:t>(</a:t>
            </a:r>
            <a:r>
              <a:rPr lang="en-US" altLang="zh-CN" sz="1800" i="1">
                <a:latin typeface="Consolas" pitchFamily="49" charset="0"/>
                <a:ea typeface="楷体" pitchFamily="49" charset="-122"/>
                <a:cs typeface="Consolas" pitchFamily="49" charset="0"/>
              </a:rPr>
              <a:t>k</a:t>
            </a:r>
            <a:r>
              <a:rPr lang="en-US" altLang="zh-CN" sz="1800">
                <a:latin typeface="Consolas" pitchFamily="49" charset="0"/>
                <a:ea typeface="楷体" pitchFamily="49" charset="-122"/>
                <a:cs typeface="Consolas" pitchFamily="49" charset="0"/>
              </a:rPr>
              <a:t>)</a:t>
            </a:r>
            <a:endParaRPr lang="zh-CN" altLang="en-US" sz="1800" dirty="0">
              <a:latin typeface="Consolas" pitchFamily="49" charset="0"/>
              <a:ea typeface="楷体" pitchFamily="49" charset="-122"/>
              <a:cs typeface="Consolas" pitchFamily="49" charset="0"/>
            </a:endParaRPr>
          </a:p>
        </p:txBody>
      </p:sp>
      <p:sp>
        <p:nvSpPr>
          <p:cNvPr id="11" name="AutoShape 15">
            <a:extLst>
              <a:ext uri="{FF2B5EF4-FFF2-40B4-BE49-F238E27FC236}">
                <a16:creationId xmlns:a16="http://schemas.microsoft.com/office/drawing/2014/main" id="{7E51AE63-0EE5-EC04-056F-5BB3F053D0B1}"/>
              </a:ext>
            </a:extLst>
          </p:cNvPr>
          <p:cNvSpPr>
            <a:spLocks noChangeAspect="1" noChangeArrowheads="1"/>
          </p:cNvSpPr>
          <p:nvPr/>
        </p:nvSpPr>
        <p:spPr bwMode="auto">
          <a:xfrm>
            <a:off x="6596066" y="3133829"/>
            <a:ext cx="1258888" cy="2214578"/>
          </a:xfrm>
          <a:prstGeom prst="cube">
            <a:avLst>
              <a:gd name="adj" fmla="val 25000"/>
            </a:avLst>
          </a:prstGeom>
          <a:ln>
            <a:headEnd/>
            <a:tailEnd/>
          </a:ln>
        </p:spPr>
        <p:style>
          <a:lnRef idx="1">
            <a:schemeClr val="accent1"/>
          </a:lnRef>
          <a:fillRef idx="3">
            <a:schemeClr val="accent1"/>
          </a:fillRef>
          <a:effectRef idx="2">
            <a:schemeClr val="accent1"/>
          </a:effectRef>
          <a:fontRef idx="minor">
            <a:schemeClr val="lt1"/>
          </a:fontRef>
        </p:style>
        <p:txBody>
          <a:bodyPr anchor="ctr"/>
          <a:lstStyle/>
          <a:p>
            <a:endParaRPr lang="en-US" altLang="zh-CN" sz="2000">
              <a:latin typeface="Consolas" pitchFamily="49" charset="0"/>
              <a:ea typeface="楷体" pitchFamily="49" charset="-122"/>
              <a:cs typeface="Consolas" pitchFamily="49" charset="0"/>
            </a:endParaRPr>
          </a:p>
          <a:p>
            <a:r>
              <a:rPr lang="zh-CN" altLang="en-US" sz="2000">
                <a:latin typeface="Consolas" pitchFamily="49" charset="0"/>
                <a:ea typeface="楷体" pitchFamily="49" charset="-122"/>
                <a:cs typeface="Consolas" pitchFamily="49" charset="0"/>
              </a:rPr>
              <a:t>存储空间</a:t>
            </a:r>
            <a:endParaRPr lang="zh-CN" altLang="en-US" sz="2000" dirty="0">
              <a:latin typeface="Consolas" pitchFamily="49" charset="0"/>
              <a:ea typeface="楷体" pitchFamily="49" charset="-122"/>
              <a:cs typeface="Consolas" pitchFamily="49" charset="0"/>
            </a:endParaRPr>
          </a:p>
        </p:txBody>
      </p:sp>
      <p:sp>
        <p:nvSpPr>
          <p:cNvPr id="12" name="Oval 4">
            <a:extLst>
              <a:ext uri="{FF2B5EF4-FFF2-40B4-BE49-F238E27FC236}">
                <a16:creationId xmlns:a16="http://schemas.microsoft.com/office/drawing/2014/main" id="{1C71BCD1-E7D0-196D-9A5B-D57EFB5B35B9}"/>
              </a:ext>
            </a:extLst>
          </p:cNvPr>
          <p:cNvSpPr>
            <a:spLocks noChangeArrowheads="1"/>
          </p:cNvSpPr>
          <p:nvPr/>
        </p:nvSpPr>
        <p:spPr bwMode="auto">
          <a:xfrm>
            <a:off x="2309786" y="3492606"/>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15" name="Oval 5">
            <a:extLst>
              <a:ext uri="{FF2B5EF4-FFF2-40B4-BE49-F238E27FC236}">
                <a16:creationId xmlns:a16="http://schemas.microsoft.com/office/drawing/2014/main" id="{E9F6E1DD-6226-196A-9885-F25F951C141D}"/>
              </a:ext>
            </a:extLst>
          </p:cNvPr>
          <p:cNvSpPr>
            <a:spLocks noChangeArrowheads="1"/>
          </p:cNvSpPr>
          <p:nvPr/>
        </p:nvSpPr>
        <p:spPr bwMode="auto">
          <a:xfrm>
            <a:off x="2525686" y="3708506"/>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16" name="Oval 6">
            <a:extLst>
              <a:ext uri="{FF2B5EF4-FFF2-40B4-BE49-F238E27FC236}">
                <a16:creationId xmlns:a16="http://schemas.microsoft.com/office/drawing/2014/main" id="{B83CC119-1C23-4D5D-C30F-33C04CD47B4F}"/>
              </a:ext>
            </a:extLst>
          </p:cNvPr>
          <p:cNvSpPr>
            <a:spLocks noChangeArrowheads="1"/>
          </p:cNvSpPr>
          <p:nvPr/>
        </p:nvSpPr>
        <p:spPr bwMode="auto">
          <a:xfrm>
            <a:off x="2741586" y="3924406"/>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17" name="Oval 7">
            <a:extLst>
              <a:ext uri="{FF2B5EF4-FFF2-40B4-BE49-F238E27FC236}">
                <a16:creationId xmlns:a16="http://schemas.microsoft.com/office/drawing/2014/main" id="{6E63515E-E4DA-233D-7BA0-5FB410C2ECA6}"/>
              </a:ext>
            </a:extLst>
          </p:cNvPr>
          <p:cNvSpPr>
            <a:spLocks noChangeArrowheads="1"/>
          </p:cNvSpPr>
          <p:nvPr/>
        </p:nvSpPr>
        <p:spPr bwMode="auto">
          <a:xfrm>
            <a:off x="3028923" y="3419581"/>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18" name="Oval 8">
            <a:extLst>
              <a:ext uri="{FF2B5EF4-FFF2-40B4-BE49-F238E27FC236}">
                <a16:creationId xmlns:a16="http://schemas.microsoft.com/office/drawing/2014/main" id="{FB49B4CB-B7BD-E96C-3890-74013D7F20EF}"/>
              </a:ext>
            </a:extLst>
          </p:cNvPr>
          <p:cNvSpPr>
            <a:spLocks noChangeArrowheads="1"/>
          </p:cNvSpPr>
          <p:nvPr/>
        </p:nvSpPr>
        <p:spPr bwMode="auto">
          <a:xfrm>
            <a:off x="2309786" y="4284769"/>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19" name="Oval 9">
            <a:extLst>
              <a:ext uri="{FF2B5EF4-FFF2-40B4-BE49-F238E27FC236}">
                <a16:creationId xmlns:a16="http://schemas.microsoft.com/office/drawing/2014/main" id="{3D3142C6-ACFC-0987-C806-A5EAE43D4394}"/>
              </a:ext>
            </a:extLst>
          </p:cNvPr>
          <p:cNvSpPr>
            <a:spLocks noChangeArrowheads="1"/>
          </p:cNvSpPr>
          <p:nvPr/>
        </p:nvSpPr>
        <p:spPr bwMode="auto">
          <a:xfrm>
            <a:off x="3101948" y="4211744"/>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20" name="Oval 10">
            <a:extLst>
              <a:ext uri="{FF2B5EF4-FFF2-40B4-BE49-F238E27FC236}">
                <a16:creationId xmlns:a16="http://schemas.microsoft.com/office/drawing/2014/main" id="{55ED66C3-0A65-4C85-969D-0158EB7D798D}"/>
              </a:ext>
            </a:extLst>
          </p:cNvPr>
          <p:cNvSpPr>
            <a:spLocks noChangeArrowheads="1"/>
          </p:cNvSpPr>
          <p:nvPr/>
        </p:nvSpPr>
        <p:spPr bwMode="auto">
          <a:xfrm>
            <a:off x="3462311" y="3852969"/>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21" name="Oval 11">
            <a:extLst>
              <a:ext uri="{FF2B5EF4-FFF2-40B4-BE49-F238E27FC236}">
                <a16:creationId xmlns:a16="http://schemas.microsoft.com/office/drawing/2014/main" id="{3D5D1920-9638-899A-8273-B51DF829B536}"/>
              </a:ext>
            </a:extLst>
          </p:cNvPr>
          <p:cNvSpPr>
            <a:spLocks noChangeArrowheads="1"/>
          </p:cNvSpPr>
          <p:nvPr/>
        </p:nvSpPr>
        <p:spPr bwMode="auto">
          <a:xfrm>
            <a:off x="2957486" y="4645131"/>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22" name="Oval 12">
            <a:extLst>
              <a:ext uri="{FF2B5EF4-FFF2-40B4-BE49-F238E27FC236}">
                <a16:creationId xmlns:a16="http://schemas.microsoft.com/office/drawing/2014/main" id="{E14C1C6C-B434-866F-9F13-69A2EFC2AA4E}"/>
              </a:ext>
            </a:extLst>
          </p:cNvPr>
          <p:cNvSpPr>
            <a:spLocks noChangeArrowheads="1"/>
          </p:cNvSpPr>
          <p:nvPr/>
        </p:nvSpPr>
        <p:spPr bwMode="auto">
          <a:xfrm>
            <a:off x="3533748" y="3492606"/>
            <a:ext cx="215900" cy="2160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23" name="TextBox 32">
            <a:extLst>
              <a:ext uri="{FF2B5EF4-FFF2-40B4-BE49-F238E27FC236}">
                <a16:creationId xmlns:a16="http://schemas.microsoft.com/office/drawing/2014/main" id="{8A74D300-784A-4A21-3C57-4203A08EA19C}"/>
              </a:ext>
            </a:extLst>
          </p:cNvPr>
          <p:cNvSpPr txBox="1"/>
          <p:nvPr/>
        </p:nvSpPr>
        <p:spPr>
          <a:xfrm>
            <a:off x="2309786" y="4991217"/>
            <a:ext cx="1214446" cy="369332"/>
          </a:xfrm>
          <a:prstGeom prst="rect">
            <a:avLst/>
          </a:prstGeom>
          <a:noFill/>
        </p:spPr>
        <p:txBody>
          <a:bodyPr wrap="square" rtlCol="0">
            <a:spAutoFit/>
          </a:bodyPr>
          <a:lstStyle/>
          <a:p>
            <a:pPr algn="l"/>
            <a:r>
              <a:rPr kumimoji="1" lang="en-US" altLang="zh-CN" sz="1800" i="1">
                <a:latin typeface="Consolas" pitchFamily="49" charset="0"/>
                <a:ea typeface="楷体" pitchFamily="49" charset="-122"/>
                <a:cs typeface="Consolas" pitchFamily="49" charset="0"/>
              </a:rPr>
              <a:t>n</a:t>
            </a:r>
            <a:r>
              <a:rPr kumimoji="1" lang="zh-CN" altLang="en-US" sz="1800">
                <a:latin typeface="Consolas" pitchFamily="49" charset="0"/>
                <a:ea typeface="楷体" pitchFamily="49" charset="-122"/>
                <a:cs typeface="Consolas" pitchFamily="49" charset="0"/>
              </a:rPr>
              <a:t>个对象</a:t>
            </a:r>
            <a:endParaRPr lang="zh-CN" altLang="en-US" sz="1800">
              <a:latin typeface="Consolas" pitchFamily="49" charset="0"/>
              <a:cs typeface="Consolas" pitchFamily="49" charset="0"/>
            </a:endParaRPr>
          </a:p>
        </p:txBody>
      </p:sp>
      <p:sp>
        <p:nvSpPr>
          <p:cNvPr id="24" name="TextBox 33">
            <a:extLst>
              <a:ext uri="{FF2B5EF4-FFF2-40B4-BE49-F238E27FC236}">
                <a16:creationId xmlns:a16="http://schemas.microsoft.com/office/drawing/2014/main" id="{3D68A219-8241-E95E-19EF-3E470818528B}"/>
              </a:ext>
            </a:extLst>
          </p:cNvPr>
          <p:cNvSpPr txBox="1"/>
          <p:nvPr/>
        </p:nvSpPr>
        <p:spPr>
          <a:xfrm>
            <a:off x="8024826" y="3705333"/>
            <a:ext cx="2071702" cy="1015663"/>
          </a:xfrm>
          <a:prstGeom prst="rect">
            <a:avLst/>
          </a:prstGeom>
          <a:noFill/>
        </p:spPr>
        <p:txBody>
          <a:bodyPr wrap="square" rtlCol="0">
            <a:spAutoFit/>
          </a:bodyPr>
          <a:lstStyle/>
          <a:p>
            <a:pPr algn="l"/>
            <a:r>
              <a:rPr kumimoji="1" lang="zh-CN" altLang="en-US" sz="2000">
                <a:solidFill>
                  <a:srgbClr val="FF00FF"/>
                </a:solidFill>
                <a:latin typeface="Consolas" pitchFamily="49" charset="0"/>
                <a:ea typeface="楷体" pitchFamily="49" charset="-122"/>
                <a:cs typeface="Consolas" pitchFamily="49" charset="0"/>
              </a:rPr>
              <a:t>哈希表：</a:t>
            </a:r>
            <a:r>
              <a:rPr kumimoji="1" lang="zh-CN" altLang="en-US" sz="2000">
                <a:latin typeface="Consolas" pitchFamily="49" charset="0"/>
                <a:ea typeface="楷体" pitchFamily="49" charset="-122"/>
                <a:cs typeface="Consolas" pitchFamily="49" charset="0"/>
              </a:rPr>
              <a:t>长度为</a:t>
            </a:r>
            <a:r>
              <a:rPr kumimoji="1" lang="en-US" altLang="zh-CN" sz="2000" i="1">
                <a:latin typeface="Consolas" pitchFamily="49" charset="0"/>
                <a:ea typeface="楷体" pitchFamily="49" charset="-122"/>
                <a:cs typeface="Consolas" pitchFamily="49" charset="0"/>
              </a:rPr>
              <a:t>m</a:t>
            </a:r>
            <a:r>
              <a:rPr kumimoji="1" lang="zh-CN" altLang="en-US" sz="2000">
                <a:latin typeface="Consolas" pitchFamily="49" charset="0"/>
                <a:ea typeface="楷体" pitchFamily="49" charset="-122"/>
                <a:cs typeface="Consolas" pitchFamily="49" charset="0"/>
              </a:rPr>
              <a:t>（</a:t>
            </a:r>
            <a:r>
              <a:rPr kumimoji="1" lang="en-US" altLang="zh-CN" sz="2000" i="1">
                <a:latin typeface="Consolas" pitchFamily="49" charset="0"/>
                <a:ea typeface="楷体" pitchFamily="49" charset="-122"/>
                <a:cs typeface="Consolas" pitchFamily="49" charset="0"/>
              </a:rPr>
              <a:t>m</a:t>
            </a:r>
            <a:r>
              <a:rPr kumimoji="1" lang="en-US" altLang="zh-CN" sz="2000">
                <a:latin typeface="+mj-ea"/>
                <a:ea typeface="+mj-ea"/>
                <a:cs typeface="Consolas" pitchFamily="49" charset="0"/>
              </a:rPr>
              <a:t>≥</a:t>
            </a:r>
            <a:r>
              <a:rPr kumimoji="1" lang="en-US" altLang="zh-CN" sz="2000" i="1">
                <a:latin typeface="Consolas" pitchFamily="49" charset="0"/>
                <a:ea typeface="楷体" pitchFamily="49" charset="-122"/>
                <a:cs typeface="Consolas" pitchFamily="49" charset="0"/>
              </a:rPr>
              <a:t>n</a:t>
            </a:r>
            <a:r>
              <a:rPr kumimoji="1" lang="zh-CN" altLang="en-US" sz="2000">
                <a:latin typeface="Consolas" pitchFamily="49" charset="0"/>
                <a:ea typeface="楷体" pitchFamily="49" charset="-122"/>
                <a:cs typeface="Consolas" pitchFamily="49" charset="0"/>
              </a:rPr>
              <a:t>）的连续内存单元</a:t>
            </a:r>
            <a:endParaRPr lang="zh-CN" altLang="en-US" sz="2000">
              <a:latin typeface="Consolas" pitchFamily="49" charset="0"/>
              <a:cs typeface="Consolas" pitchFamily="49" charset="0"/>
            </a:endParaRPr>
          </a:p>
        </p:txBody>
      </p:sp>
      <p:sp>
        <p:nvSpPr>
          <p:cNvPr id="25" name="TextBox 34">
            <a:extLst>
              <a:ext uri="{FF2B5EF4-FFF2-40B4-BE49-F238E27FC236}">
                <a16:creationId xmlns:a16="http://schemas.microsoft.com/office/drawing/2014/main" id="{E5BA2BD3-C3E1-A022-FFEB-D06C8C7FD544}"/>
              </a:ext>
            </a:extLst>
          </p:cNvPr>
          <p:cNvSpPr txBox="1"/>
          <p:nvPr/>
        </p:nvSpPr>
        <p:spPr>
          <a:xfrm>
            <a:off x="6238876" y="3348143"/>
            <a:ext cx="357190" cy="338554"/>
          </a:xfrm>
          <a:prstGeom prst="rect">
            <a:avLst/>
          </a:prstGeom>
          <a:noFill/>
        </p:spPr>
        <p:txBody>
          <a:bodyPr wrap="square" rtlCol="0">
            <a:spAutoFit/>
          </a:bodyPr>
          <a:lstStyle/>
          <a:p>
            <a:r>
              <a:rPr lang="en-US" altLang="zh-CN" sz="1600">
                <a:solidFill>
                  <a:srgbClr val="00B0F0"/>
                </a:solidFill>
                <a:latin typeface="Consolas" pitchFamily="49" charset="0"/>
                <a:cs typeface="Consolas" pitchFamily="49" charset="0"/>
              </a:rPr>
              <a:t>0</a:t>
            </a:r>
            <a:endParaRPr lang="zh-CN" altLang="en-US" sz="1600">
              <a:solidFill>
                <a:srgbClr val="00B0F0"/>
              </a:solidFill>
              <a:latin typeface="Consolas" pitchFamily="49" charset="0"/>
              <a:cs typeface="Consolas" pitchFamily="49" charset="0"/>
            </a:endParaRPr>
          </a:p>
        </p:txBody>
      </p:sp>
      <p:sp>
        <p:nvSpPr>
          <p:cNvPr id="26" name="TextBox 35">
            <a:extLst>
              <a:ext uri="{FF2B5EF4-FFF2-40B4-BE49-F238E27FC236}">
                <a16:creationId xmlns:a16="http://schemas.microsoft.com/office/drawing/2014/main" id="{02A2B55F-7862-B9F9-00B5-7E8CCF3D7C8F}"/>
              </a:ext>
            </a:extLst>
          </p:cNvPr>
          <p:cNvSpPr txBox="1"/>
          <p:nvPr/>
        </p:nvSpPr>
        <p:spPr>
          <a:xfrm>
            <a:off x="5953124" y="5019735"/>
            <a:ext cx="642942" cy="338554"/>
          </a:xfrm>
          <a:prstGeom prst="rect">
            <a:avLst/>
          </a:prstGeom>
          <a:noFill/>
        </p:spPr>
        <p:txBody>
          <a:bodyPr wrap="square" rtlCol="0">
            <a:spAutoFit/>
          </a:bodyPr>
          <a:lstStyle/>
          <a:p>
            <a:r>
              <a:rPr lang="en-US" altLang="zh-CN" sz="1600" i="1">
                <a:solidFill>
                  <a:srgbClr val="00B0F0"/>
                </a:solidFill>
                <a:latin typeface="Consolas" pitchFamily="49" charset="0"/>
                <a:cs typeface="Consolas" pitchFamily="49" charset="0"/>
              </a:rPr>
              <a:t>m</a:t>
            </a:r>
            <a:r>
              <a:rPr lang="en-US" altLang="zh-CN" sz="1600">
                <a:solidFill>
                  <a:srgbClr val="00B0F0"/>
                </a:solidFill>
                <a:latin typeface="Consolas" pitchFamily="49" charset="0"/>
                <a:ea typeface="+mj-ea"/>
                <a:cs typeface="Consolas" pitchFamily="49" charset="0"/>
              </a:rPr>
              <a:t>-</a:t>
            </a:r>
            <a:r>
              <a:rPr lang="en-US" altLang="zh-CN" sz="1600">
                <a:solidFill>
                  <a:srgbClr val="00B0F0"/>
                </a:solidFill>
                <a:latin typeface="Consolas" pitchFamily="49" charset="0"/>
                <a:cs typeface="Consolas" pitchFamily="49" charset="0"/>
              </a:rPr>
              <a:t>1</a:t>
            </a:r>
            <a:endParaRPr lang="zh-CN" altLang="en-US" sz="1600">
              <a:solidFill>
                <a:srgbClr val="00B0F0"/>
              </a:solidFill>
              <a:latin typeface="Consolas" pitchFamily="49" charset="0"/>
              <a:cs typeface="Consolas" pitchFamily="49" charset="0"/>
            </a:endParaRPr>
          </a:p>
        </p:txBody>
      </p:sp>
      <p:sp>
        <p:nvSpPr>
          <p:cNvPr id="27" name="TextBox 36">
            <a:extLst>
              <a:ext uri="{FF2B5EF4-FFF2-40B4-BE49-F238E27FC236}">
                <a16:creationId xmlns:a16="http://schemas.microsoft.com/office/drawing/2014/main" id="{18D08EC2-A926-EC56-234C-9CB5C77A50F1}"/>
              </a:ext>
            </a:extLst>
          </p:cNvPr>
          <p:cNvSpPr txBox="1"/>
          <p:nvPr/>
        </p:nvSpPr>
        <p:spPr>
          <a:xfrm>
            <a:off x="6238876" y="4305355"/>
            <a:ext cx="357190" cy="400110"/>
          </a:xfrm>
          <a:prstGeom prst="rect">
            <a:avLst/>
          </a:prstGeom>
          <a:noFill/>
        </p:spPr>
        <p:txBody>
          <a:bodyPr wrap="square" rtlCol="0">
            <a:spAutoFit/>
          </a:bodyPr>
          <a:lstStyle/>
          <a:p>
            <a:r>
              <a:rPr lang="en-US" altLang="zh-CN" sz="2000">
                <a:latin typeface="Consolas" pitchFamily="49" charset="0"/>
                <a:ea typeface="宋体"/>
                <a:cs typeface="Consolas" pitchFamily="49" charset="0"/>
              </a:rPr>
              <a:t>┇</a:t>
            </a:r>
            <a:endParaRPr lang="zh-CN" altLang="en-US" sz="2000">
              <a:latin typeface="Consolas" pitchFamily="49" charset="0"/>
              <a:cs typeface="Consolas" pitchFamily="49" charset="0"/>
            </a:endParaRPr>
          </a:p>
        </p:txBody>
      </p:sp>
      <p:sp>
        <p:nvSpPr>
          <p:cNvPr id="28" name="Oval 10">
            <a:extLst>
              <a:ext uri="{FF2B5EF4-FFF2-40B4-BE49-F238E27FC236}">
                <a16:creationId xmlns:a16="http://schemas.microsoft.com/office/drawing/2014/main" id="{3E936933-6C76-7C03-4205-D2E95F2A2382}"/>
              </a:ext>
            </a:extLst>
          </p:cNvPr>
          <p:cNvSpPr>
            <a:spLocks noChangeArrowheads="1"/>
          </p:cNvSpPr>
          <p:nvPr/>
        </p:nvSpPr>
        <p:spPr bwMode="auto">
          <a:xfrm>
            <a:off x="6615116" y="3655204"/>
            <a:ext cx="259766" cy="35719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noAutofit/>
          </a:bodyPr>
          <a:lstStyle/>
          <a:p>
            <a:endParaRPr lang="zh-CN" altLang="en-US">
              <a:latin typeface="Consolas" pitchFamily="49" charset="0"/>
              <a:cs typeface="Consolas" pitchFamily="49" charset="0"/>
            </a:endParaRPr>
          </a:p>
        </p:txBody>
      </p:sp>
      <p:sp>
        <p:nvSpPr>
          <p:cNvPr id="29" name="TextBox 38">
            <a:extLst>
              <a:ext uri="{FF2B5EF4-FFF2-40B4-BE49-F238E27FC236}">
                <a16:creationId xmlns:a16="http://schemas.microsoft.com/office/drawing/2014/main" id="{2FDFDB6B-D13D-8174-BA49-D83F491C8243}"/>
              </a:ext>
            </a:extLst>
          </p:cNvPr>
          <p:cNvSpPr txBox="1"/>
          <p:nvPr/>
        </p:nvSpPr>
        <p:spPr>
          <a:xfrm>
            <a:off x="5524496" y="2419449"/>
            <a:ext cx="1357322" cy="369332"/>
          </a:xfrm>
          <a:prstGeom prst="rect">
            <a:avLst/>
          </a:prstGeom>
          <a:noFill/>
        </p:spPr>
        <p:txBody>
          <a:bodyPr wrap="square" rtlCol="0">
            <a:spAutoFit/>
          </a:bodyPr>
          <a:lstStyle/>
          <a:p>
            <a:pPr algn="l"/>
            <a:r>
              <a:rPr kumimoji="1" lang="zh-CN" altLang="en-US" sz="1800">
                <a:latin typeface="Consolas" pitchFamily="49" charset="0"/>
                <a:ea typeface="楷体" pitchFamily="49" charset="-122"/>
                <a:cs typeface="Consolas" pitchFamily="49" charset="0"/>
              </a:rPr>
              <a:t>哈希地址</a:t>
            </a:r>
            <a:endParaRPr lang="zh-CN" altLang="en-US" sz="1800">
              <a:latin typeface="Consolas" pitchFamily="49" charset="0"/>
              <a:cs typeface="Consolas" pitchFamily="49" charset="0"/>
            </a:endParaRPr>
          </a:p>
        </p:txBody>
      </p:sp>
      <p:sp>
        <p:nvSpPr>
          <p:cNvPr id="30" name="TextBox 39">
            <a:extLst>
              <a:ext uri="{FF2B5EF4-FFF2-40B4-BE49-F238E27FC236}">
                <a16:creationId xmlns:a16="http://schemas.microsoft.com/office/drawing/2014/main" id="{5B25F532-7BA9-80F5-2D8A-6AC412B8E897}"/>
              </a:ext>
            </a:extLst>
          </p:cNvPr>
          <p:cNvSpPr txBox="1"/>
          <p:nvPr/>
        </p:nvSpPr>
        <p:spPr>
          <a:xfrm>
            <a:off x="5907086" y="3661554"/>
            <a:ext cx="785818" cy="338554"/>
          </a:xfrm>
          <a:prstGeom prst="rect">
            <a:avLst/>
          </a:prstGeom>
          <a:noFill/>
        </p:spPr>
        <p:txBody>
          <a:bodyPr wrap="square" rtlCol="0">
            <a:spAutoFit/>
          </a:bodyPr>
          <a:lstStyle/>
          <a:p>
            <a:r>
              <a:rPr lang="en-US" altLang="zh-CN" sz="1600" i="1">
                <a:solidFill>
                  <a:srgbClr val="00B0F0"/>
                </a:solidFill>
                <a:latin typeface="Consolas" pitchFamily="49" charset="0"/>
                <a:ea typeface="楷体" pitchFamily="49" charset="-122"/>
                <a:cs typeface="Consolas" pitchFamily="49" charset="0"/>
              </a:rPr>
              <a:t>h</a:t>
            </a:r>
            <a:r>
              <a:rPr lang="en-US" altLang="zh-CN" sz="1600">
                <a:solidFill>
                  <a:srgbClr val="00B0F0"/>
                </a:solidFill>
                <a:latin typeface="Consolas" pitchFamily="49" charset="0"/>
                <a:ea typeface="楷体" pitchFamily="49" charset="-122"/>
                <a:cs typeface="Consolas" pitchFamily="49" charset="0"/>
              </a:rPr>
              <a:t>(</a:t>
            </a:r>
            <a:r>
              <a:rPr lang="en-US" altLang="zh-CN" sz="1600" i="1">
                <a:solidFill>
                  <a:srgbClr val="00B0F0"/>
                </a:solidFill>
                <a:latin typeface="Consolas" pitchFamily="49" charset="0"/>
                <a:ea typeface="楷体" pitchFamily="49" charset="-122"/>
                <a:cs typeface="Consolas" pitchFamily="49" charset="0"/>
              </a:rPr>
              <a:t>k</a:t>
            </a:r>
            <a:r>
              <a:rPr lang="en-US" altLang="zh-CN" sz="1600">
                <a:solidFill>
                  <a:srgbClr val="00B0F0"/>
                </a:solidFill>
                <a:latin typeface="Consolas" pitchFamily="49" charset="0"/>
                <a:ea typeface="楷体" pitchFamily="49" charset="-122"/>
                <a:cs typeface="Consolas" pitchFamily="49" charset="0"/>
              </a:rPr>
              <a:t>)</a:t>
            </a:r>
            <a:endParaRPr lang="zh-CN" altLang="en-US" sz="1600">
              <a:solidFill>
                <a:srgbClr val="00B0F0"/>
              </a:solidFill>
              <a:latin typeface="Consolas" pitchFamily="49" charset="0"/>
              <a:ea typeface="楷体" pitchFamily="49" charset="-122"/>
              <a:cs typeface="Consolas" pitchFamily="49" charset="0"/>
            </a:endParaRPr>
          </a:p>
        </p:txBody>
      </p:sp>
      <p:cxnSp>
        <p:nvCxnSpPr>
          <p:cNvPr id="31" name="直接箭头连接符 30">
            <a:extLst>
              <a:ext uri="{FF2B5EF4-FFF2-40B4-BE49-F238E27FC236}">
                <a16:creationId xmlns:a16="http://schemas.microsoft.com/office/drawing/2014/main" id="{E204F69F-14B2-8548-0DB9-2DDC35827FD9}"/>
              </a:ext>
            </a:extLst>
          </p:cNvPr>
          <p:cNvCxnSpPr/>
          <p:nvPr/>
        </p:nvCxnSpPr>
        <p:spPr>
          <a:xfrm rot="5400000">
            <a:off x="5719425" y="3258784"/>
            <a:ext cx="896821" cy="79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DC039279-6C72-5F00-2104-2021EEF2DF24}"/>
              </a:ext>
            </a:extLst>
          </p:cNvPr>
          <p:cNvCxnSpPr>
            <a:stCxn id="19" idx="6"/>
          </p:cNvCxnSpPr>
          <p:nvPr/>
        </p:nvCxnSpPr>
        <p:spPr>
          <a:xfrm flipV="1">
            <a:off x="3317848" y="3993344"/>
            <a:ext cx="2778152" cy="326400"/>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099066"/>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A5E3-CD5A-9C1E-A8F6-85496FE16DD3}"/>
            </a:ext>
          </a:extLst>
        </p:cNvPr>
        <p:cNvGrpSpPr/>
        <p:nvPr/>
      </p:nvGrpSpPr>
      <p:grpSpPr>
        <a:xfrm>
          <a:off x="0" y="0"/>
          <a:ext cx="0" cy="0"/>
          <a:chOff x="0" y="0"/>
          <a:chExt cx="0" cy="0"/>
        </a:xfrm>
      </p:grpSpPr>
      <p:sp>
        <p:nvSpPr>
          <p:cNvPr id="112643" name="Text Box 3">
            <a:extLst>
              <a:ext uri="{FF2B5EF4-FFF2-40B4-BE49-F238E27FC236}">
                <a16:creationId xmlns:a16="http://schemas.microsoft.com/office/drawing/2014/main" id="{FFE4AE82-6C1A-E30A-FD11-D0796C231D4D}"/>
              </a:ext>
            </a:extLst>
          </p:cNvPr>
          <p:cNvSpPr txBox="1">
            <a:spLocks noChangeArrowheads="1"/>
          </p:cNvSpPr>
          <p:nvPr/>
        </p:nvSpPr>
        <p:spPr bwMode="auto">
          <a:xfrm>
            <a:off x="1915344" y="2526961"/>
            <a:ext cx="83058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因此，一个散列结构是一块地址连续的存储空间，它与一个称为散列函数的函数相关联，该函数是数据记录的关键字到地址空间的映射。</a:t>
            </a:r>
          </a:p>
        </p:txBody>
      </p:sp>
      <p:sp>
        <p:nvSpPr>
          <p:cNvPr id="211972" name="Text Box 4">
            <a:extLst>
              <a:ext uri="{FF2B5EF4-FFF2-40B4-BE49-F238E27FC236}">
                <a16:creationId xmlns:a16="http://schemas.microsoft.com/office/drawing/2014/main" id="{8E2D4D55-7F9B-217D-1584-FCA71BE5DD99}"/>
              </a:ext>
            </a:extLst>
          </p:cNvPr>
          <p:cNvSpPr txBox="1">
            <a:spLocks noChangeArrowheads="1"/>
          </p:cNvSpPr>
          <p:nvPr/>
        </p:nvSpPr>
        <p:spPr bwMode="auto">
          <a:xfrm>
            <a:off x="1991544" y="3982202"/>
            <a:ext cx="8305800"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marL="0" indent="0" algn="just" eaLnBrk="1" hangingPunct="1">
              <a:spcBef>
                <a:spcPct val="50000"/>
              </a:spcBef>
              <a:buClr>
                <a:schemeClr val="folHlink"/>
              </a:buClr>
              <a:buSzPct val="80000"/>
            </a:pPr>
            <a:r>
              <a:rPr kumimoji="1" lang="zh-CN" altLang="en-US" sz="2000" dirty="0">
                <a:latin typeface="微软雅黑" pitchFamily="34" charset="-122"/>
                <a:ea typeface="微软雅黑" pitchFamily="34" charset="-122"/>
                <a:cs typeface="经典粗黑简" pitchFamily="49" charset="-122"/>
              </a:rPr>
              <a:t>这种存储空间的使用方式，使得</a:t>
            </a:r>
          </a:p>
          <a:p>
            <a:pPr marL="0" indent="0" algn="just" eaLnBrk="1" hangingPunct="1">
              <a:spcBef>
                <a:spcPct val="50000"/>
              </a:spcBef>
              <a:buClr>
                <a:schemeClr val="folHlink"/>
              </a:buClr>
              <a:buSzPct val="80000"/>
            </a:pPr>
            <a:r>
              <a:rPr kumimoji="1" lang="zh-CN" altLang="en-US" sz="2000" dirty="0">
                <a:latin typeface="微软雅黑" pitchFamily="34" charset="-122"/>
                <a:ea typeface="微软雅黑" pitchFamily="34" charset="-122"/>
                <a:cs typeface="经典粗黑简" pitchFamily="49" charset="-122"/>
              </a:rPr>
              <a:t>存储记录时，通过散列函数计算出记录的存储位置并按此存储位置存储记录。</a:t>
            </a:r>
          </a:p>
          <a:p>
            <a:pPr algn="just" eaLnBrk="1" hangingPunct="1">
              <a:spcBef>
                <a:spcPct val="50000"/>
              </a:spcBef>
            </a:pPr>
            <a:r>
              <a:rPr kumimoji="1" lang="zh-CN" altLang="en-US" sz="2400" b="1" dirty="0">
                <a:latin typeface="幼圆" pitchFamily="49" charset="-122"/>
                <a:ea typeface="幼圆" pitchFamily="49" charset="-122"/>
              </a:rPr>
              <a:t>        记录位置 ＝ </a:t>
            </a:r>
            <a:r>
              <a:rPr kumimoji="1" lang="en-US" altLang="zh-CN" sz="2400" b="1" dirty="0">
                <a:latin typeface="幼圆" pitchFamily="49" charset="-122"/>
                <a:ea typeface="幼圆" pitchFamily="49" charset="-122"/>
              </a:rPr>
              <a:t>Hash(</a:t>
            </a:r>
            <a:r>
              <a:rPr kumimoji="1" lang="zh-CN" altLang="en-US" sz="2400" b="1" dirty="0">
                <a:latin typeface="幼圆" pitchFamily="49" charset="-122"/>
                <a:ea typeface="幼圆" pitchFamily="49" charset="-122"/>
              </a:rPr>
              <a:t>记录的关键字</a:t>
            </a:r>
            <a:r>
              <a:rPr kumimoji="1" lang="en-US" altLang="zh-CN" sz="2400" b="1" dirty="0">
                <a:latin typeface="幼圆" pitchFamily="49" charset="-122"/>
                <a:ea typeface="幼圆" pitchFamily="49" charset="-122"/>
              </a:rPr>
              <a:t>)      </a:t>
            </a:r>
          </a:p>
        </p:txBody>
      </p:sp>
      <p:sp>
        <p:nvSpPr>
          <p:cNvPr id="112645" name="Text Box 5">
            <a:extLst>
              <a:ext uri="{FF2B5EF4-FFF2-40B4-BE49-F238E27FC236}">
                <a16:creationId xmlns:a16="http://schemas.microsoft.com/office/drawing/2014/main" id="{825AAFB0-392C-E816-1E8C-53E2DC8E2C43}"/>
              </a:ext>
            </a:extLst>
          </p:cNvPr>
          <p:cNvSpPr txBox="1">
            <a:spLocks noChangeArrowheads="1"/>
          </p:cNvSpPr>
          <p:nvPr/>
        </p:nvSpPr>
        <p:spPr bwMode="auto">
          <a:xfrm>
            <a:off x="3077816" y="3414521"/>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zh-CN" altLang="en-US" sz="2400" b="1">
                <a:latin typeface="Times New Roman" pitchFamily="18" charset="0"/>
                <a:ea typeface="宋体" pitchFamily="2" charset="-122"/>
              </a:rPr>
              <a:t>         </a:t>
            </a:r>
            <a:r>
              <a:rPr kumimoji="1" lang="en-US" altLang="zh-CN" sz="2400" b="1">
                <a:latin typeface="Times New Roman" pitchFamily="18" charset="0"/>
                <a:ea typeface="宋体" pitchFamily="2" charset="-122"/>
              </a:rPr>
              <a:t>Hash</a:t>
            </a:r>
            <a:r>
              <a:rPr kumimoji="1" lang="zh-CN" altLang="en-US" sz="2400" b="1">
                <a:latin typeface="Times New Roman" pitchFamily="18" charset="0"/>
                <a:ea typeface="宋体" pitchFamily="2" charset="-122"/>
              </a:rPr>
              <a:t>：关键字</a:t>
            </a:r>
            <a:r>
              <a:rPr kumimoji="1" lang="zh-CN" altLang="en-US" sz="2400" b="1">
                <a:latin typeface="宋体" pitchFamily="2" charset="-122"/>
                <a:ea typeface="宋体" pitchFamily="2" charset="-122"/>
              </a:rPr>
              <a:t>→</a:t>
            </a:r>
            <a:r>
              <a:rPr kumimoji="1" lang="zh-CN" altLang="en-US" sz="2400" b="1">
                <a:latin typeface="Times New Roman" pitchFamily="18" charset="0"/>
                <a:ea typeface="宋体" pitchFamily="2" charset="-122"/>
              </a:rPr>
              <a:t> 地址</a:t>
            </a:r>
          </a:p>
        </p:txBody>
      </p:sp>
      <p:sp>
        <p:nvSpPr>
          <p:cNvPr id="211974" name="Text Box 6">
            <a:extLst>
              <a:ext uri="{FF2B5EF4-FFF2-40B4-BE49-F238E27FC236}">
                <a16:creationId xmlns:a16="http://schemas.microsoft.com/office/drawing/2014/main" id="{9ACA9329-558B-9EC5-AD0C-157687E81160}"/>
              </a:ext>
            </a:extLst>
          </p:cNvPr>
          <p:cNvSpPr txBox="1">
            <a:spLocks noChangeArrowheads="1"/>
          </p:cNvSpPr>
          <p:nvPr/>
        </p:nvSpPr>
        <p:spPr bwMode="auto">
          <a:xfrm>
            <a:off x="1993322" y="5934801"/>
            <a:ext cx="8305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marL="0" indent="0" algn="just" eaLnBrk="1" hangingPunct="1">
              <a:spcBef>
                <a:spcPct val="50000"/>
              </a:spcBef>
              <a:buClr>
                <a:schemeClr val="folHlink"/>
              </a:buClr>
              <a:buSzPct val="80000"/>
            </a:pPr>
            <a:r>
              <a:rPr kumimoji="1" lang="zh-CN" altLang="en-US" sz="2000" dirty="0">
                <a:latin typeface="微软雅黑" pitchFamily="34" charset="-122"/>
                <a:ea typeface="微软雅黑" pitchFamily="34" charset="-122"/>
                <a:cs typeface="经典粗黑简" pitchFamily="49" charset="-122"/>
              </a:rPr>
              <a:t>访问记录时，同样利用散列函数计算存储位置，然后根据所计算出的存储位置访问记录。</a:t>
            </a:r>
          </a:p>
        </p:txBody>
      </p:sp>
      <p:sp>
        <p:nvSpPr>
          <p:cNvPr id="2" name="矩形 1">
            <a:extLst>
              <a:ext uri="{FF2B5EF4-FFF2-40B4-BE49-F238E27FC236}">
                <a16:creationId xmlns:a16="http://schemas.microsoft.com/office/drawing/2014/main" id="{C7FB6485-56BA-56D7-1053-33EE668E629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B4E4D154-B5E5-D4C6-D299-BFA66C3C9375}"/>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E68F7B1B-C12D-D479-16EF-EF39D659F207}"/>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3">
            <a:extLst>
              <a:ext uri="{FF2B5EF4-FFF2-40B4-BE49-F238E27FC236}">
                <a16:creationId xmlns:a16="http://schemas.microsoft.com/office/drawing/2014/main" id="{0D828CE1-715E-6ACB-ED79-2EFE27710D50}"/>
              </a:ext>
            </a:extLst>
          </p:cNvPr>
          <p:cNvSpPr txBox="1"/>
          <p:nvPr/>
        </p:nvSpPr>
        <p:spPr>
          <a:xfrm>
            <a:off x="1289704" y="1774981"/>
            <a:ext cx="2286016" cy="461665"/>
          </a:xfrm>
          <a:prstGeom prst="rect">
            <a:avLst/>
          </a:prstGeom>
          <a:noFill/>
        </p:spPr>
        <p:txBody>
          <a:bodyPr wrap="square" rtlCol="0">
            <a:spAutoFit/>
          </a:bodyPr>
          <a:lstStyle/>
          <a:p>
            <a:pPr algn="l"/>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、几个概念</a:t>
            </a:r>
          </a:p>
        </p:txBody>
      </p:sp>
    </p:spTree>
    <p:extLst>
      <p:ext uri="{BB962C8B-B14F-4D97-AF65-F5344CB8AC3E}">
        <p14:creationId xmlns:p14="http://schemas.microsoft.com/office/powerpoint/2010/main" val="5784946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5000"/>
                                  </p:stCondLst>
                                  <p:childTnLst>
                                    <p:set>
                                      <p:cBhvr>
                                        <p:cTn id="6" dur="1" fill="hold">
                                          <p:stCondLst>
                                            <p:cond delay="0"/>
                                          </p:stCondLst>
                                        </p:cTn>
                                        <p:tgtEl>
                                          <p:spTgt spid="211972"/>
                                        </p:tgtEl>
                                        <p:attrNameLst>
                                          <p:attrName>style.visibility</p:attrName>
                                        </p:attrNameLst>
                                      </p:cBhvr>
                                      <p:to>
                                        <p:strVal val="visible"/>
                                      </p:to>
                                    </p:set>
                                    <p:animEffect transition="in" filter="slide(fromBottom)">
                                      <p:cBhvr>
                                        <p:cTn id="7" dur="500"/>
                                        <p:tgtEl>
                                          <p:spTgt spid="211972"/>
                                        </p:tgtEl>
                                      </p:cBhvr>
                                    </p:animEffect>
                                  </p:childTnLst>
                                </p:cTn>
                              </p:par>
                            </p:childTnLst>
                          </p:cTn>
                        </p:par>
                        <p:par>
                          <p:cTn id="8" fill="hold" nodeType="afterGroup">
                            <p:stCondLst>
                              <p:cond delay="5500"/>
                            </p:stCondLst>
                            <p:childTnLst>
                              <p:par>
                                <p:cTn id="9" presetID="12" presetClass="entr" presetSubtype="4" fill="hold" grpId="0" nodeType="afterEffect">
                                  <p:stCondLst>
                                    <p:cond delay="5000"/>
                                  </p:stCondLst>
                                  <p:childTnLst>
                                    <p:set>
                                      <p:cBhvr>
                                        <p:cTn id="10" dur="1" fill="hold">
                                          <p:stCondLst>
                                            <p:cond delay="0"/>
                                          </p:stCondLst>
                                        </p:cTn>
                                        <p:tgtEl>
                                          <p:spTgt spid="211974"/>
                                        </p:tgtEl>
                                        <p:attrNameLst>
                                          <p:attrName>style.visibility</p:attrName>
                                        </p:attrNameLst>
                                      </p:cBhvr>
                                      <p:to>
                                        <p:strVal val="visible"/>
                                      </p:to>
                                    </p:set>
                                    <p:animEffect transition="in" filter="slide(fromBottom)">
                                      <p:cBhvr>
                                        <p:cTn id="11" dur="500"/>
                                        <p:tgtEl>
                                          <p:spTgt spid="211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2" grpId="0" autoUpdateAnimBg="0"/>
      <p:bldP spid="211974"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p:cNvSpPr>
          <p:nvPr>
            <p:ph type="body" idx="4294967295"/>
          </p:nvPr>
        </p:nvSpPr>
        <p:spPr>
          <a:xfrm>
            <a:off x="2280316" y="3748057"/>
            <a:ext cx="7620000" cy="1728787"/>
          </a:xfrm>
        </p:spPr>
        <p:txBody>
          <a:bodyPr>
            <a:normAutofit/>
          </a:bodyPr>
          <a:lstStyle/>
          <a:p>
            <a:pPr marL="0" indent="0">
              <a:buNone/>
            </a:pPr>
            <a:r>
              <a:rPr kumimoji="1" lang="zh-CN" altLang="en-US" sz="2200" dirty="0">
                <a:latin typeface="微软雅黑" pitchFamily="34" charset="-122"/>
                <a:ea typeface="微软雅黑" pitchFamily="34" charset="-122"/>
                <a:cs typeface="经典粗黑简" pitchFamily="49" charset="-122"/>
              </a:rPr>
              <a:t>冲突和同义词</a:t>
            </a:r>
          </a:p>
          <a:p>
            <a:pPr marL="457200" lvl="1" indent="0">
              <a:buNone/>
            </a:pPr>
            <a:r>
              <a:rPr kumimoji="1" lang="zh-CN" altLang="en-US" sz="2200" dirty="0">
                <a:latin typeface="微软雅黑" pitchFamily="34" charset="-122"/>
                <a:ea typeface="微软雅黑" pitchFamily="34" charset="-122"/>
                <a:cs typeface="经典粗黑简" pitchFamily="49" charset="-122"/>
              </a:rPr>
              <a:t>  若某个哈希函数</a:t>
            </a:r>
            <a:r>
              <a:rPr kumimoji="1" lang="en-US" altLang="zh-CN" sz="2200" dirty="0">
                <a:latin typeface="微软雅黑" pitchFamily="34" charset="-122"/>
                <a:ea typeface="微软雅黑" pitchFamily="34" charset="-122"/>
                <a:cs typeface="经典粗黑简" pitchFamily="49" charset="-122"/>
              </a:rPr>
              <a:t>H</a:t>
            </a:r>
            <a:r>
              <a:rPr kumimoji="1" lang="zh-CN" altLang="en-US" sz="2200" dirty="0">
                <a:latin typeface="微软雅黑" pitchFamily="34" charset="-122"/>
                <a:ea typeface="微软雅黑" pitchFamily="34" charset="-122"/>
                <a:cs typeface="经典粗黑简" pitchFamily="49" charset="-122"/>
              </a:rPr>
              <a:t>对于不同的关键字</a:t>
            </a:r>
            <a:r>
              <a:rPr kumimoji="1" lang="en-US" altLang="zh-CN" sz="2200" dirty="0">
                <a:latin typeface="微软雅黑" pitchFamily="34" charset="-122"/>
                <a:ea typeface="微软雅黑" pitchFamily="34" charset="-122"/>
                <a:cs typeface="经典粗黑简" pitchFamily="49" charset="-122"/>
              </a:rPr>
              <a:t>key1</a:t>
            </a:r>
            <a:r>
              <a:rPr kumimoji="1" lang="zh-CN" altLang="en-US" sz="2200" dirty="0">
                <a:latin typeface="微软雅黑" pitchFamily="34" charset="-122"/>
                <a:ea typeface="微软雅黑" pitchFamily="34" charset="-122"/>
                <a:cs typeface="经典粗黑简" pitchFamily="49" charset="-122"/>
              </a:rPr>
              <a:t>和</a:t>
            </a:r>
            <a:r>
              <a:rPr kumimoji="1" lang="en-US" altLang="zh-CN" sz="2200" dirty="0">
                <a:latin typeface="微软雅黑" pitchFamily="34" charset="-122"/>
                <a:ea typeface="微软雅黑" pitchFamily="34" charset="-122"/>
                <a:cs typeface="经典粗黑简" pitchFamily="49" charset="-122"/>
              </a:rPr>
              <a:t>key2</a:t>
            </a:r>
            <a:r>
              <a:rPr kumimoji="1" lang="zh-CN" altLang="en-US" sz="2200" dirty="0">
                <a:latin typeface="微软雅黑" pitchFamily="34" charset="-122"/>
                <a:ea typeface="微软雅黑" pitchFamily="34" charset="-122"/>
                <a:cs typeface="经典粗黑简" pitchFamily="49" charset="-122"/>
              </a:rPr>
              <a:t>得到相同的哈希地址，这种现象称为冲突。而发生冲突的这两个关键字则称为该哈希函数的同义词。</a:t>
            </a:r>
          </a:p>
          <a:p>
            <a:pPr eaLnBrk="1" hangingPunct="1"/>
            <a:endParaRPr lang="zh-CN" altLang="en-US" sz="2800" dirty="0">
              <a:latin typeface="Comic Sans MS" pitchFamily="66" charset="0"/>
              <a:ea typeface="隶书" pitchFamily="49" charset="-122"/>
            </a:endParaRPr>
          </a:p>
          <a:p>
            <a:pPr eaLnBrk="1" hangingPunct="1"/>
            <a:endParaRPr lang="zh-CN" altLang="en-US" dirty="0"/>
          </a:p>
        </p:txBody>
      </p:sp>
      <p:sp>
        <p:nvSpPr>
          <p:cNvPr id="113667" name="Rectangle 3"/>
          <p:cNvSpPr>
            <a:spLocks noChangeArrowheads="1"/>
          </p:cNvSpPr>
          <p:nvPr/>
        </p:nvSpPr>
        <p:spPr bwMode="auto">
          <a:xfrm>
            <a:off x="2280317" y="2720263"/>
            <a:ext cx="73358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ts val="2000"/>
              </a:spcBef>
              <a:buClr>
                <a:schemeClr val="accent1"/>
              </a:buClr>
              <a:buSzPct val="75000"/>
            </a:pPr>
            <a:r>
              <a:rPr kumimoji="1" lang="zh-CN" altLang="en-US" sz="2000" dirty="0">
                <a:latin typeface="微软雅黑" pitchFamily="34" charset="-122"/>
                <a:ea typeface="微软雅黑" pitchFamily="34" charset="-122"/>
                <a:cs typeface="经典粗黑简" pitchFamily="49" charset="-122"/>
              </a:rPr>
              <a:t>用哈希法存储的线性表叫做哈希表。上述的</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函数称为哈希函数。</a:t>
            </a:r>
            <a:r>
              <a:rPr kumimoji="1" lang="en-US" altLang="zh-CN" sz="2000" dirty="0">
                <a:latin typeface="微软雅黑" pitchFamily="34" charset="-122"/>
                <a:ea typeface="微软雅黑" pitchFamily="34" charset="-122"/>
                <a:cs typeface="经典粗黑简" pitchFamily="49" charset="-122"/>
              </a:rPr>
              <a:t>H(k)</a:t>
            </a:r>
            <a:r>
              <a:rPr kumimoji="1" lang="zh-CN" altLang="en-US" sz="2000" dirty="0">
                <a:latin typeface="微软雅黑" pitchFamily="34" charset="-122"/>
                <a:ea typeface="微软雅黑" pitchFamily="34" charset="-122"/>
                <a:cs typeface="经典粗黑简" pitchFamily="49" charset="-122"/>
              </a:rPr>
              <a:t>称为哈希地址。通常哈希表的存储空间是一个一维数组，哈希地址是数组的下标。</a:t>
            </a:r>
          </a:p>
        </p:txBody>
      </p:sp>
      <p:sp>
        <p:nvSpPr>
          <p:cNvPr id="160772" name="Rectangle 4"/>
          <p:cNvSpPr>
            <a:spLocks/>
          </p:cNvSpPr>
          <p:nvPr/>
        </p:nvSpPr>
        <p:spPr bwMode="auto">
          <a:xfrm>
            <a:off x="2495600" y="5455525"/>
            <a:ext cx="7853362"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spcBef>
                <a:spcPts val="2000"/>
              </a:spcBef>
              <a:buClr>
                <a:schemeClr val="accent1"/>
              </a:buClr>
              <a:buSzPct val="75000"/>
            </a:pPr>
            <a:r>
              <a:rPr lang="en-US" altLang="zh-CN" sz="2800" dirty="0">
                <a:latin typeface="Comic Sans MS" pitchFamily="66" charset="0"/>
                <a:ea typeface="隶书" pitchFamily="49" charset="-122"/>
              </a:rPr>
              <a:t>key1</a:t>
            </a:r>
            <a:r>
              <a:rPr lang="zh-CN" altLang="en-US" sz="2800" dirty="0">
                <a:latin typeface="Comic Sans MS" pitchFamily="66" charset="0"/>
                <a:ea typeface="隶书" pitchFamily="49" charset="-122"/>
              </a:rPr>
              <a:t>≠</a:t>
            </a:r>
            <a:r>
              <a:rPr lang="en-US" altLang="zh-CN" sz="2800" dirty="0">
                <a:latin typeface="Comic Sans MS" pitchFamily="66" charset="0"/>
                <a:ea typeface="隶书" pitchFamily="49" charset="-122"/>
              </a:rPr>
              <a:t>key2</a:t>
            </a:r>
            <a:r>
              <a:rPr lang="zh-CN" altLang="en-US" sz="2800" dirty="0">
                <a:latin typeface="Comic Sans MS" pitchFamily="66" charset="0"/>
                <a:ea typeface="隶书" pitchFamily="49" charset="-122"/>
              </a:rPr>
              <a:t>，</a:t>
            </a:r>
            <a:r>
              <a:rPr kumimoji="1" lang="zh-CN" altLang="en-US" sz="2200" dirty="0">
                <a:latin typeface="微软雅黑" pitchFamily="34" charset="-122"/>
                <a:ea typeface="微软雅黑" pitchFamily="34" charset="-122"/>
                <a:cs typeface="经典粗黑简" pitchFamily="49" charset="-122"/>
              </a:rPr>
              <a:t>但是</a:t>
            </a:r>
            <a:r>
              <a:rPr lang="zh-CN" altLang="en-US" sz="2800" dirty="0">
                <a:latin typeface="Comic Sans MS" pitchFamily="66" charset="0"/>
                <a:ea typeface="隶书" pitchFamily="49" charset="-122"/>
              </a:rPr>
              <a:t>，</a:t>
            </a:r>
            <a:r>
              <a:rPr lang="en-US" altLang="zh-CN" sz="2800" dirty="0">
                <a:latin typeface="Comic Sans MS" pitchFamily="66" charset="0"/>
                <a:ea typeface="隶书" pitchFamily="49" charset="-122"/>
              </a:rPr>
              <a:t>H(</a:t>
            </a:r>
            <a:r>
              <a:rPr lang="zh-CN" altLang="en-US" sz="2800" dirty="0">
                <a:latin typeface="Comic Sans MS" pitchFamily="66" charset="0"/>
                <a:ea typeface="隶书" pitchFamily="49" charset="-122"/>
              </a:rPr>
              <a:t> </a:t>
            </a:r>
            <a:r>
              <a:rPr lang="en-US" altLang="zh-CN" sz="2800" dirty="0">
                <a:latin typeface="Comic Sans MS" pitchFamily="66" charset="0"/>
                <a:ea typeface="隶书" pitchFamily="49" charset="-122"/>
              </a:rPr>
              <a:t>key1)=H(key2) </a:t>
            </a:r>
            <a:r>
              <a:rPr kumimoji="1" lang="zh-CN" altLang="en-US" sz="2200" dirty="0">
                <a:solidFill>
                  <a:srgbClr val="FF0000"/>
                </a:solidFill>
                <a:latin typeface="微软雅黑" pitchFamily="34" charset="-122"/>
                <a:ea typeface="微软雅黑" pitchFamily="34" charset="-122"/>
                <a:cs typeface="经典粗黑简" pitchFamily="49" charset="-122"/>
              </a:rPr>
              <a:t>冲突</a:t>
            </a:r>
            <a:r>
              <a:rPr lang="zh-CN" altLang="en-US" sz="2800" dirty="0">
                <a:solidFill>
                  <a:srgbClr val="595959"/>
                </a:solidFill>
                <a:latin typeface="Comic Sans MS" pitchFamily="66" charset="0"/>
                <a:ea typeface="隶书" pitchFamily="49" charset="-122"/>
              </a:rPr>
              <a:t>。 </a:t>
            </a:r>
            <a:r>
              <a:rPr lang="en-US" altLang="zh-CN" sz="2800" dirty="0">
                <a:latin typeface="Comic Sans MS" pitchFamily="66" charset="0"/>
                <a:ea typeface="隶书" pitchFamily="49" charset="-122"/>
              </a:rPr>
              <a:t>key1</a:t>
            </a:r>
            <a:r>
              <a:rPr lang="zh-CN" altLang="en-US" sz="2800" dirty="0">
                <a:latin typeface="Comic Sans MS" pitchFamily="66" charset="0"/>
                <a:ea typeface="隶书" pitchFamily="49" charset="-122"/>
              </a:rPr>
              <a:t>、</a:t>
            </a:r>
            <a:r>
              <a:rPr lang="en-US" altLang="zh-CN" sz="2800" dirty="0">
                <a:latin typeface="Comic Sans MS" pitchFamily="66" charset="0"/>
                <a:ea typeface="隶书" pitchFamily="49" charset="-122"/>
              </a:rPr>
              <a:t>key2 </a:t>
            </a:r>
            <a:r>
              <a:rPr kumimoji="1" lang="zh-CN" altLang="en-US" sz="2200" dirty="0">
                <a:solidFill>
                  <a:srgbClr val="FF0000"/>
                </a:solidFill>
                <a:latin typeface="微软雅黑" pitchFamily="34" charset="-122"/>
                <a:ea typeface="微软雅黑" pitchFamily="34" charset="-122"/>
                <a:cs typeface="经典粗黑简" pitchFamily="49" charset="-122"/>
              </a:rPr>
              <a:t>同义词</a:t>
            </a:r>
            <a:r>
              <a:rPr lang="zh-CN" altLang="en-US" sz="2800" dirty="0">
                <a:solidFill>
                  <a:srgbClr val="595959"/>
                </a:solidFill>
                <a:latin typeface="Comic Sans MS" pitchFamily="66" charset="0"/>
                <a:ea typeface="隶书" pitchFamily="49" charset="-122"/>
              </a:rPr>
              <a:t>。</a:t>
            </a:r>
            <a:endParaRPr lang="zh-CN" altLang="en-US" sz="2000" dirty="0">
              <a:solidFill>
                <a:srgbClr val="595959"/>
              </a:solidFill>
              <a:latin typeface="Rockwell" charset="0"/>
            </a:endParaRPr>
          </a:p>
        </p:txBody>
      </p:sp>
      <p:sp>
        <p:nvSpPr>
          <p:cNvPr id="2" name="矩形 1">
            <a:extLst>
              <a:ext uri="{FF2B5EF4-FFF2-40B4-BE49-F238E27FC236}">
                <a16:creationId xmlns:a16="http://schemas.microsoft.com/office/drawing/2014/main" id="{FBEA9B84-215A-1F94-154B-C480BFF6ED7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5CD00B05-ADB7-09C3-635A-303E38AFBFAA}"/>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598B0247-F06D-D655-0FF9-97F63CFAF7BB}"/>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3">
            <a:extLst>
              <a:ext uri="{FF2B5EF4-FFF2-40B4-BE49-F238E27FC236}">
                <a16:creationId xmlns:a16="http://schemas.microsoft.com/office/drawing/2014/main" id="{A9DA4283-2677-E47C-C232-93E39F317C34}"/>
              </a:ext>
            </a:extLst>
          </p:cNvPr>
          <p:cNvSpPr txBox="1"/>
          <p:nvPr/>
        </p:nvSpPr>
        <p:spPr>
          <a:xfrm>
            <a:off x="1289704" y="1774981"/>
            <a:ext cx="2286016" cy="461665"/>
          </a:xfrm>
          <a:prstGeom prst="rect">
            <a:avLst/>
          </a:prstGeom>
          <a:noFill/>
        </p:spPr>
        <p:txBody>
          <a:bodyPr wrap="square" rtlCol="0">
            <a:spAutoFit/>
          </a:bodyPr>
          <a:lstStyle/>
          <a:p>
            <a:pPr algn="l"/>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、几个概念</a:t>
            </a:r>
          </a:p>
        </p:txBody>
      </p:sp>
      <p:sp>
        <p:nvSpPr>
          <p:cNvPr id="6" name="TextBox 3">
            <a:extLst>
              <a:ext uri="{FF2B5EF4-FFF2-40B4-BE49-F238E27FC236}">
                <a16:creationId xmlns:a16="http://schemas.microsoft.com/office/drawing/2014/main" id="{95187B08-CC73-DB22-6F33-68497D645E9C}"/>
              </a:ext>
            </a:extLst>
          </p:cNvPr>
          <p:cNvSpPr txBox="1"/>
          <p:nvPr/>
        </p:nvSpPr>
        <p:spPr>
          <a:xfrm>
            <a:off x="1775520" y="2260205"/>
            <a:ext cx="200026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sym typeface="Wingdings"/>
              </a:rPr>
              <a:t> </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哈希冲突</a:t>
            </a:r>
            <a:endParaRPr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Tree>
    <p:extLst>
      <p:ext uri="{BB962C8B-B14F-4D97-AF65-F5344CB8AC3E}">
        <p14:creationId xmlns:p14="http://schemas.microsoft.com/office/powerpoint/2010/main" val="471886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uild="p"/>
      <p:bldP spid="16077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B68E0-C523-F92B-198F-64F7C869DC8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C1C7883-0F86-D0EC-1072-4072C487A6BC}"/>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133BEC5E-0A49-67F0-5BA7-23DCCFFB3942}"/>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B0F703DC-2DF7-EDB5-D6E2-2293448FE19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8">
            <a:extLst>
              <a:ext uri="{FF2B5EF4-FFF2-40B4-BE49-F238E27FC236}">
                <a16:creationId xmlns:a16="http://schemas.microsoft.com/office/drawing/2014/main" id="{F96F50CA-9ED7-64EB-4332-9CEB337A23FD}"/>
              </a:ext>
            </a:extLst>
          </p:cNvPr>
          <p:cNvSpPr txBox="1"/>
          <p:nvPr/>
        </p:nvSpPr>
        <p:spPr>
          <a:xfrm>
            <a:off x="1991544" y="2060848"/>
            <a:ext cx="8001056" cy="2346668"/>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50000"/>
              </a:lnSpc>
            </a:pPr>
            <a:r>
              <a:rPr lang="zh-CN" altLang="zh-CN" sz="2000">
                <a:latin typeface="Consolas" pitchFamily="49" charset="0"/>
                <a:ea typeface="楷体" pitchFamily="49" charset="-122"/>
                <a:cs typeface="Consolas" pitchFamily="49" charset="0"/>
              </a:rPr>
              <a:t>哈希表中出现同义词冲突是指</a:t>
            </a:r>
            <a:r>
              <a:rPr lang="zh-CN" altLang="en-US" sz="2000">
                <a:latin typeface="Consolas" pitchFamily="49" charset="0"/>
                <a:ea typeface="楷体" pitchFamily="49" charset="-122"/>
                <a:cs typeface="Consolas" pitchFamily="49" charset="0"/>
              </a:rPr>
              <a:t>（  ）</a:t>
            </a:r>
            <a:r>
              <a:rPr lang="zh-CN" altLang="zh-CN" sz="2000">
                <a:latin typeface="Consolas" pitchFamily="49" charset="0"/>
                <a:ea typeface="楷体" pitchFamily="49" charset="-122"/>
                <a:cs typeface="Consolas" pitchFamily="49" charset="0"/>
              </a:rPr>
              <a:t>。</a:t>
            </a:r>
          </a:p>
          <a:p>
            <a:pPr algn="l">
              <a:lnSpc>
                <a:spcPct val="150000"/>
              </a:lnSpc>
            </a:pPr>
            <a:r>
              <a:rPr lang="en-US" altLang="zh-CN" sz="2000">
                <a:latin typeface="Consolas" pitchFamily="49" charset="0"/>
                <a:ea typeface="仿宋" pitchFamily="49" charset="-122"/>
                <a:cs typeface="Consolas" pitchFamily="49" charset="0"/>
              </a:rPr>
              <a:t>A. </a:t>
            </a:r>
            <a:r>
              <a:rPr lang="zh-CN" altLang="zh-CN" sz="2000">
                <a:latin typeface="Consolas" pitchFamily="49" charset="0"/>
                <a:ea typeface="仿宋" pitchFamily="49" charset="-122"/>
                <a:cs typeface="Consolas" pitchFamily="49" charset="0"/>
              </a:rPr>
              <a:t>两个元素具有相同的序号</a:t>
            </a:r>
          </a:p>
          <a:p>
            <a:pPr algn="l">
              <a:lnSpc>
                <a:spcPct val="150000"/>
              </a:lnSpc>
            </a:pPr>
            <a:r>
              <a:rPr lang="en-US" altLang="zh-CN" sz="2000">
                <a:latin typeface="Consolas" pitchFamily="49" charset="0"/>
                <a:ea typeface="仿宋" pitchFamily="49" charset="-122"/>
                <a:cs typeface="Consolas" pitchFamily="49" charset="0"/>
              </a:rPr>
              <a:t>B. </a:t>
            </a:r>
            <a:r>
              <a:rPr lang="zh-CN" altLang="zh-CN" sz="2000">
                <a:latin typeface="Consolas" pitchFamily="49" charset="0"/>
                <a:ea typeface="仿宋" pitchFamily="49" charset="-122"/>
                <a:cs typeface="Consolas" pitchFamily="49" charset="0"/>
              </a:rPr>
              <a:t>两个元素的关键字不同，而其他属性相同</a:t>
            </a:r>
          </a:p>
          <a:p>
            <a:pPr algn="l">
              <a:lnSpc>
                <a:spcPct val="150000"/>
              </a:lnSpc>
            </a:pPr>
            <a:r>
              <a:rPr lang="en-US" altLang="zh-CN" sz="2000">
                <a:latin typeface="Consolas" pitchFamily="49" charset="0"/>
                <a:ea typeface="仿宋" pitchFamily="49" charset="-122"/>
                <a:cs typeface="Consolas" pitchFamily="49" charset="0"/>
              </a:rPr>
              <a:t>C. </a:t>
            </a:r>
            <a:r>
              <a:rPr lang="zh-CN" altLang="zh-CN" sz="2000">
                <a:latin typeface="Consolas" pitchFamily="49" charset="0"/>
                <a:ea typeface="仿宋" pitchFamily="49" charset="-122"/>
                <a:cs typeface="Consolas" pitchFamily="49" charset="0"/>
              </a:rPr>
              <a:t>数据元素过多</a:t>
            </a:r>
          </a:p>
          <a:p>
            <a:pPr algn="l">
              <a:lnSpc>
                <a:spcPct val="150000"/>
              </a:lnSpc>
            </a:pPr>
            <a:r>
              <a:rPr lang="en-US" altLang="zh-CN" sz="2000">
                <a:latin typeface="Consolas" pitchFamily="49" charset="0"/>
                <a:ea typeface="仿宋" pitchFamily="49" charset="-122"/>
                <a:cs typeface="Consolas" pitchFamily="49" charset="0"/>
              </a:rPr>
              <a:t>D. </a:t>
            </a:r>
            <a:r>
              <a:rPr lang="zh-CN" altLang="zh-CN" sz="2000">
                <a:latin typeface="Consolas" pitchFamily="49" charset="0"/>
                <a:ea typeface="仿宋" pitchFamily="49" charset="-122"/>
                <a:cs typeface="Consolas" pitchFamily="49" charset="0"/>
              </a:rPr>
              <a:t>两个元素的关键字不同，而对应的哈希函数值（存储地址）相同</a:t>
            </a:r>
            <a:endParaRPr lang="zh-CN" altLang="en-US" sz="2000">
              <a:latin typeface="Consolas" pitchFamily="49" charset="0"/>
              <a:ea typeface="仿宋" pitchFamily="49" charset="-122"/>
              <a:cs typeface="Consolas" pitchFamily="49" charset="0"/>
            </a:endParaRPr>
          </a:p>
        </p:txBody>
      </p:sp>
      <p:sp>
        <p:nvSpPr>
          <p:cNvPr id="6" name="TextBox 9">
            <a:extLst>
              <a:ext uri="{FF2B5EF4-FFF2-40B4-BE49-F238E27FC236}">
                <a16:creationId xmlns:a16="http://schemas.microsoft.com/office/drawing/2014/main" id="{C42334C8-3F72-2DA3-6BE1-9C6D9972687E}"/>
              </a:ext>
            </a:extLst>
          </p:cNvPr>
          <p:cNvSpPr txBox="1"/>
          <p:nvPr/>
        </p:nvSpPr>
        <p:spPr>
          <a:xfrm>
            <a:off x="2062982" y="4775492"/>
            <a:ext cx="2000264" cy="400110"/>
          </a:xfrm>
          <a:prstGeom prst="rect">
            <a:avLst/>
          </a:prstGeom>
          <a:noFill/>
        </p:spPr>
        <p:txBody>
          <a:bodyPr wrap="square" rtlCol="0">
            <a:spAutoFit/>
          </a:bodyPr>
          <a:lstStyle/>
          <a:p>
            <a:pPr algn="l"/>
            <a:r>
              <a:rPr lang="zh-CN" altLang="zh-CN" sz="2000">
                <a:latin typeface="Consolas" pitchFamily="49" charset="0"/>
                <a:ea typeface="楷体" pitchFamily="49" charset="-122"/>
                <a:cs typeface="Consolas" pitchFamily="49" charset="0"/>
              </a:rPr>
              <a:t>答案：</a:t>
            </a:r>
            <a:r>
              <a:rPr lang="en-US" altLang="zh-CN" sz="2000">
                <a:solidFill>
                  <a:srgbClr val="FF0000"/>
                </a:solidFill>
                <a:latin typeface="Consolas" pitchFamily="49" charset="0"/>
                <a:ea typeface="楷体" pitchFamily="49" charset="-122"/>
                <a:cs typeface="Consolas" pitchFamily="49" charset="0"/>
              </a:rPr>
              <a:t>D</a:t>
            </a:r>
            <a:r>
              <a:rPr lang="zh-CN" altLang="zh-CN" sz="2000">
                <a:latin typeface="Consolas" pitchFamily="49" charset="0"/>
                <a:ea typeface="楷体" pitchFamily="49" charset="-122"/>
                <a:cs typeface="Consolas" pitchFamily="49" charset="0"/>
              </a:rPr>
              <a:t>。</a:t>
            </a:r>
            <a:endParaRPr lang="zh-CN" altLang="en-US" sz="2000"/>
          </a:p>
        </p:txBody>
      </p:sp>
    </p:spTree>
    <p:extLst>
      <p:ext uri="{BB962C8B-B14F-4D97-AF65-F5344CB8AC3E}">
        <p14:creationId xmlns:p14="http://schemas.microsoft.com/office/powerpoint/2010/main" val="296834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5AAF0-A17B-4E70-C6C1-8C4B3514C84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C501273-FC2A-FDA3-F4ED-AFB5746194BB}"/>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D3C1D777-BCAF-E6B3-2FF4-F2A1DDE6FBFB}"/>
              </a:ext>
            </a:extLst>
          </p:cNvPr>
          <p:cNvSpPr/>
          <p:nvPr/>
        </p:nvSpPr>
        <p:spPr>
          <a:xfrm>
            <a:off x="255372" y="1152249"/>
            <a:ext cx="36083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9.4.1 </a:t>
            </a:r>
            <a:r>
              <a:rPr lang="zh-CN" altLang="en-US" sz="2800" b="1" dirty="0">
                <a:solidFill>
                  <a:schemeClr val="bg1"/>
                </a:solidFill>
                <a:latin typeface="经典粗黑简" pitchFamily="49" charset="-122"/>
                <a:ea typeface="经典粗黑简" pitchFamily="49" charset="-122"/>
                <a:cs typeface="经典粗黑简" pitchFamily="49" charset="-122"/>
              </a:rPr>
              <a:t>哈希表的概念</a:t>
            </a:r>
          </a:p>
        </p:txBody>
      </p:sp>
      <p:cxnSp>
        <p:nvCxnSpPr>
          <p:cNvPr id="4" name="直接连接符 3">
            <a:extLst>
              <a:ext uri="{FF2B5EF4-FFF2-40B4-BE49-F238E27FC236}">
                <a16:creationId xmlns:a16="http://schemas.microsoft.com/office/drawing/2014/main" id="{8B729041-B7BA-D10B-2B42-1CBA59A0A19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3">
            <a:extLst>
              <a:ext uri="{FF2B5EF4-FFF2-40B4-BE49-F238E27FC236}">
                <a16:creationId xmlns:a16="http://schemas.microsoft.com/office/drawing/2014/main" id="{F71E7347-6E3D-3B28-FEFB-B07033D03104}"/>
              </a:ext>
            </a:extLst>
          </p:cNvPr>
          <p:cNvSpPr txBox="1">
            <a:spLocks noChangeArrowheads="1"/>
          </p:cNvSpPr>
          <p:nvPr/>
        </p:nvSpPr>
        <p:spPr bwMode="auto">
          <a:xfrm>
            <a:off x="1201736" y="2243789"/>
            <a:ext cx="9790808" cy="455381"/>
          </a:xfrm>
          <a:prstGeom prst="rect">
            <a:avLst/>
          </a:prstGeom>
          <a:noFill/>
          <a:ln w="9525">
            <a:noFill/>
            <a:miter lim="800000"/>
            <a:headEnd/>
            <a:tailEnd/>
          </a:ln>
          <a:effectLst/>
        </p:spPr>
        <p:txBody>
          <a:bodyPr wrap="square">
            <a:spAutoFit/>
          </a:bodyPr>
          <a:lstStyle/>
          <a:p>
            <a:pPr algn="l">
              <a:lnSpc>
                <a:spcPts val="3200"/>
              </a:lnSpc>
            </a:pPr>
            <a:r>
              <a:rPr kumimoji="1" lang="zh-CN" altLang="en-US" sz="1800" dirty="0">
                <a:latin typeface="Consolas" pitchFamily="49" charset="0"/>
                <a:ea typeface="楷体" pitchFamily="49" charset="-122"/>
                <a:cs typeface="Consolas" pitchFamily="49" charset="0"/>
              </a:rPr>
              <a:t>    哈希表设计主要需要解决</a:t>
            </a:r>
            <a:r>
              <a:rPr lang="zh-CN" altLang="en-US" sz="1800" dirty="0">
                <a:latin typeface="Consolas" pitchFamily="49" charset="0"/>
                <a:ea typeface="楷体" pitchFamily="49" charset="-122"/>
                <a:cs typeface="Consolas" pitchFamily="49" charset="0"/>
              </a:rPr>
              <a:t>哈希冲突。实际中哈希冲突是难以避免的，主要与</a:t>
            </a:r>
            <a:r>
              <a:rPr lang="en-US" altLang="zh-CN" sz="1800" dirty="0">
                <a:latin typeface="Consolas" pitchFamily="49" charset="0"/>
                <a:ea typeface="楷体" pitchFamily="49" charset="-122"/>
                <a:cs typeface="Consolas" pitchFamily="49" charset="0"/>
              </a:rPr>
              <a:t>3</a:t>
            </a:r>
            <a:r>
              <a:rPr lang="zh-CN" altLang="en-US" sz="1800" dirty="0">
                <a:latin typeface="Consolas" pitchFamily="49" charset="0"/>
                <a:ea typeface="楷体" pitchFamily="49" charset="-122"/>
                <a:cs typeface="Consolas" pitchFamily="49" charset="0"/>
              </a:rPr>
              <a:t>个因素有关：</a:t>
            </a:r>
          </a:p>
        </p:txBody>
      </p:sp>
      <p:sp>
        <p:nvSpPr>
          <p:cNvPr id="8" name="Text Box 4">
            <a:extLst>
              <a:ext uri="{FF2B5EF4-FFF2-40B4-BE49-F238E27FC236}">
                <a16:creationId xmlns:a16="http://schemas.microsoft.com/office/drawing/2014/main" id="{F425A74B-00D3-3301-EC0E-53CCEBF2C36D}"/>
              </a:ext>
            </a:extLst>
          </p:cNvPr>
          <p:cNvSpPr txBox="1">
            <a:spLocks noChangeArrowheads="1"/>
          </p:cNvSpPr>
          <p:nvPr/>
        </p:nvSpPr>
        <p:spPr bwMode="auto">
          <a:xfrm>
            <a:off x="1775520" y="2771642"/>
            <a:ext cx="9217024" cy="2934109"/>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ct val="150000"/>
              </a:lnSpc>
              <a:buFontTx/>
              <a:buBlip>
                <a:blip r:embed="rId2"/>
              </a:buBlip>
            </a:pPr>
            <a:r>
              <a:rPr lang="zh-CN" altLang="en-US" sz="2000" dirty="0">
                <a:solidFill>
                  <a:srgbClr val="FF0000"/>
                </a:solidFill>
                <a:latin typeface="Consolas" pitchFamily="49" charset="0"/>
                <a:ea typeface="仿宋" pitchFamily="49" charset="-122"/>
                <a:cs typeface="Consolas" pitchFamily="49" charset="0"/>
              </a:rPr>
              <a:t>与装填因子有关。</a:t>
            </a:r>
            <a:r>
              <a:rPr lang="zh-CN" altLang="en-US" sz="2000" dirty="0">
                <a:solidFill>
                  <a:srgbClr val="FF00FF"/>
                </a:solidFill>
                <a:latin typeface="Consolas" pitchFamily="49" charset="0"/>
                <a:ea typeface="仿宋" pitchFamily="49" charset="-122"/>
                <a:cs typeface="Consolas" pitchFamily="49" charset="0"/>
              </a:rPr>
              <a:t>装填因子</a:t>
            </a:r>
            <a:r>
              <a:rPr lang="el-GR" altLang="zh-CN" sz="2000" dirty="0">
                <a:solidFill>
                  <a:srgbClr val="FF00FF"/>
                </a:solidFill>
                <a:latin typeface="Consolas" pitchFamily="49" charset="0"/>
                <a:ea typeface="仿宋" pitchFamily="49" charset="-122"/>
                <a:cs typeface="Consolas" pitchFamily="49" charset="0"/>
              </a:rPr>
              <a:t>α</a:t>
            </a:r>
            <a:r>
              <a:rPr lang="en-US" altLang="zh-CN" sz="2000" dirty="0">
                <a:solidFill>
                  <a:srgbClr val="CC00CC"/>
                </a:solidFill>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存储的记录个数</a:t>
            </a:r>
            <a:r>
              <a:rPr lang="en-US" altLang="zh-CN"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哈希表的大小</a:t>
            </a:r>
            <a:r>
              <a:rPr lang="en-US" altLang="zh-CN" sz="2000" dirty="0">
                <a:latin typeface="Consolas" pitchFamily="49" charset="0"/>
                <a:ea typeface="仿宋" pitchFamily="49" charset="-122"/>
                <a:cs typeface="Consolas" pitchFamily="49" charset="0"/>
              </a:rPr>
              <a:t>=</a:t>
            </a:r>
            <a:r>
              <a:rPr lang="en-US" altLang="zh-CN" sz="2000" i="1" dirty="0">
                <a:solidFill>
                  <a:srgbClr val="CC00CC"/>
                </a:solidFill>
                <a:latin typeface="Consolas" pitchFamily="49" charset="0"/>
                <a:ea typeface="仿宋" pitchFamily="49" charset="-122"/>
                <a:cs typeface="Consolas" pitchFamily="49" charset="0"/>
              </a:rPr>
              <a:t>n</a:t>
            </a:r>
            <a:r>
              <a:rPr lang="en-US" altLang="zh-CN" sz="2000" dirty="0">
                <a:solidFill>
                  <a:srgbClr val="CC00CC"/>
                </a:solidFill>
                <a:latin typeface="Consolas" pitchFamily="49" charset="0"/>
                <a:ea typeface="仿宋" pitchFamily="49" charset="-122"/>
                <a:cs typeface="Consolas" pitchFamily="49" charset="0"/>
              </a:rPr>
              <a:t>/</a:t>
            </a:r>
            <a:r>
              <a:rPr lang="en-US" altLang="zh-CN" sz="2000" i="1" dirty="0">
                <a:solidFill>
                  <a:srgbClr val="CC00CC"/>
                </a:solidFill>
                <a:latin typeface="Consolas" pitchFamily="49" charset="0"/>
                <a:ea typeface="仿宋" pitchFamily="49" charset="-122"/>
                <a:cs typeface="Consolas" pitchFamily="49" charset="0"/>
              </a:rPr>
              <a:t>m</a:t>
            </a:r>
            <a:r>
              <a:rPr lang="zh-CN" altLang="en-US" sz="2000" dirty="0">
                <a:latin typeface="Consolas" pitchFamily="49" charset="0"/>
                <a:ea typeface="仿宋" pitchFamily="49" charset="-122"/>
                <a:cs typeface="Consolas" pitchFamily="49" charset="0"/>
              </a:rPr>
              <a:t> </a:t>
            </a:r>
            <a:r>
              <a:rPr lang="zh-CN" altLang="en-US" sz="2000" dirty="0">
                <a:latin typeface="Consolas" pitchFamily="49" charset="0"/>
                <a:ea typeface="仿宋" pitchFamily="49" charset="-122"/>
                <a:cs typeface="Consolas" pitchFamily="49" charset="0"/>
                <a:sym typeface="Wingdings"/>
              </a:rPr>
              <a:t> </a:t>
            </a:r>
            <a:r>
              <a:rPr lang="el-GR" altLang="zh-CN" sz="2000" dirty="0">
                <a:latin typeface="Consolas" pitchFamily="49" charset="0"/>
                <a:ea typeface="仿宋" pitchFamily="49" charset="-122"/>
                <a:cs typeface="Consolas" pitchFamily="49" charset="0"/>
              </a:rPr>
              <a:t>α</a:t>
            </a:r>
            <a:r>
              <a:rPr lang="zh-CN" altLang="en-US" sz="2000" dirty="0">
                <a:latin typeface="Consolas" pitchFamily="49" charset="0"/>
                <a:ea typeface="仿宋" pitchFamily="49" charset="-122"/>
                <a:cs typeface="Consolas" pitchFamily="49" charset="0"/>
              </a:rPr>
              <a:t>越小，冲突的可能性就越小；</a:t>
            </a:r>
            <a:r>
              <a:rPr lang="el-GR" altLang="zh-CN" sz="2000" dirty="0">
                <a:latin typeface="Consolas" pitchFamily="49" charset="0"/>
                <a:ea typeface="仿宋" pitchFamily="49" charset="-122"/>
                <a:cs typeface="Consolas" pitchFamily="49" charset="0"/>
              </a:rPr>
              <a:t>α</a:t>
            </a:r>
            <a:r>
              <a:rPr lang="zh-CN" altLang="en-US" sz="2000" dirty="0">
                <a:latin typeface="Consolas" pitchFamily="49" charset="0"/>
                <a:ea typeface="仿宋" pitchFamily="49" charset="-122"/>
                <a:cs typeface="Consolas" pitchFamily="49" charset="0"/>
              </a:rPr>
              <a:t>越大（最大可取</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），冲突的可能性就越大。通常使最终的控制在</a:t>
            </a:r>
            <a:r>
              <a:rPr lang="en-US" altLang="zh-CN" sz="2000" dirty="0">
                <a:latin typeface="Consolas" pitchFamily="49" charset="0"/>
                <a:ea typeface="仿宋" pitchFamily="49" charset="-122"/>
                <a:cs typeface="Consolas" pitchFamily="49" charset="0"/>
              </a:rPr>
              <a:t>0.6</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0.9</a:t>
            </a:r>
            <a:r>
              <a:rPr lang="zh-CN" altLang="en-US" sz="2000" dirty="0">
                <a:latin typeface="Consolas" pitchFamily="49" charset="0"/>
                <a:ea typeface="仿宋" pitchFamily="49" charset="-122"/>
                <a:cs typeface="Consolas" pitchFamily="49" charset="0"/>
              </a:rPr>
              <a:t>的范围内。</a:t>
            </a:r>
            <a:endParaRPr lang="en-US" altLang="zh-CN" sz="2000" dirty="0">
              <a:latin typeface="Consolas" pitchFamily="49" charset="0"/>
              <a:ea typeface="仿宋" pitchFamily="49" charset="-122"/>
              <a:cs typeface="Consolas" pitchFamily="49" charset="0"/>
            </a:endParaRPr>
          </a:p>
          <a:p>
            <a:pPr marL="457200" indent="-457200" algn="l">
              <a:lnSpc>
                <a:spcPct val="150000"/>
              </a:lnSpc>
              <a:buFontTx/>
              <a:buBlip>
                <a:blip r:embed="rId2"/>
              </a:buBlip>
            </a:pPr>
            <a:r>
              <a:rPr lang="zh-CN" altLang="en-US" sz="2000" dirty="0">
                <a:solidFill>
                  <a:srgbClr val="FF0000"/>
                </a:solidFill>
                <a:latin typeface="Consolas" pitchFamily="49" charset="0"/>
                <a:ea typeface="仿宋" pitchFamily="49" charset="-122"/>
                <a:cs typeface="Consolas" pitchFamily="49" charset="0"/>
              </a:rPr>
              <a:t>与所采用的哈希函数有关</a:t>
            </a:r>
            <a:r>
              <a:rPr lang="zh-CN" altLang="en-US" sz="2000" dirty="0">
                <a:latin typeface="Consolas" pitchFamily="49" charset="0"/>
                <a:ea typeface="仿宋" pitchFamily="49" charset="-122"/>
                <a:cs typeface="Consolas" pitchFamily="49" charset="0"/>
              </a:rPr>
              <a:t>。好的哈希函数会减少冲突的发生；不好的哈希函数会增加冲突的发生。</a:t>
            </a:r>
          </a:p>
          <a:p>
            <a:pPr marL="457200" indent="-457200" algn="l">
              <a:lnSpc>
                <a:spcPct val="150000"/>
              </a:lnSpc>
              <a:buFontTx/>
              <a:buBlip>
                <a:blip r:embed="rId2"/>
              </a:buBlip>
            </a:pPr>
            <a:r>
              <a:rPr lang="zh-CN" altLang="en-US" sz="2000" dirty="0">
                <a:solidFill>
                  <a:srgbClr val="FF0000"/>
                </a:solidFill>
                <a:latin typeface="Consolas" pitchFamily="49" charset="0"/>
                <a:ea typeface="仿宋" pitchFamily="49" charset="-122"/>
                <a:cs typeface="Consolas" pitchFamily="49" charset="0"/>
              </a:rPr>
              <a:t>与解决冲突方法有关</a:t>
            </a:r>
            <a:r>
              <a:rPr lang="zh-CN" altLang="en-US" sz="2000" dirty="0">
                <a:latin typeface="Consolas" pitchFamily="49" charset="0"/>
                <a:ea typeface="仿宋" pitchFamily="49" charset="-122"/>
                <a:cs typeface="Consolas" pitchFamily="49" charset="0"/>
              </a:rPr>
              <a:t>。好的哈希冲突解决方法会减少冲突的发生。</a:t>
            </a:r>
          </a:p>
        </p:txBody>
      </p:sp>
      <p:sp>
        <p:nvSpPr>
          <p:cNvPr id="9" name="TextBox 4">
            <a:extLst>
              <a:ext uri="{FF2B5EF4-FFF2-40B4-BE49-F238E27FC236}">
                <a16:creationId xmlns:a16="http://schemas.microsoft.com/office/drawing/2014/main" id="{F8183EA5-F70E-7451-A3BE-41C053D015C9}"/>
              </a:ext>
            </a:extLst>
          </p:cNvPr>
          <p:cNvSpPr txBox="1"/>
          <p:nvPr/>
        </p:nvSpPr>
        <p:spPr>
          <a:xfrm>
            <a:off x="1201736" y="1803582"/>
            <a:ext cx="2500330" cy="461665"/>
          </a:xfrm>
          <a:prstGeom prst="rect">
            <a:avLst/>
          </a:prstGeom>
          <a:noFill/>
        </p:spPr>
        <p:txBody>
          <a:bodyPr wrap="square" rtlCol="0">
            <a:spAutoFit/>
          </a:bodyPr>
          <a:lstStyle/>
          <a:p>
            <a:pPr algn="l"/>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、哈希表设计</a:t>
            </a:r>
          </a:p>
        </p:txBody>
      </p:sp>
      <p:sp>
        <p:nvSpPr>
          <p:cNvPr id="12" name="Text Box 2">
            <a:extLst>
              <a:ext uri="{FF2B5EF4-FFF2-40B4-BE49-F238E27FC236}">
                <a16:creationId xmlns:a16="http://schemas.microsoft.com/office/drawing/2014/main" id="{42D79504-8482-3426-BA23-FAE7A1C39773}"/>
              </a:ext>
            </a:extLst>
          </p:cNvPr>
          <p:cNvSpPr txBox="1">
            <a:spLocks noChangeArrowheads="1"/>
          </p:cNvSpPr>
          <p:nvPr/>
        </p:nvSpPr>
        <p:spPr bwMode="auto">
          <a:xfrm>
            <a:off x="4871864" y="5805263"/>
            <a:ext cx="4786346" cy="987551"/>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0" tIns="108000" rIns="0" bIns="108000">
            <a:spAutoFit/>
          </a:bodyPr>
          <a:lstStyle/>
          <a:p>
            <a:pPr marL="838200" lvl="2" indent="-457200" algn="l" fontAlgn="ctr">
              <a:spcBef>
                <a:spcPts val="1200"/>
              </a:spcBef>
              <a:buBlip>
                <a:blip r:embed="rId3"/>
              </a:buBlip>
            </a:pPr>
            <a:r>
              <a:rPr kumimoji="1" lang="zh-CN" altLang="en-US" sz="2000" dirty="0">
                <a:latin typeface="Consolas" pitchFamily="49" charset="0"/>
                <a:ea typeface="仿宋" pitchFamily="49" charset="-122"/>
                <a:cs typeface="Consolas" pitchFamily="49" charset="0"/>
              </a:rPr>
              <a:t>尽可能设计好的</a:t>
            </a:r>
            <a:r>
              <a:rPr kumimoji="1" lang="zh-CN" altLang="en-US" sz="2000" dirty="0">
                <a:solidFill>
                  <a:srgbClr val="FF00FF"/>
                </a:solidFill>
                <a:latin typeface="Consolas" pitchFamily="49" charset="0"/>
                <a:ea typeface="仿宋" pitchFamily="49" charset="-122"/>
                <a:cs typeface="Consolas" pitchFamily="49" charset="0"/>
              </a:rPr>
              <a:t>哈希函数</a:t>
            </a:r>
            <a:endParaRPr kumimoji="1" lang="en-US" altLang="zh-CN" sz="2000" dirty="0">
              <a:solidFill>
                <a:srgbClr val="FF00FF"/>
              </a:solidFill>
              <a:latin typeface="Consolas" pitchFamily="49" charset="0"/>
              <a:ea typeface="仿宋" pitchFamily="49" charset="-122"/>
              <a:cs typeface="Consolas" pitchFamily="49" charset="0"/>
            </a:endParaRPr>
          </a:p>
          <a:p>
            <a:pPr marL="838200" lvl="2" indent="-457200" algn="l" fontAlgn="ctr">
              <a:spcBef>
                <a:spcPts val="1200"/>
              </a:spcBef>
              <a:buBlip>
                <a:blip r:embed="rId3"/>
              </a:buBlip>
            </a:pPr>
            <a:r>
              <a:rPr kumimoji="1" lang="zh-CN" altLang="en-US" sz="2000" dirty="0">
                <a:latin typeface="Consolas" pitchFamily="49" charset="0"/>
                <a:ea typeface="仿宋" pitchFamily="49" charset="-122"/>
                <a:cs typeface="Consolas" pitchFamily="49" charset="0"/>
              </a:rPr>
              <a:t>设计</a:t>
            </a:r>
            <a:r>
              <a:rPr kumimoji="1" lang="zh-CN" altLang="en-US" sz="2000" dirty="0">
                <a:solidFill>
                  <a:srgbClr val="FF00FF"/>
                </a:solidFill>
                <a:latin typeface="Consolas" pitchFamily="49" charset="0"/>
                <a:ea typeface="仿宋" pitchFamily="49" charset="-122"/>
                <a:cs typeface="Consolas" pitchFamily="49" charset="0"/>
              </a:rPr>
              <a:t>解决冲突的方法</a:t>
            </a:r>
            <a:r>
              <a:rPr kumimoji="1" lang="zh-CN" altLang="en-US" sz="2000" dirty="0">
                <a:latin typeface="Consolas" pitchFamily="49" charset="0"/>
                <a:ea typeface="仿宋" pitchFamily="49" charset="-122"/>
                <a:cs typeface="Consolas" pitchFamily="49" charset="0"/>
              </a:rPr>
              <a:t>。</a:t>
            </a:r>
            <a:endParaRPr kumimoji="1" lang="en-US" altLang="zh-CN" sz="2000" dirty="0">
              <a:latin typeface="Consolas" pitchFamily="49" charset="0"/>
              <a:ea typeface="仿宋" pitchFamily="49" charset="-122"/>
              <a:cs typeface="Consolas" pitchFamily="49" charset="0"/>
            </a:endParaRPr>
          </a:p>
        </p:txBody>
      </p:sp>
      <p:sp>
        <p:nvSpPr>
          <p:cNvPr id="13" name="TextBox 2">
            <a:extLst>
              <a:ext uri="{FF2B5EF4-FFF2-40B4-BE49-F238E27FC236}">
                <a16:creationId xmlns:a16="http://schemas.microsoft.com/office/drawing/2014/main" id="{C04785C1-8ED1-0286-2706-FFCF8F540C8C}"/>
              </a:ext>
            </a:extLst>
          </p:cNvPr>
          <p:cNvSpPr txBox="1"/>
          <p:nvPr/>
        </p:nvSpPr>
        <p:spPr>
          <a:xfrm>
            <a:off x="1775520" y="5898929"/>
            <a:ext cx="2952898" cy="400110"/>
          </a:xfrm>
          <a:prstGeom prst="rect">
            <a:avLst/>
          </a:prstGeom>
          <a:noFill/>
        </p:spPr>
        <p:txBody>
          <a:bodyPr wrap="square" rtlCol="0">
            <a:spAutoFit/>
          </a:bodyPr>
          <a:lstStyle/>
          <a:p>
            <a:pPr algn="l"/>
            <a:r>
              <a:rPr kumimoji="1" lang="zh-CN" altLang="en-US" sz="2000" dirty="0">
                <a:latin typeface="楷体" pitchFamily="49" charset="-122"/>
                <a:ea typeface="楷体" pitchFamily="49" charset="-122"/>
                <a:cs typeface="Times New Roman" pitchFamily="18" charset="0"/>
              </a:rPr>
              <a:t>所以哈希表设计的</a:t>
            </a:r>
            <a:r>
              <a:rPr kumimoji="1" lang="zh-CN" altLang="en-US" sz="2000" dirty="0">
                <a:solidFill>
                  <a:srgbClr val="FF0000"/>
                </a:solidFill>
                <a:latin typeface="楷体" pitchFamily="49" charset="-122"/>
                <a:ea typeface="楷体" pitchFamily="49" charset="-122"/>
                <a:cs typeface="Times New Roman" pitchFamily="18" charset="0"/>
              </a:rPr>
              <a:t>重点</a:t>
            </a:r>
            <a:r>
              <a:rPr kumimoji="1" lang="zh-CN" altLang="en-US" sz="2000" dirty="0">
                <a:latin typeface="楷体" pitchFamily="49" charset="-122"/>
                <a:ea typeface="楷体" pitchFamily="49" charset="-122"/>
                <a:cs typeface="Times New Roman" pitchFamily="18" charset="0"/>
              </a:rPr>
              <a:t>：</a:t>
            </a:r>
            <a:endParaRPr lang="zh-CN" altLang="en-US" sz="2000" dirty="0">
              <a:latin typeface="楷体" pitchFamily="49" charset="-122"/>
              <a:ea typeface="楷体" pitchFamily="49" charset="-122"/>
              <a:cs typeface="Times New Roman" pitchFamily="18" charset="0"/>
            </a:endParaRPr>
          </a:p>
        </p:txBody>
      </p:sp>
    </p:spTree>
    <p:extLst>
      <p:ext uri="{BB962C8B-B14F-4D97-AF65-F5344CB8AC3E}">
        <p14:creationId xmlns:p14="http://schemas.microsoft.com/office/powerpoint/2010/main" val="217720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3"/>
          <p:cNvSpPr txBox="1">
            <a:spLocks noChangeArrowheads="1"/>
          </p:cNvSpPr>
          <p:nvPr/>
        </p:nvSpPr>
        <p:spPr bwMode="auto">
          <a:xfrm>
            <a:off x="1981200" y="1778497"/>
            <a:ext cx="8075240"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ea typeface="黑体" pitchFamily="2" charset="-122"/>
              </a:rPr>
              <a:t>      </a:t>
            </a:r>
            <a:r>
              <a:rPr kumimoji="1" lang="zh-CN" altLang="en-US" sz="2000" dirty="0">
                <a:latin typeface="微软雅黑" pitchFamily="34" charset="-122"/>
                <a:ea typeface="微软雅黑" pitchFamily="34" charset="-122"/>
                <a:cs typeface="经典粗黑简" pitchFamily="49" charset="-122"/>
              </a:rPr>
              <a:t>“好”的散列函数是指：对于关键字集合中的任意一个关键字，经散列函数映像到地址集合中任意一个地址的概率是相等的，称此类散列函数为均匀的哈希函数。</a:t>
            </a:r>
          </a:p>
          <a:p>
            <a:pPr algn="just" eaLnBrk="1" hangingPunct="1">
              <a:spcBef>
                <a:spcPct val="50000"/>
              </a:spcBef>
            </a:pPr>
            <a:r>
              <a:rPr kumimoji="1" lang="zh-CN" altLang="en-US" sz="2000" dirty="0">
                <a:latin typeface="微软雅黑" pitchFamily="34" charset="-122"/>
                <a:ea typeface="微软雅黑" pitchFamily="34" charset="-122"/>
                <a:cs typeface="经典粗黑简" pitchFamily="49" charset="-122"/>
              </a:rPr>
              <a:t>         常用的散列函数构造方法有：</a:t>
            </a:r>
          </a:p>
        </p:txBody>
      </p:sp>
      <p:sp>
        <p:nvSpPr>
          <p:cNvPr id="212996" name="Text Box 4"/>
          <p:cNvSpPr txBox="1">
            <a:spLocks noChangeArrowheads="1"/>
          </p:cNvSpPr>
          <p:nvPr/>
        </p:nvSpPr>
        <p:spPr bwMode="auto">
          <a:xfrm>
            <a:off x="2207568" y="3717032"/>
            <a:ext cx="7992888"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．直接定址法 </a:t>
            </a:r>
          </a:p>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可表示为</a:t>
            </a:r>
            <a:r>
              <a:rPr kumimoji="1" lang="en-US" altLang="zh-CN" sz="2000" dirty="0">
                <a:latin typeface="微软雅黑" pitchFamily="34" charset="-122"/>
                <a:ea typeface="微软雅黑" pitchFamily="34" charset="-122"/>
                <a:cs typeface="经典粗黑简" pitchFamily="49" charset="-122"/>
              </a:rPr>
              <a:t>H(key)=a*</a:t>
            </a:r>
            <a:r>
              <a:rPr kumimoji="1" lang="en-US" altLang="zh-CN" sz="2000" dirty="0" err="1">
                <a:latin typeface="微软雅黑" pitchFamily="34" charset="-122"/>
                <a:ea typeface="微软雅黑" pitchFamily="34" charset="-122"/>
                <a:cs typeface="经典粗黑简" pitchFamily="49" charset="-122"/>
              </a:rPr>
              <a:t>key+b</a:t>
            </a: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a:latin typeface="微软雅黑" pitchFamily="34" charset="-122"/>
                <a:ea typeface="微软雅黑" pitchFamily="34" charset="-122"/>
                <a:cs typeface="经典粗黑简" pitchFamily="49" charset="-122"/>
              </a:rPr>
              <a:t>a</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b</a:t>
            </a:r>
            <a:r>
              <a:rPr kumimoji="1" lang="zh-CN" altLang="en-US" sz="2000" dirty="0">
                <a:latin typeface="微软雅黑" pitchFamily="34" charset="-122"/>
                <a:ea typeface="微软雅黑" pitchFamily="34" charset="-122"/>
                <a:cs typeface="经典粗黑简" pitchFamily="49" charset="-122"/>
              </a:rPr>
              <a:t>均为常数。</a:t>
            </a:r>
          </a:p>
          <a:p>
            <a:pPr algn="just" eaLnBrk="1" hangingPunct="1">
              <a:spcBef>
                <a:spcPct val="50000"/>
              </a:spcBef>
            </a:pPr>
            <a:r>
              <a:rPr kumimoji="1" lang="zh-CN" altLang="en-US" sz="2000" dirty="0">
                <a:latin typeface="微软雅黑" pitchFamily="34" charset="-122"/>
                <a:ea typeface="微软雅黑" pitchFamily="34" charset="-122"/>
                <a:cs typeface="经典粗黑简" pitchFamily="49" charset="-122"/>
              </a:rPr>
              <a:t>        这种方法计算特别简单，并且不会发生冲突，但当关键字分布不连续时，会出现很多空闲单元，会将造成大量存贮单元的浪费。</a:t>
            </a:r>
          </a:p>
        </p:txBody>
      </p:sp>
      <p:sp>
        <p:nvSpPr>
          <p:cNvPr id="2" name="矩形 1">
            <a:extLst>
              <a:ext uri="{FF2B5EF4-FFF2-40B4-BE49-F238E27FC236}">
                <a16:creationId xmlns:a16="http://schemas.microsoft.com/office/drawing/2014/main" id="{D1BDC0FF-7B8E-BE8A-4CE8-EE68C8B6015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C4041FD6-908A-10A5-C54F-E55D4E2BDE95}"/>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4" name="直接连接符 3">
            <a:extLst>
              <a:ext uri="{FF2B5EF4-FFF2-40B4-BE49-F238E27FC236}">
                <a16:creationId xmlns:a16="http://schemas.microsoft.com/office/drawing/2014/main" id="{8A20D1C2-8C79-912D-BC6F-DF90B70E33C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1342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212996"/>
                                        </p:tgtEl>
                                        <p:attrNameLst>
                                          <p:attrName>style.visibility</p:attrName>
                                        </p:attrNameLst>
                                      </p:cBhvr>
                                      <p:to>
                                        <p:strVal val="visible"/>
                                      </p:to>
                                    </p:set>
                                    <p:animEffect transition="in" filter="slide(fromBottom)">
                                      <p:cBhvr>
                                        <p:cTn id="7" dur="500"/>
                                        <p:tgtEl>
                                          <p:spTgt spid="212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6"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0" name="Text Box 4"/>
          <p:cNvSpPr txBox="1">
            <a:spLocks noChangeArrowheads="1"/>
          </p:cNvSpPr>
          <p:nvPr/>
        </p:nvSpPr>
        <p:spPr bwMode="auto">
          <a:xfrm>
            <a:off x="2063750" y="1700809"/>
            <a:ext cx="81470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．数字分析法</a:t>
            </a:r>
          </a:p>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分析关键字的各个位的构成，截取其中若干位作为散列函数值，尽可能使关键字具有大的敏感度。</a:t>
            </a:r>
          </a:p>
        </p:txBody>
      </p:sp>
      <p:sp>
        <p:nvSpPr>
          <p:cNvPr id="214021" name="Text Box 5"/>
          <p:cNvSpPr txBox="1">
            <a:spLocks noChangeArrowheads="1"/>
          </p:cNvSpPr>
          <p:nvPr/>
        </p:nvSpPr>
        <p:spPr bwMode="auto">
          <a:xfrm>
            <a:off x="5562600" y="3129286"/>
            <a:ext cx="4572000" cy="298767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000" b="1">
                <a:latin typeface="Times New Roman" pitchFamily="18" charset="0"/>
                <a:ea typeface="宋体" pitchFamily="2" charset="-122"/>
              </a:rPr>
              <a:t>       通过对上述关键字序列分析，发现第</a:t>
            </a:r>
            <a:r>
              <a:rPr kumimoji="1" lang="en-US" altLang="zh-CN" sz="2000" b="1">
                <a:latin typeface="Times New Roman" pitchFamily="18" charset="0"/>
                <a:ea typeface="宋体" pitchFamily="2" charset="-122"/>
              </a:rPr>
              <a:t>4</a:t>
            </a:r>
            <a:r>
              <a:rPr kumimoji="1" lang="zh-CN" altLang="en-US" sz="2000" b="1">
                <a:latin typeface="Times New Roman" pitchFamily="18" charset="0"/>
                <a:ea typeface="宋体" pitchFamily="2" charset="-122"/>
              </a:rPr>
              <a:t>、</a:t>
            </a:r>
            <a:r>
              <a:rPr kumimoji="1" lang="en-US" altLang="zh-CN" sz="2000" b="1">
                <a:latin typeface="Times New Roman" pitchFamily="18" charset="0"/>
                <a:ea typeface="宋体" pitchFamily="2" charset="-122"/>
              </a:rPr>
              <a:t>5</a:t>
            </a:r>
            <a:r>
              <a:rPr kumimoji="1" lang="zh-CN" altLang="en-US" sz="2000" b="1">
                <a:latin typeface="Times New Roman" pitchFamily="18" charset="0"/>
                <a:ea typeface="宋体" pitchFamily="2" charset="-122"/>
              </a:rPr>
              <a:t>、</a:t>
            </a:r>
            <a:r>
              <a:rPr kumimoji="1" lang="en-US" altLang="zh-CN" sz="2000" b="1">
                <a:latin typeface="Times New Roman" pitchFamily="18" charset="0"/>
                <a:ea typeface="宋体" pitchFamily="2" charset="-122"/>
              </a:rPr>
              <a:t>6</a:t>
            </a:r>
            <a:r>
              <a:rPr kumimoji="1" lang="zh-CN" altLang="en-US" sz="2000" b="1">
                <a:latin typeface="Times New Roman" pitchFamily="18" charset="0"/>
                <a:ea typeface="宋体" pitchFamily="2" charset="-122"/>
              </a:rPr>
              <a:t>位的敏感度较大，于是有：</a:t>
            </a:r>
          </a:p>
          <a:p>
            <a:pPr algn="just" eaLnBrk="1" hangingPunct="1">
              <a:spcBef>
                <a:spcPct val="50000"/>
              </a:spcBef>
            </a:pPr>
            <a:r>
              <a:rPr kumimoji="1" lang="en-US" altLang="zh-CN" sz="2000" b="1">
                <a:latin typeface="Times New Roman" pitchFamily="18" charset="0"/>
                <a:ea typeface="宋体" pitchFamily="2" charset="-122"/>
              </a:rPr>
              <a:t>H(99346532) </a:t>
            </a:r>
            <a:r>
              <a:rPr kumimoji="1" lang="zh-CN" altLang="en-US" sz="2000" b="1">
                <a:latin typeface="Times New Roman" pitchFamily="18" charset="0"/>
                <a:ea typeface="宋体" pitchFamily="2" charset="-122"/>
              </a:rPr>
              <a:t>＝ </a:t>
            </a:r>
            <a:r>
              <a:rPr kumimoji="1" lang="en-US" altLang="zh-CN" sz="2000" b="1">
                <a:latin typeface="Times New Roman" pitchFamily="18" charset="0"/>
                <a:ea typeface="宋体" pitchFamily="2" charset="-122"/>
              </a:rPr>
              <a:t>465</a:t>
            </a:r>
          </a:p>
          <a:p>
            <a:pPr algn="just" eaLnBrk="1" hangingPunct="1">
              <a:spcBef>
                <a:spcPct val="50000"/>
              </a:spcBef>
            </a:pPr>
            <a:r>
              <a:rPr kumimoji="1" lang="en-US" altLang="zh-CN" sz="2000" b="1">
                <a:latin typeface="Times New Roman" pitchFamily="18" charset="0"/>
                <a:ea typeface="宋体" pitchFamily="2" charset="-122"/>
              </a:rPr>
              <a:t>H(99372242) </a:t>
            </a:r>
            <a:r>
              <a:rPr kumimoji="1" lang="zh-CN" altLang="en-US" sz="2000" b="1">
                <a:latin typeface="Times New Roman" pitchFamily="18" charset="0"/>
                <a:ea typeface="宋体" pitchFamily="2" charset="-122"/>
              </a:rPr>
              <a:t>＝ </a:t>
            </a:r>
            <a:r>
              <a:rPr kumimoji="1" lang="en-US" altLang="zh-CN" sz="2000" b="1">
                <a:latin typeface="Times New Roman" pitchFamily="18" charset="0"/>
                <a:ea typeface="宋体" pitchFamily="2" charset="-122"/>
              </a:rPr>
              <a:t>722</a:t>
            </a:r>
          </a:p>
          <a:p>
            <a:pPr algn="just" eaLnBrk="1" hangingPunct="1">
              <a:spcBef>
                <a:spcPct val="50000"/>
              </a:spcBef>
            </a:pPr>
            <a:r>
              <a:rPr kumimoji="1" lang="en-US" altLang="zh-CN" sz="2000" b="1">
                <a:latin typeface="Times New Roman" pitchFamily="18" charset="0"/>
                <a:ea typeface="宋体" pitchFamily="2" charset="-122"/>
              </a:rPr>
              <a:t>H(99387433) </a:t>
            </a:r>
            <a:r>
              <a:rPr kumimoji="1" lang="zh-CN" altLang="en-US" sz="2000" b="1">
                <a:latin typeface="Times New Roman" pitchFamily="18" charset="0"/>
                <a:ea typeface="宋体" pitchFamily="2" charset="-122"/>
              </a:rPr>
              <a:t>＝ </a:t>
            </a:r>
            <a:r>
              <a:rPr kumimoji="1" lang="en-US" altLang="zh-CN" sz="2000" b="1">
                <a:latin typeface="Times New Roman" pitchFamily="18" charset="0"/>
                <a:ea typeface="宋体" pitchFamily="2" charset="-122"/>
              </a:rPr>
              <a:t>874</a:t>
            </a:r>
          </a:p>
          <a:p>
            <a:pPr algn="just" eaLnBrk="1" hangingPunct="1">
              <a:spcBef>
                <a:spcPct val="50000"/>
              </a:spcBef>
            </a:pPr>
            <a:r>
              <a:rPr kumimoji="1" lang="en-US" altLang="zh-CN" sz="2000" b="1">
                <a:latin typeface="Times New Roman" pitchFamily="18" charset="0"/>
                <a:ea typeface="宋体" pitchFamily="2" charset="-122"/>
              </a:rPr>
              <a:t>H(99301367) </a:t>
            </a:r>
            <a:r>
              <a:rPr kumimoji="1" lang="zh-CN" altLang="en-US" sz="2000" b="1">
                <a:latin typeface="Times New Roman" pitchFamily="18" charset="0"/>
                <a:ea typeface="宋体" pitchFamily="2" charset="-122"/>
              </a:rPr>
              <a:t>＝ </a:t>
            </a:r>
            <a:r>
              <a:rPr kumimoji="1" lang="en-US" altLang="zh-CN" sz="2000" b="1">
                <a:latin typeface="Times New Roman" pitchFamily="18" charset="0"/>
                <a:ea typeface="宋体" pitchFamily="2" charset="-122"/>
              </a:rPr>
              <a:t>016</a:t>
            </a:r>
          </a:p>
          <a:p>
            <a:pPr algn="just" eaLnBrk="1" hangingPunct="1">
              <a:spcBef>
                <a:spcPct val="50000"/>
              </a:spcBef>
            </a:pPr>
            <a:r>
              <a:rPr kumimoji="1" lang="en-US" altLang="zh-CN" sz="2000" b="1">
                <a:latin typeface="Times New Roman" pitchFamily="18" charset="0"/>
                <a:ea typeface="宋体" pitchFamily="2" charset="-122"/>
              </a:rPr>
              <a:t>H(99322817) </a:t>
            </a:r>
            <a:r>
              <a:rPr kumimoji="1" lang="zh-CN" altLang="en-US" sz="2000" b="1">
                <a:latin typeface="Times New Roman" pitchFamily="18" charset="0"/>
                <a:ea typeface="宋体" pitchFamily="2" charset="-122"/>
              </a:rPr>
              <a:t>＝ </a:t>
            </a:r>
            <a:r>
              <a:rPr kumimoji="1" lang="en-US" altLang="zh-CN" sz="2000" b="1">
                <a:latin typeface="Times New Roman" pitchFamily="18" charset="0"/>
                <a:ea typeface="宋体" pitchFamily="2" charset="-122"/>
              </a:rPr>
              <a:t>228</a:t>
            </a:r>
          </a:p>
        </p:txBody>
      </p:sp>
      <p:grpSp>
        <p:nvGrpSpPr>
          <p:cNvPr id="2" name="Group 6"/>
          <p:cNvGrpSpPr>
            <a:grpSpLocks/>
          </p:cNvGrpSpPr>
          <p:nvPr/>
        </p:nvGrpSpPr>
        <p:grpSpPr bwMode="auto">
          <a:xfrm>
            <a:off x="2514600" y="3068960"/>
            <a:ext cx="2667000" cy="3048000"/>
            <a:chOff x="624" y="2304"/>
            <a:chExt cx="1680" cy="1920"/>
          </a:xfrm>
        </p:grpSpPr>
        <p:sp>
          <p:nvSpPr>
            <p:cNvPr id="115718" name="Text Box 7"/>
            <p:cNvSpPr txBox="1">
              <a:spLocks noChangeArrowheads="1"/>
            </p:cNvSpPr>
            <p:nvPr/>
          </p:nvSpPr>
          <p:spPr bwMode="auto">
            <a:xfrm>
              <a:off x="624" y="2534"/>
              <a:ext cx="1680" cy="169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en-US" altLang="zh-CN" sz="2000" b="1">
                  <a:latin typeface="Times New Roman" pitchFamily="18" charset="0"/>
                  <a:ea typeface="宋体" pitchFamily="2" charset="-122"/>
                </a:rPr>
                <a:t>key1:   9 9 3 4 6 5 3 2</a:t>
              </a:r>
            </a:p>
            <a:p>
              <a:pPr algn="just" eaLnBrk="1" hangingPunct="1">
                <a:spcBef>
                  <a:spcPct val="50000"/>
                </a:spcBef>
              </a:pPr>
              <a:r>
                <a:rPr kumimoji="1" lang="en-US" altLang="zh-CN" sz="2000" b="1">
                  <a:latin typeface="Times New Roman" pitchFamily="18" charset="0"/>
                  <a:ea typeface="宋体" pitchFamily="2" charset="-122"/>
                </a:rPr>
                <a:t>key2:   9 9 3 7 2 2 4 2</a:t>
              </a:r>
            </a:p>
            <a:p>
              <a:pPr algn="just" eaLnBrk="1" hangingPunct="1">
                <a:spcBef>
                  <a:spcPct val="50000"/>
                </a:spcBef>
              </a:pPr>
              <a:r>
                <a:rPr kumimoji="1" lang="en-US" altLang="zh-CN" sz="2000" b="1">
                  <a:latin typeface="Times New Roman" pitchFamily="18" charset="0"/>
                  <a:ea typeface="宋体" pitchFamily="2" charset="-122"/>
                </a:rPr>
                <a:t>key3:   9 9 3 8 7 4 3 3</a:t>
              </a:r>
            </a:p>
            <a:p>
              <a:pPr algn="just" eaLnBrk="1" hangingPunct="1">
                <a:spcBef>
                  <a:spcPct val="50000"/>
                </a:spcBef>
              </a:pPr>
              <a:r>
                <a:rPr kumimoji="1" lang="en-US" altLang="zh-CN" sz="2000" b="1">
                  <a:latin typeface="Times New Roman" pitchFamily="18" charset="0"/>
                  <a:ea typeface="宋体" pitchFamily="2" charset="-122"/>
                </a:rPr>
                <a:t>key4:   9 9 3 0 1 3 6 7 </a:t>
              </a:r>
            </a:p>
            <a:p>
              <a:pPr algn="just" eaLnBrk="1" hangingPunct="1">
                <a:spcBef>
                  <a:spcPct val="50000"/>
                </a:spcBef>
              </a:pPr>
              <a:r>
                <a:rPr kumimoji="1" lang="en-US" altLang="zh-CN" sz="2000" b="1">
                  <a:latin typeface="Times New Roman" pitchFamily="18" charset="0"/>
                  <a:ea typeface="宋体" pitchFamily="2" charset="-122"/>
                </a:rPr>
                <a:t>key5:   9 9 3 2 2 8 1 7</a:t>
              </a:r>
            </a:p>
            <a:p>
              <a:pPr algn="just" eaLnBrk="1" hangingPunct="1">
                <a:spcBef>
                  <a:spcPct val="50000"/>
                </a:spcBef>
              </a:pPr>
              <a:r>
                <a:rPr kumimoji="1" lang="zh-CN" altLang="en-US" sz="2000">
                  <a:latin typeface="Times New Roman" pitchFamily="18" charset="0"/>
                  <a:ea typeface="宋体" pitchFamily="2" charset="-122"/>
                </a:rPr>
                <a:t>．．．．．．</a:t>
              </a:r>
            </a:p>
          </p:txBody>
        </p:sp>
        <p:sp>
          <p:nvSpPr>
            <p:cNvPr id="115719" name="Text Box 8"/>
            <p:cNvSpPr txBox="1">
              <a:spLocks noChangeArrowheads="1"/>
            </p:cNvSpPr>
            <p:nvPr/>
          </p:nvSpPr>
          <p:spPr bwMode="auto">
            <a:xfrm>
              <a:off x="624" y="2304"/>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zh-CN" altLang="en-US" sz="2000" dirty="0">
                  <a:latin typeface="微软雅黑" pitchFamily="34" charset="-122"/>
                  <a:ea typeface="微软雅黑" pitchFamily="34" charset="-122"/>
                  <a:cs typeface="经典粗黑简" pitchFamily="49" charset="-122"/>
                </a:rPr>
                <a:t>例如：</a:t>
              </a:r>
            </a:p>
          </p:txBody>
        </p:sp>
      </p:grpSp>
      <p:sp>
        <p:nvSpPr>
          <p:cNvPr id="3" name="矩形 2">
            <a:extLst>
              <a:ext uri="{FF2B5EF4-FFF2-40B4-BE49-F238E27FC236}">
                <a16:creationId xmlns:a16="http://schemas.microsoft.com/office/drawing/2014/main" id="{16DE9976-E38F-65AA-5032-D8B5BCC9B2A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166D5457-4596-F60C-F906-3D9F3147DA5C}"/>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5" name="直接连接符 4">
            <a:extLst>
              <a:ext uri="{FF2B5EF4-FFF2-40B4-BE49-F238E27FC236}">
                <a16:creationId xmlns:a16="http://schemas.microsoft.com/office/drawing/2014/main" id="{E2C9F3C6-E009-6CB3-14C2-97896D2CCA3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063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214020"/>
                                        </p:tgtEl>
                                        <p:attrNameLst>
                                          <p:attrName>style.visibility</p:attrName>
                                        </p:attrNameLst>
                                      </p:cBhvr>
                                      <p:to>
                                        <p:strVal val="visible"/>
                                      </p:to>
                                    </p:set>
                                    <p:animEffect transition="in" filter="slide(fromBottom)">
                                      <p:cBhvr>
                                        <p:cTn id="7" dur="500"/>
                                        <p:tgtEl>
                                          <p:spTgt spid="214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nodeType="afterGroup">
                            <p:stCondLst>
                              <p:cond delay="500"/>
                            </p:stCondLst>
                            <p:childTnLst>
                              <p:par>
                                <p:cTn id="14" presetID="22" presetClass="entr" presetSubtype="8" fill="hold" grpId="0" nodeType="afterEffect">
                                  <p:stCondLst>
                                    <p:cond delay="2000"/>
                                  </p:stCondLst>
                                  <p:childTnLst>
                                    <p:set>
                                      <p:cBhvr>
                                        <p:cTn id="15" dur="1" fill="hold">
                                          <p:stCondLst>
                                            <p:cond delay="0"/>
                                          </p:stCondLst>
                                        </p:cTn>
                                        <p:tgtEl>
                                          <p:spTgt spid="214021"/>
                                        </p:tgtEl>
                                        <p:attrNameLst>
                                          <p:attrName>style.visibility</p:attrName>
                                        </p:attrNameLst>
                                      </p:cBhvr>
                                      <p:to>
                                        <p:strVal val="visible"/>
                                      </p:to>
                                    </p:set>
                                    <p:animEffect transition="in" filter="wipe(left)">
                                      <p:cBhvr>
                                        <p:cTn id="16" dur="500"/>
                                        <p:tgtEl>
                                          <p:spTgt spid="214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0" grpId="0" autoUpdateAnimBg="0"/>
      <p:bldP spid="214021" grpId="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4" name="Text Box 4"/>
          <p:cNvSpPr txBox="1">
            <a:spLocks noChangeArrowheads="1"/>
          </p:cNvSpPr>
          <p:nvPr/>
        </p:nvSpPr>
        <p:spPr bwMode="auto">
          <a:xfrm>
            <a:off x="2110582" y="1628801"/>
            <a:ext cx="8075612"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3</a:t>
            </a:r>
            <a:r>
              <a:rPr kumimoji="1" lang="zh-CN" altLang="en-US" sz="2000" dirty="0">
                <a:latin typeface="微软雅黑" pitchFamily="34" charset="-122"/>
                <a:ea typeface="微软雅黑" pitchFamily="34" charset="-122"/>
                <a:cs typeface="经典粗黑简" pitchFamily="49" charset="-122"/>
              </a:rPr>
              <a:t>．平方取中法</a:t>
            </a:r>
          </a:p>
          <a:p>
            <a:pPr algn="just" eaLnBrk="1" hangingPunct="1">
              <a:spcBef>
                <a:spcPct val="50000"/>
              </a:spcBef>
            </a:pPr>
            <a:r>
              <a:rPr kumimoji="1" lang="zh-CN" altLang="en-US" sz="2000" dirty="0">
                <a:latin typeface="微软雅黑" pitchFamily="34" charset="-122"/>
                <a:ea typeface="微软雅黑" pitchFamily="34" charset="-122"/>
                <a:cs typeface="经典粗黑简" pitchFamily="49" charset="-122"/>
              </a:rPr>
              <a:t>        这种方法是先求关键字的平方值，然后在平方值中取中间几位为散列函数的值。因为一个数平方后的中间几位和原数的每一位都相关，因此，可以使用随机分布的关键字得到的记录的存储位置也是随机的。</a:t>
            </a:r>
          </a:p>
        </p:txBody>
      </p:sp>
      <p:grpSp>
        <p:nvGrpSpPr>
          <p:cNvPr id="2" name="Group 5"/>
          <p:cNvGrpSpPr>
            <a:grpSpLocks/>
          </p:cNvGrpSpPr>
          <p:nvPr/>
        </p:nvGrpSpPr>
        <p:grpSpPr bwMode="auto">
          <a:xfrm>
            <a:off x="3836763" y="3275767"/>
            <a:ext cx="4903788" cy="3332163"/>
            <a:chOff x="1903" y="2112"/>
            <a:chExt cx="3089" cy="2099"/>
          </a:xfrm>
        </p:grpSpPr>
        <p:sp>
          <p:nvSpPr>
            <p:cNvPr id="116741" name="Rectangle 6"/>
            <p:cNvSpPr>
              <a:spLocks noChangeArrowheads="1"/>
            </p:cNvSpPr>
            <p:nvPr/>
          </p:nvSpPr>
          <p:spPr bwMode="auto">
            <a:xfrm>
              <a:off x="1903" y="2112"/>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42" name="Rectangle 7"/>
            <p:cNvSpPr>
              <a:spLocks noChangeArrowheads="1"/>
            </p:cNvSpPr>
            <p:nvPr/>
          </p:nvSpPr>
          <p:spPr bwMode="auto">
            <a:xfrm>
              <a:off x="2111" y="2122"/>
              <a:ext cx="2881" cy="1828"/>
            </a:xfrm>
            <a:prstGeom prst="rect">
              <a:avLst/>
            </a:prstGeom>
            <a:solidFill>
              <a:srgbClr val="FFFFFF"/>
            </a:solidFill>
            <a:ln w="15875">
              <a:solidFill>
                <a:srgbClr val="000000"/>
              </a:solidFill>
              <a:miter lim="800000"/>
              <a:headEnd/>
              <a:tailEnd/>
            </a:ln>
          </p:spPr>
          <p:txBody>
            <a:bodyPr/>
            <a:lstStyle/>
            <a:p>
              <a:endParaRPr lang="zh-CN" altLang="en-US"/>
            </a:p>
          </p:txBody>
        </p:sp>
        <p:sp>
          <p:nvSpPr>
            <p:cNvPr id="116743" name="Rectangle 8"/>
            <p:cNvSpPr>
              <a:spLocks noChangeArrowheads="1"/>
            </p:cNvSpPr>
            <p:nvPr/>
          </p:nvSpPr>
          <p:spPr bwMode="auto">
            <a:xfrm>
              <a:off x="2234" y="2198"/>
              <a:ext cx="41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dirty="0">
                  <a:solidFill>
                    <a:srgbClr val="000000"/>
                  </a:solidFill>
                  <a:latin typeface="宋体" pitchFamily="2" charset="-122"/>
                  <a:ea typeface="宋体" pitchFamily="2" charset="-122"/>
                </a:rPr>
                <a:t>关键字</a:t>
              </a:r>
              <a:endParaRPr kumimoji="1" lang="zh-CN" altLang="en-US" sz="2400" b="1" dirty="0">
                <a:latin typeface="Tahoma" pitchFamily="34" charset="0"/>
                <a:ea typeface="宋体" pitchFamily="2" charset="-122"/>
              </a:endParaRPr>
            </a:p>
          </p:txBody>
        </p:sp>
        <p:sp>
          <p:nvSpPr>
            <p:cNvPr id="116744" name="Rectangle 9"/>
            <p:cNvSpPr>
              <a:spLocks noChangeArrowheads="1"/>
            </p:cNvSpPr>
            <p:nvPr/>
          </p:nvSpPr>
          <p:spPr bwMode="auto">
            <a:xfrm>
              <a:off x="2654" y="2189"/>
              <a:ext cx="27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45" name="Rectangle 10"/>
            <p:cNvSpPr>
              <a:spLocks noChangeArrowheads="1"/>
            </p:cNvSpPr>
            <p:nvPr/>
          </p:nvSpPr>
          <p:spPr bwMode="auto">
            <a:xfrm>
              <a:off x="3245" y="2198"/>
              <a:ext cx="6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宋体" pitchFamily="2" charset="-122"/>
                  <a:ea typeface="宋体" pitchFamily="2" charset="-122"/>
                </a:rPr>
                <a:t>（关键字）</a:t>
              </a:r>
              <a:endParaRPr kumimoji="1" lang="zh-CN" altLang="en-US" sz="2400" b="1">
                <a:latin typeface="Tahoma" pitchFamily="34" charset="0"/>
                <a:ea typeface="宋体" pitchFamily="2" charset="-122"/>
              </a:endParaRPr>
            </a:p>
          </p:txBody>
        </p:sp>
        <p:sp>
          <p:nvSpPr>
            <p:cNvPr id="116746" name="Rectangle 11"/>
            <p:cNvSpPr>
              <a:spLocks noChangeArrowheads="1"/>
            </p:cNvSpPr>
            <p:nvPr/>
          </p:nvSpPr>
          <p:spPr bwMode="auto">
            <a:xfrm>
              <a:off x="3913" y="215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100" b="1">
                  <a:solidFill>
                    <a:srgbClr val="000000"/>
                  </a:solidFill>
                  <a:latin typeface="Times New Roman" pitchFamily="18" charset="0"/>
                  <a:ea typeface="宋体" pitchFamily="2" charset="-122"/>
                </a:rPr>
                <a:t>2</a:t>
              </a:r>
              <a:endParaRPr kumimoji="1" lang="en-US" altLang="zh-CN" sz="2400" b="1">
                <a:latin typeface="Tahoma" pitchFamily="34" charset="0"/>
                <a:ea typeface="宋体" pitchFamily="2" charset="-122"/>
              </a:endParaRPr>
            </a:p>
          </p:txBody>
        </p:sp>
        <p:sp>
          <p:nvSpPr>
            <p:cNvPr id="116747" name="Rectangle 12"/>
            <p:cNvSpPr>
              <a:spLocks noChangeArrowheads="1"/>
            </p:cNvSpPr>
            <p:nvPr/>
          </p:nvSpPr>
          <p:spPr bwMode="auto">
            <a:xfrm>
              <a:off x="3949" y="2150"/>
              <a:ext cx="13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1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48" name="Rectangle 13"/>
            <p:cNvSpPr>
              <a:spLocks noChangeArrowheads="1"/>
            </p:cNvSpPr>
            <p:nvPr/>
          </p:nvSpPr>
          <p:spPr bwMode="auto">
            <a:xfrm>
              <a:off x="4193" y="2198"/>
              <a:ext cx="55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宋体" pitchFamily="2" charset="-122"/>
                  <a:ea typeface="宋体" pitchFamily="2" charset="-122"/>
                </a:rPr>
                <a:t>函数地址</a:t>
              </a:r>
              <a:endParaRPr kumimoji="1" lang="zh-CN" altLang="en-US" sz="2400" b="1">
                <a:latin typeface="Tahoma" pitchFamily="34" charset="0"/>
                <a:ea typeface="宋体" pitchFamily="2" charset="-122"/>
              </a:endParaRPr>
            </a:p>
          </p:txBody>
        </p:sp>
        <p:sp>
          <p:nvSpPr>
            <p:cNvPr id="116749" name="Rectangle 14"/>
            <p:cNvSpPr>
              <a:spLocks noChangeArrowheads="1"/>
            </p:cNvSpPr>
            <p:nvPr/>
          </p:nvSpPr>
          <p:spPr bwMode="auto">
            <a:xfrm>
              <a:off x="4736" y="2189"/>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50" name="Rectangle 15"/>
            <p:cNvSpPr>
              <a:spLocks noChangeArrowheads="1"/>
            </p:cNvSpPr>
            <p:nvPr/>
          </p:nvSpPr>
          <p:spPr bwMode="auto">
            <a:xfrm>
              <a:off x="2238" y="2351"/>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51" name="Rectangle 16"/>
            <p:cNvSpPr>
              <a:spLocks noChangeArrowheads="1"/>
            </p:cNvSpPr>
            <p:nvPr/>
          </p:nvSpPr>
          <p:spPr bwMode="auto">
            <a:xfrm>
              <a:off x="2228" y="2505"/>
              <a:ext cx="6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000" b="1">
                  <a:solidFill>
                    <a:srgbClr val="000000"/>
                  </a:solidFill>
                  <a:latin typeface="Times New Roman" pitchFamily="18" charset="0"/>
                  <a:ea typeface="宋体" pitchFamily="2" charset="-122"/>
                </a:rPr>
                <a:t>0100 </a:t>
              </a:r>
              <a:r>
                <a:rPr kumimoji="1" lang="en-US" altLang="zh-CN" sz="1700" b="1">
                  <a:solidFill>
                    <a:srgbClr val="000000"/>
                  </a:solidFill>
                  <a:latin typeface="Times New Roman" pitchFamily="18" charset="0"/>
                  <a:ea typeface="宋体" pitchFamily="2" charset="-122"/>
                </a:rPr>
                <a:t>         </a:t>
              </a:r>
              <a:endParaRPr kumimoji="1" lang="en-US" altLang="zh-CN" sz="2400" b="1">
                <a:latin typeface="Tahoma" pitchFamily="34" charset="0"/>
                <a:ea typeface="宋体" pitchFamily="2" charset="-122"/>
              </a:endParaRPr>
            </a:p>
          </p:txBody>
        </p:sp>
        <p:sp>
          <p:nvSpPr>
            <p:cNvPr id="116752" name="Rectangle 17"/>
            <p:cNvSpPr>
              <a:spLocks noChangeArrowheads="1"/>
            </p:cNvSpPr>
            <p:nvPr/>
          </p:nvSpPr>
          <p:spPr bwMode="auto">
            <a:xfrm>
              <a:off x="3269" y="2505"/>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0</a:t>
              </a:r>
              <a:endParaRPr kumimoji="1" lang="en-US" altLang="zh-CN" sz="2400" b="1">
                <a:latin typeface="Tahoma" pitchFamily="34" charset="0"/>
                <a:ea typeface="宋体" pitchFamily="2" charset="-122"/>
              </a:endParaRPr>
            </a:p>
          </p:txBody>
        </p:sp>
        <p:sp>
          <p:nvSpPr>
            <p:cNvPr id="116753" name="Rectangle 18"/>
            <p:cNvSpPr>
              <a:spLocks noChangeArrowheads="1"/>
            </p:cNvSpPr>
            <p:nvPr/>
          </p:nvSpPr>
          <p:spPr bwMode="auto">
            <a:xfrm>
              <a:off x="3334" y="2505"/>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010</a:t>
              </a:r>
              <a:endParaRPr kumimoji="1" lang="en-US" altLang="zh-CN" sz="2400" b="1">
                <a:latin typeface="Tahoma" pitchFamily="34" charset="0"/>
                <a:ea typeface="宋体" pitchFamily="2" charset="-122"/>
              </a:endParaRPr>
            </a:p>
          </p:txBody>
        </p:sp>
        <p:sp>
          <p:nvSpPr>
            <p:cNvPr id="116754" name="Rectangle 19"/>
            <p:cNvSpPr>
              <a:spLocks noChangeArrowheads="1"/>
            </p:cNvSpPr>
            <p:nvPr/>
          </p:nvSpPr>
          <p:spPr bwMode="auto">
            <a:xfrm>
              <a:off x="3308" y="2648"/>
              <a:ext cx="20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55" name="Rectangle 20"/>
            <p:cNvSpPr>
              <a:spLocks noChangeArrowheads="1"/>
            </p:cNvSpPr>
            <p:nvPr/>
          </p:nvSpPr>
          <p:spPr bwMode="auto">
            <a:xfrm>
              <a:off x="3535" y="2505"/>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000</a:t>
              </a:r>
              <a:endParaRPr kumimoji="1" lang="en-US" altLang="zh-CN" sz="2400" b="1">
                <a:latin typeface="Tahoma" pitchFamily="34" charset="0"/>
                <a:ea typeface="宋体" pitchFamily="2" charset="-122"/>
              </a:endParaRPr>
            </a:p>
          </p:txBody>
        </p:sp>
        <p:sp>
          <p:nvSpPr>
            <p:cNvPr id="116756" name="Rectangle 21"/>
            <p:cNvSpPr>
              <a:spLocks noChangeArrowheads="1"/>
            </p:cNvSpPr>
            <p:nvPr/>
          </p:nvSpPr>
          <p:spPr bwMode="auto">
            <a:xfrm>
              <a:off x="4274" y="2505"/>
              <a:ext cx="24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700" b="1">
                  <a:solidFill>
                    <a:srgbClr val="000000"/>
                  </a:solidFill>
                  <a:latin typeface="Times New Roman" pitchFamily="18" charset="0"/>
                  <a:ea typeface="宋体" pitchFamily="2" charset="-122"/>
                </a:rPr>
                <a:t> </a:t>
              </a:r>
              <a:r>
                <a:rPr kumimoji="1" lang="en-US" altLang="zh-CN" sz="1700" b="1">
                  <a:solidFill>
                    <a:srgbClr val="000000"/>
                  </a:solidFill>
                  <a:latin typeface="Times New Roman" pitchFamily="18" charset="0"/>
                  <a:ea typeface="宋体" pitchFamily="2" charset="-122"/>
                </a:rPr>
                <a:t>010</a:t>
              </a:r>
              <a:endParaRPr kumimoji="1" lang="en-US" altLang="zh-CN" sz="2400" b="1">
                <a:latin typeface="Tahoma" pitchFamily="34" charset="0"/>
                <a:ea typeface="宋体" pitchFamily="2" charset="-122"/>
              </a:endParaRPr>
            </a:p>
          </p:txBody>
        </p:sp>
        <p:sp>
          <p:nvSpPr>
            <p:cNvPr id="116757" name="Rectangle 22"/>
            <p:cNvSpPr>
              <a:spLocks noChangeArrowheads="1"/>
            </p:cNvSpPr>
            <p:nvPr/>
          </p:nvSpPr>
          <p:spPr bwMode="auto">
            <a:xfrm>
              <a:off x="4631" y="2505"/>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58" name="Rectangle 23"/>
            <p:cNvSpPr>
              <a:spLocks noChangeArrowheads="1"/>
            </p:cNvSpPr>
            <p:nvPr/>
          </p:nvSpPr>
          <p:spPr bwMode="auto">
            <a:xfrm>
              <a:off x="2238" y="2658"/>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59" name="Rectangle 24"/>
            <p:cNvSpPr>
              <a:spLocks noChangeArrowheads="1"/>
            </p:cNvSpPr>
            <p:nvPr/>
          </p:nvSpPr>
          <p:spPr bwMode="auto">
            <a:xfrm>
              <a:off x="2231" y="2811"/>
              <a:ext cx="6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000" b="1">
                  <a:solidFill>
                    <a:srgbClr val="000000"/>
                  </a:solidFill>
                  <a:latin typeface="Times New Roman" pitchFamily="18" charset="0"/>
                  <a:ea typeface="宋体" pitchFamily="2" charset="-122"/>
                </a:rPr>
                <a:t>1100</a:t>
              </a:r>
              <a:r>
                <a:rPr kumimoji="1" lang="en-US" altLang="zh-CN" sz="1700" b="1">
                  <a:solidFill>
                    <a:srgbClr val="000000"/>
                  </a:solidFill>
                  <a:latin typeface="Times New Roman" pitchFamily="18" charset="0"/>
                  <a:ea typeface="宋体" pitchFamily="2" charset="-122"/>
                </a:rPr>
                <a:t>          </a:t>
              </a:r>
              <a:endParaRPr kumimoji="1" lang="en-US" altLang="zh-CN" sz="2400" b="1">
                <a:latin typeface="Tahoma" pitchFamily="34" charset="0"/>
                <a:ea typeface="宋体" pitchFamily="2" charset="-122"/>
              </a:endParaRPr>
            </a:p>
          </p:txBody>
        </p:sp>
        <p:sp>
          <p:nvSpPr>
            <p:cNvPr id="116760" name="Rectangle 25"/>
            <p:cNvSpPr>
              <a:spLocks noChangeArrowheads="1"/>
            </p:cNvSpPr>
            <p:nvPr/>
          </p:nvSpPr>
          <p:spPr bwMode="auto">
            <a:xfrm>
              <a:off x="3259" y="2811"/>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1</a:t>
              </a:r>
              <a:endParaRPr kumimoji="1" lang="en-US" altLang="zh-CN" sz="2400" b="1">
                <a:latin typeface="Tahoma" pitchFamily="34" charset="0"/>
                <a:ea typeface="宋体" pitchFamily="2" charset="-122"/>
              </a:endParaRPr>
            </a:p>
          </p:txBody>
        </p:sp>
        <p:sp>
          <p:nvSpPr>
            <p:cNvPr id="116761" name="Rectangle 26"/>
            <p:cNvSpPr>
              <a:spLocks noChangeArrowheads="1"/>
            </p:cNvSpPr>
            <p:nvPr/>
          </p:nvSpPr>
          <p:spPr bwMode="auto">
            <a:xfrm>
              <a:off x="3324" y="2811"/>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210</a:t>
              </a:r>
              <a:endParaRPr kumimoji="1" lang="en-US" altLang="zh-CN" sz="2400" b="1">
                <a:latin typeface="Tahoma" pitchFamily="34" charset="0"/>
                <a:ea typeface="宋体" pitchFamily="2" charset="-122"/>
              </a:endParaRPr>
            </a:p>
          </p:txBody>
        </p:sp>
        <p:sp>
          <p:nvSpPr>
            <p:cNvPr id="116762" name="Rectangle 27"/>
            <p:cNvSpPr>
              <a:spLocks noChangeArrowheads="1"/>
            </p:cNvSpPr>
            <p:nvPr/>
          </p:nvSpPr>
          <p:spPr bwMode="auto">
            <a:xfrm>
              <a:off x="3298" y="2954"/>
              <a:ext cx="20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63" name="Rectangle 28"/>
            <p:cNvSpPr>
              <a:spLocks noChangeArrowheads="1"/>
            </p:cNvSpPr>
            <p:nvPr/>
          </p:nvSpPr>
          <p:spPr bwMode="auto">
            <a:xfrm>
              <a:off x="3525" y="2811"/>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000</a:t>
              </a:r>
              <a:endParaRPr kumimoji="1" lang="en-US" altLang="zh-CN" sz="2400" b="1">
                <a:latin typeface="Tahoma" pitchFamily="34" charset="0"/>
                <a:ea typeface="宋体" pitchFamily="2" charset="-122"/>
              </a:endParaRPr>
            </a:p>
          </p:txBody>
        </p:sp>
        <p:sp>
          <p:nvSpPr>
            <p:cNvPr id="116764" name="Rectangle 29"/>
            <p:cNvSpPr>
              <a:spLocks noChangeArrowheads="1"/>
            </p:cNvSpPr>
            <p:nvPr/>
          </p:nvSpPr>
          <p:spPr bwMode="auto">
            <a:xfrm>
              <a:off x="4273" y="2811"/>
              <a:ext cx="24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r>
                <a:rPr kumimoji="1" lang="en-US" altLang="zh-CN" sz="1700" b="1">
                  <a:solidFill>
                    <a:srgbClr val="000000"/>
                  </a:solidFill>
                  <a:latin typeface="Times New Roman" pitchFamily="18" charset="0"/>
                  <a:ea typeface="宋体" pitchFamily="2" charset="-122"/>
                </a:rPr>
                <a:t>210</a:t>
              </a:r>
              <a:endParaRPr kumimoji="1" lang="en-US" altLang="zh-CN" sz="2400" b="1">
                <a:latin typeface="Tahoma" pitchFamily="34" charset="0"/>
                <a:ea typeface="宋体" pitchFamily="2" charset="-122"/>
              </a:endParaRPr>
            </a:p>
          </p:txBody>
        </p:sp>
        <p:sp>
          <p:nvSpPr>
            <p:cNvPr id="116765" name="Rectangle 30"/>
            <p:cNvSpPr>
              <a:spLocks noChangeArrowheads="1"/>
            </p:cNvSpPr>
            <p:nvPr/>
          </p:nvSpPr>
          <p:spPr bwMode="auto">
            <a:xfrm>
              <a:off x="4621" y="2811"/>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66" name="Rectangle 31"/>
            <p:cNvSpPr>
              <a:spLocks noChangeArrowheads="1"/>
            </p:cNvSpPr>
            <p:nvPr/>
          </p:nvSpPr>
          <p:spPr bwMode="auto">
            <a:xfrm>
              <a:off x="2238" y="2964"/>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67" name="Rectangle 32"/>
            <p:cNvSpPr>
              <a:spLocks noChangeArrowheads="1"/>
            </p:cNvSpPr>
            <p:nvPr/>
          </p:nvSpPr>
          <p:spPr bwMode="auto">
            <a:xfrm>
              <a:off x="2231" y="3117"/>
              <a:ext cx="6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000" b="1">
                  <a:solidFill>
                    <a:srgbClr val="000000"/>
                  </a:solidFill>
                  <a:latin typeface="Times New Roman" pitchFamily="18" charset="0"/>
                  <a:ea typeface="宋体" pitchFamily="2" charset="-122"/>
                </a:rPr>
                <a:t>1200</a:t>
              </a:r>
              <a:r>
                <a:rPr kumimoji="1" lang="en-US" altLang="zh-CN" sz="1700" b="1">
                  <a:solidFill>
                    <a:srgbClr val="000000"/>
                  </a:solidFill>
                  <a:latin typeface="Times New Roman" pitchFamily="18" charset="0"/>
                  <a:ea typeface="宋体" pitchFamily="2" charset="-122"/>
                </a:rPr>
                <a:t>          </a:t>
              </a:r>
              <a:endParaRPr kumimoji="1" lang="en-US" altLang="zh-CN" sz="2400" b="1">
                <a:latin typeface="Tahoma" pitchFamily="34" charset="0"/>
                <a:ea typeface="宋体" pitchFamily="2" charset="-122"/>
              </a:endParaRPr>
            </a:p>
          </p:txBody>
        </p:sp>
        <p:sp>
          <p:nvSpPr>
            <p:cNvPr id="116768" name="Rectangle 33"/>
            <p:cNvSpPr>
              <a:spLocks noChangeArrowheads="1"/>
            </p:cNvSpPr>
            <p:nvPr/>
          </p:nvSpPr>
          <p:spPr bwMode="auto">
            <a:xfrm>
              <a:off x="3269" y="3117"/>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1</a:t>
              </a:r>
              <a:endParaRPr kumimoji="1" lang="en-US" altLang="zh-CN" sz="2400" b="1">
                <a:latin typeface="Tahoma" pitchFamily="34" charset="0"/>
                <a:ea typeface="宋体" pitchFamily="2" charset="-122"/>
              </a:endParaRPr>
            </a:p>
          </p:txBody>
        </p:sp>
        <p:sp>
          <p:nvSpPr>
            <p:cNvPr id="116769" name="Rectangle 34"/>
            <p:cNvSpPr>
              <a:spLocks noChangeArrowheads="1"/>
            </p:cNvSpPr>
            <p:nvPr/>
          </p:nvSpPr>
          <p:spPr bwMode="auto">
            <a:xfrm>
              <a:off x="3334" y="3117"/>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440</a:t>
              </a:r>
              <a:endParaRPr kumimoji="1" lang="en-US" altLang="zh-CN" sz="2400" b="1">
                <a:latin typeface="Tahoma" pitchFamily="34" charset="0"/>
                <a:ea typeface="宋体" pitchFamily="2" charset="-122"/>
              </a:endParaRPr>
            </a:p>
          </p:txBody>
        </p:sp>
        <p:sp>
          <p:nvSpPr>
            <p:cNvPr id="116770" name="Rectangle 35"/>
            <p:cNvSpPr>
              <a:spLocks noChangeArrowheads="1"/>
            </p:cNvSpPr>
            <p:nvPr/>
          </p:nvSpPr>
          <p:spPr bwMode="auto">
            <a:xfrm>
              <a:off x="3308" y="3261"/>
              <a:ext cx="2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71" name="Rectangle 36"/>
            <p:cNvSpPr>
              <a:spLocks noChangeArrowheads="1"/>
            </p:cNvSpPr>
            <p:nvPr/>
          </p:nvSpPr>
          <p:spPr bwMode="auto">
            <a:xfrm>
              <a:off x="3535" y="3117"/>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000</a:t>
              </a:r>
              <a:endParaRPr kumimoji="1" lang="en-US" altLang="zh-CN" sz="2400" b="1">
                <a:latin typeface="Tahoma" pitchFamily="34" charset="0"/>
                <a:ea typeface="宋体" pitchFamily="2" charset="-122"/>
              </a:endParaRPr>
            </a:p>
          </p:txBody>
        </p:sp>
        <p:sp>
          <p:nvSpPr>
            <p:cNvPr id="116772" name="Rectangle 37"/>
            <p:cNvSpPr>
              <a:spLocks noChangeArrowheads="1"/>
            </p:cNvSpPr>
            <p:nvPr/>
          </p:nvSpPr>
          <p:spPr bwMode="auto">
            <a:xfrm>
              <a:off x="4271" y="3117"/>
              <a:ext cx="24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r>
                <a:rPr kumimoji="1" lang="en-US" altLang="zh-CN" sz="1700" b="1">
                  <a:solidFill>
                    <a:srgbClr val="000000"/>
                  </a:solidFill>
                  <a:latin typeface="Times New Roman" pitchFamily="18" charset="0"/>
                  <a:ea typeface="宋体" pitchFamily="2" charset="-122"/>
                </a:rPr>
                <a:t>440</a:t>
              </a:r>
              <a:endParaRPr kumimoji="1" lang="en-US" altLang="zh-CN" sz="2400" b="1">
                <a:latin typeface="Tahoma" pitchFamily="34" charset="0"/>
                <a:ea typeface="宋体" pitchFamily="2" charset="-122"/>
              </a:endParaRPr>
            </a:p>
          </p:txBody>
        </p:sp>
        <p:sp>
          <p:nvSpPr>
            <p:cNvPr id="116773" name="Rectangle 38"/>
            <p:cNvSpPr>
              <a:spLocks noChangeArrowheads="1"/>
            </p:cNvSpPr>
            <p:nvPr/>
          </p:nvSpPr>
          <p:spPr bwMode="auto">
            <a:xfrm>
              <a:off x="4631" y="3117"/>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74" name="Rectangle 39"/>
            <p:cNvSpPr>
              <a:spLocks noChangeArrowheads="1"/>
            </p:cNvSpPr>
            <p:nvPr/>
          </p:nvSpPr>
          <p:spPr bwMode="auto">
            <a:xfrm>
              <a:off x="2238" y="3270"/>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75" name="Rectangle 40"/>
            <p:cNvSpPr>
              <a:spLocks noChangeArrowheads="1"/>
            </p:cNvSpPr>
            <p:nvPr/>
          </p:nvSpPr>
          <p:spPr bwMode="auto">
            <a:xfrm>
              <a:off x="2225" y="342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000" b="1">
                  <a:solidFill>
                    <a:srgbClr val="000000"/>
                  </a:solidFill>
                  <a:latin typeface="Times New Roman" pitchFamily="18" charset="0"/>
                  <a:ea typeface="宋体" pitchFamily="2" charset="-122"/>
                </a:rPr>
                <a:t>1160  </a:t>
              </a:r>
              <a:r>
                <a:rPr kumimoji="1" lang="en-US" altLang="zh-CN" sz="1700" b="1">
                  <a:solidFill>
                    <a:srgbClr val="000000"/>
                  </a:solidFill>
                  <a:latin typeface="Times New Roman" pitchFamily="18" charset="0"/>
                  <a:ea typeface="宋体" pitchFamily="2" charset="-122"/>
                </a:rPr>
                <a:t>        </a:t>
              </a:r>
              <a:endParaRPr kumimoji="1" lang="en-US" altLang="zh-CN" sz="2400" b="1">
                <a:latin typeface="Tahoma" pitchFamily="34" charset="0"/>
                <a:ea typeface="宋体" pitchFamily="2" charset="-122"/>
              </a:endParaRPr>
            </a:p>
          </p:txBody>
        </p:sp>
        <p:sp>
          <p:nvSpPr>
            <p:cNvPr id="116776" name="Rectangle 41"/>
            <p:cNvSpPr>
              <a:spLocks noChangeArrowheads="1"/>
            </p:cNvSpPr>
            <p:nvPr/>
          </p:nvSpPr>
          <p:spPr bwMode="auto">
            <a:xfrm>
              <a:off x="3259" y="3424"/>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1</a:t>
              </a:r>
              <a:endParaRPr kumimoji="1" lang="en-US" altLang="zh-CN" sz="2400" b="1">
                <a:latin typeface="Tahoma" pitchFamily="34" charset="0"/>
                <a:ea typeface="宋体" pitchFamily="2" charset="-122"/>
              </a:endParaRPr>
            </a:p>
          </p:txBody>
        </p:sp>
        <p:sp>
          <p:nvSpPr>
            <p:cNvPr id="116777" name="Rectangle 42"/>
            <p:cNvSpPr>
              <a:spLocks noChangeArrowheads="1"/>
            </p:cNvSpPr>
            <p:nvPr/>
          </p:nvSpPr>
          <p:spPr bwMode="auto">
            <a:xfrm>
              <a:off x="3324" y="3424"/>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370</a:t>
              </a:r>
              <a:endParaRPr kumimoji="1" lang="en-US" altLang="zh-CN" sz="2400" b="1">
                <a:latin typeface="Tahoma" pitchFamily="34" charset="0"/>
                <a:ea typeface="宋体" pitchFamily="2" charset="-122"/>
              </a:endParaRPr>
            </a:p>
          </p:txBody>
        </p:sp>
        <p:sp>
          <p:nvSpPr>
            <p:cNvPr id="116778" name="Rectangle 43"/>
            <p:cNvSpPr>
              <a:spLocks noChangeArrowheads="1"/>
            </p:cNvSpPr>
            <p:nvPr/>
          </p:nvSpPr>
          <p:spPr bwMode="auto">
            <a:xfrm>
              <a:off x="3298" y="3567"/>
              <a:ext cx="20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79" name="Rectangle 44"/>
            <p:cNvSpPr>
              <a:spLocks noChangeArrowheads="1"/>
            </p:cNvSpPr>
            <p:nvPr/>
          </p:nvSpPr>
          <p:spPr bwMode="auto">
            <a:xfrm>
              <a:off x="3525" y="3424"/>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400</a:t>
              </a:r>
              <a:endParaRPr kumimoji="1" lang="en-US" altLang="zh-CN" sz="2400" b="1">
                <a:latin typeface="Tahoma" pitchFamily="34" charset="0"/>
                <a:ea typeface="宋体" pitchFamily="2" charset="-122"/>
              </a:endParaRPr>
            </a:p>
          </p:txBody>
        </p:sp>
        <p:sp>
          <p:nvSpPr>
            <p:cNvPr id="116780" name="Rectangle 45"/>
            <p:cNvSpPr>
              <a:spLocks noChangeArrowheads="1"/>
            </p:cNvSpPr>
            <p:nvPr/>
          </p:nvSpPr>
          <p:spPr bwMode="auto">
            <a:xfrm>
              <a:off x="4307" y="3424"/>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370</a:t>
              </a:r>
              <a:endParaRPr kumimoji="1" lang="en-US" altLang="zh-CN" sz="2400" b="1">
                <a:latin typeface="Tahoma" pitchFamily="34" charset="0"/>
                <a:ea typeface="宋体" pitchFamily="2" charset="-122"/>
              </a:endParaRPr>
            </a:p>
          </p:txBody>
        </p:sp>
        <p:sp>
          <p:nvSpPr>
            <p:cNvPr id="116781" name="Rectangle 46"/>
            <p:cNvSpPr>
              <a:spLocks noChangeArrowheads="1"/>
            </p:cNvSpPr>
            <p:nvPr/>
          </p:nvSpPr>
          <p:spPr bwMode="auto">
            <a:xfrm>
              <a:off x="4621" y="3424"/>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82" name="Rectangle 47"/>
            <p:cNvSpPr>
              <a:spLocks noChangeArrowheads="1"/>
            </p:cNvSpPr>
            <p:nvPr/>
          </p:nvSpPr>
          <p:spPr bwMode="auto">
            <a:xfrm>
              <a:off x="2238" y="3586"/>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83" name="Rectangle 48"/>
            <p:cNvSpPr>
              <a:spLocks noChangeArrowheads="1"/>
            </p:cNvSpPr>
            <p:nvPr/>
          </p:nvSpPr>
          <p:spPr bwMode="auto">
            <a:xfrm>
              <a:off x="2231" y="3739"/>
              <a:ext cx="6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2000" b="1">
                  <a:solidFill>
                    <a:srgbClr val="000000"/>
                  </a:solidFill>
                  <a:latin typeface="Times New Roman" pitchFamily="18" charset="0"/>
                  <a:ea typeface="宋体" pitchFamily="2" charset="-122"/>
                </a:rPr>
                <a:t>2061</a:t>
              </a:r>
              <a:r>
                <a:rPr kumimoji="1" lang="en-US" altLang="zh-CN" sz="1700" b="1">
                  <a:solidFill>
                    <a:srgbClr val="000000"/>
                  </a:solidFill>
                  <a:latin typeface="Times New Roman" pitchFamily="18" charset="0"/>
                  <a:ea typeface="宋体" pitchFamily="2" charset="-122"/>
                </a:rPr>
                <a:t>          </a:t>
              </a:r>
              <a:endParaRPr kumimoji="1" lang="en-US" altLang="zh-CN" sz="2400" b="1">
                <a:latin typeface="Tahoma" pitchFamily="34" charset="0"/>
                <a:ea typeface="宋体" pitchFamily="2" charset="-122"/>
              </a:endParaRPr>
            </a:p>
          </p:txBody>
        </p:sp>
        <p:sp>
          <p:nvSpPr>
            <p:cNvPr id="116784" name="Rectangle 49"/>
            <p:cNvSpPr>
              <a:spLocks noChangeArrowheads="1"/>
            </p:cNvSpPr>
            <p:nvPr/>
          </p:nvSpPr>
          <p:spPr bwMode="auto">
            <a:xfrm>
              <a:off x="3269" y="3739"/>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4</a:t>
              </a:r>
              <a:endParaRPr kumimoji="1" lang="en-US" altLang="zh-CN" sz="2400" b="1">
                <a:latin typeface="Tahoma" pitchFamily="34" charset="0"/>
                <a:ea typeface="宋体" pitchFamily="2" charset="-122"/>
              </a:endParaRPr>
            </a:p>
          </p:txBody>
        </p:sp>
        <p:sp>
          <p:nvSpPr>
            <p:cNvPr id="116785" name="Rectangle 50"/>
            <p:cNvSpPr>
              <a:spLocks noChangeArrowheads="1"/>
            </p:cNvSpPr>
            <p:nvPr/>
          </p:nvSpPr>
          <p:spPr bwMode="auto">
            <a:xfrm>
              <a:off x="3334" y="3739"/>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310</a:t>
              </a:r>
              <a:endParaRPr kumimoji="1" lang="en-US" altLang="zh-CN" sz="2400" b="1">
                <a:latin typeface="Tahoma" pitchFamily="34" charset="0"/>
                <a:ea typeface="宋体" pitchFamily="2" charset="-122"/>
              </a:endParaRPr>
            </a:p>
          </p:txBody>
        </p:sp>
        <p:sp>
          <p:nvSpPr>
            <p:cNvPr id="116786" name="Rectangle 51"/>
            <p:cNvSpPr>
              <a:spLocks noChangeArrowheads="1"/>
            </p:cNvSpPr>
            <p:nvPr/>
          </p:nvSpPr>
          <p:spPr bwMode="auto">
            <a:xfrm>
              <a:off x="3535" y="3739"/>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541</a:t>
              </a:r>
              <a:endParaRPr kumimoji="1" lang="en-US" altLang="zh-CN" sz="2400" b="1">
                <a:latin typeface="Tahoma" pitchFamily="34" charset="0"/>
                <a:ea typeface="宋体" pitchFamily="2" charset="-122"/>
              </a:endParaRPr>
            </a:p>
          </p:txBody>
        </p:sp>
        <p:sp>
          <p:nvSpPr>
            <p:cNvPr id="116787" name="Rectangle 52"/>
            <p:cNvSpPr>
              <a:spLocks noChangeArrowheads="1"/>
            </p:cNvSpPr>
            <p:nvPr/>
          </p:nvSpPr>
          <p:spPr bwMode="auto">
            <a:xfrm>
              <a:off x="4307" y="3739"/>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en-US" altLang="zh-CN" sz="1700" b="1">
                  <a:solidFill>
                    <a:srgbClr val="000000"/>
                  </a:solidFill>
                  <a:latin typeface="Times New Roman" pitchFamily="18" charset="0"/>
                  <a:ea typeface="宋体" pitchFamily="2" charset="-122"/>
                </a:rPr>
                <a:t>310</a:t>
              </a:r>
              <a:endParaRPr kumimoji="1" lang="en-US" altLang="zh-CN" sz="2400" b="1">
                <a:latin typeface="Tahoma" pitchFamily="34" charset="0"/>
                <a:ea typeface="宋体" pitchFamily="2" charset="-122"/>
              </a:endParaRPr>
            </a:p>
          </p:txBody>
        </p:sp>
        <p:sp>
          <p:nvSpPr>
            <p:cNvPr id="116788" name="Rectangle 53"/>
            <p:cNvSpPr>
              <a:spLocks noChangeArrowheads="1"/>
            </p:cNvSpPr>
            <p:nvPr/>
          </p:nvSpPr>
          <p:spPr bwMode="auto">
            <a:xfrm>
              <a:off x="4631" y="3739"/>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89" name="Rectangle 54"/>
            <p:cNvSpPr>
              <a:spLocks noChangeArrowheads="1"/>
            </p:cNvSpPr>
            <p:nvPr/>
          </p:nvSpPr>
          <p:spPr bwMode="auto">
            <a:xfrm>
              <a:off x="2238" y="3893"/>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90" name="Rectangle 55"/>
            <p:cNvSpPr>
              <a:spLocks noChangeArrowheads="1"/>
            </p:cNvSpPr>
            <p:nvPr/>
          </p:nvSpPr>
          <p:spPr bwMode="auto">
            <a:xfrm>
              <a:off x="2238" y="4046"/>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7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791" name="Line 56"/>
            <p:cNvSpPr>
              <a:spLocks noChangeShapeType="1"/>
            </p:cNvSpPr>
            <p:nvPr/>
          </p:nvSpPr>
          <p:spPr bwMode="auto">
            <a:xfrm>
              <a:off x="2111" y="2418"/>
              <a:ext cx="287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2" name="Line 57"/>
            <p:cNvSpPr>
              <a:spLocks noChangeShapeType="1"/>
            </p:cNvSpPr>
            <p:nvPr/>
          </p:nvSpPr>
          <p:spPr bwMode="auto">
            <a:xfrm>
              <a:off x="2111" y="2725"/>
              <a:ext cx="287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3" name="Line 58"/>
            <p:cNvSpPr>
              <a:spLocks noChangeShapeType="1"/>
            </p:cNvSpPr>
            <p:nvPr/>
          </p:nvSpPr>
          <p:spPr bwMode="auto">
            <a:xfrm>
              <a:off x="2111" y="3021"/>
              <a:ext cx="287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4" name="Line 59"/>
            <p:cNvSpPr>
              <a:spLocks noChangeShapeType="1"/>
            </p:cNvSpPr>
            <p:nvPr/>
          </p:nvSpPr>
          <p:spPr bwMode="auto">
            <a:xfrm>
              <a:off x="2111" y="3318"/>
              <a:ext cx="287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5" name="Line 60"/>
            <p:cNvSpPr>
              <a:spLocks noChangeShapeType="1"/>
            </p:cNvSpPr>
            <p:nvPr/>
          </p:nvSpPr>
          <p:spPr bwMode="auto">
            <a:xfrm>
              <a:off x="2111" y="3615"/>
              <a:ext cx="287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6" name="Line 61"/>
            <p:cNvSpPr>
              <a:spLocks noChangeShapeType="1"/>
            </p:cNvSpPr>
            <p:nvPr/>
          </p:nvSpPr>
          <p:spPr bwMode="auto">
            <a:xfrm>
              <a:off x="3030" y="2122"/>
              <a:ext cx="1" cy="182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7" name="Line 62"/>
            <p:cNvSpPr>
              <a:spLocks noChangeShapeType="1"/>
            </p:cNvSpPr>
            <p:nvPr/>
          </p:nvSpPr>
          <p:spPr bwMode="auto">
            <a:xfrm>
              <a:off x="4064" y="2122"/>
              <a:ext cx="1" cy="182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8" name="Rectangle 63"/>
            <p:cNvSpPr>
              <a:spLocks noChangeArrowheads="1"/>
            </p:cNvSpPr>
            <p:nvPr/>
          </p:nvSpPr>
          <p:spPr bwMode="auto">
            <a:xfrm>
              <a:off x="2631" y="4036"/>
              <a:ext cx="169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400" b="1">
                  <a:solidFill>
                    <a:srgbClr val="000000"/>
                  </a:solidFill>
                  <a:latin typeface="宋体" pitchFamily="2" charset="-122"/>
                  <a:ea typeface="宋体" pitchFamily="2" charset="-122"/>
                </a:rPr>
                <a:t>利用平方取中法得到散列函数地址</a:t>
              </a:r>
              <a:endParaRPr kumimoji="1" lang="zh-CN" altLang="en-US" sz="2400" b="1">
                <a:latin typeface="Tahoma" pitchFamily="34" charset="0"/>
                <a:ea typeface="宋体" pitchFamily="2" charset="-122"/>
              </a:endParaRPr>
            </a:p>
          </p:txBody>
        </p:sp>
        <p:sp>
          <p:nvSpPr>
            <p:cNvPr id="116799" name="Rectangle 64"/>
            <p:cNvSpPr>
              <a:spLocks noChangeArrowheads="1"/>
            </p:cNvSpPr>
            <p:nvPr/>
          </p:nvSpPr>
          <p:spPr bwMode="auto">
            <a:xfrm>
              <a:off x="4260" y="4017"/>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1400" b="1">
                  <a:solidFill>
                    <a:srgbClr val="000000"/>
                  </a:solidFill>
                  <a:latin typeface="Times New Roman" pitchFamily="18" charset="0"/>
                  <a:ea typeface="宋体" pitchFamily="2" charset="-122"/>
                </a:rPr>
                <a:t> </a:t>
              </a:r>
              <a:endParaRPr kumimoji="1" lang="zh-CN" altLang="en-US" sz="2400" b="1">
                <a:latin typeface="Tahoma" pitchFamily="34" charset="0"/>
                <a:ea typeface="宋体" pitchFamily="2" charset="-122"/>
              </a:endParaRPr>
            </a:p>
          </p:txBody>
        </p:sp>
        <p:sp>
          <p:nvSpPr>
            <p:cNvPr id="116800" name="Rectangle 65"/>
            <p:cNvSpPr>
              <a:spLocks noChangeArrowheads="1"/>
            </p:cNvSpPr>
            <p:nvPr/>
          </p:nvSpPr>
          <p:spPr bwMode="auto">
            <a:xfrm>
              <a:off x="3351" y="3878"/>
              <a:ext cx="20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3" name="矩形 2">
            <a:extLst>
              <a:ext uri="{FF2B5EF4-FFF2-40B4-BE49-F238E27FC236}">
                <a16:creationId xmlns:a16="http://schemas.microsoft.com/office/drawing/2014/main" id="{4F242706-D4E1-E3A1-BC83-601C99651F8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CEB6BFD8-EFE0-05D6-BC4C-459BB5CE49CD}"/>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5" name="直接连接符 4">
            <a:extLst>
              <a:ext uri="{FF2B5EF4-FFF2-40B4-BE49-F238E27FC236}">
                <a16:creationId xmlns:a16="http://schemas.microsoft.com/office/drawing/2014/main" id="{4AF4A6CD-261E-29CE-B989-9699B223036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6778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215044"/>
                                        </p:tgtEl>
                                        <p:attrNameLst>
                                          <p:attrName>style.visibility</p:attrName>
                                        </p:attrNameLst>
                                      </p:cBhvr>
                                      <p:to>
                                        <p:strVal val="visible"/>
                                      </p:to>
                                    </p:set>
                                    <p:animEffect transition="in" filter="slide(fromBottom)">
                                      <p:cBhvr>
                                        <p:cTn id="7" dur="500"/>
                                        <p:tgtEl>
                                          <p:spTgt spid="2150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4"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8" name="Text Box 4"/>
          <p:cNvSpPr txBox="1">
            <a:spLocks noChangeArrowheads="1"/>
          </p:cNvSpPr>
          <p:nvPr/>
        </p:nvSpPr>
        <p:spPr bwMode="auto">
          <a:xfrm>
            <a:off x="2063552" y="2060849"/>
            <a:ext cx="24482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4</a:t>
            </a:r>
            <a:r>
              <a:rPr kumimoji="1" lang="zh-CN" altLang="en-US" sz="2000" dirty="0">
                <a:latin typeface="微软雅黑" pitchFamily="34" charset="-122"/>
                <a:ea typeface="微软雅黑" pitchFamily="34" charset="-122"/>
                <a:cs typeface="经典粗黑简" pitchFamily="49" charset="-122"/>
              </a:rPr>
              <a:t>．折叠法</a:t>
            </a:r>
          </a:p>
        </p:txBody>
      </p:sp>
      <p:sp>
        <p:nvSpPr>
          <p:cNvPr id="216069" name="Text Box 5"/>
          <p:cNvSpPr txBox="1">
            <a:spLocks noChangeArrowheads="1"/>
          </p:cNvSpPr>
          <p:nvPr/>
        </p:nvSpPr>
        <p:spPr bwMode="auto">
          <a:xfrm>
            <a:off x="2711624" y="3645024"/>
            <a:ext cx="7416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例如，假设关键字为某人身份证号码</a:t>
            </a:r>
            <a:r>
              <a:rPr kumimoji="1" lang="en-US" altLang="zh-CN" sz="2000" dirty="0">
                <a:latin typeface="微软雅黑" pitchFamily="34" charset="-122"/>
                <a:ea typeface="微软雅黑" pitchFamily="34" charset="-122"/>
                <a:cs typeface="经典粗黑简" pitchFamily="49" charset="-122"/>
              </a:rPr>
              <a:t>430104681015355</a:t>
            </a:r>
            <a:r>
              <a:rPr kumimoji="1" lang="zh-CN" altLang="en-US" sz="2000" dirty="0">
                <a:latin typeface="微软雅黑" pitchFamily="34" charset="-122"/>
                <a:ea typeface="微软雅黑" pitchFamily="34" charset="-122"/>
                <a:cs typeface="经典粗黑简" pitchFamily="49" charset="-122"/>
              </a:rPr>
              <a:t>，则可以用</a:t>
            </a:r>
            <a:r>
              <a:rPr kumimoji="1" lang="en-US" altLang="zh-CN" sz="2000" dirty="0">
                <a:latin typeface="微软雅黑" pitchFamily="34" charset="-122"/>
                <a:ea typeface="微软雅黑" pitchFamily="34" charset="-122"/>
                <a:cs typeface="经典粗黑简" pitchFamily="49" charset="-122"/>
              </a:rPr>
              <a:t>4</a:t>
            </a:r>
            <a:r>
              <a:rPr kumimoji="1" lang="zh-CN" altLang="en-US" sz="2000" dirty="0">
                <a:latin typeface="微软雅黑" pitchFamily="34" charset="-122"/>
                <a:ea typeface="微软雅黑" pitchFamily="34" charset="-122"/>
                <a:cs typeface="经典粗黑简" pitchFamily="49" charset="-122"/>
              </a:rPr>
              <a:t>位为一组进行叠加，即有</a:t>
            </a:r>
            <a:r>
              <a:rPr kumimoji="1" lang="en-US" altLang="zh-CN" sz="2000" dirty="0">
                <a:latin typeface="微软雅黑" pitchFamily="34" charset="-122"/>
                <a:ea typeface="微软雅黑" pitchFamily="34" charset="-122"/>
                <a:cs typeface="经典粗黑简" pitchFamily="49" charset="-122"/>
              </a:rPr>
              <a:t>5355</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8101</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1046</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430</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14932</a:t>
            </a:r>
            <a:r>
              <a:rPr kumimoji="1" lang="zh-CN" altLang="en-US" sz="2000" dirty="0">
                <a:latin typeface="微软雅黑" pitchFamily="34" charset="-122"/>
                <a:ea typeface="微软雅黑" pitchFamily="34" charset="-122"/>
                <a:cs typeface="经典粗黑简" pitchFamily="49" charset="-122"/>
              </a:rPr>
              <a:t>，舍去高位，则有</a:t>
            </a:r>
            <a:r>
              <a:rPr kumimoji="1" lang="en-US" altLang="zh-CN" sz="2000" dirty="0">
                <a:latin typeface="微软雅黑" pitchFamily="34" charset="-122"/>
                <a:ea typeface="微软雅黑" pitchFamily="34" charset="-122"/>
                <a:cs typeface="经典粗黑简" pitchFamily="49" charset="-122"/>
              </a:rPr>
              <a:t>H(430104681015355)</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4932</a:t>
            </a:r>
            <a:r>
              <a:rPr kumimoji="1" lang="zh-CN" altLang="en-US" sz="2000" dirty="0">
                <a:latin typeface="微软雅黑" pitchFamily="34" charset="-122"/>
                <a:ea typeface="微软雅黑" pitchFamily="34" charset="-122"/>
                <a:cs typeface="经典粗黑简" pitchFamily="49" charset="-122"/>
              </a:rPr>
              <a:t>。</a:t>
            </a:r>
          </a:p>
        </p:txBody>
      </p:sp>
      <p:sp>
        <p:nvSpPr>
          <p:cNvPr id="2" name="矩形 1"/>
          <p:cNvSpPr/>
          <p:nvPr/>
        </p:nvSpPr>
        <p:spPr>
          <a:xfrm>
            <a:off x="2711624" y="2522514"/>
            <a:ext cx="6912768" cy="1015663"/>
          </a:xfrm>
          <a:prstGeom prst="rect">
            <a:avLst/>
          </a:prstGeom>
        </p:spPr>
        <p:txBody>
          <a:bodyPr wrap="square">
            <a:spAutoFit/>
          </a:bodyPr>
          <a:lstStyle/>
          <a:p>
            <a:pPr algn="just">
              <a:spcBef>
                <a:spcPct val="50000"/>
              </a:spcBef>
            </a:pPr>
            <a:r>
              <a:rPr kumimoji="1" lang="zh-CN" altLang="en-US" sz="2000" dirty="0">
                <a:latin typeface="微软雅黑" pitchFamily="34" charset="-122"/>
                <a:ea typeface="微软雅黑" pitchFamily="34" charset="-122"/>
                <a:cs typeface="经典粗黑简" pitchFamily="49" charset="-122"/>
              </a:rPr>
              <a:t>将关键字分割成位数相同的几部分</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最后一部分的位数可以不同</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，然后取这几部分的叠加和</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舍去进位</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作为散列函数的值，称为折叠法。 </a:t>
            </a:r>
          </a:p>
        </p:txBody>
      </p:sp>
      <p:sp>
        <p:nvSpPr>
          <p:cNvPr id="3" name="矩形 2">
            <a:extLst>
              <a:ext uri="{FF2B5EF4-FFF2-40B4-BE49-F238E27FC236}">
                <a16:creationId xmlns:a16="http://schemas.microsoft.com/office/drawing/2014/main" id="{331157EE-2B3F-F92A-104E-6BFA9F6B117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69DB0C25-629A-735A-495F-CC9DBC36FC93}"/>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5" name="直接连接符 4">
            <a:extLst>
              <a:ext uri="{FF2B5EF4-FFF2-40B4-BE49-F238E27FC236}">
                <a16:creationId xmlns:a16="http://schemas.microsoft.com/office/drawing/2014/main" id="{D6700062-D0C0-5ED3-ACEB-CE7DEA8BCB7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5005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216068"/>
                                        </p:tgtEl>
                                        <p:attrNameLst>
                                          <p:attrName>style.visibility</p:attrName>
                                        </p:attrNameLst>
                                      </p:cBhvr>
                                      <p:to>
                                        <p:strVal val="visible"/>
                                      </p:to>
                                    </p:set>
                                    <p:animEffect transition="in" filter="slide(fromBottom)">
                                      <p:cBhvr>
                                        <p:cTn id="7" dur="500"/>
                                        <p:tgtEl>
                                          <p:spTgt spid="216068"/>
                                        </p:tgtEl>
                                      </p:cBhvr>
                                    </p:animEffect>
                                  </p:childTnLst>
                                </p:cTn>
                              </p:par>
                            </p:childTnLst>
                          </p:cTn>
                        </p:par>
                        <p:par>
                          <p:cTn id="8" fill="hold" nodeType="afterGroup">
                            <p:stCondLst>
                              <p:cond delay="2500"/>
                            </p:stCondLst>
                            <p:childTnLst>
                              <p:par>
                                <p:cTn id="9" presetID="12" presetClass="entr" presetSubtype="4" fill="hold" grpId="0" nodeType="afterEffect">
                                  <p:stCondLst>
                                    <p:cond delay="1000"/>
                                  </p:stCondLst>
                                  <p:childTnLst>
                                    <p:set>
                                      <p:cBhvr>
                                        <p:cTn id="10" dur="1" fill="hold">
                                          <p:stCondLst>
                                            <p:cond delay="0"/>
                                          </p:stCondLst>
                                        </p:cTn>
                                        <p:tgtEl>
                                          <p:spTgt spid="216069"/>
                                        </p:tgtEl>
                                        <p:attrNameLst>
                                          <p:attrName>style.visibility</p:attrName>
                                        </p:attrNameLst>
                                      </p:cBhvr>
                                      <p:to>
                                        <p:strVal val="visible"/>
                                      </p:to>
                                    </p:set>
                                    <p:animEffect transition="in" filter="slide(fromBottom)">
                                      <p:cBhvr>
                                        <p:cTn id="11" dur="500"/>
                                        <p:tgtEl>
                                          <p:spTgt spid="216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autoUpdateAnimBg="0"/>
      <p:bldP spid="216069"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2" name="Text Box 4"/>
          <p:cNvSpPr txBox="1">
            <a:spLocks noChangeArrowheads="1"/>
          </p:cNvSpPr>
          <p:nvPr/>
        </p:nvSpPr>
        <p:spPr bwMode="auto">
          <a:xfrm>
            <a:off x="2279576" y="1700809"/>
            <a:ext cx="522197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5</a:t>
            </a:r>
            <a:r>
              <a:rPr kumimoji="1" lang="zh-CN" altLang="en-US" sz="2000" dirty="0">
                <a:latin typeface="微软雅黑" pitchFamily="34" charset="-122"/>
                <a:ea typeface="微软雅黑" pitchFamily="34" charset="-122"/>
                <a:cs typeface="经典粗黑简" pitchFamily="49" charset="-122"/>
              </a:rPr>
              <a:t>．除留余数法</a:t>
            </a:r>
          </a:p>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该方法的散列函数形式为：   </a:t>
            </a:r>
          </a:p>
        </p:txBody>
      </p:sp>
      <p:grpSp>
        <p:nvGrpSpPr>
          <p:cNvPr id="2" name="Group 5"/>
          <p:cNvGrpSpPr>
            <a:grpSpLocks/>
          </p:cNvGrpSpPr>
          <p:nvPr/>
        </p:nvGrpSpPr>
        <p:grpSpPr bwMode="auto">
          <a:xfrm>
            <a:off x="3276600" y="2646040"/>
            <a:ext cx="5638800" cy="1143000"/>
            <a:chOff x="624" y="3264"/>
            <a:chExt cx="3552" cy="720"/>
          </a:xfrm>
        </p:grpSpPr>
        <p:sp>
          <p:nvSpPr>
            <p:cNvPr id="118789" name="Text Box 6"/>
            <p:cNvSpPr txBox="1">
              <a:spLocks noChangeArrowheads="1"/>
            </p:cNvSpPr>
            <p:nvPr/>
          </p:nvSpPr>
          <p:spPr bwMode="auto">
            <a:xfrm>
              <a:off x="1008" y="3264"/>
              <a:ext cx="2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latin typeface="Times New Roman" pitchFamily="18" charset="0"/>
                  <a:ea typeface="宋体" pitchFamily="2" charset="-122"/>
                </a:rPr>
                <a:t>Hash(key) = key % p</a:t>
              </a:r>
            </a:p>
          </p:txBody>
        </p:sp>
        <p:sp>
          <p:nvSpPr>
            <p:cNvPr id="118790" name="Text Box 7"/>
            <p:cNvSpPr txBox="1">
              <a:spLocks noChangeArrowheads="1"/>
            </p:cNvSpPr>
            <p:nvPr/>
          </p:nvSpPr>
          <p:spPr bwMode="auto">
            <a:xfrm>
              <a:off x="624" y="3696"/>
              <a:ext cx="35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b="1"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a:latin typeface="微软雅黑" pitchFamily="34" charset="-122"/>
                  <a:ea typeface="微软雅黑" pitchFamily="34" charset="-122"/>
                  <a:cs typeface="经典粗黑简" pitchFamily="49" charset="-122"/>
                </a:rPr>
                <a:t>p</a:t>
              </a:r>
              <a:r>
                <a:rPr kumimoji="1" lang="zh-CN" altLang="en-US" sz="2000" dirty="0">
                  <a:latin typeface="微软雅黑" pitchFamily="34" charset="-122"/>
                  <a:ea typeface="微软雅黑" pitchFamily="34" charset="-122"/>
                  <a:cs typeface="经典粗黑简" pitchFamily="49" charset="-122"/>
                </a:rPr>
                <a:t>为不大于散列表表长</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的数</a:t>
              </a:r>
            </a:p>
          </p:txBody>
        </p:sp>
      </p:grpSp>
      <p:sp>
        <p:nvSpPr>
          <p:cNvPr id="3" name="矩形 2"/>
          <p:cNvSpPr/>
          <p:nvPr/>
        </p:nvSpPr>
        <p:spPr>
          <a:xfrm>
            <a:off x="2500736" y="3866272"/>
            <a:ext cx="7771729" cy="1938992"/>
          </a:xfrm>
          <a:prstGeom prst="rect">
            <a:avLst/>
          </a:prstGeom>
        </p:spPr>
        <p:txBody>
          <a:bodyPr wrap="square">
            <a:spAutoFit/>
          </a:bodyPr>
          <a:lstStyle/>
          <a:p>
            <a:pPr algn="just">
              <a:spcBef>
                <a:spcPct val="50000"/>
              </a:spcBef>
            </a:pPr>
            <a:r>
              <a:rPr kumimoji="1" lang="zh-CN" altLang="en-US" sz="2000" dirty="0">
                <a:latin typeface="微软雅黑" pitchFamily="34" charset="-122"/>
                <a:ea typeface="微软雅黑" pitchFamily="34" charset="-122"/>
                <a:cs typeface="经典粗黑简" pitchFamily="49" charset="-122"/>
              </a:rPr>
              <a:t>       除留余数法计算简单，适用范围广，是一种最常使用的方法。这种方法的关键是选取较理想的</a:t>
            </a:r>
            <a:r>
              <a:rPr kumimoji="1" lang="en-US" altLang="zh-CN" sz="2000" dirty="0">
                <a:latin typeface="微软雅黑" pitchFamily="34" charset="-122"/>
                <a:ea typeface="微软雅黑" pitchFamily="34" charset="-122"/>
                <a:cs typeface="经典粗黑简" pitchFamily="49" charset="-122"/>
              </a:rPr>
              <a:t>p</a:t>
            </a:r>
            <a:r>
              <a:rPr kumimoji="1" lang="zh-CN" altLang="en-US" sz="2000" dirty="0">
                <a:latin typeface="微软雅黑" pitchFamily="34" charset="-122"/>
                <a:ea typeface="微软雅黑" pitchFamily="34" charset="-122"/>
                <a:cs typeface="经典粗黑简" pitchFamily="49" charset="-122"/>
              </a:rPr>
              <a:t>值，使得每一个关键字通过该函数转换后映射到散列空间上任一地址的概率都相等，从而尽可能减少发生冲突的可能性。一般情形下，取</a:t>
            </a:r>
            <a:r>
              <a:rPr kumimoji="1" lang="en-US" altLang="zh-CN" sz="2000" dirty="0">
                <a:latin typeface="微软雅黑" pitchFamily="34" charset="-122"/>
                <a:ea typeface="微软雅黑" pitchFamily="34" charset="-122"/>
                <a:cs typeface="经典粗黑简" pitchFamily="49" charset="-122"/>
              </a:rPr>
              <a:t>p</a:t>
            </a:r>
            <a:r>
              <a:rPr kumimoji="1" lang="zh-CN" altLang="en-US" sz="2000" dirty="0">
                <a:latin typeface="微软雅黑" pitchFamily="34" charset="-122"/>
                <a:ea typeface="微软雅黑" pitchFamily="34" charset="-122"/>
                <a:cs typeface="经典粗黑简" pitchFamily="49" charset="-122"/>
              </a:rPr>
              <a:t>为一个素数较理想。经验表明， </a:t>
            </a:r>
            <a:r>
              <a:rPr kumimoji="1" lang="en-US" altLang="zh-CN" sz="2000" dirty="0">
                <a:latin typeface="微软雅黑" pitchFamily="34" charset="-122"/>
                <a:ea typeface="微软雅黑" pitchFamily="34" charset="-122"/>
                <a:cs typeface="经典粗黑简" pitchFamily="49" charset="-122"/>
              </a:rPr>
              <a:t>p</a:t>
            </a:r>
            <a:r>
              <a:rPr kumimoji="1" lang="zh-CN" altLang="en-US" sz="2000" dirty="0">
                <a:latin typeface="微软雅黑" pitchFamily="34" charset="-122"/>
                <a:ea typeface="微软雅黑" pitchFamily="34" charset="-122"/>
                <a:cs typeface="经典粗黑简" pitchFamily="49" charset="-122"/>
              </a:rPr>
              <a:t>为</a:t>
            </a:r>
            <a:r>
              <a:rPr kumimoji="1" lang="en-US" altLang="zh-CN" sz="2000" dirty="0">
                <a:latin typeface="微软雅黑" pitchFamily="34" charset="-122"/>
                <a:ea typeface="微软雅黑" pitchFamily="34" charset="-122"/>
                <a:cs typeface="经典粗黑简" pitchFamily="49" charset="-122"/>
              </a:rPr>
              <a:t>1.1n</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1.7n</a:t>
            </a:r>
            <a:r>
              <a:rPr kumimoji="1" lang="zh-CN" altLang="en-US" sz="2000" dirty="0">
                <a:latin typeface="微软雅黑" pitchFamily="34" charset="-122"/>
                <a:ea typeface="微软雅黑" pitchFamily="34" charset="-122"/>
                <a:cs typeface="经典粗黑简" pitchFamily="49" charset="-122"/>
              </a:rPr>
              <a:t>之间的一个素数较好，其中</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为哈希表中待装入的元素个数。</a:t>
            </a:r>
          </a:p>
        </p:txBody>
      </p:sp>
      <p:sp>
        <p:nvSpPr>
          <p:cNvPr id="4" name="矩形 3">
            <a:extLst>
              <a:ext uri="{FF2B5EF4-FFF2-40B4-BE49-F238E27FC236}">
                <a16:creationId xmlns:a16="http://schemas.microsoft.com/office/drawing/2014/main" id="{27023851-BAEE-7E1D-CD38-81C7F8D0D2BC}"/>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5" name="矩形 4">
            <a:extLst>
              <a:ext uri="{FF2B5EF4-FFF2-40B4-BE49-F238E27FC236}">
                <a16:creationId xmlns:a16="http://schemas.microsoft.com/office/drawing/2014/main" id="{1AECA2A7-ACE3-F8D1-03D4-A10514AECD92}"/>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6" name="直接连接符 5">
            <a:extLst>
              <a:ext uri="{FF2B5EF4-FFF2-40B4-BE49-F238E27FC236}">
                <a16:creationId xmlns:a16="http://schemas.microsoft.com/office/drawing/2014/main" id="{2A599D30-D48E-41CB-6289-1A9F546E4CB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8206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217092"/>
                                        </p:tgtEl>
                                        <p:attrNameLst>
                                          <p:attrName>style.visibility</p:attrName>
                                        </p:attrNameLst>
                                      </p:cBhvr>
                                      <p:to>
                                        <p:strVal val="visible"/>
                                      </p:to>
                                    </p:set>
                                    <p:animEffect transition="in" filter="slide(fromBottom)">
                                      <p:cBhvr>
                                        <p:cTn id="7" dur="500"/>
                                        <p:tgtEl>
                                          <p:spTgt spid="217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Text Box 3"/>
          <p:cNvSpPr txBox="1">
            <a:spLocks noChangeArrowheads="1"/>
          </p:cNvSpPr>
          <p:nvPr/>
        </p:nvSpPr>
        <p:spPr bwMode="auto">
          <a:xfrm>
            <a:off x="2135560" y="2413000"/>
            <a:ext cx="8382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b="1" dirty="0">
                <a:latin typeface="Times New Roman" pitchFamily="18" charset="0"/>
                <a:ea typeface="楷体_GB2312" pitchFamily="49" charset="-122"/>
              </a:rPr>
              <a:t>       </a:t>
            </a:r>
            <a:r>
              <a:rPr kumimoji="1" lang="en-US" altLang="zh-CN" sz="2000" dirty="0">
                <a:latin typeface="微软雅黑" pitchFamily="34" charset="-122"/>
                <a:ea typeface="微软雅黑" pitchFamily="34" charset="-122"/>
                <a:cs typeface="经典粗黑简" pitchFamily="49" charset="-122"/>
              </a:rPr>
              <a:t>6. </a:t>
            </a:r>
            <a:r>
              <a:rPr kumimoji="1" lang="zh-CN" altLang="en-US" sz="2000" dirty="0">
                <a:latin typeface="微软雅黑" pitchFamily="34" charset="-122"/>
                <a:ea typeface="微软雅黑" pitchFamily="34" charset="-122"/>
                <a:cs typeface="经典粗黑简" pitchFamily="49" charset="-122"/>
              </a:rPr>
              <a:t>伪随机数法</a:t>
            </a:r>
          </a:p>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000" dirty="0">
                <a:latin typeface="微软雅黑" pitchFamily="34" charset="-122"/>
                <a:ea typeface="微软雅黑" pitchFamily="34" charset="-122"/>
                <a:cs typeface="经典粗黑简" pitchFamily="49" charset="-122"/>
              </a:rPr>
              <a:t>选择一个随机函数，取关键值的随机函数值为它的哈希地址，即              </a:t>
            </a:r>
          </a:p>
          <a:p>
            <a:pPr algn="just" eaLnBrk="1" hangingPunct="1">
              <a:spcBef>
                <a:spcPct val="50000"/>
              </a:spcBef>
            </a:pP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H(key)=random(key)      </a:t>
            </a:r>
          </a:p>
        </p:txBody>
      </p:sp>
      <p:sp>
        <p:nvSpPr>
          <p:cNvPr id="2" name="矩形 1">
            <a:extLst>
              <a:ext uri="{FF2B5EF4-FFF2-40B4-BE49-F238E27FC236}">
                <a16:creationId xmlns:a16="http://schemas.microsoft.com/office/drawing/2014/main" id="{27FF79DC-8875-9B65-F74E-80CDBE70B3A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73441997-40C7-6FE7-540A-D378A376E497}"/>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9.4.2 </a:t>
            </a:r>
            <a:r>
              <a:rPr lang="zh-CN" altLang="en-US" sz="2800" b="1" dirty="0">
                <a:solidFill>
                  <a:schemeClr val="bg1"/>
                </a:solidFill>
                <a:latin typeface="经典粗黑简" pitchFamily="49" charset="-122"/>
                <a:ea typeface="经典粗黑简" pitchFamily="49" charset="-122"/>
                <a:cs typeface="经典粗黑简" pitchFamily="49" charset="-122"/>
              </a:rPr>
              <a:t>哈希函数构造方法</a:t>
            </a:r>
          </a:p>
        </p:txBody>
      </p:sp>
      <p:cxnSp>
        <p:nvCxnSpPr>
          <p:cNvPr id="4" name="直接连接符 3">
            <a:extLst>
              <a:ext uri="{FF2B5EF4-FFF2-40B4-BE49-F238E27FC236}">
                <a16:creationId xmlns:a16="http://schemas.microsoft.com/office/drawing/2014/main" id="{8ED9E11A-2305-5BFA-172B-CB34E07A193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7083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slide(fromBottom)">
                                      <p:cBhvr>
                                        <p:cTn id="7" dur="500"/>
                                        <p:tgtEl>
                                          <p:spTgt spid="218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body" idx="4294967295"/>
          </p:nvPr>
        </p:nvSpPr>
        <p:spPr>
          <a:xfrm>
            <a:off x="2711624" y="2283659"/>
            <a:ext cx="7200800" cy="1368153"/>
          </a:xfrm>
        </p:spPr>
        <p:txBody>
          <a:bodyPr>
            <a:normAutofit/>
          </a:bodyPr>
          <a:lstStyle/>
          <a:p>
            <a:pPr marL="0" indent="0">
              <a:buNone/>
            </a:pPr>
            <a:r>
              <a:rPr kumimoji="1" lang="zh-CN" altLang="en-US" sz="2000" dirty="0">
                <a:latin typeface="微软雅黑" pitchFamily="34" charset="-122"/>
                <a:ea typeface="微软雅黑" pitchFamily="34" charset="-122"/>
                <a:cs typeface="经典粗黑简" pitchFamily="49" charset="-122"/>
              </a:rPr>
              <a:t>用开放地址法解决冲突的做法是：当发生冲突时，使用某种探测技术在哈希表中形成一个探测序列，沿此序列逐个单元查找，直到找到给定的关键字或者遇到一个开放的地址（即该地址单元为空）为止。</a:t>
            </a:r>
            <a:endParaRPr lang="zh-CN" altLang="en-US" dirty="0">
              <a:latin typeface="隶书" pitchFamily="49" charset="-122"/>
              <a:ea typeface="隶书" pitchFamily="49" charset="-122"/>
            </a:endParaRPr>
          </a:p>
        </p:txBody>
      </p:sp>
      <p:sp>
        <p:nvSpPr>
          <p:cNvPr id="6" name="Rectangle 2"/>
          <p:cNvSpPr txBox="1">
            <a:spLocks/>
          </p:cNvSpPr>
          <p:nvPr/>
        </p:nvSpPr>
        <p:spPr>
          <a:xfrm>
            <a:off x="2711624" y="3645024"/>
            <a:ext cx="7848872" cy="25922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000" dirty="0">
                <a:latin typeface="微软雅黑" pitchFamily="34" charset="-122"/>
                <a:ea typeface="微软雅黑" pitchFamily="34" charset="-122"/>
                <a:cs typeface="经典粗黑简" pitchFamily="49" charset="-122"/>
              </a:rPr>
              <a:t>开放地址法的一般形式为： </a:t>
            </a:r>
          </a:p>
          <a:p>
            <a:pPr>
              <a:buFont typeface="Wingdings" pitchFamily="2" charset="2"/>
              <a:buNone/>
            </a:pP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Hi=</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key</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+di</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 m   i=1,2,3,...,m-1</a:t>
            </a:r>
          </a:p>
          <a:p>
            <a:pPr>
              <a:buFont typeface="Wingdings" pitchFamily="2" charset="2"/>
              <a:buNone/>
            </a:pPr>
            <a:r>
              <a:rPr kumimoji="1" lang="en-US" altLang="zh-CN" sz="2000" dirty="0">
                <a:latin typeface="微软雅黑" pitchFamily="34" charset="-122"/>
                <a:ea typeface="微软雅黑" pitchFamily="34" charset="-122"/>
                <a:cs typeface="经典粗黑简" pitchFamily="49" charset="-122"/>
              </a:rPr>
              <a:t>    </a:t>
            </a:r>
            <a:r>
              <a:rPr kumimoji="1" lang="zh-CN" altLang="en-US" sz="2000" dirty="0">
                <a:latin typeface="微软雅黑" pitchFamily="34" charset="-122"/>
                <a:ea typeface="微软雅黑" pitchFamily="34" charset="-122"/>
                <a:cs typeface="经典粗黑简" pitchFamily="49" charset="-122"/>
              </a:rPr>
              <a:t>其中：</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key</a:t>
            </a:r>
            <a:r>
              <a:rPr kumimoji="1" lang="zh-CN" altLang="en-US" sz="2000" dirty="0">
                <a:latin typeface="微软雅黑" pitchFamily="34" charset="-122"/>
                <a:ea typeface="微软雅黑" pitchFamily="34" charset="-122"/>
                <a:cs typeface="经典粗黑简" pitchFamily="49" charset="-122"/>
              </a:rPr>
              <a:t>）为哈希函数， </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为哈希表的表长，</a:t>
            </a:r>
            <a:r>
              <a:rPr kumimoji="1" lang="en-US" altLang="zh-CN" sz="2000" dirty="0">
                <a:latin typeface="微软雅黑" pitchFamily="34" charset="-122"/>
                <a:ea typeface="微软雅黑" pitchFamily="34" charset="-122"/>
                <a:cs typeface="经典粗黑简" pitchFamily="49" charset="-122"/>
              </a:rPr>
              <a:t>di</a:t>
            </a:r>
            <a:r>
              <a:rPr kumimoji="1" lang="zh-CN" altLang="en-US" sz="2000" dirty="0">
                <a:latin typeface="微软雅黑" pitchFamily="34" charset="-122"/>
                <a:ea typeface="微软雅黑" pitchFamily="34" charset="-122"/>
                <a:cs typeface="经典粗黑简" pitchFamily="49" charset="-122"/>
              </a:rPr>
              <a:t>为增量序列，可以有下列三种取法：</a:t>
            </a:r>
          </a:p>
          <a:p>
            <a:pPr>
              <a:buFont typeface="Wingdings" pitchFamily="2" charset="2"/>
              <a:buNone/>
            </a:pP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di =1,2,3,...,m-1</a:t>
            </a:r>
            <a:r>
              <a:rPr kumimoji="1" lang="zh-CN" altLang="en-US" sz="2000" dirty="0">
                <a:latin typeface="微软雅黑" pitchFamily="34" charset="-122"/>
                <a:ea typeface="微软雅黑" pitchFamily="34" charset="-122"/>
                <a:cs typeface="经典粗黑简" pitchFamily="49" charset="-122"/>
              </a:rPr>
              <a:t>，称</a:t>
            </a:r>
            <a:r>
              <a:rPr kumimoji="1" lang="zh-CN" altLang="en-US" sz="2000" dirty="0">
                <a:solidFill>
                  <a:srgbClr val="FF0000"/>
                </a:solidFill>
                <a:latin typeface="微软雅黑" pitchFamily="34" charset="-122"/>
                <a:ea typeface="微软雅黑" pitchFamily="34" charset="-122"/>
                <a:cs typeface="经典粗黑简" pitchFamily="49" charset="-122"/>
              </a:rPr>
              <a:t>线性探测再散列</a:t>
            </a:r>
          </a:p>
          <a:p>
            <a:pPr>
              <a:buNone/>
            </a:pP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di =12,-12,22,-22,32, ...,k2,-k2(</a:t>
            </a:r>
            <a:r>
              <a:rPr kumimoji="1" lang="en-US" altLang="zh-CN" sz="2000" dirty="0" err="1">
                <a:latin typeface="微软雅黑" pitchFamily="34" charset="-122"/>
                <a:ea typeface="微软雅黑" pitchFamily="34" charset="-122"/>
                <a:cs typeface="经典粗黑简" pitchFamily="49" charset="-122"/>
              </a:rPr>
              <a:t>k≤m</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称</a:t>
            </a:r>
            <a:r>
              <a:rPr kumimoji="1" lang="zh-CN" altLang="en-US" sz="2000" dirty="0">
                <a:solidFill>
                  <a:srgbClr val="FF0000"/>
                </a:solidFill>
                <a:latin typeface="微软雅黑" pitchFamily="34" charset="-122"/>
                <a:ea typeface="微软雅黑" pitchFamily="34" charset="-122"/>
                <a:cs typeface="经典粗黑简" pitchFamily="49" charset="-122"/>
              </a:rPr>
              <a:t>二次探测再散列</a:t>
            </a:r>
          </a:p>
          <a:p>
            <a:pPr>
              <a:buNone/>
            </a:pP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3</a:t>
            </a: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di =</a:t>
            </a:r>
            <a:r>
              <a:rPr kumimoji="1" lang="zh-CN" altLang="en-US" sz="2000" dirty="0">
                <a:latin typeface="微软雅黑" pitchFamily="34" charset="-122"/>
                <a:ea typeface="微软雅黑" pitchFamily="34" charset="-122"/>
                <a:cs typeface="经典粗黑简" pitchFamily="49" charset="-122"/>
              </a:rPr>
              <a:t>伪随机数，称</a:t>
            </a:r>
            <a:r>
              <a:rPr kumimoji="1" lang="zh-CN" altLang="en-US" sz="2000" dirty="0">
                <a:solidFill>
                  <a:srgbClr val="FF0000"/>
                </a:solidFill>
                <a:latin typeface="微软雅黑" pitchFamily="34" charset="-122"/>
                <a:ea typeface="微软雅黑" pitchFamily="34" charset="-122"/>
                <a:cs typeface="经典粗黑简" pitchFamily="49" charset="-122"/>
              </a:rPr>
              <a:t>伪随机探测再散列</a:t>
            </a:r>
          </a:p>
          <a:p>
            <a:pPr>
              <a:buFont typeface="Wingdings" pitchFamily="2" charset="2"/>
              <a:buNone/>
            </a:pPr>
            <a:endParaRPr kumimoji="1" lang="zh-CN" altLang="en-US" sz="2000" dirty="0">
              <a:latin typeface="微软雅黑" pitchFamily="34" charset="-122"/>
              <a:ea typeface="微软雅黑" pitchFamily="34" charset="-122"/>
              <a:cs typeface="经典粗黑简" pitchFamily="49" charset="-122"/>
            </a:endParaRPr>
          </a:p>
        </p:txBody>
      </p:sp>
      <p:sp>
        <p:nvSpPr>
          <p:cNvPr id="2" name="矩形 1"/>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3" name="矩形 2">
            <a:extLst>
              <a:ext uri="{FF2B5EF4-FFF2-40B4-BE49-F238E27FC236}">
                <a16:creationId xmlns:a16="http://schemas.microsoft.com/office/drawing/2014/main" id="{8568A09F-5CDB-F6F8-994A-414B0C98E99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51E70FBC-940E-EAD4-DEE1-DFDF199A5BAB}"/>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B3219B09-38CE-9446-3FDF-8BD514DF84D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7154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47238" y="2316943"/>
            <a:ext cx="7453218" cy="1877437"/>
          </a:xfrm>
          <a:prstGeom prst="rect">
            <a:avLst/>
          </a:prstGeom>
        </p:spPr>
        <p:txBody>
          <a:bodyPr wrap="square">
            <a:spAutoFit/>
          </a:bodyPr>
          <a:lstStyle/>
          <a:p>
            <a:r>
              <a:rPr kumimoji="1" lang="zh-CN" altLang="en-US" sz="2800" dirty="0">
                <a:latin typeface="微软雅黑" pitchFamily="34" charset="-122"/>
                <a:ea typeface="微软雅黑" pitchFamily="34" charset="-122"/>
                <a:cs typeface="经典粗黑简" pitchFamily="49" charset="-122"/>
              </a:rPr>
              <a:t>已知哈希表的空间为</a:t>
            </a:r>
            <a:r>
              <a:rPr kumimoji="1" lang="en-US" altLang="zh-CN" sz="2800" dirty="0">
                <a:latin typeface="微软雅黑" pitchFamily="34" charset="-122"/>
                <a:ea typeface="微软雅黑" pitchFamily="34" charset="-122"/>
                <a:cs typeface="经典粗黑简" pitchFamily="49" charset="-122"/>
              </a:rPr>
              <a:t>0-14</a:t>
            </a:r>
            <a:r>
              <a:rPr kumimoji="1" lang="zh-CN" altLang="en-US" sz="2800" dirty="0">
                <a:latin typeface="微软雅黑" pitchFamily="34" charset="-122"/>
                <a:ea typeface="微软雅黑" pitchFamily="34" charset="-122"/>
                <a:cs typeface="经典粗黑简" pitchFamily="49" charset="-122"/>
              </a:rPr>
              <a:t>，将关键字序列</a:t>
            </a:r>
            <a:r>
              <a:rPr kumimoji="1" lang="zh-CN" altLang="en-US" sz="3200" dirty="0">
                <a:latin typeface="微软雅黑" pitchFamily="34" charset="-122"/>
                <a:ea typeface="微软雅黑" pitchFamily="34" charset="-122"/>
                <a:cs typeface="经典粗黑简" pitchFamily="49" charset="-122"/>
              </a:rPr>
              <a:t>（</a:t>
            </a:r>
            <a:r>
              <a:rPr kumimoji="1" lang="en-US" altLang="zh-CN" sz="3200" dirty="0">
                <a:latin typeface="微软雅黑" pitchFamily="34" charset="-122"/>
                <a:ea typeface="微软雅黑" pitchFamily="34" charset="-122"/>
                <a:cs typeface="经典粗黑简" pitchFamily="49" charset="-122"/>
              </a:rPr>
              <a:t>19,14,23,01,68,20,84,27,55,11,10,79</a:t>
            </a:r>
            <a:r>
              <a:rPr kumimoji="1" lang="zh-CN" altLang="en-US" sz="3200" dirty="0">
                <a:latin typeface="微软雅黑" pitchFamily="34" charset="-122"/>
                <a:ea typeface="微软雅黑" pitchFamily="34" charset="-122"/>
                <a:cs typeface="经典粗黑简" pitchFamily="49" charset="-122"/>
              </a:rPr>
              <a:t>）</a:t>
            </a:r>
          </a:p>
          <a:p>
            <a:r>
              <a:rPr kumimoji="1" lang="zh-CN" altLang="en-US" sz="2800" dirty="0">
                <a:latin typeface="微软雅黑" pitchFamily="34" charset="-122"/>
                <a:ea typeface="微软雅黑" pitchFamily="34" charset="-122"/>
                <a:cs typeface="经典粗黑简" pitchFamily="49" charset="-122"/>
              </a:rPr>
              <a:t>   按哈希函数</a:t>
            </a:r>
            <a:r>
              <a:rPr kumimoji="1" lang="en-US" altLang="zh-CN" sz="2800" dirty="0">
                <a:latin typeface="微软雅黑" pitchFamily="34" charset="-122"/>
                <a:ea typeface="微软雅黑" pitchFamily="34" charset="-122"/>
                <a:cs typeface="经典粗黑简" pitchFamily="49" charset="-122"/>
              </a:rPr>
              <a:t>H(key)=key%13 </a:t>
            </a:r>
            <a:r>
              <a:rPr kumimoji="1" lang="zh-CN" altLang="en-US" sz="2800" dirty="0">
                <a:latin typeface="微软雅黑" pitchFamily="34" charset="-122"/>
                <a:ea typeface="微软雅黑" pitchFamily="34" charset="-122"/>
                <a:cs typeface="经典粗黑简" pitchFamily="49" charset="-122"/>
              </a:rPr>
              <a:t>和线性探测法处理冲突构造所得的哈希表。</a:t>
            </a:r>
          </a:p>
        </p:txBody>
      </p:sp>
      <p:sp>
        <p:nvSpPr>
          <p:cNvPr id="3" name="矩形 2">
            <a:extLst>
              <a:ext uri="{FF2B5EF4-FFF2-40B4-BE49-F238E27FC236}">
                <a16:creationId xmlns:a16="http://schemas.microsoft.com/office/drawing/2014/main" id="{EB86747E-8B6F-F5F1-9B1F-CD7B482F59EA}"/>
              </a:ext>
            </a:extLst>
          </p:cNvPr>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4" name="矩形 3">
            <a:extLst>
              <a:ext uri="{FF2B5EF4-FFF2-40B4-BE49-F238E27FC236}">
                <a16:creationId xmlns:a16="http://schemas.microsoft.com/office/drawing/2014/main" id="{D4CD0E52-D904-3D1B-DF20-72EE7C7EF977}"/>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5" name="矩形 4">
            <a:extLst>
              <a:ext uri="{FF2B5EF4-FFF2-40B4-BE49-F238E27FC236}">
                <a16:creationId xmlns:a16="http://schemas.microsoft.com/office/drawing/2014/main" id="{6F21D0CC-73F8-BC6D-FEC3-5A523F411722}"/>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6" name="直接连接符 5">
            <a:extLst>
              <a:ext uri="{FF2B5EF4-FFF2-40B4-BE49-F238E27FC236}">
                <a16:creationId xmlns:a16="http://schemas.microsoft.com/office/drawing/2014/main" id="{FC1E2AEB-BE80-E575-5AF3-AC3A5C20F25E}"/>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7560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p:cNvSpPr>
          <p:nvPr>
            <p:ph type="body" idx="4294967295"/>
          </p:nvPr>
        </p:nvSpPr>
        <p:spPr>
          <a:xfrm>
            <a:off x="2286000" y="2204865"/>
            <a:ext cx="7620000" cy="576263"/>
          </a:xfrm>
        </p:spPr>
        <p:txBody>
          <a:bodyPr/>
          <a:lstStyle/>
          <a:p>
            <a:pPr eaLnBrk="1" hangingPunct="1">
              <a:buFont typeface="Wingdings" pitchFamily="2" charset="2"/>
              <a:buNone/>
            </a:pPr>
            <a:r>
              <a:rPr lang="zh-CN" altLang="en-US" sz="2800" dirty="0">
                <a:latin typeface="Comic Sans MS" pitchFamily="66" charset="0"/>
              </a:rPr>
              <a:t>（</a:t>
            </a:r>
            <a:r>
              <a:rPr lang="en-US" altLang="zh-CN" sz="2800" dirty="0">
                <a:latin typeface="Comic Sans MS" pitchFamily="66" charset="0"/>
              </a:rPr>
              <a:t>19,14,23,01,68,20,84,27,55,11,10,79</a:t>
            </a:r>
            <a:r>
              <a:rPr lang="zh-CN" altLang="en-US" sz="2800" dirty="0">
                <a:latin typeface="Comic Sans MS" pitchFamily="66" charset="0"/>
              </a:rPr>
              <a:t>）</a:t>
            </a:r>
          </a:p>
        </p:txBody>
      </p:sp>
      <p:graphicFrame>
        <p:nvGraphicFramePr>
          <p:cNvPr id="166915" name="Group 3"/>
          <p:cNvGraphicFramePr>
            <a:graphicFrameLocks noGrp="1"/>
          </p:cNvGraphicFramePr>
          <p:nvPr>
            <p:extLst>
              <p:ext uri="{D42A27DB-BD31-4B8C-83A1-F6EECF244321}">
                <p14:modId xmlns:p14="http://schemas.microsoft.com/office/powerpoint/2010/main" val="3245470995"/>
              </p:ext>
            </p:extLst>
          </p:nvPr>
        </p:nvGraphicFramePr>
        <p:xfrm>
          <a:off x="2181508" y="5013177"/>
          <a:ext cx="7561262" cy="925513"/>
        </p:xfrm>
        <a:graphic>
          <a:graphicData uri="http://schemas.openxmlformats.org/drawingml/2006/table">
            <a:tbl>
              <a:tblPr/>
              <a:tblGrid>
                <a:gridCol w="504825">
                  <a:extLst>
                    <a:ext uri="{9D8B030D-6E8A-4147-A177-3AD203B41FA5}">
                      <a16:colId xmlns:a16="http://schemas.microsoft.com/office/drawing/2014/main" val="20000"/>
                    </a:ext>
                  </a:extLst>
                </a:gridCol>
                <a:gridCol w="503237">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3238">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3237">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32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03237">
                  <a:extLst>
                    <a:ext uri="{9D8B030D-6E8A-4147-A177-3AD203B41FA5}">
                      <a16:colId xmlns:a16="http://schemas.microsoft.com/office/drawing/2014/main" val="20009"/>
                    </a:ext>
                  </a:extLst>
                </a:gridCol>
                <a:gridCol w="504825">
                  <a:extLst>
                    <a:ext uri="{9D8B030D-6E8A-4147-A177-3AD203B41FA5}">
                      <a16:colId xmlns:a16="http://schemas.microsoft.com/office/drawing/2014/main" val="20010"/>
                    </a:ext>
                  </a:extLst>
                </a:gridCol>
                <a:gridCol w="503238">
                  <a:extLst>
                    <a:ext uri="{9D8B030D-6E8A-4147-A177-3AD203B41FA5}">
                      <a16:colId xmlns:a16="http://schemas.microsoft.com/office/drawing/2014/main" val="20011"/>
                    </a:ext>
                  </a:extLst>
                </a:gridCol>
                <a:gridCol w="504825">
                  <a:extLst>
                    <a:ext uri="{9D8B030D-6E8A-4147-A177-3AD203B41FA5}">
                      <a16:colId xmlns:a16="http://schemas.microsoft.com/office/drawing/2014/main" val="20012"/>
                    </a:ext>
                  </a:extLst>
                </a:gridCol>
                <a:gridCol w="503237">
                  <a:extLst>
                    <a:ext uri="{9D8B030D-6E8A-4147-A177-3AD203B41FA5}">
                      <a16:colId xmlns:a16="http://schemas.microsoft.com/office/drawing/2014/main" val="20013"/>
                    </a:ext>
                  </a:extLst>
                </a:gridCol>
                <a:gridCol w="504825">
                  <a:extLst>
                    <a:ext uri="{9D8B030D-6E8A-4147-A177-3AD203B41FA5}">
                      <a16:colId xmlns:a16="http://schemas.microsoft.com/office/drawing/2014/main" val="20014"/>
                    </a:ext>
                  </a:extLst>
                </a:gridCol>
              </a:tblGrid>
              <a:tr h="46355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Comic Sans MS" pitchFamily="66" charset="0"/>
                          <a:ea typeface="ＭＳ Ｐゴシック" pitchFamily="34" charset="-128"/>
                        </a:rPr>
                        <a:t>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ＭＳ Ｐゴシック" pitchFamily="34" charset="-128"/>
                        </a:rPr>
                        <a:t>14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dirty="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66981" name="Text Box 69"/>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H(19)=19%13=6</a:t>
            </a:r>
          </a:p>
        </p:txBody>
      </p:sp>
      <p:sp>
        <p:nvSpPr>
          <p:cNvPr id="166982" name="Text Box 70"/>
          <p:cNvSpPr txBox="1">
            <a:spLocks noChangeArrowheads="1"/>
          </p:cNvSpPr>
          <p:nvPr/>
        </p:nvSpPr>
        <p:spPr bwMode="auto">
          <a:xfrm>
            <a:off x="5205696"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19</a:t>
            </a:r>
          </a:p>
        </p:txBody>
      </p:sp>
      <p:sp>
        <p:nvSpPr>
          <p:cNvPr id="166983" name="Text Box 71"/>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H(14)=14%13=1</a:t>
            </a:r>
          </a:p>
        </p:txBody>
      </p:sp>
      <p:sp>
        <p:nvSpPr>
          <p:cNvPr id="166984" name="Text Box 72"/>
          <p:cNvSpPr txBox="1">
            <a:spLocks noChangeArrowheads="1"/>
          </p:cNvSpPr>
          <p:nvPr/>
        </p:nvSpPr>
        <p:spPr bwMode="auto">
          <a:xfrm>
            <a:off x="2684746"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14</a:t>
            </a:r>
          </a:p>
        </p:txBody>
      </p:sp>
      <p:sp>
        <p:nvSpPr>
          <p:cNvPr id="166985" name="Text Box 73"/>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H(23)=23%13=10</a:t>
            </a:r>
          </a:p>
        </p:txBody>
      </p:sp>
      <p:sp>
        <p:nvSpPr>
          <p:cNvPr id="166986" name="Text Box 74"/>
          <p:cNvSpPr txBox="1">
            <a:spLocks noChangeArrowheads="1"/>
          </p:cNvSpPr>
          <p:nvPr/>
        </p:nvSpPr>
        <p:spPr bwMode="auto">
          <a:xfrm>
            <a:off x="7251984"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23</a:t>
            </a:r>
          </a:p>
        </p:txBody>
      </p:sp>
      <p:sp>
        <p:nvSpPr>
          <p:cNvPr id="166987" name="Text Box 75"/>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H(01)=01%13=1</a:t>
            </a:r>
          </a:p>
        </p:txBody>
      </p:sp>
      <p:sp>
        <p:nvSpPr>
          <p:cNvPr id="166988" name="Text Box 76"/>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=(1+1)%15=2</a:t>
            </a:r>
          </a:p>
        </p:txBody>
      </p:sp>
      <p:sp>
        <p:nvSpPr>
          <p:cNvPr id="166989" name="Text Box 77"/>
          <p:cNvSpPr txBox="1">
            <a:spLocks noChangeArrowheads="1"/>
          </p:cNvSpPr>
          <p:nvPr/>
        </p:nvSpPr>
        <p:spPr bwMode="auto">
          <a:xfrm>
            <a:off x="3189571" y="5492601"/>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a:t>
            </a:r>
          </a:p>
        </p:txBody>
      </p:sp>
      <p:sp>
        <p:nvSpPr>
          <p:cNvPr id="166990" name="Text Box 78"/>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H(68)=68%13=3</a:t>
            </a:r>
          </a:p>
        </p:txBody>
      </p:sp>
      <p:sp>
        <p:nvSpPr>
          <p:cNvPr id="166991" name="Text Box 79"/>
          <p:cNvSpPr txBox="1">
            <a:spLocks noChangeArrowheads="1"/>
          </p:cNvSpPr>
          <p:nvPr/>
        </p:nvSpPr>
        <p:spPr bwMode="auto">
          <a:xfrm>
            <a:off x="3694396"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68</a:t>
            </a:r>
          </a:p>
        </p:txBody>
      </p:sp>
      <p:sp>
        <p:nvSpPr>
          <p:cNvPr id="166992" name="Text Box 80"/>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H(20)=20%13=7</a:t>
            </a:r>
          </a:p>
        </p:txBody>
      </p:sp>
      <p:sp>
        <p:nvSpPr>
          <p:cNvPr id="166993" name="Text Box 81"/>
          <p:cNvSpPr txBox="1">
            <a:spLocks noChangeArrowheads="1"/>
          </p:cNvSpPr>
          <p:nvPr/>
        </p:nvSpPr>
        <p:spPr bwMode="auto">
          <a:xfrm>
            <a:off x="5708934"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20</a:t>
            </a:r>
          </a:p>
        </p:txBody>
      </p:sp>
      <p:sp>
        <p:nvSpPr>
          <p:cNvPr id="166994" name="Text Box 82"/>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H(84)=84%13=6</a:t>
            </a:r>
          </a:p>
        </p:txBody>
      </p:sp>
      <p:sp>
        <p:nvSpPr>
          <p:cNvPr id="166995" name="Text Box 83"/>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=(6+1)%15=7</a:t>
            </a:r>
          </a:p>
        </p:txBody>
      </p:sp>
      <p:sp>
        <p:nvSpPr>
          <p:cNvPr id="166996" name="Text Box 84"/>
          <p:cNvSpPr txBox="1">
            <a:spLocks noChangeArrowheads="1"/>
          </p:cNvSpPr>
          <p:nvPr/>
        </p:nvSpPr>
        <p:spPr bwMode="auto">
          <a:xfrm>
            <a:off x="2110071" y="35719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=(6+2)%15=8</a:t>
            </a:r>
          </a:p>
        </p:txBody>
      </p:sp>
      <p:sp>
        <p:nvSpPr>
          <p:cNvPr id="166997" name="Text Box 85"/>
          <p:cNvSpPr txBox="1">
            <a:spLocks noChangeArrowheads="1"/>
          </p:cNvSpPr>
          <p:nvPr/>
        </p:nvSpPr>
        <p:spPr bwMode="auto">
          <a:xfrm>
            <a:off x="6213759"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84</a:t>
            </a:r>
          </a:p>
        </p:txBody>
      </p:sp>
      <p:sp>
        <p:nvSpPr>
          <p:cNvPr id="166998" name="Text Box 86"/>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H(27)=27%13=1</a:t>
            </a:r>
          </a:p>
        </p:txBody>
      </p:sp>
      <p:sp>
        <p:nvSpPr>
          <p:cNvPr id="166999" name="Text Box 87"/>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=(1+1)%15=2</a:t>
            </a:r>
          </a:p>
        </p:txBody>
      </p:sp>
      <p:sp>
        <p:nvSpPr>
          <p:cNvPr id="167000" name="Text Box 88"/>
          <p:cNvSpPr txBox="1">
            <a:spLocks noChangeArrowheads="1"/>
          </p:cNvSpPr>
          <p:nvPr/>
        </p:nvSpPr>
        <p:spPr bwMode="auto">
          <a:xfrm>
            <a:off x="2110071" y="35719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=(1+2)%15=3</a:t>
            </a:r>
          </a:p>
        </p:txBody>
      </p:sp>
      <p:sp>
        <p:nvSpPr>
          <p:cNvPr id="167001" name="Text Box 89"/>
          <p:cNvSpPr txBox="1">
            <a:spLocks noChangeArrowheads="1"/>
          </p:cNvSpPr>
          <p:nvPr/>
        </p:nvSpPr>
        <p:spPr bwMode="auto">
          <a:xfrm>
            <a:off x="2110071" y="41482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3</a:t>
            </a:r>
            <a:r>
              <a:rPr kumimoji="1" lang="en-US" altLang="zh-CN" sz="2800" b="1">
                <a:solidFill>
                  <a:srgbClr val="0000FF"/>
                </a:solidFill>
                <a:latin typeface="Comic Sans MS" pitchFamily="66" charset="0"/>
                <a:ea typeface="宋体" pitchFamily="2" charset="-122"/>
              </a:rPr>
              <a:t>=(1+3)%15=4</a:t>
            </a:r>
          </a:p>
        </p:txBody>
      </p:sp>
      <p:sp>
        <p:nvSpPr>
          <p:cNvPr id="167002" name="Text Box 90"/>
          <p:cNvSpPr txBox="1">
            <a:spLocks noChangeArrowheads="1"/>
          </p:cNvSpPr>
          <p:nvPr/>
        </p:nvSpPr>
        <p:spPr bwMode="auto">
          <a:xfrm>
            <a:off x="4199221"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27</a:t>
            </a:r>
          </a:p>
        </p:txBody>
      </p:sp>
      <p:sp>
        <p:nvSpPr>
          <p:cNvPr id="167003" name="Text Box 91"/>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H(55)=55%13=3</a:t>
            </a:r>
          </a:p>
        </p:txBody>
      </p:sp>
      <p:sp>
        <p:nvSpPr>
          <p:cNvPr id="167004" name="Text Box 92"/>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=(3+1)%15=4</a:t>
            </a:r>
          </a:p>
        </p:txBody>
      </p:sp>
      <p:sp>
        <p:nvSpPr>
          <p:cNvPr id="167005" name="Text Box 93"/>
          <p:cNvSpPr txBox="1">
            <a:spLocks noChangeArrowheads="1"/>
          </p:cNvSpPr>
          <p:nvPr/>
        </p:nvSpPr>
        <p:spPr bwMode="auto">
          <a:xfrm>
            <a:off x="2110071" y="35719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=(3+2)%15=5</a:t>
            </a:r>
          </a:p>
        </p:txBody>
      </p:sp>
      <p:sp>
        <p:nvSpPr>
          <p:cNvPr id="167006" name="Text Box 94"/>
          <p:cNvSpPr txBox="1">
            <a:spLocks noChangeArrowheads="1"/>
          </p:cNvSpPr>
          <p:nvPr/>
        </p:nvSpPr>
        <p:spPr bwMode="auto">
          <a:xfrm>
            <a:off x="4700871"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55</a:t>
            </a:r>
          </a:p>
        </p:txBody>
      </p:sp>
      <p:sp>
        <p:nvSpPr>
          <p:cNvPr id="167007" name="Text Box 95"/>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H(11)=11%13=11</a:t>
            </a:r>
          </a:p>
        </p:txBody>
      </p:sp>
      <p:sp>
        <p:nvSpPr>
          <p:cNvPr id="167008" name="Text Box 96"/>
          <p:cNvSpPr txBox="1">
            <a:spLocks noChangeArrowheads="1"/>
          </p:cNvSpPr>
          <p:nvPr/>
        </p:nvSpPr>
        <p:spPr bwMode="auto">
          <a:xfrm>
            <a:off x="7725059"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11</a:t>
            </a:r>
          </a:p>
        </p:txBody>
      </p:sp>
      <p:sp>
        <p:nvSpPr>
          <p:cNvPr id="167009" name="Text Box 97"/>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=(10+1)%15=11</a:t>
            </a:r>
          </a:p>
        </p:txBody>
      </p:sp>
      <p:sp>
        <p:nvSpPr>
          <p:cNvPr id="167010" name="Text Box 98"/>
          <p:cNvSpPr txBox="1">
            <a:spLocks noChangeArrowheads="1"/>
          </p:cNvSpPr>
          <p:nvPr/>
        </p:nvSpPr>
        <p:spPr bwMode="auto">
          <a:xfrm>
            <a:off x="2110071" y="35719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=(10+2)%15=12</a:t>
            </a:r>
          </a:p>
        </p:txBody>
      </p:sp>
      <p:sp>
        <p:nvSpPr>
          <p:cNvPr id="167011" name="Text Box 99"/>
          <p:cNvSpPr txBox="1">
            <a:spLocks noChangeArrowheads="1"/>
          </p:cNvSpPr>
          <p:nvPr/>
        </p:nvSpPr>
        <p:spPr bwMode="auto">
          <a:xfrm>
            <a:off x="2110071"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H(10)=10%13=10</a:t>
            </a:r>
          </a:p>
        </p:txBody>
      </p:sp>
      <p:sp>
        <p:nvSpPr>
          <p:cNvPr id="167012" name="Text Box 100"/>
          <p:cNvSpPr txBox="1">
            <a:spLocks noChangeArrowheads="1"/>
          </p:cNvSpPr>
          <p:nvPr/>
        </p:nvSpPr>
        <p:spPr bwMode="auto">
          <a:xfrm>
            <a:off x="8229884"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10</a:t>
            </a:r>
          </a:p>
        </p:txBody>
      </p:sp>
      <p:sp>
        <p:nvSpPr>
          <p:cNvPr id="167013" name="Text Box 101"/>
          <p:cNvSpPr txBox="1">
            <a:spLocks noChangeArrowheads="1"/>
          </p:cNvSpPr>
          <p:nvPr/>
        </p:nvSpPr>
        <p:spPr bwMode="auto">
          <a:xfrm>
            <a:off x="2110071" y="41482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dirty="0">
                <a:solidFill>
                  <a:srgbClr val="0000FF"/>
                </a:solidFill>
                <a:latin typeface="Comic Sans MS" pitchFamily="66" charset="0"/>
                <a:ea typeface="宋体" pitchFamily="2" charset="-122"/>
              </a:rPr>
              <a:t>H</a:t>
            </a:r>
            <a:r>
              <a:rPr kumimoji="1" lang="en-US" altLang="zh-CN" sz="2800" b="1" baseline="-25000" dirty="0">
                <a:solidFill>
                  <a:srgbClr val="0000FF"/>
                </a:solidFill>
                <a:latin typeface="Comic Sans MS" pitchFamily="66" charset="0"/>
                <a:ea typeface="宋体" pitchFamily="2" charset="-122"/>
              </a:rPr>
              <a:t>3</a:t>
            </a:r>
            <a:r>
              <a:rPr kumimoji="1" lang="en-US" altLang="zh-CN" sz="2800" b="1" dirty="0">
                <a:solidFill>
                  <a:srgbClr val="0000FF"/>
                </a:solidFill>
                <a:latin typeface="Comic Sans MS" pitchFamily="66" charset="0"/>
                <a:ea typeface="宋体" pitchFamily="2" charset="-122"/>
              </a:rPr>
              <a:t>=(1+3)%15=4</a:t>
            </a:r>
          </a:p>
        </p:txBody>
      </p:sp>
      <p:sp>
        <p:nvSpPr>
          <p:cNvPr id="167014" name="Text Box 102"/>
          <p:cNvSpPr txBox="1">
            <a:spLocks noChangeArrowheads="1"/>
          </p:cNvSpPr>
          <p:nvPr/>
        </p:nvSpPr>
        <p:spPr bwMode="auto">
          <a:xfrm>
            <a:off x="2110071" y="30687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=(1+1)%15=2</a:t>
            </a:r>
          </a:p>
        </p:txBody>
      </p:sp>
      <p:sp>
        <p:nvSpPr>
          <p:cNvPr id="167015" name="Text Box 103"/>
          <p:cNvSpPr txBox="1">
            <a:spLocks noChangeArrowheads="1"/>
          </p:cNvSpPr>
          <p:nvPr/>
        </p:nvSpPr>
        <p:spPr bwMode="auto">
          <a:xfrm>
            <a:off x="2110071" y="35719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=(1+2)%15=3</a:t>
            </a:r>
          </a:p>
        </p:txBody>
      </p:sp>
      <p:sp>
        <p:nvSpPr>
          <p:cNvPr id="167016" name="Text Box 104"/>
          <p:cNvSpPr txBox="1">
            <a:spLocks noChangeArrowheads="1"/>
          </p:cNvSpPr>
          <p:nvPr/>
        </p:nvSpPr>
        <p:spPr bwMode="auto">
          <a:xfrm>
            <a:off x="2110071" y="2636912"/>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H(79)=79%13=1</a:t>
            </a:r>
          </a:p>
        </p:txBody>
      </p:sp>
      <p:sp>
        <p:nvSpPr>
          <p:cNvPr id="167017" name="Text Box 105"/>
          <p:cNvSpPr txBox="1">
            <a:spLocks noChangeArrowheads="1"/>
          </p:cNvSpPr>
          <p:nvPr/>
        </p:nvSpPr>
        <p:spPr bwMode="auto">
          <a:xfrm>
            <a:off x="2110071" y="4595516"/>
            <a:ext cx="3348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dirty="0">
                <a:solidFill>
                  <a:srgbClr val="0000FF"/>
                </a:solidFill>
                <a:latin typeface="Comic Sans MS" pitchFamily="66" charset="0"/>
                <a:ea typeface="宋体" pitchFamily="2" charset="-122"/>
              </a:rPr>
              <a:t>H</a:t>
            </a:r>
            <a:r>
              <a:rPr kumimoji="1" lang="en-US" altLang="zh-CN" sz="2800" b="1" baseline="-25000" dirty="0">
                <a:solidFill>
                  <a:srgbClr val="0000FF"/>
                </a:solidFill>
                <a:latin typeface="Comic Sans MS" pitchFamily="66" charset="0"/>
                <a:ea typeface="宋体" pitchFamily="2" charset="-122"/>
              </a:rPr>
              <a:t>4</a:t>
            </a:r>
            <a:r>
              <a:rPr kumimoji="1" lang="en-US" altLang="zh-CN" sz="2800" b="1" dirty="0">
                <a:solidFill>
                  <a:srgbClr val="0000FF"/>
                </a:solidFill>
                <a:latin typeface="Comic Sans MS" pitchFamily="66" charset="0"/>
                <a:ea typeface="宋体" pitchFamily="2" charset="-122"/>
              </a:rPr>
              <a:t>=(1+4)%15=5</a:t>
            </a:r>
          </a:p>
        </p:txBody>
      </p:sp>
      <p:sp>
        <p:nvSpPr>
          <p:cNvPr id="167018" name="Text Box 106"/>
          <p:cNvSpPr txBox="1">
            <a:spLocks noChangeArrowheads="1"/>
          </p:cNvSpPr>
          <p:nvPr/>
        </p:nvSpPr>
        <p:spPr bwMode="auto">
          <a:xfrm>
            <a:off x="5566059" y="265120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5</a:t>
            </a:r>
            <a:r>
              <a:rPr kumimoji="1" lang="en-US" altLang="zh-CN" sz="2800" b="1">
                <a:solidFill>
                  <a:srgbClr val="0000FF"/>
                </a:solidFill>
                <a:latin typeface="Comic Sans MS" pitchFamily="66" charset="0"/>
                <a:ea typeface="宋体" pitchFamily="2" charset="-122"/>
              </a:rPr>
              <a:t>=(1+5)%15=6</a:t>
            </a:r>
          </a:p>
        </p:txBody>
      </p:sp>
      <p:sp>
        <p:nvSpPr>
          <p:cNvPr id="167019" name="Text Box 107"/>
          <p:cNvSpPr txBox="1">
            <a:spLocks noChangeArrowheads="1"/>
          </p:cNvSpPr>
          <p:nvPr/>
        </p:nvSpPr>
        <p:spPr bwMode="auto">
          <a:xfrm>
            <a:off x="5566059" y="31401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6</a:t>
            </a:r>
            <a:r>
              <a:rPr kumimoji="1" lang="en-US" altLang="zh-CN" sz="2800" b="1">
                <a:solidFill>
                  <a:srgbClr val="0000FF"/>
                </a:solidFill>
                <a:latin typeface="Comic Sans MS" pitchFamily="66" charset="0"/>
                <a:ea typeface="宋体" pitchFamily="2" charset="-122"/>
              </a:rPr>
              <a:t>=(1+6)%15=7</a:t>
            </a:r>
          </a:p>
        </p:txBody>
      </p:sp>
      <p:sp>
        <p:nvSpPr>
          <p:cNvPr id="167020" name="Text Box 108"/>
          <p:cNvSpPr txBox="1">
            <a:spLocks noChangeArrowheads="1"/>
          </p:cNvSpPr>
          <p:nvPr/>
        </p:nvSpPr>
        <p:spPr bwMode="auto">
          <a:xfrm>
            <a:off x="5566059" y="3644975"/>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7</a:t>
            </a:r>
            <a:r>
              <a:rPr kumimoji="1" lang="en-US" altLang="zh-CN" sz="2800" b="1">
                <a:solidFill>
                  <a:srgbClr val="0000FF"/>
                </a:solidFill>
                <a:latin typeface="Comic Sans MS" pitchFamily="66" charset="0"/>
                <a:ea typeface="宋体" pitchFamily="2" charset="-122"/>
              </a:rPr>
              <a:t>=(1+7)%15=8</a:t>
            </a:r>
          </a:p>
        </p:txBody>
      </p:sp>
      <p:sp>
        <p:nvSpPr>
          <p:cNvPr id="167021" name="Text Box 109"/>
          <p:cNvSpPr txBox="1">
            <a:spLocks noChangeArrowheads="1"/>
          </p:cNvSpPr>
          <p:nvPr/>
        </p:nvSpPr>
        <p:spPr bwMode="auto">
          <a:xfrm>
            <a:off x="5566059" y="4076775"/>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8</a:t>
            </a:r>
            <a:r>
              <a:rPr kumimoji="1" lang="en-US" altLang="zh-CN" sz="2800" b="1">
                <a:solidFill>
                  <a:srgbClr val="0000FF"/>
                </a:solidFill>
                <a:latin typeface="Comic Sans MS" pitchFamily="66" charset="0"/>
                <a:ea typeface="宋体" pitchFamily="2" charset="-122"/>
              </a:rPr>
              <a:t>=(1+8)%15=9</a:t>
            </a:r>
          </a:p>
        </p:txBody>
      </p:sp>
      <p:sp>
        <p:nvSpPr>
          <p:cNvPr id="167022" name="Text Box 110"/>
          <p:cNvSpPr txBox="1">
            <a:spLocks noChangeArrowheads="1"/>
          </p:cNvSpPr>
          <p:nvPr/>
        </p:nvSpPr>
        <p:spPr bwMode="auto">
          <a:xfrm>
            <a:off x="6718584" y="5537051"/>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79</a:t>
            </a:r>
          </a:p>
        </p:txBody>
      </p:sp>
      <p:sp>
        <p:nvSpPr>
          <p:cNvPr id="2" name="矩形 1">
            <a:extLst>
              <a:ext uri="{FF2B5EF4-FFF2-40B4-BE49-F238E27FC236}">
                <a16:creationId xmlns:a16="http://schemas.microsoft.com/office/drawing/2014/main" id="{4E8CE2E4-436F-5149-B983-3D675E7E14C3}"/>
              </a:ext>
            </a:extLst>
          </p:cNvPr>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3" name="矩形 2">
            <a:extLst>
              <a:ext uri="{FF2B5EF4-FFF2-40B4-BE49-F238E27FC236}">
                <a16:creationId xmlns:a16="http://schemas.microsoft.com/office/drawing/2014/main" id="{33735CF9-11A8-0E70-6F06-430F52BB0FA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BB9B1961-763C-3DA2-426C-71F80C94E951}"/>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A7AF7C86-94BD-0FB9-E03D-7E4A3BE747CD}"/>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169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69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9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69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6983"/>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66981"/>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698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6985"/>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66983"/>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698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6987"/>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66985"/>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698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698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6698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66988"/>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16699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6991"/>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6992"/>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166990"/>
                                        </p:tgtEl>
                                        <p:attrNameLst>
                                          <p:attrName>style.visibility</p:attrName>
                                        </p:attrNameLst>
                                      </p:cBhvr>
                                      <p:to>
                                        <p:strVal val="hidden"/>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699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166994"/>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166992"/>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66995"/>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66996"/>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66997"/>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xit" presetSubtype="0" fill="hold" grpId="0" nodeType="clickEffect">
                                  <p:stCondLst>
                                    <p:cond delay="0"/>
                                  </p:stCondLst>
                                  <p:childTnLst>
                                    <p:set>
                                      <p:cBhvr>
                                        <p:cTn id="92" dur="1" fill="hold">
                                          <p:stCondLst>
                                            <p:cond delay="0"/>
                                          </p:stCondLst>
                                        </p:cTn>
                                        <p:tgtEl>
                                          <p:spTgt spid="166994"/>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166998"/>
                                        </p:tgtEl>
                                        <p:attrNameLst>
                                          <p:attrName>style.visibility</p:attrName>
                                        </p:attrNameLst>
                                      </p:cBhvr>
                                      <p:to>
                                        <p:strVal val="visible"/>
                                      </p:to>
                                    </p:set>
                                  </p:childTnLst>
                                </p:cTn>
                              </p:par>
                              <p:par>
                                <p:cTn id="95" presetID="1" presetClass="exit" presetSubtype="0" fill="hold" grpId="1" nodeType="withEffect">
                                  <p:stCondLst>
                                    <p:cond delay="0"/>
                                  </p:stCondLst>
                                  <p:childTnLst>
                                    <p:set>
                                      <p:cBhvr>
                                        <p:cTn id="96" dur="1" fill="hold">
                                          <p:stCondLst>
                                            <p:cond delay="0"/>
                                          </p:stCondLst>
                                        </p:cTn>
                                        <p:tgtEl>
                                          <p:spTgt spid="16699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66996"/>
                                        </p:tgtEl>
                                        <p:attrNameLst>
                                          <p:attrName>style.visibility</p:attrName>
                                        </p:attrNameLst>
                                      </p:cBhvr>
                                      <p:to>
                                        <p:strVal val="hidden"/>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66999"/>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67000"/>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67001"/>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67002"/>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xit" presetSubtype="0" fill="hold" grpId="0" nodeType="clickEffect">
                                  <p:stCondLst>
                                    <p:cond delay="0"/>
                                  </p:stCondLst>
                                  <p:childTnLst>
                                    <p:set>
                                      <p:cBhvr>
                                        <p:cTn id="118" dur="1" fill="hold">
                                          <p:stCondLst>
                                            <p:cond delay="0"/>
                                          </p:stCondLst>
                                        </p:cTn>
                                        <p:tgtEl>
                                          <p:spTgt spid="166998"/>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166999"/>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167000"/>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167001"/>
                                        </p:tgtEl>
                                        <p:attrNameLst>
                                          <p:attrName>style.visibility</p:attrName>
                                        </p:attrNameLst>
                                      </p:cBhvr>
                                      <p:to>
                                        <p:strVal val="hidden"/>
                                      </p:to>
                                    </p:set>
                                  </p:childTnLst>
                                </p:cTn>
                              </p:par>
                              <p:par>
                                <p:cTn id="125" presetID="1" presetClass="entr" presetSubtype="0" fill="hold" nodeType="withEffect">
                                  <p:stCondLst>
                                    <p:cond delay="0"/>
                                  </p:stCondLst>
                                  <p:childTnLst>
                                    <p:set>
                                      <p:cBhvr>
                                        <p:cTn id="126" dur="1" fill="hold">
                                          <p:stCondLst>
                                            <p:cond delay="0"/>
                                          </p:stCondLst>
                                        </p:cTn>
                                        <p:tgtEl>
                                          <p:spTgt spid="167003"/>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67004"/>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67005"/>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67006"/>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nodeType="clickEffect">
                                  <p:stCondLst>
                                    <p:cond delay="0"/>
                                  </p:stCondLst>
                                  <p:childTnLst>
                                    <p:set>
                                      <p:cBhvr>
                                        <p:cTn id="142" dur="1" fill="hold">
                                          <p:stCondLst>
                                            <p:cond delay="0"/>
                                          </p:stCondLst>
                                        </p:cTn>
                                        <p:tgtEl>
                                          <p:spTgt spid="167007"/>
                                        </p:tgtEl>
                                        <p:attrNameLst>
                                          <p:attrName>style.visibility</p:attrName>
                                        </p:attrNameLst>
                                      </p:cBhvr>
                                      <p:to>
                                        <p:strVal val="visible"/>
                                      </p:to>
                                    </p:set>
                                  </p:childTnLst>
                                </p:cTn>
                              </p:par>
                              <p:par>
                                <p:cTn id="143" presetID="1" presetClass="exit" presetSubtype="0" fill="hold" grpId="0" nodeType="withEffect">
                                  <p:stCondLst>
                                    <p:cond delay="0"/>
                                  </p:stCondLst>
                                  <p:childTnLst>
                                    <p:set>
                                      <p:cBhvr>
                                        <p:cTn id="144" dur="1" fill="hold">
                                          <p:stCondLst>
                                            <p:cond delay="0"/>
                                          </p:stCondLst>
                                        </p:cTn>
                                        <p:tgtEl>
                                          <p:spTgt spid="167003"/>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167004"/>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167005"/>
                                        </p:tgtEl>
                                        <p:attrNameLst>
                                          <p:attrName>style.visibility</p:attrName>
                                        </p:attrNameLst>
                                      </p:cBhvr>
                                      <p:to>
                                        <p:strVal val="hidden"/>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67008"/>
                                        </p:tgtEl>
                                        <p:attrNameLst>
                                          <p:attrName>style.visibility</p:attrName>
                                        </p:attrNameLst>
                                      </p:cBhvr>
                                      <p:to>
                                        <p:strVal val="visibl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 presetClass="exit" presetSubtype="0" fill="hold" grpId="0" nodeType="clickEffect">
                                  <p:stCondLst>
                                    <p:cond delay="0"/>
                                  </p:stCondLst>
                                  <p:childTnLst>
                                    <p:set>
                                      <p:cBhvr>
                                        <p:cTn id="156" dur="1" fill="hold">
                                          <p:stCondLst>
                                            <p:cond delay="0"/>
                                          </p:stCondLst>
                                        </p:cTn>
                                        <p:tgtEl>
                                          <p:spTgt spid="167007"/>
                                        </p:tgtEl>
                                        <p:attrNameLst>
                                          <p:attrName>style.visibility</p:attrName>
                                        </p:attrNameLst>
                                      </p:cBhvr>
                                      <p:to>
                                        <p:strVal val="hidden"/>
                                      </p:to>
                                    </p:set>
                                  </p:childTnLst>
                                </p:cTn>
                              </p:par>
                              <p:par>
                                <p:cTn id="157" presetID="1" presetClass="entr" presetSubtype="0" fill="hold" nodeType="withEffect">
                                  <p:stCondLst>
                                    <p:cond delay="0"/>
                                  </p:stCondLst>
                                  <p:childTnLst>
                                    <p:set>
                                      <p:cBhvr>
                                        <p:cTn id="158" dur="1" fill="hold">
                                          <p:stCondLst>
                                            <p:cond delay="0"/>
                                          </p:stCondLst>
                                        </p:cTn>
                                        <p:tgtEl>
                                          <p:spTgt spid="167011"/>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67009"/>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67010"/>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67012"/>
                                        </p:tgtEl>
                                        <p:attrNameLst>
                                          <p:attrName>style.visibility</p:attrName>
                                        </p:attrNameLst>
                                      </p:cBhvr>
                                      <p:to>
                                        <p:strVal val="visible"/>
                                      </p:to>
                                    </p:se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67016"/>
                                        </p:tgtEl>
                                        <p:attrNameLst>
                                          <p:attrName>style.visibility</p:attrName>
                                        </p:attrNameLst>
                                      </p:cBhvr>
                                      <p:to>
                                        <p:strVal val="visible"/>
                                      </p:to>
                                    </p:set>
                                  </p:childTnLst>
                                </p:cTn>
                              </p:par>
                              <p:par>
                                <p:cTn id="175" presetID="1" presetClass="exit" presetSubtype="0" fill="hold" grpId="0" nodeType="withEffect">
                                  <p:stCondLst>
                                    <p:cond delay="0"/>
                                  </p:stCondLst>
                                  <p:childTnLst>
                                    <p:set>
                                      <p:cBhvr>
                                        <p:cTn id="176" dur="1" fill="hold">
                                          <p:stCondLst>
                                            <p:cond delay="0"/>
                                          </p:stCondLst>
                                        </p:cTn>
                                        <p:tgtEl>
                                          <p:spTgt spid="167011"/>
                                        </p:tgtEl>
                                        <p:attrNameLst>
                                          <p:attrName>style.visibility</p:attrName>
                                        </p:attrNameLst>
                                      </p:cBhvr>
                                      <p:to>
                                        <p:strVal val="hidden"/>
                                      </p:to>
                                    </p:set>
                                  </p:childTnLst>
                                </p:cTn>
                              </p:par>
                              <p:par>
                                <p:cTn id="177" presetID="1" presetClass="exit" presetSubtype="0" fill="hold" grpId="1" nodeType="withEffect">
                                  <p:stCondLst>
                                    <p:cond delay="0"/>
                                  </p:stCondLst>
                                  <p:childTnLst>
                                    <p:set>
                                      <p:cBhvr>
                                        <p:cTn id="178" dur="1" fill="hold">
                                          <p:stCondLst>
                                            <p:cond delay="0"/>
                                          </p:stCondLst>
                                        </p:cTn>
                                        <p:tgtEl>
                                          <p:spTgt spid="167009"/>
                                        </p:tgtEl>
                                        <p:attrNameLst>
                                          <p:attrName>style.visibility</p:attrName>
                                        </p:attrNameLst>
                                      </p:cBhvr>
                                      <p:to>
                                        <p:strVal val="hidden"/>
                                      </p:to>
                                    </p:set>
                                  </p:childTnLst>
                                </p:cTn>
                              </p:par>
                              <p:par>
                                <p:cTn id="179" presetID="1" presetClass="exit" presetSubtype="0" fill="hold" grpId="1" nodeType="withEffect">
                                  <p:stCondLst>
                                    <p:cond delay="0"/>
                                  </p:stCondLst>
                                  <p:childTnLst>
                                    <p:set>
                                      <p:cBhvr>
                                        <p:cTn id="180" dur="1" fill="hold">
                                          <p:stCondLst>
                                            <p:cond delay="0"/>
                                          </p:stCondLst>
                                        </p:cTn>
                                        <p:tgtEl>
                                          <p:spTgt spid="167010"/>
                                        </p:tgtEl>
                                        <p:attrNameLst>
                                          <p:attrName>style.visibility</p:attrName>
                                        </p:attrNameLst>
                                      </p:cBhvr>
                                      <p:to>
                                        <p:strVal val="hidden"/>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67014"/>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67015"/>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67013"/>
                                        </p:tgtEl>
                                        <p:attrNameLst>
                                          <p:attrName>style.visibility</p:attrName>
                                        </p:attrNameLst>
                                      </p:cBhvr>
                                      <p:to>
                                        <p:strVal val="visible"/>
                                      </p:to>
                                    </p:se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167017"/>
                                        </p:tgtEl>
                                        <p:attrNameLst>
                                          <p:attrName>style.visibility</p:attrName>
                                        </p:attrNameLst>
                                      </p:cBhvr>
                                      <p:to>
                                        <p:strVal val="visible"/>
                                      </p:to>
                                    </p:se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67018"/>
                                        </p:tgtEl>
                                        <p:attrNameLst>
                                          <p:attrName>style.visibility</p:attrName>
                                        </p:attrNameLst>
                                      </p:cBhvr>
                                      <p:to>
                                        <p:strVal val="visible"/>
                                      </p:to>
                                    </p:se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167019"/>
                                        </p:tgtEl>
                                        <p:attrNameLst>
                                          <p:attrName>style.visibility</p:attrName>
                                        </p:attrNameLst>
                                      </p:cBhvr>
                                      <p:to>
                                        <p:strVal val="visible"/>
                                      </p:to>
                                    </p:se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167020"/>
                                        </p:tgtEl>
                                        <p:attrNameLst>
                                          <p:attrName>style.visibility</p:attrName>
                                        </p:attrNameLst>
                                      </p:cBhvr>
                                      <p:to>
                                        <p:strVal val="visible"/>
                                      </p:to>
                                    </p:se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167021"/>
                                        </p:tgtEl>
                                        <p:attrNameLst>
                                          <p:attrName>style.visibility</p:attrName>
                                        </p:attrNameLst>
                                      </p:cBhvr>
                                      <p:to>
                                        <p:strVal val="visible"/>
                                      </p:to>
                                    </p:se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1670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81" grpId="0"/>
      <p:bldP spid="166981" grpId="1"/>
      <p:bldP spid="166982" grpId="0"/>
      <p:bldP spid="166983" grpId="0"/>
      <p:bldP spid="166983" grpId="1"/>
      <p:bldP spid="166984" grpId="0"/>
      <p:bldP spid="166985" grpId="0"/>
      <p:bldP spid="166985" grpId="1"/>
      <p:bldP spid="166986" grpId="0"/>
      <p:bldP spid="166987" grpId="0"/>
      <p:bldP spid="166987" grpId="1"/>
      <p:bldP spid="166988" grpId="0"/>
      <p:bldP spid="166988" grpId="1"/>
      <p:bldP spid="166989" grpId="0"/>
      <p:bldP spid="166990" grpId="0"/>
      <p:bldP spid="166990" grpId="1"/>
      <p:bldP spid="166991" grpId="0"/>
      <p:bldP spid="166992" grpId="0"/>
      <p:bldP spid="166992" grpId="1"/>
      <p:bldP spid="166993" grpId="0"/>
      <p:bldP spid="166994" grpId="0"/>
      <p:bldP spid="166995" grpId="0"/>
      <p:bldP spid="166995" grpId="1"/>
      <p:bldP spid="166996" grpId="0"/>
      <p:bldP spid="166996" grpId="1"/>
      <p:bldP spid="166997" grpId="0"/>
      <p:bldP spid="166998" grpId="0"/>
      <p:bldP spid="166999" grpId="0"/>
      <p:bldP spid="166999" grpId="1"/>
      <p:bldP spid="167000" grpId="0"/>
      <p:bldP spid="167000" grpId="1"/>
      <p:bldP spid="167001" grpId="0"/>
      <p:bldP spid="167001" grpId="1"/>
      <p:bldP spid="167002" grpId="0"/>
      <p:bldP spid="167003" grpId="0"/>
      <p:bldP spid="167004" grpId="0"/>
      <p:bldP spid="167004" grpId="1"/>
      <p:bldP spid="167005" grpId="0"/>
      <p:bldP spid="167005" grpId="1"/>
      <p:bldP spid="167006" grpId="0"/>
      <p:bldP spid="167007" grpId="0"/>
      <p:bldP spid="167008" grpId="0"/>
      <p:bldP spid="167009" grpId="0"/>
      <p:bldP spid="167009" grpId="1"/>
      <p:bldP spid="167010" grpId="0"/>
      <p:bldP spid="167010" grpId="1"/>
      <p:bldP spid="167011" grpId="0"/>
      <p:bldP spid="167012" grpId="0"/>
      <p:bldP spid="167013" grpId="0"/>
      <p:bldP spid="167014" grpId="0"/>
      <p:bldP spid="167015" grpId="0"/>
      <p:bldP spid="167016" grpId="0"/>
      <p:bldP spid="167017" grpId="0"/>
      <p:bldP spid="167018" grpId="0"/>
      <p:bldP spid="167019" grpId="0"/>
      <p:bldP spid="167020" grpId="0"/>
      <p:bldP spid="167021" grpId="0"/>
      <p:bldP spid="16702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type="body" idx="4294967295"/>
          </p:nvPr>
        </p:nvSpPr>
        <p:spPr>
          <a:xfrm>
            <a:off x="2279576" y="2420888"/>
            <a:ext cx="7620000" cy="1440160"/>
          </a:xfrm>
        </p:spPr>
        <p:txBody>
          <a:bodyPr>
            <a:normAutofit/>
          </a:bodyPr>
          <a:lstStyle/>
          <a:p>
            <a:pPr marL="0" indent="0">
              <a:buNone/>
            </a:pPr>
            <a:r>
              <a:rPr kumimoji="1" lang="zh-CN" altLang="en-US" sz="2000" dirty="0">
                <a:latin typeface="微软雅黑" pitchFamily="34" charset="-122"/>
                <a:ea typeface="微软雅黑" pitchFamily="34" charset="-122"/>
                <a:cs typeface="经典粗黑简" pitchFamily="49" charset="-122"/>
              </a:rPr>
              <a:t>           练习：已知一组关键字为</a:t>
            </a:r>
            <a:r>
              <a:rPr kumimoji="1" lang="zh-CN" altLang="en-US" sz="2800" dirty="0">
                <a:latin typeface="微软雅黑" pitchFamily="34" charset="-122"/>
                <a:ea typeface="微软雅黑" pitchFamily="34" charset="-122"/>
                <a:cs typeface="经典粗黑简" pitchFamily="49" charset="-122"/>
              </a:rPr>
              <a:t>（</a:t>
            </a:r>
            <a:r>
              <a:rPr kumimoji="1" lang="en-US" altLang="zh-CN" sz="2800" dirty="0">
                <a:latin typeface="微软雅黑" pitchFamily="34" charset="-122"/>
                <a:ea typeface="微软雅黑" pitchFamily="34" charset="-122"/>
                <a:cs typeface="经典粗黑简" pitchFamily="49" charset="-122"/>
              </a:rPr>
              <a:t>39,23,41,38,44,15,68,12,06,51,25</a:t>
            </a:r>
            <a:r>
              <a:rPr kumimoji="1" lang="zh-CN" altLang="en-US" sz="28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则按哈希函数</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key</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=key %13</a:t>
            </a:r>
            <a:r>
              <a:rPr kumimoji="1" lang="zh-CN" altLang="en-US" sz="2000" dirty="0">
                <a:latin typeface="微软雅黑" pitchFamily="34" charset="-122"/>
                <a:ea typeface="微软雅黑" pitchFamily="34" charset="-122"/>
                <a:cs typeface="经典粗黑简" pitchFamily="49" charset="-122"/>
              </a:rPr>
              <a:t>和线性探测处理冲突构造所得的哈希表</a:t>
            </a:r>
            <a:r>
              <a:rPr kumimoji="1" lang="en-US" altLang="zh-CN" sz="2000" dirty="0">
                <a:latin typeface="微软雅黑" pitchFamily="34" charset="-122"/>
                <a:ea typeface="微软雅黑" pitchFamily="34" charset="-122"/>
                <a:cs typeface="经典粗黑简" pitchFamily="49" charset="-122"/>
              </a:rPr>
              <a:t>HT[0..14]</a:t>
            </a:r>
            <a:r>
              <a:rPr kumimoji="1" lang="zh-CN" altLang="en-US" sz="2000" dirty="0">
                <a:latin typeface="微软雅黑" pitchFamily="34" charset="-122"/>
                <a:ea typeface="微软雅黑" pitchFamily="34" charset="-122"/>
                <a:cs typeface="经典粗黑简" pitchFamily="49" charset="-122"/>
              </a:rPr>
              <a:t>。</a:t>
            </a:r>
          </a:p>
        </p:txBody>
      </p:sp>
      <p:graphicFrame>
        <p:nvGraphicFramePr>
          <p:cNvPr id="168007" name="Group 71"/>
          <p:cNvGraphicFramePr>
            <a:graphicFrameLocks noGrp="1"/>
          </p:cNvGraphicFramePr>
          <p:nvPr/>
        </p:nvGraphicFramePr>
        <p:xfrm>
          <a:off x="2411413" y="4040189"/>
          <a:ext cx="7561262" cy="925513"/>
        </p:xfrm>
        <a:graphic>
          <a:graphicData uri="http://schemas.openxmlformats.org/drawingml/2006/table">
            <a:tbl>
              <a:tblPr/>
              <a:tblGrid>
                <a:gridCol w="504825">
                  <a:extLst>
                    <a:ext uri="{9D8B030D-6E8A-4147-A177-3AD203B41FA5}">
                      <a16:colId xmlns:a16="http://schemas.microsoft.com/office/drawing/2014/main" val="20000"/>
                    </a:ext>
                  </a:extLst>
                </a:gridCol>
                <a:gridCol w="503237">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3238">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3237">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32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03237">
                  <a:extLst>
                    <a:ext uri="{9D8B030D-6E8A-4147-A177-3AD203B41FA5}">
                      <a16:colId xmlns:a16="http://schemas.microsoft.com/office/drawing/2014/main" val="20009"/>
                    </a:ext>
                  </a:extLst>
                </a:gridCol>
                <a:gridCol w="504825">
                  <a:extLst>
                    <a:ext uri="{9D8B030D-6E8A-4147-A177-3AD203B41FA5}">
                      <a16:colId xmlns:a16="http://schemas.microsoft.com/office/drawing/2014/main" val="20010"/>
                    </a:ext>
                  </a:extLst>
                </a:gridCol>
                <a:gridCol w="503238">
                  <a:extLst>
                    <a:ext uri="{9D8B030D-6E8A-4147-A177-3AD203B41FA5}">
                      <a16:colId xmlns:a16="http://schemas.microsoft.com/office/drawing/2014/main" val="20011"/>
                    </a:ext>
                  </a:extLst>
                </a:gridCol>
                <a:gridCol w="504825">
                  <a:extLst>
                    <a:ext uri="{9D8B030D-6E8A-4147-A177-3AD203B41FA5}">
                      <a16:colId xmlns:a16="http://schemas.microsoft.com/office/drawing/2014/main" val="20012"/>
                    </a:ext>
                  </a:extLst>
                </a:gridCol>
                <a:gridCol w="503237">
                  <a:extLst>
                    <a:ext uri="{9D8B030D-6E8A-4147-A177-3AD203B41FA5}">
                      <a16:colId xmlns:a16="http://schemas.microsoft.com/office/drawing/2014/main" val="20013"/>
                    </a:ext>
                  </a:extLst>
                </a:gridCol>
                <a:gridCol w="504825">
                  <a:extLst>
                    <a:ext uri="{9D8B030D-6E8A-4147-A177-3AD203B41FA5}">
                      <a16:colId xmlns:a16="http://schemas.microsoft.com/office/drawing/2014/main" val="20014"/>
                    </a:ext>
                  </a:extLst>
                </a:gridCol>
              </a:tblGrid>
              <a:tr h="46355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5</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6</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7</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8</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9</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Comic Sans MS" pitchFamily="66" charset="0"/>
                          <a:ea typeface="隶书" pitchFamily="49" charset="-122"/>
                        </a:rPr>
                        <a:t>14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39</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25</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41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15</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68</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44</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06</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000" b="0" i="0" u="none" strike="noStrike" cap="none" normalizeH="0" baseline="0">
                        <a:ln>
                          <a:noFill/>
                        </a:ln>
                        <a:solidFill>
                          <a:srgbClr val="FF3300"/>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000" b="0" i="0" u="none" strike="noStrike" cap="none" normalizeH="0" baseline="0">
                        <a:ln>
                          <a:noFill/>
                        </a:ln>
                        <a:solidFill>
                          <a:srgbClr val="FF3300"/>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000" b="0" i="0" u="none" strike="noStrike" cap="none" normalizeH="0" baseline="0">
                        <a:ln>
                          <a:noFill/>
                        </a:ln>
                        <a:solidFill>
                          <a:srgbClr val="FF3300"/>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23</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2000" b="0" i="0" u="none" strike="noStrike" cap="none" normalizeH="0" baseline="0">
                        <a:ln>
                          <a:noFill/>
                        </a:ln>
                        <a:solidFill>
                          <a:srgbClr val="FF3300"/>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38</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12</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2000" b="0" i="0" u="none" strike="noStrike" cap="none" normalizeH="0" baseline="0">
                          <a:ln>
                            <a:noFill/>
                          </a:ln>
                          <a:solidFill>
                            <a:srgbClr val="FF3300"/>
                          </a:solidFill>
                          <a:effectLst/>
                          <a:latin typeface="Comic Sans MS" pitchFamily="66" charset="0"/>
                          <a:ea typeface="隶书" pitchFamily="49" charset="-122"/>
                        </a:rPr>
                        <a:t>51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矩形 1">
            <a:extLst>
              <a:ext uri="{FF2B5EF4-FFF2-40B4-BE49-F238E27FC236}">
                <a16:creationId xmlns:a16="http://schemas.microsoft.com/office/drawing/2014/main" id="{5EBDDFC7-D4AB-F6CA-EF00-365B49AA81EA}"/>
              </a:ext>
            </a:extLst>
          </p:cNvPr>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3" name="矩形 2">
            <a:extLst>
              <a:ext uri="{FF2B5EF4-FFF2-40B4-BE49-F238E27FC236}">
                <a16:creationId xmlns:a16="http://schemas.microsoft.com/office/drawing/2014/main" id="{DFBB30D4-9107-B144-9005-E61256E180C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86981EFF-51FC-F414-AD5D-522620C8DEF1}"/>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A0C65F3D-F597-9AEA-72CA-B58A9B8E88F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694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8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type="body" idx="4294967295"/>
          </p:nvPr>
        </p:nvSpPr>
        <p:spPr>
          <a:xfrm>
            <a:off x="2279576" y="2564905"/>
            <a:ext cx="7620000" cy="1944216"/>
          </a:xfrm>
        </p:spPr>
        <p:txBody>
          <a:bodyPr>
            <a:normAutofit lnSpcReduction="10000"/>
          </a:bodyPr>
          <a:lstStyle/>
          <a:p>
            <a:pPr marL="0" indent="0">
              <a:buNone/>
            </a:pPr>
            <a:r>
              <a:rPr kumimoji="1" lang="zh-CN" altLang="en-US" sz="2800" dirty="0">
                <a:latin typeface="微软雅黑" pitchFamily="34" charset="-122"/>
                <a:ea typeface="微软雅黑" pitchFamily="34" charset="-122"/>
                <a:cs typeface="经典粗黑简" pitchFamily="49" charset="-122"/>
              </a:rPr>
              <a:t>         已知哈希表的空间为</a:t>
            </a:r>
            <a:r>
              <a:rPr kumimoji="1" lang="en-US" altLang="zh-CN" sz="2800" dirty="0">
                <a:latin typeface="微软雅黑" pitchFamily="34" charset="-122"/>
                <a:ea typeface="微软雅黑" pitchFamily="34" charset="-122"/>
                <a:cs typeface="经典粗黑简" pitchFamily="49" charset="-122"/>
              </a:rPr>
              <a:t>0-14</a:t>
            </a:r>
            <a:r>
              <a:rPr kumimoji="1" lang="zh-CN" altLang="en-US" sz="2800" dirty="0">
                <a:latin typeface="微软雅黑" pitchFamily="34" charset="-122"/>
                <a:ea typeface="微软雅黑" pitchFamily="34" charset="-122"/>
                <a:cs typeface="经典粗黑简" pitchFamily="49" charset="-122"/>
              </a:rPr>
              <a:t>，将关键字序列</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19,14,23,01,68,20,84,27,55,11,10</a:t>
            </a:r>
            <a:r>
              <a:rPr kumimoji="1" lang="zh-CN" altLang="en-US" dirty="0">
                <a:latin typeface="微软雅黑" pitchFamily="34" charset="-122"/>
                <a:ea typeface="微软雅黑" pitchFamily="34" charset="-122"/>
                <a:cs typeface="经典粗黑简" pitchFamily="49" charset="-122"/>
              </a:rPr>
              <a:t>）</a:t>
            </a:r>
          </a:p>
          <a:p>
            <a:pPr eaLnBrk="1" hangingPunct="1">
              <a:buFont typeface="Wingdings" pitchFamily="2" charset="2"/>
              <a:buNone/>
            </a:pPr>
            <a:r>
              <a:rPr kumimoji="1" lang="zh-CN" altLang="en-US" sz="2800" dirty="0">
                <a:latin typeface="微软雅黑" pitchFamily="34" charset="-122"/>
                <a:ea typeface="微软雅黑" pitchFamily="34" charset="-122"/>
                <a:cs typeface="经典粗黑简" pitchFamily="49" charset="-122"/>
              </a:rPr>
              <a:t>   按哈希函数</a:t>
            </a:r>
            <a:r>
              <a:rPr kumimoji="1" lang="en-US" altLang="zh-CN" sz="2800" dirty="0">
                <a:latin typeface="微软雅黑" pitchFamily="34" charset="-122"/>
                <a:ea typeface="微软雅黑" pitchFamily="34" charset="-122"/>
                <a:cs typeface="经典粗黑简" pitchFamily="49" charset="-122"/>
              </a:rPr>
              <a:t>H(key)=key%13 </a:t>
            </a:r>
            <a:r>
              <a:rPr kumimoji="1" lang="zh-CN" altLang="en-US" sz="2800" dirty="0">
                <a:latin typeface="微软雅黑" pitchFamily="34" charset="-122"/>
                <a:ea typeface="微软雅黑" pitchFamily="34" charset="-122"/>
                <a:cs typeface="经典粗黑简" pitchFamily="49" charset="-122"/>
              </a:rPr>
              <a:t>和二次探测法处理冲突构造所得的哈希表。</a:t>
            </a:r>
          </a:p>
        </p:txBody>
      </p:sp>
      <p:sp>
        <p:nvSpPr>
          <p:cNvPr id="2" name="矩形 1">
            <a:extLst>
              <a:ext uri="{FF2B5EF4-FFF2-40B4-BE49-F238E27FC236}">
                <a16:creationId xmlns:a16="http://schemas.microsoft.com/office/drawing/2014/main" id="{375A7EA5-AA4B-0E79-C971-D9E57D8FD1A0}"/>
              </a:ext>
            </a:extLst>
          </p:cNvPr>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3" name="矩形 2">
            <a:extLst>
              <a:ext uri="{FF2B5EF4-FFF2-40B4-BE49-F238E27FC236}">
                <a16:creationId xmlns:a16="http://schemas.microsoft.com/office/drawing/2014/main" id="{02A7F968-C628-10D5-7387-56D9C9DA8B5A}"/>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334096F4-C06D-E260-5293-A04A948DF9CE}"/>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3969C5FE-4450-A576-487D-02A3199AA3DB}"/>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0535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p:cNvSpPr>
          <p:nvPr>
            <p:ph type="body" idx="4294967295"/>
          </p:nvPr>
        </p:nvSpPr>
        <p:spPr>
          <a:xfrm>
            <a:off x="3035662" y="2314048"/>
            <a:ext cx="6272212" cy="647700"/>
          </a:xfrm>
        </p:spPr>
        <p:txBody>
          <a:bodyPr/>
          <a:lstStyle/>
          <a:p>
            <a:pPr eaLnBrk="1" hangingPunct="1">
              <a:buFont typeface="Wingdings" pitchFamily="2" charset="2"/>
              <a:buNone/>
            </a:pPr>
            <a:r>
              <a:rPr lang="zh-CN" altLang="en-US" sz="2800" dirty="0">
                <a:latin typeface="Comic Sans MS" pitchFamily="66" charset="0"/>
              </a:rPr>
              <a:t>（</a:t>
            </a:r>
            <a:r>
              <a:rPr lang="en-US" altLang="zh-CN" sz="2800" dirty="0">
                <a:latin typeface="Comic Sans MS" pitchFamily="66" charset="0"/>
              </a:rPr>
              <a:t>19,14,23,01,68,20,84,27,55,11,10</a:t>
            </a:r>
            <a:r>
              <a:rPr lang="zh-CN" altLang="en-US" sz="2800" dirty="0">
                <a:latin typeface="Comic Sans MS" pitchFamily="66" charset="0"/>
              </a:rPr>
              <a:t>）</a:t>
            </a:r>
          </a:p>
        </p:txBody>
      </p:sp>
      <p:graphicFrame>
        <p:nvGraphicFramePr>
          <p:cNvPr id="169987" name="Group 3"/>
          <p:cNvGraphicFramePr>
            <a:graphicFrameLocks noGrp="1"/>
          </p:cNvGraphicFramePr>
          <p:nvPr>
            <p:extLst>
              <p:ext uri="{D42A27DB-BD31-4B8C-83A1-F6EECF244321}">
                <p14:modId xmlns:p14="http://schemas.microsoft.com/office/powerpoint/2010/main" val="2881405823"/>
              </p:ext>
            </p:extLst>
          </p:nvPr>
        </p:nvGraphicFramePr>
        <p:xfrm>
          <a:off x="2279651" y="4663728"/>
          <a:ext cx="7561263" cy="925513"/>
        </p:xfrm>
        <a:graphic>
          <a:graphicData uri="http://schemas.openxmlformats.org/drawingml/2006/table">
            <a:tbl>
              <a:tblPr/>
              <a:tblGrid>
                <a:gridCol w="504825">
                  <a:extLst>
                    <a:ext uri="{9D8B030D-6E8A-4147-A177-3AD203B41FA5}">
                      <a16:colId xmlns:a16="http://schemas.microsoft.com/office/drawing/2014/main" val="20000"/>
                    </a:ext>
                  </a:extLst>
                </a:gridCol>
                <a:gridCol w="503238">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3237">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3238">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3237">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03238">
                  <a:extLst>
                    <a:ext uri="{9D8B030D-6E8A-4147-A177-3AD203B41FA5}">
                      <a16:colId xmlns:a16="http://schemas.microsoft.com/office/drawing/2014/main" val="20009"/>
                    </a:ext>
                  </a:extLst>
                </a:gridCol>
                <a:gridCol w="504825">
                  <a:extLst>
                    <a:ext uri="{9D8B030D-6E8A-4147-A177-3AD203B41FA5}">
                      <a16:colId xmlns:a16="http://schemas.microsoft.com/office/drawing/2014/main" val="20010"/>
                    </a:ext>
                  </a:extLst>
                </a:gridCol>
                <a:gridCol w="503237">
                  <a:extLst>
                    <a:ext uri="{9D8B030D-6E8A-4147-A177-3AD203B41FA5}">
                      <a16:colId xmlns:a16="http://schemas.microsoft.com/office/drawing/2014/main" val="20011"/>
                    </a:ext>
                  </a:extLst>
                </a:gridCol>
                <a:gridCol w="504825">
                  <a:extLst>
                    <a:ext uri="{9D8B030D-6E8A-4147-A177-3AD203B41FA5}">
                      <a16:colId xmlns:a16="http://schemas.microsoft.com/office/drawing/2014/main" val="20012"/>
                    </a:ext>
                  </a:extLst>
                </a:gridCol>
                <a:gridCol w="503238">
                  <a:extLst>
                    <a:ext uri="{9D8B030D-6E8A-4147-A177-3AD203B41FA5}">
                      <a16:colId xmlns:a16="http://schemas.microsoft.com/office/drawing/2014/main" val="20013"/>
                    </a:ext>
                  </a:extLst>
                </a:gridCol>
                <a:gridCol w="504825">
                  <a:extLst>
                    <a:ext uri="{9D8B030D-6E8A-4147-A177-3AD203B41FA5}">
                      <a16:colId xmlns:a16="http://schemas.microsoft.com/office/drawing/2014/main" val="20014"/>
                    </a:ext>
                  </a:extLst>
                </a:gridCol>
              </a:tblGrid>
              <a:tr h="46355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0053" name="Text Box 69"/>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H(19)=19%13=6</a:t>
            </a:r>
          </a:p>
        </p:txBody>
      </p:sp>
      <p:sp>
        <p:nvSpPr>
          <p:cNvPr id="170054" name="Text Box 70"/>
          <p:cNvSpPr txBox="1">
            <a:spLocks noChangeArrowheads="1"/>
          </p:cNvSpPr>
          <p:nvPr/>
        </p:nvSpPr>
        <p:spPr bwMode="auto">
          <a:xfrm>
            <a:off x="5303839" y="5143152"/>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19</a:t>
            </a:r>
          </a:p>
        </p:txBody>
      </p:sp>
      <p:sp>
        <p:nvSpPr>
          <p:cNvPr id="170055" name="Text Box 71"/>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H(14)=14%13=1</a:t>
            </a:r>
          </a:p>
        </p:txBody>
      </p:sp>
      <p:sp>
        <p:nvSpPr>
          <p:cNvPr id="170056" name="Text Box 72"/>
          <p:cNvSpPr txBox="1">
            <a:spLocks noChangeArrowheads="1"/>
          </p:cNvSpPr>
          <p:nvPr/>
        </p:nvSpPr>
        <p:spPr bwMode="auto">
          <a:xfrm>
            <a:off x="2784476"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14</a:t>
            </a:r>
          </a:p>
        </p:txBody>
      </p:sp>
      <p:sp>
        <p:nvSpPr>
          <p:cNvPr id="170057" name="Text Box 73"/>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H(23)=23%13=10</a:t>
            </a:r>
          </a:p>
        </p:txBody>
      </p:sp>
      <p:sp>
        <p:nvSpPr>
          <p:cNvPr id="170058" name="Text Box 74"/>
          <p:cNvSpPr txBox="1">
            <a:spLocks noChangeArrowheads="1"/>
          </p:cNvSpPr>
          <p:nvPr/>
        </p:nvSpPr>
        <p:spPr bwMode="auto">
          <a:xfrm>
            <a:off x="7350126" y="5138389"/>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23</a:t>
            </a:r>
          </a:p>
        </p:txBody>
      </p:sp>
      <p:sp>
        <p:nvSpPr>
          <p:cNvPr id="170059" name="Text Box 75"/>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H(01)=01%13=1</a:t>
            </a:r>
          </a:p>
        </p:txBody>
      </p:sp>
      <p:sp>
        <p:nvSpPr>
          <p:cNvPr id="170060" name="Text Box 76"/>
          <p:cNvSpPr txBox="1">
            <a:spLocks noChangeArrowheads="1"/>
          </p:cNvSpPr>
          <p:nvPr/>
        </p:nvSpPr>
        <p:spPr bwMode="auto">
          <a:xfrm>
            <a:off x="2208214" y="3550369"/>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=(1+1)%15=2</a:t>
            </a:r>
          </a:p>
        </p:txBody>
      </p:sp>
      <p:sp>
        <p:nvSpPr>
          <p:cNvPr id="170061" name="Text Box 77"/>
          <p:cNvSpPr txBox="1">
            <a:spLocks noChangeArrowheads="1"/>
          </p:cNvSpPr>
          <p:nvPr/>
        </p:nvSpPr>
        <p:spPr bwMode="auto">
          <a:xfrm>
            <a:off x="3289301"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01</a:t>
            </a:r>
          </a:p>
        </p:txBody>
      </p:sp>
      <p:sp>
        <p:nvSpPr>
          <p:cNvPr id="170062" name="Text Box 78"/>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H(68)=68%13=3</a:t>
            </a:r>
          </a:p>
        </p:txBody>
      </p:sp>
      <p:sp>
        <p:nvSpPr>
          <p:cNvPr id="170063" name="Text Box 79"/>
          <p:cNvSpPr txBox="1">
            <a:spLocks noChangeArrowheads="1"/>
          </p:cNvSpPr>
          <p:nvPr/>
        </p:nvSpPr>
        <p:spPr bwMode="auto">
          <a:xfrm>
            <a:off x="3792539" y="5143152"/>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68</a:t>
            </a:r>
          </a:p>
        </p:txBody>
      </p:sp>
      <p:sp>
        <p:nvSpPr>
          <p:cNvPr id="170064" name="Text Box 80"/>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H(20)=20%13=7</a:t>
            </a:r>
          </a:p>
        </p:txBody>
      </p:sp>
      <p:sp>
        <p:nvSpPr>
          <p:cNvPr id="170065" name="Text Box 81"/>
          <p:cNvSpPr txBox="1">
            <a:spLocks noChangeArrowheads="1"/>
          </p:cNvSpPr>
          <p:nvPr/>
        </p:nvSpPr>
        <p:spPr bwMode="auto">
          <a:xfrm>
            <a:off x="5807076"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20</a:t>
            </a:r>
          </a:p>
        </p:txBody>
      </p:sp>
      <p:sp>
        <p:nvSpPr>
          <p:cNvPr id="170066" name="Text Box 82"/>
          <p:cNvSpPr txBox="1">
            <a:spLocks noChangeArrowheads="1"/>
          </p:cNvSpPr>
          <p:nvPr/>
        </p:nvSpPr>
        <p:spPr bwMode="auto">
          <a:xfrm>
            <a:off x="2208214" y="3550369"/>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=(6+1)%15=7</a:t>
            </a:r>
          </a:p>
        </p:txBody>
      </p:sp>
      <p:sp>
        <p:nvSpPr>
          <p:cNvPr id="170067" name="Text Box 83"/>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H(84)=84%13=6</a:t>
            </a:r>
          </a:p>
        </p:txBody>
      </p:sp>
      <p:sp>
        <p:nvSpPr>
          <p:cNvPr id="170068" name="Text Box 84"/>
          <p:cNvSpPr txBox="1">
            <a:spLocks noChangeArrowheads="1"/>
          </p:cNvSpPr>
          <p:nvPr/>
        </p:nvSpPr>
        <p:spPr bwMode="auto">
          <a:xfrm>
            <a:off x="2209801" y="4053606"/>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=(6-1)%15=5</a:t>
            </a:r>
          </a:p>
        </p:txBody>
      </p:sp>
      <p:sp>
        <p:nvSpPr>
          <p:cNvPr id="170069" name="Text Box 85"/>
          <p:cNvSpPr txBox="1">
            <a:spLocks noChangeArrowheads="1"/>
          </p:cNvSpPr>
          <p:nvPr/>
        </p:nvSpPr>
        <p:spPr bwMode="auto">
          <a:xfrm>
            <a:off x="4800601"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84</a:t>
            </a:r>
          </a:p>
        </p:txBody>
      </p:sp>
      <p:sp>
        <p:nvSpPr>
          <p:cNvPr id="170070" name="Text Box 86"/>
          <p:cNvSpPr txBox="1">
            <a:spLocks noChangeArrowheads="1"/>
          </p:cNvSpPr>
          <p:nvPr/>
        </p:nvSpPr>
        <p:spPr bwMode="auto">
          <a:xfrm>
            <a:off x="2208214" y="3550369"/>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=(1+1)%15=2</a:t>
            </a:r>
          </a:p>
        </p:txBody>
      </p:sp>
      <p:sp>
        <p:nvSpPr>
          <p:cNvPr id="170071" name="Text Box 87"/>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H(27)=27%13=1</a:t>
            </a:r>
          </a:p>
        </p:txBody>
      </p:sp>
      <p:sp>
        <p:nvSpPr>
          <p:cNvPr id="170072" name="Text Box 88"/>
          <p:cNvSpPr txBox="1">
            <a:spLocks noChangeArrowheads="1"/>
          </p:cNvSpPr>
          <p:nvPr/>
        </p:nvSpPr>
        <p:spPr bwMode="auto">
          <a:xfrm>
            <a:off x="2208214" y="40694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=(1-1)%15=0</a:t>
            </a:r>
          </a:p>
        </p:txBody>
      </p:sp>
      <p:sp>
        <p:nvSpPr>
          <p:cNvPr id="170073" name="Text Box 89"/>
          <p:cNvSpPr txBox="1">
            <a:spLocks noChangeArrowheads="1"/>
          </p:cNvSpPr>
          <p:nvPr/>
        </p:nvSpPr>
        <p:spPr bwMode="auto">
          <a:xfrm>
            <a:off x="2278064"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27</a:t>
            </a:r>
          </a:p>
        </p:txBody>
      </p:sp>
      <p:sp>
        <p:nvSpPr>
          <p:cNvPr id="170074" name="Text Box 90"/>
          <p:cNvSpPr txBox="1">
            <a:spLocks noChangeArrowheads="1"/>
          </p:cNvSpPr>
          <p:nvPr/>
        </p:nvSpPr>
        <p:spPr bwMode="auto">
          <a:xfrm>
            <a:off x="2208214" y="3550369"/>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=(3+1)%15=4</a:t>
            </a:r>
          </a:p>
        </p:txBody>
      </p:sp>
      <p:sp>
        <p:nvSpPr>
          <p:cNvPr id="170075" name="Text Box 91"/>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H(55)=27%13=3</a:t>
            </a:r>
          </a:p>
        </p:txBody>
      </p:sp>
      <p:sp>
        <p:nvSpPr>
          <p:cNvPr id="170076" name="Text Box 92"/>
          <p:cNvSpPr txBox="1">
            <a:spLocks noChangeArrowheads="1"/>
          </p:cNvSpPr>
          <p:nvPr/>
        </p:nvSpPr>
        <p:spPr bwMode="auto">
          <a:xfrm>
            <a:off x="4297364"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55</a:t>
            </a:r>
          </a:p>
        </p:txBody>
      </p:sp>
      <p:sp>
        <p:nvSpPr>
          <p:cNvPr id="170077" name="Text Box 93"/>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H(11)=11%13=11</a:t>
            </a:r>
          </a:p>
        </p:txBody>
      </p:sp>
      <p:sp>
        <p:nvSpPr>
          <p:cNvPr id="170078" name="Text Box 94"/>
          <p:cNvSpPr txBox="1">
            <a:spLocks noChangeArrowheads="1"/>
          </p:cNvSpPr>
          <p:nvPr/>
        </p:nvSpPr>
        <p:spPr bwMode="auto">
          <a:xfrm>
            <a:off x="7854951"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11</a:t>
            </a:r>
          </a:p>
        </p:txBody>
      </p:sp>
      <p:sp>
        <p:nvSpPr>
          <p:cNvPr id="170079" name="Text Box 95"/>
          <p:cNvSpPr txBox="1">
            <a:spLocks noChangeArrowheads="1"/>
          </p:cNvSpPr>
          <p:nvPr/>
        </p:nvSpPr>
        <p:spPr bwMode="auto">
          <a:xfrm>
            <a:off x="2208214" y="4053606"/>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2</a:t>
            </a:r>
            <a:r>
              <a:rPr kumimoji="1" lang="en-US" altLang="zh-CN" sz="2800" b="1">
                <a:solidFill>
                  <a:srgbClr val="0000FF"/>
                </a:solidFill>
                <a:latin typeface="Comic Sans MS" pitchFamily="66" charset="0"/>
                <a:ea typeface="宋体" pitchFamily="2" charset="-122"/>
              </a:rPr>
              <a:t>=(10-1)%15=9</a:t>
            </a:r>
          </a:p>
        </p:txBody>
      </p:sp>
      <p:sp>
        <p:nvSpPr>
          <p:cNvPr id="170080" name="Text Box 96"/>
          <p:cNvSpPr txBox="1">
            <a:spLocks noChangeArrowheads="1"/>
          </p:cNvSpPr>
          <p:nvPr/>
        </p:nvSpPr>
        <p:spPr bwMode="auto">
          <a:xfrm>
            <a:off x="2208214" y="3550369"/>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a:t>
            </a:r>
            <a:r>
              <a:rPr kumimoji="1" lang="en-US" altLang="zh-CN" sz="2800" b="1" baseline="-25000">
                <a:solidFill>
                  <a:srgbClr val="0000FF"/>
                </a:solidFill>
                <a:latin typeface="Comic Sans MS" pitchFamily="66" charset="0"/>
                <a:ea typeface="宋体" pitchFamily="2" charset="-122"/>
              </a:rPr>
              <a:t>1</a:t>
            </a:r>
            <a:r>
              <a:rPr kumimoji="1" lang="en-US" altLang="zh-CN" sz="2800" b="1">
                <a:solidFill>
                  <a:srgbClr val="0000FF"/>
                </a:solidFill>
                <a:latin typeface="Comic Sans MS" pitchFamily="66" charset="0"/>
                <a:ea typeface="宋体" pitchFamily="2" charset="-122"/>
              </a:rPr>
              <a:t>=(10+1)%15=11</a:t>
            </a:r>
          </a:p>
        </p:txBody>
      </p:sp>
      <p:sp>
        <p:nvSpPr>
          <p:cNvPr id="170081" name="Text Box 97"/>
          <p:cNvSpPr txBox="1">
            <a:spLocks noChangeArrowheads="1"/>
          </p:cNvSpPr>
          <p:nvPr/>
        </p:nvSpPr>
        <p:spPr bwMode="auto">
          <a:xfrm>
            <a:off x="2208214" y="2989981"/>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宋体" pitchFamily="2" charset="-122"/>
              </a:rPr>
              <a:t>H(10)=10%13=10</a:t>
            </a:r>
          </a:p>
        </p:txBody>
      </p:sp>
      <p:sp>
        <p:nvSpPr>
          <p:cNvPr id="170082" name="Text Box 98"/>
          <p:cNvSpPr txBox="1">
            <a:spLocks noChangeArrowheads="1"/>
          </p:cNvSpPr>
          <p:nvPr/>
        </p:nvSpPr>
        <p:spPr bwMode="auto">
          <a:xfrm>
            <a:off x="6815139" y="5147914"/>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宋体" pitchFamily="2" charset="-122"/>
              </a:rPr>
              <a:t>10</a:t>
            </a:r>
          </a:p>
        </p:txBody>
      </p:sp>
      <p:sp>
        <p:nvSpPr>
          <p:cNvPr id="2" name="矩形 1">
            <a:extLst>
              <a:ext uri="{FF2B5EF4-FFF2-40B4-BE49-F238E27FC236}">
                <a16:creationId xmlns:a16="http://schemas.microsoft.com/office/drawing/2014/main" id="{0FB588BB-6C6F-F415-652E-309F231F1971}"/>
              </a:ext>
            </a:extLst>
          </p:cNvPr>
          <p:cNvSpPr/>
          <p:nvPr/>
        </p:nvSpPr>
        <p:spPr>
          <a:xfrm>
            <a:off x="2747239" y="1916832"/>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、开放定址法</a:t>
            </a:r>
          </a:p>
        </p:txBody>
      </p:sp>
      <p:sp>
        <p:nvSpPr>
          <p:cNvPr id="3" name="矩形 2">
            <a:extLst>
              <a:ext uri="{FF2B5EF4-FFF2-40B4-BE49-F238E27FC236}">
                <a16:creationId xmlns:a16="http://schemas.microsoft.com/office/drawing/2014/main" id="{D6AC4332-69ED-53B4-5EBC-A048826BB8A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CF77AC25-FD98-5BDF-D831-AC412A9CFE2F}"/>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044BAA97-4B4F-37CB-DA50-6590464FDA8D}"/>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699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99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00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00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0055"/>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70053"/>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00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0057"/>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170055"/>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005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0059"/>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70057"/>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006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006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0062"/>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70059"/>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70060"/>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006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0064"/>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170062"/>
                                        </p:tgtEl>
                                        <p:attrNameLst>
                                          <p:attrName>style.visibility</p:attrName>
                                        </p:attrNameLst>
                                      </p:cBhvr>
                                      <p:to>
                                        <p:strVal val="hidden"/>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70065"/>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70067"/>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70064"/>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0066"/>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0068"/>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006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70071"/>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170067"/>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17006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70068"/>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7007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70072"/>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170073"/>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70075"/>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170071"/>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170070"/>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70072"/>
                                        </p:tgtEl>
                                        <p:attrNameLst>
                                          <p:attrName>style.visibility</p:attrName>
                                        </p:attrNameLst>
                                      </p:cBhvr>
                                      <p:to>
                                        <p:strVal val="hidden"/>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70074"/>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70076"/>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70077"/>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170075"/>
                                        </p:tgtEl>
                                        <p:attrNameLst>
                                          <p:attrName>style.visibility</p:attrName>
                                        </p:attrNameLst>
                                      </p:cBhvr>
                                      <p:to>
                                        <p:strVal val="hidden"/>
                                      </p:to>
                                    </p:set>
                                  </p:childTnLst>
                                </p:cTn>
                              </p:par>
                              <p:par>
                                <p:cTn id="133" presetID="1" presetClass="exit" presetSubtype="0" fill="hold" grpId="1" nodeType="withEffect">
                                  <p:stCondLst>
                                    <p:cond delay="0"/>
                                  </p:stCondLst>
                                  <p:childTnLst>
                                    <p:set>
                                      <p:cBhvr>
                                        <p:cTn id="134" dur="1" fill="hold">
                                          <p:stCondLst>
                                            <p:cond delay="0"/>
                                          </p:stCondLst>
                                        </p:cTn>
                                        <p:tgtEl>
                                          <p:spTgt spid="170074"/>
                                        </p:tgtEl>
                                        <p:attrNameLst>
                                          <p:attrName>style.visibility</p:attrName>
                                        </p:attrNameLst>
                                      </p:cBhvr>
                                      <p:to>
                                        <p:strVal val="hidden"/>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70078"/>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70081"/>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170077"/>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70080"/>
                                        </p:tgtEl>
                                        <p:attrNameLst>
                                          <p:attrName>style.visibility</p:attrName>
                                        </p:attrNameLst>
                                      </p:cBhvr>
                                      <p:to>
                                        <p:strVal val="visible"/>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70079"/>
                                        </p:tgtEl>
                                        <p:attrNameLst>
                                          <p:attrName>style.visibility</p:attrName>
                                        </p:attrNameLst>
                                      </p:cBhvr>
                                      <p:to>
                                        <p:strVal val="visibl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70082"/>
                                        </p:tgtEl>
                                        <p:attrNameLst>
                                          <p:attrName>style.visibility</p:attrName>
                                        </p:attrNameLst>
                                      </p:cBhvr>
                                      <p:to>
                                        <p:strVal val="visible"/>
                                      </p:to>
                                    </p:set>
                                  </p:childTnLst>
                                </p:cTn>
                              </p:par>
                              <p:par>
                                <p:cTn id="157" presetID="1" presetClass="exit" presetSubtype="0" fill="hold" grpId="1" nodeType="withEffect">
                                  <p:stCondLst>
                                    <p:cond delay="0"/>
                                  </p:stCondLst>
                                  <p:childTnLst>
                                    <p:set>
                                      <p:cBhvr>
                                        <p:cTn id="158" dur="1" fill="hold">
                                          <p:stCondLst>
                                            <p:cond delay="0"/>
                                          </p:stCondLst>
                                        </p:cTn>
                                        <p:tgtEl>
                                          <p:spTgt spid="170081"/>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170080"/>
                                        </p:tgtEl>
                                        <p:attrNameLst>
                                          <p:attrName>style.visibility</p:attrName>
                                        </p:attrNameLst>
                                      </p:cBhvr>
                                      <p:to>
                                        <p:strVal val="hidden"/>
                                      </p:to>
                                    </p:set>
                                  </p:childTnLst>
                                </p:cTn>
                              </p:par>
                              <p:par>
                                <p:cTn id="161" presetID="1" presetClass="exit" presetSubtype="0" fill="hold" grpId="1" nodeType="withEffect">
                                  <p:stCondLst>
                                    <p:cond delay="0"/>
                                  </p:stCondLst>
                                  <p:childTnLst>
                                    <p:set>
                                      <p:cBhvr>
                                        <p:cTn id="162" dur="1" fill="hold">
                                          <p:stCondLst>
                                            <p:cond delay="0"/>
                                          </p:stCondLst>
                                        </p:cTn>
                                        <p:tgtEl>
                                          <p:spTgt spid="1700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53" grpId="0"/>
      <p:bldP spid="170053" grpId="1"/>
      <p:bldP spid="170054" grpId="0"/>
      <p:bldP spid="170055" grpId="0"/>
      <p:bldP spid="170055" grpId="1"/>
      <p:bldP spid="170056" grpId="0"/>
      <p:bldP spid="170057" grpId="0"/>
      <p:bldP spid="170057" grpId="1"/>
      <p:bldP spid="170058" grpId="0"/>
      <p:bldP spid="170059" grpId="0"/>
      <p:bldP spid="170059" grpId="1"/>
      <p:bldP spid="170060" grpId="0"/>
      <p:bldP spid="170060" grpId="1"/>
      <p:bldP spid="170061" grpId="0"/>
      <p:bldP spid="170062" grpId="0"/>
      <p:bldP spid="170062" grpId="1"/>
      <p:bldP spid="170063" grpId="0"/>
      <p:bldP spid="170064" grpId="0"/>
      <p:bldP spid="170064" grpId="1"/>
      <p:bldP spid="170065" grpId="0"/>
      <p:bldP spid="170066" grpId="0"/>
      <p:bldP spid="170066" grpId="1"/>
      <p:bldP spid="170067" grpId="0"/>
      <p:bldP spid="170067" grpId="1"/>
      <p:bldP spid="170068" grpId="0"/>
      <p:bldP spid="170068" grpId="1"/>
      <p:bldP spid="170069" grpId="0"/>
      <p:bldP spid="170070" grpId="0"/>
      <p:bldP spid="170070" grpId="1"/>
      <p:bldP spid="170071" grpId="0"/>
      <p:bldP spid="170071" grpId="1"/>
      <p:bldP spid="170072" grpId="0"/>
      <p:bldP spid="170072" grpId="1"/>
      <p:bldP spid="170074" grpId="0"/>
      <p:bldP spid="170074" grpId="1"/>
      <p:bldP spid="170075" grpId="0"/>
      <p:bldP spid="170075" grpId="1"/>
      <p:bldP spid="170076" grpId="0"/>
      <p:bldP spid="170077" grpId="0"/>
      <p:bldP spid="170077" grpId="1"/>
      <p:bldP spid="170078" grpId="0"/>
      <p:bldP spid="170079" grpId="0"/>
      <p:bldP spid="170079" grpId="1"/>
      <p:bldP spid="170080" grpId="0"/>
      <p:bldP spid="170080" grpId="1"/>
      <p:bldP spid="170081" grpId="0"/>
      <p:bldP spid="170081" grpId="1"/>
      <p:bldP spid="17008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type="body" idx="4294967295"/>
          </p:nvPr>
        </p:nvSpPr>
        <p:spPr>
          <a:xfrm>
            <a:off x="2135560" y="2316942"/>
            <a:ext cx="7620000" cy="2016224"/>
          </a:xfrm>
        </p:spPr>
        <p:txBody>
          <a:bodyPr>
            <a:normAutofit/>
          </a:bodyPr>
          <a:lstStyle/>
          <a:p>
            <a:pPr marL="0" indent="0">
              <a:buNone/>
            </a:pPr>
            <a:r>
              <a:rPr kumimoji="1" lang="zh-CN" altLang="en-US" sz="2400" dirty="0">
                <a:latin typeface="微软雅黑" pitchFamily="34" charset="-122"/>
                <a:ea typeface="微软雅黑" pitchFamily="34" charset="-122"/>
                <a:cs typeface="经典粗黑简" pitchFamily="49" charset="-122"/>
              </a:rPr>
              <a:t>       链地址法解决冲突的做法是将所有关键字为同义词的结点链接在同一个单链表中。若哈希函数的值域为</a:t>
            </a:r>
            <a:r>
              <a:rPr kumimoji="1" lang="en-US" altLang="zh-CN" sz="2400" dirty="0">
                <a:latin typeface="微软雅黑" pitchFamily="34" charset="-122"/>
                <a:ea typeface="微软雅黑" pitchFamily="34" charset="-122"/>
                <a:cs typeface="经典粗黑简" pitchFamily="49" charset="-122"/>
              </a:rPr>
              <a:t>0</a:t>
            </a:r>
            <a:r>
              <a:rPr kumimoji="1" lang="zh-CN" altLang="en-US" sz="2400" dirty="0">
                <a:latin typeface="微软雅黑" pitchFamily="34" charset="-122"/>
                <a:ea typeface="微软雅黑" pitchFamily="34" charset="-122"/>
                <a:cs typeface="经典粗黑简" pitchFamily="49" charset="-122"/>
              </a:rPr>
              <a:t>到</a:t>
            </a:r>
            <a:r>
              <a:rPr kumimoji="1" lang="en-US" altLang="zh-CN" sz="2400" dirty="0">
                <a:latin typeface="微软雅黑" pitchFamily="34" charset="-122"/>
                <a:ea typeface="微软雅黑" pitchFamily="34" charset="-122"/>
                <a:cs typeface="经典粗黑简" pitchFamily="49" charset="-122"/>
              </a:rPr>
              <a:t>m-1</a:t>
            </a:r>
            <a:r>
              <a:rPr kumimoji="1" lang="zh-CN" altLang="en-US" sz="2400" dirty="0">
                <a:latin typeface="微软雅黑" pitchFamily="34" charset="-122"/>
                <a:ea typeface="微软雅黑" pitchFamily="34" charset="-122"/>
                <a:cs typeface="经典粗黑简" pitchFamily="49" charset="-122"/>
              </a:rPr>
              <a:t>，则可将散列表定义为一个由</a:t>
            </a:r>
            <a:r>
              <a:rPr kumimoji="1" lang="en-US" altLang="zh-CN" sz="2400" dirty="0">
                <a:latin typeface="微软雅黑" pitchFamily="34" charset="-122"/>
                <a:ea typeface="微软雅黑" pitchFamily="34" charset="-122"/>
                <a:cs typeface="经典粗黑简" pitchFamily="49" charset="-122"/>
              </a:rPr>
              <a:t>m</a:t>
            </a:r>
            <a:r>
              <a:rPr kumimoji="1" lang="zh-CN" altLang="en-US" sz="2400" dirty="0">
                <a:latin typeface="微软雅黑" pitchFamily="34" charset="-122"/>
                <a:ea typeface="微软雅黑" pitchFamily="34" charset="-122"/>
                <a:cs typeface="经典粗黑简" pitchFamily="49" charset="-122"/>
              </a:rPr>
              <a:t>个头指针组成的指针数组</a:t>
            </a:r>
            <a:r>
              <a:rPr kumimoji="1" lang="en-US" altLang="zh-CN" sz="2400" dirty="0">
                <a:latin typeface="微软雅黑" pitchFamily="34" charset="-122"/>
                <a:ea typeface="微软雅黑" pitchFamily="34" charset="-122"/>
                <a:cs typeface="经典粗黑简" pitchFamily="49" charset="-122"/>
              </a:rPr>
              <a:t>HT[m]</a:t>
            </a:r>
            <a:r>
              <a:rPr kumimoji="1" lang="zh-CN" altLang="en-US" sz="2400" dirty="0">
                <a:latin typeface="微软雅黑" pitchFamily="34" charset="-122"/>
                <a:ea typeface="微软雅黑" pitchFamily="34" charset="-122"/>
                <a:cs typeface="经典粗黑简" pitchFamily="49" charset="-122"/>
              </a:rPr>
              <a:t>，凡是散列地址为</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的结点，均插入到以</a:t>
            </a:r>
            <a:r>
              <a:rPr kumimoji="1" lang="en-US" altLang="zh-CN" sz="2400" dirty="0">
                <a:latin typeface="微软雅黑" pitchFamily="34" charset="-122"/>
                <a:ea typeface="微软雅黑" pitchFamily="34" charset="-122"/>
                <a:cs typeface="经典粗黑简" pitchFamily="49" charset="-122"/>
              </a:rPr>
              <a:t>HT[i]</a:t>
            </a:r>
            <a:r>
              <a:rPr kumimoji="1" lang="zh-CN" altLang="en-US" sz="2400" dirty="0">
                <a:latin typeface="微软雅黑" pitchFamily="34" charset="-122"/>
                <a:ea typeface="微软雅黑" pitchFamily="34" charset="-122"/>
                <a:cs typeface="经典粗黑简" pitchFamily="49" charset="-122"/>
              </a:rPr>
              <a:t>为头指针的单链表中。</a:t>
            </a:r>
          </a:p>
        </p:txBody>
      </p:sp>
      <p:sp>
        <p:nvSpPr>
          <p:cNvPr id="6" name="矩形 5"/>
          <p:cNvSpPr/>
          <p:nvPr/>
        </p:nvSpPr>
        <p:spPr>
          <a:xfrm>
            <a:off x="2747239" y="1916832"/>
            <a:ext cx="161775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、链地址法</a:t>
            </a:r>
          </a:p>
        </p:txBody>
      </p:sp>
      <p:sp>
        <p:nvSpPr>
          <p:cNvPr id="7" name="Rectangle 2"/>
          <p:cNvSpPr txBox="1">
            <a:spLocks/>
          </p:cNvSpPr>
          <p:nvPr/>
        </p:nvSpPr>
        <p:spPr>
          <a:xfrm>
            <a:off x="2291225" y="4365104"/>
            <a:ext cx="7620000" cy="165618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400" dirty="0">
                <a:latin typeface="微软雅黑" pitchFamily="34" charset="-122"/>
                <a:ea typeface="微软雅黑" pitchFamily="34" charset="-122"/>
                <a:cs typeface="经典粗黑简" pitchFamily="49" charset="-122"/>
              </a:rPr>
              <a:t>         已知哈希表的空间为</a:t>
            </a:r>
            <a:r>
              <a:rPr kumimoji="1" lang="en-US" altLang="zh-CN" sz="2400" dirty="0">
                <a:latin typeface="微软雅黑" pitchFamily="34" charset="-122"/>
                <a:ea typeface="微软雅黑" pitchFamily="34" charset="-122"/>
                <a:cs typeface="经典粗黑简" pitchFamily="49" charset="-122"/>
              </a:rPr>
              <a:t>0-14</a:t>
            </a:r>
            <a:r>
              <a:rPr kumimoji="1" lang="zh-CN" altLang="en-US" sz="2400" dirty="0">
                <a:latin typeface="微软雅黑" pitchFamily="34" charset="-122"/>
                <a:ea typeface="微软雅黑" pitchFamily="34" charset="-122"/>
                <a:cs typeface="经典粗黑简" pitchFamily="49" charset="-122"/>
              </a:rPr>
              <a:t>，将关键字序列</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19,14,23,01,68,20,84,27,55,11,10,79</a:t>
            </a:r>
            <a:r>
              <a:rPr kumimoji="1" lang="zh-CN" altLang="en-US" dirty="0">
                <a:latin typeface="微软雅黑" pitchFamily="34" charset="-122"/>
                <a:ea typeface="微软雅黑" pitchFamily="34" charset="-122"/>
                <a:cs typeface="经典粗黑简" pitchFamily="49" charset="-122"/>
              </a:rPr>
              <a:t>）</a:t>
            </a:r>
          </a:p>
          <a:p>
            <a:pPr>
              <a:buFont typeface="Wingdings" pitchFamily="2" charset="2"/>
              <a:buNone/>
            </a:pPr>
            <a:r>
              <a:rPr kumimoji="1" lang="zh-CN" altLang="en-US" sz="2400" dirty="0">
                <a:latin typeface="微软雅黑" pitchFamily="34" charset="-122"/>
                <a:ea typeface="微软雅黑" pitchFamily="34" charset="-122"/>
                <a:cs typeface="经典粗黑简" pitchFamily="49" charset="-122"/>
              </a:rPr>
              <a:t>   按哈希函数</a:t>
            </a:r>
            <a:r>
              <a:rPr kumimoji="1" lang="en-US" altLang="zh-CN" sz="2400" dirty="0">
                <a:latin typeface="微软雅黑" pitchFamily="34" charset="-122"/>
                <a:ea typeface="微软雅黑" pitchFamily="34" charset="-122"/>
                <a:cs typeface="经典粗黑简" pitchFamily="49" charset="-122"/>
              </a:rPr>
              <a:t>H(key)=key%13 </a:t>
            </a:r>
            <a:r>
              <a:rPr kumimoji="1" lang="zh-CN" altLang="en-US" sz="2400" dirty="0">
                <a:latin typeface="微软雅黑" pitchFamily="34" charset="-122"/>
                <a:ea typeface="微软雅黑" pitchFamily="34" charset="-122"/>
                <a:cs typeface="经典粗黑简" pitchFamily="49" charset="-122"/>
              </a:rPr>
              <a:t>和链地址法处理冲突构造所得的哈希表。</a:t>
            </a:r>
          </a:p>
          <a:p>
            <a:endParaRPr lang="zh-CN" altLang="en-US" sz="2800" dirty="0">
              <a:latin typeface="Comic Sans MS" pitchFamily="66" charset="0"/>
              <a:ea typeface="隶书" pitchFamily="49" charset="-122"/>
            </a:endParaRPr>
          </a:p>
        </p:txBody>
      </p:sp>
      <p:sp>
        <p:nvSpPr>
          <p:cNvPr id="3" name="矩形 2">
            <a:extLst>
              <a:ext uri="{FF2B5EF4-FFF2-40B4-BE49-F238E27FC236}">
                <a16:creationId xmlns:a16="http://schemas.microsoft.com/office/drawing/2014/main" id="{EC6D86A8-E72A-9CF8-8A8E-C179842D5C51}"/>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228514EE-1F4D-081E-820E-646BB3DBD708}"/>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5" name="直接连接符 4">
            <a:extLst>
              <a:ext uri="{FF2B5EF4-FFF2-40B4-BE49-F238E27FC236}">
                <a16:creationId xmlns:a16="http://schemas.microsoft.com/office/drawing/2014/main" id="{C7A5E3DA-AC1F-F642-1C67-F156A1EAB3FD}"/>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0233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body" sz="half" idx="4294967295"/>
          </p:nvPr>
        </p:nvSpPr>
        <p:spPr>
          <a:xfrm>
            <a:off x="2640013" y="260351"/>
            <a:ext cx="7632700" cy="720725"/>
          </a:xfrm>
        </p:spPr>
        <p:txBody>
          <a:bodyPr/>
          <a:lstStyle/>
          <a:p>
            <a:pPr eaLnBrk="1" hangingPunct="1">
              <a:buFont typeface="Wingdings" pitchFamily="2" charset="2"/>
              <a:buNone/>
            </a:pPr>
            <a:r>
              <a:rPr lang="zh-CN" altLang="en-US" sz="2800" dirty="0">
                <a:latin typeface="Comic Sans MS" pitchFamily="66" charset="0"/>
              </a:rPr>
              <a:t>（</a:t>
            </a:r>
            <a:r>
              <a:rPr lang="en-US" altLang="zh-CN" sz="2800" dirty="0">
                <a:latin typeface="Comic Sans MS" pitchFamily="66" charset="0"/>
              </a:rPr>
              <a:t>19,14,23,01,68,20,84,27,55,11,10</a:t>
            </a:r>
            <a:r>
              <a:rPr lang="zh-CN" altLang="en-US" sz="2800" dirty="0">
                <a:latin typeface="Comic Sans MS" pitchFamily="66" charset="0"/>
              </a:rPr>
              <a:t>）</a:t>
            </a:r>
          </a:p>
        </p:txBody>
      </p:sp>
      <p:graphicFrame>
        <p:nvGraphicFramePr>
          <p:cNvPr id="174275" name="Group 195"/>
          <p:cNvGraphicFramePr>
            <a:graphicFrameLocks noGrp="1"/>
          </p:cNvGraphicFramePr>
          <p:nvPr>
            <p:ph sz="quarter" idx="4294967295"/>
          </p:nvPr>
        </p:nvGraphicFramePr>
        <p:xfrm>
          <a:off x="4943476" y="836613"/>
          <a:ext cx="1203325" cy="5545142"/>
        </p:xfrm>
        <a:graphic>
          <a:graphicData uri="http://schemas.openxmlformats.org/drawingml/2006/table">
            <a:tbl>
              <a:tblPr/>
              <a:tblGrid>
                <a:gridCol w="603250">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tblGrid>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8"/>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9"/>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2"/>
                  </a:ext>
                </a:extLst>
              </a:tr>
            </a:tbl>
          </a:graphicData>
        </a:graphic>
      </p:graphicFrame>
      <p:sp>
        <p:nvSpPr>
          <p:cNvPr id="174141" name="Text Box 61"/>
          <p:cNvSpPr txBox="1">
            <a:spLocks noChangeArrowheads="1"/>
          </p:cNvSpPr>
          <p:nvPr/>
        </p:nvSpPr>
        <p:spPr bwMode="auto">
          <a:xfrm>
            <a:off x="2351089" y="1125538"/>
            <a:ext cx="2808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H(19)=19%13=6</a:t>
            </a:r>
          </a:p>
        </p:txBody>
      </p:sp>
      <p:sp>
        <p:nvSpPr>
          <p:cNvPr id="174142" name="Text Box 62"/>
          <p:cNvSpPr txBox="1">
            <a:spLocks noChangeArrowheads="1"/>
          </p:cNvSpPr>
          <p:nvPr/>
        </p:nvSpPr>
        <p:spPr bwMode="auto">
          <a:xfrm>
            <a:off x="2351089" y="112553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H(14)=14%13=1</a:t>
            </a:r>
          </a:p>
        </p:txBody>
      </p:sp>
      <p:sp>
        <p:nvSpPr>
          <p:cNvPr id="174143" name="Text Box 63"/>
          <p:cNvSpPr txBox="1">
            <a:spLocks noChangeArrowheads="1"/>
          </p:cNvSpPr>
          <p:nvPr/>
        </p:nvSpPr>
        <p:spPr bwMode="auto">
          <a:xfrm>
            <a:off x="2351088" y="1125538"/>
            <a:ext cx="3168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H(23)=23%13=10</a:t>
            </a:r>
          </a:p>
        </p:txBody>
      </p:sp>
      <p:sp>
        <p:nvSpPr>
          <p:cNvPr id="174144" name="Text Box 64"/>
          <p:cNvSpPr txBox="1">
            <a:spLocks noChangeArrowheads="1"/>
          </p:cNvSpPr>
          <p:nvPr/>
        </p:nvSpPr>
        <p:spPr bwMode="auto">
          <a:xfrm>
            <a:off x="2352676" y="1125538"/>
            <a:ext cx="2879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H(01)=01%13=1</a:t>
            </a:r>
          </a:p>
        </p:txBody>
      </p:sp>
      <p:sp>
        <p:nvSpPr>
          <p:cNvPr id="174145" name="Text Box 65"/>
          <p:cNvSpPr txBox="1">
            <a:spLocks noChangeArrowheads="1"/>
          </p:cNvSpPr>
          <p:nvPr/>
        </p:nvSpPr>
        <p:spPr bwMode="auto">
          <a:xfrm>
            <a:off x="2063750" y="1125538"/>
            <a:ext cx="3024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H(68)=68%13=3</a:t>
            </a:r>
          </a:p>
        </p:txBody>
      </p:sp>
      <p:sp>
        <p:nvSpPr>
          <p:cNvPr id="174146" name="Text Box 66"/>
          <p:cNvSpPr txBox="1">
            <a:spLocks noChangeArrowheads="1"/>
          </p:cNvSpPr>
          <p:nvPr/>
        </p:nvSpPr>
        <p:spPr bwMode="auto">
          <a:xfrm>
            <a:off x="2351088" y="1125538"/>
            <a:ext cx="2881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H(20)=20%13=7</a:t>
            </a:r>
          </a:p>
        </p:txBody>
      </p:sp>
      <p:sp>
        <p:nvSpPr>
          <p:cNvPr id="174147" name="Text Box 67"/>
          <p:cNvSpPr txBox="1">
            <a:spLocks noChangeArrowheads="1"/>
          </p:cNvSpPr>
          <p:nvPr/>
        </p:nvSpPr>
        <p:spPr bwMode="auto">
          <a:xfrm>
            <a:off x="2351088" y="1125538"/>
            <a:ext cx="2881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H(84)=84%13=6</a:t>
            </a:r>
          </a:p>
        </p:txBody>
      </p:sp>
      <p:sp>
        <p:nvSpPr>
          <p:cNvPr id="174148" name="Text Box 68"/>
          <p:cNvSpPr txBox="1">
            <a:spLocks noChangeArrowheads="1"/>
          </p:cNvSpPr>
          <p:nvPr/>
        </p:nvSpPr>
        <p:spPr bwMode="auto">
          <a:xfrm>
            <a:off x="2352676" y="1125538"/>
            <a:ext cx="2879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H(27)=27%13=1</a:t>
            </a:r>
          </a:p>
        </p:txBody>
      </p:sp>
      <p:sp>
        <p:nvSpPr>
          <p:cNvPr id="174149" name="Text Box 69"/>
          <p:cNvSpPr txBox="1">
            <a:spLocks noChangeArrowheads="1"/>
          </p:cNvSpPr>
          <p:nvPr/>
        </p:nvSpPr>
        <p:spPr bwMode="auto">
          <a:xfrm>
            <a:off x="2351088" y="1125538"/>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H(55)=27%13=3</a:t>
            </a:r>
          </a:p>
        </p:txBody>
      </p:sp>
      <p:sp>
        <p:nvSpPr>
          <p:cNvPr id="174150" name="Text Box 70"/>
          <p:cNvSpPr txBox="1">
            <a:spLocks noChangeArrowheads="1"/>
          </p:cNvSpPr>
          <p:nvPr/>
        </p:nvSpPr>
        <p:spPr bwMode="auto">
          <a:xfrm>
            <a:off x="2352676" y="1125538"/>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H(11)=11%13=11</a:t>
            </a:r>
          </a:p>
        </p:txBody>
      </p:sp>
      <p:sp>
        <p:nvSpPr>
          <p:cNvPr id="174151" name="Text Box 71"/>
          <p:cNvSpPr txBox="1">
            <a:spLocks noChangeArrowheads="1"/>
          </p:cNvSpPr>
          <p:nvPr/>
        </p:nvSpPr>
        <p:spPr bwMode="auto">
          <a:xfrm>
            <a:off x="2351089" y="1125538"/>
            <a:ext cx="3240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a:solidFill>
                  <a:srgbClr val="0000FF"/>
                </a:solidFill>
                <a:latin typeface="Comic Sans MS" pitchFamily="66" charset="0"/>
                <a:ea typeface="宋体" pitchFamily="2" charset="-122"/>
              </a:rPr>
              <a:t>H(10)=10%13=10</a:t>
            </a:r>
          </a:p>
        </p:txBody>
      </p:sp>
      <p:graphicFrame>
        <p:nvGraphicFramePr>
          <p:cNvPr id="174274" name="Group 194"/>
          <p:cNvGraphicFramePr>
            <a:graphicFrameLocks noGrp="1"/>
          </p:cNvGraphicFramePr>
          <p:nvPr>
            <p:ph sz="quarter" idx="4294967295"/>
          </p:nvPr>
        </p:nvGraphicFramePr>
        <p:xfrm>
          <a:off x="6599238" y="3429000"/>
          <a:ext cx="857250" cy="365602"/>
        </p:xfrm>
        <a:graphic>
          <a:graphicData uri="http://schemas.openxmlformats.org/drawingml/2006/table">
            <a:tbl>
              <a:tblPr/>
              <a:tblGrid>
                <a:gridCol w="571500">
                  <a:extLst>
                    <a:ext uri="{9D8B030D-6E8A-4147-A177-3AD203B41FA5}">
                      <a16:colId xmlns:a16="http://schemas.microsoft.com/office/drawing/2014/main" val="20000"/>
                    </a:ext>
                  </a:extLst>
                </a:gridCol>
                <a:gridCol w="285750">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19</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160" name="Line 80"/>
          <p:cNvSpPr>
            <a:spLocks noChangeShapeType="1"/>
          </p:cNvSpPr>
          <p:nvPr/>
        </p:nvSpPr>
        <p:spPr bwMode="auto">
          <a:xfrm>
            <a:off x="5951538" y="36449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73" name="Group 193"/>
          <p:cNvGraphicFramePr>
            <a:graphicFrameLocks noGrp="1"/>
          </p:cNvGraphicFramePr>
          <p:nvPr/>
        </p:nvGraphicFramePr>
        <p:xfrm>
          <a:off x="6599239" y="124460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14</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169" name="Line 89"/>
          <p:cNvSpPr>
            <a:spLocks noChangeShapeType="1"/>
          </p:cNvSpPr>
          <p:nvPr/>
        </p:nvSpPr>
        <p:spPr bwMode="auto">
          <a:xfrm>
            <a:off x="5951538" y="14605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72" name="Group 192"/>
          <p:cNvGraphicFramePr>
            <a:graphicFrameLocks noGrp="1"/>
          </p:cNvGraphicFramePr>
          <p:nvPr/>
        </p:nvGraphicFramePr>
        <p:xfrm>
          <a:off x="6599239" y="5081588"/>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23</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178" name="Line 98"/>
          <p:cNvSpPr>
            <a:spLocks noChangeShapeType="1"/>
          </p:cNvSpPr>
          <p:nvPr/>
        </p:nvSpPr>
        <p:spPr bwMode="auto">
          <a:xfrm>
            <a:off x="5951538" y="5297488"/>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71" name="Group 191"/>
          <p:cNvGraphicFramePr>
            <a:graphicFrameLocks noGrp="1"/>
          </p:cNvGraphicFramePr>
          <p:nvPr/>
        </p:nvGraphicFramePr>
        <p:xfrm>
          <a:off x="7997825" y="1247775"/>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01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187" name="Line 107"/>
          <p:cNvSpPr>
            <a:spLocks noChangeShapeType="1"/>
          </p:cNvSpPr>
          <p:nvPr/>
        </p:nvSpPr>
        <p:spPr bwMode="auto">
          <a:xfrm>
            <a:off x="7350125" y="146367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70" name="Group 190"/>
          <p:cNvGraphicFramePr>
            <a:graphicFrameLocks noGrp="1"/>
          </p:cNvGraphicFramePr>
          <p:nvPr/>
        </p:nvGraphicFramePr>
        <p:xfrm>
          <a:off x="6599239" y="210185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68</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196" name="Line 116"/>
          <p:cNvSpPr>
            <a:spLocks noChangeShapeType="1"/>
          </p:cNvSpPr>
          <p:nvPr/>
        </p:nvSpPr>
        <p:spPr bwMode="auto">
          <a:xfrm>
            <a:off x="5951538" y="23177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9" name="Group 189"/>
          <p:cNvGraphicFramePr>
            <a:graphicFrameLocks noGrp="1"/>
          </p:cNvGraphicFramePr>
          <p:nvPr/>
        </p:nvGraphicFramePr>
        <p:xfrm>
          <a:off x="6599239" y="3940175"/>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20</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05" name="Line 125"/>
          <p:cNvSpPr>
            <a:spLocks noChangeShapeType="1"/>
          </p:cNvSpPr>
          <p:nvPr/>
        </p:nvSpPr>
        <p:spPr bwMode="auto">
          <a:xfrm>
            <a:off x="5951538" y="415607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8" name="Group 188"/>
          <p:cNvGraphicFramePr>
            <a:graphicFrameLocks noGrp="1"/>
          </p:cNvGraphicFramePr>
          <p:nvPr/>
        </p:nvGraphicFramePr>
        <p:xfrm>
          <a:off x="7967664" y="342900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84</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14" name="Line 134"/>
          <p:cNvSpPr>
            <a:spLocks noChangeShapeType="1"/>
          </p:cNvSpPr>
          <p:nvPr/>
        </p:nvSpPr>
        <p:spPr bwMode="auto">
          <a:xfrm>
            <a:off x="7319963" y="36449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7" name="Group 187"/>
          <p:cNvGraphicFramePr>
            <a:graphicFrameLocks noGrp="1"/>
          </p:cNvGraphicFramePr>
          <p:nvPr/>
        </p:nvGraphicFramePr>
        <p:xfrm>
          <a:off x="9407525" y="1274763"/>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27</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23" name="Line 143"/>
          <p:cNvSpPr>
            <a:spLocks noChangeShapeType="1"/>
          </p:cNvSpPr>
          <p:nvPr/>
        </p:nvSpPr>
        <p:spPr bwMode="auto">
          <a:xfrm>
            <a:off x="8759825" y="149066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6" name="Group 186"/>
          <p:cNvGraphicFramePr>
            <a:graphicFrameLocks noGrp="1"/>
          </p:cNvGraphicFramePr>
          <p:nvPr/>
        </p:nvGraphicFramePr>
        <p:xfrm>
          <a:off x="8039100" y="2087563"/>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55</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32" name="Line 152"/>
          <p:cNvSpPr>
            <a:spLocks noChangeShapeType="1"/>
          </p:cNvSpPr>
          <p:nvPr/>
        </p:nvSpPr>
        <p:spPr bwMode="auto">
          <a:xfrm>
            <a:off x="7391400" y="230346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5" name="Group 185"/>
          <p:cNvGraphicFramePr>
            <a:graphicFrameLocks noGrp="1"/>
          </p:cNvGraphicFramePr>
          <p:nvPr/>
        </p:nvGraphicFramePr>
        <p:xfrm>
          <a:off x="6599239" y="5595938"/>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41" name="Line 161"/>
          <p:cNvSpPr>
            <a:spLocks noChangeShapeType="1"/>
          </p:cNvSpPr>
          <p:nvPr/>
        </p:nvSpPr>
        <p:spPr bwMode="auto">
          <a:xfrm>
            <a:off x="5951538" y="5811838"/>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4264" name="Group 184"/>
          <p:cNvGraphicFramePr>
            <a:graphicFrameLocks noGrp="1"/>
          </p:cNvGraphicFramePr>
          <p:nvPr/>
        </p:nvGraphicFramePr>
        <p:xfrm>
          <a:off x="7967664" y="5091113"/>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10</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250" name="Line 170"/>
          <p:cNvSpPr>
            <a:spLocks noChangeShapeType="1"/>
          </p:cNvSpPr>
          <p:nvPr/>
        </p:nvSpPr>
        <p:spPr bwMode="auto">
          <a:xfrm>
            <a:off x="7319963" y="530701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51" name="Text Box 171"/>
          <p:cNvSpPr txBox="1">
            <a:spLocks noChangeArrowheads="1"/>
          </p:cNvSpPr>
          <p:nvPr/>
        </p:nvSpPr>
        <p:spPr bwMode="auto">
          <a:xfrm>
            <a:off x="5649914" y="908051"/>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2" name="Text Box 172"/>
          <p:cNvSpPr txBox="1">
            <a:spLocks noChangeArrowheads="1"/>
          </p:cNvSpPr>
          <p:nvPr/>
        </p:nvSpPr>
        <p:spPr bwMode="auto">
          <a:xfrm>
            <a:off x="9955214" y="1303339"/>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3" name="Text Box 173"/>
          <p:cNvSpPr txBox="1">
            <a:spLocks noChangeArrowheads="1"/>
          </p:cNvSpPr>
          <p:nvPr/>
        </p:nvSpPr>
        <p:spPr bwMode="auto">
          <a:xfrm>
            <a:off x="5649914" y="1773239"/>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4" name="Text Box 174"/>
          <p:cNvSpPr txBox="1">
            <a:spLocks noChangeArrowheads="1"/>
          </p:cNvSpPr>
          <p:nvPr/>
        </p:nvSpPr>
        <p:spPr bwMode="auto">
          <a:xfrm>
            <a:off x="8602664" y="21685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5" name="Text Box 175"/>
          <p:cNvSpPr txBox="1">
            <a:spLocks noChangeArrowheads="1"/>
          </p:cNvSpPr>
          <p:nvPr/>
        </p:nvSpPr>
        <p:spPr bwMode="auto">
          <a:xfrm>
            <a:off x="5649914" y="26003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6" name="Text Box 176"/>
          <p:cNvSpPr txBox="1">
            <a:spLocks noChangeArrowheads="1"/>
          </p:cNvSpPr>
          <p:nvPr/>
        </p:nvSpPr>
        <p:spPr bwMode="auto">
          <a:xfrm>
            <a:off x="5649914" y="30321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7" name="Text Box 177"/>
          <p:cNvSpPr txBox="1">
            <a:spLocks noChangeArrowheads="1"/>
          </p:cNvSpPr>
          <p:nvPr/>
        </p:nvSpPr>
        <p:spPr bwMode="auto">
          <a:xfrm>
            <a:off x="8529639" y="3536951"/>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8" name="Text Box 178"/>
          <p:cNvSpPr txBox="1">
            <a:spLocks noChangeArrowheads="1"/>
          </p:cNvSpPr>
          <p:nvPr/>
        </p:nvSpPr>
        <p:spPr bwMode="auto">
          <a:xfrm>
            <a:off x="7161214" y="3968751"/>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59" name="Text Box 179"/>
          <p:cNvSpPr txBox="1">
            <a:spLocks noChangeArrowheads="1"/>
          </p:cNvSpPr>
          <p:nvPr/>
        </p:nvSpPr>
        <p:spPr bwMode="auto">
          <a:xfrm>
            <a:off x="5721350" y="4760914"/>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60" name="Text Box 180"/>
          <p:cNvSpPr txBox="1">
            <a:spLocks noChangeArrowheads="1"/>
          </p:cNvSpPr>
          <p:nvPr/>
        </p:nvSpPr>
        <p:spPr bwMode="auto">
          <a:xfrm>
            <a:off x="5707064" y="43275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61" name="Text Box 181"/>
          <p:cNvSpPr txBox="1">
            <a:spLocks noChangeArrowheads="1"/>
          </p:cNvSpPr>
          <p:nvPr/>
        </p:nvSpPr>
        <p:spPr bwMode="auto">
          <a:xfrm>
            <a:off x="8529639" y="52292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62" name="Text Box 182"/>
          <p:cNvSpPr txBox="1">
            <a:spLocks noChangeArrowheads="1"/>
          </p:cNvSpPr>
          <p:nvPr/>
        </p:nvSpPr>
        <p:spPr bwMode="auto">
          <a:xfrm>
            <a:off x="7146925" y="569595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74263" name="Text Box 183"/>
          <p:cNvSpPr txBox="1">
            <a:spLocks noChangeArrowheads="1"/>
          </p:cNvSpPr>
          <p:nvPr/>
        </p:nvSpPr>
        <p:spPr bwMode="auto">
          <a:xfrm>
            <a:off x="5707064" y="598487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Tree>
    <p:extLst>
      <p:ext uri="{BB962C8B-B14F-4D97-AF65-F5344CB8AC3E}">
        <p14:creationId xmlns:p14="http://schemas.microsoft.com/office/powerpoint/2010/main" val="24262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2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2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16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42"/>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74141"/>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742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16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4143"/>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174142"/>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742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17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4144"/>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174143"/>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742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418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4145"/>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174144"/>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7427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4196"/>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74146"/>
                                        </p:tgtEl>
                                        <p:attrNameLst>
                                          <p:attrName>style.visibility</p:attrName>
                                        </p:attrNameLst>
                                      </p:cBhvr>
                                      <p:to>
                                        <p:strVal val="visible"/>
                                      </p:to>
                                    </p:set>
                                  </p:childTnLst>
                                </p:cTn>
                              </p:par>
                              <p:par>
                                <p:cTn id="69" presetID="1" presetClass="exit" presetSubtype="0" fill="hold" grpId="1" nodeType="withEffect">
                                  <p:stCondLst>
                                    <p:cond delay="0"/>
                                  </p:stCondLst>
                                  <p:childTnLst>
                                    <p:set>
                                      <p:cBhvr>
                                        <p:cTn id="70" dur="1" fill="hold">
                                          <p:stCondLst>
                                            <p:cond delay="0"/>
                                          </p:stCondLst>
                                        </p:cTn>
                                        <p:tgtEl>
                                          <p:spTgt spid="174145"/>
                                        </p:tgtEl>
                                        <p:attrNameLst>
                                          <p:attrName>style.visibility</p:attrName>
                                        </p:attrNameLst>
                                      </p:cBhvr>
                                      <p:to>
                                        <p:strVal val="hidden"/>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17426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205"/>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74147"/>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74146"/>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17426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74214"/>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4148"/>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174147"/>
                                        </p:tgtEl>
                                        <p:attrNameLst>
                                          <p:attrName>style.visibility</p:attrName>
                                        </p:attrNameLst>
                                      </p:cBhvr>
                                      <p:to>
                                        <p:strVal val="hidden"/>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17426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74223"/>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74149"/>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174148"/>
                                        </p:tgtEl>
                                        <p:attrNameLst>
                                          <p:attrName>style.visibility</p:attrName>
                                        </p:attrNameLst>
                                      </p:cBhvr>
                                      <p:to>
                                        <p:strVal val="hidden"/>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17426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74232"/>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74150"/>
                                        </p:tgtEl>
                                        <p:attrNameLst>
                                          <p:attrName>style.visibility</p:attrName>
                                        </p:attrNameLst>
                                      </p:cBhvr>
                                      <p:to>
                                        <p:strVal val="visible"/>
                                      </p:to>
                                    </p:set>
                                  </p:childTnLst>
                                </p:cTn>
                              </p:par>
                              <p:par>
                                <p:cTn id="117" presetID="1" presetClass="exit" presetSubtype="0" fill="hold" grpId="1" nodeType="withEffect">
                                  <p:stCondLst>
                                    <p:cond delay="0"/>
                                  </p:stCondLst>
                                  <p:childTnLst>
                                    <p:set>
                                      <p:cBhvr>
                                        <p:cTn id="118" dur="1" fill="hold">
                                          <p:stCondLst>
                                            <p:cond delay="0"/>
                                          </p:stCondLst>
                                        </p:cTn>
                                        <p:tgtEl>
                                          <p:spTgt spid="174149"/>
                                        </p:tgtEl>
                                        <p:attrNameLst>
                                          <p:attrName>style.visibility</p:attrName>
                                        </p:attrNameLst>
                                      </p:cBhvr>
                                      <p:to>
                                        <p:strVal val="hidden"/>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nodeType="clickEffect">
                                  <p:stCondLst>
                                    <p:cond delay="0"/>
                                  </p:stCondLst>
                                  <p:childTnLst>
                                    <p:set>
                                      <p:cBhvr>
                                        <p:cTn id="122" dur="1" fill="hold">
                                          <p:stCondLst>
                                            <p:cond delay="0"/>
                                          </p:stCondLst>
                                        </p:cTn>
                                        <p:tgtEl>
                                          <p:spTgt spid="17426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74241"/>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74151"/>
                                        </p:tgtEl>
                                        <p:attrNameLst>
                                          <p:attrName>style.visibility</p:attrName>
                                        </p:attrNameLst>
                                      </p:cBhvr>
                                      <p:to>
                                        <p:strVal val="visible"/>
                                      </p:to>
                                    </p:set>
                                  </p:childTnLst>
                                </p:cTn>
                              </p:par>
                              <p:par>
                                <p:cTn id="129" presetID="1" presetClass="exit" presetSubtype="0" fill="hold" grpId="1" nodeType="withEffect">
                                  <p:stCondLst>
                                    <p:cond delay="0"/>
                                  </p:stCondLst>
                                  <p:childTnLst>
                                    <p:set>
                                      <p:cBhvr>
                                        <p:cTn id="130" dur="1" fill="hold">
                                          <p:stCondLst>
                                            <p:cond delay="0"/>
                                          </p:stCondLst>
                                        </p:cTn>
                                        <p:tgtEl>
                                          <p:spTgt spid="174150"/>
                                        </p:tgtEl>
                                        <p:attrNameLst>
                                          <p:attrName>style.visibility</p:attrName>
                                        </p:attrNameLst>
                                      </p:cBhvr>
                                      <p:to>
                                        <p:strVal val="hidden"/>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0"/>
                                          </p:stCondLst>
                                        </p:cTn>
                                        <p:tgtEl>
                                          <p:spTgt spid="17426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74250"/>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174151"/>
                                        </p:tgtEl>
                                        <p:attrNameLst>
                                          <p:attrName>style.visibility</p:attrName>
                                        </p:attrNameLst>
                                      </p:cBhvr>
                                      <p:to>
                                        <p:strVal val="hidden"/>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74251"/>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74252"/>
                                        </p:tgtEl>
                                        <p:attrNameLst>
                                          <p:attrName>style.visibility</p:attrName>
                                        </p:attrNameLst>
                                      </p:cBhvr>
                                      <p:to>
                                        <p:strVal val="visible"/>
                                      </p:to>
                                    </p:se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74253"/>
                                        </p:tgtEl>
                                        <p:attrNameLst>
                                          <p:attrName>style.visibility</p:attrName>
                                        </p:attrNameLst>
                                      </p:cBhvr>
                                      <p:to>
                                        <p:strVal val="visibl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74254"/>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174255"/>
                                        </p:tgtEl>
                                        <p:attrNameLst>
                                          <p:attrName>style.visibility</p:attrName>
                                        </p:attrNameLst>
                                      </p:cBhvr>
                                      <p:to>
                                        <p:strVal val="visible"/>
                                      </p:to>
                                    </p:se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174256"/>
                                        </p:tgtEl>
                                        <p:attrNameLst>
                                          <p:attrName>style.visibility</p:attrName>
                                        </p:attrNameLst>
                                      </p:cBhvr>
                                      <p:to>
                                        <p:strVal val="visible"/>
                                      </p:to>
                                    </p:se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74257"/>
                                        </p:tgtEl>
                                        <p:attrNameLst>
                                          <p:attrName>style.visibility</p:attrName>
                                        </p:attrNameLst>
                                      </p:cBhvr>
                                      <p:to>
                                        <p:strVal val="visible"/>
                                      </p:to>
                                    </p:se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174258"/>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74260"/>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174259"/>
                                        </p:tgtEl>
                                        <p:attrNameLst>
                                          <p:attrName>style.visibility</p:attrName>
                                        </p:attrNameLst>
                                      </p:cBhvr>
                                      <p:to>
                                        <p:strVal val="visible"/>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74261"/>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74262"/>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74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1" grpId="0"/>
      <p:bldP spid="174141" grpId="1"/>
      <p:bldP spid="174142" grpId="0"/>
      <p:bldP spid="174142" grpId="1"/>
      <p:bldP spid="174143" grpId="0"/>
      <p:bldP spid="174143" grpId="1"/>
      <p:bldP spid="174144" grpId="0"/>
      <p:bldP spid="174144" grpId="1"/>
      <p:bldP spid="174145" grpId="0"/>
      <p:bldP spid="174145" grpId="1"/>
      <p:bldP spid="174146" grpId="0"/>
      <p:bldP spid="174146" grpId="1"/>
      <p:bldP spid="174147" grpId="0"/>
      <p:bldP spid="174147" grpId="1"/>
      <p:bldP spid="174148" grpId="0"/>
      <p:bldP spid="174148" grpId="1"/>
      <p:bldP spid="174149" grpId="0"/>
      <p:bldP spid="174149" grpId="1"/>
      <p:bldP spid="174150" grpId="0"/>
      <p:bldP spid="174150" grpId="1"/>
      <p:bldP spid="174151" grpId="0"/>
      <p:bldP spid="174151" grpId="1"/>
      <p:bldP spid="174160" grpId="0" animBg="1"/>
      <p:bldP spid="174169" grpId="0" animBg="1"/>
      <p:bldP spid="174178" grpId="0" animBg="1"/>
      <p:bldP spid="174187" grpId="0" animBg="1"/>
      <p:bldP spid="174196" grpId="0" animBg="1"/>
      <p:bldP spid="174205" grpId="0" animBg="1"/>
      <p:bldP spid="174214" grpId="0" animBg="1"/>
      <p:bldP spid="174223" grpId="0" animBg="1"/>
      <p:bldP spid="174232" grpId="0" animBg="1"/>
      <p:bldP spid="174241" grpId="0" animBg="1"/>
      <p:bldP spid="174250" grpId="0" animBg="1"/>
      <p:bldP spid="174251" grpId="0"/>
      <p:bldP spid="174252" grpId="0"/>
      <p:bldP spid="174253" grpId="0"/>
      <p:bldP spid="174254" grpId="0"/>
      <p:bldP spid="174255" grpId="0"/>
      <p:bldP spid="174256" grpId="0"/>
      <p:bldP spid="174257" grpId="0"/>
      <p:bldP spid="174258" grpId="0"/>
      <p:bldP spid="174259" grpId="0"/>
      <p:bldP spid="174260" grpId="0"/>
      <p:bldP spid="174261" grpId="0"/>
      <p:bldP spid="174262" grpId="0"/>
      <p:bldP spid="17426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55641" y="1988841"/>
            <a:ext cx="2069797" cy="461665"/>
          </a:xfrm>
          <a:prstGeom prst="rect">
            <a:avLst/>
          </a:prstGeom>
        </p:spPr>
        <p:txBody>
          <a:bodyPr wrap="none">
            <a:spAutoFit/>
          </a:bodyPr>
          <a:lstStyle/>
          <a:p>
            <a:r>
              <a:rPr kumimoji="1" lang="en-US" altLang="zh-CN" sz="2400" dirty="0">
                <a:latin typeface="微软雅黑" pitchFamily="34" charset="-122"/>
                <a:ea typeface="微软雅黑" pitchFamily="34" charset="-122"/>
                <a:cs typeface="经典粗黑简" pitchFamily="49" charset="-122"/>
              </a:rPr>
              <a:t>1. </a:t>
            </a:r>
            <a:r>
              <a:rPr kumimoji="1" lang="zh-CN" altLang="en-US" sz="2400" dirty="0">
                <a:latin typeface="微软雅黑" pitchFamily="34" charset="-122"/>
                <a:ea typeface="微软雅黑" pitchFamily="34" charset="-122"/>
                <a:cs typeface="经典粗黑简" pitchFamily="49" charset="-122"/>
              </a:rPr>
              <a:t>开放定址法</a:t>
            </a:r>
            <a:endParaRPr lang="zh-CN" altLang="en-US" sz="2400" dirty="0"/>
          </a:p>
        </p:txBody>
      </p:sp>
      <p:sp>
        <p:nvSpPr>
          <p:cNvPr id="6" name="矩形 5"/>
          <p:cNvSpPr/>
          <p:nvPr/>
        </p:nvSpPr>
        <p:spPr>
          <a:xfrm>
            <a:off x="2855641" y="2564905"/>
            <a:ext cx="1762021" cy="461665"/>
          </a:xfrm>
          <a:prstGeom prst="rect">
            <a:avLst/>
          </a:prstGeom>
        </p:spPr>
        <p:txBody>
          <a:bodyPr wrap="none">
            <a:spAutoFit/>
          </a:bodyPr>
          <a:lstStyle/>
          <a:p>
            <a:pPr>
              <a:spcBef>
                <a:spcPct val="50000"/>
              </a:spcBef>
            </a:pPr>
            <a:r>
              <a:rPr kumimoji="1" lang="en-US" altLang="zh-CN" sz="2400" dirty="0">
                <a:latin typeface="微软雅黑" pitchFamily="34" charset="-122"/>
                <a:ea typeface="微软雅黑" pitchFamily="34" charset="-122"/>
                <a:cs typeface="经典粗黑简" pitchFamily="49" charset="-122"/>
              </a:rPr>
              <a:t>2. </a:t>
            </a:r>
            <a:r>
              <a:rPr kumimoji="1" lang="zh-CN" altLang="en-US" sz="2400" dirty="0">
                <a:latin typeface="微软雅黑" pitchFamily="34" charset="-122"/>
                <a:ea typeface="微软雅黑" pitchFamily="34" charset="-122"/>
                <a:cs typeface="经典粗黑简" pitchFamily="49" charset="-122"/>
              </a:rPr>
              <a:t>链地址法</a:t>
            </a:r>
          </a:p>
        </p:txBody>
      </p:sp>
      <p:sp>
        <p:nvSpPr>
          <p:cNvPr id="7" name="矩形 6"/>
          <p:cNvSpPr/>
          <p:nvPr/>
        </p:nvSpPr>
        <p:spPr>
          <a:xfrm>
            <a:off x="2855641" y="3140969"/>
            <a:ext cx="1762021" cy="461665"/>
          </a:xfrm>
          <a:prstGeom prst="rect">
            <a:avLst/>
          </a:prstGeom>
        </p:spPr>
        <p:txBody>
          <a:bodyPr wrap="none">
            <a:spAutoFit/>
          </a:bodyPr>
          <a:lstStyle/>
          <a:p>
            <a:pPr>
              <a:spcBef>
                <a:spcPct val="50000"/>
              </a:spcBef>
            </a:pPr>
            <a:r>
              <a:rPr kumimoji="1" lang="en-US" altLang="zh-CN" sz="2400" dirty="0">
                <a:latin typeface="微软雅黑" pitchFamily="34" charset="-122"/>
                <a:ea typeface="微软雅黑" pitchFamily="34" charset="-122"/>
                <a:cs typeface="经典粗黑简" pitchFamily="49" charset="-122"/>
              </a:rPr>
              <a:t>3. </a:t>
            </a:r>
            <a:r>
              <a:rPr kumimoji="1" lang="zh-CN" altLang="en-US" sz="2400" dirty="0">
                <a:latin typeface="微软雅黑" pitchFamily="34" charset="-122"/>
                <a:ea typeface="微软雅黑" pitchFamily="34" charset="-122"/>
                <a:cs typeface="经典粗黑简" pitchFamily="49" charset="-122"/>
              </a:rPr>
              <a:t>再哈希法</a:t>
            </a:r>
          </a:p>
        </p:txBody>
      </p:sp>
      <p:sp>
        <p:nvSpPr>
          <p:cNvPr id="8" name="矩形 7"/>
          <p:cNvSpPr/>
          <p:nvPr/>
        </p:nvSpPr>
        <p:spPr>
          <a:xfrm>
            <a:off x="2855640" y="3717033"/>
            <a:ext cx="2377574" cy="461665"/>
          </a:xfrm>
          <a:prstGeom prst="rect">
            <a:avLst/>
          </a:prstGeom>
        </p:spPr>
        <p:txBody>
          <a:bodyPr wrap="none">
            <a:spAutoFit/>
          </a:bodyPr>
          <a:lstStyle/>
          <a:p>
            <a:pPr>
              <a:spcBef>
                <a:spcPct val="50000"/>
              </a:spcBef>
            </a:pPr>
            <a:r>
              <a:rPr kumimoji="1" lang="en-US" altLang="zh-CN" sz="2400" dirty="0">
                <a:latin typeface="微软雅黑" pitchFamily="34" charset="-122"/>
                <a:ea typeface="微软雅黑" pitchFamily="34" charset="-122"/>
                <a:cs typeface="经典粗黑简" pitchFamily="49" charset="-122"/>
              </a:rPr>
              <a:t>4. </a:t>
            </a:r>
            <a:r>
              <a:rPr kumimoji="1" lang="zh-CN" altLang="en-US" sz="2400" dirty="0">
                <a:latin typeface="微软雅黑" pitchFamily="34" charset="-122"/>
                <a:ea typeface="微软雅黑" pitchFamily="34" charset="-122"/>
                <a:cs typeface="经典粗黑简" pitchFamily="49" charset="-122"/>
              </a:rPr>
              <a:t>公共溢出区法</a:t>
            </a:r>
          </a:p>
        </p:txBody>
      </p:sp>
      <p:sp>
        <p:nvSpPr>
          <p:cNvPr id="4" name="矩形 3">
            <a:extLst>
              <a:ext uri="{FF2B5EF4-FFF2-40B4-BE49-F238E27FC236}">
                <a16:creationId xmlns:a16="http://schemas.microsoft.com/office/drawing/2014/main" id="{DCB566D8-40B1-8DC4-5699-A075A1094948}"/>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5" name="矩形 4">
            <a:extLst>
              <a:ext uri="{FF2B5EF4-FFF2-40B4-BE49-F238E27FC236}">
                <a16:creationId xmlns:a16="http://schemas.microsoft.com/office/drawing/2014/main" id="{BABB14A9-E23F-DFC1-A634-9E7A5B403A8C}"/>
              </a:ext>
            </a:extLst>
          </p:cNvPr>
          <p:cNvSpPr/>
          <p:nvPr/>
        </p:nvSpPr>
        <p:spPr>
          <a:xfrm>
            <a:off x="255372" y="1152249"/>
            <a:ext cx="43284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9.4.3 </a:t>
            </a:r>
            <a:r>
              <a:rPr lang="zh-CN" altLang="en-US" sz="2800" b="1" dirty="0">
                <a:solidFill>
                  <a:schemeClr val="bg1"/>
                </a:solidFill>
                <a:latin typeface="经典粗黑简" pitchFamily="49" charset="-122"/>
                <a:ea typeface="经典粗黑简" pitchFamily="49" charset="-122"/>
                <a:cs typeface="经典粗黑简" pitchFamily="49" charset="-122"/>
              </a:rPr>
              <a:t>哈希冲突解决方法</a:t>
            </a:r>
          </a:p>
        </p:txBody>
      </p:sp>
      <p:cxnSp>
        <p:nvCxnSpPr>
          <p:cNvPr id="10" name="直接连接符 9">
            <a:extLst>
              <a:ext uri="{FF2B5EF4-FFF2-40B4-BE49-F238E27FC236}">
                <a16:creationId xmlns:a16="http://schemas.microsoft.com/office/drawing/2014/main" id="{08287CE0-733E-EEC4-C3E9-413B579570BF}"/>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670984"/>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2057400" y="1947863"/>
            <a:ext cx="830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pPr>
            <a:r>
              <a:rPr kumimoji="1" lang="zh-CN" altLang="en-US" sz="2400" dirty="0">
                <a:latin typeface="Times New Roman" pitchFamily="18" charset="0"/>
                <a:ea typeface="宋体" pitchFamily="2" charset="-122"/>
              </a:rPr>
              <a:t>        </a:t>
            </a:r>
            <a:r>
              <a:rPr kumimoji="1" lang="zh-CN" altLang="en-US" sz="2400" dirty="0">
                <a:latin typeface="微软雅黑" pitchFamily="34" charset="-122"/>
                <a:ea typeface="微软雅黑" pitchFamily="34" charset="-122"/>
                <a:cs typeface="经典粗黑简" pitchFamily="49" charset="-122"/>
              </a:rPr>
              <a:t>按理论分析，散列查找它的时间复杂度应为</a:t>
            </a:r>
            <a:r>
              <a:rPr kumimoji="1" lang="en-US" altLang="zh-CN" sz="2400" dirty="0">
                <a:latin typeface="微软雅黑" pitchFamily="34" charset="-122"/>
                <a:ea typeface="微软雅黑" pitchFamily="34" charset="-122"/>
                <a:cs typeface="经典粗黑简" pitchFamily="49" charset="-122"/>
              </a:rPr>
              <a:t>O(1)</a:t>
            </a:r>
            <a:r>
              <a:rPr kumimoji="1" lang="zh-CN" altLang="en-US" sz="2400" dirty="0">
                <a:latin typeface="微软雅黑" pitchFamily="34" charset="-122"/>
                <a:ea typeface="微软雅黑" pitchFamily="34" charset="-122"/>
                <a:cs typeface="经典粗黑简" pitchFamily="49" charset="-122"/>
              </a:rPr>
              <a:t>，因此它的平均查找长度应为</a:t>
            </a:r>
            <a:r>
              <a:rPr kumimoji="1" lang="en-US" altLang="zh-CN" sz="2400" dirty="0">
                <a:latin typeface="微软雅黑" pitchFamily="34" charset="-122"/>
                <a:ea typeface="微软雅黑" pitchFamily="34" charset="-122"/>
                <a:cs typeface="经典粗黑简" pitchFamily="49" charset="-122"/>
              </a:rPr>
              <a:t>ASL=1</a:t>
            </a:r>
            <a:r>
              <a:rPr kumimoji="1" lang="zh-CN" altLang="en-US" sz="2400" dirty="0">
                <a:latin typeface="微软雅黑" pitchFamily="34" charset="-122"/>
                <a:ea typeface="微软雅黑" pitchFamily="34" charset="-122"/>
                <a:cs typeface="经典粗黑简" pitchFamily="49" charset="-122"/>
              </a:rPr>
              <a:t>，但由于冲突的存在，它的平均查找长度将会比</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大。下面分析几种方法的平均查找长度。首先引入装填因子的概念。</a:t>
            </a:r>
          </a:p>
        </p:txBody>
      </p:sp>
      <p:sp>
        <p:nvSpPr>
          <p:cNvPr id="132099" name="Rectangle 4"/>
          <p:cNvSpPr>
            <a:spLocks noChangeArrowheads="1"/>
          </p:cNvSpPr>
          <p:nvPr/>
        </p:nvSpPr>
        <p:spPr bwMode="auto">
          <a:xfrm>
            <a:off x="6003925" y="310832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endParaRPr kumimoji="1" lang="zh-CN" altLang="en-US" sz="3600" b="1">
              <a:solidFill>
                <a:schemeClr val="tx2"/>
              </a:solidFill>
              <a:latin typeface="Tahoma" pitchFamily="34" charset="0"/>
              <a:ea typeface="幼圆" pitchFamily="49" charset="-122"/>
            </a:endParaRPr>
          </a:p>
        </p:txBody>
      </p:sp>
      <p:sp>
        <p:nvSpPr>
          <p:cNvPr id="226309" name="Text Box 5"/>
          <p:cNvSpPr txBox="1">
            <a:spLocks noChangeArrowheads="1"/>
          </p:cNvSpPr>
          <p:nvPr/>
        </p:nvSpPr>
        <p:spPr bwMode="auto">
          <a:xfrm>
            <a:off x="2057400" y="3703639"/>
            <a:ext cx="8305800" cy="190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buClr>
                <a:schemeClr val="folHlink"/>
              </a:buClr>
              <a:buSzPct val="80000"/>
            </a:pPr>
            <a:r>
              <a:rPr kumimoji="1" lang="zh-CN" altLang="en-US" sz="2400" dirty="0">
                <a:latin typeface="微软雅黑" pitchFamily="34" charset="-122"/>
                <a:ea typeface="微软雅黑" pitchFamily="34" charset="-122"/>
                <a:cs typeface="经典粗黑简" pitchFamily="49" charset="-122"/>
              </a:rPr>
              <a:t>装填因子</a:t>
            </a:r>
          </a:p>
          <a:p>
            <a:r>
              <a:rPr kumimoji="1" lang="zh-CN" altLang="en-US" sz="2800" b="1" dirty="0">
                <a:latin typeface="Times New Roman" pitchFamily="18" charset="0"/>
                <a:ea typeface="宋体" pitchFamily="2" charset="-122"/>
              </a:rPr>
              <a:t>       </a:t>
            </a:r>
            <a:r>
              <a:rPr kumimoji="1" lang="zh-CN" altLang="en-US" sz="2400" dirty="0">
                <a:latin typeface="微软雅黑" pitchFamily="34" charset="-122"/>
                <a:ea typeface="微软雅黑" pitchFamily="34" charset="-122"/>
                <a:cs typeface="经典粗黑简" pitchFamily="49" charset="-122"/>
              </a:rPr>
              <a:t>所谓装填因子是指散列表中 存入的元素个数</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与哈希表的大小</a:t>
            </a:r>
            <a:r>
              <a:rPr kumimoji="1" lang="en-US" altLang="zh-CN" sz="2400" dirty="0">
                <a:latin typeface="微软雅黑" pitchFamily="34" charset="-122"/>
                <a:ea typeface="微软雅黑" pitchFamily="34" charset="-122"/>
                <a:cs typeface="经典粗黑简" pitchFamily="49" charset="-122"/>
              </a:rPr>
              <a:t>m</a:t>
            </a:r>
            <a:r>
              <a:rPr kumimoji="1" lang="zh-CN" altLang="en-US" sz="2400" dirty="0">
                <a:latin typeface="微软雅黑" pitchFamily="34" charset="-122"/>
                <a:ea typeface="微软雅黑" pitchFamily="34" charset="-122"/>
                <a:cs typeface="经典粗黑简" pitchFamily="49" charset="-122"/>
              </a:rPr>
              <a:t>的比值，即：</a:t>
            </a:r>
          </a:p>
          <a:p>
            <a:pPr eaLnBrk="1" hangingPunct="1">
              <a:spcBef>
                <a:spcPct val="50000"/>
              </a:spcBef>
            </a:pPr>
            <a:r>
              <a:rPr kumimoji="1" lang="zh-CN" altLang="en-US" sz="2400" dirty="0">
                <a:latin typeface="Times New Roman" pitchFamily="18" charset="0"/>
                <a:ea typeface="宋体" pitchFamily="2" charset="-122"/>
              </a:rPr>
              <a:t>                           </a:t>
            </a:r>
            <a:r>
              <a:rPr kumimoji="1" lang="zh-CN" altLang="en-US" sz="2400" dirty="0">
                <a:latin typeface="微软雅黑" pitchFamily="34" charset="-122"/>
                <a:ea typeface="微软雅黑" pitchFamily="34" charset="-122"/>
                <a:cs typeface="经典粗黑简" pitchFamily="49" charset="-122"/>
              </a:rPr>
              <a:t>装填因子</a:t>
            </a:r>
            <a:r>
              <a:rPr kumimoji="1" lang="zh-CN" altLang="en-US" sz="2800" b="1" dirty="0">
                <a:latin typeface="Times New Roman" pitchFamily="18" charset="0"/>
                <a:ea typeface="宋体" pitchFamily="2" charset="-122"/>
                <a:sym typeface="Symbol" pitchFamily="18" charset="2"/>
              </a:rPr>
              <a:t></a:t>
            </a:r>
            <a:r>
              <a:rPr kumimoji="1" lang="zh-CN" altLang="en-US" sz="2800" b="1" dirty="0">
                <a:latin typeface="Times New Roman" pitchFamily="18" charset="0"/>
                <a:ea typeface="宋体" pitchFamily="2" charset="-122"/>
              </a:rPr>
              <a:t> </a:t>
            </a:r>
            <a:r>
              <a:rPr kumimoji="1" lang="en-US" altLang="zh-CN" sz="2800" b="1" dirty="0">
                <a:latin typeface="Times New Roman" pitchFamily="18" charset="0"/>
                <a:ea typeface="宋体" pitchFamily="2" charset="-122"/>
              </a:rPr>
              <a:t>=n/m</a:t>
            </a:r>
          </a:p>
        </p:txBody>
      </p:sp>
      <p:sp>
        <p:nvSpPr>
          <p:cNvPr id="3" name="矩形 2">
            <a:extLst>
              <a:ext uri="{FF2B5EF4-FFF2-40B4-BE49-F238E27FC236}">
                <a16:creationId xmlns:a16="http://schemas.microsoft.com/office/drawing/2014/main" id="{AD8B9296-9440-0C0E-0D60-31A0574039CF}"/>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4" name="矩形 3">
            <a:extLst>
              <a:ext uri="{FF2B5EF4-FFF2-40B4-BE49-F238E27FC236}">
                <a16:creationId xmlns:a16="http://schemas.microsoft.com/office/drawing/2014/main" id="{A384BA55-FB99-2AB5-46B0-730E66FEC512}"/>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5" name="直接连接符 4">
            <a:extLst>
              <a:ext uri="{FF2B5EF4-FFF2-40B4-BE49-F238E27FC236}">
                <a16:creationId xmlns:a16="http://schemas.microsoft.com/office/drawing/2014/main" id="{CA287AA9-4338-E571-9E98-ACA1E0B3D5A9}"/>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1407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6309"/>
                                        </p:tgtEl>
                                        <p:attrNameLst>
                                          <p:attrName>style.visibility</p:attrName>
                                        </p:attrNameLst>
                                      </p:cBhvr>
                                      <p:to>
                                        <p:strVal val="visible"/>
                                      </p:to>
                                    </p:set>
                                    <p:animEffect transition="in" filter="slide(fromBottom)">
                                      <p:cBhvr>
                                        <p:cTn id="7" dur="500"/>
                                        <p:tgtEl>
                                          <p:spTgt spid="226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9"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p:cNvSpPr>
          <p:nvPr>
            <p:ph type="body" idx="4294967295"/>
          </p:nvPr>
        </p:nvSpPr>
        <p:spPr>
          <a:xfrm>
            <a:off x="2567608" y="2060848"/>
            <a:ext cx="7620000" cy="2304256"/>
          </a:xfrm>
        </p:spPr>
        <p:txBody>
          <a:bodyPr>
            <a:normAutofit/>
          </a:bodyPr>
          <a:lstStyle/>
          <a:p>
            <a:pPr marL="0" indent="0">
              <a:buNone/>
            </a:pPr>
            <a:r>
              <a:rPr kumimoji="1" lang="zh-CN" altLang="en-US" sz="2400" dirty="0">
                <a:latin typeface="微软雅黑" pitchFamily="34" charset="-122"/>
                <a:ea typeface="微软雅黑" pitchFamily="34" charset="-122"/>
                <a:cs typeface="经典粗黑简" pitchFamily="49" charset="-122"/>
              </a:rPr>
              <a:t>        已知哈希表的空间为</a:t>
            </a:r>
            <a:r>
              <a:rPr kumimoji="1" lang="en-US" altLang="zh-CN" sz="2400" dirty="0">
                <a:latin typeface="微软雅黑" pitchFamily="34" charset="-122"/>
                <a:ea typeface="微软雅黑" pitchFamily="34" charset="-122"/>
                <a:cs typeface="经典粗黑简" pitchFamily="49" charset="-122"/>
              </a:rPr>
              <a:t>0-14</a:t>
            </a:r>
            <a:r>
              <a:rPr kumimoji="1" lang="zh-CN" altLang="en-US" sz="2400" dirty="0">
                <a:latin typeface="微软雅黑" pitchFamily="34" charset="-122"/>
                <a:ea typeface="微软雅黑" pitchFamily="34" charset="-122"/>
                <a:cs typeface="经典粗黑简" pitchFamily="49" charset="-122"/>
              </a:rPr>
              <a:t>，将关键字序列</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19,14,23,01,68,20,84,27,55,11,10,79</a:t>
            </a:r>
            <a:r>
              <a:rPr kumimoji="1" lang="zh-CN" altLang="en-US" dirty="0">
                <a:latin typeface="微软雅黑" pitchFamily="34" charset="-122"/>
                <a:ea typeface="微软雅黑" pitchFamily="34" charset="-122"/>
                <a:cs typeface="经典粗黑简" pitchFamily="49" charset="-122"/>
              </a:rPr>
              <a:t>）</a:t>
            </a:r>
          </a:p>
          <a:p>
            <a:pPr eaLnBrk="1" hangingPunct="1">
              <a:buFont typeface="Wingdings" pitchFamily="2" charset="2"/>
              <a:buNone/>
            </a:pPr>
            <a:r>
              <a:rPr kumimoji="1" lang="zh-CN" altLang="en-US" sz="2400" dirty="0">
                <a:latin typeface="微软雅黑" pitchFamily="34" charset="-122"/>
                <a:ea typeface="微软雅黑" pitchFamily="34" charset="-122"/>
                <a:cs typeface="经典粗黑简" pitchFamily="49" charset="-122"/>
              </a:rPr>
              <a:t>   按哈希函数</a:t>
            </a:r>
            <a:r>
              <a:rPr kumimoji="1" lang="en-US" altLang="zh-CN" sz="2400" dirty="0">
                <a:latin typeface="微软雅黑" pitchFamily="34" charset="-122"/>
                <a:ea typeface="微软雅黑" pitchFamily="34" charset="-122"/>
                <a:cs typeface="经典粗黑简" pitchFamily="49" charset="-122"/>
              </a:rPr>
              <a:t>H(key)=key%13 </a:t>
            </a:r>
            <a:r>
              <a:rPr kumimoji="1" lang="zh-CN" altLang="en-US" sz="2400" dirty="0">
                <a:latin typeface="微软雅黑" pitchFamily="34" charset="-122"/>
                <a:ea typeface="微软雅黑" pitchFamily="34" charset="-122"/>
                <a:cs typeface="经典粗黑简" pitchFamily="49" charset="-122"/>
              </a:rPr>
              <a:t>和线性探测法处理冲突构造所得的哈希表，并求出在等概率情况下的查找成功和查找不成功的平均查找长度。</a:t>
            </a:r>
          </a:p>
          <a:p>
            <a:pPr eaLnBrk="1" hangingPunct="1"/>
            <a:endParaRPr lang="zh-CN" altLang="en-US" dirty="0"/>
          </a:p>
        </p:txBody>
      </p:sp>
      <p:sp>
        <p:nvSpPr>
          <p:cNvPr id="2" name="矩形 1">
            <a:extLst>
              <a:ext uri="{FF2B5EF4-FFF2-40B4-BE49-F238E27FC236}">
                <a16:creationId xmlns:a16="http://schemas.microsoft.com/office/drawing/2014/main" id="{76F33B97-92D7-3653-0B3A-F7D227B61AF3}"/>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3F412B0E-45D8-E53A-5A1E-D434FDD9E3C9}"/>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F3C97763-667C-3E47-5EE8-F1269EF441FF}"/>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3430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p:cNvSpPr>
          <p:nvPr>
            <p:ph type="body" idx="4294967295"/>
          </p:nvPr>
        </p:nvSpPr>
        <p:spPr>
          <a:xfrm>
            <a:off x="2328863" y="663576"/>
            <a:ext cx="7620000" cy="576263"/>
          </a:xfrm>
        </p:spPr>
        <p:txBody>
          <a:bodyPr/>
          <a:lstStyle/>
          <a:p>
            <a:pPr eaLnBrk="1" hangingPunct="1">
              <a:buFont typeface="Wingdings" pitchFamily="2" charset="2"/>
              <a:buNone/>
            </a:pPr>
            <a:r>
              <a:rPr lang="zh-CN" altLang="en-US" sz="2800">
                <a:latin typeface="Comic Sans MS" pitchFamily="66" charset="0"/>
                <a:ea typeface="隶书" pitchFamily="49" charset="-122"/>
              </a:rPr>
              <a:t>（</a:t>
            </a:r>
            <a:r>
              <a:rPr lang="en-US" altLang="zh-CN" sz="2800">
                <a:latin typeface="Comic Sans MS" pitchFamily="66" charset="0"/>
                <a:ea typeface="隶书" pitchFamily="49" charset="-122"/>
              </a:rPr>
              <a:t>19,14,23,01,68,20,84,27,55,11,10,79</a:t>
            </a:r>
            <a:r>
              <a:rPr lang="zh-CN" altLang="en-US" sz="2800">
                <a:latin typeface="Comic Sans MS" pitchFamily="66" charset="0"/>
                <a:ea typeface="隶书" pitchFamily="49" charset="-122"/>
              </a:rPr>
              <a:t>）</a:t>
            </a:r>
          </a:p>
        </p:txBody>
      </p:sp>
      <p:graphicFrame>
        <p:nvGraphicFramePr>
          <p:cNvPr id="178179" name="Group 3"/>
          <p:cNvGraphicFramePr>
            <a:graphicFrameLocks noGrp="1"/>
          </p:cNvGraphicFramePr>
          <p:nvPr>
            <p:extLst>
              <p:ext uri="{D42A27DB-BD31-4B8C-83A1-F6EECF244321}">
                <p14:modId xmlns:p14="http://schemas.microsoft.com/office/powerpoint/2010/main" val="857903601"/>
              </p:ext>
            </p:extLst>
          </p:nvPr>
        </p:nvGraphicFramePr>
        <p:xfrm>
          <a:off x="2185989" y="4191001"/>
          <a:ext cx="7920037" cy="1748473"/>
        </p:xfrm>
        <a:graphic>
          <a:graphicData uri="http://schemas.openxmlformats.org/drawingml/2006/table">
            <a:tbl>
              <a:tblPr/>
              <a:tblGrid>
                <a:gridCol w="863600">
                  <a:extLst>
                    <a:ext uri="{9D8B030D-6E8A-4147-A177-3AD203B41FA5}">
                      <a16:colId xmlns:a16="http://schemas.microsoft.com/office/drawing/2014/main" val="20000"/>
                    </a:ext>
                  </a:extLst>
                </a:gridCol>
                <a:gridCol w="503237">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3238">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3237">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32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03237">
                  <a:extLst>
                    <a:ext uri="{9D8B030D-6E8A-4147-A177-3AD203B41FA5}">
                      <a16:colId xmlns:a16="http://schemas.microsoft.com/office/drawing/2014/main" val="20009"/>
                    </a:ext>
                  </a:extLst>
                </a:gridCol>
                <a:gridCol w="504825">
                  <a:extLst>
                    <a:ext uri="{9D8B030D-6E8A-4147-A177-3AD203B41FA5}">
                      <a16:colId xmlns:a16="http://schemas.microsoft.com/office/drawing/2014/main" val="20010"/>
                    </a:ext>
                  </a:extLst>
                </a:gridCol>
                <a:gridCol w="503238">
                  <a:extLst>
                    <a:ext uri="{9D8B030D-6E8A-4147-A177-3AD203B41FA5}">
                      <a16:colId xmlns:a16="http://schemas.microsoft.com/office/drawing/2014/main" val="20011"/>
                    </a:ext>
                  </a:extLst>
                </a:gridCol>
                <a:gridCol w="504825">
                  <a:extLst>
                    <a:ext uri="{9D8B030D-6E8A-4147-A177-3AD203B41FA5}">
                      <a16:colId xmlns:a16="http://schemas.microsoft.com/office/drawing/2014/main" val="20012"/>
                    </a:ext>
                  </a:extLst>
                </a:gridCol>
                <a:gridCol w="503237">
                  <a:extLst>
                    <a:ext uri="{9D8B030D-6E8A-4147-A177-3AD203B41FA5}">
                      <a16:colId xmlns:a16="http://schemas.microsoft.com/office/drawing/2014/main" val="20013"/>
                    </a:ext>
                  </a:extLst>
                </a:gridCol>
                <a:gridCol w="504825">
                  <a:extLst>
                    <a:ext uri="{9D8B030D-6E8A-4147-A177-3AD203B41FA5}">
                      <a16:colId xmlns:a16="http://schemas.microsoft.com/office/drawing/2014/main" val="20014"/>
                    </a:ext>
                  </a:extLst>
                </a:gridCol>
              </a:tblGrid>
              <a:tr h="463550">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Comic Sans MS" pitchFamily="66" charset="0"/>
                          <a:ea typeface="隶书" pitchFamily="49" charset="-122"/>
                        </a:rPr>
                        <a:t>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5</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6</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7</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8</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9</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隶书" pitchFamily="49" charset="-122"/>
                        </a:rPr>
                        <a:t>14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820738">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1" lang="zh-CN" altLang="en-US" sz="2400" kern="1200" dirty="0">
                          <a:solidFill>
                            <a:schemeClr val="tx1"/>
                          </a:solidFill>
                          <a:latin typeface="微软雅黑" pitchFamily="34" charset="-122"/>
                          <a:ea typeface="微软雅黑" pitchFamily="34" charset="-122"/>
                          <a:cs typeface="经典粗黑简" pitchFamily="49" charset="-122"/>
                        </a:rPr>
                        <a:t>比较次数</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595959"/>
                        </a:solidFill>
                        <a:effectLst/>
                        <a:latin typeface="Comic Sans MS" pitchFamily="66" charset="0"/>
                        <a:ea typeface="隶书" pitchFamily="49" charset="-122"/>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8261" name="Text Box 85"/>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H(19)=19%13=6</a:t>
            </a:r>
          </a:p>
        </p:txBody>
      </p:sp>
      <p:sp>
        <p:nvSpPr>
          <p:cNvPr id="178262" name="Text Box 86"/>
          <p:cNvSpPr txBox="1">
            <a:spLocks noChangeArrowheads="1"/>
          </p:cNvSpPr>
          <p:nvPr/>
        </p:nvSpPr>
        <p:spPr bwMode="auto">
          <a:xfrm>
            <a:off x="5568951"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19</a:t>
            </a:r>
          </a:p>
        </p:txBody>
      </p:sp>
      <p:sp>
        <p:nvSpPr>
          <p:cNvPr id="178263" name="Text Box 87"/>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H(14)=14%13=1</a:t>
            </a:r>
          </a:p>
        </p:txBody>
      </p:sp>
      <p:sp>
        <p:nvSpPr>
          <p:cNvPr id="178264" name="Text Box 88"/>
          <p:cNvSpPr txBox="1">
            <a:spLocks noChangeArrowheads="1"/>
          </p:cNvSpPr>
          <p:nvPr/>
        </p:nvSpPr>
        <p:spPr bwMode="auto">
          <a:xfrm>
            <a:off x="3048001"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14</a:t>
            </a:r>
          </a:p>
        </p:txBody>
      </p:sp>
      <p:sp>
        <p:nvSpPr>
          <p:cNvPr id="178265" name="Text Box 89"/>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H(23)=23%13=10</a:t>
            </a:r>
          </a:p>
        </p:txBody>
      </p:sp>
      <p:sp>
        <p:nvSpPr>
          <p:cNvPr id="178266" name="Text Box 90"/>
          <p:cNvSpPr txBox="1">
            <a:spLocks noChangeArrowheads="1"/>
          </p:cNvSpPr>
          <p:nvPr/>
        </p:nvSpPr>
        <p:spPr bwMode="auto">
          <a:xfrm>
            <a:off x="7615239" y="4665663"/>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23</a:t>
            </a:r>
          </a:p>
        </p:txBody>
      </p:sp>
      <p:sp>
        <p:nvSpPr>
          <p:cNvPr id="178267" name="Text Box 91"/>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H(01)=01%13=1</a:t>
            </a:r>
          </a:p>
        </p:txBody>
      </p:sp>
      <p:sp>
        <p:nvSpPr>
          <p:cNvPr id="178268" name="Text Box 92"/>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=(1+1)%15=2</a:t>
            </a:r>
          </a:p>
        </p:txBody>
      </p:sp>
      <p:sp>
        <p:nvSpPr>
          <p:cNvPr id="178269" name="Text Box 93"/>
          <p:cNvSpPr txBox="1">
            <a:spLocks noChangeArrowheads="1"/>
          </p:cNvSpPr>
          <p:nvPr/>
        </p:nvSpPr>
        <p:spPr bwMode="auto">
          <a:xfrm>
            <a:off x="3554414" y="462280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270" name="Text Box 94"/>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H(68)=68%13=3</a:t>
            </a:r>
          </a:p>
        </p:txBody>
      </p:sp>
      <p:sp>
        <p:nvSpPr>
          <p:cNvPr id="178271" name="Text Box 95"/>
          <p:cNvSpPr txBox="1">
            <a:spLocks noChangeArrowheads="1"/>
          </p:cNvSpPr>
          <p:nvPr/>
        </p:nvSpPr>
        <p:spPr bwMode="auto">
          <a:xfrm>
            <a:off x="4056064"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68</a:t>
            </a:r>
          </a:p>
        </p:txBody>
      </p:sp>
      <p:sp>
        <p:nvSpPr>
          <p:cNvPr id="178272" name="Text Box 96"/>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H(20)=20%13=7</a:t>
            </a:r>
          </a:p>
        </p:txBody>
      </p:sp>
      <p:sp>
        <p:nvSpPr>
          <p:cNvPr id="178273" name="Text Box 97"/>
          <p:cNvSpPr txBox="1">
            <a:spLocks noChangeArrowheads="1"/>
          </p:cNvSpPr>
          <p:nvPr/>
        </p:nvSpPr>
        <p:spPr bwMode="auto">
          <a:xfrm>
            <a:off x="6073776"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20</a:t>
            </a:r>
          </a:p>
        </p:txBody>
      </p:sp>
      <p:sp>
        <p:nvSpPr>
          <p:cNvPr id="178274" name="Text Box 98"/>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H(84)=84%13=6</a:t>
            </a:r>
          </a:p>
        </p:txBody>
      </p:sp>
      <p:sp>
        <p:nvSpPr>
          <p:cNvPr id="178275" name="Text Box 99"/>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=(6+1)%15=7</a:t>
            </a:r>
          </a:p>
        </p:txBody>
      </p:sp>
      <p:sp>
        <p:nvSpPr>
          <p:cNvPr id="178276" name="Text Box 100"/>
          <p:cNvSpPr txBox="1">
            <a:spLocks noChangeArrowheads="1"/>
          </p:cNvSpPr>
          <p:nvPr/>
        </p:nvSpPr>
        <p:spPr bwMode="auto">
          <a:xfrm>
            <a:off x="2473326" y="22320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2</a:t>
            </a:r>
            <a:r>
              <a:rPr kumimoji="1" lang="en-US" altLang="zh-CN" sz="2800" b="1">
                <a:solidFill>
                  <a:srgbClr val="0000FF"/>
                </a:solidFill>
                <a:latin typeface="Comic Sans MS" pitchFamily="66" charset="0"/>
                <a:ea typeface="隶书" pitchFamily="49" charset="-122"/>
              </a:rPr>
              <a:t>=(6+2)%15=8</a:t>
            </a:r>
          </a:p>
        </p:txBody>
      </p:sp>
      <p:sp>
        <p:nvSpPr>
          <p:cNvPr id="178277" name="Text Box 101"/>
          <p:cNvSpPr txBox="1">
            <a:spLocks noChangeArrowheads="1"/>
          </p:cNvSpPr>
          <p:nvPr/>
        </p:nvSpPr>
        <p:spPr bwMode="auto">
          <a:xfrm>
            <a:off x="6577014"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84</a:t>
            </a:r>
          </a:p>
        </p:txBody>
      </p:sp>
      <p:sp>
        <p:nvSpPr>
          <p:cNvPr id="178278" name="Text Box 102"/>
          <p:cNvSpPr txBox="1">
            <a:spLocks noChangeArrowheads="1"/>
          </p:cNvSpPr>
          <p:nvPr/>
        </p:nvSpPr>
        <p:spPr bwMode="auto">
          <a:xfrm>
            <a:off x="2473326" y="12969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H(27)=27%13=1</a:t>
            </a:r>
          </a:p>
        </p:txBody>
      </p:sp>
      <p:sp>
        <p:nvSpPr>
          <p:cNvPr id="178279" name="Text Box 103"/>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=(1+1)%15=2</a:t>
            </a:r>
          </a:p>
        </p:txBody>
      </p:sp>
      <p:sp>
        <p:nvSpPr>
          <p:cNvPr id="178280" name="Text Box 104"/>
          <p:cNvSpPr txBox="1">
            <a:spLocks noChangeArrowheads="1"/>
          </p:cNvSpPr>
          <p:nvPr/>
        </p:nvSpPr>
        <p:spPr bwMode="auto">
          <a:xfrm>
            <a:off x="2473326" y="22320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2</a:t>
            </a:r>
            <a:r>
              <a:rPr kumimoji="1" lang="en-US" altLang="zh-CN" sz="2800" b="1">
                <a:solidFill>
                  <a:srgbClr val="0000FF"/>
                </a:solidFill>
                <a:latin typeface="Comic Sans MS" pitchFamily="66" charset="0"/>
                <a:ea typeface="隶书" pitchFamily="49" charset="-122"/>
              </a:rPr>
              <a:t>=(1+2)%15=3</a:t>
            </a:r>
          </a:p>
        </p:txBody>
      </p:sp>
      <p:sp>
        <p:nvSpPr>
          <p:cNvPr id="178281" name="Text Box 105"/>
          <p:cNvSpPr txBox="1">
            <a:spLocks noChangeArrowheads="1"/>
          </p:cNvSpPr>
          <p:nvPr/>
        </p:nvSpPr>
        <p:spPr bwMode="auto">
          <a:xfrm>
            <a:off x="2473326" y="28082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3</a:t>
            </a:r>
            <a:r>
              <a:rPr kumimoji="1" lang="en-US" altLang="zh-CN" sz="2800" b="1">
                <a:solidFill>
                  <a:srgbClr val="0000FF"/>
                </a:solidFill>
                <a:latin typeface="Comic Sans MS" pitchFamily="66" charset="0"/>
                <a:ea typeface="隶书" pitchFamily="49" charset="-122"/>
              </a:rPr>
              <a:t>=(1+3)%15=4</a:t>
            </a:r>
          </a:p>
        </p:txBody>
      </p:sp>
      <p:sp>
        <p:nvSpPr>
          <p:cNvPr id="178282" name="Text Box 106"/>
          <p:cNvSpPr txBox="1">
            <a:spLocks noChangeArrowheads="1"/>
          </p:cNvSpPr>
          <p:nvPr/>
        </p:nvSpPr>
        <p:spPr bwMode="auto">
          <a:xfrm>
            <a:off x="4562476"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27</a:t>
            </a:r>
          </a:p>
        </p:txBody>
      </p:sp>
      <p:sp>
        <p:nvSpPr>
          <p:cNvPr id="178283" name="Text Box 107"/>
          <p:cNvSpPr txBox="1">
            <a:spLocks noChangeArrowheads="1"/>
          </p:cNvSpPr>
          <p:nvPr/>
        </p:nvSpPr>
        <p:spPr bwMode="auto">
          <a:xfrm>
            <a:off x="2473326" y="12969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H(55)=55%13=3</a:t>
            </a:r>
          </a:p>
        </p:txBody>
      </p:sp>
      <p:sp>
        <p:nvSpPr>
          <p:cNvPr id="178284" name="Text Box 108"/>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=(3+1)%15=4</a:t>
            </a:r>
          </a:p>
        </p:txBody>
      </p:sp>
      <p:sp>
        <p:nvSpPr>
          <p:cNvPr id="178285" name="Text Box 109"/>
          <p:cNvSpPr txBox="1">
            <a:spLocks noChangeArrowheads="1"/>
          </p:cNvSpPr>
          <p:nvPr/>
        </p:nvSpPr>
        <p:spPr bwMode="auto">
          <a:xfrm>
            <a:off x="2473326" y="22320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2</a:t>
            </a:r>
            <a:r>
              <a:rPr kumimoji="1" lang="en-US" altLang="zh-CN" sz="2800" b="1">
                <a:solidFill>
                  <a:srgbClr val="0000FF"/>
                </a:solidFill>
                <a:latin typeface="Comic Sans MS" pitchFamily="66" charset="0"/>
                <a:ea typeface="隶书" pitchFamily="49" charset="-122"/>
              </a:rPr>
              <a:t>=(3+2)%15=5</a:t>
            </a:r>
          </a:p>
        </p:txBody>
      </p:sp>
      <p:sp>
        <p:nvSpPr>
          <p:cNvPr id="178286" name="Text Box 110"/>
          <p:cNvSpPr txBox="1">
            <a:spLocks noChangeArrowheads="1"/>
          </p:cNvSpPr>
          <p:nvPr/>
        </p:nvSpPr>
        <p:spPr bwMode="auto">
          <a:xfrm>
            <a:off x="5065714"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55</a:t>
            </a:r>
          </a:p>
        </p:txBody>
      </p:sp>
      <p:sp>
        <p:nvSpPr>
          <p:cNvPr id="178287" name="Text Box 111"/>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H(11)=11%13=11</a:t>
            </a:r>
          </a:p>
        </p:txBody>
      </p:sp>
      <p:sp>
        <p:nvSpPr>
          <p:cNvPr id="178288" name="Text Box 112"/>
          <p:cNvSpPr txBox="1">
            <a:spLocks noChangeArrowheads="1"/>
          </p:cNvSpPr>
          <p:nvPr/>
        </p:nvSpPr>
        <p:spPr bwMode="auto">
          <a:xfrm>
            <a:off x="8089901"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11</a:t>
            </a:r>
          </a:p>
        </p:txBody>
      </p:sp>
      <p:sp>
        <p:nvSpPr>
          <p:cNvPr id="178289" name="Text Box 113"/>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=(10+1)%15=11</a:t>
            </a:r>
          </a:p>
        </p:txBody>
      </p:sp>
      <p:sp>
        <p:nvSpPr>
          <p:cNvPr id="178290" name="Text Box 114"/>
          <p:cNvSpPr txBox="1">
            <a:spLocks noChangeArrowheads="1"/>
          </p:cNvSpPr>
          <p:nvPr/>
        </p:nvSpPr>
        <p:spPr bwMode="auto">
          <a:xfrm>
            <a:off x="2473326" y="22320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2</a:t>
            </a:r>
            <a:r>
              <a:rPr kumimoji="1" lang="en-US" altLang="zh-CN" sz="2800" b="1">
                <a:solidFill>
                  <a:srgbClr val="0000FF"/>
                </a:solidFill>
                <a:latin typeface="Comic Sans MS" pitchFamily="66" charset="0"/>
                <a:ea typeface="隶书" pitchFamily="49" charset="-122"/>
              </a:rPr>
              <a:t>=(10+2)%15=12</a:t>
            </a:r>
          </a:p>
        </p:txBody>
      </p:sp>
      <p:sp>
        <p:nvSpPr>
          <p:cNvPr id="178291" name="Text Box 115"/>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H(10)=10%13=10</a:t>
            </a:r>
          </a:p>
        </p:txBody>
      </p:sp>
      <p:sp>
        <p:nvSpPr>
          <p:cNvPr id="178292" name="Text Box 116"/>
          <p:cNvSpPr txBox="1">
            <a:spLocks noChangeArrowheads="1"/>
          </p:cNvSpPr>
          <p:nvPr/>
        </p:nvSpPr>
        <p:spPr bwMode="auto">
          <a:xfrm>
            <a:off x="8593139"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10</a:t>
            </a:r>
          </a:p>
        </p:txBody>
      </p:sp>
      <p:sp>
        <p:nvSpPr>
          <p:cNvPr id="178293" name="Text Box 117"/>
          <p:cNvSpPr txBox="1">
            <a:spLocks noChangeArrowheads="1"/>
          </p:cNvSpPr>
          <p:nvPr/>
        </p:nvSpPr>
        <p:spPr bwMode="auto">
          <a:xfrm>
            <a:off x="2473326" y="28082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3</a:t>
            </a:r>
            <a:r>
              <a:rPr kumimoji="1" lang="en-US" altLang="zh-CN" sz="2800" b="1">
                <a:solidFill>
                  <a:srgbClr val="0000FF"/>
                </a:solidFill>
                <a:latin typeface="Comic Sans MS" pitchFamily="66" charset="0"/>
                <a:ea typeface="隶书" pitchFamily="49" charset="-122"/>
              </a:rPr>
              <a:t>=(1+3)%15=4</a:t>
            </a:r>
          </a:p>
        </p:txBody>
      </p:sp>
      <p:sp>
        <p:nvSpPr>
          <p:cNvPr id="178294" name="Text Box 118"/>
          <p:cNvSpPr txBox="1">
            <a:spLocks noChangeArrowheads="1"/>
          </p:cNvSpPr>
          <p:nvPr/>
        </p:nvSpPr>
        <p:spPr bwMode="auto">
          <a:xfrm>
            <a:off x="2473326" y="1728788"/>
            <a:ext cx="432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1</a:t>
            </a:r>
            <a:r>
              <a:rPr kumimoji="1" lang="en-US" altLang="zh-CN" sz="2800" b="1">
                <a:solidFill>
                  <a:srgbClr val="0000FF"/>
                </a:solidFill>
                <a:latin typeface="Comic Sans MS" pitchFamily="66" charset="0"/>
                <a:ea typeface="隶书" pitchFamily="49" charset="-122"/>
              </a:rPr>
              <a:t>=(1+1)%15=2</a:t>
            </a:r>
          </a:p>
        </p:txBody>
      </p:sp>
      <p:sp>
        <p:nvSpPr>
          <p:cNvPr id="178295" name="Text Box 119"/>
          <p:cNvSpPr txBox="1">
            <a:spLocks noChangeArrowheads="1"/>
          </p:cNvSpPr>
          <p:nvPr/>
        </p:nvSpPr>
        <p:spPr bwMode="auto">
          <a:xfrm>
            <a:off x="2473326" y="22320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2</a:t>
            </a:r>
            <a:r>
              <a:rPr kumimoji="1" lang="en-US" altLang="zh-CN" sz="2800" b="1">
                <a:solidFill>
                  <a:srgbClr val="0000FF"/>
                </a:solidFill>
                <a:latin typeface="Comic Sans MS" pitchFamily="66" charset="0"/>
                <a:ea typeface="隶书" pitchFamily="49" charset="-122"/>
              </a:rPr>
              <a:t>=(1+2)%15=3</a:t>
            </a:r>
          </a:p>
        </p:txBody>
      </p:sp>
      <p:sp>
        <p:nvSpPr>
          <p:cNvPr id="178296" name="Text Box 120"/>
          <p:cNvSpPr txBox="1">
            <a:spLocks noChangeArrowheads="1"/>
          </p:cNvSpPr>
          <p:nvPr/>
        </p:nvSpPr>
        <p:spPr bwMode="auto">
          <a:xfrm>
            <a:off x="2473326"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H(79)=79%13=1</a:t>
            </a:r>
          </a:p>
        </p:txBody>
      </p:sp>
      <p:sp>
        <p:nvSpPr>
          <p:cNvPr id="178297" name="Text Box 121"/>
          <p:cNvSpPr txBox="1">
            <a:spLocks noChangeArrowheads="1"/>
          </p:cNvSpPr>
          <p:nvPr/>
        </p:nvSpPr>
        <p:spPr bwMode="auto">
          <a:xfrm>
            <a:off x="2473326" y="3384551"/>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4</a:t>
            </a:r>
            <a:r>
              <a:rPr kumimoji="1" lang="en-US" altLang="zh-CN" sz="2800" b="1">
                <a:solidFill>
                  <a:srgbClr val="0000FF"/>
                </a:solidFill>
                <a:latin typeface="Comic Sans MS" pitchFamily="66" charset="0"/>
                <a:ea typeface="隶书" pitchFamily="49" charset="-122"/>
              </a:rPr>
              <a:t>=(1+4)%15=5</a:t>
            </a:r>
          </a:p>
        </p:txBody>
      </p:sp>
      <p:sp>
        <p:nvSpPr>
          <p:cNvPr id="178298" name="Text Box 122"/>
          <p:cNvSpPr txBox="1">
            <a:spLocks noChangeArrowheads="1"/>
          </p:cNvSpPr>
          <p:nvPr/>
        </p:nvSpPr>
        <p:spPr bwMode="auto">
          <a:xfrm>
            <a:off x="5929314" y="131127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5</a:t>
            </a:r>
            <a:r>
              <a:rPr kumimoji="1" lang="en-US" altLang="zh-CN" sz="2800" b="1">
                <a:solidFill>
                  <a:srgbClr val="0000FF"/>
                </a:solidFill>
                <a:latin typeface="Comic Sans MS" pitchFamily="66" charset="0"/>
                <a:ea typeface="隶书" pitchFamily="49" charset="-122"/>
              </a:rPr>
              <a:t>=(1+5)%15=6</a:t>
            </a:r>
          </a:p>
        </p:txBody>
      </p:sp>
      <p:sp>
        <p:nvSpPr>
          <p:cNvPr id="178299" name="Text Box 123"/>
          <p:cNvSpPr txBox="1">
            <a:spLocks noChangeArrowheads="1"/>
          </p:cNvSpPr>
          <p:nvPr/>
        </p:nvSpPr>
        <p:spPr bwMode="auto">
          <a:xfrm>
            <a:off x="5929314" y="1800226"/>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6</a:t>
            </a:r>
            <a:r>
              <a:rPr kumimoji="1" lang="en-US" altLang="zh-CN" sz="2800" b="1">
                <a:solidFill>
                  <a:srgbClr val="0000FF"/>
                </a:solidFill>
                <a:latin typeface="Comic Sans MS" pitchFamily="66" charset="0"/>
                <a:ea typeface="隶书" pitchFamily="49" charset="-122"/>
              </a:rPr>
              <a:t>=(1+6)%15=7</a:t>
            </a:r>
          </a:p>
        </p:txBody>
      </p:sp>
      <p:sp>
        <p:nvSpPr>
          <p:cNvPr id="178300" name="Text Box 124"/>
          <p:cNvSpPr txBox="1">
            <a:spLocks noChangeArrowheads="1"/>
          </p:cNvSpPr>
          <p:nvPr/>
        </p:nvSpPr>
        <p:spPr bwMode="auto">
          <a:xfrm>
            <a:off x="5929314" y="2305051"/>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7</a:t>
            </a:r>
            <a:r>
              <a:rPr kumimoji="1" lang="en-US" altLang="zh-CN" sz="2800" b="1">
                <a:solidFill>
                  <a:srgbClr val="0000FF"/>
                </a:solidFill>
                <a:latin typeface="Comic Sans MS" pitchFamily="66" charset="0"/>
                <a:ea typeface="隶书" pitchFamily="49" charset="-122"/>
              </a:rPr>
              <a:t>=(1+7)%15=8</a:t>
            </a:r>
          </a:p>
        </p:txBody>
      </p:sp>
      <p:sp>
        <p:nvSpPr>
          <p:cNvPr id="178301" name="Text Box 125"/>
          <p:cNvSpPr txBox="1">
            <a:spLocks noChangeArrowheads="1"/>
          </p:cNvSpPr>
          <p:nvPr/>
        </p:nvSpPr>
        <p:spPr bwMode="auto">
          <a:xfrm>
            <a:off x="5929314" y="2736851"/>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en-US" altLang="zh-CN" sz="2800" b="1">
                <a:solidFill>
                  <a:srgbClr val="0000FF"/>
                </a:solidFill>
                <a:latin typeface="Comic Sans MS" pitchFamily="66" charset="0"/>
                <a:ea typeface="隶书" pitchFamily="49" charset="-122"/>
              </a:rPr>
              <a:t>H</a:t>
            </a:r>
            <a:r>
              <a:rPr kumimoji="1" lang="en-US" altLang="zh-CN" sz="2800" b="1" baseline="-25000">
                <a:solidFill>
                  <a:srgbClr val="0000FF"/>
                </a:solidFill>
                <a:latin typeface="Comic Sans MS" pitchFamily="66" charset="0"/>
                <a:ea typeface="隶书" pitchFamily="49" charset="-122"/>
              </a:rPr>
              <a:t>8</a:t>
            </a:r>
            <a:r>
              <a:rPr kumimoji="1" lang="en-US" altLang="zh-CN" sz="2800" b="1">
                <a:solidFill>
                  <a:srgbClr val="0000FF"/>
                </a:solidFill>
                <a:latin typeface="Comic Sans MS" pitchFamily="66" charset="0"/>
                <a:ea typeface="隶书" pitchFamily="49" charset="-122"/>
              </a:rPr>
              <a:t>=(1+8)%15=9</a:t>
            </a:r>
          </a:p>
        </p:txBody>
      </p:sp>
      <p:sp>
        <p:nvSpPr>
          <p:cNvPr id="178302" name="Text Box 126"/>
          <p:cNvSpPr txBox="1">
            <a:spLocks noChangeArrowheads="1"/>
          </p:cNvSpPr>
          <p:nvPr/>
        </p:nvSpPr>
        <p:spPr bwMode="auto">
          <a:xfrm>
            <a:off x="7081839" y="4670425"/>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79</a:t>
            </a:r>
          </a:p>
        </p:txBody>
      </p:sp>
      <p:sp>
        <p:nvSpPr>
          <p:cNvPr id="178303" name="Text Box 127"/>
          <p:cNvSpPr txBox="1">
            <a:spLocks noChangeArrowheads="1"/>
          </p:cNvSpPr>
          <p:nvPr/>
        </p:nvSpPr>
        <p:spPr bwMode="auto">
          <a:xfrm>
            <a:off x="5568951"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04" name="Text Box 128"/>
          <p:cNvSpPr txBox="1">
            <a:spLocks noChangeArrowheads="1"/>
          </p:cNvSpPr>
          <p:nvPr/>
        </p:nvSpPr>
        <p:spPr bwMode="auto">
          <a:xfrm>
            <a:off x="3049589"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05" name="Text Box 129"/>
          <p:cNvSpPr txBox="1">
            <a:spLocks noChangeArrowheads="1"/>
          </p:cNvSpPr>
          <p:nvPr/>
        </p:nvSpPr>
        <p:spPr bwMode="auto">
          <a:xfrm>
            <a:off x="7585076"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06" name="Text Box 130"/>
          <p:cNvSpPr txBox="1">
            <a:spLocks noChangeArrowheads="1"/>
          </p:cNvSpPr>
          <p:nvPr/>
        </p:nvSpPr>
        <p:spPr bwMode="auto">
          <a:xfrm>
            <a:off x="3554414" y="5264150"/>
            <a:ext cx="5048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2</a:t>
            </a:r>
          </a:p>
        </p:txBody>
      </p:sp>
      <p:sp>
        <p:nvSpPr>
          <p:cNvPr id="178307" name="Text Box 131"/>
          <p:cNvSpPr txBox="1">
            <a:spLocks noChangeArrowheads="1"/>
          </p:cNvSpPr>
          <p:nvPr/>
        </p:nvSpPr>
        <p:spPr bwMode="auto">
          <a:xfrm>
            <a:off x="4129089"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08" name="Text Box 132"/>
          <p:cNvSpPr txBox="1">
            <a:spLocks noChangeArrowheads="1"/>
          </p:cNvSpPr>
          <p:nvPr/>
        </p:nvSpPr>
        <p:spPr bwMode="auto">
          <a:xfrm>
            <a:off x="6073776"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09" name="Text Box 133"/>
          <p:cNvSpPr txBox="1">
            <a:spLocks noChangeArrowheads="1"/>
          </p:cNvSpPr>
          <p:nvPr/>
        </p:nvSpPr>
        <p:spPr bwMode="auto">
          <a:xfrm>
            <a:off x="6556376"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3</a:t>
            </a:r>
          </a:p>
        </p:txBody>
      </p:sp>
      <p:sp>
        <p:nvSpPr>
          <p:cNvPr id="178310" name="Text Box 134"/>
          <p:cNvSpPr txBox="1">
            <a:spLocks noChangeArrowheads="1"/>
          </p:cNvSpPr>
          <p:nvPr/>
        </p:nvSpPr>
        <p:spPr bwMode="auto">
          <a:xfrm>
            <a:off x="4560889"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4</a:t>
            </a:r>
          </a:p>
        </p:txBody>
      </p:sp>
      <p:sp>
        <p:nvSpPr>
          <p:cNvPr id="178311" name="Text Box 135"/>
          <p:cNvSpPr txBox="1">
            <a:spLocks noChangeArrowheads="1"/>
          </p:cNvSpPr>
          <p:nvPr/>
        </p:nvSpPr>
        <p:spPr bwMode="auto">
          <a:xfrm>
            <a:off x="5065714"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3</a:t>
            </a:r>
          </a:p>
        </p:txBody>
      </p:sp>
      <p:sp>
        <p:nvSpPr>
          <p:cNvPr id="178312" name="Text Box 136"/>
          <p:cNvSpPr txBox="1">
            <a:spLocks noChangeArrowheads="1"/>
          </p:cNvSpPr>
          <p:nvPr/>
        </p:nvSpPr>
        <p:spPr bwMode="auto">
          <a:xfrm>
            <a:off x="8089901"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1</a:t>
            </a:r>
          </a:p>
        </p:txBody>
      </p:sp>
      <p:sp>
        <p:nvSpPr>
          <p:cNvPr id="178313" name="Text Box 137"/>
          <p:cNvSpPr txBox="1">
            <a:spLocks noChangeArrowheads="1"/>
          </p:cNvSpPr>
          <p:nvPr/>
        </p:nvSpPr>
        <p:spPr bwMode="auto">
          <a:xfrm>
            <a:off x="8594726"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3</a:t>
            </a:r>
          </a:p>
        </p:txBody>
      </p:sp>
      <p:sp>
        <p:nvSpPr>
          <p:cNvPr id="178314" name="Text Box 138"/>
          <p:cNvSpPr txBox="1">
            <a:spLocks noChangeArrowheads="1"/>
          </p:cNvSpPr>
          <p:nvPr/>
        </p:nvSpPr>
        <p:spPr bwMode="auto">
          <a:xfrm>
            <a:off x="7081839" y="526415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spcBef>
                <a:spcPct val="50000"/>
              </a:spcBef>
            </a:pPr>
            <a:r>
              <a:rPr kumimoji="1" lang="en-US" altLang="zh-CN" sz="2400" b="1">
                <a:solidFill>
                  <a:srgbClr val="FF3300"/>
                </a:solidFill>
                <a:latin typeface="Comic Sans MS" pitchFamily="66" charset="0"/>
                <a:ea typeface="隶书" pitchFamily="49" charset="-122"/>
              </a:rPr>
              <a:t>9</a:t>
            </a:r>
          </a:p>
        </p:txBody>
      </p:sp>
    </p:spTree>
    <p:extLst>
      <p:ext uri="{BB962C8B-B14F-4D97-AF65-F5344CB8AC3E}">
        <p14:creationId xmlns:p14="http://schemas.microsoft.com/office/powerpoint/2010/main" val="8008943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81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82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826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830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8263"/>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78261"/>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826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830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826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78263"/>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826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830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8267"/>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78265"/>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826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8269"/>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8306"/>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78267"/>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78268"/>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178270"/>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8271"/>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78307"/>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78272"/>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178270"/>
                                        </p:tgtEl>
                                        <p:attrNameLst>
                                          <p:attrName>style.visibility</p:attrName>
                                        </p:attrNameLst>
                                      </p:cBhvr>
                                      <p:to>
                                        <p:strVal val="hidden"/>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7827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78308"/>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178274"/>
                                        </p:tgtEl>
                                        <p:attrNameLst>
                                          <p:attrName>style.visibility</p:attrName>
                                        </p:attrNameLst>
                                      </p:cBhvr>
                                      <p:to>
                                        <p:strVal val="visible"/>
                                      </p:to>
                                    </p:set>
                                  </p:childTnLst>
                                </p:cTn>
                              </p:par>
                              <p:par>
                                <p:cTn id="99" presetID="1" presetClass="exit" presetSubtype="0" fill="hold" grpId="1" nodeType="withEffect">
                                  <p:stCondLst>
                                    <p:cond delay="0"/>
                                  </p:stCondLst>
                                  <p:childTnLst>
                                    <p:set>
                                      <p:cBhvr>
                                        <p:cTn id="100" dur="1" fill="hold">
                                          <p:stCondLst>
                                            <p:cond delay="0"/>
                                          </p:stCondLst>
                                        </p:cTn>
                                        <p:tgtEl>
                                          <p:spTgt spid="178272"/>
                                        </p:tgtEl>
                                        <p:attrNameLst>
                                          <p:attrName>style.visibility</p:attrName>
                                        </p:attrNameLst>
                                      </p:cBhvr>
                                      <p:to>
                                        <p:strVal val="hidden"/>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78275"/>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78276"/>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78277"/>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78309"/>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xit" presetSubtype="0" fill="hold" grpId="0" nodeType="clickEffect">
                                  <p:stCondLst>
                                    <p:cond delay="0"/>
                                  </p:stCondLst>
                                  <p:childTnLst>
                                    <p:set>
                                      <p:cBhvr>
                                        <p:cTn id="120" dur="1" fill="hold">
                                          <p:stCondLst>
                                            <p:cond delay="0"/>
                                          </p:stCondLst>
                                        </p:cTn>
                                        <p:tgtEl>
                                          <p:spTgt spid="178274"/>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178278"/>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178275"/>
                                        </p:tgtEl>
                                        <p:attrNameLst>
                                          <p:attrName>style.visibility</p:attrName>
                                        </p:attrNameLst>
                                      </p:cBhvr>
                                      <p:to>
                                        <p:strVal val="hidden"/>
                                      </p:to>
                                    </p:set>
                                  </p:childTnLst>
                                </p:cTn>
                              </p:par>
                              <p:par>
                                <p:cTn id="125" presetID="1" presetClass="exit" presetSubtype="0" fill="hold" grpId="1" nodeType="withEffect">
                                  <p:stCondLst>
                                    <p:cond delay="0"/>
                                  </p:stCondLst>
                                  <p:childTnLst>
                                    <p:set>
                                      <p:cBhvr>
                                        <p:cTn id="126" dur="1" fill="hold">
                                          <p:stCondLst>
                                            <p:cond delay="0"/>
                                          </p:stCondLst>
                                        </p:cTn>
                                        <p:tgtEl>
                                          <p:spTgt spid="178276"/>
                                        </p:tgtEl>
                                        <p:attrNameLst>
                                          <p:attrName>style.visibility</p:attrName>
                                        </p:attrNameLst>
                                      </p:cBhvr>
                                      <p:to>
                                        <p:strVal val="hidden"/>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78279"/>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78280"/>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78281"/>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78282"/>
                                        </p:tgtEl>
                                        <p:attrNameLst>
                                          <p:attrName>style.visibility</p:attrName>
                                        </p:attrNameLst>
                                      </p:cBhvr>
                                      <p:to>
                                        <p:strVal val="visibl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78310"/>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xit" presetSubtype="0" fill="hold" grpId="0" nodeType="clickEffect">
                                  <p:stCondLst>
                                    <p:cond delay="0"/>
                                  </p:stCondLst>
                                  <p:childTnLst>
                                    <p:set>
                                      <p:cBhvr>
                                        <p:cTn id="150" dur="1" fill="hold">
                                          <p:stCondLst>
                                            <p:cond delay="0"/>
                                          </p:stCondLst>
                                        </p:cTn>
                                        <p:tgtEl>
                                          <p:spTgt spid="178278"/>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178279"/>
                                        </p:tgtEl>
                                        <p:attrNameLst>
                                          <p:attrName>style.visibility</p:attrName>
                                        </p:attrNameLst>
                                      </p:cBhvr>
                                      <p:to>
                                        <p:strVal val="hidden"/>
                                      </p:to>
                                    </p:set>
                                  </p:childTnLst>
                                </p:cTn>
                              </p:par>
                              <p:par>
                                <p:cTn id="153" presetID="1" presetClass="exit" presetSubtype="0" fill="hold" grpId="1" nodeType="withEffect">
                                  <p:stCondLst>
                                    <p:cond delay="0"/>
                                  </p:stCondLst>
                                  <p:childTnLst>
                                    <p:set>
                                      <p:cBhvr>
                                        <p:cTn id="154" dur="1" fill="hold">
                                          <p:stCondLst>
                                            <p:cond delay="0"/>
                                          </p:stCondLst>
                                        </p:cTn>
                                        <p:tgtEl>
                                          <p:spTgt spid="178280"/>
                                        </p:tgtEl>
                                        <p:attrNameLst>
                                          <p:attrName>style.visibility</p:attrName>
                                        </p:attrNameLst>
                                      </p:cBhvr>
                                      <p:to>
                                        <p:strVal val="hidden"/>
                                      </p:to>
                                    </p:set>
                                  </p:childTnLst>
                                </p:cTn>
                              </p:par>
                              <p:par>
                                <p:cTn id="155" presetID="1" presetClass="exit" presetSubtype="0" fill="hold" grpId="1" nodeType="withEffect">
                                  <p:stCondLst>
                                    <p:cond delay="0"/>
                                  </p:stCondLst>
                                  <p:childTnLst>
                                    <p:set>
                                      <p:cBhvr>
                                        <p:cTn id="156" dur="1" fill="hold">
                                          <p:stCondLst>
                                            <p:cond delay="0"/>
                                          </p:stCondLst>
                                        </p:cTn>
                                        <p:tgtEl>
                                          <p:spTgt spid="178281"/>
                                        </p:tgtEl>
                                        <p:attrNameLst>
                                          <p:attrName>style.visibility</p:attrName>
                                        </p:attrNameLst>
                                      </p:cBhvr>
                                      <p:to>
                                        <p:strVal val="hidden"/>
                                      </p:to>
                                    </p:set>
                                  </p:childTnLst>
                                </p:cTn>
                              </p:par>
                              <p:par>
                                <p:cTn id="157" presetID="1" presetClass="entr" presetSubtype="0" fill="hold" nodeType="withEffect">
                                  <p:stCondLst>
                                    <p:cond delay="0"/>
                                  </p:stCondLst>
                                  <p:childTnLst>
                                    <p:set>
                                      <p:cBhvr>
                                        <p:cTn id="158" dur="1" fill="hold">
                                          <p:stCondLst>
                                            <p:cond delay="0"/>
                                          </p:stCondLst>
                                        </p:cTn>
                                        <p:tgtEl>
                                          <p:spTgt spid="178283"/>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78284"/>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78285"/>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78286"/>
                                        </p:tgtEl>
                                        <p:attrNameLst>
                                          <p:attrName>style.visibility</p:attrName>
                                        </p:attrNameLst>
                                      </p:cBhvr>
                                      <p:to>
                                        <p:strVal val="visible"/>
                                      </p:to>
                                    </p:se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78311"/>
                                        </p:tgtEl>
                                        <p:attrNameLst>
                                          <p:attrName>style.visibility</p:attrName>
                                        </p:attrNameLst>
                                      </p:cBhvr>
                                      <p:to>
                                        <p:strVal val="visible"/>
                                      </p:to>
                                    </p:se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 presetClass="entr" presetSubtype="0" fill="hold" nodeType="clickEffect">
                                  <p:stCondLst>
                                    <p:cond delay="0"/>
                                  </p:stCondLst>
                                  <p:childTnLst>
                                    <p:set>
                                      <p:cBhvr>
                                        <p:cTn id="178" dur="1" fill="hold">
                                          <p:stCondLst>
                                            <p:cond delay="0"/>
                                          </p:stCondLst>
                                        </p:cTn>
                                        <p:tgtEl>
                                          <p:spTgt spid="178287"/>
                                        </p:tgtEl>
                                        <p:attrNameLst>
                                          <p:attrName>style.visibility</p:attrName>
                                        </p:attrNameLst>
                                      </p:cBhvr>
                                      <p:to>
                                        <p:strVal val="visible"/>
                                      </p:to>
                                    </p:set>
                                  </p:childTnLst>
                                </p:cTn>
                              </p:par>
                              <p:par>
                                <p:cTn id="179" presetID="1" presetClass="exit" presetSubtype="0" fill="hold" grpId="0" nodeType="withEffect">
                                  <p:stCondLst>
                                    <p:cond delay="0"/>
                                  </p:stCondLst>
                                  <p:childTnLst>
                                    <p:set>
                                      <p:cBhvr>
                                        <p:cTn id="180" dur="1" fill="hold">
                                          <p:stCondLst>
                                            <p:cond delay="0"/>
                                          </p:stCondLst>
                                        </p:cTn>
                                        <p:tgtEl>
                                          <p:spTgt spid="178283"/>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2" dur="1" fill="hold">
                                          <p:stCondLst>
                                            <p:cond delay="0"/>
                                          </p:stCondLst>
                                        </p:cTn>
                                        <p:tgtEl>
                                          <p:spTgt spid="178284"/>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178285"/>
                                        </p:tgtEl>
                                        <p:attrNameLst>
                                          <p:attrName>style.visibility</p:attrName>
                                        </p:attrNameLst>
                                      </p:cBhvr>
                                      <p:to>
                                        <p:strVal val="hidden"/>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78288"/>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78312"/>
                                        </p:tgtEl>
                                        <p:attrNameLst>
                                          <p:attrName>style.visibility</p:attrName>
                                        </p:attrNameLst>
                                      </p:cBhvr>
                                      <p:to>
                                        <p:strVal val="visible"/>
                                      </p:to>
                                    </p:se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 presetClass="exit" presetSubtype="0" fill="hold" grpId="0" nodeType="clickEffect">
                                  <p:stCondLst>
                                    <p:cond delay="0"/>
                                  </p:stCondLst>
                                  <p:childTnLst>
                                    <p:set>
                                      <p:cBhvr>
                                        <p:cTn id="196" dur="1" fill="hold">
                                          <p:stCondLst>
                                            <p:cond delay="0"/>
                                          </p:stCondLst>
                                        </p:cTn>
                                        <p:tgtEl>
                                          <p:spTgt spid="178287"/>
                                        </p:tgtEl>
                                        <p:attrNameLst>
                                          <p:attrName>style.visibility</p:attrName>
                                        </p:attrNameLst>
                                      </p:cBhvr>
                                      <p:to>
                                        <p:strVal val="hidden"/>
                                      </p:to>
                                    </p:set>
                                  </p:childTnLst>
                                </p:cTn>
                              </p:par>
                              <p:par>
                                <p:cTn id="197" presetID="1" presetClass="entr" presetSubtype="0" fill="hold" nodeType="withEffect">
                                  <p:stCondLst>
                                    <p:cond delay="0"/>
                                  </p:stCondLst>
                                  <p:childTnLst>
                                    <p:set>
                                      <p:cBhvr>
                                        <p:cTn id="198" dur="1" fill="hold">
                                          <p:stCondLst>
                                            <p:cond delay="0"/>
                                          </p:stCondLst>
                                        </p:cTn>
                                        <p:tgtEl>
                                          <p:spTgt spid="178291"/>
                                        </p:tgtEl>
                                        <p:attrNameLst>
                                          <p:attrName>style.visibility</p:attrName>
                                        </p:attrNameLst>
                                      </p:cBhvr>
                                      <p:to>
                                        <p:strVal val="visible"/>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78289"/>
                                        </p:tgtEl>
                                        <p:attrNameLst>
                                          <p:attrName>style.visibility</p:attrName>
                                        </p:attrNameLst>
                                      </p:cBhvr>
                                      <p:to>
                                        <p:strVal val="visible"/>
                                      </p:to>
                                    </p:se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178290"/>
                                        </p:tgtEl>
                                        <p:attrNameLst>
                                          <p:attrName>style.visibility</p:attrName>
                                        </p:attrNameLst>
                                      </p:cBhvr>
                                      <p:to>
                                        <p:strVal val="visible"/>
                                      </p:to>
                                    </p:se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178292"/>
                                        </p:tgtEl>
                                        <p:attrNameLst>
                                          <p:attrName>style.visibility</p:attrName>
                                        </p:attrNameLst>
                                      </p:cBhvr>
                                      <p:to>
                                        <p:strVal val="visible"/>
                                      </p:to>
                                    </p:se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178313"/>
                                        </p:tgtEl>
                                        <p:attrNameLst>
                                          <p:attrName>style.visibility</p:attrName>
                                        </p:attrNameLst>
                                      </p:cBhvr>
                                      <p:to>
                                        <p:strVal val="visible"/>
                                      </p:to>
                                    </p:se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78296"/>
                                        </p:tgtEl>
                                        <p:attrNameLst>
                                          <p:attrName>style.visibility</p:attrName>
                                        </p:attrNameLst>
                                      </p:cBhvr>
                                      <p:to>
                                        <p:strVal val="visible"/>
                                      </p:to>
                                    </p:set>
                                  </p:childTnLst>
                                </p:cTn>
                              </p:par>
                              <p:par>
                                <p:cTn id="219" presetID="1" presetClass="exit" presetSubtype="0" fill="hold" grpId="0" nodeType="withEffect">
                                  <p:stCondLst>
                                    <p:cond delay="0"/>
                                  </p:stCondLst>
                                  <p:childTnLst>
                                    <p:set>
                                      <p:cBhvr>
                                        <p:cTn id="220" dur="1" fill="hold">
                                          <p:stCondLst>
                                            <p:cond delay="0"/>
                                          </p:stCondLst>
                                        </p:cTn>
                                        <p:tgtEl>
                                          <p:spTgt spid="178291"/>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2" dur="1" fill="hold">
                                          <p:stCondLst>
                                            <p:cond delay="0"/>
                                          </p:stCondLst>
                                        </p:cTn>
                                        <p:tgtEl>
                                          <p:spTgt spid="178289"/>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4" dur="1" fill="hold">
                                          <p:stCondLst>
                                            <p:cond delay="0"/>
                                          </p:stCondLst>
                                        </p:cTn>
                                        <p:tgtEl>
                                          <p:spTgt spid="178290"/>
                                        </p:tgtEl>
                                        <p:attrNameLst>
                                          <p:attrName>style.visibility</p:attrName>
                                        </p:attrNameLst>
                                      </p:cBhvr>
                                      <p:to>
                                        <p:strVal val="hidden"/>
                                      </p:to>
                                    </p:se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1" presetClass="entr" presetSubtype="0" fill="hold" grpId="0" nodeType="clickEffect">
                                  <p:stCondLst>
                                    <p:cond delay="0"/>
                                  </p:stCondLst>
                                  <p:childTnLst>
                                    <p:set>
                                      <p:cBhvr>
                                        <p:cTn id="228" dur="1" fill="hold">
                                          <p:stCondLst>
                                            <p:cond delay="0"/>
                                          </p:stCondLst>
                                        </p:cTn>
                                        <p:tgtEl>
                                          <p:spTgt spid="178294"/>
                                        </p:tgtEl>
                                        <p:attrNameLst>
                                          <p:attrName>style.visibility</p:attrName>
                                        </p:attrNameLst>
                                      </p:cBhvr>
                                      <p:to>
                                        <p:strVal val="visible"/>
                                      </p:to>
                                    </p:se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178295"/>
                                        </p:tgtEl>
                                        <p:attrNameLst>
                                          <p:attrName>style.visibility</p:attrName>
                                        </p:attrNameLst>
                                      </p:cBhvr>
                                      <p:to>
                                        <p:strVal val="visible"/>
                                      </p:to>
                                    </p:se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178293"/>
                                        </p:tgtEl>
                                        <p:attrNameLst>
                                          <p:attrName>style.visibility</p:attrName>
                                        </p:attrNameLst>
                                      </p:cBhvr>
                                      <p:to>
                                        <p:strVal val="visible"/>
                                      </p:to>
                                    </p:se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178297"/>
                                        </p:tgtEl>
                                        <p:attrNameLst>
                                          <p:attrName>style.visibility</p:attrName>
                                        </p:attrNameLst>
                                      </p:cBhvr>
                                      <p:to>
                                        <p:strVal val="visible"/>
                                      </p:to>
                                    </p:se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178298"/>
                                        </p:tgtEl>
                                        <p:attrNameLst>
                                          <p:attrName>style.visibility</p:attrName>
                                        </p:attrNameLst>
                                      </p:cBhvr>
                                      <p:to>
                                        <p:strVal val="visible"/>
                                      </p:to>
                                    </p:se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178299"/>
                                        </p:tgtEl>
                                        <p:attrNameLst>
                                          <p:attrName>style.visibility</p:attrName>
                                        </p:attrNameLst>
                                      </p:cBhvr>
                                      <p:to>
                                        <p:strVal val="visible"/>
                                      </p:to>
                                    </p:se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178300"/>
                                        </p:tgtEl>
                                        <p:attrNameLst>
                                          <p:attrName>style.visibility</p:attrName>
                                        </p:attrNameLst>
                                      </p:cBhvr>
                                      <p:to>
                                        <p:strVal val="visible"/>
                                      </p:to>
                                    </p:se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1" presetClass="entr" presetSubtype="0" fill="hold" grpId="0" nodeType="clickEffect">
                                  <p:stCondLst>
                                    <p:cond delay="0"/>
                                  </p:stCondLst>
                                  <p:childTnLst>
                                    <p:set>
                                      <p:cBhvr>
                                        <p:cTn id="256" dur="1" fill="hold">
                                          <p:stCondLst>
                                            <p:cond delay="0"/>
                                          </p:stCondLst>
                                        </p:cTn>
                                        <p:tgtEl>
                                          <p:spTgt spid="178301"/>
                                        </p:tgtEl>
                                        <p:attrNameLst>
                                          <p:attrName>style.visibility</p:attrName>
                                        </p:attrNameLst>
                                      </p:cBhvr>
                                      <p:to>
                                        <p:strVal val="visible"/>
                                      </p:to>
                                    </p:se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 presetClass="entr" presetSubtype="0" fill="hold" grpId="0" nodeType="clickEffect">
                                  <p:stCondLst>
                                    <p:cond delay="0"/>
                                  </p:stCondLst>
                                  <p:childTnLst>
                                    <p:set>
                                      <p:cBhvr>
                                        <p:cTn id="260" dur="1" fill="hold">
                                          <p:stCondLst>
                                            <p:cond delay="0"/>
                                          </p:stCondLst>
                                        </p:cTn>
                                        <p:tgtEl>
                                          <p:spTgt spid="178302"/>
                                        </p:tgtEl>
                                        <p:attrNameLst>
                                          <p:attrName>style.visibility</p:attrName>
                                        </p:attrNameLst>
                                      </p:cBhvr>
                                      <p:to>
                                        <p:strVal val="visible"/>
                                      </p:to>
                                    </p:se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178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61" grpId="0"/>
      <p:bldP spid="178261" grpId="1"/>
      <p:bldP spid="178262" grpId="0"/>
      <p:bldP spid="178263" grpId="0"/>
      <p:bldP spid="178263" grpId="1"/>
      <p:bldP spid="178264" grpId="0"/>
      <p:bldP spid="178265" grpId="0"/>
      <p:bldP spid="178265" grpId="1"/>
      <p:bldP spid="178266" grpId="0"/>
      <p:bldP spid="178267" grpId="0"/>
      <p:bldP spid="178267" grpId="1"/>
      <p:bldP spid="178268" grpId="0"/>
      <p:bldP spid="178268" grpId="1"/>
      <p:bldP spid="178269" grpId="0"/>
      <p:bldP spid="178270" grpId="0"/>
      <p:bldP spid="178270" grpId="1"/>
      <p:bldP spid="178271" grpId="0"/>
      <p:bldP spid="178272" grpId="0"/>
      <p:bldP spid="178272" grpId="1"/>
      <p:bldP spid="178273" grpId="0"/>
      <p:bldP spid="178274" grpId="0"/>
      <p:bldP spid="178275" grpId="0"/>
      <p:bldP spid="178275" grpId="1"/>
      <p:bldP spid="178276" grpId="0"/>
      <p:bldP spid="178276" grpId="1"/>
      <p:bldP spid="178277" grpId="0"/>
      <p:bldP spid="178278" grpId="0"/>
      <p:bldP spid="178279" grpId="0"/>
      <p:bldP spid="178279" grpId="1"/>
      <p:bldP spid="178280" grpId="0"/>
      <p:bldP spid="178280" grpId="1"/>
      <p:bldP spid="178281" grpId="0"/>
      <p:bldP spid="178281" grpId="1"/>
      <p:bldP spid="178282" grpId="0"/>
      <p:bldP spid="178283" grpId="0"/>
      <p:bldP spid="178284" grpId="0"/>
      <p:bldP spid="178284" grpId="1"/>
      <p:bldP spid="178285" grpId="0"/>
      <p:bldP spid="178285" grpId="1"/>
      <p:bldP spid="178286" grpId="0"/>
      <p:bldP spid="178287" grpId="0"/>
      <p:bldP spid="178288" grpId="0"/>
      <p:bldP spid="178289" grpId="0"/>
      <p:bldP spid="178289" grpId="1"/>
      <p:bldP spid="178290" grpId="0"/>
      <p:bldP spid="178290" grpId="1"/>
      <p:bldP spid="178291" grpId="0"/>
      <p:bldP spid="178292" grpId="0"/>
      <p:bldP spid="178293" grpId="0"/>
      <p:bldP spid="178294" grpId="0"/>
      <p:bldP spid="178295" grpId="0"/>
      <p:bldP spid="178296" grpId="0"/>
      <p:bldP spid="178297" grpId="0"/>
      <p:bldP spid="178298" grpId="0"/>
      <p:bldP spid="178299" grpId="0"/>
      <p:bldP spid="178300" grpId="0"/>
      <p:bldP spid="178301" grpId="0"/>
      <p:bldP spid="178302" grpId="0"/>
      <p:bldP spid="178303" grpId="0"/>
      <p:bldP spid="178304" grpId="0"/>
      <p:bldP spid="178305" grpId="0"/>
      <p:bldP spid="178306" grpId="0"/>
      <p:bldP spid="178307" grpId="0"/>
      <p:bldP spid="178308" grpId="0"/>
      <p:bldP spid="178309" grpId="0"/>
      <p:bldP spid="178310" grpId="0"/>
      <p:bldP spid="178311" grpId="0"/>
      <p:bldP spid="178312" grpId="0"/>
      <p:bldP spid="178313" grpId="0"/>
      <p:bldP spid="178314"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3" name="Object 3"/>
          <p:cNvGraphicFramePr>
            <a:graphicFrameLocks noChangeAspect="1"/>
          </p:cNvGraphicFramePr>
          <p:nvPr>
            <p:extLst>
              <p:ext uri="{D42A27DB-BD31-4B8C-83A1-F6EECF244321}">
                <p14:modId xmlns:p14="http://schemas.microsoft.com/office/powerpoint/2010/main" val="516040068"/>
              </p:ext>
            </p:extLst>
          </p:nvPr>
        </p:nvGraphicFramePr>
        <p:xfrm>
          <a:off x="2833515" y="2393691"/>
          <a:ext cx="5423568" cy="963330"/>
        </p:xfrm>
        <a:graphic>
          <a:graphicData uri="http://schemas.openxmlformats.org/presentationml/2006/ole">
            <mc:AlternateContent xmlns:mc="http://schemas.openxmlformats.org/markup-compatibility/2006">
              <mc:Choice xmlns:v="urn:schemas-microsoft-com:vml" Requires="v">
                <p:oleObj name="公式" r:id="rId2" imgW="2628900" imgH="444500" progId="Equation.3">
                  <p:embed/>
                </p:oleObj>
              </mc:Choice>
              <mc:Fallback>
                <p:oleObj name="公式" r:id="rId2" imgW="2628900" imgH="4445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515" y="2393691"/>
                        <a:ext cx="5423568" cy="963330"/>
                      </a:xfrm>
                      <a:prstGeom prst="rect">
                        <a:avLst/>
                      </a:prstGeom>
                      <a:noFill/>
                    </p:spPr>
                  </p:pic>
                </p:oleObj>
              </mc:Fallback>
            </mc:AlternateContent>
          </a:graphicData>
        </a:graphic>
      </p:graphicFrame>
      <p:sp>
        <p:nvSpPr>
          <p:cNvPr id="12293" name="Text Box 4"/>
          <p:cNvSpPr txBox="1">
            <a:spLocks noChangeArrowheads="1"/>
          </p:cNvSpPr>
          <p:nvPr/>
        </p:nvSpPr>
        <p:spPr bwMode="auto">
          <a:xfrm>
            <a:off x="2711599" y="1988841"/>
            <a:ext cx="40103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查找成功时的平均查找长度</a:t>
            </a:r>
          </a:p>
        </p:txBody>
      </p:sp>
      <p:sp>
        <p:nvSpPr>
          <p:cNvPr id="179206" name="Text Box 6"/>
          <p:cNvSpPr txBox="1">
            <a:spLocks noChangeArrowheads="1"/>
          </p:cNvSpPr>
          <p:nvPr/>
        </p:nvSpPr>
        <p:spPr bwMode="auto">
          <a:xfrm>
            <a:off x="2711599" y="3379615"/>
            <a:ext cx="4298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查找不成功时的平均查找长度</a:t>
            </a:r>
          </a:p>
        </p:txBody>
      </p:sp>
      <p:graphicFrame>
        <p:nvGraphicFramePr>
          <p:cNvPr id="179208" name="Object 8"/>
          <p:cNvGraphicFramePr>
            <a:graphicFrameLocks noChangeAspect="1"/>
          </p:cNvGraphicFramePr>
          <p:nvPr>
            <p:extLst>
              <p:ext uri="{D42A27DB-BD31-4B8C-83A1-F6EECF244321}">
                <p14:modId xmlns:p14="http://schemas.microsoft.com/office/powerpoint/2010/main" val="2441270548"/>
              </p:ext>
            </p:extLst>
          </p:nvPr>
        </p:nvGraphicFramePr>
        <p:xfrm>
          <a:off x="3122044" y="3717032"/>
          <a:ext cx="5998293" cy="2282258"/>
        </p:xfrm>
        <a:graphic>
          <a:graphicData uri="http://schemas.openxmlformats.org/presentationml/2006/ole">
            <mc:AlternateContent xmlns:mc="http://schemas.openxmlformats.org/markup-compatibility/2006">
              <mc:Choice xmlns:v="urn:schemas-microsoft-com:vml" Requires="v">
                <p:oleObj name="公式" r:id="rId4" imgW="2717800" imgH="1130300" progId="Equation.3">
                  <p:embed/>
                </p:oleObj>
              </mc:Choice>
              <mc:Fallback>
                <p:oleObj name="公式" r:id="rId4" imgW="2717800" imgH="1130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2044" y="3717032"/>
                        <a:ext cx="5998293" cy="2282258"/>
                      </a:xfrm>
                      <a:prstGeom prst="rect">
                        <a:avLst/>
                      </a:prstGeom>
                      <a:noFill/>
                    </p:spPr>
                  </p:pic>
                </p:oleObj>
              </mc:Fallback>
            </mc:AlternateContent>
          </a:graphicData>
        </a:graphic>
      </p:graphicFrame>
      <p:sp>
        <p:nvSpPr>
          <p:cNvPr id="2" name="矩形 1">
            <a:extLst>
              <a:ext uri="{FF2B5EF4-FFF2-40B4-BE49-F238E27FC236}">
                <a16:creationId xmlns:a16="http://schemas.microsoft.com/office/drawing/2014/main" id="{134A57BA-0CC6-04FC-5D13-619031FE0A95}"/>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D28283D7-6DED-7CA9-404A-86A9E6B766B1}"/>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ACEBB89A-0A02-6922-EBF5-782F013F9980}"/>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545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92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9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9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p:cNvSpPr>
          <p:nvPr>
            <p:ph type="body" idx="4294967295"/>
          </p:nvPr>
        </p:nvSpPr>
        <p:spPr>
          <a:xfrm>
            <a:off x="2285999" y="2132857"/>
            <a:ext cx="7620000" cy="1800225"/>
          </a:xfrm>
        </p:spPr>
        <p:txBody>
          <a:bodyPr>
            <a:normAutofit/>
          </a:bodyPr>
          <a:lstStyle/>
          <a:p>
            <a:pPr marL="0" indent="0">
              <a:buNone/>
            </a:pPr>
            <a:r>
              <a:rPr kumimoji="1" lang="zh-CN" altLang="en-US" sz="2400" dirty="0">
                <a:latin typeface="微软雅黑" pitchFamily="34" charset="-122"/>
                <a:ea typeface="微软雅黑" pitchFamily="34" charset="-122"/>
                <a:cs typeface="经典粗黑简" pitchFamily="49" charset="-122"/>
              </a:rPr>
              <a:t>练习：已知一组关键字为</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39,23,41,38,44,15,68,12,06,51,25</a:t>
            </a:r>
            <a:r>
              <a:rPr kumimoji="1" lang="zh-CN" altLang="en-US"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则按哈希函数</a:t>
            </a:r>
            <a:r>
              <a:rPr kumimoji="1" lang="en-US" altLang="zh-CN" sz="2400" dirty="0">
                <a:latin typeface="微软雅黑" pitchFamily="34" charset="-122"/>
                <a:ea typeface="微软雅黑" pitchFamily="34" charset="-122"/>
                <a:cs typeface="经典粗黑简" pitchFamily="49" charset="-122"/>
              </a:rPr>
              <a:t>H</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key</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=key %13</a:t>
            </a:r>
            <a:r>
              <a:rPr kumimoji="1" lang="zh-CN" altLang="en-US" sz="2400" dirty="0">
                <a:latin typeface="微软雅黑" pitchFamily="34" charset="-122"/>
                <a:ea typeface="微软雅黑" pitchFamily="34" charset="-122"/>
                <a:cs typeface="经典粗黑简" pitchFamily="49" charset="-122"/>
              </a:rPr>
              <a:t>和线性探测处理冲突构造所得的哈希表</a:t>
            </a:r>
            <a:r>
              <a:rPr kumimoji="1" lang="en-US" altLang="zh-CN" sz="2400" dirty="0">
                <a:latin typeface="微软雅黑" pitchFamily="34" charset="-122"/>
                <a:ea typeface="微软雅黑" pitchFamily="34" charset="-122"/>
                <a:cs typeface="经典粗黑简" pitchFamily="49" charset="-122"/>
              </a:rPr>
              <a:t>HT[0..14]</a:t>
            </a:r>
            <a:r>
              <a:rPr kumimoji="1" lang="zh-CN" altLang="en-US" sz="2400" dirty="0">
                <a:latin typeface="微软雅黑" pitchFamily="34" charset="-122"/>
                <a:ea typeface="微软雅黑" pitchFamily="34" charset="-122"/>
                <a:cs typeface="经典粗黑简" pitchFamily="49" charset="-122"/>
              </a:rPr>
              <a:t>。 </a:t>
            </a:r>
          </a:p>
        </p:txBody>
      </p:sp>
      <p:graphicFrame>
        <p:nvGraphicFramePr>
          <p:cNvPr id="180227" name="Group 3"/>
          <p:cNvGraphicFramePr>
            <a:graphicFrameLocks noGrp="1"/>
          </p:cNvGraphicFramePr>
          <p:nvPr>
            <p:extLst>
              <p:ext uri="{D42A27DB-BD31-4B8C-83A1-F6EECF244321}">
                <p14:modId xmlns:p14="http://schemas.microsoft.com/office/powerpoint/2010/main" val="1238405678"/>
              </p:ext>
            </p:extLst>
          </p:nvPr>
        </p:nvGraphicFramePr>
        <p:xfrm>
          <a:off x="2356494" y="4019922"/>
          <a:ext cx="7561262" cy="1387476"/>
        </p:xfrm>
        <a:graphic>
          <a:graphicData uri="http://schemas.openxmlformats.org/drawingml/2006/table">
            <a:tbl>
              <a:tblPr/>
              <a:tblGrid>
                <a:gridCol w="504825">
                  <a:extLst>
                    <a:ext uri="{9D8B030D-6E8A-4147-A177-3AD203B41FA5}">
                      <a16:colId xmlns:a16="http://schemas.microsoft.com/office/drawing/2014/main" val="20000"/>
                    </a:ext>
                  </a:extLst>
                </a:gridCol>
                <a:gridCol w="503237">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3238">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3237">
                  <a:extLst>
                    <a:ext uri="{9D8B030D-6E8A-4147-A177-3AD203B41FA5}">
                      <a16:colId xmlns:a16="http://schemas.microsoft.com/office/drawing/2014/main" val="20005"/>
                    </a:ext>
                  </a:extLst>
                </a:gridCol>
                <a:gridCol w="504825">
                  <a:extLst>
                    <a:ext uri="{9D8B030D-6E8A-4147-A177-3AD203B41FA5}">
                      <a16:colId xmlns:a16="http://schemas.microsoft.com/office/drawing/2014/main" val="20006"/>
                    </a:ext>
                  </a:extLst>
                </a:gridCol>
                <a:gridCol w="5032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03237">
                  <a:extLst>
                    <a:ext uri="{9D8B030D-6E8A-4147-A177-3AD203B41FA5}">
                      <a16:colId xmlns:a16="http://schemas.microsoft.com/office/drawing/2014/main" val="20009"/>
                    </a:ext>
                  </a:extLst>
                </a:gridCol>
                <a:gridCol w="504825">
                  <a:extLst>
                    <a:ext uri="{9D8B030D-6E8A-4147-A177-3AD203B41FA5}">
                      <a16:colId xmlns:a16="http://schemas.microsoft.com/office/drawing/2014/main" val="20010"/>
                    </a:ext>
                  </a:extLst>
                </a:gridCol>
                <a:gridCol w="503238">
                  <a:extLst>
                    <a:ext uri="{9D8B030D-6E8A-4147-A177-3AD203B41FA5}">
                      <a16:colId xmlns:a16="http://schemas.microsoft.com/office/drawing/2014/main" val="20011"/>
                    </a:ext>
                  </a:extLst>
                </a:gridCol>
                <a:gridCol w="504825">
                  <a:extLst>
                    <a:ext uri="{9D8B030D-6E8A-4147-A177-3AD203B41FA5}">
                      <a16:colId xmlns:a16="http://schemas.microsoft.com/office/drawing/2014/main" val="20012"/>
                    </a:ext>
                  </a:extLst>
                </a:gridCol>
                <a:gridCol w="503237">
                  <a:extLst>
                    <a:ext uri="{9D8B030D-6E8A-4147-A177-3AD203B41FA5}">
                      <a16:colId xmlns:a16="http://schemas.microsoft.com/office/drawing/2014/main" val="20013"/>
                    </a:ext>
                  </a:extLst>
                </a:gridCol>
                <a:gridCol w="504825">
                  <a:extLst>
                    <a:ext uri="{9D8B030D-6E8A-4147-A177-3AD203B41FA5}">
                      <a16:colId xmlns:a16="http://schemas.microsoft.com/office/drawing/2014/main" val="20014"/>
                    </a:ext>
                  </a:extLst>
                </a:gridCol>
              </a:tblGrid>
              <a:tr h="463550">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5</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6</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7</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8</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9</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10</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11</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12</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13</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595959"/>
                          </a:solidFill>
                          <a:effectLst/>
                          <a:latin typeface="Comic Sans MS" pitchFamily="66" charset="0"/>
                          <a:ea typeface="ＭＳ Ｐゴシック" pitchFamily="34" charset="-128"/>
                        </a:rPr>
                        <a:t>14</a:t>
                      </a:r>
                    </a:p>
                  </a:txBody>
                  <a:tcPr horzOverflow="overflow">
                    <a:lnL>
                      <a:noFill/>
                    </a:lnL>
                    <a:lnR>
                      <a:noFill/>
                    </a:lnR>
                    <a:lnT>
                      <a:noFill/>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39</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25</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41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15</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68</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44</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06</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23</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38</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12</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51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461963">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5</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2</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2</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rgbClr val="FF3300"/>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1</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2</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rgbClr val="FF3300"/>
                          </a:solidFill>
                          <a:effectLst/>
                          <a:latin typeface="Comic Sans MS" pitchFamily="66" charset="0"/>
                          <a:ea typeface="ＭＳ Ｐゴシック" pitchFamily="34" charset="-128"/>
                        </a:rPr>
                        <a:t>3</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矩形 1">
            <a:extLst>
              <a:ext uri="{FF2B5EF4-FFF2-40B4-BE49-F238E27FC236}">
                <a16:creationId xmlns:a16="http://schemas.microsoft.com/office/drawing/2014/main" id="{287189D0-B593-9820-DFEA-435F9284337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85D6951F-FF4A-F64C-030F-B1B5F273F3FF}"/>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644CC6F3-3726-E1F2-DC6C-25D486162E4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8093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0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2"/>
          <p:cNvSpPr txBox="1">
            <a:spLocks noChangeArrowheads="1"/>
          </p:cNvSpPr>
          <p:nvPr/>
        </p:nvSpPr>
        <p:spPr bwMode="auto">
          <a:xfrm>
            <a:off x="2676078" y="1916833"/>
            <a:ext cx="39604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查找成功时的平均查找长度</a:t>
            </a:r>
          </a:p>
        </p:txBody>
      </p:sp>
      <p:graphicFrame>
        <p:nvGraphicFramePr>
          <p:cNvPr id="13314" name="Object 4"/>
          <p:cNvGraphicFramePr>
            <a:graphicFrameLocks noChangeAspect="1"/>
          </p:cNvGraphicFramePr>
          <p:nvPr>
            <p:extLst>
              <p:ext uri="{D42A27DB-BD31-4B8C-83A1-F6EECF244321}">
                <p14:modId xmlns:p14="http://schemas.microsoft.com/office/powerpoint/2010/main" val="867228142"/>
              </p:ext>
            </p:extLst>
          </p:nvPr>
        </p:nvGraphicFramePr>
        <p:xfrm>
          <a:off x="2820145" y="3789041"/>
          <a:ext cx="6049045" cy="2306535"/>
        </p:xfrm>
        <a:graphic>
          <a:graphicData uri="http://schemas.openxmlformats.org/presentationml/2006/ole">
            <mc:AlternateContent xmlns:mc="http://schemas.openxmlformats.org/markup-compatibility/2006">
              <mc:Choice xmlns:v="urn:schemas-microsoft-com:vml" Requires="v">
                <p:oleObj name="公式" r:id="rId2" imgW="2514600" imgH="1130300" progId="Equation.3">
                  <p:embed/>
                </p:oleObj>
              </mc:Choice>
              <mc:Fallback>
                <p:oleObj name="公式" r:id="rId2" imgW="2514600" imgH="1130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0145" y="3789041"/>
                        <a:ext cx="6049045" cy="2306535"/>
                      </a:xfrm>
                      <a:prstGeom prst="rect">
                        <a:avLst/>
                      </a:prstGeom>
                      <a:noFill/>
                    </p:spPr>
                  </p:pic>
                </p:oleObj>
              </mc:Fallback>
            </mc:AlternateContent>
          </a:graphicData>
        </a:graphic>
      </p:graphicFrame>
      <p:graphicFrame>
        <p:nvGraphicFramePr>
          <p:cNvPr id="13315" name="Object 6"/>
          <p:cNvGraphicFramePr>
            <a:graphicFrameLocks noChangeAspect="1"/>
          </p:cNvGraphicFramePr>
          <p:nvPr>
            <p:extLst>
              <p:ext uri="{D42A27DB-BD31-4B8C-83A1-F6EECF244321}">
                <p14:modId xmlns:p14="http://schemas.microsoft.com/office/powerpoint/2010/main" val="4198966800"/>
              </p:ext>
            </p:extLst>
          </p:nvPr>
        </p:nvGraphicFramePr>
        <p:xfrm>
          <a:off x="2820145" y="2247769"/>
          <a:ext cx="5039717" cy="924784"/>
        </p:xfrm>
        <a:graphic>
          <a:graphicData uri="http://schemas.openxmlformats.org/presentationml/2006/ole">
            <mc:AlternateContent xmlns:mc="http://schemas.openxmlformats.org/markup-compatibility/2006">
              <mc:Choice xmlns:v="urn:schemas-microsoft-com:vml" Requires="v">
                <p:oleObj name="公式" r:id="rId4" imgW="2438400" imgH="444500" progId="Equation.3">
                  <p:embed/>
                </p:oleObj>
              </mc:Choice>
              <mc:Fallback>
                <p:oleObj name="公式" r:id="rId4" imgW="2438400" imgH="444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145" y="2247769"/>
                        <a:ext cx="5039717" cy="924784"/>
                      </a:xfrm>
                      <a:prstGeom prst="rect">
                        <a:avLst/>
                      </a:prstGeom>
                      <a:noFill/>
                    </p:spPr>
                  </p:pic>
                </p:oleObj>
              </mc:Fallback>
            </mc:AlternateContent>
          </a:graphicData>
        </a:graphic>
      </p:graphicFrame>
      <p:sp>
        <p:nvSpPr>
          <p:cNvPr id="13319" name="Text Box 7"/>
          <p:cNvSpPr txBox="1">
            <a:spLocks noChangeArrowheads="1"/>
          </p:cNvSpPr>
          <p:nvPr/>
        </p:nvSpPr>
        <p:spPr bwMode="auto">
          <a:xfrm>
            <a:off x="2676078" y="3197152"/>
            <a:ext cx="43205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查找不成功时的平均查找长度</a:t>
            </a:r>
          </a:p>
        </p:txBody>
      </p:sp>
      <p:sp>
        <p:nvSpPr>
          <p:cNvPr id="2" name="矩形 1">
            <a:extLst>
              <a:ext uri="{FF2B5EF4-FFF2-40B4-BE49-F238E27FC236}">
                <a16:creationId xmlns:a16="http://schemas.microsoft.com/office/drawing/2014/main" id="{A358FED9-E36A-8668-A706-5CCA6FACD1C5}"/>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F23B72A5-3142-A010-E027-A1B83221BB3F}"/>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25A5E309-7242-2D7E-3A94-840FDF05E8BF}"/>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273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p:cNvSpPr>
          <p:nvPr>
            <p:ph type="body" idx="4294967295"/>
          </p:nvPr>
        </p:nvSpPr>
        <p:spPr>
          <a:xfrm>
            <a:off x="2639616" y="1916833"/>
            <a:ext cx="7620000" cy="2160463"/>
          </a:xfrm>
        </p:spPr>
        <p:txBody>
          <a:bodyPr/>
          <a:lstStyle/>
          <a:p>
            <a:pPr marL="0" indent="0">
              <a:buNone/>
            </a:pPr>
            <a:r>
              <a:rPr kumimoji="1" lang="zh-CN" altLang="en-US" sz="2400" dirty="0">
                <a:latin typeface="微软雅黑" pitchFamily="34" charset="-122"/>
                <a:ea typeface="微软雅黑" pitchFamily="34" charset="-122"/>
                <a:cs typeface="经典粗黑简" pitchFamily="49" charset="-122"/>
              </a:rPr>
              <a:t>已知哈希表的空间为</a:t>
            </a:r>
            <a:r>
              <a:rPr kumimoji="1" lang="en-US" altLang="zh-CN" sz="2400" dirty="0">
                <a:latin typeface="微软雅黑" pitchFamily="34" charset="-122"/>
                <a:ea typeface="微软雅黑" pitchFamily="34" charset="-122"/>
                <a:cs typeface="经典粗黑简" pitchFamily="49" charset="-122"/>
              </a:rPr>
              <a:t>0-14</a:t>
            </a:r>
            <a:r>
              <a:rPr kumimoji="1" lang="zh-CN" altLang="en-US" sz="2400" dirty="0">
                <a:latin typeface="微软雅黑" pitchFamily="34" charset="-122"/>
                <a:ea typeface="微软雅黑" pitchFamily="34" charset="-122"/>
                <a:cs typeface="经典粗黑简" pitchFamily="49" charset="-122"/>
              </a:rPr>
              <a:t>，将关键字序列</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19,14,23,01,68,20,84,27,55,11,10,79</a:t>
            </a:r>
            <a:r>
              <a:rPr kumimoji="1" lang="zh-CN" altLang="en-US" dirty="0">
                <a:latin typeface="微软雅黑" pitchFamily="34" charset="-122"/>
                <a:ea typeface="微软雅黑" pitchFamily="34" charset="-122"/>
                <a:cs typeface="经典粗黑简" pitchFamily="49" charset="-122"/>
              </a:rPr>
              <a:t>）</a:t>
            </a:r>
          </a:p>
          <a:p>
            <a:pPr eaLnBrk="1" hangingPunct="1">
              <a:buFont typeface="Wingdings" pitchFamily="2" charset="2"/>
              <a:buNone/>
            </a:pPr>
            <a:r>
              <a:rPr kumimoji="1" lang="zh-CN" altLang="en-US" sz="2400" dirty="0">
                <a:latin typeface="微软雅黑" pitchFamily="34" charset="-122"/>
                <a:ea typeface="微软雅黑" pitchFamily="34" charset="-122"/>
                <a:cs typeface="经典粗黑简" pitchFamily="49" charset="-122"/>
              </a:rPr>
              <a:t>   按哈希函数</a:t>
            </a:r>
            <a:r>
              <a:rPr kumimoji="1" lang="en-US" altLang="zh-CN" sz="2400" dirty="0">
                <a:latin typeface="微软雅黑" pitchFamily="34" charset="-122"/>
                <a:ea typeface="微软雅黑" pitchFamily="34" charset="-122"/>
                <a:cs typeface="经典粗黑简" pitchFamily="49" charset="-122"/>
              </a:rPr>
              <a:t>H(key)=key%13 </a:t>
            </a:r>
            <a:r>
              <a:rPr kumimoji="1" lang="zh-CN" altLang="en-US" sz="2400" dirty="0">
                <a:latin typeface="微软雅黑" pitchFamily="34" charset="-122"/>
                <a:ea typeface="微软雅黑" pitchFamily="34" charset="-122"/>
                <a:cs typeface="经典粗黑简" pitchFamily="49" charset="-122"/>
              </a:rPr>
              <a:t>和链地址法处理冲突构造所得的哈希表，并求出在等概率情况下的查找成功和查找不成功的平均查找长度。  </a:t>
            </a:r>
          </a:p>
          <a:p>
            <a:pPr eaLnBrk="1" hangingPunct="1">
              <a:buFont typeface="Wingdings" pitchFamily="2" charset="2"/>
              <a:buNone/>
            </a:pPr>
            <a:endParaRPr lang="zh-CN" altLang="en-US" dirty="0">
              <a:latin typeface="Comic Sans MS" pitchFamily="66" charset="0"/>
              <a:ea typeface="隶书" pitchFamily="49" charset="-122"/>
            </a:endParaRPr>
          </a:p>
          <a:p>
            <a:pPr eaLnBrk="1" hangingPunct="1"/>
            <a:endParaRPr lang="zh-CN" altLang="en-US" dirty="0"/>
          </a:p>
        </p:txBody>
      </p:sp>
      <p:sp>
        <p:nvSpPr>
          <p:cNvPr id="2" name="矩形 1">
            <a:extLst>
              <a:ext uri="{FF2B5EF4-FFF2-40B4-BE49-F238E27FC236}">
                <a16:creationId xmlns:a16="http://schemas.microsoft.com/office/drawing/2014/main" id="{04F6268F-DF72-0B37-7564-2EDBE1F3CE3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FB25BD85-A642-D6C5-597F-29A9EB335141}"/>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BA755ADB-C799-3E13-E545-12C82356D1E6}"/>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8196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503" name="Group 183"/>
          <p:cNvGraphicFramePr>
            <a:graphicFrameLocks noGrp="1"/>
          </p:cNvGraphicFramePr>
          <p:nvPr>
            <p:ph sz="quarter" idx="4294967295"/>
          </p:nvPr>
        </p:nvGraphicFramePr>
        <p:xfrm>
          <a:off x="3287714" y="404813"/>
          <a:ext cx="1203325" cy="5545142"/>
        </p:xfrm>
        <a:graphic>
          <a:graphicData uri="http://schemas.openxmlformats.org/drawingml/2006/table">
            <a:tbl>
              <a:tblPr/>
              <a:tblGrid>
                <a:gridCol w="603250">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tblGrid>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8"/>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9"/>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2"/>
                  </a:ext>
                </a:extLst>
              </a:tr>
            </a:tbl>
          </a:graphicData>
        </a:graphic>
      </p:graphicFrame>
      <p:graphicFrame>
        <p:nvGraphicFramePr>
          <p:cNvPr id="184380" name="Group 60"/>
          <p:cNvGraphicFramePr>
            <a:graphicFrameLocks noGrp="1"/>
          </p:cNvGraphicFramePr>
          <p:nvPr>
            <p:ph sz="quarter" idx="4294967295"/>
          </p:nvPr>
        </p:nvGraphicFramePr>
        <p:xfrm>
          <a:off x="4965700" y="2954339"/>
          <a:ext cx="857250" cy="428625"/>
        </p:xfrm>
        <a:graphic>
          <a:graphicData uri="http://schemas.openxmlformats.org/drawingml/2006/table">
            <a:tbl>
              <a:tblPr/>
              <a:tblGrid>
                <a:gridCol w="571500">
                  <a:extLst>
                    <a:ext uri="{9D8B030D-6E8A-4147-A177-3AD203B41FA5}">
                      <a16:colId xmlns:a16="http://schemas.microsoft.com/office/drawing/2014/main" val="20000"/>
                    </a:ext>
                  </a:extLst>
                </a:gridCol>
                <a:gridCol w="285750">
                  <a:extLst>
                    <a:ext uri="{9D8B030D-6E8A-4147-A177-3AD203B41FA5}">
                      <a16:colId xmlns:a16="http://schemas.microsoft.com/office/drawing/2014/main" val="20001"/>
                    </a:ext>
                  </a:extLst>
                </a:gridCol>
              </a:tblGrid>
              <a:tr h="4286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19</a:t>
                      </a: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269" name="Line 68"/>
          <p:cNvSpPr>
            <a:spLocks noChangeShapeType="1"/>
          </p:cNvSpPr>
          <p:nvPr/>
        </p:nvSpPr>
        <p:spPr bwMode="auto">
          <a:xfrm>
            <a:off x="4295775" y="32131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502" name="Group 182"/>
          <p:cNvGraphicFramePr>
            <a:graphicFrameLocks noGrp="1"/>
          </p:cNvGraphicFramePr>
          <p:nvPr/>
        </p:nvGraphicFramePr>
        <p:xfrm>
          <a:off x="4943475" y="812800"/>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14</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278" name="Line 77"/>
          <p:cNvSpPr>
            <a:spLocks noChangeShapeType="1"/>
          </p:cNvSpPr>
          <p:nvPr/>
        </p:nvSpPr>
        <p:spPr bwMode="auto">
          <a:xfrm>
            <a:off x="4295775" y="10287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501" name="Group 181"/>
          <p:cNvGraphicFramePr>
            <a:graphicFrameLocks noGrp="1"/>
          </p:cNvGraphicFramePr>
          <p:nvPr/>
        </p:nvGraphicFramePr>
        <p:xfrm>
          <a:off x="4943475" y="4649788"/>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23</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287" name="Line 86"/>
          <p:cNvSpPr>
            <a:spLocks noChangeShapeType="1"/>
          </p:cNvSpPr>
          <p:nvPr/>
        </p:nvSpPr>
        <p:spPr bwMode="auto">
          <a:xfrm>
            <a:off x="4295775" y="4865688"/>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500" name="Group 180"/>
          <p:cNvGraphicFramePr>
            <a:graphicFrameLocks noGrp="1"/>
          </p:cNvGraphicFramePr>
          <p:nvPr/>
        </p:nvGraphicFramePr>
        <p:xfrm>
          <a:off x="6342064" y="815975"/>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01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296" name="Line 95"/>
          <p:cNvSpPr>
            <a:spLocks noChangeShapeType="1"/>
          </p:cNvSpPr>
          <p:nvPr/>
        </p:nvSpPr>
        <p:spPr bwMode="auto">
          <a:xfrm>
            <a:off x="5694363" y="103187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9" name="Group 179"/>
          <p:cNvGraphicFramePr>
            <a:graphicFrameLocks noGrp="1"/>
          </p:cNvGraphicFramePr>
          <p:nvPr/>
        </p:nvGraphicFramePr>
        <p:xfrm>
          <a:off x="4943475" y="1670050"/>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68</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05" name="Line 104"/>
          <p:cNvSpPr>
            <a:spLocks noChangeShapeType="1"/>
          </p:cNvSpPr>
          <p:nvPr/>
        </p:nvSpPr>
        <p:spPr bwMode="auto">
          <a:xfrm>
            <a:off x="4295775" y="18859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8" name="Group 178"/>
          <p:cNvGraphicFramePr>
            <a:graphicFrameLocks noGrp="1"/>
          </p:cNvGraphicFramePr>
          <p:nvPr/>
        </p:nvGraphicFramePr>
        <p:xfrm>
          <a:off x="4943475" y="3508375"/>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20</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14" name="Line 113"/>
          <p:cNvSpPr>
            <a:spLocks noChangeShapeType="1"/>
          </p:cNvSpPr>
          <p:nvPr/>
        </p:nvSpPr>
        <p:spPr bwMode="auto">
          <a:xfrm>
            <a:off x="4295775" y="372427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7" name="Group 177"/>
          <p:cNvGraphicFramePr>
            <a:graphicFrameLocks noGrp="1"/>
          </p:cNvGraphicFramePr>
          <p:nvPr/>
        </p:nvGraphicFramePr>
        <p:xfrm>
          <a:off x="6311900" y="2997200"/>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84</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23" name="Line 122"/>
          <p:cNvSpPr>
            <a:spLocks noChangeShapeType="1"/>
          </p:cNvSpPr>
          <p:nvPr/>
        </p:nvSpPr>
        <p:spPr bwMode="auto">
          <a:xfrm>
            <a:off x="5664200" y="32131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6" name="Group 176"/>
          <p:cNvGraphicFramePr>
            <a:graphicFrameLocks noGrp="1"/>
          </p:cNvGraphicFramePr>
          <p:nvPr/>
        </p:nvGraphicFramePr>
        <p:xfrm>
          <a:off x="7751764" y="842963"/>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27</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32" name="Line 131"/>
          <p:cNvSpPr>
            <a:spLocks noChangeShapeType="1"/>
          </p:cNvSpPr>
          <p:nvPr/>
        </p:nvSpPr>
        <p:spPr bwMode="auto">
          <a:xfrm>
            <a:off x="7104063" y="105886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5" name="Group 175"/>
          <p:cNvGraphicFramePr>
            <a:graphicFrameLocks noGrp="1"/>
          </p:cNvGraphicFramePr>
          <p:nvPr/>
        </p:nvGraphicFramePr>
        <p:xfrm>
          <a:off x="6383339" y="1655763"/>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55</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41" name="Line 140"/>
          <p:cNvSpPr>
            <a:spLocks noChangeShapeType="1"/>
          </p:cNvSpPr>
          <p:nvPr/>
        </p:nvSpPr>
        <p:spPr bwMode="auto">
          <a:xfrm>
            <a:off x="5735638" y="187166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4" name="Group 174"/>
          <p:cNvGraphicFramePr>
            <a:graphicFrameLocks noGrp="1"/>
          </p:cNvGraphicFramePr>
          <p:nvPr/>
        </p:nvGraphicFramePr>
        <p:xfrm>
          <a:off x="4943475" y="5164138"/>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50" name="Line 149"/>
          <p:cNvSpPr>
            <a:spLocks noChangeShapeType="1"/>
          </p:cNvSpPr>
          <p:nvPr/>
        </p:nvSpPr>
        <p:spPr bwMode="auto">
          <a:xfrm>
            <a:off x="4295775" y="5380038"/>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4493" name="Group 173"/>
          <p:cNvGraphicFramePr>
            <a:graphicFrameLocks noGrp="1"/>
          </p:cNvGraphicFramePr>
          <p:nvPr/>
        </p:nvGraphicFramePr>
        <p:xfrm>
          <a:off x="6311900" y="4659313"/>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Comic Sans MS" pitchFamily="66" charset="0"/>
                          <a:ea typeface="ＭＳ Ｐゴシック" pitchFamily="34" charset="-128"/>
                        </a:rPr>
                        <a:t>10</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7359" name="Line 158"/>
          <p:cNvSpPr>
            <a:spLocks noChangeShapeType="1"/>
          </p:cNvSpPr>
          <p:nvPr/>
        </p:nvSpPr>
        <p:spPr bwMode="auto">
          <a:xfrm>
            <a:off x="5664200" y="487521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7360" name="Text Box 159"/>
          <p:cNvSpPr txBox="1">
            <a:spLocks noChangeArrowheads="1"/>
          </p:cNvSpPr>
          <p:nvPr/>
        </p:nvSpPr>
        <p:spPr bwMode="auto">
          <a:xfrm>
            <a:off x="3994150" y="47625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1" name="Text Box 160"/>
          <p:cNvSpPr txBox="1">
            <a:spLocks noChangeArrowheads="1"/>
          </p:cNvSpPr>
          <p:nvPr/>
        </p:nvSpPr>
        <p:spPr bwMode="auto">
          <a:xfrm>
            <a:off x="8299450" y="871539"/>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2" name="Text Box 161"/>
          <p:cNvSpPr txBox="1">
            <a:spLocks noChangeArrowheads="1"/>
          </p:cNvSpPr>
          <p:nvPr/>
        </p:nvSpPr>
        <p:spPr bwMode="auto">
          <a:xfrm>
            <a:off x="3994150" y="1341439"/>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3" name="Text Box 162"/>
          <p:cNvSpPr txBox="1">
            <a:spLocks noChangeArrowheads="1"/>
          </p:cNvSpPr>
          <p:nvPr/>
        </p:nvSpPr>
        <p:spPr bwMode="auto">
          <a:xfrm>
            <a:off x="6946900" y="173672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4" name="Text Box 163"/>
          <p:cNvSpPr txBox="1">
            <a:spLocks noChangeArrowheads="1"/>
          </p:cNvSpPr>
          <p:nvPr/>
        </p:nvSpPr>
        <p:spPr bwMode="auto">
          <a:xfrm>
            <a:off x="3994150" y="216852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5" name="Text Box 164"/>
          <p:cNvSpPr txBox="1">
            <a:spLocks noChangeArrowheads="1"/>
          </p:cNvSpPr>
          <p:nvPr/>
        </p:nvSpPr>
        <p:spPr bwMode="auto">
          <a:xfrm>
            <a:off x="3994150" y="260032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6" name="Text Box 165"/>
          <p:cNvSpPr txBox="1">
            <a:spLocks noChangeArrowheads="1"/>
          </p:cNvSpPr>
          <p:nvPr/>
        </p:nvSpPr>
        <p:spPr bwMode="auto">
          <a:xfrm>
            <a:off x="6873875" y="310515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7" name="Text Box 166"/>
          <p:cNvSpPr txBox="1">
            <a:spLocks noChangeArrowheads="1"/>
          </p:cNvSpPr>
          <p:nvPr/>
        </p:nvSpPr>
        <p:spPr bwMode="auto">
          <a:xfrm>
            <a:off x="5505450" y="353695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8" name="Text Box 167"/>
          <p:cNvSpPr txBox="1">
            <a:spLocks noChangeArrowheads="1"/>
          </p:cNvSpPr>
          <p:nvPr/>
        </p:nvSpPr>
        <p:spPr bwMode="auto">
          <a:xfrm>
            <a:off x="4065589" y="4329114"/>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69" name="Text Box 168"/>
          <p:cNvSpPr txBox="1">
            <a:spLocks noChangeArrowheads="1"/>
          </p:cNvSpPr>
          <p:nvPr/>
        </p:nvSpPr>
        <p:spPr bwMode="auto">
          <a:xfrm>
            <a:off x="4051300" y="389572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70" name="Text Box 169"/>
          <p:cNvSpPr txBox="1">
            <a:spLocks noChangeArrowheads="1"/>
          </p:cNvSpPr>
          <p:nvPr/>
        </p:nvSpPr>
        <p:spPr bwMode="auto">
          <a:xfrm>
            <a:off x="6873875" y="479742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71" name="Text Box 170"/>
          <p:cNvSpPr txBox="1">
            <a:spLocks noChangeArrowheads="1"/>
          </p:cNvSpPr>
          <p:nvPr/>
        </p:nvSpPr>
        <p:spPr bwMode="auto">
          <a:xfrm>
            <a:off x="5491164" y="5264151"/>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7372" name="Text Box 171"/>
          <p:cNvSpPr txBox="1">
            <a:spLocks noChangeArrowheads="1"/>
          </p:cNvSpPr>
          <p:nvPr/>
        </p:nvSpPr>
        <p:spPr bwMode="auto">
          <a:xfrm>
            <a:off x="4051300" y="5553076"/>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Tree>
    <p:extLst>
      <p:ext uri="{BB962C8B-B14F-4D97-AF65-F5344CB8AC3E}">
        <p14:creationId xmlns:p14="http://schemas.microsoft.com/office/powerpoint/2010/main" val="83908819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347" name="Object 3"/>
          <p:cNvGraphicFramePr>
            <a:graphicFrameLocks noChangeAspect="1"/>
          </p:cNvGraphicFramePr>
          <p:nvPr>
            <p:extLst>
              <p:ext uri="{D42A27DB-BD31-4B8C-83A1-F6EECF244321}">
                <p14:modId xmlns:p14="http://schemas.microsoft.com/office/powerpoint/2010/main" val="1597794985"/>
              </p:ext>
            </p:extLst>
          </p:nvPr>
        </p:nvGraphicFramePr>
        <p:xfrm>
          <a:off x="2820255" y="2610830"/>
          <a:ext cx="5141404" cy="1080116"/>
        </p:xfrm>
        <a:graphic>
          <a:graphicData uri="http://schemas.openxmlformats.org/presentationml/2006/ole">
            <mc:AlternateContent xmlns:mc="http://schemas.openxmlformats.org/markup-compatibility/2006">
              <mc:Choice xmlns:v="urn:schemas-microsoft-com:vml" Requires="v">
                <p:oleObj name="公式" r:id="rId2" imgW="2222280" imgH="444240" progId="Equation.3">
                  <p:embed/>
                </p:oleObj>
              </mc:Choice>
              <mc:Fallback>
                <p:oleObj name="公式" r:id="rId2" imgW="222228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0255" y="2610830"/>
                        <a:ext cx="5141404" cy="1080116"/>
                      </a:xfrm>
                      <a:prstGeom prst="rect">
                        <a:avLst/>
                      </a:prstGeom>
                      <a:noFill/>
                    </p:spPr>
                  </p:pic>
                </p:oleObj>
              </mc:Fallback>
            </mc:AlternateContent>
          </a:graphicData>
        </a:graphic>
      </p:graphicFrame>
      <p:sp>
        <p:nvSpPr>
          <p:cNvPr id="14341" name="Text Box 4"/>
          <p:cNvSpPr txBox="1">
            <a:spLocks noChangeArrowheads="1"/>
          </p:cNvSpPr>
          <p:nvPr/>
        </p:nvSpPr>
        <p:spPr bwMode="auto">
          <a:xfrm>
            <a:off x="2676437" y="1910719"/>
            <a:ext cx="39602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查找成功时的平均查找长度</a:t>
            </a:r>
          </a:p>
        </p:txBody>
      </p:sp>
      <p:sp>
        <p:nvSpPr>
          <p:cNvPr id="14342" name="Rectangle 5"/>
          <p:cNvSpPr>
            <a:spLocks noChangeArrowheads="1"/>
          </p:cNvSpPr>
          <p:nvPr/>
        </p:nvSpPr>
        <p:spPr bwMode="auto">
          <a:xfrm>
            <a:off x="1524001" y="26871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p>
            <a:endParaRPr lang="zh-CN" altLang="en-US"/>
          </a:p>
        </p:txBody>
      </p:sp>
      <p:sp>
        <p:nvSpPr>
          <p:cNvPr id="185350" name="Text Box 6"/>
          <p:cNvSpPr txBox="1">
            <a:spLocks noChangeArrowheads="1"/>
          </p:cNvSpPr>
          <p:nvPr/>
        </p:nvSpPr>
        <p:spPr bwMode="auto">
          <a:xfrm>
            <a:off x="2676437" y="3926844"/>
            <a:ext cx="424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defPPr>
              <a:defRPr lang="zh-CN"/>
            </a:defPPr>
            <a:lvl1pPr>
              <a:spcBef>
                <a:spcPct val="50000"/>
              </a:spcBef>
              <a:defRPr kumimoji="1" sz="2400">
                <a:latin typeface="微软雅黑" pitchFamily="34" charset="-122"/>
                <a:ea typeface="微软雅黑" pitchFamily="34" charset="-122"/>
                <a:cs typeface="经典粗黑简" pitchFamily="49" charset="-122"/>
              </a:defRPr>
            </a:lvl1pPr>
            <a:lvl2pPr marL="742950" indent="-285750" eaLnBrk="0" hangingPunct="0">
              <a:defRPr>
                <a:latin typeface="Arial" charset="0"/>
                <a:ea typeface="ＭＳ Ｐゴシック" pitchFamily="34" charset="-128"/>
              </a:defRPr>
            </a:lvl2pPr>
            <a:lvl3pPr marL="1143000" indent="-228600" eaLnBrk="0" hangingPunct="0">
              <a:defRPr>
                <a:latin typeface="Arial" charset="0"/>
                <a:ea typeface="ＭＳ Ｐゴシック" pitchFamily="34" charset="-128"/>
              </a:defRPr>
            </a:lvl3pPr>
            <a:lvl4pPr marL="1600200" indent="-228600" eaLnBrk="0" hangingPunct="0">
              <a:defRPr>
                <a:latin typeface="Arial" charset="0"/>
                <a:ea typeface="ＭＳ Ｐゴシック" pitchFamily="34" charset="-128"/>
              </a:defRPr>
            </a:lvl4pPr>
            <a:lvl5pPr marL="2057400" indent="-228600" eaLnBrk="0" hangingPunct="0">
              <a:defRPr>
                <a:latin typeface="Arial" charset="0"/>
                <a:ea typeface="ＭＳ Ｐゴシック" pitchFamily="34" charset="-128"/>
              </a:defRPr>
            </a:lvl5pPr>
            <a:lvl6pPr marL="2514600" indent="-228600" defTabSz="457200" eaLnBrk="0" fontAlgn="base" hangingPunct="0">
              <a:spcBef>
                <a:spcPct val="0"/>
              </a:spcBef>
              <a:spcAft>
                <a:spcPct val="0"/>
              </a:spcAft>
              <a:defRPr>
                <a:latin typeface="Arial" charset="0"/>
                <a:ea typeface="ＭＳ Ｐゴシック" pitchFamily="34" charset="-128"/>
              </a:defRPr>
            </a:lvl6pPr>
            <a:lvl7pPr marL="2971800" indent="-228600" defTabSz="457200" eaLnBrk="0" fontAlgn="base" hangingPunct="0">
              <a:spcBef>
                <a:spcPct val="0"/>
              </a:spcBef>
              <a:spcAft>
                <a:spcPct val="0"/>
              </a:spcAft>
              <a:defRPr>
                <a:latin typeface="Arial" charset="0"/>
                <a:ea typeface="ＭＳ Ｐゴシック" pitchFamily="34" charset="-128"/>
              </a:defRPr>
            </a:lvl7pPr>
            <a:lvl8pPr marL="3429000" indent="-228600" defTabSz="457200" eaLnBrk="0" fontAlgn="base" hangingPunct="0">
              <a:spcBef>
                <a:spcPct val="0"/>
              </a:spcBef>
              <a:spcAft>
                <a:spcPct val="0"/>
              </a:spcAft>
              <a:defRPr>
                <a:latin typeface="Arial" charset="0"/>
                <a:ea typeface="ＭＳ Ｐゴシック" pitchFamily="34" charset="-128"/>
              </a:defRPr>
            </a:lvl8pPr>
            <a:lvl9pPr marL="3886200" indent="-228600" defTabSz="457200" eaLnBrk="0" fontAlgn="base" hangingPunct="0">
              <a:spcBef>
                <a:spcPct val="0"/>
              </a:spcBef>
              <a:spcAft>
                <a:spcPct val="0"/>
              </a:spcAft>
              <a:defRPr>
                <a:latin typeface="Arial" charset="0"/>
                <a:ea typeface="ＭＳ Ｐゴシック" pitchFamily="34" charset="-128"/>
              </a:defRPr>
            </a:lvl9pPr>
          </a:lstStyle>
          <a:p>
            <a:r>
              <a:rPr lang="zh-CN" altLang="en-US" dirty="0"/>
              <a:t>查找不成功时的平均查找长度</a:t>
            </a:r>
          </a:p>
        </p:txBody>
      </p:sp>
      <p:graphicFrame>
        <p:nvGraphicFramePr>
          <p:cNvPr id="185352" name="Object 8"/>
          <p:cNvGraphicFramePr>
            <a:graphicFrameLocks noChangeAspect="1"/>
          </p:cNvGraphicFramePr>
          <p:nvPr>
            <p:extLst>
              <p:ext uri="{D42A27DB-BD31-4B8C-83A1-F6EECF244321}">
                <p14:modId xmlns:p14="http://schemas.microsoft.com/office/powerpoint/2010/main" val="2641939008"/>
              </p:ext>
            </p:extLst>
          </p:nvPr>
        </p:nvGraphicFramePr>
        <p:xfrm>
          <a:off x="2748248" y="4699062"/>
          <a:ext cx="5580001" cy="1106202"/>
        </p:xfrm>
        <a:graphic>
          <a:graphicData uri="http://schemas.openxmlformats.org/presentationml/2006/ole">
            <mc:AlternateContent xmlns:mc="http://schemas.openxmlformats.org/markup-compatibility/2006">
              <mc:Choice xmlns:v="urn:schemas-microsoft-com:vml" Requires="v">
                <p:oleObj name="公式" r:id="rId4" imgW="2590560" imgH="444240" progId="Equation.3">
                  <p:embed/>
                </p:oleObj>
              </mc:Choice>
              <mc:Fallback>
                <p:oleObj name="公式" r:id="rId4" imgW="259056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8248" y="4699062"/>
                        <a:ext cx="5580001" cy="1106202"/>
                      </a:xfrm>
                      <a:prstGeom prst="rect">
                        <a:avLst/>
                      </a:prstGeom>
                      <a:noFill/>
                    </p:spPr>
                  </p:pic>
                </p:oleObj>
              </mc:Fallback>
            </mc:AlternateContent>
          </a:graphicData>
        </a:graphic>
      </p:graphicFrame>
      <p:sp>
        <p:nvSpPr>
          <p:cNvPr id="2" name="矩形 1">
            <a:extLst>
              <a:ext uri="{FF2B5EF4-FFF2-40B4-BE49-F238E27FC236}">
                <a16:creationId xmlns:a16="http://schemas.microsoft.com/office/drawing/2014/main" id="{6885D528-C637-9D4C-103C-4E374F360660}"/>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BC5C842F-1480-5616-5291-F2DEEB626078}"/>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451B111B-212B-2EED-1354-C4868B21972D}"/>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2369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53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53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5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p:cNvSpPr>
          <p:nvPr>
            <p:ph type="body" idx="4294967295"/>
          </p:nvPr>
        </p:nvSpPr>
        <p:spPr>
          <a:xfrm>
            <a:off x="2063552" y="2060848"/>
            <a:ext cx="7620000" cy="2159570"/>
          </a:xfrm>
        </p:spPr>
        <p:txBody>
          <a:bodyPr>
            <a:normAutofit/>
          </a:bodyPr>
          <a:lstStyle/>
          <a:p>
            <a:pPr marL="0" indent="0">
              <a:buNone/>
            </a:pPr>
            <a:r>
              <a:rPr kumimoji="1" lang="zh-CN" altLang="en-US" sz="2400" dirty="0">
                <a:latin typeface="微软雅黑" pitchFamily="34" charset="-122"/>
                <a:ea typeface="微软雅黑" pitchFamily="34" charset="-122"/>
                <a:cs typeface="经典粗黑简" pitchFamily="49" charset="-122"/>
              </a:rPr>
              <a:t>       练习：已知一组关键字为</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39,23,41,38,44,15,68,12,06,51,25</a:t>
            </a:r>
            <a:r>
              <a:rPr kumimoji="1" lang="zh-CN" altLang="en-US"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按哈希函数</a:t>
            </a:r>
            <a:r>
              <a:rPr kumimoji="1" lang="en-US" altLang="zh-CN" sz="2400" dirty="0">
                <a:latin typeface="微软雅黑" pitchFamily="34" charset="-122"/>
                <a:ea typeface="微软雅黑" pitchFamily="34" charset="-122"/>
                <a:cs typeface="经典粗黑简" pitchFamily="49" charset="-122"/>
              </a:rPr>
              <a:t>H</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key</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=key %13</a:t>
            </a:r>
            <a:r>
              <a:rPr kumimoji="1" lang="zh-CN" altLang="en-US" sz="2400" dirty="0">
                <a:latin typeface="微软雅黑" pitchFamily="34" charset="-122"/>
                <a:ea typeface="微软雅黑" pitchFamily="34" charset="-122"/>
                <a:cs typeface="经典粗黑简" pitchFamily="49" charset="-122"/>
              </a:rPr>
              <a:t>和链地址法处理冲突构造所得的哈希表</a:t>
            </a:r>
            <a:r>
              <a:rPr kumimoji="1" lang="en-US" altLang="zh-CN" sz="2400" dirty="0">
                <a:latin typeface="微软雅黑" pitchFamily="34" charset="-122"/>
                <a:ea typeface="微软雅黑" pitchFamily="34" charset="-122"/>
                <a:cs typeface="经典粗黑简" pitchFamily="49" charset="-122"/>
              </a:rPr>
              <a:t>HT[0..14]</a:t>
            </a:r>
            <a:r>
              <a:rPr kumimoji="1" lang="zh-CN" altLang="en-US" sz="2400" dirty="0">
                <a:latin typeface="微软雅黑" pitchFamily="34" charset="-122"/>
                <a:ea typeface="微软雅黑" pitchFamily="34" charset="-122"/>
                <a:cs typeface="经典粗黑简" pitchFamily="49" charset="-122"/>
              </a:rPr>
              <a:t>，并求出在等概率情况下的查找成功和查找不成功的平均查找长度。  </a:t>
            </a:r>
          </a:p>
        </p:txBody>
      </p:sp>
      <p:sp>
        <p:nvSpPr>
          <p:cNvPr id="2" name="矩形 1">
            <a:extLst>
              <a:ext uri="{FF2B5EF4-FFF2-40B4-BE49-F238E27FC236}">
                <a16:creationId xmlns:a16="http://schemas.microsoft.com/office/drawing/2014/main" id="{869B267E-20C7-75BD-A886-BB5FD6ADA82E}"/>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F0416E4B-EBF2-1BE3-64B9-29E386E2D69A}"/>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9E6FFE2B-7E68-9A76-1721-ACAD21436831}"/>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3494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577" name="Group 185"/>
          <p:cNvGraphicFramePr>
            <a:graphicFrameLocks noGrp="1"/>
          </p:cNvGraphicFramePr>
          <p:nvPr/>
        </p:nvGraphicFramePr>
        <p:xfrm>
          <a:off x="3143251" y="404813"/>
          <a:ext cx="1203325" cy="5545142"/>
        </p:xfrm>
        <a:graphic>
          <a:graphicData uri="http://schemas.openxmlformats.org/drawingml/2006/table">
            <a:tbl>
              <a:tblPr/>
              <a:tblGrid>
                <a:gridCol w="603250">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tblGrid>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3</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4</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5</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6</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7</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8</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8"/>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9</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9"/>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10</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0"/>
                  </a:ext>
                </a:extLst>
              </a:tr>
              <a:tr h="425450">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11</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r h="427038">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12</a:t>
                      </a:r>
                    </a:p>
                  </a:txBody>
                  <a:tcPr horzOverflow="overflow">
                    <a:lnL>
                      <a:noFill/>
                    </a:lnL>
                    <a:lnR w="28575" cap="flat" cmpd="sng" algn="ctr">
                      <a:solidFill>
                        <a:srgbClr val="0000FF"/>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2"/>
                  </a:ext>
                </a:extLst>
              </a:tr>
            </a:tbl>
          </a:graphicData>
        </a:graphic>
      </p:graphicFrame>
      <p:graphicFrame>
        <p:nvGraphicFramePr>
          <p:cNvPr id="187587" name="Group 195"/>
          <p:cNvGraphicFramePr>
            <a:graphicFrameLocks noGrp="1"/>
          </p:cNvGraphicFramePr>
          <p:nvPr/>
        </p:nvGraphicFramePr>
        <p:xfrm>
          <a:off x="4799014" y="299720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06</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17" name="Line 68"/>
          <p:cNvSpPr>
            <a:spLocks noChangeShapeType="1"/>
          </p:cNvSpPr>
          <p:nvPr/>
        </p:nvSpPr>
        <p:spPr bwMode="auto">
          <a:xfrm>
            <a:off x="4151313" y="32131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86" name="Group 194"/>
          <p:cNvGraphicFramePr>
            <a:graphicFrameLocks noGrp="1"/>
          </p:cNvGraphicFramePr>
          <p:nvPr/>
        </p:nvGraphicFramePr>
        <p:xfrm>
          <a:off x="4799014" y="4649788"/>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23</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26" name="Line 77"/>
          <p:cNvSpPr>
            <a:spLocks noChangeShapeType="1"/>
          </p:cNvSpPr>
          <p:nvPr/>
        </p:nvSpPr>
        <p:spPr bwMode="auto">
          <a:xfrm>
            <a:off x="4151313" y="4865688"/>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85" name="Group 193"/>
          <p:cNvGraphicFramePr>
            <a:graphicFrameLocks noGrp="1"/>
          </p:cNvGraphicFramePr>
          <p:nvPr/>
        </p:nvGraphicFramePr>
        <p:xfrm>
          <a:off x="4799014" y="167005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68</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35" name="Line 86"/>
          <p:cNvSpPr>
            <a:spLocks noChangeShapeType="1"/>
          </p:cNvSpPr>
          <p:nvPr/>
        </p:nvSpPr>
        <p:spPr bwMode="auto">
          <a:xfrm>
            <a:off x="4151313" y="18859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336" name="Text Box 87"/>
          <p:cNvSpPr txBox="1">
            <a:spLocks noChangeArrowheads="1"/>
          </p:cNvSpPr>
          <p:nvPr/>
        </p:nvSpPr>
        <p:spPr bwMode="auto">
          <a:xfrm>
            <a:off x="3849689" y="944564"/>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37" name="Text Box 88"/>
          <p:cNvSpPr txBox="1">
            <a:spLocks noChangeArrowheads="1"/>
          </p:cNvSpPr>
          <p:nvPr/>
        </p:nvSpPr>
        <p:spPr bwMode="auto">
          <a:xfrm>
            <a:off x="5360989" y="1700214"/>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38" name="Text Box 89"/>
          <p:cNvSpPr txBox="1">
            <a:spLocks noChangeArrowheads="1"/>
          </p:cNvSpPr>
          <p:nvPr/>
        </p:nvSpPr>
        <p:spPr bwMode="auto">
          <a:xfrm>
            <a:off x="3849689" y="21685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39" name="Text Box 90"/>
          <p:cNvSpPr txBox="1">
            <a:spLocks noChangeArrowheads="1"/>
          </p:cNvSpPr>
          <p:nvPr/>
        </p:nvSpPr>
        <p:spPr bwMode="auto">
          <a:xfrm>
            <a:off x="5360989" y="3068639"/>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40" name="Text Box 91"/>
          <p:cNvSpPr txBox="1">
            <a:spLocks noChangeArrowheads="1"/>
          </p:cNvSpPr>
          <p:nvPr/>
        </p:nvSpPr>
        <p:spPr bwMode="auto">
          <a:xfrm>
            <a:off x="3921125" y="342900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41" name="Text Box 92"/>
          <p:cNvSpPr txBox="1">
            <a:spLocks noChangeArrowheads="1"/>
          </p:cNvSpPr>
          <p:nvPr/>
        </p:nvSpPr>
        <p:spPr bwMode="auto">
          <a:xfrm>
            <a:off x="3921125" y="4329114"/>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42" name="Text Box 93"/>
          <p:cNvSpPr txBox="1">
            <a:spLocks noChangeArrowheads="1"/>
          </p:cNvSpPr>
          <p:nvPr/>
        </p:nvSpPr>
        <p:spPr bwMode="auto">
          <a:xfrm>
            <a:off x="3906839" y="389572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43" name="Text Box 94"/>
          <p:cNvSpPr txBox="1">
            <a:spLocks noChangeArrowheads="1"/>
          </p:cNvSpPr>
          <p:nvPr/>
        </p:nvSpPr>
        <p:spPr bwMode="auto">
          <a:xfrm>
            <a:off x="5360989" y="4652964"/>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
        <p:nvSpPr>
          <p:cNvPr id="139344" name="Text Box 95"/>
          <p:cNvSpPr txBox="1">
            <a:spLocks noChangeArrowheads="1"/>
          </p:cNvSpPr>
          <p:nvPr/>
        </p:nvSpPr>
        <p:spPr bwMode="auto">
          <a:xfrm>
            <a:off x="3921125" y="5157789"/>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graphicFrame>
        <p:nvGraphicFramePr>
          <p:cNvPr id="187576" name="Group 184"/>
          <p:cNvGraphicFramePr>
            <a:graphicFrameLocks noGrp="1"/>
          </p:cNvGraphicFramePr>
          <p:nvPr/>
        </p:nvGraphicFramePr>
        <p:xfrm>
          <a:off x="4799014" y="333375"/>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39</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53" name="Line 104"/>
          <p:cNvSpPr>
            <a:spLocks noChangeShapeType="1"/>
          </p:cNvSpPr>
          <p:nvPr/>
        </p:nvSpPr>
        <p:spPr bwMode="auto">
          <a:xfrm>
            <a:off x="4151313" y="54927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354" name="Text Box 105"/>
          <p:cNvSpPr txBox="1">
            <a:spLocks noChangeArrowheads="1"/>
          </p:cNvSpPr>
          <p:nvPr/>
        </p:nvSpPr>
        <p:spPr bwMode="auto">
          <a:xfrm>
            <a:off x="5346700" y="36195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graphicFrame>
        <p:nvGraphicFramePr>
          <p:cNvPr id="187584" name="Group 192"/>
          <p:cNvGraphicFramePr>
            <a:graphicFrameLocks noGrp="1"/>
          </p:cNvGraphicFramePr>
          <p:nvPr/>
        </p:nvGraphicFramePr>
        <p:xfrm>
          <a:off x="4799014" y="1203325"/>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15</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63" name="Line 114"/>
          <p:cNvSpPr>
            <a:spLocks noChangeShapeType="1"/>
          </p:cNvSpPr>
          <p:nvPr/>
        </p:nvSpPr>
        <p:spPr bwMode="auto">
          <a:xfrm>
            <a:off x="4151313" y="141922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83" name="Group 191"/>
          <p:cNvGraphicFramePr>
            <a:graphicFrameLocks noGrp="1"/>
          </p:cNvGraphicFramePr>
          <p:nvPr/>
        </p:nvGraphicFramePr>
        <p:xfrm>
          <a:off x="4799014" y="551815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38</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72" name="Line 123"/>
          <p:cNvSpPr>
            <a:spLocks noChangeShapeType="1"/>
          </p:cNvSpPr>
          <p:nvPr/>
        </p:nvSpPr>
        <p:spPr bwMode="auto">
          <a:xfrm>
            <a:off x="4151313" y="57340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82" name="Group 190"/>
          <p:cNvGraphicFramePr>
            <a:graphicFrameLocks noGrp="1"/>
          </p:cNvGraphicFramePr>
          <p:nvPr/>
        </p:nvGraphicFramePr>
        <p:xfrm>
          <a:off x="4799014" y="2500313"/>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44</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81" name="Line 132"/>
          <p:cNvSpPr>
            <a:spLocks noChangeShapeType="1"/>
          </p:cNvSpPr>
          <p:nvPr/>
        </p:nvSpPr>
        <p:spPr bwMode="auto">
          <a:xfrm>
            <a:off x="4151313" y="2716213"/>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382" name="Text Box 133"/>
          <p:cNvSpPr txBox="1">
            <a:spLocks noChangeArrowheads="1"/>
          </p:cNvSpPr>
          <p:nvPr/>
        </p:nvSpPr>
        <p:spPr bwMode="auto">
          <a:xfrm>
            <a:off x="5346700" y="2528889"/>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graphicFrame>
        <p:nvGraphicFramePr>
          <p:cNvPr id="187581" name="Group 189"/>
          <p:cNvGraphicFramePr>
            <a:graphicFrameLocks noGrp="1"/>
          </p:cNvGraphicFramePr>
          <p:nvPr/>
        </p:nvGraphicFramePr>
        <p:xfrm>
          <a:off x="6167439" y="551815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12</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391" name="Line 142"/>
          <p:cNvSpPr>
            <a:spLocks noChangeShapeType="1"/>
          </p:cNvSpPr>
          <p:nvPr/>
        </p:nvSpPr>
        <p:spPr bwMode="auto">
          <a:xfrm>
            <a:off x="5519738" y="57340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80" name="Group 188"/>
          <p:cNvGraphicFramePr>
            <a:graphicFrameLocks noGrp="1"/>
          </p:cNvGraphicFramePr>
          <p:nvPr/>
        </p:nvGraphicFramePr>
        <p:xfrm>
          <a:off x="7535864" y="5518150"/>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51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400" name="Line 151"/>
          <p:cNvSpPr>
            <a:spLocks noChangeShapeType="1"/>
          </p:cNvSpPr>
          <p:nvPr/>
        </p:nvSpPr>
        <p:spPr bwMode="auto">
          <a:xfrm>
            <a:off x="6888163" y="573405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7579" name="Group 187"/>
          <p:cNvGraphicFramePr>
            <a:graphicFrameLocks noGrp="1"/>
          </p:cNvGraphicFramePr>
          <p:nvPr/>
        </p:nvGraphicFramePr>
        <p:xfrm>
          <a:off x="6167439" y="1203325"/>
          <a:ext cx="865187" cy="365602"/>
        </p:xfrm>
        <a:graphic>
          <a:graphicData uri="http://schemas.openxmlformats.org/drawingml/2006/table">
            <a:tbl>
              <a:tblPr/>
              <a:tblGrid>
                <a:gridCol w="576262">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41</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409" name="Line 160"/>
          <p:cNvSpPr>
            <a:spLocks noChangeShapeType="1"/>
          </p:cNvSpPr>
          <p:nvPr/>
        </p:nvSpPr>
        <p:spPr bwMode="auto">
          <a:xfrm>
            <a:off x="5519738" y="1419225"/>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410" name="Text Box 161"/>
          <p:cNvSpPr txBox="1">
            <a:spLocks noChangeArrowheads="1"/>
          </p:cNvSpPr>
          <p:nvPr/>
        </p:nvSpPr>
        <p:spPr bwMode="auto">
          <a:xfrm>
            <a:off x="6715125" y="1231901"/>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graphicFrame>
        <p:nvGraphicFramePr>
          <p:cNvPr id="187578" name="Group 186"/>
          <p:cNvGraphicFramePr>
            <a:graphicFrameLocks noGrp="1"/>
          </p:cNvGraphicFramePr>
          <p:nvPr/>
        </p:nvGraphicFramePr>
        <p:xfrm>
          <a:off x="8902700" y="5524500"/>
          <a:ext cx="865188" cy="365602"/>
        </p:xfrm>
        <a:graphic>
          <a:graphicData uri="http://schemas.openxmlformats.org/drawingml/2006/table">
            <a:tbl>
              <a:tblPr/>
              <a:tblGrid>
                <a:gridCol w="576263">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tblGrid>
              <a:tr h="365125">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Comic Sans MS" pitchFamily="66" charset="0"/>
                          <a:ea typeface="ＭＳ Ｐゴシック" pitchFamily="34" charset="-128"/>
                        </a:rPr>
                        <a:t>25</a:t>
                      </a: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ts val="2000"/>
                        </a:spcBef>
                        <a:spcAft>
                          <a:spcPct val="0"/>
                        </a:spcAft>
                        <a:buClr>
                          <a:schemeClr val="accent1"/>
                        </a:buClr>
                        <a:buSzPct val="75000"/>
                        <a:buFont typeface="Wingdings" pitchFamily="2" charset="2"/>
                        <a:buNone/>
                        <a:tabLst/>
                      </a:pPr>
                      <a:endParaRPr kumimoji="0" lang="zh-CN" altLang="en-US" sz="1800" b="0" i="0" u="none" strike="noStrike" cap="none" normalizeH="0" baseline="0">
                        <a:ln>
                          <a:noFill/>
                        </a:ln>
                        <a:solidFill>
                          <a:schemeClr val="tx1"/>
                        </a:solidFill>
                        <a:effectLst/>
                        <a:latin typeface="Comic Sans MS" pitchFamily="66" charset="0"/>
                        <a:ea typeface="ＭＳ Ｐゴシック" pitchFamily="34" charset="-128"/>
                      </a:endParaRPr>
                    </a:p>
                  </a:txBody>
                  <a:tcPr marT="45641" marB="45641" horzOverflow="overflow">
                    <a:lnL w="28575" cap="flat" cmpd="sng" algn="ctr">
                      <a:solidFill>
                        <a:srgbClr val="0000FF"/>
                      </a:solidFill>
                      <a:prstDash val="solid"/>
                      <a:miter lim="800000"/>
                      <a:headEnd type="none" w="sm" len="sm"/>
                      <a:tailEnd type="none" w="sm" len="sm"/>
                    </a:lnL>
                    <a:lnR w="28575" cap="flat" cmpd="sng" algn="ctr">
                      <a:solidFill>
                        <a:srgbClr val="0000FF"/>
                      </a:solidFill>
                      <a:prstDash val="solid"/>
                      <a:miter lim="800000"/>
                      <a:headEnd type="none" w="sm" len="sm"/>
                      <a:tailEnd type="none" w="sm" len="sm"/>
                    </a:lnR>
                    <a:lnT w="28575" cap="flat" cmpd="sng" algn="ctr">
                      <a:solidFill>
                        <a:srgbClr val="0000FF"/>
                      </a:solidFill>
                      <a:prstDash val="solid"/>
                      <a:miter lim="800000"/>
                      <a:headEnd type="none" w="sm" len="sm"/>
                      <a:tailEnd type="none" w="sm" len="sm"/>
                    </a:lnT>
                    <a:lnB w="28575" cap="flat" cmpd="sng" algn="ctr">
                      <a:solidFill>
                        <a:srgbClr val="0000FF"/>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419" name="Line 170"/>
          <p:cNvSpPr>
            <a:spLocks noChangeShapeType="1"/>
          </p:cNvSpPr>
          <p:nvPr/>
        </p:nvSpPr>
        <p:spPr bwMode="auto">
          <a:xfrm>
            <a:off x="8255000" y="5740400"/>
            <a:ext cx="647700" cy="0"/>
          </a:xfrm>
          <a:prstGeom prst="line">
            <a:avLst/>
          </a:prstGeom>
          <a:noFill/>
          <a:ln w="12700" cap="sq">
            <a:solidFill>
              <a:srgbClr val="0000FF"/>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9420" name="Text Box 171"/>
          <p:cNvSpPr txBox="1">
            <a:spLocks noChangeArrowheads="1"/>
          </p:cNvSpPr>
          <p:nvPr/>
        </p:nvSpPr>
        <p:spPr bwMode="auto">
          <a:xfrm>
            <a:off x="9450389" y="5553076"/>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kumimoji="1" lang="en-US" altLang="zh-CN" sz="2000">
                <a:latin typeface="Comic Sans MS" pitchFamily="66" charset="0"/>
                <a:ea typeface="宋体" pitchFamily="2" charset="-122"/>
              </a:rPr>
              <a:t>^</a:t>
            </a:r>
          </a:p>
        </p:txBody>
      </p:sp>
    </p:spTree>
    <p:extLst>
      <p:ext uri="{BB962C8B-B14F-4D97-AF65-F5344CB8AC3E}">
        <p14:creationId xmlns:p14="http://schemas.microsoft.com/office/powerpoint/2010/main" val="18508092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9" name="Object 3"/>
          <p:cNvGraphicFramePr>
            <a:graphicFrameLocks noChangeAspect="1"/>
          </p:cNvGraphicFramePr>
          <p:nvPr>
            <p:extLst>
              <p:ext uri="{D42A27DB-BD31-4B8C-83A1-F6EECF244321}">
                <p14:modId xmlns:p14="http://schemas.microsoft.com/office/powerpoint/2010/main" val="112989491"/>
              </p:ext>
            </p:extLst>
          </p:nvPr>
        </p:nvGraphicFramePr>
        <p:xfrm>
          <a:off x="2667617" y="2486248"/>
          <a:ext cx="5880753" cy="1143968"/>
        </p:xfrm>
        <a:graphic>
          <a:graphicData uri="http://schemas.openxmlformats.org/presentationml/2006/ole">
            <mc:AlternateContent xmlns:mc="http://schemas.openxmlformats.org/markup-compatibility/2006">
              <mc:Choice xmlns:v="urn:schemas-microsoft-com:vml" Requires="v">
                <p:oleObj name="公式" r:id="rId2" imgW="2400120" imgH="444240" progId="Equation.3">
                  <p:embed/>
                </p:oleObj>
              </mc:Choice>
              <mc:Fallback>
                <p:oleObj name="公式" r:id="rId2" imgW="240012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617" y="2486248"/>
                        <a:ext cx="5880753" cy="1143968"/>
                      </a:xfrm>
                      <a:prstGeom prst="rect">
                        <a:avLst/>
                      </a:prstGeom>
                      <a:noFill/>
                    </p:spPr>
                  </p:pic>
                </p:oleObj>
              </mc:Fallback>
            </mc:AlternateContent>
          </a:graphicData>
        </a:graphic>
      </p:graphicFrame>
      <p:sp>
        <p:nvSpPr>
          <p:cNvPr id="15365" name="Text Box 4"/>
          <p:cNvSpPr txBox="1">
            <a:spLocks noChangeArrowheads="1"/>
          </p:cNvSpPr>
          <p:nvPr/>
        </p:nvSpPr>
        <p:spPr bwMode="auto">
          <a:xfrm>
            <a:off x="2667616" y="1967136"/>
            <a:ext cx="64087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查找成功时的平均查找长度</a:t>
            </a:r>
          </a:p>
        </p:txBody>
      </p:sp>
      <p:sp>
        <p:nvSpPr>
          <p:cNvPr id="188422" name="Text Box 6"/>
          <p:cNvSpPr txBox="1">
            <a:spLocks noChangeArrowheads="1"/>
          </p:cNvSpPr>
          <p:nvPr/>
        </p:nvSpPr>
        <p:spPr bwMode="auto">
          <a:xfrm>
            <a:off x="2667616" y="3983261"/>
            <a:ext cx="64087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Bef>
                <a:spcPct val="50000"/>
              </a:spcBef>
            </a:pPr>
            <a:r>
              <a:rPr kumimoji="1" lang="zh-CN" altLang="en-US" sz="2400" dirty="0">
                <a:latin typeface="微软雅黑" pitchFamily="34" charset="-122"/>
                <a:ea typeface="微软雅黑" pitchFamily="34" charset="-122"/>
                <a:cs typeface="经典粗黑简" pitchFamily="49" charset="-122"/>
              </a:rPr>
              <a:t>查找不成功时的平均查找长度</a:t>
            </a:r>
          </a:p>
        </p:txBody>
      </p:sp>
      <p:graphicFrame>
        <p:nvGraphicFramePr>
          <p:cNvPr id="188424" name="Object 8"/>
          <p:cNvGraphicFramePr>
            <a:graphicFrameLocks noChangeAspect="1"/>
          </p:cNvGraphicFramePr>
          <p:nvPr>
            <p:extLst>
              <p:ext uri="{D42A27DB-BD31-4B8C-83A1-F6EECF244321}">
                <p14:modId xmlns:p14="http://schemas.microsoft.com/office/powerpoint/2010/main" val="1650452493"/>
              </p:ext>
            </p:extLst>
          </p:nvPr>
        </p:nvGraphicFramePr>
        <p:xfrm>
          <a:off x="2667616" y="4710336"/>
          <a:ext cx="6452720" cy="1303159"/>
        </p:xfrm>
        <a:graphic>
          <a:graphicData uri="http://schemas.openxmlformats.org/presentationml/2006/ole">
            <mc:AlternateContent xmlns:mc="http://schemas.openxmlformats.org/markup-compatibility/2006">
              <mc:Choice xmlns:v="urn:schemas-microsoft-com:vml" Requires="v">
                <p:oleObj name="公式" r:id="rId4" imgW="2438280" imgH="444240" progId="Equation.3">
                  <p:embed/>
                </p:oleObj>
              </mc:Choice>
              <mc:Fallback>
                <p:oleObj name="公式" r:id="rId4" imgW="243828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616" y="4710336"/>
                        <a:ext cx="6452720" cy="1303159"/>
                      </a:xfrm>
                      <a:prstGeom prst="rect">
                        <a:avLst/>
                      </a:prstGeom>
                      <a:noFill/>
                    </p:spPr>
                  </p:pic>
                </p:oleObj>
              </mc:Fallback>
            </mc:AlternateContent>
          </a:graphicData>
        </a:graphic>
      </p:graphicFrame>
      <p:sp>
        <p:nvSpPr>
          <p:cNvPr id="2" name="矩形 1">
            <a:extLst>
              <a:ext uri="{FF2B5EF4-FFF2-40B4-BE49-F238E27FC236}">
                <a16:creationId xmlns:a16="http://schemas.microsoft.com/office/drawing/2014/main" id="{D518C13F-69ED-2249-03FE-1299DF203472}"/>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82B8E7D2-C12A-B489-4218-E5FA7EE48AFF}"/>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3A8F59B9-BB95-B0D0-B70F-7218FDFA7D2A}"/>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462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84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84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8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2"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4"/>
          <p:cNvSpPr txBox="1">
            <a:spLocks noChangeArrowheads="1"/>
          </p:cNvSpPr>
          <p:nvPr/>
        </p:nvSpPr>
        <p:spPr bwMode="auto">
          <a:xfrm>
            <a:off x="2566988" y="1976438"/>
            <a:ext cx="532921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just" eaLnBrk="1" hangingPunct="1">
              <a:spcBef>
                <a:spcPct val="50000"/>
              </a:spcBef>
              <a:buClr>
                <a:schemeClr val="folHlink"/>
              </a:buClr>
              <a:buSzPct val="80000"/>
            </a:pPr>
            <a:r>
              <a:rPr kumimoji="1" lang="zh-CN" altLang="en-US" sz="2400" b="1" dirty="0">
                <a:latin typeface="幼圆" pitchFamily="49" charset="-122"/>
                <a:ea typeface="幼圆" pitchFamily="49" charset="-122"/>
              </a:rPr>
              <a:t>散列表查找性能主要取决于三个因素</a:t>
            </a:r>
          </a:p>
          <a:p>
            <a:pPr lvl="1" algn="just" eaLnBrk="1" hangingPunct="1">
              <a:spcBef>
                <a:spcPct val="50000"/>
              </a:spcBef>
              <a:buClr>
                <a:schemeClr val="folHlink"/>
              </a:buClr>
              <a:buSzPct val="80000"/>
              <a:buFont typeface="Wingdings" pitchFamily="2" charset="2"/>
              <a:buChar char="Ø"/>
            </a:pPr>
            <a:r>
              <a:rPr kumimoji="1" lang="zh-CN" altLang="en-US" sz="2400" b="1" dirty="0">
                <a:latin typeface="幼圆" pitchFamily="49" charset="-122"/>
                <a:ea typeface="幼圆" pitchFamily="49" charset="-122"/>
              </a:rPr>
              <a:t>散列函数</a:t>
            </a:r>
          </a:p>
          <a:p>
            <a:pPr lvl="1" algn="just" eaLnBrk="1" hangingPunct="1">
              <a:spcBef>
                <a:spcPct val="50000"/>
              </a:spcBef>
              <a:buClr>
                <a:schemeClr val="folHlink"/>
              </a:buClr>
              <a:buSzPct val="80000"/>
              <a:buFont typeface="Wingdings" pitchFamily="2" charset="2"/>
              <a:buChar char="Ø"/>
            </a:pPr>
            <a:r>
              <a:rPr kumimoji="1" lang="zh-CN" altLang="en-US" sz="2400" b="1" dirty="0">
                <a:latin typeface="幼圆" pitchFamily="49" charset="-122"/>
                <a:ea typeface="幼圆" pitchFamily="49" charset="-122"/>
              </a:rPr>
              <a:t>冲突解决策略</a:t>
            </a:r>
          </a:p>
          <a:p>
            <a:pPr lvl="1" algn="just" eaLnBrk="1" hangingPunct="1">
              <a:spcBef>
                <a:spcPct val="50000"/>
              </a:spcBef>
              <a:buClr>
                <a:schemeClr val="folHlink"/>
              </a:buClr>
              <a:buSzPct val="80000"/>
              <a:buFont typeface="Wingdings" pitchFamily="2" charset="2"/>
              <a:buChar char="Ø"/>
            </a:pPr>
            <a:r>
              <a:rPr kumimoji="1" lang="zh-CN" altLang="en-US" sz="2400" b="1" dirty="0">
                <a:latin typeface="幼圆" pitchFamily="49" charset="-122"/>
                <a:ea typeface="幼圆" pitchFamily="49" charset="-122"/>
              </a:rPr>
              <a:t>装填因子</a:t>
            </a:r>
          </a:p>
        </p:txBody>
      </p:sp>
      <p:sp>
        <p:nvSpPr>
          <p:cNvPr id="2" name="矩形 1">
            <a:extLst>
              <a:ext uri="{FF2B5EF4-FFF2-40B4-BE49-F238E27FC236}">
                <a16:creationId xmlns:a16="http://schemas.microsoft.com/office/drawing/2014/main" id="{19871813-E100-DF80-BBE3-A613951497DB}"/>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1BFA4F2A-1D84-CAC4-163F-D558247B449F}"/>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53B8F2F8-B1B1-8B65-8DD0-695AEA3CC4C3}"/>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7176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9" y="2420889"/>
            <a:ext cx="7271951" cy="27117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cap="flat" cmpd="sng">
                <a:solidFill>
                  <a:schemeClr val="tx1"/>
                </a:solidFill>
                <a:prstDash val="solid"/>
                <a:miter lim="800000"/>
                <a:headEnd type="none" w="med" len="med"/>
                <a:tailEnd type="none" w="med" len="med"/>
              </a14:hiddenLine>
            </a:ext>
          </a:extLst>
        </p:spPr>
      </p:pic>
      <p:sp>
        <p:nvSpPr>
          <p:cNvPr id="11" name="Text Box 51"/>
          <p:cNvSpPr txBox="1">
            <a:spLocks noChangeArrowheads="1"/>
          </p:cNvSpPr>
          <p:nvPr/>
        </p:nvSpPr>
        <p:spPr bwMode="auto">
          <a:xfrm>
            <a:off x="2720976" y="1844825"/>
            <a:ext cx="5895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spcBef>
                <a:spcPct val="50000"/>
              </a:spcBef>
              <a:defRPr/>
            </a:pPr>
            <a:r>
              <a:rPr kumimoji="1" lang="zh-CN" altLang="en-US" sz="2400" b="1" dirty="0">
                <a:latin typeface="幼圆" pitchFamily="49" charset="-122"/>
                <a:ea typeface="幼圆" pitchFamily="49" charset="-122"/>
              </a:rPr>
              <a:t>几种不同处理冲突方法的平均查找长度：</a:t>
            </a:r>
          </a:p>
        </p:txBody>
      </p:sp>
      <p:sp>
        <p:nvSpPr>
          <p:cNvPr id="2" name="矩形 1">
            <a:extLst>
              <a:ext uri="{FF2B5EF4-FFF2-40B4-BE49-F238E27FC236}">
                <a16:creationId xmlns:a16="http://schemas.microsoft.com/office/drawing/2014/main" id="{F78A2A0A-4BE8-8953-07BE-062F4690CD6D}"/>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C4E08668-9DDC-9631-EC68-361F98F9B2A8}"/>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C45491C4-B26E-DE80-79F4-2F58E1DA2FE5}"/>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5966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CD03-3CFA-6C16-59DE-37EDC4FB04A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0216571-F0EA-50D2-D8B8-628B2A405298}"/>
              </a:ext>
            </a:extLst>
          </p:cNvPr>
          <p:cNvSpPr/>
          <p:nvPr/>
        </p:nvSpPr>
        <p:spPr>
          <a:xfrm>
            <a:off x="3575720" y="390720"/>
            <a:ext cx="45738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9.4 </a:t>
            </a:r>
            <a:r>
              <a:rPr lang="zh-CN" altLang="en-US" sz="3000" b="1" dirty="0">
                <a:latin typeface="黑体" pitchFamily="49" charset="-122"/>
                <a:ea typeface="黑体" pitchFamily="49" charset="-122"/>
                <a:cs typeface="经典粗黑简" pitchFamily="49" charset="-122"/>
              </a:rPr>
              <a:t>哈希表的查找</a:t>
            </a:r>
          </a:p>
        </p:txBody>
      </p:sp>
      <p:sp>
        <p:nvSpPr>
          <p:cNvPr id="3" name="矩形 2">
            <a:extLst>
              <a:ext uri="{FF2B5EF4-FFF2-40B4-BE49-F238E27FC236}">
                <a16:creationId xmlns:a16="http://schemas.microsoft.com/office/drawing/2014/main" id="{362C84E8-85F3-AB60-0889-1A2AC53F27C1}"/>
              </a:ext>
            </a:extLst>
          </p:cNvPr>
          <p:cNvSpPr/>
          <p:nvPr/>
        </p:nvSpPr>
        <p:spPr>
          <a:xfrm>
            <a:off x="255372" y="1152249"/>
            <a:ext cx="28162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9.4.4 </a:t>
            </a:r>
            <a:r>
              <a:rPr lang="zh-CN" altLang="en-US" sz="2800" b="1" dirty="0">
                <a:solidFill>
                  <a:schemeClr val="bg1"/>
                </a:solidFill>
                <a:latin typeface="经典粗黑简" pitchFamily="49" charset="-122"/>
                <a:ea typeface="经典粗黑简" pitchFamily="49" charset="-122"/>
                <a:cs typeface="经典粗黑简" pitchFamily="49" charset="-122"/>
              </a:rPr>
              <a:t>查找分析</a:t>
            </a:r>
          </a:p>
        </p:txBody>
      </p:sp>
      <p:cxnSp>
        <p:nvCxnSpPr>
          <p:cNvPr id="4" name="直接连接符 3">
            <a:extLst>
              <a:ext uri="{FF2B5EF4-FFF2-40B4-BE49-F238E27FC236}">
                <a16:creationId xmlns:a16="http://schemas.microsoft.com/office/drawing/2014/main" id="{89862EE0-5526-D26E-12B0-EA5B477411BF}"/>
              </a:ext>
            </a:extLst>
          </p:cNvPr>
          <p:cNvCxnSpPr>
            <a:cxnSpLocks/>
          </p:cNvCxnSpPr>
          <p:nvPr/>
        </p:nvCxnSpPr>
        <p:spPr>
          <a:xfrm>
            <a:off x="-24680"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BD08CCEE-1BF0-2E05-3614-062B49E99D7B}"/>
              </a:ext>
            </a:extLst>
          </p:cNvPr>
          <p:cNvSpPr txBox="1"/>
          <p:nvPr/>
        </p:nvSpPr>
        <p:spPr>
          <a:xfrm>
            <a:off x="3071664" y="2204864"/>
            <a:ext cx="6215106" cy="2015936"/>
          </a:xfrm>
          <a:prstGeom prst="rect">
            <a:avLst/>
          </a:prstGeom>
          <a:noFill/>
        </p:spPr>
        <p:txBody>
          <a:bodyPr wrap="square" rtlCol="0">
            <a:spAutoFit/>
          </a:bodyPr>
          <a:lstStyle/>
          <a:p>
            <a:pPr algn="l">
              <a:lnSpc>
                <a:spcPts val="3000"/>
              </a:lnSpc>
            </a:pPr>
            <a:r>
              <a:rPr lang="zh-CN" altLang="zh-CN" sz="2000">
                <a:latin typeface="Consolas" pitchFamily="49" charset="0"/>
                <a:ea typeface="楷体" pitchFamily="49" charset="-122"/>
                <a:cs typeface="Consolas" pitchFamily="49" charset="0"/>
              </a:rPr>
              <a:t>哈希表在查找成功时的平均查找长度</a:t>
            </a:r>
            <a:r>
              <a:rPr lang="zh-CN" altLang="en-US" sz="2000">
                <a:latin typeface="Consolas" pitchFamily="49" charset="0"/>
                <a:ea typeface="楷体" pitchFamily="49" charset="-122"/>
                <a:cs typeface="Consolas" pitchFamily="49" charset="0"/>
              </a:rPr>
              <a:t>（  ）</a:t>
            </a:r>
            <a:r>
              <a:rPr lang="zh-CN" altLang="zh-CN" sz="2000">
                <a:latin typeface="Consolas" pitchFamily="49" charset="0"/>
                <a:ea typeface="楷体" pitchFamily="49" charset="-122"/>
                <a:cs typeface="Consolas" pitchFamily="49" charset="0"/>
              </a:rPr>
              <a:t>。</a:t>
            </a:r>
          </a:p>
          <a:p>
            <a:pPr algn="l">
              <a:lnSpc>
                <a:spcPts val="3000"/>
              </a:lnSpc>
            </a:pPr>
            <a:r>
              <a:rPr lang="en-US" altLang="zh-CN" sz="2000">
                <a:latin typeface="Consolas" pitchFamily="49" charset="0"/>
                <a:ea typeface="仿宋" pitchFamily="49" charset="-122"/>
                <a:cs typeface="Consolas" pitchFamily="49" charset="0"/>
              </a:rPr>
              <a:t>A.</a:t>
            </a:r>
            <a:r>
              <a:rPr lang="zh-CN" altLang="zh-CN" sz="2000">
                <a:latin typeface="Consolas" pitchFamily="49" charset="0"/>
                <a:ea typeface="仿宋" pitchFamily="49" charset="-122"/>
                <a:cs typeface="Consolas" pitchFamily="49" charset="0"/>
              </a:rPr>
              <a:t>与处理冲突方法有关而与装填因子</a:t>
            </a:r>
            <a:r>
              <a:rPr lang="en-US" altLang="zh-CN" sz="2000">
                <a:latin typeface="Consolas" pitchFamily="49" charset="0"/>
                <a:ea typeface="仿宋" pitchFamily="49" charset="-122"/>
                <a:cs typeface="Consolas" pitchFamily="49" charset="0"/>
              </a:rPr>
              <a:t>α</a:t>
            </a:r>
            <a:r>
              <a:rPr lang="zh-CN" altLang="zh-CN" sz="2000">
                <a:latin typeface="Consolas" pitchFamily="49" charset="0"/>
                <a:ea typeface="仿宋" pitchFamily="49" charset="-122"/>
                <a:cs typeface="Consolas" pitchFamily="49" charset="0"/>
              </a:rPr>
              <a:t>无关</a:t>
            </a:r>
          </a:p>
          <a:p>
            <a:pPr algn="l">
              <a:lnSpc>
                <a:spcPts val="3000"/>
              </a:lnSpc>
            </a:pPr>
            <a:r>
              <a:rPr lang="en-US" altLang="zh-CN" sz="2000">
                <a:latin typeface="Consolas" pitchFamily="49" charset="0"/>
                <a:ea typeface="仿宋" pitchFamily="49" charset="-122"/>
                <a:cs typeface="Consolas" pitchFamily="49" charset="0"/>
              </a:rPr>
              <a:t>B.</a:t>
            </a:r>
            <a:r>
              <a:rPr lang="zh-CN" altLang="zh-CN" sz="2000">
                <a:latin typeface="Consolas" pitchFamily="49" charset="0"/>
                <a:ea typeface="仿宋" pitchFamily="49" charset="-122"/>
                <a:cs typeface="Consolas" pitchFamily="49" charset="0"/>
              </a:rPr>
              <a:t>与处理冲突方法无关而与装填因子</a:t>
            </a:r>
            <a:r>
              <a:rPr lang="en-US" altLang="zh-CN" sz="2000">
                <a:latin typeface="Consolas" pitchFamily="49" charset="0"/>
                <a:ea typeface="仿宋" pitchFamily="49" charset="-122"/>
                <a:cs typeface="Consolas" pitchFamily="49" charset="0"/>
              </a:rPr>
              <a:t>α</a:t>
            </a:r>
            <a:r>
              <a:rPr lang="zh-CN" altLang="zh-CN" sz="2000">
                <a:latin typeface="Consolas" pitchFamily="49" charset="0"/>
                <a:ea typeface="仿宋" pitchFamily="49" charset="-122"/>
                <a:cs typeface="Consolas" pitchFamily="49" charset="0"/>
              </a:rPr>
              <a:t>有关</a:t>
            </a:r>
          </a:p>
          <a:p>
            <a:pPr algn="l">
              <a:lnSpc>
                <a:spcPts val="3000"/>
              </a:lnSpc>
            </a:pPr>
            <a:r>
              <a:rPr lang="en-US" altLang="zh-CN" sz="2000">
                <a:latin typeface="Consolas" pitchFamily="49" charset="0"/>
                <a:ea typeface="仿宋" pitchFamily="49" charset="-122"/>
                <a:cs typeface="Consolas" pitchFamily="49" charset="0"/>
              </a:rPr>
              <a:t>C.</a:t>
            </a:r>
            <a:r>
              <a:rPr lang="zh-CN" altLang="zh-CN" sz="2000">
                <a:latin typeface="Consolas" pitchFamily="49" charset="0"/>
                <a:ea typeface="仿宋" pitchFamily="49" charset="-122"/>
                <a:cs typeface="Consolas" pitchFamily="49" charset="0"/>
              </a:rPr>
              <a:t>与处理冲突方法有关且与装填因子</a:t>
            </a:r>
            <a:r>
              <a:rPr lang="en-US" altLang="zh-CN" sz="2000">
                <a:latin typeface="Consolas" pitchFamily="49" charset="0"/>
                <a:ea typeface="仿宋" pitchFamily="49" charset="-122"/>
                <a:cs typeface="Consolas" pitchFamily="49" charset="0"/>
              </a:rPr>
              <a:t>α</a:t>
            </a:r>
            <a:r>
              <a:rPr lang="zh-CN" altLang="zh-CN" sz="2000">
                <a:latin typeface="Consolas" pitchFamily="49" charset="0"/>
                <a:ea typeface="仿宋" pitchFamily="49" charset="-122"/>
                <a:cs typeface="Consolas" pitchFamily="49" charset="0"/>
              </a:rPr>
              <a:t>有关</a:t>
            </a:r>
          </a:p>
          <a:p>
            <a:pPr algn="l">
              <a:lnSpc>
                <a:spcPts val="3000"/>
              </a:lnSpc>
            </a:pPr>
            <a:r>
              <a:rPr lang="en-US" altLang="zh-CN" sz="2000">
                <a:latin typeface="Consolas" pitchFamily="49" charset="0"/>
                <a:ea typeface="仿宋" pitchFamily="49" charset="-122"/>
                <a:cs typeface="Consolas" pitchFamily="49" charset="0"/>
              </a:rPr>
              <a:t>D.</a:t>
            </a:r>
            <a:r>
              <a:rPr lang="zh-CN" altLang="zh-CN" sz="2000">
                <a:latin typeface="Consolas" pitchFamily="49" charset="0"/>
                <a:ea typeface="仿宋" pitchFamily="49" charset="-122"/>
                <a:cs typeface="Consolas" pitchFamily="49" charset="0"/>
              </a:rPr>
              <a:t>与处理冲突方法无关且与装填因子</a:t>
            </a:r>
            <a:r>
              <a:rPr lang="en-US" altLang="zh-CN" sz="2000">
                <a:latin typeface="Consolas" pitchFamily="49" charset="0"/>
                <a:ea typeface="仿宋" pitchFamily="49" charset="-122"/>
                <a:cs typeface="Consolas" pitchFamily="49" charset="0"/>
              </a:rPr>
              <a:t>α</a:t>
            </a:r>
            <a:r>
              <a:rPr lang="zh-CN" altLang="zh-CN" sz="2000">
                <a:latin typeface="Consolas" pitchFamily="49" charset="0"/>
                <a:ea typeface="仿宋" pitchFamily="49" charset="-122"/>
                <a:cs typeface="Consolas" pitchFamily="49" charset="0"/>
              </a:rPr>
              <a:t>无关</a:t>
            </a:r>
          </a:p>
        </p:txBody>
      </p:sp>
      <p:sp>
        <p:nvSpPr>
          <p:cNvPr id="6" name="TextBox 10">
            <a:extLst>
              <a:ext uri="{FF2B5EF4-FFF2-40B4-BE49-F238E27FC236}">
                <a16:creationId xmlns:a16="http://schemas.microsoft.com/office/drawing/2014/main" id="{13DAF1CC-B6BD-A6A6-49B9-1C1F1B80DAA1}"/>
              </a:ext>
            </a:extLst>
          </p:cNvPr>
          <p:cNvSpPr txBox="1"/>
          <p:nvPr/>
        </p:nvSpPr>
        <p:spPr>
          <a:xfrm>
            <a:off x="3143102" y="4490880"/>
            <a:ext cx="2643206" cy="400110"/>
          </a:xfrm>
          <a:prstGeom prst="rect">
            <a:avLst/>
          </a:prstGeom>
          <a:noFill/>
        </p:spPr>
        <p:txBody>
          <a:bodyPr wrap="square" rtlCol="0">
            <a:spAutoFit/>
          </a:bodyPr>
          <a:lstStyle/>
          <a:p>
            <a:pPr algn="l"/>
            <a:r>
              <a:rPr lang="zh-CN" altLang="zh-CN" sz="2000">
                <a:latin typeface="Consolas" pitchFamily="49" charset="0"/>
                <a:ea typeface="楷体" pitchFamily="49" charset="-122"/>
                <a:cs typeface="Consolas" pitchFamily="49" charset="0"/>
              </a:rPr>
              <a:t>答：</a:t>
            </a:r>
            <a:r>
              <a:rPr lang="en-US" altLang="zh-CN" sz="2000">
                <a:solidFill>
                  <a:srgbClr val="FF0000"/>
                </a:solidFill>
                <a:latin typeface="Consolas" pitchFamily="49" charset="0"/>
                <a:ea typeface="楷体" pitchFamily="49" charset="-122"/>
                <a:cs typeface="Consolas" pitchFamily="49" charset="0"/>
              </a:rPr>
              <a:t>C</a:t>
            </a:r>
            <a:r>
              <a:rPr lang="zh-CN" altLang="zh-CN" sz="2000">
                <a:latin typeface="Consolas" pitchFamily="49" charset="0"/>
                <a:ea typeface="楷体" pitchFamily="49" charset="-122"/>
                <a:cs typeface="Consolas" pitchFamily="49" charset="0"/>
              </a:rPr>
              <a:t>。</a:t>
            </a:r>
          </a:p>
        </p:txBody>
      </p:sp>
    </p:spTree>
    <p:extLst>
      <p:ext uri="{BB962C8B-B14F-4D97-AF65-F5344CB8AC3E}">
        <p14:creationId xmlns:p14="http://schemas.microsoft.com/office/powerpoint/2010/main" val="7010838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2047</TotalTime>
  <Words>12013</Words>
  <Application>Microsoft Office PowerPoint</Application>
  <PresentationFormat>宽屏</PresentationFormat>
  <Paragraphs>2105</Paragraphs>
  <Slides>121</Slides>
  <Notes>8</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121</vt:i4>
      </vt:variant>
    </vt:vector>
  </HeadingPairs>
  <TitlesOfParts>
    <vt:vector size="142" baseType="lpstr">
      <vt:lpstr>方正启体简体</vt:lpstr>
      <vt:lpstr>仿宋</vt:lpstr>
      <vt:lpstr>黑体</vt:lpstr>
      <vt:lpstr>华文中宋</vt:lpstr>
      <vt:lpstr>经典粗黑简</vt:lpstr>
      <vt:lpstr>楷体</vt:lpstr>
      <vt:lpstr>隶书</vt:lpstr>
      <vt:lpstr>宋体</vt:lpstr>
      <vt:lpstr>微软雅黑</vt:lpstr>
      <vt:lpstr>幼圆</vt:lpstr>
      <vt:lpstr>Arial</vt:lpstr>
      <vt:lpstr>Calibri</vt:lpstr>
      <vt:lpstr>Comic Sans MS</vt:lpstr>
      <vt:lpstr>Consolas</vt:lpstr>
      <vt:lpstr>Rockwell</vt:lpstr>
      <vt:lpstr>Tahoma</vt:lpstr>
      <vt:lpstr>Times New Roman</vt:lpstr>
      <vt:lpstr>Wingdings</vt:lpstr>
      <vt:lpstr>Office 主题​​</vt:lpstr>
      <vt:lpstr>公式</vt:lpstr>
      <vt:lpstr>Equation</vt:lpstr>
      <vt:lpstr>第9章　查找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User</cp:lastModifiedBy>
  <cp:revision>260</cp:revision>
  <dcterms:created xsi:type="dcterms:W3CDTF">2021-02-25T03:49:55Z</dcterms:created>
  <dcterms:modified xsi:type="dcterms:W3CDTF">2025-11-24T03:28:27Z</dcterms:modified>
</cp:coreProperties>
</file>